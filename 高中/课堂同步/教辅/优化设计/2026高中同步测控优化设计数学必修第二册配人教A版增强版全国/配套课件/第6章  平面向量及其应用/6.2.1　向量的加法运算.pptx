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1" r:id="rId12"/>
    <p:sldId id="760" r:id="rId13"/>
    <p:sldId id="762" r:id="rId14"/>
    <p:sldId id="763" r:id="rId15"/>
    <p:sldId id="764" r:id="rId16"/>
    <p:sldId id="737" r:id="rId17"/>
    <p:sldId id="750" r:id="rId18"/>
    <p:sldId id="766" r:id="rId19"/>
    <p:sldId id="767" r:id="rId20"/>
    <p:sldId id="768" r:id="rId21"/>
    <p:sldId id="769" r:id="rId22"/>
    <p:sldId id="770" r:id="rId23"/>
    <p:sldId id="771" r:id="rId24"/>
    <p:sldId id="754" r:id="rId25"/>
    <p:sldId id="772" r:id="rId26"/>
    <p:sldId id="773" r:id="rId27"/>
    <p:sldId id="774" r:id="rId28"/>
    <p:sldId id="755" r:id="rId29"/>
    <p:sldId id="775" r:id="rId30"/>
    <p:sldId id="777" r:id="rId31"/>
    <p:sldId id="787" r:id="rId32"/>
    <p:sldId id="747" r:id="rId33"/>
    <p:sldId id="751" r:id="rId34"/>
    <p:sldId id="778" r:id="rId35"/>
    <p:sldId id="779" r:id="rId36"/>
    <p:sldId id="781" r:id="rId37"/>
    <p:sldId id="782" r:id="rId38"/>
    <p:sldId id="748" r:id="rId39"/>
    <p:sldId id="752" r:id="rId40"/>
    <p:sldId id="783" r:id="rId41"/>
    <p:sldId id="784" r:id="rId42"/>
    <p:sldId id="785" r:id="rId43"/>
    <p:sldId id="786" r:id="rId44"/>
    <p:sldId id="735" r:id="rId45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44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5" Type="http://schemas.openxmlformats.org/officeDocument/2006/relationships/slide" Target="slide32.xml"/><Relationship Id="rId4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3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jpeg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4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5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3.emf"/><Relationship Id="rId5" Type="http://schemas.openxmlformats.org/officeDocument/2006/relationships/image" Target="../media/image11.emf"/><Relationship Id="rId10" Type="http://schemas.openxmlformats.org/officeDocument/2006/relationships/package" Target="../embeddings/Microsoft_Word___8.docx"/><Relationship Id="rId4" Type="http://schemas.openxmlformats.org/officeDocument/2006/relationships/package" Target="../embeddings/Microsoft_Word___6.docx"/><Relationship Id="rId9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9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jpeg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1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1.jpeg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2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__13.docx"/><Relationship Id="rId4" Type="http://schemas.openxmlformats.org/officeDocument/2006/relationships/oleObject" Target="../embeddings/oleObject13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14.docx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15.bin"/><Relationship Id="rId7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15.docx"/><Relationship Id="rId9" Type="http://schemas.openxmlformats.org/officeDocument/2006/relationships/image" Target="../media/image3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17.docx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18.docx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0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36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package" Target="../embeddings/Microsoft_Word___21.docx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8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1.jpeg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22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44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3.jpeg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23.docx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24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48.emf"/><Relationship Id="rId4" Type="http://schemas.openxmlformats.org/officeDocument/2006/relationships/package" Target="../embeddings/Microsoft_Word___25.docx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50.emf"/><Relationship Id="rId4" Type="http://schemas.openxmlformats.org/officeDocument/2006/relationships/package" Target="../embeddings/Microsoft_Word___27.docx"/><Relationship Id="rId9" Type="http://schemas.openxmlformats.org/officeDocument/2006/relationships/image" Target="../media/image52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30.docx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5.jpeg"/><Relationship Id="rId5" Type="http://schemas.openxmlformats.org/officeDocument/2006/relationships/image" Target="../media/image53.emf"/><Relationship Id="rId4" Type="http://schemas.openxmlformats.org/officeDocument/2006/relationships/package" Target="../embeddings/Microsoft_Word___29.docx"/><Relationship Id="rId9" Type="http://schemas.openxmlformats.org/officeDocument/2006/relationships/image" Target="../media/image54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899733"/>
            <a:ext cx="10807700" cy="22044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6.2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平面向量的运算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向量的加法运算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38265"/>
            <a:ext cx="10729192" cy="3802022"/>
            <a:chOff x="360437" y="1142024"/>
            <a:chExt cx="10729192" cy="3802022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142024"/>
              <a:ext cx="10729192" cy="3802022"/>
              <a:chOff x="360437" y="1751093"/>
              <a:chExt cx="10729192" cy="2596833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51093"/>
                <a:ext cx="10729192" cy="2596833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794309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借助实例和平面向量的几何表示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掌握平面向量加法运算及运算规则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理解平面向量加法运算的几何意义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会用向量加法的三角形法则和平行四边形法则作两个向量的和向量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想象和数学运算的核心素养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9181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一、向量的加法及其运算法则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分析下列实例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飞机从广州飞往上海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再从上海飞往北京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这两次位移的结果与飞机从广州直接飞往北京的位移是相同的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YMG2TRA15.eps" descr="id:214749660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76861" y="3240087"/>
            <a:ext cx="1872208" cy="259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28282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有两条拖轮牵引一艘轮船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它们的牵引力分别是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000 N,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2 000 N,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牵引绳之间的夹角为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如果只用一条拖轮来牵引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也能产生跟原来相同的效果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YMG2TRA16.eps" descr="id:214749660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952725" y="2736854"/>
            <a:ext cx="4320480" cy="259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2615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物理学的角度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上面实例中的位移、牵引力说明了什么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体现了向量的什么运算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074482"/>
              </p:ext>
            </p:extLst>
          </p:nvPr>
        </p:nvGraphicFramePr>
        <p:xfrm>
          <a:off x="391352" y="2103180"/>
          <a:ext cx="11671959" cy="163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文档" r:id="rId4" imgW="3826872" imgH="537272" progId="Word.Document.12">
                  <p:embed/>
                </p:oleObj>
              </mc:Choice>
              <mc:Fallback>
                <p:oleObj name="文档" r:id="rId4" imgW="3826872" imgH="5372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1352" y="2103180"/>
                        <a:ext cx="11671959" cy="1638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377363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实例中位移的和运算、力的和运算分别用了什么法则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三角形法则和平行四边形法则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60105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980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向量加法的定义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求两个向量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叫做向量的加法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两个向量的和仍然是一个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向量求和的法则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025518"/>
              </p:ext>
            </p:extLst>
          </p:nvPr>
        </p:nvGraphicFramePr>
        <p:xfrm>
          <a:off x="399765" y="2566246"/>
          <a:ext cx="10293238" cy="413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文档" r:id="rId4" imgW="3883577" imgH="1559347" progId="Word.Document.12">
                  <p:embed/>
                </p:oleObj>
              </mc:Choice>
              <mc:Fallback>
                <p:oleObj name="文档" r:id="rId4" imgW="3883577" imgH="1559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765" y="2566246"/>
                        <a:ext cx="10293238" cy="413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265093" y="777090"/>
            <a:ext cx="39879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260289" y="1241188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944565" y="136807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939975" y="183217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155345" y="5548019"/>
            <a:ext cx="102042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667513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715004"/>
              </p:ext>
            </p:extLst>
          </p:nvPr>
        </p:nvGraphicFramePr>
        <p:xfrm>
          <a:off x="288429" y="719807"/>
          <a:ext cx="10913385" cy="5749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文档" r:id="rId4" imgW="3935975" imgH="2073618" progId="Word.Document.12">
                  <p:embed/>
                </p:oleObj>
              </mc:Choice>
              <mc:Fallback>
                <p:oleObj name="文档" r:id="rId4" imgW="3935975" imgH="20736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719807"/>
                        <a:ext cx="10913385" cy="5749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5791561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对于零向量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任意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规定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81143" y="2325499"/>
            <a:ext cx="47603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896941" y="2325499"/>
            <a:ext cx="47603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629773" y="4287933"/>
            <a:ext cx="184323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070169" y="5883091"/>
            <a:ext cx="27238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8065293" y="6347189"/>
            <a:ext cx="2720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91472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47799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求作向量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96191"/>
              </p:ext>
            </p:extLst>
          </p:nvPr>
        </p:nvGraphicFramePr>
        <p:xfrm>
          <a:off x="442277" y="2475942"/>
          <a:ext cx="11671959" cy="3860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文档" r:id="rId4" imgW="3826872" imgH="1265734" progId="Word.Document.12">
                  <p:embed/>
                </p:oleObj>
              </mc:Choice>
              <mc:Fallback>
                <p:oleObj name="文档" r:id="rId4" imgW="3826872" imgH="12657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2475942"/>
                        <a:ext cx="11671959" cy="3860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YMG2TRA19.eps" descr="id:2147496631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960837" y="1259708"/>
            <a:ext cx="1440160" cy="117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2958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|a|,|b|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之间的关系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根据向量加法的三角形法则以及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三角形中两边之和大于第三边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两边之差小于第三边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你能发现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之间的关系吗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a|-|b||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|a|+|b|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≤  </a:t>
            </a:r>
            <a:r>
              <a:rPr lang="en-US" altLang="zh-CN" i="1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|+|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|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当且仅当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中有一个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零向量</a:t>
            </a:r>
            <a:r>
              <a:rPr lang="en-US" altLang="zh-CN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方向相同</a:t>
            </a:r>
            <a:r>
              <a:rPr lang="en-US" altLang="zh-CN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非零向量时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等号成立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18741" y="4037252"/>
            <a:ext cx="151216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613853" y="4501350"/>
            <a:ext cx="15104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52117" y="4603484"/>
            <a:ext cx="151065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347230" y="5067582"/>
            <a:ext cx="15089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260421" y="4593652"/>
            <a:ext cx="199656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255533" y="5057750"/>
            <a:ext cx="19943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5967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259998"/>
              </p:ext>
            </p:extLst>
          </p:nvPr>
        </p:nvGraphicFramePr>
        <p:xfrm>
          <a:off x="430213" y="1701404"/>
          <a:ext cx="116617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文档" r:id="rId4" imgW="3826872" imgH="189033" progId="Word.Document.12">
                  <p:embed/>
                </p:oleObj>
              </mc:Choice>
              <mc:Fallback>
                <p:oleObj name="文档" r:id="rId4" imgW="3826872" imgH="1890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701404"/>
                        <a:ext cx="11661775" cy="569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230398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根据向量加法的三角形法则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三角形中两边之和大于第三边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两边之差小于第三边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[3,13]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9437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647799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三、向量加法的运算律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实数的加法满足哪些运算律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向量的加法是否也满足这些运算律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实数的加法满足交换律和结合律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向量的加法也满足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向量加法的交换律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err="1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b+a</a:t>
            </a:r>
            <a:r>
              <a:rPr lang="en-US" altLang="zh-CN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向量加法的结合律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)+c=a+(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87525" y="304372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5582935" y="350782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285017"/>
              </p:ext>
            </p:extLst>
          </p:nvPr>
        </p:nvGraphicFramePr>
        <p:xfrm>
          <a:off x="355600" y="4285718"/>
          <a:ext cx="1166018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文档" r:id="rId4" imgW="3826872" imgH="201252" progId="Word.Document.12">
                  <p:embed/>
                </p:oleObj>
              </mc:Choice>
              <mc:Fallback>
                <p:oleObj name="文档" r:id="rId4" imgW="3826872" imgH="201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4285718"/>
                        <a:ext cx="11660188" cy="61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797114"/>
              </p:ext>
            </p:extLst>
          </p:nvPr>
        </p:nvGraphicFramePr>
        <p:xfrm>
          <a:off x="360436" y="4999997"/>
          <a:ext cx="11671959" cy="57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1" name="文档" r:id="rId7" imgW="3826872" imgH="189033" progId="Word.Document.12">
                  <p:embed/>
                </p:oleObj>
              </mc:Choice>
              <mc:Fallback>
                <p:oleObj name="文档" r:id="rId7" imgW="3826872" imgH="1890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6" y="4999997"/>
                        <a:ext cx="11671959" cy="576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411868"/>
              </p:ext>
            </p:extLst>
          </p:nvPr>
        </p:nvGraphicFramePr>
        <p:xfrm>
          <a:off x="360436" y="5691189"/>
          <a:ext cx="11671959" cy="575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文档" r:id="rId10" imgW="3826872" imgH="188674" progId="Word.Document.12">
                  <p:embed/>
                </p:oleObj>
              </mc:Choice>
              <mc:Fallback>
                <p:oleObj name="文档" r:id="rId10" imgW="3826872" imgH="1886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0436" y="5691189"/>
                        <a:ext cx="11671959" cy="5754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953621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1950" y="547224"/>
            <a:ext cx="11735791" cy="5861215"/>
            <a:chOff x="361950" y="523447"/>
            <a:chExt cx="11735791" cy="5861215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523447"/>
              <a:ext cx="10807700" cy="300768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对于任意两个向量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都可利用平行四边形法则求出它们的和向量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2304887"/>
                </p:ext>
              </p:extLst>
            </p:nvPr>
          </p:nvGraphicFramePr>
          <p:xfrm>
            <a:off x="425782" y="3446279"/>
            <a:ext cx="11671959" cy="576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0" name="文档" r:id="rId4" imgW="3826872" imgH="189033" progId="Word.Document.12">
                    <p:embed/>
                  </p:oleObj>
                </mc:Choice>
                <mc:Fallback>
                  <p:oleObj name="文档" r:id="rId4" imgW="3826872" imgH="18903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5782" y="3446279"/>
                          <a:ext cx="11671959" cy="5765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3979831"/>
              <a:ext cx="10807700" cy="123489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如果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是共线的非零向量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那么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的方向必与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之一的方向相同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7690990"/>
                </p:ext>
              </p:extLst>
            </p:nvPr>
          </p:nvGraphicFramePr>
          <p:xfrm>
            <a:off x="425782" y="5174471"/>
            <a:ext cx="11671959" cy="576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1" name="文档" r:id="rId7" imgW="3826872" imgH="189033" progId="Word.Document.12">
                    <p:embed/>
                  </p:oleObj>
                </mc:Choice>
                <mc:Fallback>
                  <p:oleObj name="文档" r:id="rId7" imgW="3826872" imgH="18903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5782" y="5174471"/>
                          <a:ext cx="11671959" cy="5765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5740703"/>
              <a:ext cx="10807700" cy="64395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是共线向量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则必有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|+|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2067113" y="3035379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0225533" y="3569188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448669" y="4721316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9228179" y="5297380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7685670" y="5860125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84700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83432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向量的加法</a:t>
            </a:r>
            <a:r>
              <a:rPr lang="zh-CN" altLang="zh-CN" dirty="0"/>
              <a:t>法则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54457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求作向量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求作向量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698952" y="2802790"/>
            <a:ext cx="7086421" cy="2721889"/>
            <a:chOff x="1656581" y="2565856"/>
            <a:chExt cx="7086421" cy="2721889"/>
          </a:xfrm>
        </p:grpSpPr>
        <p:pic>
          <p:nvPicPr>
            <p:cNvPr id="4" name="YMG2TRA22.eps" descr="id:2147496666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56581" y="2680798"/>
              <a:ext cx="2448272" cy="1877392"/>
            </a:xfrm>
            <a:prstGeom prst="rect">
              <a:avLst/>
            </a:prstGeom>
          </p:spPr>
        </p:pic>
        <p:pic>
          <p:nvPicPr>
            <p:cNvPr id="5" name="YMG2TRA23.eps" descr="id:2147496673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833045" y="2565856"/>
              <a:ext cx="2909957" cy="1992334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1872605" y="4682964"/>
              <a:ext cx="1215397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en-US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6449234" y="4547593"/>
              <a:ext cx="1008609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788642"/>
              </p:ext>
            </p:extLst>
          </p:nvPr>
        </p:nvGraphicFramePr>
        <p:xfrm>
          <a:off x="504825" y="1657350"/>
          <a:ext cx="1166177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文档" r:id="rId4" imgW="3826872" imgH="378067" progId="Word.Document.12">
                  <p:embed/>
                </p:oleObj>
              </mc:Choice>
              <mc:Fallback>
                <p:oleObj name="文档" r:id="rId4" imgW="3826872" imgH="3780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657350"/>
                        <a:ext cx="11661775" cy="1139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YMG2TRA24.eps" descr="id:2147496680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2580754" y="2844010"/>
            <a:ext cx="4608512" cy="104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5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76503"/>
              </p:ext>
            </p:extLst>
          </p:nvPr>
        </p:nvGraphicFramePr>
        <p:xfrm>
          <a:off x="425782" y="843329"/>
          <a:ext cx="11671959" cy="1680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文档" r:id="rId4" imgW="3826872" imgH="550928" progId="Word.Document.12">
                  <p:embed/>
                </p:oleObj>
              </mc:Choice>
              <mc:Fallback>
                <p:oleObj name="文档" r:id="rId4" imgW="3826872" imgH="5509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843329"/>
                        <a:ext cx="11671959" cy="1680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YMG2TRA25.eps" descr="id:214749668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528789" y="2568460"/>
            <a:ext cx="3384376" cy="305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7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YMG2TRA26.eps" descr="id:2147496694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744813" y="3093010"/>
            <a:ext cx="3600400" cy="295668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796271"/>
              </p:ext>
            </p:extLst>
          </p:nvPr>
        </p:nvGraphicFramePr>
        <p:xfrm>
          <a:off x="206589" y="781983"/>
          <a:ext cx="11671959" cy="2256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文档" r:id="rId5" imgW="3826872" imgH="739962" progId="Word.Document.12">
                  <p:embed/>
                </p:oleObj>
              </mc:Choice>
              <mc:Fallback>
                <p:oleObj name="文档" r:id="rId5" imgW="3826872" imgH="7399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6589" y="781983"/>
                        <a:ext cx="11671959" cy="2256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49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670647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12235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应用三角形法则、平行四边形法则作和向量时需注意的问题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三角形法则可以推广到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个向量求和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作图时要求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首尾相连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个首尾相连的向量的和对应的向量是第一个向量的起点指向第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个向量的终点的向量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平行四边形法则只适用于不共线的向量求和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作图时要求两个向量的起点重合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当两个向量不共线时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两个法则实质上是一致的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三角形法则作出的图形是平行四边形法则作出的图形的一半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在多个向量的加法中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利用三角形法则更为简便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90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935831"/>
            <a:ext cx="10807700" cy="4050597"/>
            <a:chOff x="361950" y="154311"/>
            <a:chExt cx="10807700" cy="4050597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4311"/>
              <a:ext cx="10807700" cy="12352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在下列各小题中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已知向量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分别求作向量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YMG2TRA27.eps" descr="id:2147496708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36701" y="1439887"/>
              <a:ext cx="2376264" cy="2282584"/>
            </a:xfrm>
            <a:prstGeom prst="rect">
              <a:avLst/>
            </a:prstGeom>
          </p:spPr>
        </p:pic>
        <p:pic>
          <p:nvPicPr>
            <p:cNvPr id="7" name="YMG2TRA28.eps" descr="id:2147496715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265093" y="1851163"/>
              <a:ext cx="2188905" cy="1871308"/>
            </a:xfrm>
            <a:prstGeom prst="rect">
              <a:avLst/>
            </a:prstGeom>
          </p:spPr>
        </p:pic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72805" y="3600127"/>
              <a:ext cx="803425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en-US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913165" y="3600127"/>
              <a:ext cx="596637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417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197963"/>
              </p:ext>
            </p:extLst>
          </p:nvPr>
        </p:nvGraphicFramePr>
        <p:xfrm>
          <a:off x="360437" y="1407617"/>
          <a:ext cx="11671959" cy="2955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文档" r:id="rId4" imgW="3826872" imgH="968886" progId="Word.Document.12">
                  <p:embed/>
                </p:oleObj>
              </mc:Choice>
              <mc:Fallback>
                <p:oleObj name="文档" r:id="rId4" imgW="3826872" imgH="9688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407617"/>
                        <a:ext cx="11671959" cy="2955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535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加法及运算律的应用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496367"/>
              </p:ext>
            </p:extLst>
          </p:nvPr>
        </p:nvGraphicFramePr>
        <p:xfrm>
          <a:off x="504453" y="1424214"/>
          <a:ext cx="11671959" cy="1754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文档" r:id="rId4" imgW="3826872" imgH="575366" progId="Word.Document.12">
                  <p:embed/>
                </p:oleObj>
              </mc:Choice>
              <mc:Fallback>
                <p:oleObj name="文档" r:id="rId4" imgW="3826872" imgH="5753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424214"/>
                        <a:ext cx="11671959" cy="1754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15890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为等腰梯形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AC=BD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598466"/>
              </p:ext>
            </p:extLst>
          </p:nvPr>
        </p:nvGraphicFramePr>
        <p:xfrm>
          <a:off x="381614" y="4376542"/>
          <a:ext cx="11671959" cy="1728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文档" r:id="rId7" imgW="3826872" imgH="566741" progId="Word.Document.12">
                  <p:embed/>
                </p:oleObj>
              </mc:Choice>
              <mc:Fallback>
                <p:oleObj name="文档" r:id="rId7" imgW="3826872" imgH="5667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614" y="4376542"/>
                        <a:ext cx="11671959" cy="1728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YMG2TRA30.eps" descr="id:2147496736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5689029" y="3805801"/>
            <a:ext cx="4747765" cy="235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185295"/>
              </p:ext>
            </p:extLst>
          </p:nvPr>
        </p:nvGraphicFramePr>
        <p:xfrm>
          <a:off x="504453" y="853991"/>
          <a:ext cx="11671959" cy="505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文档" r:id="rId4" imgW="3826872" imgH="1658176" progId="Word.Document.12">
                  <p:embed/>
                </p:oleObj>
              </mc:Choice>
              <mc:Fallback>
                <p:oleObj name="文档" r:id="rId4" imgW="3826872" imgH="16581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53991"/>
                        <a:ext cx="11671959" cy="5057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58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372187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992712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解决向量加法运算时应关注两点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可以利用向量的几何表示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作出图形进行化简或计算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要灵活应用向量加法运算律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注意各向量的起点、终点及向量起点、终点字母的排列顺序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特别注意勿将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05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671671"/>
              </p:ext>
            </p:extLst>
          </p:nvPr>
        </p:nvGraphicFramePr>
        <p:xfrm>
          <a:off x="406118" y="1223863"/>
          <a:ext cx="11671959" cy="1701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8" name="文档" r:id="rId4" imgW="3826872" imgH="557757" progId="Word.Document.12">
                  <p:embed/>
                </p:oleObj>
              </mc:Choice>
              <mc:Fallback>
                <p:oleObj name="文档" r:id="rId4" imgW="3826872" imgH="5577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6118" y="1223863"/>
                        <a:ext cx="11671959" cy="1701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449825"/>
              </p:ext>
            </p:extLst>
          </p:nvPr>
        </p:nvGraphicFramePr>
        <p:xfrm>
          <a:off x="406118" y="3004299"/>
          <a:ext cx="11671959" cy="1675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文档" r:id="rId7" imgW="3826872" imgH="549491" progId="Word.Document.12">
                  <p:embed/>
                </p:oleObj>
              </mc:Choice>
              <mc:Fallback>
                <p:oleObj name="文档" r:id="rId7" imgW="3826872" imgH="5494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118" y="3004299"/>
                        <a:ext cx="11671959" cy="1675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077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09975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加法的实际应用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48215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在某地抗震救灾中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一架飞机从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地按北偏东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的方向飞行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800 km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地接到受伤人员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然后又从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地按南偏东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的方向飞行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800 km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送往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地医院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求这架飞机飞行的路程及两次位移的和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YMG2TRA31.eps" descr="id:214749675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312765" y="3747718"/>
            <a:ext cx="3816424" cy="251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951684"/>
              </p:ext>
            </p:extLst>
          </p:nvPr>
        </p:nvGraphicFramePr>
        <p:xfrm>
          <a:off x="420688" y="640642"/>
          <a:ext cx="10583862" cy="623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文档" r:id="rId4" imgW="3837724" imgH="2263685" progId="Word.Document.12">
                  <p:embed/>
                </p:oleObj>
              </mc:Choice>
              <mc:Fallback>
                <p:oleObj name="文档" r:id="rId4" imgW="3837724" imgH="22636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688" y="640642"/>
                        <a:ext cx="10583862" cy="623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17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709975"/>
            <a:ext cx="2524095" cy="460328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115185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这架飞机到达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地医院后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往正南方向飞行多少千米即可由此按正西方向飞回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361950" y="2402714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作垂线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垂足为点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BAC=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CAD=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YMG2TRA32.eps" descr="id:2147496778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6985173" y="1808711"/>
            <a:ext cx="3528392" cy="2302203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990861"/>
              </p:ext>
            </p:extLst>
          </p:nvPr>
        </p:nvGraphicFramePr>
        <p:xfrm>
          <a:off x="387884" y="4230341"/>
          <a:ext cx="11671959" cy="1887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文档" r:id="rId6" imgW="3826872" imgH="618851" progId="Word.Document.12">
                  <p:embed/>
                </p:oleObj>
              </mc:Choice>
              <mc:Fallback>
                <p:oleObj name="文档" r:id="rId6" imgW="3826872" imgH="6188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7884" y="4230341"/>
                        <a:ext cx="11671959" cy="1887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963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反思感悟H.eps" descr="id:214749702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33958" y="732118"/>
            <a:ext cx="2086719" cy="49089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236174"/>
            <a:ext cx="10807700" cy="604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利用向量的加法解决实际应用题的三个步骤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21N03.eps" descr="id:21474970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1231944" y="1869076"/>
            <a:ext cx="8777565" cy="414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4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65258"/>
            <a:ext cx="11730038" cy="5345317"/>
            <a:chOff x="361950" y="765258"/>
            <a:chExt cx="11730038" cy="534531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65258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因考虑问题不周全致错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试证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对于任意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给定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均有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||a|-|b||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 </a:t>
              </a:r>
              <a:r>
                <a:rPr lang="en-US" altLang="zh-CN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a|+|b|.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9396131"/>
                </p:ext>
              </p:extLst>
            </p:nvPr>
          </p:nvGraphicFramePr>
          <p:xfrm>
            <a:off x="430213" y="2689225"/>
            <a:ext cx="11661775" cy="2195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0" name="文档" r:id="rId4" imgW="3826872" imgH="723430" progId="Word.Document.12">
                    <p:embed/>
                  </p:oleObj>
                </mc:Choice>
                <mc:Fallback>
                  <p:oleObj name="文档" r:id="rId4" imgW="3826872" imgH="72343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0213" y="2689225"/>
                          <a:ext cx="11661775" cy="21955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" name="YMG2TRA33.eps" descr="id:2147496792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713365" y="2205418"/>
              <a:ext cx="2592288" cy="2176845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489293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31047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错解没有考虑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的所有可能情形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不共线时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用三角形的性质得出结论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以偏概全致误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33284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602481"/>
              </p:ext>
            </p:extLst>
          </p:nvPr>
        </p:nvGraphicFramePr>
        <p:xfrm>
          <a:off x="355600" y="709613"/>
          <a:ext cx="11703050" cy="545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文档" r:id="rId4" imgW="3826872" imgH="1786115" progId="Word.Document.12">
                  <p:embed/>
                </p:oleObj>
              </mc:Choice>
              <mc:Fallback>
                <p:oleObj name="文档" r:id="rId4" imgW="3826872" imgH="17861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709613"/>
                        <a:ext cx="11703050" cy="545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8569349" y="1789767"/>
            <a:ext cx="2361213" cy="1990800"/>
            <a:chOff x="8569349" y="1789767"/>
            <a:chExt cx="2361213" cy="1990800"/>
          </a:xfrm>
        </p:grpSpPr>
        <p:pic>
          <p:nvPicPr>
            <p:cNvPr id="11" name="YMG2TRA34.eps" descr="id:2147497053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569349" y="1789767"/>
              <a:ext cx="2361213" cy="1528355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9577461" y="3175786"/>
              <a:ext cx="803425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en-US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841157" y="5123213"/>
            <a:ext cx="4345120" cy="1336914"/>
            <a:chOff x="6841157" y="5143533"/>
            <a:chExt cx="4345120" cy="1336914"/>
          </a:xfrm>
        </p:grpSpPr>
        <p:pic>
          <p:nvPicPr>
            <p:cNvPr id="13" name="YMG2TRA36.eps" descr="id:2147497067;FounderCES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6841157" y="5143533"/>
              <a:ext cx="4345120" cy="832858"/>
            </a:xfrm>
            <a:prstGeom prst="rect">
              <a:avLst/>
            </a:prstGeom>
          </p:spPr>
        </p:pic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8877430" y="5875666"/>
              <a:ext cx="596637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345213" y="3998872"/>
            <a:ext cx="3474009" cy="1363233"/>
            <a:chOff x="7345213" y="3998872"/>
            <a:chExt cx="3474009" cy="1363233"/>
          </a:xfrm>
        </p:grpSpPr>
        <p:pic>
          <p:nvPicPr>
            <p:cNvPr id="22" name="YMG2TRA35.eps" descr="id:2147497060;FounderCES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7345213" y="3998872"/>
              <a:ext cx="3474009" cy="798084"/>
            </a:xfrm>
            <a:prstGeom prst="rect">
              <a:avLst/>
            </a:prstGeom>
          </p:spPr>
        </p:pic>
        <p:sp>
          <p:nvSpPr>
            <p:cNvPr id="23" name="矩形 22"/>
            <p:cNvSpPr>
              <a:spLocks noChangeAspect="1"/>
            </p:cNvSpPr>
            <p:nvPr/>
          </p:nvSpPr>
          <p:spPr>
            <a:xfrm>
              <a:off x="8857243" y="4757324"/>
              <a:ext cx="596637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71069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防范措施H.eps" descr="id:214749086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315535"/>
            <a:ext cx="2259558" cy="531552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940368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平面中两个向量的位置关系有共线与不共线两种情况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共线又有同向和反向两种情况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证明时各种情况都得考虑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证明不等式时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不能忽视等号成立的条件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否则会因证明过程不全面而失分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48198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8963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|=|b|-|a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同向共线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无法判断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关系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反向共线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无法判断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的大小关系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同向共线且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反向共线且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|=|b|-|a|,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方向相反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|b|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|a|,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1701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013344"/>
              </p:ext>
            </p:extLst>
          </p:nvPr>
        </p:nvGraphicFramePr>
        <p:xfrm>
          <a:off x="360437" y="1799927"/>
          <a:ext cx="11671959" cy="1897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文档" r:id="rId4" imgW="3826872" imgH="622085" progId="Word.Document.12">
                  <p:embed/>
                </p:oleObj>
              </mc:Choice>
              <mc:Fallback>
                <p:oleObj name="文档" r:id="rId4" imgW="3826872" imgH="6220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799927"/>
                        <a:ext cx="11671959" cy="1897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256585" y="3718648"/>
            <a:ext cx="154401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430009"/>
              </p:ext>
            </p:extLst>
          </p:nvPr>
        </p:nvGraphicFramePr>
        <p:xfrm>
          <a:off x="444376" y="999840"/>
          <a:ext cx="11671959" cy="1897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文档" r:id="rId4" imgW="3826872" imgH="622085" progId="Word.Document.12">
                  <p:embed/>
                </p:oleObj>
              </mc:Choice>
              <mc:Fallback>
                <p:oleObj name="文档" r:id="rId4" imgW="3826872" imgH="6220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4376" y="999840"/>
                        <a:ext cx="11671959" cy="1897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795140"/>
              </p:ext>
            </p:extLst>
          </p:nvPr>
        </p:nvGraphicFramePr>
        <p:xfrm>
          <a:off x="444376" y="2881880"/>
          <a:ext cx="11671959" cy="1897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文档" r:id="rId7" imgW="3826872" imgH="622085" progId="Word.Document.12">
                  <p:embed/>
                </p:oleObj>
              </mc:Choice>
              <mc:Fallback>
                <p:oleObj name="文档" r:id="rId7" imgW="3826872" imgH="6220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4376" y="2881880"/>
                        <a:ext cx="11671959" cy="1897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0437" y="477923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46808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361029"/>
              </p:ext>
            </p:extLst>
          </p:nvPr>
        </p:nvGraphicFramePr>
        <p:xfrm>
          <a:off x="517327" y="585623"/>
          <a:ext cx="10640962" cy="3106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文档" r:id="rId4" imgW="3837724" imgH="1120304" progId="Word.Document.12">
                  <p:embed/>
                </p:oleObj>
              </mc:Choice>
              <mc:Fallback>
                <p:oleObj name="文档" r:id="rId4" imgW="3837724" imgH="11203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7327" y="585623"/>
                        <a:ext cx="10640962" cy="3106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012260"/>
              </p:ext>
            </p:extLst>
          </p:nvPr>
        </p:nvGraphicFramePr>
        <p:xfrm>
          <a:off x="517327" y="3586728"/>
          <a:ext cx="11705058" cy="2893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文档" r:id="rId7" imgW="3837724" imgH="948671" progId="Word.Document.12">
                  <p:embed/>
                </p:oleObj>
              </mc:Choice>
              <mc:Fallback>
                <p:oleObj name="文档" r:id="rId7" imgW="3837724" imgH="9486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7327" y="3586728"/>
                        <a:ext cx="11705058" cy="2893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YMG2TRA37.eps" descr="id:2147497088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7777261" y="3997899"/>
            <a:ext cx="3381028" cy="1726632"/>
          </a:xfrm>
          <a:prstGeom prst="rect">
            <a:avLst/>
          </a:prstGeom>
        </p:spPr>
      </p:pic>
      <p:sp>
        <p:nvSpPr>
          <p:cNvPr id="13" name="矩形 12"/>
          <p:cNvSpPr>
            <a:spLocks noChangeAspect="1"/>
          </p:cNvSpPr>
          <p:nvPr/>
        </p:nvSpPr>
        <p:spPr>
          <a:xfrm>
            <a:off x="8047367" y="5734363"/>
            <a:ext cx="1818126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1880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590646"/>
              </p:ext>
            </p:extLst>
          </p:nvPr>
        </p:nvGraphicFramePr>
        <p:xfrm>
          <a:off x="487958" y="824495"/>
          <a:ext cx="11671959" cy="654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文档" r:id="rId4" imgW="3826872" imgH="214549" progId="Word.Document.12">
                  <p:embed/>
                </p:oleObj>
              </mc:Choice>
              <mc:Fallback>
                <p:oleObj name="文档" r:id="rId4" imgW="3826872" imgH="2145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7958" y="824495"/>
                        <a:ext cx="11671959" cy="6543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361950" y="1437375"/>
            <a:ext cx="11797966" cy="3960440"/>
            <a:chOff x="361950" y="1404695"/>
            <a:chExt cx="11797966" cy="3960440"/>
          </a:xfrm>
        </p:grpSpPr>
        <p:pic>
          <p:nvPicPr>
            <p:cNvPr id="11" name="YMG2TRA38.eps" descr="id:2147496841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456781" y="1921769"/>
              <a:ext cx="2376264" cy="2698743"/>
            </a:xfrm>
            <a:prstGeom prst="rect">
              <a:avLst/>
            </a:prstGeom>
          </p:spPr>
        </p:pic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404695"/>
              <a:ext cx="2173993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798606"/>
                </p:ext>
              </p:extLst>
            </p:nvPr>
          </p:nvGraphicFramePr>
          <p:xfrm>
            <a:off x="487957" y="4710761"/>
            <a:ext cx="11671959" cy="654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73" name="文档" r:id="rId8" imgW="3837724" imgH="215263" progId="Word.Document.12">
                    <p:embed/>
                  </p:oleObj>
                </mc:Choice>
                <mc:Fallback>
                  <p:oleObj name="文档" r:id="rId8" imgW="3837724" imgH="21526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87957" y="4710761"/>
                          <a:ext cx="11671959" cy="6543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矩形 11"/>
          <p:cNvSpPr>
            <a:spLocks noChangeAspect="1"/>
          </p:cNvSpPr>
          <p:nvPr/>
        </p:nvSpPr>
        <p:spPr>
          <a:xfrm>
            <a:off x="288429" y="5397815"/>
            <a:ext cx="205056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n+m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6306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14906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|-|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||&lt;|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|+|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(3,11)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48953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172</TotalTime>
  <Words>1297</Words>
  <Application>Microsoft Office PowerPoint</Application>
  <PresentationFormat>自定义</PresentationFormat>
  <Paragraphs>100</Paragraphs>
  <Slides>44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1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26</cp:revision>
  <dcterms:created xsi:type="dcterms:W3CDTF">2020-09-12T05:36:12Z</dcterms:created>
  <dcterms:modified xsi:type="dcterms:W3CDTF">2025-09-04T04:05:20Z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