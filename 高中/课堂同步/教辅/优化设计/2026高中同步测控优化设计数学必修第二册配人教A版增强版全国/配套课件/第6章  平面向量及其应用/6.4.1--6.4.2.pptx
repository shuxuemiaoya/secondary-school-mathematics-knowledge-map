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37" r:id="rId17"/>
    <p:sldId id="750" r:id="rId18"/>
    <p:sldId id="765" r:id="rId19"/>
    <p:sldId id="787" r:id="rId20"/>
    <p:sldId id="766" r:id="rId21"/>
    <p:sldId id="767" r:id="rId22"/>
    <p:sldId id="754" r:id="rId23"/>
    <p:sldId id="768" r:id="rId24"/>
    <p:sldId id="769" r:id="rId25"/>
    <p:sldId id="789" r:id="rId26"/>
    <p:sldId id="790" r:id="rId27"/>
    <p:sldId id="771" r:id="rId28"/>
    <p:sldId id="774" r:id="rId29"/>
    <p:sldId id="775" r:id="rId30"/>
    <p:sldId id="788" r:id="rId31"/>
    <p:sldId id="755" r:id="rId32"/>
    <p:sldId id="776" r:id="rId33"/>
    <p:sldId id="777" r:id="rId34"/>
    <p:sldId id="778" r:id="rId35"/>
    <p:sldId id="747" r:id="rId36"/>
    <p:sldId id="751" r:id="rId37"/>
    <p:sldId id="779" r:id="rId38"/>
    <p:sldId id="780" r:id="rId39"/>
    <p:sldId id="781" r:id="rId40"/>
    <p:sldId id="782" r:id="rId41"/>
    <p:sldId id="748" r:id="rId42"/>
    <p:sldId id="752" r:id="rId43"/>
    <p:sldId id="783" r:id="rId44"/>
    <p:sldId id="784" r:id="rId45"/>
    <p:sldId id="785" r:id="rId46"/>
    <p:sldId id="786" r:id="rId47"/>
    <p:sldId id="735" r:id="rId4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5" Type="http://schemas.openxmlformats.org/officeDocument/2006/relationships/slide" Target="slide35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jpeg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0.docx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jpeg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9.docx"/><Relationship Id="rId9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3.docx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Relationship Id="rId9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4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5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6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8.docx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7.jpeg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7.docx"/><Relationship Id="rId9" Type="http://schemas.openxmlformats.org/officeDocument/2006/relationships/image" Target="../media/image2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19.docx"/><Relationship Id="rId4" Type="http://schemas.openxmlformats.org/officeDocument/2006/relationships/oleObject" Target="../embeddings/oleObject1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0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1.docx"/><Relationship Id="rId4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3.jpeg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2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3.docx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8.emf"/><Relationship Id="rId5" Type="http://schemas.openxmlformats.org/officeDocument/2006/relationships/image" Target="../media/image36.emf"/><Relationship Id="rId10" Type="http://schemas.openxmlformats.org/officeDocument/2006/relationships/package" Target="../embeddings/Microsoft_Word___26.docx"/><Relationship Id="rId4" Type="http://schemas.openxmlformats.org/officeDocument/2006/relationships/package" Target="../embeddings/Microsoft_Word___24.docx"/><Relationship Id="rId9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7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0.emf"/><Relationship Id="rId5" Type="http://schemas.openxmlformats.org/officeDocument/2006/relationships/package" Target="../embeddings/Microsoft_Word___28.docx"/><Relationship Id="rId4" Type="http://schemas.openxmlformats.org/officeDocument/2006/relationships/oleObject" Target="../embeddings/oleObject28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29.docx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1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33.docx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35.docx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__37.doc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2.emf"/><Relationship Id="rId5" Type="http://schemas.openxmlformats.org/officeDocument/2006/relationships/package" Target="../embeddings/Microsoft_Word___38.docx"/><Relationship Id="rId4" Type="http://schemas.openxmlformats.org/officeDocument/2006/relationships/oleObject" Target="../embeddings/oleObject38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52613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6.4</a:t>
            </a:r>
            <a:r>
              <a:rPr lang="zh-CN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平面向量的应用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平面几何中的向量方法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向量在物理中的应用举例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14031"/>
            <a:ext cx="10729192" cy="3802022"/>
            <a:chOff x="360437" y="1223863"/>
            <a:chExt cx="10729192" cy="3802022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223863"/>
              <a:ext cx="10729192" cy="3802022"/>
              <a:chOff x="360437" y="1806990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06990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50206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295242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会用向量方法解决简单的平面几何问题、力学问题以及其他实际问题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体会向量在解决数学和实际问题中的作用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掌握利用向量方法解决平面几何问题的一般步骤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提升直观想象、逻辑推理和数学运算素养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一、用向量方法解决平面几何问题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想一想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向量可以解决哪些常见的平面几何问题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解决有关夹角、长度等的计算或度量问题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解决直线平行、垂直、三点共线、三线共点等位置关系的判断与证明问题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32672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向量的线性运算和数量积运算具有鲜明的几何背景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平面几何图形的许多性质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如全等、相似、长度、夹角等都可以由向量的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线性运算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数量积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因此平面几何中的许多问题都可用向量运算的方法加以解决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5391" y="2869289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510845" y="3333387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553131" y="2873750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548360" y="3337848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8347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3966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平面几何问题与平面向量之间的对应关系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075408"/>
              </p:ext>
            </p:extLst>
          </p:nvPr>
        </p:nvGraphicFramePr>
        <p:xfrm>
          <a:off x="-303171" y="1276207"/>
          <a:ext cx="11844910" cy="5724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894589" imgH="1879313" progId="Word.Document.12">
                  <p:embed/>
                </p:oleObj>
              </mc:Choice>
              <mc:Fallback>
                <p:oleObj name="文档" r:id="rId4" imgW="3894589" imgH="18793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03171" y="1276207"/>
                        <a:ext cx="11844910" cy="5724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64290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8634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向量方法解决平面几何问题的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三步曲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建立平面几何与向量的联系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表示问题中涉及的几何元素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将平面几何问题转化为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研究几何元素之间的关系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如距离、夹角等问题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运算结果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翻译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成几何关系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47859" y="179992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343269" y="226402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69505" y="239750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64915" y="286160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60863" y="297357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756273" y="343766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357791" y="4145093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353245" y="4609191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8783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6746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平面直角坐标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Oxy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为邻边的平行四边形的两条对角线的长分别是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062302"/>
              </p:ext>
            </p:extLst>
          </p:nvPr>
        </p:nvGraphicFramePr>
        <p:xfrm>
          <a:off x="361950" y="2467663"/>
          <a:ext cx="11671959" cy="3231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4" imgW="3826872" imgH="1059450" progId="Word.Document.12">
                  <p:embed/>
                </p:oleObj>
              </mc:Choice>
              <mc:Fallback>
                <p:oleObj name="文档" r:id="rId4" imgW="3826872" imgH="10594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2467663"/>
                        <a:ext cx="11671959" cy="3231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466692"/>
              </p:ext>
            </p:extLst>
          </p:nvPr>
        </p:nvGraphicFramePr>
        <p:xfrm>
          <a:off x="341580" y="5664644"/>
          <a:ext cx="11671959" cy="64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文档" r:id="rId7" imgW="3826872" imgH="210237" progId="Word.Document.12">
                  <p:embed/>
                </p:oleObj>
              </mc:Choice>
              <mc:Fallback>
                <p:oleObj name="文档" r:id="rId7" imgW="3826872" imgH="210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580" y="5664644"/>
                        <a:ext cx="11671959" cy="641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99677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二、向量在物理中的应用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物理中的动量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F·s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是向量中的什么运算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是标量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是矢量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为数乘运算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均为矢量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F·s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为数量积运算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物理学中的许多量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如力、速度、加速度、位移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物理学中的力、速度、加速度、位移的合成与分解就是向量的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线性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6699" y="384895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52109" y="431305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691359" y="502282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686769" y="548692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649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利用向量方法解决物理问题的基本步骤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问题转化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即把物理问题转化为数学问题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建立模型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即建立以向量为载体的数学模型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求解参数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即求向量的模、夹角、数量积等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回答问题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即把所得的数学结论回归到物理问题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4547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30426"/>
            <a:ext cx="14006070" cy="4819781"/>
            <a:chOff x="361950" y="694241"/>
            <a:chExt cx="14006070" cy="4819781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94241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已知三个力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1),F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3,2),F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同时作用于某物体上一点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为使物体保持平衡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现加上一个力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等于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	B.(1,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	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1,2)	D.(1,2)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已知速度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 m/s,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 m/s,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的合速度的大小是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A.2 m/s	B.10 m/s	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C.12 m/s	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696439"/>
                </p:ext>
              </p:extLst>
            </p:nvPr>
          </p:nvGraphicFramePr>
          <p:xfrm>
            <a:off x="2696061" y="4846412"/>
            <a:ext cx="11671959" cy="532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文档" r:id="rId4" imgW="3826872" imgH="174658" progId="Word.Document.12">
                    <p:embed/>
                  </p:oleObj>
                </mc:Choice>
                <mc:Fallback>
                  <p:oleObj name="文档" r:id="rId4" imgW="3826872" imgH="1746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96061" y="4846412"/>
                          <a:ext cx="11671959" cy="532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02242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17116"/>
            <a:ext cx="11697854" cy="3012209"/>
            <a:chOff x="361950" y="948748"/>
            <a:chExt cx="11697854" cy="301220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4874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由已知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=-(F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+F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[(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3,2)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(4,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3)]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(1,2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2v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·v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+|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12cos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144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364,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6597970"/>
                </p:ext>
              </p:extLst>
            </p:nvPr>
          </p:nvGraphicFramePr>
          <p:xfrm>
            <a:off x="387845" y="3321927"/>
            <a:ext cx="11671959" cy="639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4" imgW="3826872" imgH="209518" progId="Word.Document.12">
                    <p:embed/>
                  </p:oleObj>
                </mc:Choice>
                <mc:Fallback>
                  <p:oleObj name="文档" r:id="rId4" imgW="3826872" imgH="2095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7845" y="3321927"/>
                          <a:ext cx="11671959" cy="6390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4265351"/>
            <a:ext cx="320792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9405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687127"/>
            <a:ext cx="11794798" cy="5581506"/>
            <a:chOff x="361950" y="647799"/>
            <a:chExt cx="11794798" cy="558150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2167319"/>
                </p:ext>
              </p:extLst>
            </p:nvPr>
          </p:nvGraphicFramePr>
          <p:xfrm>
            <a:off x="484789" y="2445613"/>
            <a:ext cx="11671959" cy="196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name="文档" r:id="rId4" imgW="3826872" imgH="645086" progId="Word.Document.12">
                    <p:embed/>
                  </p:oleObj>
                </mc:Choice>
                <mc:Fallback>
                  <p:oleObj name="文档" r:id="rId4" imgW="3826872" imgH="6450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789" y="2445613"/>
                          <a:ext cx="11671959" cy="19675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436417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力、速度、加速度、位移的合成与分解对应相应向量的加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减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运算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功是力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与位移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的数量积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W=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F·s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8137301" y="263312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497341" y="325123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702988" y="388393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519966" y="512344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489229" y="5699510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68622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向量在几何证明中的应用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142806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N13.eps" descr="id:214749853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2688222"/>
            <a:ext cx="2880320" cy="28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37907"/>
              </p:ext>
            </p:extLst>
          </p:nvPr>
        </p:nvGraphicFramePr>
        <p:xfrm>
          <a:off x="397" y="873655"/>
          <a:ext cx="11705058" cy="454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文档" r:id="rId4" imgW="3837724" imgH="1489892" progId="Word.Document.12">
                  <p:embed/>
                </p:oleObj>
              </mc:Choice>
              <mc:Fallback>
                <p:oleObj name="文档" r:id="rId4" imgW="3837724" imgH="14898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7" y="873655"/>
                        <a:ext cx="11705058" cy="4544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499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23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证法二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设正方形的边长为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(0,2),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(1,0),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128996"/>
              </p:ext>
            </p:extLst>
          </p:nvPr>
        </p:nvGraphicFramePr>
        <p:xfrm>
          <a:off x="648469" y="4649241"/>
          <a:ext cx="11705058" cy="115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文档" r:id="rId4" imgW="3837724" imgH="378242" progId="Word.Document.12">
                  <p:embed/>
                </p:oleObj>
              </mc:Choice>
              <mc:Fallback>
                <p:oleObj name="文档" r:id="rId4" imgW="3837724" imgH="3782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4649241"/>
                        <a:ext cx="11705058" cy="115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21N14.eps" descr="id:214749854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5689029" y="1979960"/>
            <a:ext cx="2736304" cy="28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方法总结H.eps" descr="id:214749855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678675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16168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用向量证明平面几何问题的两种基本方法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基向量法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选取基底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用基底表示相关向量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利用向量的线性运算或数量积找相应关系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把计算所得结果转化为几何问题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坐标法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建立适当的平面直角坐标系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把相关向量坐标化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用向量的坐标运算找相应关系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利用向量关系回答几何问题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28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123902"/>
              </p:ext>
            </p:extLst>
          </p:nvPr>
        </p:nvGraphicFramePr>
        <p:xfrm>
          <a:off x="144413" y="873655"/>
          <a:ext cx="11671959" cy="1617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文档" r:id="rId4" imgW="3826872" imgH="530444" progId="Word.Document.12">
                  <p:embed/>
                </p:oleObj>
              </mc:Choice>
              <mc:Fallback>
                <p:oleObj name="文档" r:id="rId4" imgW="3826872" imgH="5304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413" y="873655"/>
                        <a:ext cx="11671959" cy="1617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VMG2TRA06.eps" descr="id:214749833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337101" y="1714456"/>
            <a:ext cx="4680520" cy="1621427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991040"/>
              </p:ext>
            </p:extLst>
          </p:nvPr>
        </p:nvGraphicFramePr>
        <p:xfrm>
          <a:off x="144413" y="2745863"/>
          <a:ext cx="11671959" cy="306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文档" r:id="rId8" imgW="3826872" imgH="1005902" progId="Word.Document.12">
                  <p:embed/>
                </p:oleObj>
              </mc:Choice>
              <mc:Fallback>
                <p:oleObj name="文档" r:id="rId8" imgW="3826872" imgH="10059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4413" y="2745863"/>
                        <a:ext cx="11671959" cy="306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69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向量在几何求值中的应用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61950" y="1424322"/>
            <a:ext cx="15048159" cy="4819781"/>
            <a:chOff x="361950" y="1367879"/>
            <a:chExt cx="15048159" cy="4819781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67879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边长为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的正六边形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ABCDEF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是线段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靠近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的四等分点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等于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　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C.6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	D.9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VMG2TRA07.eps" descr="id:2147498353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112965" y="2952055"/>
              <a:ext cx="3096344" cy="2844169"/>
            </a:xfrm>
            <a:prstGeom prst="rect">
              <a:avLst/>
            </a:prstGeom>
          </p:spPr>
        </p:pic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415126"/>
                </p:ext>
              </p:extLst>
            </p:nvPr>
          </p:nvGraphicFramePr>
          <p:xfrm>
            <a:off x="3738150" y="2026111"/>
            <a:ext cx="11671959" cy="549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文档" r:id="rId5" imgW="3826872" imgH="180049" progId="Word.Document.12">
                    <p:embed/>
                  </p:oleObj>
                </mc:Choice>
                <mc:Fallback>
                  <p:oleObj name="文档" r:id="rId5" imgW="3826872" imgH="1800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38150" y="2026111"/>
                          <a:ext cx="11671959" cy="549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44413" y="929183"/>
            <a:ext cx="11671959" cy="4608512"/>
            <a:chOff x="144413" y="719807"/>
            <a:chExt cx="11671959" cy="460851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567682"/>
                </p:ext>
              </p:extLst>
            </p:nvPr>
          </p:nvGraphicFramePr>
          <p:xfrm>
            <a:off x="144413" y="719807"/>
            <a:ext cx="11671959" cy="1396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0" name="文档" r:id="rId4" imgW="3826872" imgH="457849" progId="Word.Document.12">
                    <p:embed/>
                  </p:oleObj>
                </mc:Choice>
                <mc:Fallback>
                  <p:oleObj name="文档" r:id="rId4" imgW="3826872" imgH="4578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4413" y="719807"/>
                          <a:ext cx="11671959" cy="13964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VMG2TRA08.eps" descr="id:214749836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528789" y="2116246"/>
              <a:ext cx="3672408" cy="1855969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9077988"/>
                </p:ext>
              </p:extLst>
            </p:nvPr>
          </p:nvGraphicFramePr>
          <p:xfrm>
            <a:off x="144413" y="4083141"/>
            <a:ext cx="11671959" cy="1245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1" name="文档" r:id="rId8" imgW="3837724" imgH="409612" progId="Word.Document.12">
                    <p:embed/>
                  </p:oleObj>
                </mc:Choice>
                <mc:Fallback>
                  <p:oleObj name="文档" r:id="rId8" imgW="3837724" imgH="4096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4413" y="4083141"/>
                          <a:ext cx="11671959" cy="12451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293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382734"/>
              </p:ext>
            </p:extLst>
          </p:nvPr>
        </p:nvGraphicFramePr>
        <p:xfrm>
          <a:off x="360437" y="1151855"/>
          <a:ext cx="11671959" cy="3871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文档" r:id="rId4" imgW="3826872" imgH="1269327" progId="Word.Document.12">
                  <p:embed/>
                </p:oleObj>
              </mc:Choice>
              <mc:Fallback>
                <p:oleObj name="文档" r:id="rId4" imgW="3826872" imgH="12693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151855"/>
                        <a:ext cx="11671959" cy="3871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584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164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所在的直线为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所在的直线为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向右、向上分别为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轴的正方向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480577"/>
              </p:ext>
            </p:extLst>
          </p:nvPr>
        </p:nvGraphicFramePr>
        <p:xfrm>
          <a:off x="432445" y="2683687"/>
          <a:ext cx="11671959" cy="305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文档" r:id="rId4" imgW="3826872" imgH="1001231" progId="Word.Document.12">
                  <p:embed/>
                </p:oleObj>
              </mc:Choice>
              <mc:Fallback>
                <p:oleObj name="文档" r:id="rId4" imgW="3826872" imgH="1001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683687"/>
                        <a:ext cx="11671959" cy="3053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169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566083"/>
              </p:ext>
            </p:extLst>
          </p:nvPr>
        </p:nvGraphicFramePr>
        <p:xfrm>
          <a:off x="432445" y="935831"/>
          <a:ext cx="11671959" cy="449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文档" r:id="rId4" imgW="3826872" imgH="1472736" progId="Word.Document.12">
                  <p:embed/>
                </p:oleObj>
              </mc:Choice>
              <mc:Fallback>
                <p:oleObj name="文档" r:id="rId4" imgW="3826872" imgH="14727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35831"/>
                        <a:ext cx="11671959" cy="449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339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0213" y="850900"/>
            <a:ext cx="11677650" cy="4341813"/>
            <a:chOff x="502220" y="932740"/>
            <a:chExt cx="11677650" cy="4341813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0333907"/>
                </p:ext>
              </p:extLst>
            </p:nvPr>
          </p:nvGraphicFramePr>
          <p:xfrm>
            <a:off x="502220" y="932740"/>
            <a:ext cx="11677650" cy="4341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0" name="文档" r:id="rId4" imgW="3837724" imgH="1432561" progId="Word.Document.12">
                    <p:embed/>
                  </p:oleObj>
                </mc:Choice>
                <mc:Fallback>
                  <p:oleObj name="文档" r:id="rId4" imgW="3837724" imgH="143256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2220" y="932740"/>
                          <a:ext cx="11677650" cy="43418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" name="VMG2TRA09.eps" descr="id:2147498367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046887" y="1511895"/>
              <a:ext cx="3466678" cy="2950956"/>
            </a:xfrm>
            <a:prstGeom prst="rect">
              <a:avLst/>
            </a:prstGeom>
          </p:spPr>
        </p:pic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703308"/>
              </p:ext>
            </p:extLst>
          </p:nvPr>
        </p:nvGraphicFramePr>
        <p:xfrm>
          <a:off x="432445" y="5184303"/>
          <a:ext cx="11671959" cy="813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文档" r:id="rId8" imgW="3826872" imgH="266659" progId="Word.Document.12">
                  <p:embed/>
                </p:oleObj>
              </mc:Choice>
              <mc:Fallback>
                <p:oleObj name="文档" r:id="rId8" imgW="3826872" imgH="266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5184303"/>
                        <a:ext cx="11671959" cy="813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36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20877" y="1823157"/>
            <a:ext cx="2524095" cy="460328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781044"/>
              </p:ext>
            </p:extLst>
          </p:nvPr>
        </p:nvGraphicFramePr>
        <p:xfrm>
          <a:off x="436260" y="2399221"/>
          <a:ext cx="11671959" cy="1344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文档" r:id="rId5" imgW="3826872" imgH="440958" progId="Word.Document.12">
                  <p:embed/>
                </p:oleObj>
              </mc:Choice>
              <mc:Fallback>
                <p:oleObj name="文档" r:id="rId5" imgW="3826872" imgH="4409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260" y="2399221"/>
                        <a:ext cx="11671959" cy="1344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869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632158"/>
              </p:ext>
            </p:extLst>
          </p:nvPr>
        </p:nvGraphicFramePr>
        <p:xfrm>
          <a:off x="504453" y="677295"/>
          <a:ext cx="10610872" cy="5704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文档" r:id="rId4" imgW="3826872" imgH="2057446" progId="Word.Document.12">
                  <p:embed/>
                </p:oleObj>
              </mc:Choice>
              <mc:Fallback>
                <p:oleObj name="文档" r:id="rId4" imgW="3826872" imgH="20574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77295"/>
                        <a:ext cx="10610872" cy="5704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642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方法总结H.eps" descr="id:2147498599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61950" y="844159"/>
            <a:ext cx="1917831" cy="45116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361950" y="1394895"/>
            <a:ext cx="10807700" cy="4228850"/>
            <a:chOff x="361950" y="1359759"/>
            <a:chExt cx="10807700" cy="422885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59759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用向量法求长度的策略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利用图形特点选择基底、向量的数量积转化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建立坐标系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确定相应向量的坐标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代入公式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),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向量数量积、夹角的计算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利用向量或坐标表示出未知向量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代入相应的公式进行计算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7967817"/>
                </p:ext>
              </p:extLst>
            </p:nvPr>
          </p:nvGraphicFramePr>
          <p:xfrm>
            <a:off x="1871663" y="3687552"/>
            <a:ext cx="32702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3" name="文档" r:id="rId5" imgW="1074864" imgH="194065" progId="Word.Document.12">
                    <p:embed/>
                  </p:oleObj>
                </mc:Choice>
                <mc:Fallback>
                  <p:oleObj name="文档" r:id="rId5" imgW="1074864" imgH="1940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71663" y="3687552"/>
                          <a:ext cx="3270250" cy="590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9552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 </a:t>
            </a:r>
            <a:r>
              <a:rPr lang="zh-CN" altLang="zh-CN" dirty="0"/>
              <a:t>平面向量在物理中的应用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491593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之间的关系求出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利用夹角公式求解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1377082"/>
            <a:ext cx="10807700" cy="3637919"/>
            <a:chOff x="361950" y="1367250"/>
            <a:chExt cx="10807700" cy="363791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6725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设作用于同一点的三个力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处于平衡状态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|=1,|F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|=2,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,F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1411618"/>
                </p:ext>
              </p:extLst>
            </p:nvPr>
          </p:nvGraphicFramePr>
          <p:xfrm>
            <a:off x="1728589" y="1946737"/>
            <a:ext cx="8769315" cy="717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3" name="文档" r:id="rId4" imgW="3826872" imgH="313019" progId="Word.Document.12">
                    <p:embed/>
                  </p:oleObj>
                </mc:Choice>
                <mc:Fallback>
                  <p:oleObj name="文档" r:id="rId4" imgW="3826872" imgH="3130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28589" y="1946737"/>
                          <a:ext cx="8769315" cy="7172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VMG2TRA10.eps" descr="id:2147498395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879252" y="2635761"/>
              <a:ext cx="3600400" cy="2223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58908"/>
              </p:ext>
            </p:extLst>
          </p:nvPr>
        </p:nvGraphicFramePr>
        <p:xfrm>
          <a:off x="504825" y="946150"/>
          <a:ext cx="11661775" cy="476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4" imgW="3826872" imgH="1567612" progId="Word.Document.12">
                  <p:embed/>
                </p:oleObj>
              </mc:Choice>
              <mc:Fallback>
                <p:oleObj name="文档" r:id="rId4" imgW="3826872" imgH="15676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946150"/>
                        <a:ext cx="11661775" cy="476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0781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84155"/>
            <a:ext cx="10807700" cy="4100148"/>
            <a:chOff x="361950" y="1074323"/>
            <a:chExt cx="10807700" cy="410014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93106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用向量解决物理中相关问题的步骤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把物理问题转化成数学问题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建模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建立以向量为主体的数学模型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求出数学模型的相关解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回归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回到物理现象中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用已经获取的数值去解释一些物理现象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074323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500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315535"/>
            <a:ext cx="10807700" cy="1808572"/>
            <a:chOff x="361950" y="1556928"/>
            <a:chExt cx="10807700" cy="1808572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一纤夫用纤绳拉船沿直线方向前进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 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若纤绳与前进方向的夹角为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此人的拉力为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 N,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则纤夫对船所做的功为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J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8816347"/>
                </p:ext>
              </p:extLst>
            </p:nvPr>
          </p:nvGraphicFramePr>
          <p:xfrm>
            <a:off x="720477" y="2135511"/>
            <a:ext cx="8769315" cy="651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4" name="文档" r:id="rId4" imgW="3826872" imgH="284269" progId="Word.Document.12">
                    <p:embed/>
                  </p:oleObj>
                </mc:Choice>
                <mc:Fallback>
                  <p:oleObj name="文档" r:id="rId4" imgW="3826872" imgH="284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0477" y="2135511"/>
                          <a:ext cx="8769315" cy="6514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897607"/>
              </p:ext>
            </p:extLst>
          </p:nvPr>
        </p:nvGraphicFramePr>
        <p:xfrm>
          <a:off x="474957" y="3124106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5" name="文档" r:id="rId7" imgW="3826872" imgH="285347" progId="Word.Document.12">
                  <p:embed/>
                </p:oleObj>
              </mc:Choice>
              <mc:Fallback>
                <p:oleObj name="文档" r:id="rId7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4957" y="3124106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501394"/>
              </p:ext>
            </p:extLst>
          </p:nvPr>
        </p:nvGraphicFramePr>
        <p:xfrm>
          <a:off x="474956" y="3988873"/>
          <a:ext cx="11671959" cy="63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6" name="文档" r:id="rId10" imgW="3826872" imgH="209518" progId="Word.Document.12">
                  <p:embed/>
                </p:oleObj>
              </mc:Choice>
              <mc:Fallback>
                <p:oleObj name="文档" r:id="rId10" imgW="3826872" imgH="2095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4956" y="3988873"/>
                        <a:ext cx="11671959" cy="63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393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70931"/>
            <a:ext cx="14571086" cy="5421484"/>
            <a:chOff x="361950" y="688763"/>
            <a:chExt cx="14571086" cy="542148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88763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未将物理问题转化为向量问题致错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一条河宽为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8 000 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一船从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出发航行垂直到达河正对岸的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船速的大小为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20 km/h,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水速的大小为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12 km/h,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则船到达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处所需时间为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min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因为河宽为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8 000 m,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船速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 km/h,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所以船到达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处所需时间为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5620563"/>
                </p:ext>
              </p:extLst>
            </p:nvPr>
          </p:nvGraphicFramePr>
          <p:xfrm>
            <a:off x="3261077" y="3529812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4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261077" y="3529812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30167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答案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24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252650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错解中误将船在静水中的速度作为了船的实际速度导致错误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010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36944"/>
            <a:ext cx="11680514" cy="5761663"/>
            <a:chOff x="361950" y="669161"/>
            <a:chExt cx="11680514" cy="576166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6916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实际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20 km/h,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12 km/h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endParaRPr lang="zh-CN" altLang="en-US" dirty="0"/>
            </a:p>
          </p:txBody>
        </p:sp>
        <p:pic>
          <p:nvPicPr>
            <p:cNvPr id="4" name="VMG2TRA11.eps" descr="id:2147498416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72805" y="1327745"/>
              <a:ext cx="3312368" cy="2573347"/>
            </a:xfrm>
            <a:prstGeom prst="rect">
              <a:avLst/>
            </a:prstGeom>
          </p:spPr>
        </p:pic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232386"/>
                </p:ext>
              </p:extLst>
            </p:nvPr>
          </p:nvGraphicFramePr>
          <p:xfrm>
            <a:off x="370505" y="3950335"/>
            <a:ext cx="11671959" cy="2480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8" name="文档" r:id="rId5" imgW="3826872" imgH="813275" progId="Word.Document.12">
                    <p:embed/>
                  </p:oleObj>
                </mc:Choice>
                <mc:Fallback>
                  <p:oleObj name="文档" r:id="rId5" imgW="3826872" imgH="8132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505" y="3950335"/>
                          <a:ext cx="11671959" cy="24804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8137301" y="5688359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7150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799927"/>
            <a:ext cx="10807700" cy="2432818"/>
            <a:chOff x="361950" y="1799927"/>
            <a:chExt cx="10807700" cy="2432818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36761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船行驶的实际速度是船在静水中的速度与水速的合成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借助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平行四边形法则或三角形法则求出其实际速度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再解决相关问题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9927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7318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0674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河水流速的大小为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 m/s,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一艘小船以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 m/s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的速度向垂直于对岸的方向行驶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则小船在静水中的速度大小为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61950" y="2387283"/>
            <a:ext cx="11814462" cy="3896804"/>
            <a:chOff x="361950" y="2377451"/>
            <a:chExt cx="11814462" cy="389680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37745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设河水的流速为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小船在静水中的速度为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船的实际速度为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v·v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7018751"/>
                </p:ext>
              </p:extLst>
            </p:nvPr>
          </p:nvGraphicFramePr>
          <p:xfrm>
            <a:off x="504453" y="4141231"/>
            <a:ext cx="11671959" cy="2133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4" name="文档" r:id="rId4" imgW="3826872" imgH="699352" progId="Word.Document.12">
                    <p:embed/>
                  </p:oleObj>
                </mc:Choice>
                <mc:Fallback>
                  <p:oleObj name="文档" r:id="rId4" imgW="3826872" imgH="69935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4141231"/>
                          <a:ext cx="11671959" cy="21330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420694"/>
              </p:ext>
            </p:extLst>
          </p:nvPr>
        </p:nvGraphicFramePr>
        <p:xfrm>
          <a:off x="7345213" y="5482495"/>
          <a:ext cx="11671959" cy="63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文档" r:id="rId7" imgW="3826872" imgH="209518" progId="Word.Document.12">
                  <p:embed/>
                </p:oleObj>
              </mc:Choice>
              <mc:Fallback>
                <p:oleObj name="文档" r:id="rId7" imgW="3826872" imgH="2095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45213" y="5482495"/>
                        <a:ext cx="11671959" cy="63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1556928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32391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714041"/>
              </p:ext>
            </p:extLst>
          </p:nvPr>
        </p:nvGraphicFramePr>
        <p:xfrm>
          <a:off x="216421" y="700143"/>
          <a:ext cx="11671959" cy="247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文档" r:id="rId4" imgW="3826872" imgH="810760" progId="Word.Document.12">
                  <p:embed/>
                </p:oleObj>
              </mc:Choice>
              <mc:Fallback>
                <p:oleObj name="文档" r:id="rId4" imgW="3826872" imgH="8107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700143"/>
                        <a:ext cx="11671959" cy="2472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171981"/>
              </p:ext>
            </p:extLst>
          </p:nvPr>
        </p:nvGraphicFramePr>
        <p:xfrm>
          <a:off x="220080" y="3119085"/>
          <a:ext cx="11671959" cy="2569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7" imgW="3826872" imgH="842385" progId="Word.Document.12">
                  <p:embed/>
                </p:oleObj>
              </mc:Choice>
              <mc:Fallback>
                <p:oleObj name="文档" r:id="rId7" imgW="3826872" imgH="8423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080" y="3119085"/>
                        <a:ext cx="11671959" cy="2569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144413" y="560651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444406"/>
              </p:ext>
            </p:extLst>
          </p:nvPr>
        </p:nvGraphicFramePr>
        <p:xfrm>
          <a:off x="566629" y="911915"/>
          <a:ext cx="11671959" cy="2455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3837724" imgH="807686" progId="Word.Document.12">
                  <p:embed/>
                </p:oleObj>
              </mc:Choice>
              <mc:Fallback>
                <p:oleObj name="文档" r:id="rId4" imgW="3837724" imgH="8076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629" y="911915"/>
                        <a:ext cx="11671959" cy="2455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468953"/>
              </p:ext>
            </p:extLst>
          </p:nvPr>
        </p:nvGraphicFramePr>
        <p:xfrm>
          <a:off x="566629" y="3378545"/>
          <a:ext cx="11671959" cy="1668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7" imgW="3826872" imgH="546975" progId="Word.Document.12">
                  <p:embed/>
                </p:oleObj>
              </mc:Choice>
              <mc:Fallback>
                <p:oleObj name="文档" r:id="rId7" imgW="3826872" imgH="546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6629" y="3378545"/>
                        <a:ext cx="11671959" cy="1668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71773" y="50476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02568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325826"/>
              </p:ext>
            </p:extLst>
          </p:nvPr>
        </p:nvGraphicFramePr>
        <p:xfrm>
          <a:off x="556798" y="690311"/>
          <a:ext cx="11671959" cy="2633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文档" r:id="rId4" imgW="3826872" imgH="863588" progId="Word.Document.12">
                  <p:embed/>
                </p:oleObj>
              </mc:Choice>
              <mc:Fallback>
                <p:oleObj name="文档" r:id="rId4" imgW="3826872" imgH="8635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6798" y="690311"/>
                        <a:ext cx="11671959" cy="26339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982047"/>
              </p:ext>
            </p:extLst>
          </p:nvPr>
        </p:nvGraphicFramePr>
        <p:xfrm>
          <a:off x="556797" y="3240087"/>
          <a:ext cx="11671959" cy="3103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文档" r:id="rId7" imgW="3826872" imgH="1017403" progId="Word.Document.12">
                  <p:embed/>
                </p:oleObj>
              </mc:Choice>
              <mc:Fallback>
                <p:oleObj name="文档" r:id="rId7" imgW="3826872" imgH="10174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6797" y="3240087"/>
                        <a:ext cx="11671959" cy="3103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9708477" y="557132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067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62091"/>
            <a:ext cx="10807700" cy="3063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作用在一物体上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使物体从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移动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2,3),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对物体所做的功为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位移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,</a:t>
            </a: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做的功为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W=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F·s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299543"/>
              </p:ext>
            </p:extLst>
          </p:nvPr>
        </p:nvGraphicFramePr>
        <p:xfrm>
          <a:off x="3960837" y="2664023"/>
          <a:ext cx="11669770" cy="548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文档" r:id="rId4" imgW="3826154" imgH="179690" progId="Word.Document.12">
                  <p:embed/>
                </p:oleObj>
              </mc:Choice>
              <mc:Fallback>
                <p:oleObj name="文档" r:id="rId4" imgW="3826154" imgH="1796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0837" y="2664023"/>
                        <a:ext cx="11669770" cy="548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191157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对角线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求对角线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N16.eps" descr="id:214749865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824933" y="1223863"/>
            <a:ext cx="3096344" cy="1491709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910208"/>
              </p:ext>
            </p:extLst>
          </p:nvPr>
        </p:nvGraphicFramePr>
        <p:xfrm>
          <a:off x="361950" y="2889744"/>
          <a:ext cx="11705058" cy="3456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文档" r:id="rId5" imgW="3837724" imgH="1133285" progId="Word.Document.12">
                  <p:embed/>
                </p:oleObj>
              </mc:Choice>
              <mc:Fallback>
                <p:oleObj name="文档" r:id="rId5" imgW="3837724" imgH="113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950" y="2889744"/>
                        <a:ext cx="11705058" cy="3456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561128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1559</Words>
  <Application>Microsoft Office PowerPoint</Application>
  <PresentationFormat>自定义</PresentationFormat>
  <Paragraphs>114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2025-09-04T05:25:08Z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