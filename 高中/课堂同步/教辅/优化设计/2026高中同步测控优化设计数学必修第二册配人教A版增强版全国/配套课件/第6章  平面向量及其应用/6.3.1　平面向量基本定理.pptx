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54" r:id="rId20"/>
    <p:sldId id="766" r:id="rId21"/>
    <p:sldId id="768" r:id="rId22"/>
    <p:sldId id="781" r:id="rId23"/>
    <p:sldId id="769" r:id="rId24"/>
    <p:sldId id="755" r:id="rId25"/>
    <p:sldId id="770" r:id="rId26"/>
    <p:sldId id="771" r:id="rId27"/>
    <p:sldId id="772" r:id="rId28"/>
    <p:sldId id="747" r:id="rId29"/>
    <p:sldId id="751" r:id="rId30"/>
    <p:sldId id="773" r:id="rId31"/>
    <p:sldId id="774" r:id="rId32"/>
    <p:sldId id="775" r:id="rId33"/>
    <p:sldId id="748" r:id="rId34"/>
    <p:sldId id="752" r:id="rId35"/>
    <p:sldId id="782" r:id="rId36"/>
    <p:sldId id="776" r:id="rId37"/>
    <p:sldId id="777" r:id="rId38"/>
    <p:sldId id="779" r:id="rId39"/>
    <p:sldId id="780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8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package" Target="../embeddings/Microsoft_Word___11.docx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jpeg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5.jpeg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package" Target="../embeddings/Microsoft_Word___21.docx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3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7" Type="http://schemas.openxmlformats.org/officeDocument/2006/relationships/image" Target="../media/image3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25.docx"/><Relationship Id="rId4" Type="http://schemas.openxmlformats.org/officeDocument/2006/relationships/image" Target="../media/image35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38937"/>
            <a:ext cx="10807700" cy="19932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6.3</a:t>
            </a:r>
            <a:r>
              <a:rPr lang="zh-CN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平面向量基本定理及坐标表示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平面向量基本定理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7571"/>
            <a:ext cx="10729192" cy="3802024"/>
            <a:chOff x="360437" y="916859"/>
            <a:chExt cx="10729192" cy="38020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916859"/>
              <a:ext cx="10729192" cy="3802024"/>
              <a:chOff x="360437" y="1597303"/>
              <a:chExt cx="10729192" cy="259683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97303"/>
                <a:ext cx="10729192" cy="259683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647235"/>
                <a:ext cx="0" cy="248863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9891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理解基底的含义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并能判断两个向量是否构成基底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理解平面向量基本定理及其意义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会用基底表示平面向量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提升数学抽象、直观想象和数学运算的核心素养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365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平面向量基本定理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在物理中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已知两个力可以求出它们的合力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反过来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一个力也可以分解为两个不同方向的力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那么对于平面内的任意向量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和两个非零向量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能否将向量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的方向分解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分解方法唯一吗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YMG2TRA93.eps" descr="id:214749762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168749" y="3915914"/>
            <a:ext cx="3888432" cy="214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7958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不一定能按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任意向量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一定可以按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且分解方法是唯一的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46423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389080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向量基本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154042"/>
              </p:ext>
            </p:extLst>
          </p:nvPr>
        </p:nvGraphicFramePr>
        <p:xfrm>
          <a:off x="-161925" y="1851025"/>
          <a:ext cx="11963400" cy="396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文档" r:id="rId3" imgW="3926644" imgH="1307062" progId="Word.Document.12">
                  <p:embed/>
                </p:oleObj>
              </mc:Choice>
              <mc:Fallback>
                <p:oleObj name="文档" r:id="rId3" imgW="3926644" imgH="13070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61925" y="1851025"/>
                        <a:ext cx="11963400" cy="396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762714" y="194394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757943" y="240804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529406" y="2592015"/>
            <a:ext cx="8184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524421" y="3056113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82753" y="2592015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578207" y="3056113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533335" y="3207813"/>
            <a:ext cx="215569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528789" y="3671911"/>
            <a:ext cx="2153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287625" y="381615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282854" y="428024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561854" y="3834194"/>
            <a:ext cx="818453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9556869" y="4277247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220707" y="4412669"/>
            <a:ext cx="8184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215722" y="4876767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0910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7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079847"/>
            <a:ext cx="11732622" cy="3744416"/>
            <a:chOff x="361950" y="791815"/>
            <a:chExt cx="11732622" cy="374441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则下列各对向量可以作为平面内的一组基底的是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9116686"/>
                </p:ext>
              </p:extLst>
            </p:nvPr>
          </p:nvGraphicFramePr>
          <p:xfrm>
            <a:off x="422613" y="2615208"/>
            <a:ext cx="11671959" cy="802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文档" r:id="rId3" imgW="3826872" imgH="263066" progId="Word.Document.12">
                    <p:embed/>
                  </p:oleObj>
                </mc:Choice>
                <mc:Fallback>
                  <p:oleObj name="文档" r:id="rId3" imgW="3826872" imgH="26306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2613" y="2615208"/>
                          <a:ext cx="11671959" cy="8023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331859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3784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016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平面内的任一向量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都可以用平面内的两个非零向量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线性表示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与两个不共线的非零向量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之一平行时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不能用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线性表示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零向量可以作为基底中的向量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平面内的基底是不唯一的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5704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根据基底的定义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只要两向量不共线便可作为基底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易知选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根据平面向量基本定理可知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只要是不共线的两个向量就可以作为基底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因此基底是不唯一的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6992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3111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只有非零向量才能用平面内的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线性表示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同一向量用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的基底表示时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表示方法是相同的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平面向量的基底不唯一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只要基底确定后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平面内的任何一个向量都可用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基底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唯一表示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97541" y="3024063"/>
            <a:ext cx="52363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297541" y="4248199"/>
            <a:ext cx="52363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361437" y="4763406"/>
            <a:ext cx="52363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553125" y="5925899"/>
            <a:ext cx="52363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96143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906335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基底</a:t>
            </a:r>
            <a:r>
              <a:rPr lang="zh-CN" altLang="zh-CN" dirty="0"/>
              <a:t>的概念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45450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是平面内所有向量的一个基底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则下列四组向量中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能作为基底的是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B.3e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905904"/>
            <a:ext cx="11671959" cy="4032448"/>
            <a:chOff x="361950" y="1007839"/>
            <a:chExt cx="11671959" cy="403244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07839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不能作为基底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A,C,D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中两向量均不共线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可以作为基底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6395663"/>
                </p:ext>
              </p:extLst>
            </p:nvPr>
          </p:nvGraphicFramePr>
          <p:xfrm>
            <a:off x="361950" y="3423531"/>
            <a:ext cx="11671959" cy="1616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文档" r:id="rId3" imgW="3837724" imgH="531847" progId="Word.Document.12">
                    <p:embed/>
                  </p:oleObj>
                </mc:Choice>
                <mc:Fallback>
                  <p:oleObj name="文档" r:id="rId3" imgW="3837724" imgH="531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1950" y="3423531"/>
                          <a:ext cx="11671959" cy="16167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09234"/>
              </p:ext>
            </p:extLst>
          </p:nvPr>
        </p:nvGraphicFramePr>
        <p:xfrm>
          <a:off x="357188" y="4940300"/>
          <a:ext cx="116459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文档" r:id="rId5" imgW="3837724" imgH="263940" progId="Word.Document.12">
                  <p:embed/>
                </p:oleObj>
              </mc:Choice>
              <mc:Fallback>
                <p:oleObj name="文档" r:id="rId5" imgW="3837724" imgH="2639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188" y="4940300"/>
                        <a:ext cx="11645900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511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781983"/>
            <a:ext cx="12308686" cy="5410572"/>
            <a:chOff x="361950" y="719807"/>
            <a:chExt cx="12308686" cy="5410572"/>
          </a:xfrm>
        </p:grpSpPr>
        <p:pic>
          <p:nvPicPr>
            <p:cNvPr id="8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19807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10598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对基底的理解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两个向量能否作为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基底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关键是看这两个向量是否共线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则不能作基底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反之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则可作基底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一个平面的基底一旦确定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平面上任意一个向量都可以由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基底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唯一线性表示出来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设向量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是平面内两个不共线的向量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endPara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提醒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一个平面的基底不是唯一的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同一个向量用不同的基底表示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表达式不一样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6063392"/>
                </p:ext>
              </p:extLst>
            </p:nvPr>
          </p:nvGraphicFramePr>
          <p:xfrm>
            <a:off x="998677" y="4158619"/>
            <a:ext cx="11671959" cy="8220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" name="文档" r:id="rId4" imgW="3826872" imgH="269534" progId="Word.Document.12">
                    <p:embed/>
                  </p:oleObj>
                </mc:Choice>
                <mc:Fallback>
                  <p:oleObj name="文档" r:id="rId4" imgW="3826872" imgH="2695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98677" y="4158619"/>
                          <a:ext cx="11671959" cy="8220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2147859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221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MS Gothic" panose="020B0609070205080204" pitchFamily="49" charset="-128"/>
                <a:cs typeface="MS Gothic" panose="020B0609070205080204" pitchFamily="49" charset="-128"/>
              </a:rPr>
              <a:t>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的对角线交点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下列四组向量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可作为这个平行四边形所在平面的所有向量的基底的是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820456"/>
              </p:ext>
            </p:extLst>
          </p:nvPr>
        </p:nvGraphicFramePr>
        <p:xfrm>
          <a:off x="504453" y="2736031"/>
          <a:ext cx="11705058" cy="117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文档" r:id="rId3" imgW="3837724" imgH="385454" progId="Word.Document.12">
                  <p:embed/>
                </p:oleObj>
              </mc:Choice>
              <mc:Fallback>
                <p:oleObj name="文档" r:id="rId3" imgW="3837724" imgH="3854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453" y="2736031"/>
                        <a:ext cx="11705058" cy="1175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YMG2TRA94.eps" descr="id:2147497891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769149" y="2375991"/>
            <a:ext cx="3744416" cy="1343916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39666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64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603153"/>
              </p:ext>
            </p:extLst>
          </p:nvPr>
        </p:nvGraphicFramePr>
        <p:xfrm>
          <a:off x="392683" y="680479"/>
          <a:ext cx="11705058" cy="5053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文档" r:id="rId3" imgW="3837724" imgH="1656838" progId="Word.Document.12">
                  <p:embed/>
                </p:oleObj>
              </mc:Choice>
              <mc:Fallback>
                <p:oleObj name="文档" r:id="rId3" imgW="3837724" imgH="16568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683" y="680479"/>
                        <a:ext cx="11705058" cy="5053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88429" y="5719553"/>
            <a:ext cx="341311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2)3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90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896503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基底表示向量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448021"/>
              </p:ext>
            </p:extLst>
          </p:nvPr>
        </p:nvGraphicFramePr>
        <p:xfrm>
          <a:off x="355600" y="1603375"/>
          <a:ext cx="1166018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文档" r:id="rId3" imgW="3826872" imgH="440599" progId="Word.Document.12">
                  <p:embed/>
                </p:oleObj>
              </mc:Choice>
              <mc:Fallback>
                <p:oleObj name="文档" r:id="rId3" imgW="3826872" imgH="4405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600" y="1603375"/>
                        <a:ext cx="11660188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YMG2TRA95.eps" descr="id:2147497679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3240757" y="2973928"/>
            <a:ext cx="3888432" cy="253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314453"/>
              </p:ext>
            </p:extLst>
          </p:nvPr>
        </p:nvGraphicFramePr>
        <p:xfrm>
          <a:off x="504825" y="935831"/>
          <a:ext cx="11661775" cy="489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3" imgW="3826872" imgH="1610378" progId="Word.Document.12">
                  <p:embed/>
                </p:oleObj>
              </mc:Choice>
              <mc:Fallback>
                <p:oleObj name="文档" r:id="rId3" imgW="3826872" imgH="1610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825" y="935831"/>
                        <a:ext cx="11661775" cy="489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045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876836"/>
            <a:ext cx="2524095" cy="460328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088341"/>
              </p:ext>
            </p:extLst>
          </p:nvPr>
        </p:nvGraphicFramePr>
        <p:xfrm>
          <a:off x="370269" y="1390724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文档" r:id="rId4" imgW="3826872" imgH="214909" progId="Word.Document.12">
                  <p:embed/>
                </p:oleObj>
              </mc:Choice>
              <mc:Fallback>
                <p:oleObj name="文档" r:id="rId4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0269" y="1390724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89852"/>
              </p:ext>
            </p:extLst>
          </p:nvPr>
        </p:nvGraphicFramePr>
        <p:xfrm>
          <a:off x="368300" y="2038350"/>
          <a:ext cx="11644313" cy="350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文档" r:id="rId6" imgW="3826872" imgH="1153607" progId="Word.Document.12">
                  <p:embed/>
                </p:oleObj>
              </mc:Choice>
              <mc:Fallback>
                <p:oleObj name="文档" r:id="rId6" imgW="3826872" imgH="11536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300" y="2038350"/>
                        <a:ext cx="11644313" cy="3500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588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590451"/>
              </p:ext>
            </p:extLst>
          </p:nvPr>
        </p:nvGraphicFramePr>
        <p:xfrm>
          <a:off x="432445" y="1655911"/>
          <a:ext cx="11671959" cy="65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文档" r:id="rId3" imgW="3826872" imgH="213831" progId="Word.Document.12">
                  <p:embed/>
                </p:oleObj>
              </mc:Choice>
              <mc:Fallback>
                <p:oleObj name="文档" r:id="rId3" imgW="3826872" imgH="2138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1655911"/>
                        <a:ext cx="11671959" cy="652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194617"/>
              </p:ext>
            </p:extLst>
          </p:nvPr>
        </p:nvGraphicFramePr>
        <p:xfrm>
          <a:off x="434350" y="2298264"/>
          <a:ext cx="11671959" cy="242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5" imgW="3837724" imgH="797229" progId="Word.Document.12">
                  <p:embed/>
                </p:oleObj>
              </mc:Choice>
              <mc:Fallback>
                <p:oleObj name="文档" r:id="rId5" imgW="3837724" imgH="7972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350" y="2298264"/>
                        <a:ext cx="11671959" cy="2423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847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方法总结H.eps" descr="id:214749791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96807" y="1195589"/>
            <a:ext cx="2259558" cy="53155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177165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用基底表示向量的方法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将两个不共线的向量作为基底表示其他向量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基本方法有两种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一种是运用向量的线性运算法则对待求向量不断进行转化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直至用基底表示为止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另一种是通过列向量方程或方程组的形式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利用基底表示向量的唯一性求解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2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107984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向量基本定理与数量积的综合应用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4758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分别在边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的形状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锐角三角形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钝角三角形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等腰三角形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083092"/>
              </p:ext>
            </p:extLst>
          </p:nvPr>
        </p:nvGraphicFramePr>
        <p:xfrm>
          <a:off x="576461" y="907722"/>
          <a:ext cx="11671959" cy="4420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文档" r:id="rId3" imgW="3826872" imgH="1449376" progId="Word.Document.12">
                  <p:embed/>
                </p:oleObj>
              </mc:Choice>
              <mc:Fallback>
                <p:oleObj name="文档" r:id="rId3" imgW="3826872" imgH="14493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6461" y="907722"/>
                        <a:ext cx="11671959" cy="4420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96.eps" descr="id:2147497707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877471" y="2303983"/>
            <a:ext cx="3348062" cy="1805984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442277" y="525061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56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667463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123173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用向量解决平面几何问题的一般步骤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选取不共线的两个平面向量作为基底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常选从同一点出发的两条边对应的向量作为基底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将相关的向量用基底中的向量表示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将几何问题转化为向量问题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利用向量知识进行向量运算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得向量问题的解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再将向量问题的解转化为平面几何问题的解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基底的选取非常重要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恰当地选取基底可以使数量积运算变得简便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8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215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已知单位圆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中的三条半径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它们相互之间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夹角</a:t>
            </a:r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均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4188" y="2008188"/>
            <a:ext cx="11644312" cy="3878262"/>
            <a:chOff x="484188" y="2027852"/>
            <a:chExt cx="11644312" cy="387826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0488682"/>
                </p:ext>
              </p:extLst>
            </p:nvPr>
          </p:nvGraphicFramePr>
          <p:xfrm>
            <a:off x="484188" y="2027852"/>
            <a:ext cx="11644312" cy="3878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3" name="文档" r:id="rId3" imgW="3837724" imgH="1286168" progId="Word.Document.12">
                    <p:embed/>
                  </p:oleObj>
                </mc:Choice>
                <mc:Fallback>
                  <p:oleObj name="文档" r:id="rId3" imgW="3837724" imgH="12861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188" y="2027852"/>
                          <a:ext cx="11644312" cy="38782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YMG2TRA97.eps" descr="id:2147497721;FounderC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553224" y="2323647"/>
              <a:ext cx="2672309" cy="2672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091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6895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忽略两个向量作为基底的条件致错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共线的条件为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	B.e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181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错解在应用平面向量基本定理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忽视了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不共线这个条件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本题没有指明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是否共线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是否共线分类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2238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防范措施H.eps" descr="id:21474908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161687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77165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在应用平面向量基本定理时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不共线这个条件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平面内任一向量都可以沿着两个不共线向量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的方向线性分解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并且这种分解是唯一的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积累直观想象和数学运算素养的经验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351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31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下可以表示为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下可表示为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16041"/>
              </p:ext>
            </p:extLst>
          </p:nvPr>
        </p:nvGraphicFramePr>
        <p:xfrm>
          <a:off x="361950" y="2595544"/>
          <a:ext cx="11671959" cy="273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文档" r:id="rId3" imgW="3826872" imgH="896292" progId="Word.Document.12">
                  <p:embed/>
                </p:oleObj>
              </mc:Choice>
              <mc:Fallback>
                <p:oleObj name="文档" r:id="rId3" imgW="3826872" imgH="8962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950" y="2595544"/>
                        <a:ext cx="11671959" cy="273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244925"/>
              </p:ext>
            </p:extLst>
          </p:nvPr>
        </p:nvGraphicFramePr>
        <p:xfrm>
          <a:off x="361949" y="5348899"/>
          <a:ext cx="11671959" cy="810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文档" r:id="rId5" imgW="3826872" imgH="265581" progId="Word.Document.12">
                  <p:embed/>
                </p:oleObj>
              </mc:Choice>
              <mc:Fallback>
                <p:oleObj name="文档" r:id="rId5" imgW="3826872" imgH="265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949" y="5348899"/>
                        <a:ext cx="11671959" cy="810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800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内所有向量的一个基底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那么下列说法中正确的是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则向量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内任一向量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可以有无穷多个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7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由平面向量基本定理知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有且仅有一对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项不正确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所以存在实数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09328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601059"/>
              </p:ext>
            </p:extLst>
          </p:nvPr>
        </p:nvGraphicFramePr>
        <p:xfrm>
          <a:off x="432445" y="1098876"/>
          <a:ext cx="10640962" cy="254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文档" r:id="rId3" imgW="3837724" imgH="919104" progId="Word.Document.12">
                  <p:embed/>
                </p:oleObj>
              </mc:Choice>
              <mc:Fallback>
                <p:oleObj name="文档" r:id="rId3" imgW="3837724" imgH="9191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1098876"/>
                        <a:ext cx="10640962" cy="254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623363"/>
              </p:ext>
            </p:extLst>
          </p:nvPr>
        </p:nvGraphicFramePr>
        <p:xfrm>
          <a:off x="432445" y="3763172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5" imgW="3837724" imgH="238700" progId="Word.Document.12">
                  <p:embed/>
                </p:oleObj>
              </mc:Choice>
              <mc:Fallback>
                <p:oleObj name="文档" r:id="rId5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3763172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41919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41526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7579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是平面内两个不共线的向量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4e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为基底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A.7a-4b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B.a-2b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.-a+4b	D.a+2b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326831"/>
            <a:ext cx="11775553" cy="3573416"/>
            <a:chOff x="361950" y="2326831"/>
            <a:chExt cx="11775553" cy="3573416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32683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所以可设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483160"/>
                </p:ext>
              </p:extLst>
            </p:nvPr>
          </p:nvGraphicFramePr>
          <p:xfrm>
            <a:off x="432445" y="4104183"/>
            <a:ext cx="11705058" cy="1126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文档" r:id="rId3" imgW="3837724" imgH="369228" progId="Word.Document.12">
                    <p:embed/>
                  </p:oleObj>
                </mc:Choice>
                <mc:Fallback>
                  <p:oleObj name="文档" r:id="rId3" imgW="3837724" imgH="3692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45" y="4104183"/>
                          <a:ext cx="11705058" cy="11261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216983"/>
              <a:ext cx="4424609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61950" y="583969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8748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9077"/>
              </p:ext>
            </p:extLst>
          </p:nvPr>
        </p:nvGraphicFramePr>
        <p:xfrm>
          <a:off x="82237" y="935831"/>
          <a:ext cx="11671959" cy="126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文档" r:id="rId3" imgW="3826872" imgH="413646" progId="Word.Document.12">
                  <p:embed/>
                </p:oleObj>
              </mc:Choice>
              <mc:Fallback>
                <p:oleObj name="文档" r:id="rId3" imgW="3826872" imgH="4136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237" y="935831"/>
                        <a:ext cx="11671959" cy="126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5154"/>
              </p:ext>
            </p:extLst>
          </p:nvPr>
        </p:nvGraphicFramePr>
        <p:xfrm>
          <a:off x="82236" y="2163110"/>
          <a:ext cx="11671959" cy="240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文档" r:id="rId5" imgW="3826872" imgH="789197" progId="Word.Document.12">
                  <p:embed/>
                </p:oleObj>
              </mc:Choice>
              <mc:Fallback>
                <p:oleObj name="文档" r:id="rId5" imgW="3826872" imgH="7891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236" y="2163110"/>
                        <a:ext cx="11671959" cy="2407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474535"/>
              </p:ext>
            </p:extLst>
          </p:nvPr>
        </p:nvGraphicFramePr>
        <p:xfrm>
          <a:off x="82235" y="4608239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235" y="4608239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247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533448"/>
              </p:ext>
            </p:extLst>
          </p:nvPr>
        </p:nvGraphicFramePr>
        <p:xfrm>
          <a:off x="144413" y="670647"/>
          <a:ext cx="11671959" cy="207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文档" r:id="rId3" imgW="3826872" imgH="680664" progId="Word.Document.12">
                  <p:embed/>
                </p:oleObj>
              </mc:Choice>
              <mc:Fallback>
                <p:oleObj name="文档" r:id="rId3" imgW="3826872" imgH="680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413" y="670647"/>
                        <a:ext cx="11671959" cy="207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121089"/>
              </p:ext>
            </p:extLst>
          </p:nvPr>
        </p:nvGraphicFramePr>
        <p:xfrm>
          <a:off x="144412" y="3328852"/>
          <a:ext cx="11671959" cy="299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文档" r:id="rId5" imgW="3837724" imgH="985089" progId="Word.Document.12">
                  <p:embed/>
                </p:oleObj>
              </mc:Choice>
              <mc:Fallback>
                <p:oleObj name="文档" r:id="rId5" imgW="3837724" imgH="985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412" y="3328852"/>
                        <a:ext cx="11671959" cy="299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YMG2TRA98.eps" descr="id:2147497749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6481117" y="2015951"/>
            <a:ext cx="3024336" cy="187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2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79</TotalTime>
  <Words>1361</Words>
  <Application>Microsoft Office PowerPoint</Application>
  <PresentationFormat>自定义</PresentationFormat>
  <Paragraphs>107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9" baseType="lpstr">
      <vt:lpstr>MS Gothic</vt:lpstr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2025-09-04T05:22:02Z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