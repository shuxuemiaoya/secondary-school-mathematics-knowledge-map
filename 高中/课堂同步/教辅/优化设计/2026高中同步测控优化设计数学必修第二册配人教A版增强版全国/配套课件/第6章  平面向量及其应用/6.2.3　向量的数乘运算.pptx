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2" r:id="rId13"/>
    <p:sldId id="764" r:id="rId14"/>
    <p:sldId id="765" r:id="rId15"/>
    <p:sldId id="766" r:id="rId16"/>
    <p:sldId id="737" r:id="rId17"/>
    <p:sldId id="750" r:id="rId18"/>
    <p:sldId id="767" r:id="rId19"/>
    <p:sldId id="768" r:id="rId20"/>
    <p:sldId id="769" r:id="rId21"/>
    <p:sldId id="754" r:id="rId22"/>
    <p:sldId id="770" r:id="rId23"/>
    <p:sldId id="771" r:id="rId24"/>
    <p:sldId id="772" r:id="rId25"/>
    <p:sldId id="774" r:id="rId26"/>
    <p:sldId id="775" r:id="rId27"/>
    <p:sldId id="776" r:id="rId28"/>
    <p:sldId id="755" r:id="rId29"/>
    <p:sldId id="777" r:id="rId30"/>
    <p:sldId id="778" r:id="rId31"/>
    <p:sldId id="779" r:id="rId32"/>
    <p:sldId id="780" r:id="rId33"/>
    <p:sldId id="747" r:id="rId34"/>
    <p:sldId id="751" r:id="rId35"/>
    <p:sldId id="781" r:id="rId36"/>
    <p:sldId id="782" r:id="rId37"/>
    <p:sldId id="783" r:id="rId38"/>
    <p:sldId id="784" r:id="rId39"/>
    <p:sldId id="748" r:id="rId40"/>
    <p:sldId id="752" r:id="rId41"/>
    <p:sldId id="785" r:id="rId42"/>
    <p:sldId id="786" r:id="rId43"/>
    <p:sldId id="788" r:id="rId44"/>
    <p:sldId id="787" r:id="rId45"/>
    <p:sldId id="789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5" Type="http://schemas.openxmlformats.org/officeDocument/2006/relationships/slide" Target="slide33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3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4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5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6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8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9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jpeg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1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2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3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5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6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17.docx"/><Relationship Id="rId4" Type="http://schemas.openxmlformats.org/officeDocument/2006/relationships/oleObject" Target="../embeddings/oleObject17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18.docx"/><Relationship Id="rId4" Type="http://schemas.openxmlformats.org/officeDocument/2006/relationships/oleObject" Target="../embeddings/oleObject1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19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1.docx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3.jpeg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0.docx"/><Relationship Id="rId9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2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7.jpeg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3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4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26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27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44.emf"/><Relationship Id="rId5" Type="http://schemas.openxmlformats.org/officeDocument/2006/relationships/image" Target="../media/image42.emf"/><Relationship Id="rId10" Type="http://schemas.openxmlformats.org/officeDocument/2006/relationships/package" Target="../embeddings/Microsoft_Word___30.docx"/><Relationship Id="rId4" Type="http://schemas.openxmlformats.org/officeDocument/2006/relationships/package" Target="../embeddings/Microsoft_Word___28.docx"/><Relationship Id="rId9" Type="http://schemas.openxmlformats.org/officeDocument/2006/relationships/oleObject" Target="../embeddings/oleObject30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1.docx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3.docx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8.jpeg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2.docx"/><Relationship Id="rId9" Type="http://schemas.openxmlformats.org/officeDocument/2006/relationships/image" Target="../media/image47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2000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向量的数乘运算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75591"/>
            <a:ext cx="10729192" cy="4182224"/>
            <a:chOff x="360437" y="945663"/>
            <a:chExt cx="10729192" cy="41822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945663"/>
              <a:ext cx="10729192" cy="4182224"/>
              <a:chOff x="360437" y="1616975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16975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665600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通过实例分析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掌握平面向量数乘运算及运算规则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理解平面向量数乘运算的几何意义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理解两个平面向量共线的含义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了解平面向量的线性运算性质及其几何意义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想象和数学运算的核心素养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3796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一、向量的数乘运算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它们的长度和方向分别是怎样的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类比数的乘法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该如何表示运算结果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它们的长度和方向分别是怎样的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91982"/>
              </p:ext>
            </p:extLst>
          </p:nvPr>
        </p:nvGraphicFramePr>
        <p:xfrm>
          <a:off x="430213" y="3984318"/>
          <a:ext cx="10542587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文档" r:id="rId4" imgW="3826872" imgH="377708" progId="Word.Document.12">
                  <p:embed/>
                </p:oleObj>
              </mc:Choice>
              <mc:Fallback>
                <p:oleObj name="文档" r:id="rId4" imgW="3826872" imgH="3777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3984318"/>
                        <a:ext cx="10542587" cy="1039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4Z04.eps" descr="id:214749739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697141" y="2510175"/>
            <a:ext cx="4104456" cy="1645682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/>
        </p:nvSpPr>
        <p:spPr>
          <a:xfrm>
            <a:off x="361950" y="5102463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的方向相反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739471"/>
            <a:ext cx="255230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向量的数乘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873237"/>
              </p:ext>
            </p:extLst>
          </p:nvPr>
        </p:nvGraphicFramePr>
        <p:xfrm>
          <a:off x="-153451" y="1373575"/>
          <a:ext cx="11976264" cy="5244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文档" r:id="rId4" imgW="3926644" imgH="1719630" progId="Word.Document.12">
                  <p:embed/>
                </p:oleObj>
              </mc:Choice>
              <mc:Fallback>
                <p:oleObj name="文档" r:id="rId4" imgW="3926644" imgH="17196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53451" y="1373575"/>
                        <a:ext cx="11976264" cy="5244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694495" y="1474605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7689905" y="191765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454135" y="2087959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449545" y="253101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243403" y="2786523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238813" y="322957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769149" y="3384103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764559" y="382715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18611" y="4010412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614021" y="445346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752922" y="4602214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6748332" y="504526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ChangeAspect="1"/>
          </p:cNvSpPr>
          <p:nvPr/>
        </p:nvSpPr>
        <p:spPr>
          <a:xfrm>
            <a:off x="361950" y="966081"/>
            <a:ext cx="455253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947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6256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非零向量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4b,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的方向相同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的方向相反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4b,4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的方向相同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的方向相同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762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二、数乘运算的运算律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请通过作图判断以下结论是否成立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(1)3(2a)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6a;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(3)2(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546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83140"/>
            <a:ext cx="10807700" cy="4479363"/>
            <a:chOff x="361950" y="935831"/>
            <a:chExt cx="10807700" cy="447936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35831"/>
              <a:ext cx="5330305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各式均是成立的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YMG2TRA71.eps" descr="id:2147497224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61885" y="1751166"/>
              <a:ext cx="5230370" cy="1742135"/>
            </a:xfrm>
            <a:prstGeom prst="rect">
              <a:avLst/>
            </a:prstGeom>
          </p:spPr>
        </p:pic>
        <p:pic>
          <p:nvPicPr>
            <p:cNvPr id="5" name="YMG2TRA72.eps" descr="id:2147497231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265093" y="1549085"/>
              <a:ext cx="3528392" cy="2123050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3606622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(1)3(2a)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3a;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(3)2(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3920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49395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λμ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)a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特别地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51247" y="1231886"/>
            <a:ext cx="9403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646749" y="1695984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866327" y="1818708"/>
            <a:ext cx="113781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861940" y="2282806"/>
            <a:ext cx="11365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866327" y="2357001"/>
            <a:ext cx="113781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861940" y="2821099"/>
            <a:ext cx="11365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361950" y="4024118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的线性运算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数乘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运算统称为向量的线性运算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向量线性运算的结果仍是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以及任意实数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恒有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λμ</a:t>
            </a:r>
            <a:r>
              <a:rPr lang="en-US" altLang="zh-CN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λμ</a:t>
            </a:r>
            <a:r>
              <a:rPr lang="en-US" altLang="zh-CN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17770" y="4088666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112965" y="4552764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941246" y="4088666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936441" y="4552764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786238" y="4077908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781648" y="454200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664867" y="467537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6660277" y="513947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52227" y="5886322"/>
            <a:ext cx="20856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347682" y="6350420"/>
            <a:ext cx="20833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2451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0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则化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2(3b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的结果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4b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3(a+2b)-2(3b+c)-2(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2)a+(6-6-2)b-2c=a-2(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)=a-2a=-a.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322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三、共线向量定理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(a≠0),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反过来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那么是否存在一个实数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(a≠0)?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a(a≠0)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共线的充要条件是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存在唯一一个实数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2445" y="4320207"/>
            <a:ext cx="8351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27921" y="4784305"/>
            <a:ext cx="8341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197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126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则下列各组中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61950" y="328885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均为非零向量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;B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2a,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4b,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; 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因为不存在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896351"/>
              </p:ext>
            </p:extLst>
          </p:nvPr>
        </p:nvGraphicFramePr>
        <p:xfrm>
          <a:off x="432445" y="2043557"/>
          <a:ext cx="11705058" cy="1196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文档" r:id="rId4" imgW="3837724" imgH="392305" progId="Word.Document.12">
                  <p:embed/>
                </p:oleObj>
              </mc:Choice>
              <mc:Fallback>
                <p:oleObj name="文档" r:id="rId4" imgW="3837724" imgH="3923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043557"/>
                        <a:ext cx="11705058" cy="1196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32430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和任意实数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一定是共线向量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的方向不是相同就是相反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53525" y="2934501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33245" y="3528119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37101" y="410418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580107" y="4710558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71355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1616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的线性运算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614248"/>
              </p:ext>
            </p:extLst>
          </p:nvPr>
        </p:nvGraphicFramePr>
        <p:xfrm>
          <a:off x="432445" y="1881767"/>
          <a:ext cx="11671959" cy="2036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文档" r:id="rId4" imgW="3826872" imgH="667727" progId="Word.Document.12">
                  <p:embed/>
                </p:oleObj>
              </mc:Choice>
              <mc:Fallback>
                <p:oleObj name="文档" r:id="rId4" imgW="3826872" imgH="667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81767"/>
                        <a:ext cx="11671959" cy="2036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90952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根据向量的线性运算法则求解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340149"/>
              </p:ext>
            </p:extLst>
          </p:nvPr>
        </p:nvGraphicFramePr>
        <p:xfrm>
          <a:off x="432445" y="863823"/>
          <a:ext cx="11671959" cy="4970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文档" r:id="rId4" imgW="3826872" imgH="1629785" progId="Word.Document.12">
                  <p:embed/>
                </p:oleObj>
              </mc:Choice>
              <mc:Fallback>
                <p:oleObj name="文档" r:id="rId4" imgW="3826872" imgH="1629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1671959" cy="4970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978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7218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99271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向量的线性运算可类似于代数多项式的运算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实数运算中的去括号、移项、合并同类项、提取公因式等变形手段在向量的线性运算中同样适用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但是在这里的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同类项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公因式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实数看作是向量的系数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3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935114"/>
              </p:ext>
            </p:extLst>
          </p:nvPr>
        </p:nvGraphicFramePr>
        <p:xfrm>
          <a:off x="432445" y="774061"/>
          <a:ext cx="11671959" cy="2025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文档" r:id="rId4" imgW="3826872" imgH="664133" progId="Word.Document.12">
                  <p:embed/>
                </p:oleObj>
              </mc:Choice>
              <mc:Fallback>
                <p:oleObj name="文档" r:id="rId4" imgW="3826872" imgH="6641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74061"/>
                        <a:ext cx="11671959" cy="20256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61950" y="2856970"/>
            <a:ext cx="11693525" cy="3129253"/>
            <a:chOff x="361950" y="2744174"/>
            <a:chExt cx="11693525" cy="3129253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6077341"/>
                </p:ext>
              </p:extLst>
            </p:nvPr>
          </p:nvGraphicFramePr>
          <p:xfrm>
            <a:off x="409575" y="2744174"/>
            <a:ext cx="11645900" cy="1377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7" name="文档" r:id="rId7" imgW="3837724" imgH="454323" progId="Word.Document.12">
                    <p:embed/>
                  </p:oleObj>
                </mc:Choice>
                <mc:Fallback>
                  <p:oleObj name="文档" r:id="rId7" imgW="3837724" imgH="4543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9575" y="2744174"/>
                          <a:ext cx="11645900" cy="1377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06485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原式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-m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+n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-n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-m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-m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+n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+n</a:t>
              </a:r>
              <a:r>
                <a:rPr lang="en-US" altLang="zh-CN" dirty="0" err="1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m+n-m+n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m-n-m+n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778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524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线性运算的综合应用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00559"/>
            <a:ext cx="40959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69187"/>
              </p:ext>
            </p:extLst>
          </p:nvPr>
        </p:nvGraphicFramePr>
        <p:xfrm>
          <a:off x="504453" y="4695266"/>
          <a:ext cx="11671959" cy="145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文档" r:id="rId4" imgW="3826872" imgH="477974" progId="Word.Document.12">
                  <p:embed/>
                </p:oleObj>
              </mc:Choice>
              <mc:Fallback>
                <p:oleObj name="文档" r:id="rId4" imgW="3826872" imgH="477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4695266"/>
                        <a:ext cx="11671959" cy="1457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73.eps" descr="id:214749726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16821" y="2048631"/>
            <a:ext cx="2952328" cy="256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089951"/>
              </p:ext>
            </p:extLst>
          </p:nvPr>
        </p:nvGraphicFramePr>
        <p:xfrm>
          <a:off x="504453" y="883487"/>
          <a:ext cx="11671959" cy="5027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4" imgW="3826872" imgH="1648473" progId="Word.Document.12">
                  <p:embed/>
                </p:oleObj>
              </mc:Choice>
              <mc:Fallback>
                <p:oleObj name="文档" r:id="rId4" imgW="3826872" imgH="16484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83487"/>
                        <a:ext cx="11671959" cy="5027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44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089951"/>
              </p:ext>
            </p:extLst>
          </p:nvPr>
        </p:nvGraphicFramePr>
        <p:xfrm>
          <a:off x="504453" y="883487"/>
          <a:ext cx="11671959" cy="5027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文档" r:id="rId4" imgW="3826872" imgH="1648473" progId="Word.Document.12">
                  <p:embed/>
                </p:oleObj>
              </mc:Choice>
              <mc:Fallback>
                <p:oleObj name="文档" r:id="rId4" imgW="3826872" imgH="16484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83487"/>
                        <a:ext cx="11671959" cy="5027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YMG2TRA74.eps" descr="id:214749727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281317" y="2015951"/>
            <a:ext cx="2736304" cy="25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4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290262"/>
              </p:ext>
            </p:extLst>
          </p:nvPr>
        </p:nvGraphicFramePr>
        <p:xfrm>
          <a:off x="432445" y="870163"/>
          <a:ext cx="11671959" cy="226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文档" r:id="rId4" imgW="3826872" imgH="742118" progId="Word.Document.12">
                  <p:embed/>
                </p:oleObj>
              </mc:Choice>
              <mc:Fallback>
                <p:oleObj name="文档" r:id="rId4" imgW="3826872" imgH="7421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70163"/>
                        <a:ext cx="11671959" cy="2263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74.eps" descr="id:214749727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88829" y="3214285"/>
            <a:ext cx="2736304" cy="25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791815"/>
            <a:ext cx="10807700" cy="5308928"/>
            <a:chOff x="361950" y="719807"/>
            <a:chExt cx="10807700" cy="5308928"/>
          </a:xfrm>
        </p:grpSpPr>
        <p:pic>
          <p:nvPicPr>
            <p:cNvPr id="8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19807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91563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用已知向量表示待求向量的一般步骤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YMG2TRA76.eps" descr="id:2147497301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160637" y="1958477"/>
              <a:ext cx="6768752" cy="2817963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81109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提醒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用已知向量表示未知向量的关键是弄清向量之间的数量关系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5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683411"/>
              </p:ext>
            </p:extLst>
          </p:nvPr>
        </p:nvGraphicFramePr>
        <p:xfrm>
          <a:off x="360437" y="862745"/>
          <a:ext cx="11671959" cy="2608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文档" r:id="rId4" imgW="3826872" imgH="855323" progId="Word.Document.12">
                  <p:embed/>
                </p:oleObj>
              </mc:Choice>
              <mc:Fallback>
                <p:oleObj name="文档" r:id="rId4" imgW="3826872" imgH="8553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62745"/>
                        <a:ext cx="11671959" cy="2608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YMG2TRA77.eps" descr="id:214749730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672805" y="3479651"/>
            <a:ext cx="3456384" cy="222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0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140913"/>
              </p:ext>
            </p:extLst>
          </p:nvPr>
        </p:nvGraphicFramePr>
        <p:xfrm>
          <a:off x="504453" y="667463"/>
          <a:ext cx="11671959" cy="5124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文档" r:id="rId4" imgW="3826872" imgH="1680098" progId="Word.Document.12">
                  <p:embed/>
                </p:oleObj>
              </mc:Choice>
              <mc:Fallback>
                <p:oleObj name="文档" r:id="rId4" imgW="3826872" imgH="1680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67463"/>
                        <a:ext cx="11671959" cy="5124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799911"/>
              </p:ext>
            </p:extLst>
          </p:nvPr>
        </p:nvGraphicFramePr>
        <p:xfrm>
          <a:off x="504453" y="5645847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5645847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0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29587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共线</a:t>
            </a:r>
            <a:r>
              <a:rPr lang="zh-CN" altLang="zh-CN" dirty="0"/>
              <a:t>向量定理及其应用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755511"/>
              </p:ext>
            </p:extLst>
          </p:nvPr>
        </p:nvGraphicFramePr>
        <p:xfrm>
          <a:off x="190094" y="2015951"/>
          <a:ext cx="11671959" cy="195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4" imgW="3826872" imgH="640414" progId="Word.Document.12">
                  <p:embed/>
                </p:oleObj>
              </mc:Choice>
              <mc:Fallback>
                <p:oleObj name="文档" r:id="rId4" imgW="3826872" imgH="6404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094" y="2015951"/>
                        <a:ext cx="11671959" cy="195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77196"/>
              </p:ext>
            </p:extLst>
          </p:nvPr>
        </p:nvGraphicFramePr>
        <p:xfrm>
          <a:off x="432445" y="729639"/>
          <a:ext cx="11671959" cy="555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文档" r:id="rId4" imgW="3826872" imgH="1820615" progId="Word.Document.12">
                  <p:embed/>
                </p:oleObj>
              </mc:Choice>
              <mc:Fallback>
                <p:oleObj name="文档" r:id="rId4" imgW="3826872" imgH="18206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29639"/>
                        <a:ext cx="11671959" cy="5552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397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709975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6168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欲使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429795"/>
            <a:ext cx="11725959" cy="3680780"/>
            <a:chOff x="361950" y="2367619"/>
            <a:chExt cx="11725959" cy="368078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36761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共线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且同向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存在实数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437766"/>
                </p:ext>
              </p:extLst>
            </p:nvPr>
          </p:nvGraphicFramePr>
          <p:xfrm>
            <a:off x="415950" y="4240920"/>
            <a:ext cx="11671959" cy="1807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6" name="文档" r:id="rId5" imgW="3826872" imgH="592616" progId="Word.Document.12">
                    <p:embed/>
                  </p:oleObj>
                </mc:Choice>
                <mc:Fallback>
                  <p:oleObj name="文档" r:id="rId5" imgW="3826872" imgH="5926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950" y="4240920"/>
                          <a:ext cx="11671959" cy="18074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8254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749303"/>
            <a:ext cx="10807700" cy="5338780"/>
            <a:chOff x="361950" y="749303"/>
            <a:chExt cx="10807700" cy="5338780"/>
          </a:xfrm>
        </p:grpSpPr>
        <p:pic>
          <p:nvPicPr>
            <p:cNvPr id="8" name="方法总结H.eps" descr="id:2147497068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49303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07222"/>
              <a:ext cx="10807700" cy="478086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证明或判断三点共线的方法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 marL="533400" indent="-533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一般来说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要判定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三点是否共线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只需看是否存在实数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</a:t>
              </a:r>
            </a:p>
            <a:p>
              <a:pPr marL="533400" indent="-533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             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使得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利用向量共线求参数的方法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已知向量共线求参数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常根据向量共线的条件转化为相应向量系数对应相等求解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提醒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根据向量共线求参数时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应熟记并能灵活运用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μ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则必有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1446373"/>
                </p:ext>
              </p:extLst>
            </p:nvPr>
          </p:nvGraphicFramePr>
          <p:xfrm>
            <a:off x="504453" y="2510175"/>
            <a:ext cx="4916487" cy="58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文档" r:id="rId5" imgW="1583329" imgH="189033" progId="Word.Document.12">
                    <p:embed/>
                  </p:oleObj>
                </mc:Choice>
                <mc:Fallback>
                  <p:oleObj name="文档" r:id="rId5" imgW="1583329" imgH="18903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4453" y="2510175"/>
                          <a:ext cx="4916487" cy="581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034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5763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反向共线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1848696"/>
            <a:ext cx="11742454" cy="4425559"/>
            <a:chOff x="361950" y="1910872"/>
            <a:chExt cx="11742454" cy="442555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910872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反向共线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存在实数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-k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-k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0142476"/>
                </p:ext>
              </p:extLst>
            </p:nvPr>
          </p:nvGraphicFramePr>
          <p:xfrm>
            <a:off x="432445" y="4292193"/>
            <a:ext cx="11671959" cy="2044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name="文档" r:id="rId4" imgW="3826872" imgH="670242" progId="Word.Document.12">
                    <p:embed/>
                  </p:oleObj>
                </mc:Choice>
                <mc:Fallback>
                  <p:oleObj name="文档" r:id="rId4" imgW="3826872" imgH="67024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4292193"/>
                          <a:ext cx="11671959" cy="2044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410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数形结合思想在向量线性运算中的应用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699522"/>
              </p:ext>
            </p:extLst>
          </p:nvPr>
        </p:nvGraphicFramePr>
        <p:xfrm>
          <a:off x="391923" y="1161687"/>
          <a:ext cx="11671959" cy="212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文档" r:id="rId4" imgW="3826872" imgH="696836" progId="Word.Document.12">
                  <p:embed/>
                </p:oleObj>
              </mc:Choice>
              <mc:Fallback>
                <p:oleObj name="文档" r:id="rId4" imgW="3826872" imgH="696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1923" y="1161687"/>
                        <a:ext cx="11671959" cy="212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YMG2TRA78.eps" descr="id:214749734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032845" y="3168079"/>
            <a:ext cx="2808312" cy="1718819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239536"/>
              </p:ext>
            </p:extLst>
          </p:nvPr>
        </p:nvGraphicFramePr>
        <p:xfrm>
          <a:off x="520675" y="4752255"/>
          <a:ext cx="10640962" cy="1612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文档" r:id="rId8" imgW="3837724" imgH="581606" progId="Word.Document.12">
                  <p:embed/>
                </p:oleObj>
              </mc:Choice>
              <mc:Fallback>
                <p:oleObj name="文档" r:id="rId8" imgW="3837724" imgH="5816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0675" y="4752255"/>
                        <a:ext cx="10640962" cy="1612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607052"/>
              </p:ext>
            </p:extLst>
          </p:nvPr>
        </p:nvGraphicFramePr>
        <p:xfrm>
          <a:off x="432445" y="791815"/>
          <a:ext cx="11671959" cy="543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文档" r:id="rId4" imgW="3826872" imgH="1781802" progId="Word.Document.12">
                  <p:embed/>
                </p:oleObj>
              </mc:Choice>
              <mc:Fallback>
                <p:oleObj name="文档" r:id="rId4" imgW="3826872" imgH="17818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91815"/>
                        <a:ext cx="11671959" cy="5434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296615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439887"/>
            <a:ext cx="10807700" cy="2967195"/>
            <a:chOff x="361950" y="1799927"/>
            <a:chExt cx="10807700" cy="2967195"/>
          </a:xfrm>
        </p:grpSpPr>
        <p:pic>
          <p:nvPicPr>
            <p:cNvPr id="3" name="方法点睛H.eps" descr="id:214749735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9927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367619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建立已知向量与未知向量之间的关系时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应注意利用平面几何中的一些结论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搞清楚图形中的相等向量、相反向量、共线向量及构成三角形的三个向量之间的关系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综合应用向量的线性运算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确定已知向量与被表示向量的转化渠道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4251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586841"/>
              </p:ext>
            </p:extLst>
          </p:nvPr>
        </p:nvGraphicFramePr>
        <p:xfrm>
          <a:off x="432445" y="1358047"/>
          <a:ext cx="11671959" cy="134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文档" r:id="rId4" imgW="3826872" imgH="442036" progId="Word.Document.12">
                  <p:embed/>
                </p:oleObj>
              </mc:Choice>
              <mc:Fallback>
                <p:oleObj name="文档" r:id="rId4" imgW="3826872" imgH="4420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358047"/>
                        <a:ext cx="11671959" cy="1348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79.eps" descr="id:214749735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736701" y="2734949"/>
            <a:ext cx="5328592" cy="19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230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567767"/>
              </p:ext>
            </p:extLst>
          </p:nvPr>
        </p:nvGraphicFramePr>
        <p:xfrm>
          <a:off x="504825" y="774700"/>
          <a:ext cx="11661775" cy="540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文档" r:id="rId4" imgW="3837724" imgH="1780155" progId="Word.Document.12">
                  <p:embed/>
                </p:oleObj>
              </mc:Choice>
              <mc:Fallback>
                <p:oleObj name="文档" r:id="rId4" imgW="3837724" imgH="17801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774700"/>
                        <a:ext cx="11661775" cy="540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057145"/>
              </p:ext>
            </p:extLst>
          </p:nvPr>
        </p:nvGraphicFramePr>
        <p:xfrm>
          <a:off x="6697141" y="5353819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97141" y="5353819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94610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4869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	B.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	C.0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(2a-b)-(2a+b)=2a-b-2a-b=-2b.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315535"/>
            <a:ext cx="10807700" cy="3046988"/>
            <a:chOff x="361950" y="647799"/>
            <a:chExt cx="10807700" cy="3046988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64779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是两个非零向量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下列结论正确的有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的模是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的模的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的方向相反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的模是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的模的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是一对相反向量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是一对相反向量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7253783"/>
                </p:ext>
              </p:extLst>
            </p:nvPr>
          </p:nvGraphicFramePr>
          <p:xfrm>
            <a:off x="8929389" y="1804616"/>
            <a:ext cx="1162050" cy="646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3" name="文档" r:id="rId4" imgW="553287" imgH="313379" progId="Word.Document.12">
                    <p:embed/>
                  </p:oleObj>
                </mc:Choice>
                <mc:Fallback>
                  <p:oleObj name="文档" r:id="rId4" imgW="553287" imgH="3133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929389" y="1804616"/>
                          <a:ext cx="1162050" cy="6461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61752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91891" y="534263"/>
            <a:ext cx="13761541" cy="5410712"/>
            <a:chOff x="-2591891" y="647799"/>
            <a:chExt cx="13761541" cy="541071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的方向相同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中结论正确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方向相同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的方向相反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的方向相反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且模是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的模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中结论正确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依据相反向量的定义及实数与向量乘积的定义进行判断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中结论正确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是一对相反向量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是一对相等向量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结论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347134"/>
                </p:ext>
              </p:extLst>
            </p:nvPr>
          </p:nvGraphicFramePr>
          <p:xfrm>
            <a:off x="-2591891" y="2977058"/>
            <a:ext cx="7994713" cy="654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7" name="文档" r:id="rId4" imgW="3837724" imgH="314421" progId="Word.Document.12">
                    <p:embed/>
                  </p:oleObj>
                </mc:Choice>
                <mc:Fallback>
                  <p:oleObj name="文档" r:id="rId4" imgW="3837724" imgH="3144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591891" y="2977058"/>
                          <a:ext cx="7994713" cy="6549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50" y="5776591"/>
            <a:ext cx="2114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6171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5106"/>
              </p:ext>
            </p:extLst>
          </p:nvPr>
        </p:nvGraphicFramePr>
        <p:xfrm>
          <a:off x="288429" y="1223863"/>
          <a:ext cx="11671959" cy="1407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文档" r:id="rId4" imgW="3826872" imgH="461443" progId="Word.Document.12">
                  <p:embed/>
                </p:oleObj>
              </mc:Choice>
              <mc:Fallback>
                <p:oleObj name="文档" r:id="rId4" imgW="3826872" imgH="461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223863"/>
                        <a:ext cx="11671959" cy="1407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24823"/>
              </p:ext>
            </p:extLst>
          </p:nvPr>
        </p:nvGraphicFramePr>
        <p:xfrm>
          <a:off x="288429" y="2642247"/>
          <a:ext cx="11671959" cy="1455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文档" r:id="rId7" imgW="3826872" imgH="477256" progId="Word.Document.12">
                  <p:embed/>
                </p:oleObj>
              </mc:Choice>
              <mc:Fallback>
                <p:oleObj name="文档" r:id="rId7" imgW="3826872" imgH="4772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9" y="2642247"/>
                        <a:ext cx="11671959" cy="1455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250755"/>
              </p:ext>
            </p:extLst>
          </p:nvPr>
        </p:nvGraphicFramePr>
        <p:xfrm>
          <a:off x="288429" y="4155768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文档" r:id="rId10" imgW="3826872" imgH="263066" progId="Word.Document.12">
                  <p:embed/>
                </p:oleObj>
              </mc:Choice>
              <mc:Fallback>
                <p:oleObj name="文档" r:id="rId10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9" y="4155768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490581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6382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是两个不共线的向量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是共线向量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61950" y="2059923"/>
            <a:ext cx="11671959" cy="3052372"/>
            <a:chOff x="361950" y="2059923"/>
            <a:chExt cx="11671959" cy="3052372"/>
          </a:xfrm>
        </p:grpSpPr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205992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存在实数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6814354"/>
                </p:ext>
              </p:extLst>
            </p:nvPr>
          </p:nvGraphicFramePr>
          <p:xfrm>
            <a:off x="361950" y="3910961"/>
            <a:ext cx="11671959" cy="1201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5" name="文档" r:id="rId4" imgW="3826872" imgH="393880" progId="Word.Document.12">
                    <p:embed/>
                  </p:oleObj>
                </mc:Choice>
                <mc:Fallback>
                  <p:oleObj name="文档" r:id="rId4" imgW="3826872" imgH="39388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3910961"/>
                          <a:ext cx="11671959" cy="12013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spect="1"/>
          </p:cNvSpPr>
          <p:nvPr/>
        </p:nvSpPr>
        <p:spPr>
          <a:xfrm>
            <a:off x="355716" y="5005095"/>
            <a:ext cx="158889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42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644865"/>
              </p:ext>
            </p:extLst>
          </p:nvPr>
        </p:nvGraphicFramePr>
        <p:xfrm>
          <a:off x="576461" y="1017781"/>
          <a:ext cx="11705058" cy="72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文档" r:id="rId4" imgW="3837724" imgH="238340" progId="Word.Document.12">
                  <p:embed/>
                </p:oleObj>
              </mc:Choice>
              <mc:Fallback>
                <p:oleObj name="文档" r:id="rId4" imgW="3837724" imgH="23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017781"/>
                        <a:ext cx="11705058" cy="72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N08.eps" descr="id:2147497604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384773" y="1799927"/>
            <a:ext cx="3312368" cy="1574235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367372"/>
              </p:ext>
            </p:extLst>
          </p:nvPr>
        </p:nvGraphicFramePr>
        <p:xfrm>
          <a:off x="576461" y="3528119"/>
          <a:ext cx="11705058" cy="1454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文档" r:id="rId8" imgW="3837724" imgH="477040" progId="Word.Document.12">
                  <p:embed/>
                </p:oleObj>
              </mc:Choice>
              <mc:Fallback>
                <p:oleObj name="文档" r:id="rId8" imgW="3837724" imgH="4770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6461" y="3528119"/>
                        <a:ext cx="11705058" cy="1454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007368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80</TotalTime>
  <Words>1318</Words>
  <Application>Microsoft Office PowerPoint</Application>
  <PresentationFormat>自定义</PresentationFormat>
  <Paragraphs>114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2025-09-04T04:08:00Z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