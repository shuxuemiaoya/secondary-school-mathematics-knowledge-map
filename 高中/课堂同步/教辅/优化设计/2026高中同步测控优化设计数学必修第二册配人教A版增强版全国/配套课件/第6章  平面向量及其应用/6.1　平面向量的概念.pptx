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2" r:id="rId13"/>
    <p:sldId id="764" r:id="rId14"/>
    <p:sldId id="765" r:id="rId15"/>
    <p:sldId id="766" r:id="rId16"/>
    <p:sldId id="767" r:id="rId17"/>
    <p:sldId id="768" r:id="rId18"/>
    <p:sldId id="769" r:id="rId19"/>
    <p:sldId id="770" r:id="rId20"/>
    <p:sldId id="737" r:id="rId21"/>
    <p:sldId id="750" r:id="rId22"/>
    <p:sldId id="771" r:id="rId23"/>
    <p:sldId id="772" r:id="rId24"/>
    <p:sldId id="773" r:id="rId25"/>
    <p:sldId id="754" r:id="rId26"/>
    <p:sldId id="774" r:id="rId27"/>
    <p:sldId id="775" r:id="rId28"/>
    <p:sldId id="776" r:id="rId29"/>
    <p:sldId id="777" r:id="rId30"/>
    <p:sldId id="755" r:id="rId31"/>
    <p:sldId id="778" r:id="rId32"/>
    <p:sldId id="779" r:id="rId33"/>
    <p:sldId id="780" r:id="rId34"/>
    <p:sldId id="747" r:id="rId35"/>
    <p:sldId id="751" r:id="rId36"/>
    <p:sldId id="781" r:id="rId37"/>
    <p:sldId id="782" r:id="rId38"/>
    <p:sldId id="783" r:id="rId39"/>
    <p:sldId id="784" r:id="rId40"/>
    <p:sldId id="748" r:id="rId41"/>
    <p:sldId id="752" r:id="rId42"/>
    <p:sldId id="785" r:id="rId43"/>
    <p:sldId id="786" r:id="rId44"/>
    <p:sldId id="787" r:id="rId45"/>
    <p:sldId id="788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-3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5" Type="http://schemas.openxmlformats.org/officeDocument/2006/relationships/slide" Target="slide34.xml"/><Relationship Id="rId4" Type="http://schemas.openxmlformats.org/officeDocument/2006/relationships/slide" Target="slide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3.docx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4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5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6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jpeg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9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0.docx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2.docx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3.jpeg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1.docx"/><Relationship Id="rId9" Type="http://schemas.openxmlformats.org/officeDocument/2006/relationships/image" Target="../media/image2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3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7.jpeg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4.docx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6.docx"/><Relationship Id="rId13" Type="http://schemas.openxmlformats.org/officeDocument/2006/relationships/image" Target="../media/image30.emf"/><Relationship Id="rId3" Type="http://schemas.openxmlformats.org/officeDocument/2006/relationships/image" Target="../media/image31.jpeg"/><Relationship Id="rId7" Type="http://schemas.openxmlformats.org/officeDocument/2006/relationships/oleObject" Target="../embeddings/oleObject16.bin"/><Relationship Id="rId12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17.bin"/><Relationship Id="rId5" Type="http://schemas.openxmlformats.org/officeDocument/2006/relationships/package" Target="../embeddings/Microsoft_Word___15.docx"/><Relationship Id="rId10" Type="http://schemas.openxmlformats.org/officeDocument/2006/relationships/image" Target="../media/image32.jpe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18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19.docx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1.docx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23.docx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12" Type="http://schemas.openxmlformats.org/officeDocument/2006/relationships/image" Target="../media/image4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package" Target="../embeddings/Microsoft_Word___27.docx"/><Relationship Id="rId4" Type="http://schemas.openxmlformats.org/officeDocument/2006/relationships/package" Target="../embeddings/Microsoft_Word___25.docx"/><Relationship Id="rId9" Type="http://schemas.openxmlformats.org/officeDocument/2006/relationships/oleObject" Target="../embeddings/oleObject27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9.docx"/><Relationship Id="rId3" Type="http://schemas.openxmlformats.org/officeDocument/2006/relationships/image" Target="../media/image46.jpeg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4.emf"/><Relationship Id="rId5" Type="http://schemas.openxmlformats.org/officeDocument/2006/relationships/package" Target="../embeddings/Microsoft_Word___28.docx"/><Relationship Id="rId4" Type="http://schemas.openxmlformats.org/officeDocument/2006/relationships/oleObject" Target="../embeddings/oleObject28.bin"/><Relationship Id="rId9" Type="http://schemas.openxmlformats.org/officeDocument/2006/relationships/image" Target="../media/image45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20007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6.1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平面向量的概念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77711"/>
            <a:ext cx="10729192" cy="3456385"/>
            <a:chOff x="360437" y="1593733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93733"/>
              <a:ext cx="10729192" cy="3456385"/>
              <a:chOff x="360437" y="2059616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59616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97913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61821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通过对力、速度、位移等的分析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了解平面向量的实际背景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理解平面向量的几何表示和基本要素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理解平面向量的意义和两个向量相等的含义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提升数学抽象和直观想象的核心素养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9946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一、向量的概念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在物理中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位移与距离是同一个概念吗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现实世界中有各种各样的量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如年龄、身高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质量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力、速度、面积、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体积等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怎样正确区分这些量呢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在物理中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位移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与距离不是同一个概念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这些量中有些只有大小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但有些既有大小又有方向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因此应该从大小和方向两个方面对这些量进行区分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07958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在数学中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我们把既有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大小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的量叫做向量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把只有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大小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没有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的量称为数量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67513" y="274678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5652165" y="321088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294721" y="274678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290131" y="321088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107499" y="331209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102909" y="377619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745465" y="331209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4740875" y="377619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6052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二、有向线段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在物理中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我们经常用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带有方向的线段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来表示位移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那么线段与带有方向的线段相同吗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线段与带有方向的线段是不同的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线段只有长度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带有方向的线段不但有长度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还有方向、起点等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8680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970241"/>
              </p:ext>
            </p:extLst>
          </p:nvPr>
        </p:nvGraphicFramePr>
        <p:xfrm>
          <a:off x="288429" y="657631"/>
          <a:ext cx="11671959" cy="2729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3826872" imgH="894854" progId="Word.Document.12">
                  <p:embed/>
                </p:oleObj>
              </mc:Choice>
              <mc:Fallback>
                <p:oleObj name="文档" r:id="rId4" imgW="3826872" imgH="8948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657631"/>
                        <a:ext cx="11671959" cy="2729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01.eps" descr="id:214749638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456781" y="3393934"/>
            <a:ext cx="3312368" cy="1753607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154245" y="513845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有向线段的三个要素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起点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长度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知道了有向线段的起点、方向、长度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终点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就唯一确定了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59983" y="116283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355393" y="162693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984719" y="116283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980129" y="162693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112791" y="172791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108201" y="219201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917177" y="2297440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912587" y="276153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9281342" y="2297440"/>
            <a:ext cx="706495" cy="526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9276712" y="2824584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536901" y="520274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532311" y="566684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761037" y="520298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5756447" y="566707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971096" y="520274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6966506" y="566684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835691" y="578104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4831101" y="624514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2309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1136997"/>
                <a:ext cx="10807700" cy="31391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下列说法正确的是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A.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温度有零上温度和零下温度之分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故温度是向量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B.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在有向线段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为终点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为起点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C.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有向线段由方向和长度两个要素确定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D.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有向线段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和有向线段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𝑁𝑀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的长度相等</a:t>
                </a:r>
                <a:endPara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136997"/>
                <a:ext cx="10807700" cy="3139129"/>
              </a:xfrm>
              <a:prstGeom prst="rect">
                <a:avLst/>
              </a:prstGeom>
              <a:blipFill rotWithShape="0">
                <a:blip r:embed="rId2"/>
                <a:stretch>
                  <a:fillRect l="-1410" t="-1946" b="-4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>
            <a:spLocks noChangeAspect="1"/>
          </p:cNvSpPr>
          <p:nvPr/>
        </p:nvSpPr>
        <p:spPr>
          <a:xfrm>
            <a:off x="361950" y="421300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7037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三、向量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对于一个实数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可以用数轴上的点表示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对于一个二次函数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可以用一条抛物线表示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数学中有许多量都可以用几何方式表示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你认为如何用几何方式表示向量最合适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由于向量既有大小又有方向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因此可用有向线段来表示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8413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280361"/>
              </p:ext>
            </p:extLst>
          </p:nvPr>
        </p:nvGraphicFramePr>
        <p:xfrm>
          <a:off x="504453" y="1760786"/>
          <a:ext cx="10640962" cy="255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文档" r:id="rId4" imgW="3837724" imgH="923070" progId="Word.Document.12">
                  <p:embed/>
                </p:oleObj>
              </mc:Choice>
              <mc:Fallback>
                <p:oleObj name="文档" r:id="rId4" imgW="3837724" imgH="9230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760786"/>
                        <a:ext cx="10640962" cy="2559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694619" y="2833502"/>
            <a:ext cx="940346" cy="4601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680290" y="3313541"/>
            <a:ext cx="9392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9836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2303859" y="951439"/>
            <a:ext cx="13473509" cy="4228850"/>
            <a:chOff x="-2303859" y="1161058"/>
            <a:chExt cx="13473509" cy="422885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61058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下列说法不正确的是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可以用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表示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的方向是由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指向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的起点是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的终点是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YMG2TRA02.eps" descr="id:2147496388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384477" y="1784441"/>
              <a:ext cx="3816720" cy="1095606"/>
            </a:xfrm>
            <a:prstGeom prst="rect">
              <a:avLst/>
            </a:prstGeom>
          </p:spPr>
        </p:pic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424654"/>
                </p:ext>
              </p:extLst>
            </p:nvPr>
          </p:nvGraphicFramePr>
          <p:xfrm>
            <a:off x="-2303859" y="2986649"/>
            <a:ext cx="11671959" cy="545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文档" r:id="rId5" imgW="3826872" imgH="178971" progId="Word.Document.12">
                    <p:embed/>
                  </p:oleObj>
                </mc:Choice>
                <mc:Fallback>
                  <p:oleObj name="文档" r:id="rId5" imgW="3826872" imgH="1789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2303859" y="2986649"/>
                          <a:ext cx="11671959" cy="545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511774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720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5399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四、两个特殊向量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零向量的方向是什么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两个单位向量的方向相同吗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零向量的方向是任意的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两个单位向量的方向不一定相同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106479"/>
              </p:ext>
            </p:extLst>
          </p:nvPr>
        </p:nvGraphicFramePr>
        <p:xfrm>
          <a:off x="-338230" y="3943491"/>
          <a:ext cx="11844910" cy="2538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文档" r:id="rId4" imgW="3883577" imgH="832322" progId="Word.Document.12">
                  <p:embed/>
                </p:oleObj>
              </mc:Choice>
              <mc:Fallback>
                <p:oleObj name="文档" r:id="rId4" imgW="3883577" imgH="8323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338230" y="3943491"/>
                        <a:ext cx="11844910" cy="2538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274096" y="4666434"/>
            <a:ext cx="633603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274095" y="5216905"/>
            <a:ext cx="256706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4987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278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向量的模是一个正实数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零向量没有方向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单位向量的模等于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个单位长度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零向量就是实数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向量的模是一个非负实数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零向量的方向是任意的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零向量不是实数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均错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7356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五、 向量的关系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向量由其模和方向所确定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对于两个向量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就其模相等与不相等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方向相同与不相同而言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可能的情形有哪几种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有四种情形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方向不相同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模不相等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模不相等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方向不相同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如果两个向量所在的直线互相平行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那么这两个向量的方向有什么关系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方向相同或相反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0433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47799"/>
            <a:ext cx="595035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263269"/>
              </p:ext>
            </p:extLst>
          </p:nvPr>
        </p:nvGraphicFramePr>
        <p:xfrm>
          <a:off x="346132" y="1259055"/>
          <a:ext cx="10887513" cy="5657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文档" r:id="rId4" imgW="3926644" imgH="2040555" progId="Word.Document.12">
                  <p:embed/>
                </p:oleObj>
              </mc:Choice>
              <mc:Fallback>
                <p:oleObj name="文档" r:id="rId4" imgW="3926644" imgH="20405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132" y="1259055"/>
                        <a:ext cx="10887513" cy="5657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592685" y="3062719"/>
            <a:ext cx="194421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777303" y="3300259"/>
            <a:ext cx="102042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301208" y="4269715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592685" y="5022112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826026" y="5500233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067867" y="5256461"/>
            <a:ext cx="14483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316575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21311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713160"/>
              </p:ext>
            </p:extLst>
          </p:nvPr>
        </p:nvGraphicFramePr>
        <p:xfrm>
          <a:off x="452109" y="1511895"/>
          <a:ext cx="11671959" cy="575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文档" r:id="rId4" imgW="3826872" imgH="188674" progId="Word.Document.12">
                  <p:embed/>
                </p:oleObj>
              </mc:Choice>
              <mc:Fallback>
                <p:oleObj name="文档" r:id="rId4" imgW="3826872" imgH="1886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1511895"/>
                        <a:ext cx="11671959" cy="575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2097162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与实数类似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对于两个向量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三种关系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当两个向量平行时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表示向量的有向线段所在的直线一定平行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若两个向量是共线向量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则向量所在的直线可以平行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也可以重合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817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2603"/>
            <a:ext cx="10807700" cy="55191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平行向量方向一定相同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不相等向量一定不平行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与零向量相等的向量是零向量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若两个非零向量平行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则这两个向量的方向相同或相反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若两个向量共线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则其方向必定相同或相反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00997" y="2592015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00997" y="3209148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625133" y="3744143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297541" y="4896271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785373" y="5544343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59660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8198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的有关概念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532556"/>
              </p:ext>
            </p:extLst>
          </p:nvPr>
        </p:nvGraphicFramePr>
        <p:xfrm>
          <a:off x="448667" y="1655911"/>
          <a:ext cx="10640962" cy="317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文档" r:id="rId4" imgW="3837724" imgH="1146265" progId="Word.Document.12">
                  <p:embed/>
                </p:oleObj>
              </mc:Choice>
              <mc:Fallback>
                <p:oleObj name="文档" r:id="rId4" imgW="3837724" imgH="11462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8667" y="1655911"/>
                        <a:ext cx="10640962" cy="3178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1950" y="484562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明确向量的有关概念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根据定义进行判定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619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仅说明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的模相等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但不能说明它们方向的关系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5678984"/>
              </p:ext>
            </p:extLst>
          </p:nvPr>
        </p:nvGraphicFramePr>
        <p:xfrm>
          <a:off x="415823" y="2015020"/>
          <a:ext cx="10640962" cy="3169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3837724" imgH="1143020" progId="Word.Document.12">
                  <p:embed/>
                </p:oleObj>
              </mc:Choice>
              <mc:Fallback>
                <p:oleObj name="文档" r:id="rId4" imgW="3837724" imgH="11430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823" y="2015020"/>
                        <a:ext cx="10640962" cy="3169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5215497"/>
            <a:ext cx="1840568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77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198675"/>
            <a:ext cx="10807700" cy="3596092"/>
            <a:chOff x="361950" y="1084155"/>
            <a:chExt cx="10807700" cy="3596092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084155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689813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单位向量、零向量是用向量的长度来定义的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共线向量是用表示向量的有向线段所在直线平行或重合来定义的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相等向量是用向量的长度和方向共同定义的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对于概念性题目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关键把握好概念的内涵与外延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正确理解共线向量、相等向量的概念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清楚它们的区别与联系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461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531641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数量可以比较大小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向量也可以比较大小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向量的模可以比较大小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模为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的向量都是相等向量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由于零向量的方向不确定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因此零向量不能与任意向量平行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向量不能比较大小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向量的模是一个数量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可以比较大小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相等向量不但模相等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方向也相同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规定零向量与任意向量平行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26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的表示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199823"/>
              </p:ext>
            </p:extLst>
          </p:nvPr>
        </p:nvGraphicFramePr>
        <p:xfrm>
          <a:off x="478757" y="3312095"/>
          <a:ext cx="10610872" cy="1786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4" imgW="3826872" imgH="644367" progId="Word.Document.12">
                  <p:embed/>
                </p:oleObj>
              </mc:Choice>
              <mc:Fallback>
                <p:oleObj name="文档" r:id="rId4" imgW="3826872" imgH="6443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757" y="3312095"/>
                        <a:ext cx="10610872" cy="17866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22T01.eps" descr="id:214749662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921277" y="1943943"/>
            <a:ext cx="3384376" cy="3384376"/>
          </a:xfrm>
          <a:prstGeom prst="rect">
            <a:avLst/>
          </a:prstGeom>
        </p:spPr>
      </p:pic>
      <p:sp>
        <p:nvSpPr>
          <p:cNvPr id="10" name="矩形 9"/>
          <p:cNvSpPr>
            <a:spLocks noChangeAspect="1"/>
          </p:cNvSpPr>
          <p:nvPr/>
        </p:nvSpPr>
        <p:spPr>
          <a:xfrm>
            <a:off x="361950" y="5112295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先确定起点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再根据大小和方向确定出终点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即可画出向量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1295871"/>
                <a:ext cx="10807700" cy="12786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Times New Roman" panose="02020603050405020304" pitchFamily="18" charset="0"/>
                  </a:rPr>
                  <a:t>】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在坐标纸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规定小方格的边长为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1)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en-US" altLang="zh-CN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用直尺和圆规画出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𝑂𝐴</m:t>
                        </m:r>
                      </m:e>
                    </m:acc>
                    <m:r>
                      <a:rPr lang="en-US" altLang="zh-CN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  <m:r>
                      <a:rPr lang="en-US" altLang="zh-CN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,</a:t>
                </a:r>
                <a:r>
                  <a:rPr lang="zh-CN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使它们满足下列条件</a:t>
                </a:r>
                <a:r>
                  <a:rPr lang="en-US" altLang="zh-CN" dirty="0">
                    <a:solidFill>
                      <a:schemeClr val="tx1"/>
                    </a:solidFill>
                    <a:effectLst/>
                    <a:ea typeface="宋体" panose="02010600030101010101" pitchFamily="2" charset="-122"/>
                  </a:rPr>
                  <a:t>: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295871"/>
                <a:ext cx="10807700" cy="1278620"/>
              </a:xfrm>
              <a:prstGeom prst="rect">
                <a:avLst/>
              </a:prstGeom>
              <a:blipFill rotWithShape="0">
                <a:blip r:embed="rId7"/>
                <a:stretch>
                  <a:fillRect l="-1410" t="-4785" b="-14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YMG2TRA04.eps" descr="id:214749644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773" y="1655911"/>
            <a:ext cx="4320480" cy="36170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61950" y="863823"/>
                <a:ext cx="5587299" cy="758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向量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𝑂𝐴</m:t>
                        </m:r>
                      </m:e>
                    </m:acc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  <m:r>
                      <a:rPr lang="zh-CN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和</m:t>
                    </m:r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如图所示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863823"/>
                <a:ext cx="5587299" cy="758990"/>
              </a:xfrm>
              <a:prstGeom prst="rect">
                <a:avLst/>
              </a:prstGeom>
              <a:blipFill rotWithShape="0">
                <a:blip r:embed="rId3"/>
                <a:stretch>
                  <a:fillRect l="-2726" t="-806" r="-1854"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01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444195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06472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准确画出向量的方法是先确定向量的起点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再确定向量的方向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最后根据向量的大小确定向量的终点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注意事项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用有向线段来表示向量是向量的几何表示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必须确定起点、长度和终点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三者缺一不可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2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188269"/>
              </p:ext>
            </p:extLst>
          </p:nvPr>
        </p:nvGraphicFramePr>
        <p:xfrm>
          <a:off x="360437" y="1478004"/>
          <a:ext cx="11671959" cy="2842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文档" r:id="rId4" imgW="3826872" imgH="931870" progId="Word.Document.12">
                  <p:embed/>
                </p:oleObj>
              </mc:Choice>
              <mc:Fallback>
                <p:oleObj name="文档" r:id="rId4" imgW="3826872" imgH="9318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78004"/>
                        <a:ext cx="11671959" cy="2842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318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14886"/>
              </p:ext>
            </p:extLst>
          </p:nvPr>
        </p:nvGraphicFramePr>
        <p:xfrm>
          <a:off x="504453" y="690311"/>
          <a:ext cx="11671959" cy="57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文档" r:id="rId4" imgW="3826872" imgH="189033" progId="Word.Document.12">
                  <p:embed/>
                </p:oleObj>
              </mc:Choice>
              <mc:Fallback>
                <p:oleObj name="文档" r:id="rId4" imgW="3826872" imgH="1890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90311"/>
                        <a:ext cx="11671959" cy="57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YMG2TRA05.eps" descr="id:2147496460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88829" y="1274668"/>
            <a:ext cx="3024336" cy="2267779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556236"/>
              </p:ext>
            </p:extLst>
          </p:nvPr>
        </p:nvGraphicFramePr>
        <p:xfrm>
          <a:off x="504453" y="3566570"/>
          <a:ext cx="11671959" cy="2769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文档" r:id="rId8" imgW="3826872" imgH="908151" progId="Word.Document.12">
                  <p:embed/>
                </p:oleObj>
              </mc:Choice>
              <mc:Fallback>
                <p:oleObj name="文档" r:id="rId8" imgW="3826872" imgH="9081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4453" y="3566570"/>
                        <a:ext cx="11671959" cy="2769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744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相等</a:t>
            </a:r>
            <a:r>
              <a:rPr lang="zh-CN" altLang="zh-CN" dirty="0"/>
              <a:t>向量与共线向量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668789"/>
              </p:ext>
            </p:extLst>
          </p:nvPr>
        </p:nvGraphicFramePr>
        <p:xfrm>
          <a:off x="298261" y="1367879"/>
          <a:ext cx="11671959" cy="1740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文档" r:id="rId4" imgW="3837724" imgH="572592" progId="Word.Document.12">
                  <p:embed/>
                </p:oleObj>
              </mc:Choice>
              <mc:Fallback>
                <p:oleObj name="文档" r:id="rId4" imgW="3837724" imgH="572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261" y="1367879"/>
                        <a:ext cx="11671959" cy="1740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YMG2TRA06.eps" descr="id:2147496474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682637" y="3262253"/>
            <a:ext cx="2304256" cy="264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28805" y="1017671"/>
            <a:ext cx="11671959" cy="3763516"/>
            <a:chOff x="713814" y="677295"/>
            <a:chExt cx="11671959" cy="3763516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8244162"/>
                </p:ext>
              </p:extLst>
            </p:nvPr>
          </p:nvGraphicFramePr>
          <p:xfrm>
            <a:off x="713814" y="677295"/>
            <a:ext cx="11671959" cy="1153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3" name="文档" r:id="rId4" imgW="3826872" imgH="378067" progId="Word.Document.12">
                    <p:embed/>
                  </p:oleObj>
                </mc:Choice>
                <mc:Fallback>
                  <p:oleObj name="文档" r:id="rId4" imgW="3826872" imgH="37806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13814" y="677295"/>
                          <a:ext cx="11671959" cy="11531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" name="YMG2TRA07.eps" descr="id:2147496481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176861" y="1871934"/>
              <a:ext cx="2448272" cy="2568877"/>
            </a:xfrm>
            <a:prstGeom prst="rect">
              <a:avLst/>
            </a:prstGeom>
          </p:spPr>
        </p:pic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628805" y="4841415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23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709975"/>
            <a:ext cx="2524095" cy="460328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408518"/>
              </p:ext>
            </p:extLst>
          </p:nvPr>
        </p:nvGraphicFramePr>
        <p:xfrm>
          <a:off x="360437" y="1223863"/>
          <a:ext cx="11671959" cy="57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文档" r:id="rId5" imgW="3826872" imgH="189033" progId="Word.Document.12">
                  <p:embed/>
                </p:oleObj>
              </mc:Choice>
              <mc:Fallback>
                <p:oleObj name="文档" r:id="rId5" imgW="3826872" imgH="1890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437" y="1223863"/>
                        <a:ext cx="11671959" cy="57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390202"/>
              </p:ext>
            </p:extLst>
          </p:nvPr>
        </p:nvGraphicFramePr>
        <p:xfrm>
          <a:off x="344488" y="1817688"/>
          <a:ext cx="11661775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文档" r:id="rId8" imgW="3826872" imgH="361895" progId="Word.Document.12">
                  <p:embed/>
                </p:oleObj>
              </mc:Choice>
              <mc:Fallback>
                <p:oleObj name="文档" r:id="rId8" imgW="3826872" imgH="3618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4488" y="1817688"/>
                        <a:ext cx="11661775" cy="1096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YMG2TRA08.eps" descr="id:2147496495;FounderCES"/>
          <p:cNvPicPr/>
          <p:nvPr/>
        </p:nvPicPr>
        <p:blipFill>
          <a:blip r:embed="rId10"/>
          <a:stretch>
            <a:fillRect/>
          </a:stretch>
        </p:blipFill>
        <p:spPr>
          <a:xfrm>
            <a:off x="4596188" y="3503398"/>
            <a:ext cx="2224638" cy="2550837"/>
          </a:xfrm>
          <a:prstGeom prst="rect">
            <a:avLst/>
          </a:prstGeom>
        </p:spPr>
      </p:pic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524044"/>
              </p:ext>
            </p:extLst>
          </p:nvPr>
        </p:nvGraphicFramePr>
        <p:xfrm>
          <a:off x="352661" y="2923858"/>
          <a:ext cx="11671959" cy="57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文档" r:id="rId12" imgW="3826872" imgH="189033" progId="Word.Document.12">
                  <p:embed/>
                </p:oleObj>
              </mc:Choice>
              <mc:Fallback>
                <p:oleObj name="文档" r:id="rId12" imgW="3826872" imgH="1890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52661" y="2923858"/>
                        <a:ext cx="11671959" cy="576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288429" y="5688359"/>
            <a:ext cx="237917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930307"/>
            <a:ext cx="2259558" cy="531552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相等向量与共线向量的探求方法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寻找相等向量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先找与表示已知向量的有向线段长度相等的向量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再确定哪些是同向共线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寻找共线向量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先找与表示已知向量的有向线段平行或共线的线段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再构造同向与反向的向量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注意不要漏掉以表示已知向量的有向线段的终点为起点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起点为终点的向量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与向量平行相关的问题中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不要忽视零向量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57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3167955" y="690524"/>
            <a:ext cx="14337605" cy="5501891"/>
            <a:chOff x="-3167955" y="647799"/>
            <a:chExt cx="14337605" cy="550189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47799"/>
              <a:ext cx="10807700" cy="55018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对向量的有关概念理解不清致错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3048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多选题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下列说法正确的是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为零向量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共线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的单位向量只有一个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两个有共同起点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而且相等的向量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其终点必相同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ACD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8015108"/>
                </p:ext>
              </p:extLst>
            </p:nvPr>
          </p:nvGraphicFramePr>
          <p:xfrm>
            <a:off x="-3167955" y="3045271"/>
            <a:ext cx="11705058" cy="54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9" name="文档" r:id="rId4" imgW="3837724" imgH="180287" progId="Word.Document.12">
                    <p:embed/>
                  </p:oleObj>
                </mc:Choice>
                <mc:Fallback>
                  <p:oleObj name="文档" r:id="rId4" imgW="3837724" imgH="1802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3167955" y="3045271"/>
                          <a:ext cx="11705058" cy="549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5054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由于对零向量、单位向量、相等向量、平行向量等概念理解不清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混淆它们之间的区别与联系导致错选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2293699" y="2581177"/>
            <a:ext cx="13912028" cy="1217641"/>
            <a:chOff x="-2293699" y="2405487"/>
            <a:chExt cx="13912028" cy="1217641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40548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共线的单位向量有两个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模都为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方向与向量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方向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相同或相反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6665804"/>
                </p:ext>
              </p:extLst>
            </p:nvPr>
          </p:nvGraphicFramePr>
          <p:xfrm>
            <a:off x="-86729" y="2459636"/>
            <a:ext cx="11705058" cy="54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0" name="文档" r:id="rId4" imgW="3837724" imgH="180287" progId="Word.Document.12">
                    <p:embed/>
                  </p:oleObj>
                </mc:Choice>
                <mc:Fallback>
                  <p:oleObj name="文档" r:id="rId4" imgW="3837724" imgH="1802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86729" y="2459636"/>
                          <a:ext cx="11705058" cy="549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51648"/>
                </p:ext>
              </p:extLst>
            </p:nvPr>
          </p:nvGraphicFramePr>
          <p:xfrm>
            <a:off x="-2293699" y="3042915"/>
            <a:ext cx="11705058" cy="54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1" name="文档" r:id="rId7" imgW="3837724" imgH="180287" progId="Word.Document.12">
                    <p:embed/>
                  </p:oleObj>
                </mc:Choice>
                <mc:Fallback>
                  <p:oleObj name="文档" r:id="rId7" imgW="3837724" imgH="1802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293699" y="3042915"/>
                          <a:ext cx="11705058" cy="549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3852967"/>
            <a:ext cx="210987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8968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防范措施H.eps" descr="id:214749086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670647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4202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明确向量及其相关概念的联系与区别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区分向量与数量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向量既强调大小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又强调方向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而数量只与大小有关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明确向量与有向线段的区别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有向线段有三要素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起点、方向、长度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只要起点不同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另外两个要素相同也不是同一条有向线段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但决定向量的要素只有两个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大小和方向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与表示向量的有向线段的起点无关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零向量和单位向量都是由向量的长度决定的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零向量的方向是任意的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2147859"/>
            <a:ext cx="108077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93457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31047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平行向量也叫共线向量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当两共线向量的方向相同且模相等时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两向量为相等向量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2212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674397"/>
            <a:ext cx="13215713" cy="2990434"/>
            <a:chOff x="361950" y="647799"/>
            <a:chExt cx="13215713" cy="299043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47799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3048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多选题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下列说法正确的是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的方向相同或相反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为平行四边形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667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=c,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a=c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794684"/>
                </p:ext>
              </p:extLst>
            </p:nvPr>
          </p:nvGraphicFramePr>
          <p:xfrm>
            <a:off x="1872605" y="2468319"/>
            <a:ext cx="11705058" cy="550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2" name="文档" r:id="rId4" imgW="3837724" imgH="180648" progId="Word.Document.12">
                    <p:embed/>
                  </p:oleObj>
                </mc:Choice>
                <mc:Fallback>
                  <p:oleObj name="文档" r:id="rId4" imgW="3837724" imgH="1806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72605" y="2468319"/>
                          <a:ext cx="11705058" cy="550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24842"/>
              </p:ext>
            </p:extLst>
          </p:nvPr>
        </p:nvGraphicFramePr>
        <p:xfrm>
          <a:off x="376659" y="3685151"/>
          <a:ext cx="10640962" cy="2572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文档" r:id="rId7" imgW="3837724" imgH="944344" progId="Word.Document.12">
                  <p:embed/>
                </p:oleObj>
              </mc:Choice>
              <mc:Fallback>
                <p:oleObj name="文档" r:id="rId7" imgW="3837724" imgH="9443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6659" y="3685151"/>
                        <a:ext cx="10640962" cy="2572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104853" y="5715015"/>
            <a:ext cx="210987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28527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04680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下列各量是向量的是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速度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长度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速度既有大小又有方向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其余均是数量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131704"/>
              </p:ext>
            </p:extLst>
          </p:nvPr>
        </p:nvGraphicFramePr>
        <p:xfrm>
          <a:off x="355600" y="806450"/>
          <a:ext cx="11660188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文档" r:id="rId4" imgW="3826872" imgH="887307" progId="Word.Document.12">
                  <p:embed/>
                </p:oleObj>
              </mc:Choice>
              <mc:Fallback>
                <p:oleObj name="文档" r:id="rId4" imgW="3826872" imgH="8873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806450"/>
                        <a:ext cx="11660188" cy="268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515615"/>
              </p:ext>
            </p:extLst>
          </p:nvPr>
        </p:nvGraphicFramePr>
        <p:xfrm>
          <a:off x="355600" y="3560763"/>
          <a:ext cx="11660188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文档" r:id="rId7" imgW="3826872" imgH="534397" progId="Word.Document.12">
                  <p:embed/>
                </p:oleObj>
              </mc:Choice>
              <mc:Fallback>
                <p:oleObj name="文档" r:id="rId7" imgW="3826872" imgH="5343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3560763"/>
                        <a:ext cx="11660188" cy="162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56585" y="521379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8396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4183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如果把平行于某一非零向量的一切向量的起点放在同一点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那么这些向量的终点所构成的图形是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一条直线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圆上一群孤立的点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因为向量的起点确定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且向量平行于同一非零向量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所以随向量模的变化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向量的终点构成一条直线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2778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3816027" y="719807"/>
            <a:ext cx="14985677" cy="1866665"/>
            <a:chOff x="-3816027" y="719807"/>
            <a:chExt cx="14985677" cy="186666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9807"/>
              <a:ext cx="10807700" cy="1866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设在平面上给定了一个四边形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在以已知各点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为起点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和终点的向量中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相等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的向量是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498835"/>
              <a:ext cx="10807700" cy="604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939219"/>
                </p:ext>
              </p:extLst>
            </p:nvPr>
          </p:nvGraphicFramePr>
          <p:xfrm>
            <a:off x="-3816027" y="1942777"/>
            <a:ext cx="11669770" cy="545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4" name="文档" r:id="rId4" imgW="3826154" imgH="178971" progId="Word.Document.12">
                    <p:embed/>
                  </p:oleObj>
                </mc:Choice>
                <mc:Fallback>
                  <p:oleObj name="文档" r:id="rId4" imgW="3826154" imgH="1789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3816027" y="1942777"/>
                          <a:ext cx="11669770" cy="545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5559"/>
              </p:ext>
            </p:extLst>
          </p:nvPr>
        </p:nvGraphicFramePr>
        <p:xfrm>
          <a:off x="489890" y="2547558"/>
          <a:ext cx="11671959" cy="3073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5" name="文档" r:id="rId7" imgW="3826872" imgH="1007699" progId="Word.Document.12">
                  <p:embed/>
                </p:oleObj>
              </mc:Choice>
              <mc:Fallback>
                <p:oleObj name="文档" r:id="rId7" imgW="3826872" imgH="10076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9890" y="2547558"/>
                        <a:ext cx="11671959" cy="3073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410597"/>
              </p:ext>
            </p:extLst>
          </p:nvPr>
        </p:nvGraphicFramePr>
        <p:xfrm>
          <a:off x="489889" y="5671510"/>
          <a:ext cx="11671959" cy="57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文档" r:id="rId10" imgW="3826872" imgH="187955" progId="Word.Document.12">
                  <p:embed/>
                </p:oleObj>
              </mc:Choice>
              <mc:Fallback>
                <p:oleObj name="文档" r:id="rId10" imgW="3826872" imgH="1879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9889" y="5671510"/>
                        <a:ext cx="11671959" cy="57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YMG2TRA09.eps" descr="id:2147496530;FounderCES"/>
          <p:cNvPicPr/>
          <p:nvPr/>
        </p:nvPicPr>
        <p:blipFill>
          <a:blip r:embed="rId12"/>
          <a:stretch>
            <a:fillRect/>
          </a:stretch>
        </p:blipFill>
        <p:spPr>
          <a:xfrm>
            <a:off x="7705253" y="2015951"/>
            <a:ext cx="3548140" cy="24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375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YMG2TRA10.eps" descr="id:214749653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168749" y="1209612"/>
            <a:ext cx="3888432" cy="1591312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62813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MS Gothic" panose="020B0609070205080204" pitchFamily="49" charset="-128"/>
                <a:cs typeface="MS Gothic" panose="020B0609070205080204" pitchFamily="49" charset="-128"/>
              </a:rPr>
              <a:t>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对角线的交点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20187"/>
              </p:ext>
            </p:extLst>
          </p:nvPr>
        </p:nvGraphicFramePr>
        <p:xfrm>
          <a:off x="360437" y="2788930"/>
          <a:ext cx="11671959" cy="1728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文档" r:id="rId5" imgW="3826872" imgH="566741" progId="Word.Document.12">
                  <p:embed/>
                </p:oleObj>
              </mc:Choice>
              <mc:Fallback>
                <p:oleObj name="文档" r:id="rId5" imgW="3826872" imgH="5667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437" y="2788930"/>
                        <a:ext cx="11671959" cy="1728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132175"/>
              </p:ext>
            </p:extLst>
          </p:nvPr>
        </p:nvGraphicFramePr>
        <p:xfrm>
          <a:off x="364220" y="4557744"/>
          <a:ext cx="11671959" cy="172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文档" r:id="rId8" imgW="3826872" imgH="567100" progId="Word.Document.12">
                  <p:embed/>
                </p:oleObj>
              </mc:Choice>
              <mc:Fallback>
                <p:oleObj name="文档" r:id="rId8" imgW="3826872" imgH="567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4220" y="4557744"/>
                        <a:ext cx="11671959" cy="1729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753665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218</TotalTime>
  <Words>1496</Words>
  <Application>Microsoft Office PowerPoint</Application>
  <PresentationFormat>自定义</PresentationFormat>
  <Paragraphs>136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2" baseType="lpstr">
      <vt:lpstr>MS Gothic</vt:lpstr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27</cp:revision>
  <dcterms:created xsi:type="dcterms:W3CDTF">2020-09-12T05:36:12Z</dcterms:created>
  <dcterms:modified xsi:type="dcterms:W3CDTF">2025-09-04T03:59:08Z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