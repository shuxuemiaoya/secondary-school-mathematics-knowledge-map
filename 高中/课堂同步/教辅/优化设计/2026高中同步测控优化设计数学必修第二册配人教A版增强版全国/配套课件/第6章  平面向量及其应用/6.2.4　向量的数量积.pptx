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8"/>
  </p:notesMasterIdLst>
  <p:sldIdLst>
    <p:sldId id="731" r:id="rId2"/>
    <p:sldId id="753" r:id="rId3"/>
    <p:sldId id="736" r:id="rId4"/>
    <p:sldId id="744" r:id="rId5"/>
    <p:sldId id="746" r:id="rId6"/>
    <p:sldId id="749" r:id="rId7"/>
    <p:sldId id="796" r:id="rId8"/>
    <p:sldId id="756" r:id="rId9"/>
    <p:sldId id="759" r:id="rId10"/>
    <p:sldId id="760" r:id="rId11"/>
    <p:sldId id="761" r:id="rId12"/>
    <p:sldId id="762" r:id="rId13"/>
    <p:sldId id="763" r:id="rId14"/>
    <p:sldId id="764" r:id="rId15"/>
    <p:sldId id="765" r:id="rId16"/>
    <p:sldId id="766" r:id="rId17"/>
    <p:sldId id="767" r:id="rId18"/>
    <p:sldId id="768" r:id="rId19"/>
    <p:sldId id="769" r:id="rId20"/>
    <p:sldId id="770" r:id="rId21"/>
    <p:sldId id="771" r:id="rId22"/>
    <p:sldId id="797" r:id="rId23"/>
    <p:sldId id="772" r:id="rId24"/>
    <p:sldId id="773" r:id="rId25"/>
    <p:sldId id="737" r:id="rId26"/>
    <p:sldId id="750" r:id="rId27"/>
    <p:sldId id="774" r:id="rId28"/>
    <p:sldId id="775" r:id="rId29"/>
    <p:sldId id="776" r:id="rId30"/>
    <p:sldId id="754" r:id="rId31"/>
    <p:sldId id="777" r:id="rId32"/>
    <p:sldId id="778" r:id="rId33"/>
    <p:sldId id="755" r:id="rId34"/>
    <p:sldId id="779" r:id="rId35"/>
    <p:sldId id="780" r:id="rId36"/>
    <p:sldId id="781" r:id="rId37"/>
    <p:sldId id="782" r:id="rId38"/>
    <p:sldId id="783" r:id="rId39"/>
    <p:sldId id="784" r:id="rId40"/>
    <p:sldId id="785" r:id="rId41"/>
    <p:sldId id="786" r:id="rId42"/>
    <p:sldId id="787" r:id="rId43"/>
    <p:sldId id="788" r:id="rId44"/>
    <p:sldId id="747" r:id="rId45"/>
    <p:sldId id="751" r:id="rId46"/>
    <p:sldId id="789" r:id="rId47"/>
    <p:sldId id="790" r:id="rId48"/>
    <p:sldId id="791" r:id="rId49"/>
    <p:sldId id="748" r:id="rId50"/>
    <p:sldId id="752" r:id="rId51"/>
    <p:sldId id="792" r:id="rId52"/>
    <p:sldId id="798" r:id="rId53"/>
    <p:sldId id="793" r:id="rId54"/>
    <p:sldId id="794" r:id="rId55"/>
    <p:sldId id="795" r:id="rId56"/>
    <p:sldId id="735" r:id="rId57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180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emf"/></Relationships>
</file>

<file path=ppt/drawings/_rels/vmlDrawing2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image" Target="../media/image40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image" Target="../media/image42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8.emf"/><Relationship Id="rId1" Type="http://schemas.openxmlformats.org/officeDocument/2006/relationships/image" Target="../media/image47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image" Target="../media/image49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emf"/><Relationship Id="rId1" Type="http://schemas.openxmlformats.org/officeDocument/2006/relationships/image" Target="../media/image54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32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image" Target="../media/image58.e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image" Target="../media/image6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56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49.xml"/><Relationship Id="rId5" Type="http://schemas.openxmlformats.org/officeDocument/2006/relationships/slide" Target="slide44.xml"/><Relationship Id="rId4" Type="http://schemas.openxmlformats.org/officeDocument/2006/relationships/slide" Target="slide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4.bin"/><Relationship Id="rId7" Type="http://schemas.openxmlformats.org/officeDocument/2006/relationships/package" Target="../embeddings/Microsoft_Word___5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4.docx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jpeg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6.docx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jpeg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7.docx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8.docx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0.docx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1.bin"/><Relationship Id="rId7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1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3.docx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4.docx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4.xml"/><Relationship Id="rId4" Type="http://schemas.openxmlformats.org/officeDocument/2006/relationships/slide" Target="slide3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5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6.docx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oleObject" Target="../embeddings/oleObject17.bin"/><Relationship Id="rId7" Type="http://schemas.openxmlformats.org/officeDocument/2006/relationships/package" Target="../embeddings/Microsoft_Word___1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26.emf"/><Relationship Id="rId5" Type="http://schemas.openxmlformats.org/officeDocument/2006/relationships/image" Target="../media/image24.emf"/><Relationship Id="rId10" Type="http://schemas.openxmlformats.org/officeDocument/2006/relationships/package" Target="../embeddings/Microsoft_Word___19.docx"/><Relationship Id="rId4" Type="http://schemas.openxmlformats.org/officeDocument/2006/relationships/package" Target="../embeddings/Microsoft_Word___17.docx"/><Relationship Id="rId9" Type="http://schemas.openxmlformats.org/officeDocument/2006/relationships/oleObject" Target="../embeddings/oleObject19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7.emf"/><Relationship Id="rId5" Type="http://schemas.openxmlformats.org/officeDocument/2006/relationships/package" Target="../embeddings/Microsoft_Word___20.docx"/><Relationship Id="rId4" Type="http://schemas.openxmlformats.org/officeDocument/2006/relationships/oleObject" Target="../embeddings/oleObject20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9.emf"/><Relationship Id="rId4" Type="http://schemas.openxmlformats.org/officeDocument/2006/relationships/package" Target="../embeddings/Microsoft_Word___21.docx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oleObject" Target="../embeddings/oleObject23.bin"/><Relationship Id="rId7" Type="http://schemas.openxmlformats.org/officeDocument/2006/relationships/package" Target="../embeddings/Microsoft_Word___24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3.docx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5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36.emf"/><Relationship Id="rId5" Type="http://schemas.openxmlformats.org/officeDocument/2006/relationships/package" Target="../embeddings/Microsoft_Word___26.docx"/><Relationship Id="rId4" Type="http://schemas.openxmlformats.org/officeDocument/2006/relationships/oleObject" Target="../embeddings/oleObject26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8.emf"/><Relationship Id="rId5" Type="http://schemas.openxmlformats.org/officeDocument/2006/relationships/package" Target="../embeddings/Microsoft_Word___27.docx"/><Relationship Id="rId4" Type="http://schemas.openxmlformats.org/officeDocument/2006/relationships/oleObject" Target="../embeddings/oleObject27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__28.docx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29.bin"/><Relationship Id="rId7" Type="http://schemas.openxmlformats.org/officeDocument/2006/relationships/package" Target="../embeddings/Microsoft_Word___30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30.bin"/><Relationship Id="rId5" Type="http://schemas.openxmlformats.org/officeDocument/2006/relationships/image" Target="../media/image40.emf"/><Relationship Id="rId4" Type="http://schemas.openxmlformats.org/officeDocument/2006/relationships/package" Target="../embeddings/Microsoft_Word___29.docx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3" Type="http://schemas.openxmlformats.org/officeDocument/2006/relationships/oleObject" Target="../embeddings/oleObject31.bin"/><Relationship Id="rId7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42.emf"/><Relationship Id="rId4" Type="http://schemas.openxmlformats.org/officeDocument/2006/relationships/package" Target="../embeddings/Microsoft_Word___31.docx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4.emf"/><Relationship Id="rId5" Type="http://schemas.openxmlformats.org/officeDocument/2006/relationships/package" Target="../embeddings/Microsoft_Word___33.docx"/><Relationship Id="rId4" Type="http://schemas.openxmlformats.org/officeDocument/2006/relationships/oleObject" Target="../embeddings/oleObject33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45.emf"/><Relationship Id="rId4" Type="http://schemas.openxmlformats.org/officeDocument/2006/relationships/package" Target="../embeddings/Microsoft_Word___34.docx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46.emf"/><Relationship Id="rId4" Type="http://schemas.openxmlformats.org/officeDocument/2006/relationships/package" Target="../embeddings/Microsoft_Word___35.docx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oleObject" Target="../embeddings/oleObject36.bin"/><Relationship Id="rId7" Type="http://schemas.openxmlformats.org/officeDocument/2006/relationships/package" Target="../embeddings/Microsoft_Word___3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7.bin"/><Relationship Id="rId5" Type="http://schemas.openxmlformats.org/officeDocument/2006/relationships/image" Target="../media/image47.emf"/><Relationship Id="rId4" Type="http://schemas.openxmlformats.org/officeDocument/2006/relationships/package" Target="../embeddings/Microsoft_Word___36.docx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39.docx"/><Relationship Id="rId3" Type="http://schemas.openxmlformats.org/officeDocument/2006/relationships/image" Target="../media/image51.jpeg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49.emf"/><Relationship Id="rId5" Type="http://schemas.openxmlformats.org/officeDocument/2006/relationships/package" Target="../embeddings/Microsoft_Word___38.docx"/><Relationship Id="rId4" Type="http://schemas.openxmlformats.org/officeDocument/2006/relationships/oleObject" Target="../embeddings/oleObject38.bin"/><Relationship Id="rId9" Type="http://schemas.openxmlformats.org/officeDocument/2006/relationships/image" Target="../media/image50.e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3" Type="http://schemas.openxmlformats.org/officeDocument/2006/relationships/oleObject" Target="../embeddings/oleObject40.bin"/><Relationship Id="rId7" Type="http://schemas.openxmlformats.org/officeDocument/2006/relationships/package" Target="../embeddings/Microsoft_Word___4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41.bin"/><Relationship Id="rId5" Type="http://schemas.openxmlformats.org/officeDocument/2006/relationships/image" Target="../media/image52.emf"/><Relationship Id="rId4" Type="http://schemas.openxmlformats.org/officeDocument/2006/relationships/package" Target="../embeddings/Microsoft_Word___40.docx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emf"/><Relationship Id="rId3" Type="http://schemas.openxmlformats.org/officeDocument/2006/relationships/oleObject" Target="../embeddings/oleObject42.bin"/><Relationship Id="rId7" Type="http://schemas.openxmlformats.org/officeDocument/2006/relationships/package" Target="../embeddings/Microsoft_Word___43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54.emf"/><Relationship Id="rId4" Type="http://schemas.openxmlformats.org/officeDocument/2006/relationships/package" Target="../embeddings/Microsoft_Word___42.docx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3" Type="http://schemas.openxmlformats.org/officeDocument/2006/relationships/oleObject" Target="../embeddings/oleObject44.bin"/><Relationship Id="rId7" Type="http://schemas.openxmlformats.org/officeDocument/2006/relationships/package" Target="../embeddings/Microsoft_Word___4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45.bin"/><Relationship Id="rId5" Type="http://schemas.openxmlformats.org/officeDocument/2006/relationships/image" Target="../media/image56.emf"/><Relationship Id="rId4" Type="http://schemas.openxmlformats.org/officeDocument/2006/relationships/package" Target="../embeddings/Microsoft_Word___44.docx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emf"/><Relationship Id="rId3" Type="http://schemas.openxmlformats.org/officeDocument/2006/relationships/oleObject" Target="../embeddings/oleObject46.bin"/><Relationship Id="rId7" Type="http://schemas.openxmlformats.org/officeDocument/2006/relationships/package" Target="../embeddings/Microsoft_Word___4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47.bin"/><Relationship Id="rId5" Type="http://schemas.openxmlformats.org/officeDocument/2006/relationships/image" Target="../media/image58.emf"/><Relationship Id="rId4" Type="http://schemas.openxmlformats.org/officeDocument/2006/relationships/package" Target="../embeddings/Microsoft_Word___46.docx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emf"/><Relationship Id="rId3" Type="http://schemas.openxmlformats.org/officeDocument/2006/relationships/oleObject" Target="../embeddings/oleObject48.bin"/><Relationship Id="rId7" Type="http://schemas.openxmlformats.org/officeDocument/2006/relationships/package" Target="../embeddings/Microsoft_Word___4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49.bin"/><Relationship Id="rId5" Type="http://schemas.openxmlformats.org/officeDocument/2006/relationships/image" Target="../media/image60.emf"/><Relationship Id="rId4" Type="http://schemas.openxmlformats.org/officeDocument/2006/relationships/package" Target="../embeddings/Microsoft_Word___48.docx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359657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向量的数量积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791815"/>
            <a:ext cx="10729192" cy="5060491"/>
            <a:chOff x="360437" y="791815"/>
            <a:chExt cx="10729192" cy="506049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791815"/>
              <a:ext cx="10729192" cy="5060491"/>
              <a:chOff x="360437" y="1511895"/>
              <a:chExt cx="10729192" cy="345638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511895"/>
                <a:ext cx="10729192" cy="345638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573017"/>
                <a:ext cx="0" cy="3312368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916167"/>
              <a:ext cx="8496944" cy="481978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通过物理中功等实例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理解平面向量数量积的概念及其物理意义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会计算平面向量的数量积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通过几何直观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了解平面向量投影的概念以及投影向量的意义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会用数量积判断两个平面向量的垂直关系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数学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抽象、直观想象和数学运算的核心素养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6037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一、向量的数量积</a:t>
            </a:r>
            <a:endParaRPr lang="zh-CN" altLang="en-US" dirty="0"/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一个物体在力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的作用下产生了位移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其中力、位移分别是矢量还是标量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它们的夹角是什么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YMG2TRA85.eps" descr="id:214749742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1800597" y="2739605"/>
            <a:ext cx="6984776" cy="2182475"/>
          </a:xfrm>
          <a:prstGeom prst="rect">
            <a:avLst/>
          </a:prstGeom>
        </p:spPr>
      </p:pic>
      <p:sp>
        <p:nvSpPr>
          <p:cNvPr id="4" name="矩形 3"/>
          <p:cNvSpPr>
            <a:spLocks noChangeAspect="1"/>
          </p:cNvSpPr>
          <p:nvPr/>
        </p:nvSpPr>
        <p:spPr>
          <a:xfrm>
            <a:off x="361950" y="4897969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力、位移都是矢量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夹角为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1727919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797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所做的功应当怎样计算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决定功大小的量有哪几个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功是矢量还是标量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物理知识容易得到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W=|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决定功的大小的量有力、位移及其夹角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功是标量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08498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575791"/>
            <a:ext cx="3853940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两个向量的夹角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258887"/>
              </p:ext>
            </p:extLst>
          </p:nvPr>
        </p:nvGraphicFramePr>
        <p:xfrm>
          <a:off x="648469" y="1178940"/>
          <a:ext cx="9897739" cy="5897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文档" r:id="rId4" imgW="3926644" imgH="2335965" progId="Word.Document.12">
                  <p:embed/>
                </p:oleObj>
              </mc:Choice>
              <mc:Fallback>
                <p:oleObj name="文档" r:id="rId4" imgW="3926644" imgH="23359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8469" y="1178940"/>
                        <a:ext cx="9897739" cy="58972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4608910" y="1748357"/>
            <a:ext cx="101887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464893" y="4618849"/>
            <a:ext cx="1018870" cy="316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464893" y="5153043"/>
            <a:ext cx="1018870" cy="316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431869" y="5719511"/>
            <a:ext cx="695902" cy="316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977061" y="5712703"/>
            <a:ext cx="695902" cy="3162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1870852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95871"/>
            <a:ext cx="4782078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两个非零向量的数量积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862626"/>
              </p:ext>
            </p:extLst>
          </p:nvPr>
        </p:nvGraphicFramePr>
        <p:xfrm>
          <a:off x="-163283" y="1953775"/>
          <a:ext cx="11976264" cy="3380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文档" r:id="rId4" imgW="3926644" imgH="1108326" progId="Word.Document.12">
                  <p:embed/>
                </p:oleObj>
              </mc:Choice>
              <mc:Fallback>
                <p:oleObj name="文档" r:id="rId4" imgW="3926644" imgH="11083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63283" y="1953775"/>
                        <a:ext cx="11976264" cy="3380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1872605" y="2680071"/>
            <a:ext cx="180020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1868059" y="3144169"/>
            <a:ext cx="179816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4896941" y="3322853"/>
            <a:ext cx="180020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4892395" y="3786951"/>
            <a:ext cx="179816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7323697" y="397092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7319107" y="443502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19160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07984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特别提醒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(1)“·”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是数量积的运算符号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既不能省略不写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也不能写成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数量积的结果为数量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不再是向量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565818"/>
              </p:ext>
            </p:extLst>
          </p:nvPr>
        </p:nvGraphicFramePr>
        <p:xfrm>
          <a:off x="430213" y="2929955"/>
          <a:ext cx="10564812" cy="174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52" name="文档" r:id="rId4" imgW="3480957" imgH="572491" progId="Word.Document.12">
                  <p:embed/>
                </p:oleObj>
              </mc:Choice>
              <mc:Fallback>
                <p:oleObj name="文档" r:id="rId4" imgW="3480957" imgH="5724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2929955"/>
                        <a:ext cx="10564812" cy="174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7518530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6966255"/>
              </p:ext>
            </p:extLst>
          </p:nvPr>
        </p:nvGraphicFramePr>
        <p:xfrm>
          <a:off x="461941" y="729639"/>
          <a:ext cx="10640962" cy="26114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4" name="文档" r:id="rId4" imgW="3826872" imgH="939777" progId="Word.Document.12">
                  <p:embed/>
                </p:oleObj>
              </mc:Choice>
              <mc:Fallback>
                <p:oleObj name="文档" r:id="rId4" imgW="3826872" imgH="9397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61941" y="729639"/>
                        <a:ext cx="10640962" cy="26114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692911"/>
              </p:ext>
            </p:extLst>
          </p:nvPr>
        </p:nvGraphicFramePr>
        <p:xfrm>
          <a:off x="442277" y="3446279"/>
          <a:ext cx="11705058" cy="1906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文档" r:id="rId7" imgW="3837724" imgH="625236" progId="Word.Document.12">
                  <p:embed/>
                </p:oleObj>
              </mc:Choice>
              <mc:Fallback>
                <p:oleObj name="文档" r:id="rId7" imgW="3837724" imgH="6252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2277" y="3446279"/>
                        <a:ext cx="11705058" cy="1906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0437" y="5312791"/>
            <a:ext cx="320792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(1)A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671712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729359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投影向量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的两个端点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分别作直线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的垂线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垂足分别为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得到线段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叫做什么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叫做线段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上的投影线段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YMG2TRA87.eps" descr="id:214749745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72805" y="3168079"/>
            <a:ext cx="2808312" cy="223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99251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159967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的夹角为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之间有怎样的关系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|=|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96508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7414080"/>
              </p:ext>
            </p:extLst>
          </p:nvPr>
        </p:nvGraphicFramePr>
        <p:xfrm>
          <a:off x="216421" y="834315"/>
          <a:ext cx="11644312" cy="247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文档" r:id="rId4" imgW="3837724" imgH="845546" progId="Word.Document.12">
                  <p:embed/>
                </p:oleObj>
              </mc:Choice>
              <mc:Fallback>
                <p:oleObj name="文档" r:id="rId4" imgW="3837724" imgH="8455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834315"/>
                        <a:ext cx="11644312" cy="2470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YMG2TRA88.eps" descr="id:2147497458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3816821" y="3276906"/>
            <a:ext cx="3168352" cy="233944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649396" y="2176970"/>
            <a:ext cx="84332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262967" y="2750256"/>
            <a:ext cx="163466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614986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846603"/>
              </p:ext>
            </p:extLst>
          </p:nvPr>
        </p:nvGraphicFramePr>
        <p:xfrm>
          <a:off x="432445" y="1084182"/>
          <a:ext cx="10640962" cy="39561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文档" r:id="rId4" imgW="3837724" imgH="1426792" progId="Word.Document.12">
                  <p:embed/>
                </p:oleObj>
              </mc:Choice>
              <mc:Fallback>
                <p:oleObj name="文档" r:id="rId4" imgW="3837724" imgH="142679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084182"/>
                        <a:ext cx="10640962" cy="39561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YMG2TRA89.eps" descr="id:2147497465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6121077" y="2882010"/>
            <a:ext cx="4824536" cy="2269296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3838337" y="2778530"/>
            <a:ext cx="149065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3833566" y="3242628"/>
            <a:ext cx="14889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449859" y="3351423"/>
            <a:ext cx="70649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4445229" y="3815521"/>
            <a:ext cx="705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225723" y="3895437"/>
            <a:ext cx="81030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3221093" y="4359535"/>
            <a:ext cx="80938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996072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655911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的夹角为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45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方向相同的单位向量为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上的投影向量为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141693"/>
              </p:ext>
            </p:extLst>
          </p:nvPr>
        </p:nvGraphicFramePr>
        <p:xfrm>
          <a:off x="432445" y="2895153"/>
          <a:ext cx="11671959" cy="868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6" name="文档" r:id="rId4" imgW="3826872" imgH="284628" progId="Word.Document.12">
                  <p:embed/>
                </p:oleObj>
              </mc:Choice>
              <mc:Fallback>
                <p:oleObj name="文档" r:id="rId4" imgW="3826872" imgH="2846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895153"/>
                        <a:ext cx="11671959" cy="868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4770786"/>
              </p:ext>
            </p:extLst>
          </p:nvPr>
        </p:nvGraphicFramePr>
        <p:xfrm>
          <a:off x="390455" y="3750992"/>
          <a:ext cx="11671959" cy="641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文档" r:id="rId7" imgW="3826872" imgH="210237" progId="Word.Document.12">
                  <p:embed/>
                </p:oleObj>
              </mc:Choice>
              <mc:Fallback>
                <p:oleObj name="文档" r:id="rId7" imgW="3826872" imgH="2102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90455" y="3750992"/>
                        <a:ext cx="11671959" cy="6412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8102700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58352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、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平面向量数量积的性质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已知两个非零向量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的夹角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方向相同的单位向量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endParaRPr lang="en-US" altLang="zh-CN" i="1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数量积公式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计算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a·e,a·a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=|a||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e|cos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75686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56540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(2)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有什么关系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0,a≠0,b≠0,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(3)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数量积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180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=-|a|·|b|.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31846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67463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它们的夹角是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θ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,e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方向相同的单位向量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e·a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Microsoft Yi Baiti" panose="03000500000000000000" pitchFamily="66" charset="0"/>
                <a:cs typeface="Times New Roman" panose="02020603050405020304" pitchFamily="18" charset="0"/>
              </a:rPr>
              <a:t>θ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 smtClean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⇔ </a:t>
            </a:r>
            <a:r>
              <a:rPr lang="en-US" altLang="zh-CN" dirty="0" err="1" smtClean="0"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0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同向时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a||b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反向时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-|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a||b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|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0904206"/>
              </p:ext>
            </p:extLst>
          </p:nvPr>
        </p:nvGraphicFramePr>
        <p:xfrm>
          <a:off x="432445" y="4195855"/>
          <a:ext cx="11671959" cy="2140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文档" r:id="rId4" imgW="3826872" imgH="701868" progId="Word.Document.12">
                  <p:embed/>
                </p:oleObj>
              </mc:Choice>
              <mc:Fallback>
                <p:oleObj name="文档" r:id="rId4" imgW="3826872" imgH="7018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4195855"/>
                        <a:ext cx="11671959" cy="21406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2499161" y="1941185"/>
            <a:ext cx="1296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2494390" y="2405283"/>
            <a:ext cx="129467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205209" y="2477199"/>
            <a:ext cx="109679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2200370" y="2941297"/>
            <a:ext cx="109555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325824" y="3111552"/>
            <a:ext cx="9064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4320877" y="3575650"/>
            <a:ext cx="90541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867654" y="3699084"/>
            <a:ext cx="102928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3862707" y="4163182"/>
            <a:ext cx="102812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2300368" y="4270344"/>
            <a:ext cx="68102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2295293" y="4734442"/>
            <a:ext cx="6802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677497" y="4872179"/>
            <a:ext cx="61911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1672387" y="5336277"/>
            <a:ext cx="61841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40791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2" grpId="0" animBg="1"/>
      <p:bldP spid="15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838690"/>
              </p:ext>
            </p:extLst>
          </p:nvPr>
        </p:nvGraphicFramePr>
        <p:xfrm>
          <a:off x="357188" y="2061434"/>
          <a:ext cx="11645900" cy="213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4" name="文档" r:id="rId4" imgW="3837724" imgH="707086" progId="Word.Document.12">
                  <p:embed/>
                </p:oleObj>
              </mc:Choice>
              <mc:Fallback>
                <p:oleObj name="文档" r:id="rId4" imgW="3837724" imgH="7070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188" y="2061434"/>
                        <a:ext cx="11645900" cy="2133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288429" y="4179902"/>
            <a:ext cx="217399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30</a:t>
            </a:r>
            <a:r>
              <a:rPr lang="en-US" altLang="zh-CN" dirty="0" smtClean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3765341"/>
              </p:ext>
            </p:extLst>
          </p:nvPr>
        </p:nvGraphicFramePr>
        <p:xfrm>
          <a:off x="357188" y="1367879"/>
          <a:ext cx="11671959" cy="5601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5" name="文档" r:id="rId7" imgW="3826872" imgH="183643" progId="Word.Document.12">
                  <p:embed/>
                </p:oleObj>
              </mc:Choice>
              <mc:Fallback>
                <p:oleObj name="文档" r:id="rId7" imgW="3826872" imgH="1836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7188" y="1367879"/>
                        <a:ext cx="11671959" cy="5601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831890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637967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四、平面向量数量积的运算律</a:t>
            </a:r>
            <a:endParaRPr lang="zh-CN" altLang="en-US" dirty="0"/>
          </a:p>
          <a:p>
            <a:pPr>
              <a:lnSpc>
                <a:spcPct val="120000"/>
              </a:lnSpc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根据实数乘法的运算律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类比得出向量数量积的运算律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这些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结论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3936341"/>
              </p:ext>
            </p:extLst>
          </p:nvPr>
        </p:nvGraphicFramePr>
        <p:xfrm>
          <a:off x="-250766" y="2468891"/>
          <a:ext cx="11862276" cy="4486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文档" r:id="rId4" imgW="3894589" imgH="1477633" progId="Word.Document.12">
                  <p:embed/>
                </p:oleObj>
              </mc:Choice>
              <mc:Fallback>
                <p:oleObj name="文档" r:id="rId4" imgW="3894589" imgH="14776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250766" y="2468891"/>
                        <a:ext cx="11862276" cy="44861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584929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2598510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结合律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)·c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b·c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和消去律是错误的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其他都是正确的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89960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22771"/>
            <a:ext cx="4677884" cy="6267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向量数量积的运算律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65302"/>
              </p:ext>
            </p:extLst>
          </p:nvPr>
        </p:nvGraphicFramePr>
        <p:xfrm>
          <a:off x="-71611" y="1478849"/>
          <a:ext cx="11844910" cy="2775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文档" r:id="rId4" imgW="3883577" imgH="909948" progId="Word.Document.12">
                  <p:embed/>
                </p:oleObj>
              </mc:Choice>
              <mc:Fallback>
                <p:oleObj name="文档" r:id="rId4" imgW="3883577" imgH="9099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71611" y="1478849"/>
                        <a:ext cx="11844910" cy="27753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6409109" y="159334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404519" y="203777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877617" y="2241415"/>
            <a:ext cx="10651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6873027" y="2705513"/>
            <a:ext cx="10639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328535" y="2239284"/>
            <a:ext cx="10651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8323945" y="2703382"/>
            <a:ext cx="10639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7078697" y="2864493"/>
            <a:ext cx="149065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7074107" y="3328591"/>
            <a:ext cx="148896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>
            <a:spLocks noChangeAspect="1"/>
          </p:cNvSpPr>
          <p:nvPr/>
        </p:nvSpPr>
        <p:spPr>
          <a:xfrm>
            <a:off x="361950" y="362125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向量数量积的运算性质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2a·b</a:t>
            </a:r>
            <a:r>
              <a:rPr lang="en-US" altLang="zh-CN" i="1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)·(a-b)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036285" y="4244358"/>
            <a:ext cx="191472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2031695" y="4708456"/>
            <a:ext cx="191255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2861053" y="4826702"/>
            <a:ext cx="801920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/>
        </p:nvCxnSpPr>
        <p:spPr>
          <a:xfrm>
            <a:off x="2856463" y="5290800"/>
            <a:ext cx="80101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863669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1" grpId="0" animBg="1"/>
      <p:bldP spid="16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26450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(1)0·a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至少有一个为零向量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a·c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b·c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对于任意向量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都有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520677" y="2854970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716011" y="3384103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157197" y="3950744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6193085" y="4505292"/>
            <a:ext cx="52363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670345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88348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计算</a:t>
            </a:r>
            <a:r>
              <a:rPr lang="zh-CN" altLang="zh-CN" dirty="0"/>
              <a:t>平面向量的数量积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61950" y="1580328"/>
            <a:ext cx="11817631" cy="3005651"/>
            <a:chOff x="361950" y="1416648"/>
            <a:chExt cx="11817631" cy="300565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416648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a,b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的夹角是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120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,a,c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的夹角是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45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a·b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(2)(a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2b)·(3a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b);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92559244"/>
                </p:ext>
              </p:extLst>
            </p:nvPr>
          </p:nvGraphicFramePr>
          <p:xfrm>
            <a:off x="507622" y="3816151"/>
            <a:ext cx="11671959" cy="6061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8" name="文档" r:id="rId4" imgW="3826872" imgH="198737" progId="Word.Document.12">
                    <p:embed/>
                  </p:oleObj>
                </mc:Choice>
                <mc:Fallback>
                  <p:oleObj name="文档" r:id="rId4" imgW="3826872" imgH="19873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7622" y="3816151"/>
                          <a:ext cx="11671959" cy="60614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>
            <a:spLocks noChangeAspect="1"/>
          </p:cNvSpPr>
          <p:nvPr/>
        </p:nvSpPr>
        <p:spPr>
          <a:xfrm>
            <a:off x="361950" y="456742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根据向量数量积的定义和运算律进行求解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2389870"/>
              </p:ext>
            </p:extLst>
          </p:nvPr>
        </p:nvGraphicFramePr>
        <p:xfrm>
          <a:off x="576461" y="1233695"/>
          <a:ext cx="11671959" cy="408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2" name="文档" r:id="rId4" imgW="3826872" imgH="1338328" progId="Word.Document.12">
                  <p:embed/>
                </p:oleObj>
              </mc:Choice>
              <mc:Fallback>
                <p:oleObj name="文档" r:id="rId4" imgW="3826872" imgH="13383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1233695"/>
                        <a:ext cx="11671959" cy="408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640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1367879"/>
            <a:ext cx="2259558" cy="531552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988404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求向量数量积的一般步骤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运用数量积的运算律展开、化简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确定向量的模与夹角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套用数量积的定义式代入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计算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05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994823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的夹角为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3b)·(3a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2b)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(2a+3b)·(3a-2b)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=6a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-4a·b+9b·a-6b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=6|a|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+5a·b-6|b|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268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45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71980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求</a:t>
            </a:r>
            <a:r>
              <a:rPr lang="zh-CN" altLang="zh-CN" dirty="0"/>
              <a:t>投影向量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361950" y="1378039"/>
            <a:ext cx="12473653" cy="1808572"/>
            <a:chOff x="361950" y="1411195"/>
            <a:chExt cx="12473653" cy="1808572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411195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4,e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为单位向量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它们的夹角为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上的投影向量是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上的投影向量是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65173334"/>
                </p:ext>
              </p:extLst>
            </p:nvPr>
          </p:nvGraphicFramePr>
          <p:xfrm>
            <a:off x="4863498" y="1418677"/>
            <a:ext cx="7972105" cy="6520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92" name="文档" r:id="rId4" imgW="3826872" imgH="313019" progId="Word.Document.12">
                    <p:embed/>
                  </p:oleObj>
                </mc:Choice>
                <mc:Fallback>
                  <p:oleObj name="文档" r:id="rId4" imgW="3826872" imgH="31301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63498" y="1418677"/>
                          <a:ext cx="7972105" cy="6520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9731664"/>
              </p:ext>
            </p:extLst>
          </p:nvPr>
        </p:nvGraphicFramePr>
        <p:xfrm>
          <a:off x="432445" y="3196771"/>
          <a:ext cx="11671959" cy="2550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3" name="文档" r:id="rId7" imgW="3826872" imgH="836275" progId="Word.Document.12">
                  <p:embed/>
                </p:oleObj>
              </mc:Choice>
              <mc:Fallback>
                <p:oleObj name="文档" r:id="rId7" imgW="3826872" imgH="8362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3196771"/>
                        <a:ext cx="11671959" cy="25506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6680123"/>
              </p:ext>
            </p:extLst>
          </p:nvPr>
        </p:nvGraphicFramePr>
        <p:xfrm>
          <a:off x="421506" y="5616351"/>
          <a:ext cx="11671959" cy="80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4" name="文档" r:id="rId10" imgW="3826872" imgH="263784" progId="Word.Document.12">
                  <p:embed/>
                </p:oleObj>
              </mc:Choice>
              <mc:Fallback>
                <p:oleObj name="文档" r:id="rId10" imgW="3826872" imgH="263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21506" y="5616351"/>
                        <a:ext cx="11671959" cy="804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方法总结H.eps" descr="id:2147497068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61950" y="1151855"/>
            <a:ext cx="2259558" cy="531552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61950" y="1761821"/>
            <a:ext cx="17608201" cy="3089168"/>
            <a:chOff x="361950" y="1761821"/>
            <a:chExt cx="17608201" cy="308916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761821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投影向量的求法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上的投影向量为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 err="1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其中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为与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同向的单位向量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它是一个向量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且与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共线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其方向由向量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的夹角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的余弦值决定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上的投影向量为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03842315"/>
                </p:ext>
              </p:extLst>
            </p:nvPr>
          </p:nvGraphicFramePr>
          <p:xfrm>
            <a:off x="6265093" y="4045972"/>
            <a:ext cx="11705058" cy="8050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0" name="文档" r:id="rId5" imgW="3837724" imgH="263940" progId="Word.Document.12">
                    <p:embed/>
                  </p:oleObj>
                </mc:Choice>
                <mc:Fallback>
                  <p:oleObj name="文档" r:id="rId5" imgW="3837724" imgH="26394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265093" y="4045972"/>
                          <a:ext cx="11705058" cy="80501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4040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83432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上的投影向量是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61950" y="2051968"/>
            <a:ext cx="11775553" cy="2835563"/>
            <a:chOff x="361950" y="1937448"/>
            <a:chExt cx="11775553" cy="2835563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937448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的夹角为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a·b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||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0264435"/>
                </p:ext>
              </p:extLst>
            </p:nvPr>
          </p:nvGraphicFramePr>
          <p:xfrm>
            <a:off x="432445" y="3162974"/>
            <a:ext cx="11705058" cy="16100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22" name="文档" r:id="rId4" imgW="3837724" imgH="527881" progId="Word.Document.12">
                    <p:embed/>
                  </p:oleObj>
                </mc:Choice>
                <mc:Fallback>
                  <p:oleObj name="文档" r:id="rId4" imgW="3837724" imgH="52788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3162974"/>
                          <a:ext cx="11705058" cy="161003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0565662"/>
              </p:ext>
            </p:extLst>
          </p:nvPr>
        </p:nvGraphicFramePr>
        <p:xfrm>
          <a:off x="432445" y="4930828"/>
          <a:ext cx="11705058" cy="728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3" name="文档" r:id="rId7" imgW="3837724" imgH="238700" progId="Word.Document.12">
                  <p:embed/>
                </p:oleObj>
              </mc:Choice>
              <mc:Fallback>
                <p:oleObj name="文档" r:id="rId7" imgW="3837724" imgH="238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4930828"/>
                        <a:ext cx="11705058" cy="728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461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709975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利用</a:t>
            </a:r>
            <a:r>
              <a:rPr lang="zh-CN" altLang="zh-CN" dirty="0"/>
              <a:t>数量积解决向量的夹角和垂直问题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29587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已知非零向量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的夹角为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8960104"/>
              </p:ext>
            </p:extLst>
          </p:nvPr>
        </p:nvGraphicFramePr>
        <p:xfrm>
          <a:off x="432445" y="2457831"/>
          <a:ext cx="11671959" cy="8056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6" name="文档" r:id="rId4" imgW="3826872" imgH="264144" progId="Word.Document.12">
                  <p:embed/>
                </p:oleObj>
              </mc:Choice>
              <mc:Fallback>
                <p:oleObj name="文档" r:id="rId4" imgW="3826872" imgH="2641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2457831"/>
                        <a:ext cx="11671959" cy="8056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61950" y="3177911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已知条件展开变形后利用数量积的定义求解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  <p:grpSp>
        <p:nvGrpSpPr>
          <p:cNvPr id="10" name="组合 9"/>
          <p:cNvGrpSpPr/>
          <p:nvPr/>
        </p:nvGrpSpPr>
        <p:grpSpPr>
          <a:xfrm>
            <a:off x="361950" y="3796487"/>
            <a:ext cx="11725275" cy="2137384"/>
            <a:chOff x="361950" y="3390598"/>
            <a:chExt cx="11725275" cy="2137384"/>
          </a:xfrm>
        </p:grpSpPr>
        <p:sp>
          <p:nvSpPr>
            <p:cNvPr id="11" name="矩形 10"/>
            <p:cNvSpPr>
              <a:spLocks noChangeAspect="1"/>
            </p:cNvSpPr>
            <p:nvPr/>
          </p:nvSpPr>
          <p:spPr>
            <a:xfrm>
              <a:off x="361950" y="3390598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由题意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a·(2a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a·b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a·b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的夹角为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θ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5872218"/>
                </p:ext>
              </p:extLst>
            </p:nvPr>
          </p:nvGraphicFramePr>
          <p:xfrm>
            <a:off x="441325" y="4581832"/>
            <a:ext cx="11645900" cy="9461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47" name="文档" r:id="rId7" imgW="3837724" imgH="315142" progId="Word.Document.12">
                    <p:embed/>
                  </p:oleObj>
                </mc:Choice>
                <mc:Fallback>
                  <p:oleObj name="文档" r:id="rId7" imgW="3837724" imgH="31514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41325" y="4581832"/>
                          <a:ext cx="11645900" cy="9461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" name="矩形 12"/>
          <p:cNvSpPr>
            <a:spLocks noChangeAspect="1"/>
          </p:cNvSpPr>
          <p:nvPr/>
        </p:nvSpPr>
        <p:spPr>
          <a:xfrm>
            <a:off x="361950" y="5797183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361950" y="2087959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是两个非零向量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同时满足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的夹角及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的夹角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考虑夹角公式和数形结合两种方法求解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07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6057303"/>
              </p:ext>
            </p:extLst>
          </p:nvPr>
        </p:nvGraphicFramePr>
        <p:xfrm>
          <a:off x="504825" y="742950"/>
          <a:ext cx="11661775" cy="545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文档" r:id="rId4" imgW="3826872" imgH="1795459" progId="Word.Document.12">
                  <p:embed/>
                </p:oleObj>
              </mc:Choice>
              <mc:Fallback>
                <p:oleObj name="文档" r:id="rId4" imgW="3826872" imgH="17954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742950"/>
                        <a:ext cx="11661775" cy="5453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934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解法二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由向量运算的几何意义知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b,a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是以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为邻边的平行四边形的两条对角线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YMG2TRA90.eps" descr="id:214749776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409109" y="1301194"/>
            <a:ext cx="3168352" cy="211280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>
                <a:spLocks noChangeAspect="1"/>
              </p:cNvSpPr>
              <p:nvPr/>
            </p:nvSpPr>
            <p:spPr>
              <a:xfrm>
                <a:off x="361950" y="3248920"/>
                <a:ext cx="10807700" cy="315951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如图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令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𝑂𝐴</m:t>
                        </m:r>
                      </m:e>
                    </m:acc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𝑂𝐵</m:t>
                        </m:r>
                      </m:e>
                    </m:acc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𝑂𝐶</m:t>
                        </m:r>
                      </m:e>
                    </m:acc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 err="1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dirty="0" err="1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dirty="0" err="1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𝐵𝐴</m:t>
                        </m:r>
                      </m:e>
                    </m:acc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∵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|=|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|=|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∴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平行四边形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OACB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为菱形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∠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BOA=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60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NEU-BZ-S92" panose="02020503000000020003" pitchFamily="18" charset="-122"/>
                    <a:cs typeface="Times New Roman" panose="02020603050405020304" pitchFamily="18" charset="0"/>
                  </a:rPr>
                  <a:t>°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宋体" panose="02010600030101010101" pitchFamily="2" charset="-122"/>
                  </a:rPr>
                  <a:t>∴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𝑂𝐶</m:t>
                        </m:r>
                      </m:e>
                    </m:acc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的夹角为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30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NEU-BZ-S92" panose="02020503000000020003" pitchFamily="18" charset="-122"/>
                    <a:cs typeface="Times New Roman" panose="02020603050405020304" pitchFamily="18" charset="0"/>
                  </a:rPr>
                  <a:t>°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+mn-lt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𝐵𝐴</m:t>
                        </m:r>
                      </m:e>
                    </m:acc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的夹角为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60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NEU-BZ-S92" panose="02020503000000020003" pitchFamily="18" charset="-122"/>
                    <a:cs typeface="Times New Roman" panose="02020603050405020304" pitchFamily="18" charset="0"/>
                  </a:rPr>
                  <a:t>°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dirty="0" err="1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dirty="0" err="1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dirty="0" err="1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的夹角是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30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NEU-BZ-S92" panose="02020503000000020003" pitchFamily="18" charset="-122"/>
                    <a:cs typeface="Times New Roman" panose="02020603050405020304" pitchFamily="18" charset="0"/>
                  </a:rPr>
                  <a:t>°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与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+mn-lt"/>
                    <a:ea typeface="楷体" panose="02010609060101010101" pitchFamily="49" charset="-122"/>
                    <a:cs typeface="Times New Roman" panose="02020603050405020304" pitchFamily="18" charset="0"/>
                  </a:rPr>
                  <a:t>的夹角是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60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latin typeface="+mn-lt"/>
                    <a:ea typeface="NEU-BZ-S92" panose="02020503000000020003" pitchFamily="18" charset="-122"/>
                    <a:cs typeface="Times New Roman" panose="02020603050405020304" pitchFamily="18" charset="0"/>
                  </a:rPr>
                  <a:t>°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latin typeface="+mn-lt"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+mn-lt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3248920"/>
                <a:ext cx="10807700" cy="3159519"/>
              </a:xfrm>
              <a:prstGeom prst="rect">
                <a:avLst/>
              </a:prstGeom>
              <a:blipFill rotWithShape="0">
                <a:blip r:embed="rId3"/>
                <a:stretch>
                  <a:fillRect l="-1410" t="-193" b="-57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7273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延伸探究H.eps" descr="id:21474908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317062" y="823511"/>
            <a:ext cx="2524095" cy="460328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337399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本例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若非零向量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的夹角为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2b)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2620479"/>
            <a:ext cx="16566990" cy="3109408"/>
            <a:chOff x="361950" y="2429557"/>
            <a:chExt cx="16566990" cy="310940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2429557"/>
              <a:ext cx="10807700" cy="299043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+mn-lt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+mn-lt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(a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2b)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b),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(a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2b)·(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k|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1)a·b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k|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2(2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baseline="30000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化简得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k+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2(2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k-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32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47326694"/>
                </p:ext>
              </p:extLst>
            </p:nvPr>
          </p:nvGraphicFramePr>
          <p:xfrm>
            <a:off x="5256981" y="4742095"/>
            <a:ext cx="11671959" cy="7968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499" name="文档" r:id="rId5" imgW="3826872" imgH="261269" progId="Word.Document.12">
                    <p:embed/>
                  </p:oleObj>
                </mc:Choice>
                <mc:Fallback>
                  <p:oleObj name="文档" r:id="rId5" imgW="3826872" imgH="26126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256981" y="4742095"/>
                          <a:ext cx="11671959" cy="79687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70590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361950" y="775803"/>
            <a:ext cx="13931517" cy="5430892"/>
            <a:chOff x="361950" y="775803"/>
            <a:chExt cx="13931517" cy="5430892"/>
          </a:xfrm>
        </p:grpSpPr>
        <p:pic>
          <p:nvPicPr>
            <p:cNvPr id="8" name="反思感悟H.eps" descr="id:2147490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775803"/>
              <a:ext cx="2259558" cy="531552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361950" y="1386914"/>
              <a:ext cx="13931517" cy="4819781"/>
              <a:chOff x="361950" y="1530930"/>
              <a:chExt cx="13931517" cy="4819781"/>
            </a:xfrm>
          </p:grpSpPr>
          <p:sp>
            <p:nvSpPr>
              <p:cNvPr id="9" name="矩形 8"/>
              <p:cNvSpPr>
                <a:spLocks noChangeAspect="1"/>
              </p:cNvSpPr>
              <p:nvPr/>
            </p:nvSpPr>
            <p:spPr>
              <a:xfrm>
                <a:off x="361950" y="1530930"/>
                <a:ext cx="10807700" cy="4819781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求平面向量夹角的方法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: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(1)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利用公式</a:t>
                </a:r>
                <a:r>
                  <a:rPr lang="en-US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      </a:t>
                </a:r>
                <a:r>
                  <a:rPr lang="en-US" altLang="zh-CN" dirty="0" smtClean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             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求出夹角的余弦值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从而求得夹角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可以直接求出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·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的值及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|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的值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然后代入求解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也可以寻找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·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三者之间的关系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然后代入求解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(2)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求向量的夹角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还可结合向量线性运算、模的几何意义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利用数形结合的方法求解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非零向量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i="1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·</a:t>
                </a:r>
                <a:r>
                  <a:rPr lang="en-US" altLang="zh-CN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NEU-BZ-S92"/>
                    <a:cs typeface="Times New Roman" panose="02020603050405020304" pitchFamily="18" charset="0"/>
                  </a:rPr>
                  <a:t>⇔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zh-CN" dirty="0">
                    <a:solidFill>
                      <a:srgbClr val="000000"/>
                    </a:solidFill>
                    <a:latin typeface="NEU-BZ-S92"/>
                    <a:ea typeface="宋体" panose="02010600030101010101" pitchFamily="2" charset="-122"/>
                    <a:cs typeface="宋体" panose="02010600030101010101" pitchFamily="2" charset="-122"/>
                  </a:rPr>
                  <a:t>⊥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是非常重要的性质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它对于解决平面几何图形中的有关垂直问题十分有效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仿宋" panose="02010609060101010101" pitchFamily="49" charset="-122"/>
                    <a:cs typeface="Times New Roman" panose="02020603050405020304" pitchFamily="18" charset="0"/>
                  </a:rPr>
                  <a:t>应熟练掌握</a:t>
                </a:r>
                <a:r>
                  <a:rPr lang="en-US" altLang="zh-CN" i="1" dirty="0" smtClean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0" name="对象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3343809"/>
                  </p:ext>
                </p:extLst>
              </p:nvPr>
            </p:nvGraphicFramePr>
            <p:xfrm>
              <a:off x="2621508" y="2015951"/>
              <a:ext cx="11671959" cy="8023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23" name="文档" r:id="rId5" imgW="3826872" imgH="263066" progId="Word.Document.12">
                      <p:embed/>
                    </p:oleObj>
                  </mc:Choice>
                  <mc:Fallback>
                    <p:oleObj name="文档" r:id="rId5" imgW="3826872" imgH="263066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2621508" y="2015951"/>
                            <a:ext cx="11671959" cy="802351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2801515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204421"/>
              </p:ext>
            </p:extLst>
          </p:nvPr>
        </p:nvGraphicFramePr>
        <p:xfrm>
          <a:off x="216421" y="1747310"/>
          <a:ext cx="11671959" cy="26449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7" name="文档" r:id="rId4" imgW="3826872" imgH="867182" progId="Word.Document.12">
                  <p:embed/>
                </p:oleObj>
              </mc:Choice>
              <mc:Fallback>
                <p:oleObj name="文档" r:id="rId4" imgW="3826872" imgH="8671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1747310"/>
                        <a:ext cx="11671959" cy="26449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77291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444979"/>
              </p:ext>
            </p:extLst>
          </p:nvPr>
        </p:nvGraphicFramePr>
        <p:xfrm>
          <a:off x="504825" y="617319"/>
          <a:ext cx="11661775" cy="586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8" name="文档" r:id="rId4" imgW="3826872" imgH="1931663" progId="Word.Document.12">
                  <p:embed/>
                </p:oleObj>
              </mc:Choice>
              <mc:Fallback>
                <p:oleObj name="文档" r:id="rId4" imgW="3826872" imgH="19316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617319"/>
                        <a:ext cx="11661775" cy="5862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3747731"/>
              </p:ext>
            </p:extLst>
          </p:nvPr>
        </p:nvGraphicFramePr>
        <p:xfrm>
          <a:off x="6330620" y="5636966"/>
          <a:ext cx="11671959" cy="8023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89" name="文档" r:id="rId7" imgW="3826872" imgH="263066" progId="Word.Document.12">
                  <p:embed/>
                </p:oleObj>
              </mc:Choice>
              <mc:Fallback>
                <p:oleObj name="文档" r:id="rId7" imgW="3826872" imgH="26306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30620" y="5636966"/>
                        <a:ext cx="11671959" cy="8023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0835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燕尾形 4"/>
          <p:cNvSpPr/>
          <p:nvPr/>
        </p:nvSpPr>
        <p:spPr>
          <a:xfrm>
            <a:off x="808363" y="80164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四</a:t>
            </a:r>
            <a:r>
              <a:rPr lang="en-US" altLang="zh-CN" dirty="0" smtClean="0"/>
              <a:t>  </a:t>
            </a:r>
            <a:r>
              <a:rPr lang="zh-CN" altLang="zh-CN" dirty="0" smtClean="0"/>
              <a:t>求</a:t>
            </a:r>
            <a:r>
              <a:rPr lang="zh-CN" altLang="zh-CN" dirty="0"/>
              <a:t>向量的模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956414"/>
              </p:ext>
            </p:extLst>
          </p:nvPr>
        </p:nvGraphicFramePr>
        <p:xfrm>
          <a:off x="31750" y="1518468"/>
          <a:ext cx="11645900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2" name="文档" r:id="rId4" imgW="3837724" imgH="218147" progId="Word.Document.12">
                  <p:embed/>
                </p:oleObj>
              </mc:Choice>
              <mc:Fallback>
                <p:oleObj name="文档" r:id="rId4" imgW="3837724" imgH="2181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1750" y="1518468"/>
                        <a:ext cx="11645900" cy="661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9276674"/>
              </p:ext>
            </p:extLst>
          </p:nvPr>
        </p:nvGraphicFramePr>
        <p:xfrm>
          <a:off x="144413" y="2206822"/>
          <a:ext cx="11671959" cy="354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13" name="文档" r:id="rId7" imgW="3826872" imgH="1161873" progId="Word.Document.12">
                  <p:embed/>
                </p:oleObj>
              </mc:Choice>
              <mc:Fallback>
                <p:oleObj name="文档" r:id="rId7" imgW="3826872" imgH="11618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4413" y="2206822"/>
                        <a:ext cx="11671959" cy="3543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8253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1228171"/>
            <a:ext cx="19087270" cy="3652646"/>
            <a:chOff x="361950" y="940139"/>
            <a:chExt cx="19087270" cy="3652646"/>
          </a:xfrm>
        </p:grpSpPr>
        <p:pic>
          <p:nvPicPr>
            <p:cNvPr id="6" name="反思感悟H.eps" descr="id:2147490797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45797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根据数量积的定义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·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||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cos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  </a:t>
              </a:r>
              <a:r>
                <a:rPr lang="en-US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这是求向量的模的一种方法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即要求一个向量的模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先求这个向量与自身的数量积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一定非负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再求它的算术平方根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对于复杂的向量也是如此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例如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可先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(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)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+2a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b+b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再取其算术平方根即为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24840582"/>
                </p:ext>
              </p:extLst>
            </p:nvPr>
          </p:nvGraphicFramePr>
          <p:xfrm>
            <a:off x="7777261" y="1584120"/>
            <a:ext cx="11671959" cy="5206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619" name="文档" r:id="rId5" imgW="3826872" imgH="170705" progId="Word.Document.12">
                    <p:embed/>
                  </p:oleObj>
                </mc:Choice>
                <mc:Fallback>
                  <p:oleObj name="文档" r:id="rId5" imgW="3826872" imgH="17070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7777261" y="1584120"/>
                          <a:ext cx="11671959" cy="5206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12375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2449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满足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1950" y="1503590"/>
            <a:ext cx="11742454" cy="4217449"/>
            <a:chOff x="361950" y="1285172"/>
            <a:chExt cx="11742454" cy="4217449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285172"/>
              <a:ext cx="10807700" cy="363791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16,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2a·b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16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4,b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代入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①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式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2a·b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16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2a·b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又因为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b)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2a·b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9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10,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86456674"/>
                </p:ext>
              </p:extLst>
            </p:nvPr>
          </p:nvGraphicFramePr>
          <p:xfrm>
            <a:off x="432445" y="4863591"/>
            <a:ext cx="11671959" cy="6390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643" name="文档" r:id="rId4" imgW="3826872" imgH="209518" progId="Word.Document.12">
                    <p:embed/>
                  </p:oleObj>
                </mc:Choice>
                <mc:Fallback>
                  <p:oleObj name="文档" r:id="rId4" imgW="3826872" imgH="20951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4863591"/>
                          <a:ext cx="11671959" cy="63903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7804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201636" y="733384"/>
            <a:ext cx="5128327" cy="6443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未理解向量夹角的概念致错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354450"/>
              </p:ext>
            </p:extLst>
          </p:nvPr>
        </p:nvGraphicFramePr>
        <p:xfrm>
          <a:off x="432445" y="1438816"/>
          <a:ext cx="10640962" cy="2853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7" name="文档" r:id="rId4" imgW="3837724" imgH="1029079" progId="Word.Document.12">
                  <p:embed/>
                </p:oleObj>
              </mc:Choice>
              <mc:Fallback>
                <p:oleObj name="文档" r:id="rId4" imgW="3837724" imgH="102907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438816"/>
                        <a:ext cx="10640962" cy="2853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361950" y="4292171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8087480"/>
              </p:ext>
            </p:extLst>
          </p:nvPr>
        </p:nvGraphicFramePr>
        <p:xfrm>
          <a:off x="432445" y="1204199"/>
          <a:ext cx="10640962" cy="16426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8" name="文档" r:id="rId4" imgW="3837724" imgH="592423" progId="Word.Document.12">
                  <p:embed/>
                </p:oleObj>
              </mc:Choice>
              <mc:Fallback>
                <p:oleObj name="文档" r:id="rId4" imgW="3837724" imgH="5924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04199"/>
                        <a:ext cx="10640962" cy="16426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572162"/>
              </p:ext>
            </p:extLst>
          </p:nvPr>
        </p:nvGraphicFramePr>
        <p:xfrm>
          <a:off x="432445" y="2870215"/>
          <a:ext cx="11705058" cy="137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09" name="文档" r:id="rId7" imgW="3837724" imgH="451799" progId="Word.Document.12">
                  <p:embed/>
                </p:oleObj>
              </mc:Choice>
              <mc:Fallback>
                <p:oleObj name="文档" r:id="rId7" imgW="3837724" imgH="4517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870215"/>
                        <a:ext cx="11705058" cy="1377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0101" y="4193343"/>
            <a:ext cx="152157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28783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-3527995" y="925343"/>
            <a:ext cx="14697645" cy="4799250"/>
            <a:chOff x="-3527995" y="791815"/>
            <a:chExt cx="14697645" cy="4799250"/>
          </a:xfrm>
        </p:grpSpPr>
        <p:pic>
          <p:nvPicPr>
            <p:cNvPr id="5" name="防范措施H.eps" descr="id:2147490860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61950" y="791815"/>
              <a:ext cx="2259558" cy="531552"/>
            </a:xfrm>
            <a:prstGeom prst="rect">
              <a:avLst/>
            </a:prstGeom>
          </p:spPr>
        </p:pic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362215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在一个平面图形中求两个向量的夹角时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切记不能直接将该平面图形的某个内角理解为两个向量的夹角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必须将两向量的起点平移到一个点上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根据向量的方向得出向量的夹角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如在</a:t>
              </a:r>
              <a:r>
                <a:rPr lang="en-US" altLang="zh-CN" dirty="0" smtClean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  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夹角不是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而是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的补角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向量的夹角与直线的夹角范围不同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它们分别是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[0,</a:t>
              </a:r>
              <a:r>
                <a:rPr lang="en-US" altLang="zh-CN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]</a:t>
              </a:r>
              <a:r>
                <a:rPr lang="zh-CN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和</a:t>
              </a:r>
              <a:endParaRPr lang="en-US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       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积累直观想象和数学抽象素养的经验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644514"/>
                </p:ext>
              </p:extLst>
            </p:nvPr>
          </p:nvGraphicFramePr>
          <p:xfrm>
            <a:off x="-2444378" y="3157193"/>
            <a:ext cx="11671959" cy="549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32" name="文档" r:id="rId5" imgW="3826872" imgH="180049" progId="Word.Document.12">
                    <p:embed/>
                  </p:oleObj>
                </mc:Choice>
                <mc:Fallback>
                  <p:oleObj name="文档" r:id="rId5" imgW="3826872" imgH="18004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-2444378" y="3157193"/>
                          <a:ext cx="11671959" cy="5491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10464993"/>
                </p:ext>
              </p:extLst>
            </p:nvPr>
          </p:nvGraphicFramePr>
          <p:xfrm>
            <a:off x="-3527995" y="4290194"/>
            <a:ext cx="8769315" cy="660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733" name="文档" r:id="rId8" imgW="3826872" imgH="288222" progId="Word.Document.12">
                    <p:embed/>
                  </p:oleObj>
                </mc:Choice>
                <mc:Fallback>
                  <p:oleObj name="文档" r:id="rId8" imgW="3826872" imgH="28822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-3527995" y="4290194"/>
                          <a:ext cx="8769315" cy="6604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54387681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056372"/>
              </p:ext>
            </p:extLst>
          </p:nvPr>
        </p:nvGraphicFramePr>
        <p:xfrm>
          <a:off x="350605" y="1305703"/>
          <a:ext cx="11671959" cy="1348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6" name="文档" r:id="rId4" imgW="3826872" imgH="442036" progId="Word.Document.12">
                  <p:embed/>
                </p:oleObj>
              </mc:Choice>
              <mc:Fallback>
                <p:oleObj name="文档" r:id="rId4" imgW="3826872" imgH="44203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0605" y="1305703"/>
                        <a:ext cx="11671959" cy="1348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7744497"/>
              </p:ext>
            </p:extLst>
          </p:nvPr>
        </p:nvGraphicFramePr>
        <p:xfrm>
          <a:off x="350605" y="2653913"/>
          <a:ext cx="11671959" cy="1609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7" name="文档" r:id="rId7" imgW="3826872" imgH="527569" progId="Word.Document.12">
                  <p:embed/>
                </p:oleObj>
              </mc:Choice>
              <mc:Fallback>
                <p:oleObj name="文档" r:id="rId7" imgW="3826872" imgH="52756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0605" y="2653913"/>
                        <a:ext cx="11671959" cy="16090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283708" y="4108319"/>
            <a:ext cx="158889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20960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829788"/>
              </p:ext>
            </p:extLst>
          </p:nvPr>
        </p:nvGraphicFramePr>
        <p:xfrm>
          <a:off x="430213" y="1344613"/>
          <a:ext cx="11645900" cy="1808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0" name="文档" r:id="rId4" imgW="3837724" imgH="597832" progId="Word.Document.12">
                  <p:embed/>
                </p:oleObj>
              </mc:Choice>
              <mc:Fallback>
                <p:oleObj name="文档" r:id="rId4" imgW="3837724" imgH="5978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344613"/>
                        <a:ext cx="11645900" cy="1808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096801"/>
              </p:ext>
            </p:extLst>
          </p:nvPr>
        </p:nvGraphicFramePr>
        <p:xfrm>
          <a:off x="430213" y="3163888"/>
          <a:ext cx="11645900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81" name="文档" r:id="rId7" imgW="3837724" imgH="285575" progId="Word.Document.12">
                  <p:embed/>
                </p:oleObj>
              </mc:Choice>
              <mc:Fallback>
                <p:oleObj name="文档" r:id="rId7" imgW="3837724" imgH="2855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0213" y="3163888"/>
                        <a:ext cx="11645900" cy="862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288429" y="3996983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841059"/>
              </p:ext>
            </p:extLst>
          </p:nvPr>
        </p:nvGraphicFramePr>
        <p:xfrm>
          <a:off x="432445" y="1223863"/>
          <a:ext cx="11671959" cy="22064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4" name="文档" r:id="rId4" imgW="3826872" imgH="723430" progId="Word.Document.12">
                  <p:embed/>
                </p:oleObj>
              </mc:Choice>
              <mc:Fallback>
                <p:oleObj name="文档" r:id="rId4" imgW="3826872" imgH="72343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1223863"/>
                        <a:ext cx="11671959" cy="220646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4319483"/>
              </p:ext>
            </p:extLst>
          </p:nvPr>
        </p:nvGraphicFramePr>
        <p:xfrm>
          <a:off x="432444" y="3479484"/>
          <a:ext cx="11671959" cy="807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05" name="文档" r:id="rId7" imgW="3826872" imgH="264862" progId="Word.Document.12">
                  <p:embed/>
                </p:oleObj>
              </mc:Choice>
              <mc:Fallback>
                <p:oleObj name="文档" r:id="rId7" imgW="3826872" imgH="2648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4" y="3479484"/>
                        <a:ext cx="11671959" cy="807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41394" y="4213007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57270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4237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多选题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a,b,c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是任意的非零向量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且它们相互不共线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结论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正确的是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A.a·c-b·c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=(a-b)·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		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.(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b·c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)·a-(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c·a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)·b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不与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垂直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C.(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=|a|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+2|a||b|+|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b|</a:t>
            </a:r>
            <a:r>
              <a:rPr lang="en-US" altLang="zh-CN" baseline="30000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.(3a+2b)·(3a-2b)=9|a|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-4|b|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根据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数量积的分配律知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[(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b·c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)·a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c·a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)·b]·c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b·c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)·(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a·c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c·a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)·(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b·c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b·c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)·a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c·a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)·b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垂直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根据数量积运算的性质知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错误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,D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cs typeface="Times New Roman" panose="02020603050405020304" pitchFamily="18" charset="0"/>
              </a:rPr>
              <a:t>: 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75603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58746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若向量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的夹角为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2b)·(a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3b)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72,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的模为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A.2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B.4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	C.6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	D.12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(a+2b)·(a-3b)=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-a·b-6b</a:t>
            </a:r>
            <a:r>
              <a:rPr lang="en-US" altLang="zh-CN" baseline="30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a|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-|a||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b|cos</a:t>
            </a:r>
            <a:r>
              <a:rPr lang="en-US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b|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=|a|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-2|a|-96=-72,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|a|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-2|a|-24=0,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|a|=6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舍去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44151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06335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上的投影向量为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628455"/>
              </p:ext>
            </p:extLst>
          </p:nvPr>
        </p:nvGraphicFramePr>
        <p:xfrm>
          <a:off x="387350" y="1589351"/>
          <a:ext cx="11661775" cy="324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6" name="文档" r:id="rId4" imgW="3826872" imgH="1067356" progId="Word.Document.12">
                  <p:embed/>
                </p:oleObj>
              </mc:Choice>
              <mc:Fallback>
                <p:oleObj name="文档" r:id="rId4" imgW="3826872" imgH="10673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7350" y="1589351"/>
                        <a:ext cx="11661775" cy="3249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8230572"/>
              </p:ext>
            </p:extLst>
          </p:nvPr>
        </p:nvGraphicFramePr>
        <p:xfrm>
          <a:off x="361950" y="4873986"/>
          <a:ext cx="11671959" cy="804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27" name="文档" r:id="rId7" imgW="3826872" imgH="263784" progId="Word.Document.12">
                  <p:embed/>
                </p:oleObj>
              </mc:Choice>
              <mc:Fallback>
                <p:oleObj name="文档" r:id="rId7" imgW="3826872" imgH="2637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1950" y="4873986"/>
                        <a:ext cx="11671959" cy="8045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4926473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13679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已知两个单位向量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的夹角为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b)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b)·(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 err="1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a·b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的夹角为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479861"/>
              </p:ext>
            </p:extLst>
          </p:nvPr>
        </p:nvGraphicFramePr>
        <p:xfrm>
          <a:off x="484789" y="4405546"/>
          <a:ext cx="11671959" cy="1612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0" name="文档" r:id="rId4" imgW="3826872" imgH="528647" progId="Word.Document.12">
                  <p:embed/>
                </p:oleObj>
              </mc:Choice>
              <mc:Fallback>
                <p:oleObj name="文档" r:id="rId4" imgW="3826872" imgH="52864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789" y="4405546"/>
                        <a:ext cx="11671959" cy="16123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4738142"/>
              </p:ext>
            </p:extLst>
          </p:nvPr>
        </p:nvGraphicFramePr>
        <p:xfrm>
          <a:off x="4896941" y="5279905"/>
          <a:ext cx="11671959" cy="8100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51" name="文档" r:id="rId7" imgW="3826872" imgH="265581" progId="Word.Document.12">
                  <p:embed/>
                </p:oleObj>
              </mc:Choice>
              <mc:Fallback>
                <p:oleObj name="文档" r:id="rId7" imgW="3826872" imgH="2655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896941" y="5279905"/>
                        <a:ext cx="11671959" cy="8100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9280863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167</TotalTime>
  <Words>1861</Words>
  <Application>Microsoft Office PowerPoint</Application>
  <PresentationFormat>自定义</PresentationFormat>
  <Paragraphs>158</Paragraphs>
  <Slides>56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56</vt:i4>
      </vt:variant>
    </vt:vector>
  </HeadingPairs>
  <TitlesOfParts>
    <vt:vector size="73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31</cp:revision>
  <dcterms:created xsi:type="dcterms:W3CDTF">2020-09-12T05:36:12Z</dcterms:created>
  <dcterms:modified xsi:type="dcterms:W3CDTF">2025-09-04T05:05:36Z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