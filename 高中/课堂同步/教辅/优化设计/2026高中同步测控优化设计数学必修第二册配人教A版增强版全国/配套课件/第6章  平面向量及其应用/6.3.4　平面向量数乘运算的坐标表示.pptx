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1"/>
  </p:notesMasterIdLst>
  <p:sldIdLst>
    <p:sldId id="731" r:id="rId2"/>
    <p:sldId id="753" r:id="rId3"/>
    <p:sldId id="736" r:id="rId4"/>
    <p:sldId id="744" r:id="rId5"/>
    <p:sldId id="746" r:id="rId6"/>
    <p:sldId id="749" r:id="rId7"/>
    <p:sldId id="757" r:id="rId8"/>
    <p:sldId id="759" r:id="rId9"/>
    <p:sldId id="760" r:id="rId10"/>
    <p:sldId id="737" r:id="rId11"/>
    <p:sldId id="750" r:id="rId12"/>
    <p:sldId id="761" r:id="rId13"/>
    <p:sldId id="762" r:id="rId14"/>
    <p:sldId id="754" r:id="rId15"/>
    <p:sldId id="763" r:id="rId16"/>
    <p:sldId id="764" r:id="rId17"/>
    <p:sldId id="766" r:id="rId18"/>
    <p:sldId id="782" r:id="rId19"/>
    <p:sldId id="755" r:id="rId20"/>
    <p:sldId id="767" r:id="rId21"/>
    <p:sldId id="768" r:id="rId22"/>
    <p:sldId id="769" r:id="rId23"/>
    <p:sldId id="770" r:id="rId24"/>
    <p:sldId id="771" r:id="rId25"/>
    <p:sldId id="772" r:id="rId26"/>
    <p:sldId id="747" r:id="rId27"/>
    <p:sldId id="751" r:id="rId28"/>
    <p:sldId id="773" r:id="rId29"/>
    <p:sldId id="774" r:id="rId30"/>
    <p:sldId id="775" r:id="rId31"/>
    <p:sldId id="776" r:id="rId32"/>
    <p:sldId id="777" r:id="rId33"/>
    <p:sldId id="748" r:id="rId34"/>
    <p:sldId id="752" r:id="rId35"/>
    <p:sldId id="781" r:id="rId36"/>
    <p:sldId id="778" r:id="rId37"/>
    <p:sldId id="779" r:id="rId38"/>
    <p:sldId id="780" r:id="rId39"/>
    <p:sldId id="735" r:id="rId40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image" Target="../media/image35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image" Target="../media/image3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39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3.xml"/><Relationship Id="rId5" Type="http://schemas.openxmlformats.org/officeDocument/2006/relationships/slide" Target="slide26.xml"/><Relationship Id="rId4" Type="http://schemas.openxmlformats.org/officeDocument/2006/relationships/slide" Target="slide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3.doc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4.xml"/><Relationship Id="rId4" Type="http://schemas.openxmlformats.org/officeDocument/2006/relationships/slide" Target="slide1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oleObject" Target="../embeddings/oleObject4.bin"/><Relationship Id="rId7" Type="http://schemas.openxmlformats.org/officeDocument/2006/relationships/package" Target="../embeddings/Microsoft_Word___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4.docx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oleObject" Target="../embeddings/oleObject6.bin"/><Relationship Id="rId7" Type="http://schemas.openxmlformats.org/officeDocument/2006/relationships/package" Target="../embeddings/Microsoft_Word___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6.docx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8.docx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9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3.emf"/><Relationship Id="rId5" Type="http://schemas.openxmlformats.org/officeDocument/2006/relationships/package" Target="../embeddings/Microsoft_Word___10.docx"/><Relationship Id="rId4" Type="http://schemas.openxmlformats.org/officeDocument/2006/relationships/oleObject" Target="../embeddings/oleObject10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oleObject" Target="../embeddings/oleObject11.bin"/><Relationship Id="rId7" Type="http://schemas.openxmlformats.org/officeDocument/2006/relationships/package" Target="../embeddings/Microsoft_Word___12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1.docx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3.doc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4.docx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16.docx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2.jpeg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5.docx"/><Relationship Id="rId9" Type="http://schemas.openxmlformats.org/officeDocument/2006/relationships/image" Target="../media/image21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17.docx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18.docx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19.docx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oleObject" Target="../embeddings/oleObject20.bin"/><Relationship Id="rId7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20.docx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30.emf"/><Relationship Id="rId4" Type="http://schemas.openxmlformats.org/officeDocument/2006/relationships/package" Target="../embeddings/Microsoft_Word___22.docx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oleObject" Target="../embeddings/oleObject23.bin"/><Relationship Id="rId7" Type="http://schemas.openxmlformats.org/officeDocument/2006/relationships/package" Target="../embeddings/Microsoft_Word___2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31.emf"/><Relationship Id="rId4" Type="http://schemas.openxmlformats.org/officeDocument/2006/relationships/package" Target="../embeddings/Microsoft_Word___23.docx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oleObject" Target="../embeddings/oleObject25.bin"/><Relationship Id="rId7" Type="http://schemas.openxmlformats.org/officeDocument/2006/relationships/package" Target="../embeddings/Microsoft_Word___2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33.emf"/><Relationship Id="rId4" Type="http://schemas.openxmlformats.org/officeDocument/2006/relationships/package" Target="../embeddings/Microsoft_Word___25.docx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oleObject" Target="../embeddings/oleObject27.bin"/><Relationship Id="rId7" Type="http://schemas.openxmlformats.org/officeDocument/2006/relationships/package" Target="../embeddings/Microsoft_Word___2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35.emf"/><Relationship Id="rId4" Type="http://schemas.openxmlformats.org/officeDocument/2006/relationships/package" Target="../embeddings/Microsoft_Word___27.docx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oleObject" Target="../embeddings/oleObject29.bin"/><Relationship Id="rId7" Type="http://schemas.openxmlformats.org/officeDocument/2006/relationships/package" Target="../embeddings/Microsoft_Word___3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37.emf"/><Relationship Id="rId4" Type="http://schemas.openxmlformats.org/officeDocument/2006/relationships/package" Target="../embeddings/Microsoft_Word___29.docx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043749"/>
            <a:ext cx="10807700" cy="22044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平面向量数乘</a:t>
            </a:r>
            <a:r>
              <a:rPr lang="zh-CN" altLang="zh-CN" sz="6000" dirty="0" smtClean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运算</a:t>
            </a:r>
            <a:endParaRPr lang="en-US" altLang="zh-CN" sz="6000" dirty="0" smtClean="0">
              <a:solidFill>
                <a:srgbClr val="002060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6000" dirty="0" smtClean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坐标表示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887441"/>
            <a:ext cx="10729192" cy="2360758"/>
            <a:chOff x="360437" y="1887441"/>
            <a:chExt cx="10729192" cy="2360758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887441"/>
              <a:ext cx="10729192" cy="2360758"/>
              <a:chOff x="360437" y="2260222"/>
              <a:chExt cx="10729192" cy="1612430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2260222"/>
                <a:ext cx="10729192" cy="1612430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2282929"/>
                <a:ext cx="0" cy="1545245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2079587"/>
              <a:ext cx="8496944" cy="180857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会用坐标表示平面向量的数乘运算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能用坐标表示平面向量共线的条件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提升直观想象和数学运算素养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思  想  方  法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30464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一、平面向量数乘运算的坐标表示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你能得出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2a,3a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的坐标吗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i="1" dirty="0" err="1"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i="1" dirty="0" err="1"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即实数与向量的积的坐标等于用这个实数乘原来向量的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相应坐标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84783" y="3164736"/>
            <a:ext cx="125159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4880461" y="3628834"/>
            <a:ext cx="125018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5755594" y="3708896"/>
            <a:ext cx="159493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751272" y="4172994"/>
            <a:ext cx="159313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2221050"/>
              </p:ext>
            </p:extLst>
          </p:nvPr>
        </p:nvGraphicFramePr>
        <p:xfrm>
          <a:off x="473075" y="4265811"/>
          <a:ext cx="11618913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3" name="文档" r:id="rId4" imgW="3826872" imgH="213831" progId="Word.Document.12">
                  <p:embed/>
                </p:oleObj>
              </mc:Choice>
              <mc:Fallback>
                <p:oleObj name="文档" r:id="rId4" imgW="3826872" imgH="2138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3075" y="4265811"/>
                        <a:ext cx="11618913" cy="644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361950" y="4898556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6,3)</a:t>
            </a:r>
            <a:r>
              <a:rPr lang="en-US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.(3,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6)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91815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二、平面向量共线的坐标表示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)(b≠0),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根据共线向量定理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共线时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存在唯一实数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那么根据向量数乘运算的坐标表示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你能发现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的坐标之间的关系吗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b≠0),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共线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361950" y="3778924"/>
            <a:ext cx="10807700" cy="6832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向量共线的坐标表示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5491894"/>
              </p:ext>
            </p:extLst>
          </p:nvPr>
        </p:nvGraphicFramePr>
        <p:xfrm>
          <a:off x="-431651" y="4428885"/>
          <a:ext cx="12010226" cy="19795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" name="文档" r:id="rId4" imgW="3926644" imgH="648320" progId="Word.Document.12">
                  <p:embed/>
                </p:oleObj>
              </mc:Choice>
              <mc:Fallback>
                <p:oleObj name="文档" r:id="rId4" imgW="3926644" imgH="64832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431651" y="4428885"/>
                        <a:ext cx="12010226" cy="19795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7960605" y="5097251"/>
            <a:ext cx="201622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7955834" y="5561349"/>
            <a:ext cx="201394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671131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76081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下列各组向量中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共线的是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(1,2),b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(4,2)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(1,0),b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(0,2)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2),b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(0,2)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3,2),b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共线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选项中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共线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其余各组向量均不共线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 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因为两个向量共线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(1)C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89385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42286" y="992105"/>
            <a:ext cx="11762118" cy="4542406"/>
            <a:chOff x="361950" y="776081"/>
            <a:chExt cx="11762118" cy="4542406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776081"/>
              <a:ext cx="10807700" cy="241675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【思考辨析】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判断下列说法是否正确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正确的在后面的括号内画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错误的画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2),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6145077"/>
                </p:ext>
              </p:extLst>
            </p:nvPr>
          </p:nvGraphicFramePr>
          <p:xfrm>
            <a:off x="452109" y="3174727"/>
            <a:ext cx="11671959" cy="15466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文档" r:id="rId4" imgW="3826872" imgH="507084" progId="Word.Document.12">
                    <p:embed/>
                  </p:oleObj>
                </mc:Choice>
                <mc:Fallback>
                  <p:oleObj name="文档" r:id="rId4" imgW="3826872" imgH="50708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52109" y="3174727"/>
                          <a:ext cx="11671959" cy="154660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4691777"/>
              <a:ext cx="10807700" cy="6267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(4)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不共线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5112965" y="2880047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9112184" y="3537741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0297541" y="4403366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9350201" y="5051438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70340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0166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8168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56170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863823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平面</a:t>
            </a:r>
            <a:r>
              <a:rPr lang="zh-CN" altLang="zh-CN" dirty="0"/>
              <a:t>向量线性运算的坐标表示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288429" y="1511895"/>
            <a:ext cx="11896302" cy="1482672"/>
            <a:chOff x="288429" y="1367879"/>
            <a:chExt cx="11896302" cy="1482672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288429" y="1367879"/>
              <a:ext cx="10807700" cy="6267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(1,2),b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4),c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2,6),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试求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3b,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2152623"/>
                </p:ext>
              </p:extLst>
            </p:nvPr>
          </p:nvGraphicFramePr>
          <p:xfrm>
            <a:off x="512772" y="2055874"/>
            <a:ext cx="11671959" cy="7946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0" name="文档" r:id="rId4" imgW="3826872" imgH="260550" progId="Word.Document.12">
                    <p:embed/>
                  </p:oleObj>
                </mc:Choice>
                <mc:Fallback>
                  <p:oleObj name="文档" r:id="rId4" imgW="3826872" imgH="26055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12772" y="2055874"/>
                          <a:ext cx="11671959" cy="79467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矩形 4"/>
          <p:cNvSpPr>
            <a:spLocks noChangeAspect="1"/>
          </p:cNvSpPr>
          <p:nvPr/>
        </p:nvSpPr>
        <p:spPr>
          <a:xfrm>
            <a:off x="361950" y="2983011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直接利用向量在坐标形式下的各种运算法则求解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(1,2),b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4),c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2,6),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(1,2)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3(3,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(1,2)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(9,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10),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436692"/>
              </p:ext>
            </p:extLst>
          </p:nvPr>
        </p:nvGraphicFramePr>
        <p:xfrm>
          <a:off x="432445" y="4770195"/>
          <a:ext cx="11671959" cy="7946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" name="文档" r:id="rId7" imgW="3826872" imgH="260550" progId="Word.Document.12">
                  <p:embed/>
                </p:oleObj>
              </mc:Choice>
              <mc:Fallback>
                <p:oleObj name="文档" r:id="rId7" imgW="3826872" imgH="2605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4770195"/>
                        <a:ext cx="11671959" cy="7946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61950" y="1031811"/>
            <a:ext cx="10807700" cy="4228710"/>
            <a:chOff x="361950" y="940139"/>
            <a:chExt cx="10807700" cy="4228710"/>
          </a:xfrm>
        </p:grpSpPr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361950" y="1530930"/>
              <a:ext cx="10807700" cy="363791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平面向量坐标运算的方法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:</a:t>
              </a:r>
              <a:endParaRPr lang="zh-CN" altLang="en-US" dirty="0"/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若已知向量的坐标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则直接应用两个向量加、减及数乘的运算法则进行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若已知有向线段两端点的坐标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则可先求出向量的坐标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再进行向量的坐标运算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向量的线性坐标运算可类比数的运算进行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9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53969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740445"/>
              </p:ext>
            </p:extLst>
          </p:nvPr>
        </p:nvGraphicFramePr>
        <p:xfrm>
          <a:off x="35155" y="916167"/>
          <a:ext cx="11671959" cy="1493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4" name="文档" r:id="rId4" imgW="3826872" imgH="489834" progId="Word.Document.12">
                  <p:embed/>
                </p:oleObj>
              </mc:Choice>
              <mc:Fallback>
                <p:oleObj name="文档" r:id="rId4" imgW="3826872" imgH="48983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155" y="916167"/>
                        <a:ext cx="11671959" cy="14939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2577214"/>
              </p:ext>
            </p:extLst>
          </p:nvPr>
        </p:nvGraphicFramePr>
        <p:xfrm>
          <a:off x="154245" y="2438167"/>
          <a:ext cx="11671959" cy="3179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5" name="文档" r:id="rId7" imgW="3826872" imgH="1042559" progId="Word.Document.12">
                  <p:embed/>
                </p:oleObj>
              </mc:Choice>
              <mc:Fallback>
                <p:oleObj name="文档" r:id="rId7" imgW="3826872" imgH="10425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4245" y="2438167"/>
                        <a:ext cx="11671959" cy="3179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43974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107984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平面</a:t>
            </a:r>
            <a:r>
              <a:rPr lang="zh-CN" altLang="zh-CN" dirty="0"/>
              <a:t>向量共线的坐标表示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799927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(1,2),b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3,2),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为何值时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平行时它们是同向还是反向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由向量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的坐标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求出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的坐标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由向量共线的条件列方程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从而进一步判定向量是同向还是反向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0601352"/>
              </p:ext>
            </p:extLst>
          </p:nvPr>
        </p:nvGraphicFramePr>
        <p:xfrm>
          <a:off x="425782" y="808405"/>
          <a:ext cx="11671959" cy="53643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" name="文档" r:id="rId4" imgW="3826872" imgH="1758802" progId="Word.Document.12">
                  <p:embed/>
                </p:oleObj>
              </mc:Choice>
              <mc:Fallback>
                <p:oleObj name="文档" r:id="rId4" imgW="3826872" imgH="175880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5782" y="808405"/>
                        <a:ext cx="11671959" cy="53643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33924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240864"/>
              </p:ext>
            </p:extLst>
          </p:nvPr>
        </p:nvGraphicFramePr>
        <p:xfrm>
          <a:off x="504825" y="1286039"/>
          <a:ext cx="11666538" cy="376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1" name="文档" r:id="rId4" imgW="3837724" imgH="1277514" progId="Word.Document.12">
                  <p:embed/>
                </p:oleObj>
              </mc:Choice>
              <mc:Fallback>
                <p:oleObj name="文档" r:id="rId4" imgW="3837724" imgH="127751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825" y="1286039"/>
                        <a:ext cx="11666538" cy="3763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02759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延伸探究H.eps" descr="id:2147490832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317062" y="799026"/>
            <a:ext cx="2524095" cy="460328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1303082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本例条件不变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若问题改为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为何值时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+k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又如何求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61950" y="2494147"/>
            <a:ext cx="11814462" cy="3204044"/>
            <a:chOff x="361950" y="2405096"/>
            <a:chExt cx="11814462" cy="3204044"/>
          </a:xfrm>
        </p:grpSpPr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2405096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+k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(1,2)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+k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3,2)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3(1,2)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3,2)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(6,4),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+k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1165518"/>
                </p:ext>
              </p:extLst>
            </p:nvPr>
          </p:nvGraphicFramePr>
          <p:xfrm>
            <a:off x="504453" y="4804599"/>
            <a:ext cx="11671959" cy="8045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5" name="文档" r:id="rId5" imgW="3826872" imgH="263784" progId="Word.Document.12">
                    <p:embed/>
                  </p:oleObj>
                </mc:Choice>
                <mc:Fallback>
                  <p:oleObj name="文档" r:id="rId5" imgW="3826872" imgH="26378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04453" y="4804599"/>
                          <a:ext cx="11671959" cy="80454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621383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1950" y="1449719"/>
            <a:ext cx="10807700" cy="3010196"/>
            <a:chOff x="361950" y="1572614"/>
            <a:chExt cx="10807700" cy="3010196"/>
          </a:xfrm>
        </p:grpSpPr>
        <p:pic>
          <p:nvPicPr>
            <p:cNvPr id="10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572614"/>
              <a:ext cx="2259558" cy="531552"/>
            </a:xfrm>
            <a:prstGeom prst="rect">
              <a:avLst/>
            </a:prstGeom>
          </p:spPr>
        </p:pic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2159967"/>
              <a:ext cx="10807700" cy="242284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根据向量共线的条件求参数值的问题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一般有两种处理思路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一是利用向量共线定理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λ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λ</a:t>
              </a:r>
              <a:r>
                <a:rPr lang="zh-CN" altLang="zh-CN" dirty="0">
                  <a:solidFill>
                    <a:srgbClr val="000000"/>
                  </a:solidFill>
                  <a:latin typeface="NEU-BZ-S92" panose="02020503000000020003" pitchFamily="18" charset="-122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R,b≠0)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列方程组求解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二是利用向量共线的坐标表达式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直接求解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其中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 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)(b≠0)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 panose="02020503000000020003" pitchFamily="18" charset="-122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035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5248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探究三 </a:t>
            </a:r>
            <a:r>
              <a:rPr lang="en-US" altLang="zh-CN" dirty="0" smtClean="0"/>
              <a:t>  </a:t>
            </a:r>
            <a:r>
              <a:rPr lang="zh-CN" altLang="zh-CN" dirty="0" smtClean="0"/>
              <a:t>判定</a:t>
            </a:r>
            <a:r>
              <a:rPr lang="zh-CN" altLang="zh-CN" dirty="0"/>
              <a:t>直线平行、三点共线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5978202"/>
              </p:ext>
            </p:extLst>
          </p:nvPr>
        </p:nvGraphicFramePr>
        <p:xfrm>
          <a:off x="154245" y="1462735"/>
          <a:ext cx="11671959" cy="255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0" name="文档" r:id="rId4" imgW="3826872" imgH="838791" progId="Word.Document.12">
                  <p:embed/>
                </p:oleObj>
              </mc:Choice>
              <mc:Fallback>
                <p:oleObj name="文档" r:id="rId4" imgW="3826872" imgH="83879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4245" y="1462735"/>
                        <a:ext cx="11671959" cy="255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0946873"/>
              </p:ext>
            </p:extLst>
          </p:nvPr>
        </p:nvGraphicFramePr>
        <p:xfrm>
          <a:off x="150071" y="3999047"/>
          <a:ext cx="11671959" cy="196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1" name="文档" r:id="rId7" imgW="3837724" imgH="647231" progId="Word.Document.12">
                  <p:embed/>
                </p:oleObj>
              </mc:Choice>
              <mc:Fallback>
                <p:oleObj name="文档" r:id="rId7" imgW="3837724" imgH="6472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0071" y="3999047"/>
                        <a:ext cx="11671959" cy="1967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2804086"/>
              </p:ext>
            </p:extLst>
          </p:nvPr>
        </p:nvGraphicFramePr>
        <p:xfrm>
          <a:off x="504453" y="863823"/>
          <a:ext cx="11671959" cy="506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3" name="文档" r:id="rId4" imgW="3837724" imgH="1666934" progId="Word.Document.12">
                  <p:embed/>
                </p:oleObj>
              </mc:Choice>
              <mc:Fallback>
                <p:oleObj name="文档" r:id="rId4" imgW="3837724" imgH="166693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863823"/>
                        <a:ext cx="11671959" cy="5067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4043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4385713"/>
              </p:ext>
            </p:extLst>
          </p:nvPr>
        </p:nvGraphicFramePr>
        <p:xfrm>
          <a:off x="504825" y="1380185"/>
          <a:ext cx="11666538" cy="325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7" name="文档" r:id="rId4" imgW="3837724" imgH="1075232" progId="Word.Document.12">
                  <p:embed/>
                </p:oleObj>
              </mc:Choice>
              <mc:Fallback>
                <p:oleObj name="文档" r:id="rId4" imgW="3837724" imgH="107523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825" y="1380185"/>
                        <a:ext cx="11666538" cy="3257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36756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416550"/>
            <a:ext cx="10807700" cy="3005161"/>
            <a:chOff x="361950" y="1228171"/>
            <a:chExt cx="10807700" cy="3005161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833829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三点共线问题的实质是向量共线问题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利用向量共线证明三点共线需分两步完成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证明向量共线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证明两个向量有公共点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en-US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.A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三点共线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即由这三个点组成的任意两个向量共线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228171"/>
              <a:ext cx="2259558" cy="531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27074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994781"/>
            <a:ext cx="10807700" cy="4228850"/>
            <a:chOff x="361950" y="975117"/>
            <a:chExt cx="10807700" cy="4228850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975117"/>
              <a:ext cx="10807700" cy="422885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如图所示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已知直角梯形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AD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AB=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AD=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过点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作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CE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于点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CE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的中点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试建立适当的坐标系并用向量的方法证明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DE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三点共线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6" name="YMG2TRA117.eps" descr="id:2147498083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256981" y="2833087"/>
              <a:ext cx="3146578" cy="19844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60625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61950" y="700143"/>
            <a:ext cx="11781782" cy="5569289"/>
            <a:chOff x="361950" y="700143"/>
            <a:chExt cx="11781782" cy="5569289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700143"/>
              <a:ext cx="10807700" cy="12741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证明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为原点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所在直线为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EC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所在直线为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轴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建立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直角坐标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2046667"/>
                </p:ext>
              </p:extLst>
            </p:nvPr>
          </p:nvGraphicFramePr>
          <p:xfrm>
            <a:off x="442277" y="1917784"/>
            <a:ext cx="11671959" cy="6554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1" name="文档" r:id="rId4" imgW="3826872" imgH="214909" progId="Word.Document.12">
                    <p:embed/>
                  </p:oleObj>
                </mc:Choice>
                <mc:Fallback>
                  <p:oleObj name="文档" r:id="rId4" imgW="3826872" imgH="21490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42277" y="1917784"/>
                          <a:ext cx="11671959" cy="65547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2563979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由题意得四边形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AECD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是边长为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的正方形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可得各点坐标分别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为</a:t>
              </a:r>
              <a:endParaRPr lang="en-US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(0,0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(1,0),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(0,1),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1,1),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1,0)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</p:txBody>
        </p:sp>
        <p:pic>
          <p:nvPicPr>
            <p:cNvPr id="8" name="YMG2TRA118.eps" descr="id:2147498090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8137301" y="1362776"/>
              <a:ext cx="3096344" cy="2381367"/>
            </a:xfrm>
            <a:prstGeom prst="rect">
              <a:avLst/>
            </a:prstGeom>
          </p:spPr>
        </p:pic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3058279"/>
                </p:ext>
              </p:extLst>
            </p:nvPr>
          </p:nvGraphicFramePr>
          <p:xfrm>
            <a:off x="471773" y="4340286"/>
            <a:ext cx="11671959" cy="19291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2" name="文档" r:id="rId8" imgW="3826872" imgH="632507" progId="Word.Document.12">
                    <p:embed/>
                  </p:oleObj>
                </mc:Choice>
                <mc:Fallback>
                  <p:oleObj name="文档" r:id="rId8" imgW="3826872" imgH="63250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71773" y="4340286"/>
                          <a:ext cx="11671959" cy="192914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631419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6823215"/>
              </p:ext>
            </p:extLst>
          </p:nvPr>
        </p:nvGraphicFramePr>
        <p:xfrm>
          <a:off x="504453" y="935831"/>
          <a:ext cx="11671959" cy="4911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4" name="文档" r:id="rId4" imgW="3826872" imgH="1610378" progId="Word.Document.12">
                  <p:embed/>
                </p:oleObj>
              </mc:Choice>
              <mc:Fallback>
                <p:oleObj name="文档" r:id="rId4" imgW="3826872" imgH="16103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935831"/>
                        <a:ext cx="11671959" cy="49116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5686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思  想  方  法</a:t>
            </a:r>
            <a:endParaRPr lang="zh-CN" altLang="zh-CN" sz="66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4779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【典例】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(4,0),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(4,4),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(2,6),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的交点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的坐标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YMG2TRA119.eps" descr="id:2147498104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176861" y="1883729"/>
            <a:ext cx="2448272" cy="2691491"/>
          </a:xfrm>
          <a:prstGeom prst="rect">
            <a:avLst/>
          </a:prstGeom>
        </p:spPr>
      </p:pic>
      <p:sp>
        <p:nvSpPr>
          <p:cNvPr id="4" name="矩形 3"/>
          <p:cNvSpPr>
            <a:spLocks noChangeAspect="1"/>
          </p:cNvSpPr>
          <p:nvPr/>
        </p:nvSpPr>
        <p:spPr>
          <a:xfrm>
            <a:off x="361950" y="4557355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审题视角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OB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相交于点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则必有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O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三点共线和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三点共线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;(2)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先根据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O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三点共线可得到点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坐标应满足的关系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再根据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三点共线即可求得点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的坐标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2526478"/>
              </p:ext>
            </p:extLst>
          </p:nvPr>
        </p:nvGraphicFramePr>
        <p:xfrm>
          <a:off x="576461" y="1017671"/>
          <a:ext cx="11671959" cy="4610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8" name="文档" r:id="rId4" imgW="3837724" imgH="1513690" progId="Word.Document.12">
                  <p:embed/>
                </p:oleObj>
              </mc:Choice>
              <mc:Fallback>
                <p:oleObj name="文档" r:id="rId4" imgW="3837724" imgH="151369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1017671"/>
                        <a:ext cx="11671959" cy="46102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554539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836684"/>
              </p:ext>
            </p:extLst>
          </p:nvPr>
        </p:nvGraphicFramePr>
        <p:xfrm>
          <a:off x="576461" y="1060183"/>
          <a:ext cx="11671959" cy="4594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2" name="文档" r:id="rId4" imgW="3826872" imgH="1506518" progId="Word.Document.12">
                  <p:embed/>
                </p:oleObj>
              </mc:Choice>
              <mc:Fallback>
                <p:oleObj name="文档" r:id="rId4" imgW="3826872" imgH="150651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1060183"/>
                        <a:ext cx="11671959" cy="45948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175196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531559"/>
            <a:ext cx="10807700" cy="2994840"/>
            <a:chOff x="361950" y="1511895"/>
            <a:chExt cx="10807700" cy="2994840"/>
          </a:xfrm>
        </p:grpSpPr>
        <p:pic>
          <p:nvPicPr>
            <p:cNvPr id="3" name="方法点睛H.eps" descr="id:2147497350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511895"/>
              <a:ext cx="2259558" cy="531552"/>
            </a:xfrm>
            <a:prstGeom prst="rect">
              <a:avLst/>
            </a:prstGeom>
          </p:spPr>
        </p:pic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2107232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应用向量共线的坐标表示求解几何问题的步骤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首先分析题意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将题目中有关的点坐标化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线段向量化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然后利用题目条件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寻找向量关系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列出方程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求出有关变量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最后回归到几何问题中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249432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0285406"/>
              </p:ext>
            </p:extLst>
          </p:nvPr>
        </p:nvGraphicFramePr>
        <p:xfrm>
          <a:off x="432445" y="784034"/>
          <a:ext cx="11671959" cy="1493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6" name="文档" r:id="rId4" imgW="3826872" imgH="489834" progId="Word.Document.12">
                  <p:embed/>
                </p:oleObj>
              </mc:Choice>
              <mc:Fallback>
                <p:oleObj name="文档" r:id="rId4" imgW="3826872" imgH="48983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784034"/>
                        <a:ext cx="11671959" cy="14939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2408276"/>
              </p:ext>
            </p:extLst>
          </p:nvPr>
        </p:nvGraphicFramePr>
        <p:xfrm>
          <a:off x="432444" y="2287860"/>
          <a:ext cx="11671959" cy="3727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7" name="文档" r:id="rId7" imgW="3826872" imgH="1222249" progId="Word.Document.12">
                  <p:embed/>
                </p:oleObj>
              </mc:Choice>
              <mc:Fallback>
                <p:oleObj name="文档" r:id="rId7" imgW="3826872" imgH="12222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4" y="2287860"/>
                        <a:ext cx="11671959" cy="37278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373453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4770654"/>
              </p:ext>
            </p:extLst>
          </p:nvPr>
        </p:nvGraphicFramePr>
        <p:xfrm>
          <a:off x="432445" y="605381"/>
          <a:ext cx="11671959" cy="5855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0" name="文档" r:id="rId4" imgW="3826872" imgH="1919804" progId="Word.Document.12">
                  <p:embed/>
                </p:oleObj>
              </mc:Choice>
              <mc:Fallback>
                <p:oleObj name="文档" r:id="rId4" imgW="3826872" imgH="191980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605381"/>
                        <a:ext cx="11671959" cy="58554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140902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668271"/>
              </p:ext>
            </p:extLst>
          </p:nvPr>
        </p:nvGraphicFramePr>
        <p:xfrm>
          <a:off x="432445" y="1205193"/>
          <a:ext cx="11705058" cy="1665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4" name="文档" r:id="rId4" imgW="3837724" imgH="545909" progId="Word.Document.12">
                  <p:embed/>
                </p:oleObj>
              </mc:Choice>
              <mc:Fallback>
                <p:oleObj name="文档" r:id="rId4" imgW="3837724" imgH="5459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205193"/>
                        <a:ext cx="11705058" cy="16650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5152413"/>
              </p:ext>
            </p:extLst>
          </p:nvPr>
        </p:nvGraphicFramePr>
        <p:xfrm>
          <a:off x="412781" y="2931863"/>
          <a:ext cx="11705058" cy="1306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5" name="文档" r:id="rId7" imgW="3837724" imgH="428362" progId="Word.Document.12">
                  <p:embed/>
                </p:oleObj>
              </mc:Choice>
              <mc:Fallback>
                <p:oleObj name="文档" r:id="rId7" imgW="3837724" imgH="42836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2781" y="2931863"/>
                        <a:ext cx="11705058" cy="13065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17925" y="4218703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655911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3,3),b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共线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等于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	B.3	C.1	D.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共线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25786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3701894"/>
              </p:ext>
            </p:extLst>
          </p:nvPr>
        </p:nvGraphicFramePr>
        <p:xfrm>
          <a:off x="360437" y="647799"/>
          <a:ext cx="11671959" cy="26558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2" name="文档" r:id="rId4" imgW="3826872" imgH="870776" progId="Word.Document.12">
                  <p:embed/>
                </p:oleObj>
              </mc:Choice>
              <mc:Fallback>
                <p:oleObj name="文档" r:id="rId4" imgW="3826872" imgH="87077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647799"/>
                        <a:ext cx="11671959" cy="26558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0230969"/>
              </p:ext>
            </p:extLst>
          </p:nvPr>
        </p:nvGraphicFramePr>
        <p:xfrm>
          <a:off x="360436" y="3259751"/>
          <a:ext cx="11671959" cy="25352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3" name="文档" r:id="rId7" imgW="3826872" imgH="831244" progId="Word.Document.12">
                  <p:embed/>
                </p:oleObj>
              </mc:Choice>
              <mc:Fallback>
                <p:oleObj name="文档" r:id="rId7" imgW="3826872" imgH="8312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0436" y="3259751"/>
                        <a:ext cx="11671959" cy="25352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60435" y="5725175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1237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22359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(1,2),b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(1,0),c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(3,4),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为实数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(1,2)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(1,0)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,2),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c,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3254196"/>
              </p:ext>
            </p:extLst>
          </p:nvPr>
        </p:nvGraphicFramePr>
        <p:xfrm>
          <a:off x="425782" y="3497068"/>
          <a:ext cx="11671959" cy="802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6" name="文档" r:id="rId4" imgW="3826872" imgH="263066" progId="Word.Document.12">
                  <p:embed/>
                </p:oleObj>
              </mc:Choice>
              <mc:Fallback>
                <p:oleObj name="文档" r:id="rId4" imgW="3826872" imgH="26306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5782" y="3497068"/>
                        <a:ext cx="11671959" cy="8023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6615583"/>
              </p:ext>
            </p:extLst>
          </p:nvPr>
        </p:nvGraphicFramePr>
        <p:xfrm>
          <a:off x="425782" y="4267863"/>
          <a:ext cx="11671959" cy="802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7" name="文档" r:id="rId7" imgW="3826872" imgH="263066" progId="Word.Document.12">
                  <p:embed/>
                </p:oleObj>
              </mc:Choice>
              <mc:Fallback>
                <p:oleObj name="文档" r:id="rId7" imgW="3826872" imgH="26306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5782" y="4267863"/>
                        <a:ext cx="11671959" cy="8023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685907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3965235"/>
              </p:ext>
            </p:extLst>
          </p:nvPr>
        </p:nvGraphicFramePr>
        <p:xfrm>
          <a:off x="432445" y="821311"/>
          <a:ext cx="10640962" cy="1220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0" name="文档" r:id="rId4" imgW="3837724" imgH="440261" progId="Word.Document.12">
                  <p:embed/>
                </p:oleObj>
              </mc:Choice>
              <mc:Fallback>
                <p:oleObj name="文档" r:id="rId4" imgW="3837724" imgH="44026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821311"/>
                        <a:ext cx="10640962" cy="12207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6685599"/>
              </p:ext>
            </p:extLst>
          </p:nvPr>
        </p:nvGraphicFramePr>
        <p:xfrm>
          <a:off x="430596" y="2107623"/>
          <a:ext cx="11705058" cy="35466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1" name="文档" r:id="rId7" imgW="3837724" imgH="1162852" progId="Word.Document.12">
                  <p:embed/>
                </p:oleObj>
              </mc:Choice>
              <mc:Fallback>
                <p:oleObj name="文档" r:id="rId7" imgW="3837724" imgH="116285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0596" y="2107623"/>
                        <a:ext cx="11705058" cy="35466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589144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64</TotalTime>
  <Words>1093</Words>
  <Application>Microsoft Office PowerPoint</Application>
  <PresentationFormat>自定义</PresentationFormat>
  <Paragraphs>85</Paragraphs>
  <Slides>39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6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24</cp:revision>
  <dcterms:created xsi:type="dcterms:W3CDTF">2020-09-12T05:36:12Z</dcterms:created>
  <dcterms:modified xsi:type="dcterms:W3CDTF">2025-09-04T05:23:51Z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