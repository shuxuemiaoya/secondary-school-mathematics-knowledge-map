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37" r:id="rId17"/>
    <p:sldId id="750" r:id="rId18"/>
    <p:sldId id="765" r:id="rId19"/>
    <p:sldId id="766" r:id="rId20"/>
    <p:sldId id="767" r:id="rId21"/>
    <p:sldId id="754" r:id="rId22"/>
    <p:sldId id="768" r:id="rId23"/>
    <p:sldId id="769" r:id="rId24"/>
    <p:sldId id="770" r:id="rId25"/>
    <p:sldId id="783" r:id="rId26"/>
    <p:sldId id="784" r:id="rId27"/>
    <p:sldId id="755" r:id="rId28"/>
    <p:sldId id="773" r:id="rId29"/>
    <p:sldId id="774" r:id="rId30"/>
    <p:sldId id="785" r:id="rId31"/>
    <p:sldId id="747" r:id="rId32"/>
    <p:sldId id="751" r:id="rId33"/>
    <p:sldId id="777" r:id="rId34"/>
    <p:sldId id="778" r:id="rId35"/>
    <p:sldId id="776" r:id="rId36"/>
    <p:sldId id="779" r:id="rId37"/>
    <p:sldId id="748" r:id="rId38"/>
    <p:sldId id="752" r:id="rId39"/>
    <p:sldId id="780" r:id="rId40"/>
    <p:sldId id="781" r:id="rId41"/>
    <p:sldId id="782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1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jpeg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emf"/><Relationship Id="rId5" Type="http://schemas.openxmlformats.org/officeDocument/2006/relationships/image" Target="../media/image9.emf"/><Relationship Id="rId10" Type="http://schemas.openxmlformats.org/officeDocument/2006/relationships/package" Target="../embeddings/Microsoft_Word___7.docx"/><Relationship Id="rId4" Type="http://schemas.openxmlformats.org/officeDocument/2006/relationships/package" Target="../embeddings/Microsoft_Word___5.docx"/><Relationship Id="rId9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0.emf"/><Relationship Id="rId5" Type="http://schemas.openxmlformats.org/officeDocument/2006/relationships/image" Target="../media/image18.emf"/><Relationship Id="rId10" Type="http://schemas.openxmlformats.org/officeDocument/2006/relationships/package" Target="../embeddings/Microsoft_Word___15.docx"/><Relationship Id="rId4" Type="http://schemas.openxmlformats.org/officeDocument/2006/relationships/package" Target="../embeddings/Microsoft_Word___13.docx"/><Relationship Id="rId9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9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0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1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2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3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4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6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7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9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0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2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4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6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901849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余弦定理、正弦定理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正弦定理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87542"/>
            <a:ext cx="10729192" cy="3456385"/>
            <a:chOff x="360437" y="1387542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87542"/>
              <a:ext cx="10729192" cy="3456385"/>
              <a:chOff x="360437" y="1918784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18784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57082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45797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能用向量方法发现和证明正弦定理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掌握正弦定理及其变形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能够利用正弦定理解三角形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并会判断三角形的形状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2142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一、正弦定理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你能用余弦定理求出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899990"/>
              </p:ext>
            </p:extLst>
          </p:nvPr>
        </p:nvGraphicFramePr>
        <p:xfrm>
          <a:off x="360437" y="841933"/>
          <a:ext cx="11671959" cy="262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3826872" imgH="862151" progId="Word.Document.12">
                  <p:embed/>
                </p:oleObj>
              </mc:Choice>
              <mc:Fallback>
                <p:oleObj name="文档" r:id="rId4" imgW="3826872" imgH="8621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41933"/>
                        <a:ext cx="11671959" cy="2629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216101"/>
              </p:ext>
            </p:extLst>
          </p:nvPr>
        </p:nvGraphicFramePr>
        <p:xfrm>
          <a:off x="360437" y="3471494"/>
          <a:ext cx="11671959" cy="2321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文档" r:id="rId7" imgW="3837724" imgH="763696" progId="Word.Document.12">
                  <p:embed/>
                </p:oleObj>
              </mc:Choice>
              <mc:Fallback>
                <p:oleObj name="文档" r:id="rId7" imgW="3837724" imgH="763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471494"/>
                        <a:ext cx="11671959" cy="2321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12714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420768"/>
              </p:ext>
            </p:extLst>
          </p:nvPr>
        </p:nvGraphicFramePr>
        <p:xfrm>
          <a:off x="360437" y="1007839"/>
          <a:ext cx="11671959" cy="4394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3826872" imgH="1440751" progId="Word.Document.12">
                  <p:embed/>
                </p:oleObj>
              </mc:Choice>
              <mc:Fallback>
                <p:oleObj name="文档" r:id="rId4" imgW="3826872" imgH="14407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07839"/>
                        <a:ext cx="11671959" cy="4394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VMG2TRA22.eps" descr="id:214749862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5977061" y="1710059"/>
            <a:ext cx="3240360" cy="26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335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15159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是一般的锐角三角形或钝角三角形时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中的结论是否成立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你能利用向量方法研究锐角三角形中的这个边角关系吗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7884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922711"/>
              </p:ext>
            </p:extLst>
          </p:nvPr>
        </p:nvGraphicFramePr>
        <p:xfrm>
          <a:off x="288430" y="637967"/>
          <a:ext cx="11449272" cy="577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文档" r:id="rId4" imgW="3826872" imgH="1930585" progId="Word.Document.12">
                  <p:embed/>
                </p:oleObj>
              </mc:Choice>
              <mc:Fallback>
                <p:oleObj name="文档" r:id="rId4" imgW="3826872" imgH="19305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30" y="637967"/>
                        <a:ext cx="11449272" cy="57759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VMG2TRA23.eps" descr="id:214749862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425333" y="2015951"/>
            <a:ext cx="2952726" cy="155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804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9303"/>
            <a:ext cx="224292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993651"/>
              </p:ext>
            </p:extLst>
          </p:nvPr>
        </p:nvGraphicFramePr>
        <p:xfrm>
          <a:off x="-179217" y="1370884"/>
          <a:ext cx="11844910" cy="3521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文档" r:id="rId4" imgW="3894589" imgH="1156001" progId="Word.Document.12">
                  <p:embed/>
                </p:oleObj>
              </mc:Choice>
              <mc:Fallback>
                <p:oleObj name="文档" r:id="rId4" imgW="3894589" imgH="11560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9217" y="1370884"/>
                        <a:ext cx="11844910" cy="3521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09665"/>
              </p:ext>
            </p:extLst>
          </p:nvPr>
        </p:nvGraphicFramePr>
        <p:xfrm>
          <a:off x="355600" y="4119563"/>
          <a:ext cx="116601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4119563"/>
                        <a:ext cx="11660188" cy="79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562712"/>
              </p:ext>
            </p:extLst>
          </p:nvPr>
        </p:nvGraphicFramePr>
        <p:xfrm>
          <a:off x="360437" y="4903482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文档" r:id="rId10" imgW="3826872" imgH="263784" progId="Word.Document.12">
                  <p:embed/>
                </p:oleObj>
              </mc:Choice>
              <mc:Fallback>
                <p:oleObj name="文档" r:id="rId10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0437" y="4903482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7783026" y="1510817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43238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223863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二、与正弦定理有关的结论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在正弦定理中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三角形的各边与其所对角的正弦的比都相等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这个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比值等于多少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与该三角形外接圆的直径有什么关系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311474"/>
              </p:ext>
            </p:extLst>
          </p:nvPr>
        </p:nvGraphicFramePr>
        <p:xfrm>
          <a:off x="422613" y="3168349"/>
          <a:ext cx="11671959" cy="1557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文档" r:id="rId4" imgW="3826872" imgH="510678" progId="Word.Document.12">
                  <p:embed/>
                </p:oleObj>
              </mc:Choice>
              <mc:Fallback>
                <p:oleObj name="文档" r:id="rId4" imgW="3826872" imgH="510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3168349"/>
                        <a:ext cx="11671959" cy="1557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39673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795532"/>
              </p:ext>
            </p:extLst>
          </p:nvPr>
        </p:nvGraphicFramePr>
        <p:xfrm>
          <a:off x="298261" y="1076888"/>
          <a:ext cx="11671959" cy="416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文档" r:id="rId4" imgW="3837724" imgH="1371624" progId="Word.Document.12">
                  <p:embed/>
                </p:oleObj>
              </mc:Choice>
              <mc:Fallback>
                <p:oleObj name="文档" r:id="rId4" imgW="3837724" imgH="13716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261" y="1076888"/>
                        <a:ext cx="11671959" cy="4169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286761" y="3221869"/>
            <a:ext cx="14499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82133" y="3685967"/>
            <a:ext cx="1448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342719" y="3221869"/>
            <a:ext cx="14499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338091" y="3685967"/>
            <a:ext cx="1448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398677" y="3221869"/>
            <a:ext cx="14499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394049" y="3685967"/>
            <a:ext cx="1448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448669" y="4619221"/>
            <a:ext cx="352839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444041" y="5083319"/>
            <a:ext cx="35244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24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724709"/>
              </p:ext>
            </p:extLst>
          </p:nvPr>
        </p:nvGraphicFramePr>
        <p:xfrm>
          <a:off x="504453" y="801647"/>
          <a:ext cx="11671959" cy="3020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文档" r:id="rId4" imgW="3826872" imgH="991887" progId="Word.Document.12">
                  <p:embed/>
                </p:oleObj>
              </mc:Choice>
              <mc:Fallback>
                <p:oleObj name="文档" r:id="rId4" imgW="3826872" imgH="9918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01647"/>
                        <a:ext cx="11671959" cy="30208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87776"/>
              </p:ext>
            </p:extLst>
          </p:nvPr>
        </p:nvGraphicFramePr>
        <p:xfrm>
          <a:off x="504453" y="3811022"/>
          <a:ext cx="11671959" cy="1550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文档" r:id="rId7" imgW="3826872" imgH="508522" progId="Word.Document.12">
                  <p:embed/>
                </p:oleObj>
              </mc:Choice>
              <mc:Fallback>
                <p:oleObj name="文档" r:id="rId7" imgW="3826872" imgH="5085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811022"/>
                        <a:ext cx="11671959" cy="1550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70269" y="5374967"/>
            <a:ext cx="309411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2)3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347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已知三角形的两边及其中一边的对角解三角形时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只能用余弦定理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不能用正弦定理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53325" y="2758748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849269" y="3324054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949298" y="3911269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429018" y="511574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480381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1493691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已知</a:t>
            </a:r>
            <a:r>
              <a:rPr lang="zh-CN" altLang="zh-CN" dirty="0"/>
              <a:t>两角和一边解三角形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22360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先根据三角形的内角和定理求出角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再由正弦定理求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585623"/>
            <a:ext cx="10871695" cy="5846573"/>
            <a:chOff x="361950" y="585623"/>
            <a:chExt cx="10871695" cy="584657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85623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180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180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sin(45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628250"/>
                </p:ext>
              </p:extLst>
            </p:nvPr>
          </p:nvGraphicFramePr>
          <p:xfrm>
            <a:off x="442904" y="2457831"/>
            <a:ext cx="10790741" cy="3974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文档" r:id="rId4" imgW="3826872" imgH="1409485" progId="Word.Document.12">
                    <p:embed/>
                  </p:oleObj>
                </mc:Choice>
                <mc:Fallback>
                  <p:oleObj name="文档" r:id="rId4" imgW="3826872" imgH="14094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904" y="2457831"/>
                          <a:ext cx="10790741" cy="39743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75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2093491"/>
            <a:ext cx="10807700" cy="1866676"/>
            <a:chOff x="361950" y="1583903"/>
            <a:chExt cx="10807700" cy="1866676"/>
          </a:xfrm>
        </p:grpSpPr>
        <p:pic>
          <p:nvPicPr>
            <p:cNvPr id="7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8390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176384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当已知三角形的两角和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一边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解三角形的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利用三角形内角和定理求出第三个角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利用正弦定理求出另外两边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614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776741"/>
              </p:ext>
            </p:extLst>
          </p:nvPr>
        </p:nvGraphicFramePr>
        <p:xfrm>
          <a:off x="288429" y="595455"/>
          <a:ext cx="11671959" cy="1490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文档" r:id="rId4" imgW="3826872" imgH="488756" progId="Word.Document.12">
                  <p:embed/>
                </p:oleObj>
              </mc:Choice>
              <mc:Fallback>
                <p:oleObj name="文档" r:id="rId4" imgW="3826872" imgH="488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595455"/>
                        <a:ext cx="11671959" cy="1490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70724"/>
              </p:ext>
            </p:extLst>
          </p:nvPr>
        </p:nvGraphicFramePr>
        <p:xfrm>
          <a:off x="288429" y="2019326"/>
          <a:ext cx="11671959" cy="4451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文档" r:id="rId7" imgW="3826872" imgH="1459439" progId="Word.Document.12">
                  <p:embed/>
                </p:oleObj>
              </mc:Choice>
              <mc:Fallback>
                <p:oleObj name="文档" r:id="rId7" imgW="3826872" imgH="14594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9" y="2019326"/>
                        <a:ext cx="11671959" cy="4451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231853"/>
              </p:ext>
            </p:extLst>
          </p:nvPr>
        </p:nvGraphicFramePr>
        <p:xfrm>
          <a:off x="9505453" y="5256311"/>
          <a:ext cx="11671959" cy="85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文档" r:id="rId10" imgW="3826872" imgH="280316" progId="Word.Document.12">
                  <p:embed/>
                </p:oleObj>
              </mc:Choice>
              <mc:Fallback>
                <p:oleObj name="文档" r:id="rId10" imgW="3826872" imgH="280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05453" y="5256311"/>
                        <a:ext cx="11671959" cy="854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440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1583903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已知</a:t>
            </a:r>
            <a:r>
              <a:rPr lang="zh-CN" altLang="zh-CN" dirty="0"/>
              <a:t>两边和其中一边的对角解三角形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628113"/>
              </p:ext>
            </p:extLst>
          </p:nvPr>
        </p:nvGraphicFramePr>
        <p:xfrm>
          <a:off x="432445" y="2360703"/>
          <a:ext cx="11671959" cy="188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文档" r:id="rId4" imgW="3826872" imgH="618851" progId="Word.Document.12">
                  <p:embed/>
                </p:oleObj>
              </mc:Choice>
              <mc:Fallback>
                <p:oleObj name="文档" r:id="rId4" imgW="3826872" imgH="6188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60703"/>
                        <a:ext cx="11671959" cy="1887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072919"/>
              </p:ext>
            </p:extLst>
          </p:nvPr>
        </p:nvGraphicFramePr>
        <p:xfrm>
          <a:off x="504453" y="637967"/>
          <a:ext cx="11705058" cy="5741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文档" r:id="rId4" imgW="3837724" imgH="1882558" progId="Word.Document.12">
                  <p:embed/>
                </p:oleObj>
              </mc:Choice>
              <mc:Fallback>
                <p:oleObj name="文档" r:id="rId4" imgW="3837724" imgH="18825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37967"/>
                        <a:ext cx="11705058" cy="5741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91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317252"/>
              </p:ext>
            </p:extLst>
          </p:nvPr>
        </p:nvGraphicFramePr>
        <p:xfrm>
          <a:off x="504453" y="935831"/>
          <a:ext cx="11705058" cy="481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文档" r:id="rId4" imgW="3837724" imgH="1577873" progId="Word.Document.12">
                  <p:embed/>
                </p:oleObj>
              </mc:Choice>
              <mc:Fallback>
                <p:oleObj name="文档" r:id="rId4" imgW="3837724" imgH="15778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35831"/>
                        <a:ext cx="11705058" cy="4812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706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47094"/>
            <a:ext cx="10807700" cy="2429097"/>
            <a:chOff x="361950" y="1300179"/>
            <a:chExt cx="10807700" cy="2429097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30017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920704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已知三角形的两边和其中一边的对角解三角形时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可能出现一解、两解或无解的情况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应结合图形并根据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三角形中大边对大角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来判断解的情况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作出正确取舍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019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10843" y="1233099"/>
          <a:ext cx="10640962" cy="3663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文档" r:id="rId4" imgW="3837724" imgH="1341696" progId="Word.Document.12">
                  <p:embed/>
                </p:oleObj>
              </mc:Choice>
              <mc:Fallback>
                <p:oleObj name="文档" r:id="rId4" imgW="3837724" imgH="1341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0843" y="1233099"/>
                        <a:ext cx="10640962" cy="3663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367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52109" y="984150"/>
          <a:ext cx="10640962" cy="3398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文档" r:id="rId4" imgW="3837724" imgH="1225592" progId="Word.Document.12">
                  <p:embed/>
                </p:oleObj>
              </mc:Choice>
              <mc:Fallback>
                <p:oleObj name="文档" r:id="rId4" imgW="3837724" imgH="1225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984150"/>
                        <a:ext cx="10640962" cy="3398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403745"/>
            <a:ext cx="320792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0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 </a:t>
            </a:r>
            <a:r>
              <a:rPr lang="zh-CN" altLang="zh-CN" dirty="0"/>
              <a:t>判断三角形的形状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的对边分别为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试判定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554496"/>
            <a:ext cx="16052774" cy="3637919"/>
            <a:chOff x="361950" y="2437300"/>
            <a:chExt cx="16052774" cy="363791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43730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latin typeface="+mn-lt"/>
                  <a:cs typeface="Times New Roman" panose="02020603050405020304" pitchFamily="18" charset="0"/>
                </a:rPr>
                <a:t>解法一</a:t>
              </a:r>
              <a:r>
                <a:rPr lang="en-US" altLang="zh-CN" dirty="0" smtClean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从角的关系判断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根据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正弦定理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C+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为直角三角形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838986"/>
                </p:ext>
              </p:extLst>
            </p:nvPr>
          </p:nvGraphicFramePr>
          <p:xfrm>
            <a:off x="4742765" y="4844583"/>
            <a:ext cx="11671959" cy="642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4" name="文档" r:id="rId4" imgW="3826872" imgH="210596" progId="Word.Document.12">
                    <p:embed/>
                  </p:oleObj>
                </mc:Choice>
                <mc:Fallback>
                  <p:oleObj name="文档" r:id="rId4" imgW="3826872" imgH="2105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42765" y="4844583"/>
                          <a:ext cx="11671959" cy="6423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1348215"/>
            <a:ext cx="11672888" cy="3282872"/>
            <a:chOff x="361950" y="1367879"/>
            <a:chExt cx="11672888" cy="328287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36787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解法二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从边的关系判断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8883741"/>
                </p:ext>
              </p:extLst>
            </p:nvPr>
          </p:nvGraphicFramePr>
          <p:xfrm>
            <a:off x="388938" y="2573952"/>
            <a:ext cx="116459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8" name="文档" r:id="rId4" imgW="3837724" imgH="280887" progId="Word.Document.12">
                    <p:embed/>
                  </p:oleObj>
                </mc:Choice>
                <mc:Fallback>
                  <p:oleObj name="文档" r:id="rId4" imgW="3837724" imgH="2808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8938" y="2573952"/>
                          <a:ext cx="11645900" cy="8397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343311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化简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+c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为直角三角形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105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02315"/>
            <a:ext cx="10807700" cy="4228710"/>
            <a:chOff x="361950" y="940139"/>
            <a:chExt cx="10807700" cy="4228710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3093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判断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形状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应围绕三角形的边角关系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利用正弦定理或余弦定理进行边角互化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要么把角转化为边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通过代数变形找出边之间的关系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要么把边转化为角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通过三角变换找出角之间的关系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当然也可以边角同时考虑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在解题中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若出现关于边的齐次式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或关于角的正弦的齐次式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则可通过正弦定理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进行边角互化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4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178172" y="69695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试判断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97200"/>
              </p:ext>
            </p:extLst>
          </p:nvPr>
        </p:nvGraphicFramePr>
        <p:xfrm>
          <a:off x="248667" y="1914600"/>
          <a:ext cx="11705058" cy="4114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文档" r:id="rId4" imgW="3837724" imgH="1348908" progId="Word.Document.12">
                  <p:embed/>
                </p:oleObj>
              </mc:Choice>
              <mc:Fallback>
                <p:oleObj name="文档" r:id="rId4" imgW="3837724" imgH="13489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667" y="1914600"/>
                        <a:ext cx="11705058" cy="4114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2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617319"/>
            <a:ext cx="10807700" cy="6245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忽视对三角形解的个数的讨论致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756129"/>
              </p:ext>
            </p:extLst>
          </p:nvPr>
        </p:nvGraphicFramePr>
        <p:xfrm>
          <a:off x="216421" y="1275551"/>
          <a:ext cx="11705058" cy="1340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文档" r:id="rId4" imgW="3837724" imgH="439540" progId="Word.Document.12">
                  <p:embed/>
                </p:oleObj>
              </mc:Choice>
              <mc:Fallback>
                <p:oleObj name="文档" r:id="rId4" imgW="3837724" imgH="4395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275551"/>
                        <a:ext cx="11705058" cy="1340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209921" y="261233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09921" y="5064677"/>
            <a:ext cx="13182198" cy="1258018"/>
            <a:chOff x="209921" y="5095157"/>
            <a:chExt cx="13182198" cy="1258018"/>
          </a:xfrm>
        </p:grpSpPr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209921" y="513553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得出角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的度数时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应考虑到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B&lt;A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是错误的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946065"/>
                </p:ext>
              </p:extLst>
            </p:nvPr>
          </p:nvGraphicFramePr>
          <p:xfrm>
            <a:off x="1687061" y="5095157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9" name="文档" r:id="rId7" imgW="3837724" imgH="237979" progId="Word.Document.12">
                    <p:embed/>
                  </p:oleObj>
                </mc:Choice>
                <mc:Fallback>
                  <p:oleObj name="文档" r:id="rId7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87061" y="5095157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261672"/>
              </p:ext>
            </p:extLst>
          </p:nvPr>
        </p:nvGraphicFramePr>
        <p:xfrm>
          <a:off x="504453" y="1472567"/>
          <a:ext cx="11705058" cy="235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4" imgW="3837724" imgH="772350" progId="Word.Document.12">
                  <p:embed/>
                </p:oleObj>
              </mc:Choice>
              <mc:Fallback>
                <p:oleObj name="文档" r:id="rId4" imgW="3837724" imgH="7723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72567"/>
                        <a:ext cx="11705058" cy="2355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479718" y="3895479"/>
            <a:ext cx="21739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646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783024"/>
            <a:ext cx="10807700" cy="2393167"/>
            <a:chOff x="361950" y="1792856"/>
            <a:chExt cx="10807700" cy="2393167"/>
          </a:xfrm>
        </p:grpSpPr>
        <p:pic>
          <p:nvPicPr>
            <p:cNvPr id="4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37745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已知三角形的两边和其中一边的对角求另一边的对角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在利用正弦定理得到另一边所对角的正弦值后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应根据大边对大角对三角形解的个数进行判断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防止产生增解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593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94140"/>
              </p:ext>
            </p:extLst>
          </p:nvPr>
        </p:nvGraphicFramePr>
        <p:xfrm>
          <a:off x="504453" y="744318"/>
          <a:ext cx="11671959" cy="1245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文档" r:id="rId4" imgW="3826872" imgH="408255" progId="Word.Document.12">
                  <p:embed/>
                </p:oleObj>
              </mc:Choice>
              <mc:Fallback>
                <p:oleObj name="文档" r:id="rId4" imgW="3826872" imgH="4082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44318"/>
                        <a:ext cx="11671959" cy="1245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488248"/>
              </p:ext>
            </p:extLst>
          </p:nvPr>
        </p:nvGraphicFramePr>
        <p:xfrm>
          <a:off x="504452" y="1978859"/>
          <a:ext cx="11671959" cy="4007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文档" r:id="rId7" imgW="3826872" imgH="1313890" progId="Word.Document.12">
                  <p:embed/>
                </p:oleObj>
              </mc:Choice>
              <mc:Fallback>
                <p:oleObj name="文档" r:id="rId7" imgW="3826872" imgH="13138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1978859"/>
                        <a:ext cx="11671959" cy="4007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23594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692752"/>
              </p:ext>
            </p:extLst>
          </p:nvPr>
        </p:nvGraphicFramePr>
        <p:xfrm>
          <a:off x="392683" y="1943943"/>
          <a:ext cx="11705058" cy="2180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4" imgW="3837724" imgH="715019" progId="Word.Document.12">
                  <p:embed/>
                </p:oleObj>
              </mc:Choice>
              <mc:Fallback>
                <p:oleObj name="文档" r:id="rId4" imgW="3837724" imgH="7150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1943943"/>
                        <a:ext cx="11705058" cy="2180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68643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7729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下列关系一定成立的是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373565"/>
              </p:ext>
            </p:extLst>
          </p:nvPr>
        </p:nvGraphicFramePr>
        <p:xfrm>
          <a:off x="430213" y="3100388"/>
          <a:ext cx="11645900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文档" r:id="rId4" imgW="3837724" imgH="596390" progId="Word.Document.12">
                  <p:embed/>
                </p:oleObj>
              </mc:Choice>
              <mc:Fallback>
                <p:oleObj name="文档" r:id="rId4" imgW="3837724" imgH="5963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3100388"/>
                        <a:ext cx="11645900" cy="179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414697"/>
              </p:ext>
            </p:extLst>
          </p:nvPr>
        </p:nvGraphicFramePr>
        <p:xfrm>
          <a:off x="361950" y="4920104"/>
          <a:ext cx="11671959" cy="79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文档" r:id="rId7" imgW="3826872" imgH="261269" progId="Word.Document.12">
                  <p:embed/>
                </p:oleObj>
              </mc:Choice>
              <mc:Fallback>
                <p:oleObj name="文档" r:id="rId7" imgW="3826872" imgH="2612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4920104"/>
                        <a:ext cx="11671959" cy="796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245917" y="563031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693122"/>
              </p:ext>
            </p:extLst>
          </p:nvPr>
        </p:nvGraphicFramePr>
        <p:xfrm>
          <a:off x="576461" y="1037335"/>
          <a:ext cx="11671959" cy="1245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文档" r:id="rId4" imgW="3826872" imgH="408255" progId="Word.Document.12">
                  <p:embed/>
                </p:oleObj>
              </mc:Choice>
              <mc:Fallback>
                <p:oleObj name="文档" r:id="rId4" imgW="3826872" imgH="4082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037335"/>
                        <a:ext cx="11671959" cy="1245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904726"/>
              </p:ext>
            </p:extLst>
          </p:nvPr>
        </p:nvGraphicFramePr>
        <p:xfrm>
          <a:off x="514350" y="2290763"/>
          <a:ext cx="116459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7" imgW="3837724" imgH="680403" progId="Word.Document.12">
                  <p:embed/>
                </p:oleObj>
              </mc:Choice>
              <mc:Fallback>
                <p:oleObj name="文档" r:id="rId7" imgW="3837724" imgH="6804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350" y="2290763"/>
                        <a:ext cx="11645900" cy="206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514285" y="4431543"/>
            <a:ext cx="21739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55589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713962"/>
              </p:ext>
            </p:extLst>
          </p:nvPr>
        </p:nvGraphicFramePr>
        <p:xfrm>
          <a:off x="360437" y="798183"/>
          <a:ext cx="11671959" cy="138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3826872" imgH="454255" progId="Word.Document.12">
                  <p:embed/>
                </p:oleObj>
              </mc:Choice>
              <mc:Fallback>
                <p:oleObj name="文档" r:id="rId4" imgW="3826872" imgH="4542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98183"/>
                        <a:ext cx="11671959" cy="1385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003268"/>
              </p:ext>
            </p:extLst>
          </p:nvPr>
        </p:nvGraphicFramePr>
        <p:xfrm>
          <a:off x="365125" y="2141538"/>
          <a:ext cx="11618913" cy="367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7" imgW="3826872" imgH="1215421" progId="Word.Document.12">
                  <p:embed/>
                </p:oleObj>
              </mc:Choice>
              <mc:Fallback>
                <p:oleObj name="文档" r:id="rId7" imgW="3826872" imgH="12154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125" y="2141538"/>
                        <a:ext cx="11618913" cy="3678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835298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700944"/>
              </p:ext>
            </p:extLst>
          </p:nvPr>
        </p:nvGraphicFramePr>
        <p:xfrm>
          <a:off x="430213" y="825717"/>
          <a:ext cx="116459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文档" r:id="rId4" imgW="3837724" imgH="551318" progId="Word.Document.12">
                  <p:embed/>
                </p:oleObj>
              </mc:Choice>
              <mc:Fallback>
                <p:oleObj name="文档" r:id="rId4" imgW="3837724" imgH="5513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825717"/>
                        <a:ext cx="11645900" cy="167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61950" y="250156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外接圆的半径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代入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∵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&lt;B&lt;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&lt;C&lt;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为等腰直角三角形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75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89</TotalTime>
  <Words>945</Words>
  <Application>Microsoft Office PowerPoint</Application>
  <PresentationFormat>自定义</PresentationFormat>
  <Paragraphs>75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2025-09-04T05:26:40Z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