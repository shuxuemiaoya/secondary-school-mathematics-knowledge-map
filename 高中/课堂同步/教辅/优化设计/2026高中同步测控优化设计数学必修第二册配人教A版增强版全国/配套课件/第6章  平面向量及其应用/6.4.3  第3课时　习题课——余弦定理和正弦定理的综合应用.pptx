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37" r:id="rId15"/>
    <p:sldId id="750" r:id="rId16"/>
    <p:sldId id="763" r:id="rId17"/>
    <p:sldId id="764" r:id="rId18"/>
    <p:sldId id="765" r:id="rId19"/>
    <p:sldId id="766" r:id="rId20"/>
    <p:sldId id="767" r:id="rId21"/>
    <p:sldId id="768" r:id="rId22"/>
    <p:sldId id="769" r:id="rId23"/>
    <p:sldId id="754" r:id="rId24"/>
    <p:sldId id="770" r:id="rId25"/>
    <p:sldId id="785" r:id="rId26"/>
    <p:sldId id="771" r:id="rId27"/>
    <p:sldId id="772" r:id="rId28"/>
    <p:sldId id="773" r:id="rId29"/>
    <p:sldId id="755" r:id="rId30"/>
    <p:sldId id="774" r:id="rId31"/>
    <p:sldId id="786" r:id="rId32"/>
    <p:sldId id="775" r:id="rId33"/>
    <p:sldId id="776" r:id="rId34"/>
    <p:sldId id="777" r:id="rId35"/>
    <p:sldId id="747" r:id="rId36"/>
    <p:sldId id="751" r:id="rId37"/>
    <p:sldId id="778" r:id="rId38"/>
    <p:sldId id="779" r:id="rId39"/>
    <p:sldId id="748" r:id="rId40"/>
    <p:sldId id="752" r:id="rId41"/>
    <p:sldId id="780" r:id="rId42"/>
    <p:sldId id="781" r:id="rId43"/>
    <p:sldId id="782" r:id="rId44"/>
    <p:sldId id="783" r:id="rId45"/>
    <p:sldId id="784" r:id="rId46"/>
    <p:sldId id="735" r:id="rId4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438" y="16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image" Target="../media/image54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46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9.xml"/><Relationship Id="rId5" Type="http://schemas.openxmlformats.org/officeDocument/2006/relationships/slide" Target="slide35.xml"/><Relationship Id="rId4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2.docx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3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5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6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8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9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0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1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2.docx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4.docx"/><Relationship Id="rId3" Type="http://schemas.openxmlformats.org/officeDocument/2006/relationships/image" Target="../media/image19.jpeg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13.docx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0.emf"/><Relationship Id="rId5" Type="http://schemas.openxmlformats.org/officeDocument/2006/relationships/package" Target="../embeddings/Microsoft_Word___15.docx"/><Relationship Id="rId4" Type="http://schemas.openxmlformats.org/officeDocument/2006/relationships/oleObject" Target="../embeddings/oleObject1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6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8.docx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package" Target="../embeddings/Microsoft_Word___19.docx"/><Relationship Id="rId7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7.emf"/><Relationship Id="rId5" Type="http://schemas.openxmlformats.org/officeDocument/2006/relationships/image" Target="../media/image28.jpeg"/><Relationship Id="rId10" Type="http://schemas.openxmlformats.org/officeDocument/2006/relationships/package" Target="../embeddings/Microsoft_Word___21.docx"/><Relationship Id="rId4" Type="http://schemas.openxmlformats.org/officeDocument/2006/relationships/image" Target="../media/image25.emf"/><Relationship Id="rId9" Type="http://schemas.openxmlformats.org/officeDocument/2006/relationships/oleObject" Target="../embeddings/oleObject20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2.docx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24.docx"/><Relationship Id="rId3" Type="http://schemas.openxmlformats.org/officeDocument/2006/relationships/image" Target="../media/image32.jpeg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0.emf"/><Relationship Id="rId5" Type="http://schemas.openxmlformats.org/officeDocument/2006/relationships/package" Target="../embeddings/Microsoft_Word___23.docx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5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26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27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28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29.docx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0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2.doc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32.bin"/><Relationship Id="rId7" Type="http://schemas.openxmlformats.org/officeDocument/2006/relationships/package" Target="../embeddings/Microsoft_Word___3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41.emf"/><Relationship Id="rId4" Type="http://schemas.openxmlformats.org/officeDocument/2006/relationships/package" Target="../embeddings/Microsoft_Word___33.docx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oleObject" Target="../embeddings/oleObject34.bin"/><Relationship Id="rId7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43.emf"/><Relationship Id="rId4" Type="http://schemas.openxmlformats.org/officeDocument/2006/relationships/package" Target="../embeddings/Microsoft_Word___35.docx"/><Relationship Id="rId9" Type="http://schemas.openxmlformats.org/officeDocument/2006/relationships/image" Target="../media/image45.jpe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oleObject" Target="../embeddings/oleObject36.bin"/><Relationship Id="rId7" Type="http://schemas.openxmlformats.org/officeDocument/2006/relationships/package" Target="../embeddings/Microsoft_Word___3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46.emf"/><Relationship Id="rId4" Type="http://schemas.openxmlformats.org/officeDocument/2006/relationships/package" Target="../embeddings/Microsoft_Word___37.docx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oleObject" Target="../embeddings/oleObject38.bin"/><Relationship Id="rId7" Type="http://schemas.openxmlformats.org/officeDocument/2006/relationships/package" Target="../embeddings/Microsoft_Word___4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8.emf"/><Relationship Id="rId4" Type="http://schemas.openxmlformats.org/officeDocument/2006/relationships/package" Target="../embeddings/Microsoft_Word___39.docx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oleObject" Target="../embeddings/oleObject40.bin"/><Relationship Id="rId7" Type="http://schemas.openxmlformats.org/officeDocument/2006/relationships/package" Target="../embeddings/Microsoft_Word___4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50.emf"/><Relationship Id="rId4" Type="http://schemas.openxmlformats.org/officeDocument/2006/relationships/package" Target="../embeddings/Microsoft_Word___41.docx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oleObject" Target="../embeddings/oleObject42.bin"/><Relationship Id="rId7" Type="http://schemas.openxmlformats.org/officeDocument/2006/relationships/package" Target="../embeddings/Microsoft_Word___4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52.emf"/><Relationship Id="rId4" Type="http://schemas.openxmlformats.org/officeDocument/2006/relationships/package" Target="../embeddings/Microsoft_Word___43.docx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oleObject" Target="../embeddings/oleObject44.bin"/><Relationship Id="rId7" Type="http://schemas.openxmlformats.org/officeDocument/2006/relationships/package" Target="../embeddings/Microsoft_Word___4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54.emf"/><Relationship Id="rId4" Type="http://schemas.openxmlformats.org/officeDocument/2006/relationships/package" Target="../embeddings/Microsoft_Word___45.docx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56.emf"/><Relationship Id="rId4" Type="http://schemas.openxmlformats.org/officeDocument/2006/relationships/package" Target="../embeddings/Microsoft_Word___47.docx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3.vml"/><Relationship Id="rId5" Type="http://schemas.openxmlformats.org/officeDocument/2006/relationships/image" Target="../media/image57.emf"/><Relationship Id="rId4" Type="http://schemas.openxmlformats.org/officeDocument/2006/relationships/package" Target="../embeddings/Microsoft_Word___48.docx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735355"/>
            <a:ext cx="10807700" cy="26666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余弦定理、正弦定理</a:t>
            </a:r>
            <a:endParaRPr lang="zh-CN" altLang="zh-CN" sz="48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习题</a:t>
            </a:r>
            <a:r>
              <a:rPr lang="zh-CN" altLang="zh-CN" sz="4800" dirty="0" smtClean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</a:t>
            </a:r>
            <a:endParaRPr lang="en-US" altLang="zh-CN" sz="4800" dirty="0" smtClean="0">
              <a:solidFill>
                <a:srgbClr val="00206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4800" dirty="0" smtClean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余弦定理和正弦定理的综合应用</a:t>
            </a:r>
            <a:endParaRPr lang="zh-CN" altLang="zh-CN" sz="48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315534"/>
            <a:ext cx="10729192" cy="3802023"/>
            <a:chOff x="360437" y="1315534"/>
            <a:chExt cx="10729192" cy="3802023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315534"/>
              <a:ext cx="10729192" cy="3802023"/>
              <a:chOff x="360437" y="1869602"/>
              <a:chExt cx="10729192" cy="2596833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869602"/>
                <a:ext cx="10729192" cy="2596833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912816"/>
                <a:ext cx="0" cy="248863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386914"/>
              <a:ext cx="8496944" cy="3581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理解三角形面积公式的推导过程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掌握利用余弦定理、正弦定理解决三角形的面积问题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能够运用余弦定理、正弦定理解决一些与几何计算有关的简单实际问题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提升逻辑推理和数学运算素养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06320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一、三角形的面积公式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的对边分别是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你能用三角形的边和角的正弦表示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上的高以及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的面积吗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VMG2TRA25.eps" descr="id:214749874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528789" y="3362377"/>
            <a:ext cx="3096344" cy="211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735850"/>
            <a:ext cx="11742454" cy="5528573"/>
            <a:chOff x="361950" y="686690"/>
            <a:chExt cx="11742454" cy="552857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86690"/>
              <a:ext cx="10807700" cy="4819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提示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过点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于点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上的高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Rt</a:t>
              </a:r>
              <a:r>
                <a:rPr lang="en-US" altLang="zh-CN" dirty="0" err="1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Rt</a:t>
              </a:r>
              <a:r>
                <a:rPr lang="en-US" altLang="zh-CN" dirty="0" err="1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上的高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0020450"/>
                </p:ext>
              </p:extLst>
            </p:nvPr>
          </p:nvGraphicFramePr>
          <p:xfrm>
            <a:off x="432445" y="5439218"/>
            <a:ext cx="11671959" cy="7760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" name="文档" r:id="rId4" imgW="3826872" imgH="254441" progId="Word.Document.12">
                    <p:embed/>
                  </p:oleObj>
                </mc:Choice>
                <mc:Fallback>
                  <p:oleObj name="文档" r:id="rId4" imgW="3826872" imgH="25444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5439218"/>
                          <a:ext cx="11671959" cy="7760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6" name="VMG2TRA26.eps" descr="id:2147498749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3960837" y="1410390"/>
              <a:ext cx="3024336" cy="21286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78571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734975"/>
              </p:ext>
            </p:extLst>
          </p:nvPr>
        </p:nvGraphicFramePr>
        <p:xfrm>
          <a:off x="360437" y="1799927"/>
          <a:ext cx="11671959" cy="2755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文档" r:id="rId4" imgW="3837724" imgH="906483" progId="Word.Document.12">
                  <p:embed/>
                </p:oleObj>
              </mc:Choice>
              <mc:Fallback>
                <p:oleObj name="文档" r:id="rId4" imgW="3837724" imgH="9064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799927"/>
                        <a:ext cx="11671959" cy="27556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784056" y="2375991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779285" y="2840089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002900" y="2375991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5998129" y="2840089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9275534" y="2375991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9270763" y="2840089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329701" y="3024064"/>
            <a:ext cx="900298" cy="672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2324762" y="3697812"/>
            <a:ext cx="899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596869" y="3024064"/>
            <a:ext cx="900298" cy="672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3591930" y="3697812"/>
            <a:ext cx="899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029671" y="3800003"/>
            <a:ext cx="1579237" cy="672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3024733" y="4473751"/>
            <a:ext cx="15774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013622" y="3800003"/>
            <a:ext cx="1579237" cy="672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5008684" y="4473751"/>
            <a:ext cx="15774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57418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729770"/>
              </p:ext>
            </p:extLst>
          </p:nvPr>
        </p:nvGraphicFramePr>
        <p:xfrm>
          <a:off x="504825" y="1463957"/>
          <a:ext cx="11661775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文档" r:id="rId4" imgW="3826872" imgH="476177" progId="Word.Document.12">
                  <p:embed/>
                </p:oleObj>
              </mc:Choice>
              <mc:Fallback>
                <p:oleObj name="文档" r:id="rId4" imgW="3826872" imgH="4761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1463957"/>
                        <a:ext cx="11661775" cy="1441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923782"/>
              </p:ext>
            </p:extLst>
          </p:nvPr>
        </p:nvGraphicFramePr>
        <p:xfrm>
          <a:off x="412781" y="2952055"/>
          <a:ext cx="11671959" cy="854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文档" r:id="rId7" imgW="3826872" imgH="280316" progId="Word.Document.12">
                  <p:embed/>
                </p:oleObj>
              </mc:Choice>
              <mc:Fallback>
                <p:oleObj name="文档" r:id="rId7" imgW="3826872" imgH="2803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2781" y="2952055"/>
                        <a:ext cx="11671959" cy="8549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51035" y="3868495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69282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628438"/>
              </p:ext>
            </p:extLst>
          </p:nvPr>
        </p:nvGraphicFramePr>
        <p:xfrm>
          <a:off x="432445" y="1223863"/>
          <a:ext cx="11671959" cy="3840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文档" r:id="rId4" imgW="3826872" imgH="1259265" progId="Word.Document.12">
                  <p:embed/>
                </p:oleObj>
              </mc:Choice>
              <mc:Fallback>
                <p:oleObj name="文档" r:id="rId4" imgW="3826872" imgH="12592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223863"/>
                        <a:ext cx="11671959" cy="38407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984204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12235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二、三角形中有关边和角的常用性质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三角形内角和定理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A+B+C= </a:t>
            </a:r>
            <a:r>
              <a:rPr lang="en-US" altLang="zh-CN" dirty="0">
                <a:ea typeface="Microsoft Yi Baiti" panose="03000500000000000000" pitchFamily="66" charset="0"/>
                <a:cs typeface="Times New Roman" panose="02020603050405020304" pitchFamily="18" charset="0"/>
              </a:rPr>
              <a:t>π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A&gt;B 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 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&gt;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b+c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&gt;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c+a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&gt;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为锐角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&lt;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+c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为直角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+c</a:t>
            </a:r>
            <a:r>
              <a:rPr lang="en-US" altLang="zh-CN" baseline="30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为钝角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&gt;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+c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18142" y="1761466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8313317" y="2225564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120963" y="2348288"/>
            <a:ext cx="9403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4116465" y="2812386"/>
            <a:ext cx="9392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551531" y="2348288"/>
            <a:ext cx="208171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5547033" y="2812386"/>
            <a:ext cx="207936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743164" y="2913594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738339" y="3377692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082087" y="2912483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5077262" y="3376581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440934" y="2911372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6436109" y="3375470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089455" y="3514527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7084630" y="3978625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4464893" y="4097996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4460068" y="4562094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4479732" y="4664311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4474907" y="5128409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06305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20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00701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锐角三角形的三边长分别为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850416"/>
              </p:ext>
            </p:extLst>
          </p:nvPr>
        </p:nvGraphicFramePr>
        <p:xfrm>
          <a:off x="361950" y="2235536"/>
          <a:ext cx="11671959" cy="2287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文档" r:id="rId4" imgW="3826872" imgH="750024" progId="Word.Document.12">
                  <p:embed/>
                </p:oleObj>
              </mc:Choice>
              <mc:Fallback>
                <p:oleObj name="文档" r:id="rId4" imgW="3826872" imgH="7500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2235536"/>
                        <a:ext cx="11671959" cy="2287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447711"/>
              </p:ext>
            </p:extLst>
          </p:nvPr>
        </p:nvGraphicFramePr>
        <p:xfrm>
          <a:off x="361950" y="4520128"/>
          <a:ext cx="11671959" cy="644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文档" r:id="rId7" imgW="3826872" imgH="211315" progId="Word.Document.12">
                  <p:embed/>
                </p:oleObj>
              </mc:Choice>
              <mc:Fallback>
                <p:oleObj name="文档" r:id="rId7" imgW="3826872" imgH="2113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1950" y="4520128"/>
                        <a:ext cx="11671959" cy="644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611662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884143"/>
            <a:ext cx="15188678" cy="4808967"/>
            <a:chOff x="361950" y="863823"/>
            <a:chExt cx="15188678" cy="4808967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863823"/>
              <a:ext cx="10807700" cy="478047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 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 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A=B.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三角形的面积等于其中两边以及它们所夹内角的正弦值的乘积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面积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135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0038012"/>
                </p:ext>
              </p:extLst>
            </p:nvPr>
          </p:nvGraphicFramePr>
          <p:xfrm>
            <a:off x="3878669" y="4975667"/>
            <a:ext cx="11671959" cy="697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8" name="文档" r:id="rId4" imgW="3826872" imgH="228565" progId="Word.Document.12">
                    <p:embed/>
                  </p:oleObj>
                </mc:Choice>
                <mc:Fallback>
                  <p:oleObj name="文档" r:id="rId4" imgW="3826872" imgH="22856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878669" y="4975667"/>
                          <a:ext cx="11671959" cy="6971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/>
          <p:nvPr/>
        </p:nvSpPr>
        <p:spPr>
          <a:xfrm>
            <a:off x="6193085" y="2797281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589258" y="3395254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044642" y="4547382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9714648" y="5112295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309711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978343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三角形的</a:t>
            </a:r>
            <a:r>
              <a:rPr lang="zh-CN" altLang="zh-CN" dirty="0"/>
              <a:t>面积问题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730664"/>
              </p:ext>
            </p:extLst>
          </p:nvPr>
        </p:nvGraphicFramePr>
        <p:xfrm>
          <a:off x="432445" y="1727919"/>
          <a:ext cx="11671959" cy="1245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文档" r:id="rId4" imgW="3826872" imgH="408255" progId="Word.Document.12">
                  <p:embed/>
                </p:oleObj>
              </mc:Choice>
              <mc:Fallback>
                <p:oleObj name="文档" r:id="rId4" imgW="3826872" imgH="4082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727919"/>
                        <a:ext cx="11671959" cy="12451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2928816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的两角及其中一角的对边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可通过解三角形求出另外的量再求面积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首先可通过面积公式求出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然后可利用余弦定理求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也可以利用三角形的性质求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922120"/>
              </p:ext>
            </p:extLst>
          </p:nvPr>
        </p:nvGraphicFramePr>
        <p:xfrm>
          <a:off x="442277" y="955495"/>
          <a:ext cx="11671959" cy="4853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文档" r:id="rId4" imgW="3826872" imgH="1591331" progId="Word.Document.12">
                  <p:embed/>
                </p:oleObj>
              </mc:Choice>
              <mc:Fallback>
                <p:oleObj name="文档" r:id="rId4" imgW="3826872" imgH="15913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277" y="955495"/>
                        <a:ext cx="11671959" cy="48535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35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298153"/>
              </p:ext>
            </p:extLst>
          </p:nvPr>
        </p:nvGraphicFramePr>
        <p:xfrm>
          <a:off x="430213" y="1583903"/>
          <a:ext cx="11352212" cy="294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文档" r:id="rId4" imgW="3837724" imgH="998069" progId="Word.Document.12">
                  <p:embed/>
                </p:oleObj>
              </mc:Choice>
              <mc:Fallback>
                <p:oleObj name="文档" r:id="rId4" imgW="3837724" imgH="9980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583903"/>
                        <a:ext cx="11352212" cy="294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6959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23738"/>
              </p:ext>
            </p:extLst>
          </p:nvPr>
        </p:nvGraphicFramePr>
        <p:xfrm>
          <a:off x="494621" y="690311"/>
          <a:ext cx="11705058" cy="3233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文档" r:id="rId4" imgW="3837724" imgH="1060088" progId="Word.Document.12">
                  <p:embed/>
                </p:oleObj>
              </mc:Choice>
              <mc:Fallback>
                <p:oleObj name="文档" r:id="rId4" imgW="3837724" imgH="10600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4621" y="690311"/>
                        <a:ext cx="11705058" cy="3233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3923579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为等边三角形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的长度等于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59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083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389070" y="1242637"/>
            <a:ext cx="2524095" cy="460328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650283"/>
              </p:ext>
            </p:extLst>
          </p:nvPr>
        </p:nvGraphicFramePr>
        <p:xfrm>
          <a:off x="576461" y="1828533"/>
          <a:ext cx="11671959" cy="65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0" name="文档" r:id="rId5" imgW="3826872" imgH="214909" progId="Word.Document.12">
                  <p:embed/>
                </p:oleObj>
              </mc:Choice>
              <mc:Fallback>
                <p:oleObj name="文档" r:id="rId5" imgW="3826872" imgH="214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6461" y="1828533"/>
                        <a:ext cx="11671959" cy="655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974089"/>
              </p:ext>
            </p:extLst>
          </p:nvPr>
        </p:nvGraphicFramePr>
        <p:xfrm>
          <a:off x="557213" y="2486725"/>
          <a:ext cx="11645900" cy="210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name="文档" r:id="rId8" imgW="3837724" imgH="693745" progId="Word.Document.12">
                  <p:embed/>
                </p:oleObj>
              </mc:Choice>
              <mc:Fallback>
                <p:oleObj name="文档" r:id="rId8" imgW="3837724" imgH="6937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7213" y="2486725"/>
                        <a:ext cx="11645900" cy="2101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752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57205" y="1367879"/>
            <a:ext cx="11671959" cy="3308060"/>
            <a:chOff x="357205" y="940139"/>
            <a:chExt cx="11671959" cy="3308060"/>
          </a:xfrm>
        </p:grpSpPr>
        <p:pic>
          <p:nvPicPr>
            <p:cNvPr id="6" name="反思感悟H.eps" descr="id:21474907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4583958"/>
                </p:ext>
              </p:extLst>
            </p:nvPr>
          </p:nvGraphicFramePr>
          <p:xfrm>
            <a:off x="357205" y="1655906"/>
            <a:ext cx="11671959" cy="2592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2" name="文档" r:id="rId5" imgW="3826872" imgH="849932" progId="Word.Document.12">
                    <p:embed/>
                  </p:oleObj>
                </mc:Choice>
                <mc:Fallback>
                  <p:oleObj name="文档" r:id="rId5" imgW="3826872" imgH="84993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7205" y="1655906"/>
                          <a:ext cx="11671959" cy="259229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7663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338259" y="729967"/>
            <a:ext cx="12507909" cy="2399503"/>
            <a:chOff x="-1338259" y="965997"/>
            <a:chExt cx="12507909" cy="2399503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965997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的内角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所对的边长分别为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的面积为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的值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4285929"/>
                </p:ext>
              </p:extLst>
            </p:nvPr>
          </p:nvGraphicFramePr>
          <p:xfrm>
            <a:off x="-1338259" y="1528914"/>
            <a:ext cx="8769315" cy="6859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7" name="文档" r:id="rId4" imgW="3826872" imgH="299363" progId="Word.Document.12">
                    <p:embed/>
                  </p:oleObj>
                </mc:Choice>
                <mc:Fallback>
                  <p:oleObj name="文档" r:id="rId4" imgW="3826872" imgH="29936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1338259" y="1528914"/>
                          <a:ext cx="8769315" cy="6859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411568"/>
              </p:ext>
            </p:extLst>
          </p:nvPr>
        </p:nvGraphicFramePr>
        <p:xfrm>
          <a:off x="372110" y="3129470"/>
          <a:ext cx="11671959" cy="3126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文档" r:id="rId7" imgW="3826872" imgH="1024950" progId="Word.Document.12">
                  <p:embed/>
                </p:oleObj>
              </mc:Choice>
              <mc:Fallback>
                <p:oleObj name="文档" r:id="rId7" imgW="3826872" imgH="10249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2110" y="3129470"/>
                        <a:ext cx="11671959" cy="3126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1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241736"/>
              </p:ext>
            </p:extLst>
          </p:nvPr>
        </p:nvGraphicFramePr>
        <p:xfrm>
          <a:off x="430213" y="1128628"/>
          <a:ext cx="11618912" cy="433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文档" r:id="rId4" imgW="3826872" imgH="1429611" progId="Word.Document.12">
                  <p:embed/>
                </p:oleObj>
              </mc:Choice>
              <mc:Fallback>
                <p:oleObj name="文档" r:id="rId4" imgW="3826872" imgH="14296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128628"/>
                        <a:ext cx="11618912" cy="433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184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844991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三角形</a:t>
            </a:r>
            <a:r>
              <a:rPr lang="zh-CN" altLang="zh-CN" dirty="0"/>
              <a:t>中的几何计算问题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888288"/>
              </p:ext>
            </p:extLst>
          </p:nvPr>
        </p:nvGraphicFramePr>
        <p:xfrm>
          <a:off x="504453" y="1568255"/>
          <a:ext cx="10640962" cy="1039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文档" r:id="rId3" imgW="3826872" imgH="374114" progId="Word.Document.12">
                  <p:embed/>
                </p:oleObj>
              </mc:Choice>
              <mc:Fallback>
                <p:oleObj name="文档" r:id="rId3" imgW="3826872" imgH="3741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4453" y="1568255"/>
                        <a:ext cx="10640962" cy="1039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21N18.eps" descr="id:2147499030;FounderCES"/>
          <p:cNvPicPr/>
          <p:nvPr/>
        </p:nvPicPr>
        <p:blipFill>
          <a:blip r:embed="rId5"/>
          <a:stretch>
            <a:fillRect/>
          </a:stretch>
        </p:blipFill>
        <p:spPr>
          <a:xfrm>
            <a:off x="7057181" y="2235159"/>
            <a:ext cx="3384376" cy="1651850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579845"/>
              </p:ext>
            </p:extLst>
          </p:nvPr>
        </p:nvGraphicFramePr>
        <p:xfrm>
          <a:off x="576461" y="2853649"/>
          <a:ext cx="11705058" cy="1253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文档" r:id="rId7" imgW="3837724" imgH="411055" progId="Word.Document.12">
                  <p:embed/>
                </p:oleObj>
              </mc:Choice>
              <mc:Fallback>
                <p:oleObj name="文档" r:id="rId7" imgW="3837724" imgH="4110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6461" y="2853649"/>
                        <a:ext cx="11705058" cy="1253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30373"/>
              </p:ext>
            </p:extLst>
          </p:nvPr>
        </p:nvGraphicFramePr>
        <p:xfrm>
          <a:off x="576461" y="4145700"/>
          <a:ext cx="11705058" cy="1771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name="文档" r:id="rId10" imgW="3837724" imgH="580885" progId="Word.Document.12">
                  <p:embed/>
                </p:oleObj>
              </mc:Choice>
              <mc:Fallback>
                <p:oleObj name="文档" r:id="rId10" imgW="3837724" imgH="5808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6461" y="4145700"/>
                        <a:ext cx="11705058" cy="17716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510514"/>
              </p:ext>
            </p:extLst>
          </p:nvPr>
        </p:nvGraphicFramePr>
        <p:xfrm>
          <a:off x="504453" y="677295"/>
          <a:ext cx="11705058" cy="5660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文档" r:id="rId4" imgW="3837724" imgH="1855875" progId="Word.Document.12">
                  <p:embed/>
                </p:oleObj>
              </mc:Choice>
              <mc:Fallback>
                <p:oleObj name="文档" r:id="rId4" imgW="3837724" imgH="18558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677295"/>
                        <a:ext cx="11705058" cy="5660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9726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876341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余弦定理、正弦定理本身是研究几何图形计算的工具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因此在面对几何图形时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关键是寻找相应的三角形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并在三角形中运用余弦定理、正弦定理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特别是涉及公共边时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要利用公共边来进行过渡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即利用公共边创造的互补或互余关系列式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其本质是构建关于角的关系的方程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反思感悟H.eps" descr="id:214749903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67311" y="1293948"/>
            <a:ext cx="2331566" cy="54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0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21N17.eps" descr="id:2147499044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888829" y="2219737"/>
            <a:ext cx="3384376" cy="2495422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778784"/>
              </p:ext>
            </p:extLst>
          </p:nvPr>
        </p:nvGraphicFramePr>
        <p:xfrm>
          <a:off x="416191" y="739471"/>
          <a:ext cx="11705058" cy="1480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8" name="文档" r:id="rId5" imgW="3837724" imgH="485333" progId="Word.Document.12">
                  <p:embed/>
                </p:oleObj>
              </mc:Choice>
              <mc:Fallback>
                <p:oleObj name="文档" r:id="rId5" imgW="3837724" imgH="4853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6191" y="739471"/>
                        <a:ext cx="11705058" cy="14802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680124"/>
              </p:ext>
            </p:extLst>
          </p:nvPr>
        </p:nvGraphicFramePr>
        <p:xfrm>
          <a:off x="720477" y="4781751"/>
          <a:ext cx="11705058" cy="1191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9" name="文档" r:id="rId8" imgW="3837724" imgH="390502" progId="Word.Document.12">
                  <p:embed/>
                </p:oleObj>
              </mc:Choice>
              <mc:Fallback>
                <p:oleObj name="文档" r:id="rId8" imgW="3837724" imgH="3905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20477" y="4781751"/>
                        <a:ext cx="11705058" cy="11910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010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845510"/>
              </p:ext>
            </p:extLst>
          </p:nvPr>
        </p:nvGraphicFramePr>
        <p:xfrm>
          <a:off x="504453" y="1151855"/>
          <a:ext cx="11705058" cy="3978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文档" r:id="rId4" imgW="3837724" imgH="1304557" progId="Word.Document.12">
                  <p:embed/>
                </p:oleObj>
              </mc:Choice>
              <mc:Fallback>
                <p:oleObj name="文档" r:id="rId4" imgW="3837724" imgH="13045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151855"/>
                        <a:ext cx="11705058" cy="39788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211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218380"/>
              </p:ext>
            </p:extLst>
          </p:nvPr>
        </p:nvGraphicFramePr>
        <p:xfrm>
          <a:off x="432445" y="1120905"/>
          <a:ext cx="11705058" cy="3899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文档" r:id="rId4" imgW="3837724" imgH="1278596" progId="Word.Document.12">
                  <p:embed/>
                </p:oleObj>
              </mc:Choice>
              <mc:Fallback>
                <p:oleObj name="文档" r:id="rId4" imgW="3837724" imgH="12785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120905"/>
                        <a:ext cx="11705058" cy="3899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0084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80164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三角形</a:t>
            </a:r>
            <a:r>
              <a:rPr lang="zh-CN" altLang="zh-CN" dirty="0"/>
              <a:t>的综合问题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295756"/>
              </p:ext>
            </p:extLst>
          </p:nvPr>
        </p:nvGraphicFramePr>
        <p:xfrm>
          <a:off x="432445" y="2303983"/>
          <a:ext cx="10640962" cy="1717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0" name="文档" r:id="rId4" imgW="3837724" imgH="619466" progId="Word.Document.12">
                  <p:embed/>
                </p:oleObj>
              </mc:Choice>
              <mc:Fallback>
                <p:oleObj name="文档" r:id="rId4" imgW="3837724" imgH="6194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303983"/>
                        <a:ext cx="10640962" cy="1717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909538"/>
              </p:ext>
            </p:extLst>
          </p:nvPr>
        </p:nvGraphicFramePr>
        <p:xfrm>
          <a:off x="392683" y="1157589"/>
          <a:ext cx="11705058" cy="3954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文档" r:id="rId4" imgW="3837724" imgH="1296625" progId="Word.Document.12">
                  <p:embed/>
                </p:oleObj>
              </mc:Choice>
              <mc:Fallback>
                <p:oleObj name="文档" r:id="rId4" imgW="3837724" imgH="12966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2683" y="1157589"/>
                        <a:ext cx="11705058" cy="39547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229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318557"/>
              </p:ext>
            </p:extLst>
          </p:nvPr>
        </p:nvGraphicFramePr>
        <p:xfrm>
          <a:off x="360437" y="863123"/>
          <a:ext cx="11705058" cy="5041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文档" r:id="rId4" imgW="3837724" imgH="1652872" progId="Word.Document.12">
                  <p:embed/>
                </p:oleObj>
              </mc:Choice>
              <mc:Fallback>
                <p:oleObj name="文档" r:id="rId4" imgW="3837724" imgH="16528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863123"/>
                        <a:ext cx="11705058" cy="5041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7869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432055"/>
            <a:ext cx="10807700" cy="2979824"/>
            <a:chOff x="361950" y="1412391"/>
            <a:chExt cx="10807700" cy="297982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992712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解决三角形的综合问题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除灵活运用余弦定理、正弦定理及三角形的有关知识外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一般还要用到三角函数、三角恒等变换、方程等知识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因此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掌握余弦定理、正弦定理、三角函数的公式和性质是解题的关键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412391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8165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925671"/>
            <a:ext cx="14677959" cy="2399503"/>
            <a:chOff x="361950" y="965997"/>
            <a:chExt cx="14677959" cy="2399503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965997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的内角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的对边分别为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的面积为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 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6cos 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的周长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6994392"/>
                </p:ext>
              </p:extLst>
            </p:nvPr>
          </p:nvGraphicFramePr>
          <p:xfrm>
            <a:off x="3367950" y="1465797"/>
            <a:ext cx="11671959" cy="766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4" name="文档" r:id="rId4" imgW="3826872" imgH="251206" progId="Word.Document.12">
                    <p:embed/>
                  </p:oleObj>
                </mc:Choice>
                <mc:Fallback>
                  <p:oleObj name="文档" r:id="rId4" imgW="3826872" imgH="25120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367950" y="1465797"/>
                          <a:ext cx="11671959" cy="7661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764716"/>
              </p:ext>
            </p:extLst>
          </p:nvPr>
        </p:nvGraphicFramePr>
        <p:xfrm>
          <a:off x="441325" y="3344863"/>
          <a:ext cx="11661775" cy="238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5" name="文档" r:id="rId7" imgW="3837724" imgH="790739" progId="Word.Document.12">
                  <p:embed/>
                </p:oleObj>
              </mc:Choice>
              <mc:Fallback>
                <p:oleObj name="文档" r:id="rId7" imgW="3837724" imgH="7907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1325" y="3344863"/>
                        <a:ext cx="11661775" cy="2389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0655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843911"/>
              </p:ext>
            </p:extLst>
          </p:nvPr>
        </p:nvGraphicFramePr>
        <p:xfrm>
          <a:off x="452109" y="755298"/>
          <a:ext cx="11705058" cy="5293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文档" r:id="rId4" imgW="3837724" imgH="1735443" progId="Word.Document.12">
                  <p:embed/>
                </p:oleObj>
              </mc:Choice>
              <mc:Fallback>
                <p:oleObj name="文档" r:id="rId4" imgW="3837724" imgH="17354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2109" y="755298"/>
                        <a:ext cx="11705058" cy="5293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378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607159"/>
            <a:ext cx="15768239" cy="5832648"/>
            <a:chOff x="361950" y="607159"/>
            <a:chExt cx="15768239" cy="5832648"/>
          </a:xfrm>
        </p:grpSpPr>
        <p:grpSp>
          <p:nvGrpSpPr>
            <p:cNvPr id="5" name="组合 4"/>
            <p:cNvGrpSpPr/>
            <p:nvPr/>
          </p:nvGrpSpPr>
          <p:grpSpPr>
            <a:xfrm>
              <a:off x="361950" y="607159"/>
              <a:ext cx="15768239" cy="1808572"/>
              <a:chOff x="361950" y="719807"/>
              <a:chExt cx="15768239" cy="1808572"/>
            </a:xfrm>
          </p:grpSpPr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61950" y="719807"/>
                <a:ext cx="10807700" cy="180857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忽视三角形中角的取值范围致错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dirty="0" smtClean="0">
                    <a:solidFill>
                      <a:srgbClr val="000000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【典例】</a:t>
                </a:r>
                <a:r>
                  <a:rPr lang="zh-CN" altLang="zh-CN" dirty="0" smtClean="0">
                    <a:solidFill>
                      <a:srgbClr val="000000"/>
                    </a:solidFill>
                    <a:latin typeface="NEU-BZ-S92"/>
                    <a:ea typeface="Arial" panose="020B06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在</a:t>
                </a:r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△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ABC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中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分别是角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的对边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△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ABC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的面积为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若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4,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5,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S=    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求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的长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" name="对象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50872985"/>
                  </p:ext>
                </p:extLst>
              </p:nvPr>
            </p:nvGraphicFramePr>
            <p:xfrm>
              <a:off x="4458230" y="1952427"/>
              <a:ext cx="11671959" cy="5327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552" name="文档" r:id="rId4" imgW="3826872" imgH="174658" progId="Word.Document.12">
                      <p:embed/>
                    </p:oleObj>
                  </mc:Choice>
                  <mc:Fallback>
                    <p:oleObj name="文档" r:id="rId4" imgW="3826872" imgH="174658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4458230" y="1952427"/>
                            <a:ext cx="11671959" cy="53270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4710037"/>
                </p:ext>
              </p:extLst>
            </p:nvPr>
          </p:nvGraphicFramePr>
          <p:xfrm>
            <a:off x="504453" y="2401125"/>
            <a:ext cx="11671959" cy="2877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3" name="文档" r:id="rId7" imgW="3826872" imgH="943371" progId="Word.Document.12">
                    <p:embed/>
                  </p:oleObj>
                </mc:Choice>
                <mc:Fallback>
                  <p:oleObj name="文档" r:id="rId7" imgW="3826872" imgH="94337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04453" y="2401125"/>
                          <a:ext cx="11671959" cy="287728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5222166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74954"/>
              </p:ext>
            </p:extLst>
          </p:nvPr>
        </p:nvGraphicFramePr>
        <p:xfrm>
          <a:off x="432446" y="731787"/>
          <a:ext cx="11671959" cy="854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" name="文档" r:id="rId4" imgW="3826872" imgH="280316" progId="Word.Document.12">
                  <p:embed/>
                </p:oleObj>
              </mc:Choice>
              <mc:Fallback>
                <p:oleObj name="文档" r:id="rId4" imgW="3826872" imgH="2803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6" y="731787"/>
                        <a:ext cx="11671959" cy="8549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259783"/>
              </p:ext>
            </p:extLst>
          </p:nvPr>
        </p:nvGraphicFramePr>
        <p:xfrm>
          <a:off x="430213" y="1619101"/>
          <a:ext cx="11645900" cy="320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name="文档" r:id="rId7" imgW="3837724" imgH="1057925" progId="Word.Document.12">
                  <p:embed/>
                </p:oleObj>
              </mc:Choice>
              <mc:Fallback>
                <p:oleObj name="文档" r:id="rId7" imgW="3837724" imgH="10579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13" y="1619101"/>
                        <a:ext cx="11645900" cy="3205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432445" y="4925767"/>
            <a:ext cx="10807700" cy="1161021"/>
            <a:chOff x="361950" y="2204479"/>
            <a:chExt cx="10807700" cy="1161021"/>
          </a:xfrm>
        </p:grpSpPr>
        <p:pic>
          <p:nvPicPr>
            <p:cNvPr id="11" name="防范措施H.eps" descr="id:2147490860;FounderCES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361950" y="2204479"/>
              <a:ext cx="2259558" cy="531552"/>
            </a:xfrm>
            <a:prstGeom prst="rect">
              <a:avLst/>
            </a:prstGeom>
          </p:spPr>
        </p:pic>
        <p:sp>
          <p:nvSpPr>
            <p:cNvPr id="12" name="矩形 11"/>
            <p:cNvSpPr>
              <a:spLocks noChangeAspect="1"/>
            </p:cNvSpPr>
            <p:nvPr/>
          </p:nvSpPr>
          <p:spPr>
            <a:xfrm>
              <a:off x="361950" y="2738790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已知正弦值求角时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要根据题目条件分类求解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防止漏解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627060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701994"/>
              </p:ext>
            </p:extLst>
          </p:nvPr>
        </p:nvGraphicFramePr>
        <p:xfrm>
          <a:off x="376659" y="925999"/>
          <a:ext cx="10640962" cy="2178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0" name="文档" r:id="rId4" imgW="3837724" imgH="785691" progId="Word.Document.12">
                  <p:embed/>
                </p:oleObj>
              </mc:Choice>
              <mc:Fallback>
                <p:oleObj name="文档" r:id="rId4" imgW="3837724" imgH="7856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6659" y="925999"/>
                        <a:ext cx="10640962" cy="21785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978106"/>
              </p:ext>
            </p:extLst>
          </p:nvPr>
        </p:nvGraphicFramePr>
        <p:xfrm>
          <a:off x="376659" y="3158247"/>
          <a:ext cx="10640962" cy="1338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1" name="文档" r:id="rId7" imgW="3837724" imgH="482809" progId="Word.Document.12">
                  <p:embed/>
                </p:oleObj>
              </mc:Choice>
              <mc:Fallback>
                <p:oleObj name="文档" r:id="rId7" imgW="3837724" imgH="4828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6659" y="3158247"/>
                        <a:ext cx="10640962" cy="1338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08929" y="456321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93366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501795"/>
              </p:ext>
            </p:extLst>
          </p:nvPr>
        </p:nvGraphicFramePr>
        <p:xfrm>
          <a:off x="360437" y="1497275"/>
          <a:ext cx="11671959" cy="156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文档" r:id="rId4" imgW="3826872" imgH="514631" progId="Word.Document.12">
                  <p:embed/>
                </p:oleObj>
              </mc:Choice>
              <mc:Fallback>
                <p:oleObj name="文档" r:id="rId4" imgW="3826872" imgH="5146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497275"/>
                        <a:ext cx="11671959" cy="1569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519578"/>
              </p:ext>
            </p:extLst>
          </p:nvPr>
        </p:nvGraphicFramePr>
        <p:xfrm>
          <a:off x="330940" y="3153459"/>
          <a:ext cx="11671959" cy="776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文档" r:id="rId7" imgW="3826872" imgH="254441" progId="Word.Document.12">
                  <p:embed/>
                </p:oleObj>
              </mc:Choice>
              <mc:Fallback>
                <p:oleObj name="文档" r:id="rId7" imgW="3826872" imgH="2544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0940" y="3153459"/>
                        <a:ext cx="11671959" cy="776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279218" y="3996983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849632"/>
            <a:ext cx="17420926" cy="1825821"/>
            <a:chOff x="361950" y="1539679"/>
            <a:chExt cx="17420926" cy="1825821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539679"/>
              <a:ext cx="10807700" cy="18258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已知锐角三角形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的面积为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的大小为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A.75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B.60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C.45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D.30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000001"/>
                </p:ext>
              </p:extLst>
            </p:nvPr>
          </p:nvGraphicFramePr>
          <p:xfrm>
            <a:off x="6110917" y="1605111"/>
            <a:ext cx="11671959" cy="532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6" name="文档" r:id="rId4" imgW="3826872" imgH="174658" progId="Word.Document.12">
                    <p:embed/>
                  </p:oleObj>
                </mc:Choice>
                <mc:Fallback>
                  <p:oleObj name="文档" r:id="rId4" imgW="3826872" imgH="17465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110917" y="1605111"/>
                          <a:ext cx="11671959" cy="5327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80215"/>
              </p:ext>
            </p:extLst>
          </p:nvPr>
        </p:nvGraphicFramePr>
        <p:xfrm>
          <a:off x="376238" y="2661524"/>
          <a:ext cx="11661775" cy="265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" name="文档" r:id="rId7" imgW="3837724" imgH="875835" progId="Word.Document.12">
                  <p:embed/>
                </p:oleObj>
              </mc:Choice>
              <mc:Fallback>
                <p:oleObj name="文档" r:id="rId7" imgW="3837724" imgH="8758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6238" y="2661524"/>
                        <a:ext cx="11661775" cy="265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spect="1"/>
          </p:cNvSpPr>
          <p:nvPr/>
        </p:nvSpPr>
        <p:spPr>
          <a:xfrm>
            <a:off x="308749" y="5344815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27286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302797"/>
              </p:ext>
            </p:extLst>
          </p:nvPr>
        </p:nvGraphicFramePr>
        <p:xfrm>
          <a:off x="504825" y="881677"/>
          <a:ext cx="11645900" cy="198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0" name="文档" r:id="rId4" imgW="3837724" imgH="656966" progId="Word.Document.12">
                  <p:embed/>
                </p:oleObj>
              </mc:Choice>
              <mc:Fallback>
                <p:oleObj name="文档" r:id="rId4" imgW="3837724" imgH="6569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881677"/>
                        <a:ext cx="11645900" cy="1985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784897"/>
              </p:ext>
            </p:extLst>
          </p:nvPr>
        </p:nvGraphicFramePr>
        <p:xfrm>
          <a:off x="504825" y="2899389"/>
          <a:ext cx="11645900" cy="206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" name="文档" r:id="rId7" imgW="3837724" imgH="680043" progId="Word.Document.12">
                  <p:embed/>
                </p:oleObj>
              </mc:Choice>
              <mc:Fallback>
                <p:oleObj name="文档" r:id="rId7" imgW="3837724" imgH="6800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825" y="2899389"/>
                        <a:ext cx="11645900" cy="2060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461941" y="4985431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07906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604229"/>
              </p:ext>
            </p:extLst>
          </p:nvPr>
        </p:nvGraphicFramePr>
        <p:xfrm>
          <a:off x="504453" y="920303"/>
          <a:ext cx="11671959" cy="744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4" name="文档" r:id="rId4" imgW="3826872" imgH="244019" progId="Word.Document.12">
                  <p:embed/>
                </p:oleObj>
              </mc:Choice>
              <mc:Fallback>
                <p:oleObj name="文档" r:id="rId4" imgW="3826872" imgH="2440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920303"/>
                        <a:ext cx="11671959" cy="7442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879683"/>
              </p:ext>
            </p:extLst>
          </p:nvPr>
        </p:nvGraphicFramePr>
        <p:xfrm>
          <a:off x="502890" y="1697623"/>
          <a:ext cx="11671959" cy="2947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5" name="文档" r:id="rId7" imgW="3826872" imgH="966371" progId="Word.Document.12">
                  <p:embed/>
                </p:oleObj>
              </mc:Choice>
              <mc:Fallback>
                <p:oleObj name="文档" r:id="rId7" imgW="3826872" imgH="9663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2890" y="1697623"/>
                        <a:ext cx="11671959" cy="2947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432445" y="4654887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19949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484016"/>
              </p:ext>
            </p:extLst>
          </p:nvPr>
        </p:nvGraphicFramePr>
        <p:xfrm>
          <a:off x="288429" y="1614591"/>
          <a:ext cx="11671959" cy="256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8" name="文档" r:id="rId4" imgW="3826872" imgH="839869" progId="Word.Document.12">
                  <p:embed/>
                </p:oleObj>
              </mc:Choice>
              <mc:Fallback>
                <p:oleObj name="文档" r:id="rId4" imgW="3826872" imgH="8398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614591"/>
                        <a:ext cx="11671959" cy="256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941507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288429" y="749303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由已知得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2cos(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C-A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由正弦定理得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63163"/>
              </p:ext>
            </p:extLst>
          </p:nvPr>
        </p:nvGraphicFramePr>
        <p:xfrm>
          <a:off x="422613" y="4279330"/>
          <a:ext cx="11705058" cy="1582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2" name="文档" r:id="rId4" imgW="3837724" imgH="518866" progId="Word.Document.12">
                  <p:embed/>
                </p:oleObj>
              </mc:Choice>
              <mc:Fallback>
                <p:oleObj name="文档" r:id="rId4" imgW="3837724" imgH="5188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613" y="4279330"/>
                        <a:ext cx="11705058" cy="1582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563736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88</TotalTime>
  <Words>873</Words>
  <Application>Microsoft Office PowerPoint</Application>
  <PresentationFormat>自定义</PresentationFormat>
  <Paragraphs>78</Paragraphs>
  <Slides>46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64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24</cp:revision>
  <dcterms:created xsi:type="dcterms:W3CDTF">2020-09-12T05:36:12Z</dcterms:created>
  <dcterms:modified xsi:type="dcterms:W3CDTF">2025-09-04T05:27:31Z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