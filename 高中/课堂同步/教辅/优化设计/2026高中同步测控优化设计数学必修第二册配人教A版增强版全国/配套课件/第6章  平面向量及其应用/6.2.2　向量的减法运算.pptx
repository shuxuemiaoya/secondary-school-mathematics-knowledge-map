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731" r:id="rId2"/>
    <p:sldId id="753" r:id="rId3"/>
    <p:sldId id="736" r:id="rId4"/>
    <p:sldId id="744" r:id="rId5"/>
    <p:sldId id="746" r:id="rId6"/>
    <p:sldId id="749" r:id="rId7"/>
    <p:sldId id="757" r:id="rId8"/>
    <p:sldId id="758" r:id="rId9"/>
    <p:sldId id="759" r:id="rId10"/>
    <p:sldId id="760" r:id="rId11"/>
    <p:sldId id="761" r:id="rId12"/>
    <p:sldId id="737" r:id="rId13"/>
    <p:sldId id="750" r:id="rId14"/>
    <p:sldId id="762" r:id="rId15"/>
    <p:sldId id="763" r:id="rId16"/>
    <p:sldId id="764" r:id="rId17"/>
    <p:sldId id="765" r:id="rId18"/>
    <p:sldId id="766" r:id="rId19"/>
    <p:sldId id="767" r:id="rId20"/>
    <p:sldId id="754" r:id="rId21"/>
    <p:sldId id="768" r:id="rId22"/>
    <p:sldId id="769" r:id="rId23"/>
    <p:sldId id="770" r:id="rId24"/>
    <p:sldId id="755" r:id="rId25"/>
    <p:sldId id="771" r:id="rId26"/>
    <p:sldId id="772" r:id="rId27"/>
    <p:sldId id="773" r:id="rId28"/>
    <p:sldId id="747" r:id="rId29"/>
    <p:sldId id="751" r:id="rId30"/>
    <p:sldId id="774" r:id="rId31"/>
    <p:sldId id="775" r:id="rId32"/>
    <p:sldId id="776" r:id="rId33"/>
    <p:sldId id="777" r:id="rId34"/>
    <p:sldId id="748" r:id="rId35"/>
    <p:sldId id="752" r:id="rId36"/>
    <p:sldId id="778" r:id="rId37"/>
    <p:sldId id="779" r:id="rId38"/>
    <p:sldId id="780" r:id="rId39"/>
    <p:sldId id="735" r:id="rId4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39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4.xml"/><Relationship Id="rId5" Type="http://schemas.openxmlformats.org/officeDocument/2006/relationships/slide" Target="slide28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3.docx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jpeg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Relationship Id="rId9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6.docx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0.e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jpeg"/><Relationship Id="rId11" Type="http://schemas.openxmlformats.org/officeDocument/2006/relationships/package" Target="../embeddings/Microsoft_Word___7.docx"/><Relationship Id="rId5" Type="http://schemas.openxmlformats.org/officeDocument/2006/relationships/image" Target="../media/image8.emf"/><Relationship Id="rId10" Type="http://schemas.openxmlformats.org/officeDocument/2006/relationships/oleObject" Target="../embeddings/oleObject7.bin"/><Relationship Id="rId4" Type="http://schemas.openxmlformats.org/officeDocument/2006/relationships/package" Target="../embeddings/Microsoft_Word___5.docx"/><Relationship Id="rId9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1.docx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jpeg"/><Relationship Id="rId5" Type="http://schemas.openxmlformats.org/officeDocument/2006/relationships/image" Target="../media/image14.emf"/><Relationship Id="rId10" Type="http://schemas.openxmlformats.org/officeDocument/2006/relationships/image" Target="../media/image17.jpeg"/><Relationship Id="rId4" Type="http://schemas.openxmlformats.org/officeDocument/2006/relationships/package" Target="../embeddings/Microsoft_Word___10.docx"/><Relationship Id="rId9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2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3.docx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25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4.jpeg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4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5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16.docx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17.docx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19.bin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19.doc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2.docx"/><Relationship Id="rId3" Type="http://schemas.openxmlformats.org/officeDocument/2006/relationships/image" Target="../media/image34.jpeg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Word___21.docx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3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23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6.docx"/><Relationship Id="rId3" Type="http://schemas.openxmlformats.org/officeDocument/2006/relationships/image" Target="../media/image40.jpeg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8.emf"/><Relationship Id="rId5" Type="http://schemas.openxmlformats.org/officeDocument/2006/relationships/package" Target="../embeddings/Microsoft_Word___25.docx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9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27.docx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5.jpeg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29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46.emf"/><Relationship Id="rId4" Type="http://schemas.openxmlformats.org/officeDocument/2006/relationships/package" Target="../embeddings/Microsoft_Word___30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32.docx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9.jpeg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31.docx"/><Relationship Id="rId9" Type="http://schemas.openxmlformats.org/officeDocument/2006/relationships/image" Target="../media/image48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package" Target="../embeddings/Microsoft_Word___36.docx"/><Relationship Id="rId3" Type="http://schemas.openxmlformats.org/officeDocument/2006/relationships/oleObject" Target="../embeddings/oleObject33.bin"/><Relationship Id="rId7" Type="http://schemas.openxmlformats.org/officeDocument/2006/relationships/package" Target="../embeddings/Microsoft_Word___34.docx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54.emf"/><Relationship Id="rId2" Type="http://schemas.openxmlformats.org/officeDocument/2006/relationships/slideLayout" Target="../slideLayouts/slideLayout4.xml"/><Relationship Id="rId16" Type="http://schemas.openxmlformats.org/officeDocument/2006/relationships/package" Target="../embeddings/Microsoft_Word___37.docx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52.emf"/><Relationship Id="rId5" Type="http://schemas.openxmlformats.org/officeDocument/2006/relationships/image" Target="../media/image50.emf"/><Relationship Id="rId15" Type="http://schemas.openxmlformats.org/officeDocument/2006/relationships/oleObject" Target="../embeddings/oleObject37.bin"/><Relationship Id="rId10" Type="http://schemas.openxmlformats.org/officeDocument/2006/relationships/package" Target="../embeddings/Microsoft_Word___35.docx"/><Relationship Id="rId4" Type="http://schemas.openxmlformats.org/officeDocument/2006/relationships/package" Target="../embeddings/Microsoft_Word___33.docx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53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39.docx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7.jpeg"/><Relationship Id="rId5" Type="http://schemas.openxmlformats.org/officeDocument/2006/relationships/image" Target="../media/image55.emf"/><Relationship Id="rId4" Type="http://schemas.openxmlformats.org/officeDocument/2006/relationships/package" Target="../embeddings/Microsoft_Word___38.docx"/><Relationship Id="rId9" Type="http://schemas.openxmlformats.org/officeDocument/2006/relationships/image" Target="../media/image56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899733"/>
            <a:ext cx="10807700" cy="22044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6.2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平面向量的运算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向量的减法运算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67878"/>
            <a:ext cx="10729192" cy="3456385"/>
            <a:chOff x="360437" y="1079847"/>
            <a:chExt cx="10729192" cy="345638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079847"/>
              <a:ext cx="10729192" cy="3456385"/>
              <a:chOff x="360437" y="1708626"/>
              <a:chExt cx="10729192" cy="236075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08626"/>
                <a:ext cx="10729192" cy="236075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746923"/>
                <a:ext cx="0" cy="226239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078128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理解相反向量的含义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借助实例和平面向量的几何表示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理解向量减法运算的几何意义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掌握平面向量减法运算及运算规则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能运用向量的加法和减法运算解决相关问题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想象和数学运算的核心素养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7579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一、相反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向量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类比实数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的相反数是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相反向量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它有哪些性质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长度相等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方向相反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性质有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2880047"/>
            <a:ext cx="492443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742050"/>
              </p:ext>
            </p:extLst>
          </p:nvPr>
        </p:nvGraphicFramePr>
        <p:xfrm>
          <a:off x="-205795" y="3528399"/>
          <a:ext cx="12004724" cy="3419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文档" r:id="rId4" imgW="3935975" imgH="1121263" progId="Word.Document.12">
                  <p:embed/>
                </p:oleObj>
              </mc:Choice>
              <mc:Fallback>
                <p:oleObj name="文档" r:id="rId4" imgW="3935975" imgH="11212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205795" y="3528399"/>
                        <a:ext cx="12004724" cy="34198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265093" y="4308371"/>
            <a:ext cx="39341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614375" y="4956723"/>
            <a:ext cx="39341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8177035" y="4956723"/>
            <a:ext cx="393417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77791"/>
            <a:ext cx="11742454" cy="3475568"/>
            <a:chOff x="361950" y="719807"/>
            <a:chExt cx="11742454" cy="347556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719807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是平行四边形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相交于点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下列选项中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互为相反向量的是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7983323"/>
                </p:ext>
              </p:extLst>
            </p:nvPr>
          </p:nvGraphicFramePr>
          <p:xfrm>
            <a:off x="432445" y="2880047"/>
            <a:ext cx="11671959" cy="1315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" name="文档" r:id="rId4" imgW="3826872" imgH="431255" progId="Word.Document.12">
                    <p:embed/>
                  </p:oleObj>
                </mc:Choice>
                <mc:Fallback>
                  <p:oleObj name="文档" r:id="rId4" imgW="3826872" imgH="43125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880047"/>
                          <a:ext cx="11671959" cy="131532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YMG2TRA49.eps" descr="id:2147496955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481117" y="1943943"/>
              <a:ext cx="3888432" cy="1938930"/>
            </a:xfrm>
            <a:prstGeom prst="rect">
              <a:avLst/>
            </a:prstGeom>
          </p:spPr>
        </p:pic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338190"/>
              </p:ext>
            </p:extLst>
          </p:nvPr>
        </p:nvGraphicFramePr>
        <p:xfrm>
          <a:off x="361950" y="4359423"/>
          <a:ext cx="11671959" cy="665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文档" r:id="rId8" imgW="3826872" imgH="218143" progId="Word.Document.12">
                  <p:embed/>
                </p:oleObj>
              </mc:Choice>
              <mc:Fallback>
                <p:oleObj name="文档" r:id="rId8" imgW="3826872" imgH="2181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1950" y="4359423"/>
                        <a:ext cx="11671959" cy="665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286384" y="498224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11592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4058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二、向量的减法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在实数运算中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减法是加法的逆运算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其运算法则是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减去一个数等于加上这个数的相反数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我们能否类似地定义向量的减法呢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减去一个向量等于加上这个向量的相反向量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根据向量的加法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如何求作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先作出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再按三角形法则或平行四边形法则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作出</a:t>
            </a:r>
            <a:endParaRPr lang="en-US" altLang="zh-CN" dirty="0" smtClean="0">
              <a:solidFill>
                <a:srgbClr val="0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37280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85623"/>
            <a:ext cx="595035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805152"/>
              </p:ext>
            </p:extLst>
          </p:nvPr>
        </p:nvGraphicFramePr>
        <p:xfrm>
          <a:off x="168275" y="1232610"/>
          <a:ext cx="11350625" cy="560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文档" r:id="rId4" imgW="4100818" imgH="2027509" progId="Word.Document.12">
                  <p:embed/>
                </p:oleObj>
              </mc:Choice>
              <mc:Fallback>
                <p:oleObj name="文档" r:id="rId4" imgW="4100818" imgH="20275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275" y="1232610"/>
                        <a:ext cx="11350625" cy="560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9371269" y="1365608"/>
            <a:ext cx="149400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67730" y="5551245"/>
            <a:ext cx="69696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929215" y="5551245"/>
            <a:ext cx="69696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69655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81983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对角线相交于点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546580"/>
              </p:ext>
            </p:extLst>
          </p:nvPr>
        </p:nvGraphicFramePr>
        <p:xfrm>
          <a:off x="428966" y="1513000"/>
          <a:ext cx="11671959" cy="193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文档" r:id="rId4" imgW="3826872" imgH="633586" progId="Word.Document.12">
                  <p:embed/>
                </p:oleObj>
              </mc:Choice>
              <mc:Fallback>
                <p:oleObj name="文档" r:id="rId4" imgW="3826872" imgH="6335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8966" y="1513000"/>
                        <a:ext cx="11671959" cy="193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YMG2TRA52.eps" descr="id:2147496970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5765799" y="1526017"/>
            <a:ext cx="2371501" cy="2006093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723884"/>
              </p:ext>
            </p:extLst>
          </p:nvPr>
        </p:nvGraphicFramePr>
        <p:xfrm>
          <a:off x="443884" y="3427720"/>
          <a:ext cx="11671959" cy="1897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文档" r:id="rId8" imgW="3826872" imgH="622085" progId="Word.Document.12">
                  <p:embed/>
                </p:oleObj>
              </mc:Choice>
              <mc:Fallback>
                <p:oleObj name="文档" r:id="rId8" imgW="3826872" imgH="6220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43884" y="3427720"/>
                        <a:ext cx="11671959" cy="18973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488786"/>
              </p:ext>
            </p:extLst>
          </p:nvPr>
        </p:nvGraphicFramePr>
        <p:xfrm>
          <a:off x="384948" y="5329424"/>
          <a:ext cx="11671959" cy="65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文档" r:id="rId11" imgW="3826872" imgH="214909" progId="Word.Document.12">
                  <p:embed/>
                </p:oleObj>
              </mc:Choice>
              <mc:Fallback>
                <p:oleObj name="文档" r:id="rId11" imgW="3826872" imgH="214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4948" y="5329424"/>
                        <a:ext cx="11671959" cy="65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138874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26921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方向相反的向量就是相反向量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相反向量一定是共线向量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相反向量的模一定相等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同起点的两个向量的差向量的方向由被减向量指向减向量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向量的减法运算可以通过相反向量转化为加法运算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25133" y="2664023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833045" y="3172506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309406" y="3744143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204950" y="4968279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297541" y="5568132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89683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056138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减法的几何意义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192162"/>
              </p:ext>
            </p:extLst>
          </p:nvPr>
        </p:nvGraphicFramePr>
        <p:xfrm>
          <a:off x="504453" y="1776218"/>
          <a:ext cx="11671959" cy="1765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文档" r:id="rId4" imgW="3826872" imgH="578960" progId="Word.Document.12">
                  <p:embed/>
                </p:oleObj>
              </mc:Choice>
              <mc:Fallback>
                <p:oleObj name="文档" r:id="rId4" imgW="3826872" imgH="5789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776218"/>
                        <a:ext cx="11671959" cy="17658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470895"/>
              </p:ext>
            </p:extLst>
          </p:nvPr>
        </p:nvGraphicFramePr>
        <p:xfrm>
          <a:off x="504452" y="3582895"/>
          <a:ext cx="11671959" cy="65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文档" r:id="rId7" imgW="3826872" imgH="214909" progId="Word.Document.12">
                  <p:embed/>
                </p:oleObj>
              </mc:Choice>
              <mc:Fallback>
                <p:oleObj name="文档" r:id="rId7" imgW="3826872" imgH="214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3582895"/>
                        <a:ext cx="11671959" cy="65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9933" y="4203175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463549"/>
              </p:ext>
            </p:extLst>
          </p:nvPr>
        </p:nvGraphicFramePr>
        <p:xfrm>
          <a:off x="432445" y="647799"/>
          <a:ext cx="11671959" cy="1192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文档" r:id="rId4" imgW="3826872" imgH="391005" progId="Word.Document.12">
                  <p:embed/>
                </p:oleObj>
              </mc:Choice>
              <mc:Fallback>
                <p:oleObj name="文档" r:id="rId4" imgW="3826872" imgH="3910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647799"/>
                        <a:ext cx="11671959" cy="1192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YMG2TRA51.eps" descr="id:2147496991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888829" y="1556023"/>
            <a:ext cx="2592288" cy="1900088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361950" y="3753975"/>
            <a:ext cx="11807799" cy="2438440"/>
            <a:chOff x="361950" y="3609959"/>
            <a:chExt cx="11807799" cy="2438440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1175657"/>
                </p:ext>
              </p:extLst>
            </p:nvPr>
          </p:nvGraphicFramePr>
          <p:xfrm>
            <a:off x="497790" y="3609959"/>
            <a:ext cx="11671959" cy="665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6" name="文档" r:id="rId8" imgW="3826872" imgH="218143" progId="Word.Document.12">
                    <p:embed/>
                  </p:oleObj>
                </mc:Choice>
                <mc:Fallback>
                  <p:oleObj name="文档" r:id="rId8" imgW="3826872" imgH="21814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97790" y="3609959"/>
                          <a:ext cx="11671959" cy="6653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" name="YMG2TRA53.eps" descr="id:2147496998;FounderCES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7345213" y="3645699"/>
              <a:ext cx="2448272" cy="2253783"/>
            </a:xfrm>
            <a:prstGeom prst="rect">
              <a:avLst/>
            </a:prstGeom>
          </p:spPr>
        </p:pic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4239827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先利用向量加法的平行四边形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法</a:t>
              </a:r>
              <a:endPara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作向量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再利用向量减法的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几何</a:t>
              </a:r>
              <a:endPara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意义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作图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180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173729"/>
              </p:ext>
            </p:extLst>
          </p:nvPr>
        </p:nvGraphicFramePr>
        <p:xfrm>
          <a:off x="432445" y="2375991"/>
          <a:ext cx="11671959" cy="131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文档" r:id="rId4" imgW="3826872" imgH="429818" progId="Word.Document.12">
                  <p:embed/>
                </p:oleObj>
              </mc:Choice>
              <mc:Fallback>
                <p:oleObj name="文档" r:id="rId4" imgW="3826872" imgH="4298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375991"/>
                        <a:ext cx="11671959" cy="1310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593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811479"/>
            <a:ext cx="2259558" cy="531552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38973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求作两个向量的差向量的两种思路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用向量减法的三角形法则作两向量的差的步骤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YMG2TRA54.eps" descr="id:214749701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592685" y="2649511"/>
            <a:ext cx="5760640" cy="2423277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61950" y="513365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此步骤可以简记为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作平移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共起点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两尾连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指被减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23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2015951"/>
            <a:ext cx="11693528" cy="2016224"/>
            <a:chOff x="361950" y="2015951"/>
            <a:chExt cx="11693528" cy="201622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015951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利用相反向量作两向量差的方法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2287627"/>
                </p:ext>
              </p:extLst>
            </p:nvPr>
          </p:nvGraphicFramePr>
          <p:xfrm>
            <a:off x="383519" y="2721230"/>
            <a:ext cx="11671959" cy="13109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3" name="文档" r:id="rId4" imgW="3826872" imgH="429818" progId="Word.Document.12">
                    <p:embed/>
                  </p:oleObj>
                </mc:Choice>
                <mc:Fallback>
                  <p:oleObj name="文档" r:id="rId4" imgW="3826872" imgH="42981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3519" y="2721230"/>
                          <a:ext cx="11671959" cy="13109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4043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655911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不共线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求作向量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a+b-c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YMG2TRA55.eps" descr="id:214749701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888829" y="2382710"/>
            <a:ext cx="2592288" cy="157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6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667185"/>
              </p:ext>
            </p:extLst>
          </p:nvPr>
        </p:nvGraphicFramePr>
        <p:xfrm>
          <a:off x="504453" y="687127"/>
          <a:ext cx="11671959" cy="262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文档" r:id="rId4" imgW="3826872" imgH="859995" progId="Word.Document.12">
                  <p:embed/>
                </p:oleObj>
              </mc:Choice>
              <mc:Fallback>
                <p:oleObj name="文档" r:id="rId4" imgW="3826872" imgH="8599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87127"/>
                        <a:ext cx="11671959" cy="2622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YMG2TRA56.eps" descr="id:214749702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2088629" y="3302263"/>
            <a:ext cx="2664296" cy="2759684"/>
          </a:xfrm>
          <a:prstGeom prst="rect">
            <a:avLst/>
          </a:prstGeom>
        </p:spPr>
      </p:pic>
      <p:pic>
        <p:nvPicPr>
          <p:cNvPr id="7" name="YMG2TRA57.eps" descr="id:2147497033;FounderCES"/>
          <p:cNvPicPr/>
          <p:nvPr/>
        </p:nvPicPr>
        <p:blipFill>
          <a:blip r:embed="rId7"/>
          <a:stretch>
            <a:fillRect/>
          </a:stretch>
        </p:blipFill>
        <p:spPr>
          <a:xfrm>
            <a:off x="5473005" y="3495849"/>
            <a:ext cx="2692255" cy="1904478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2941388" y="5739979"/>
            <a:ext cx="803425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6789198" y="5725175"/>
            <a:ext cx="596637" cy="6047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97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906335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加减法的运算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08970"/>
              </p:ext>
            </p:extLst>
          </p:nvPr>
        </p:nvGraphicFramePr>
        <p:xfrm>
          <a:off x="504453" y="1626415"/>
          <a:ext cx="11671959" cy="255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文档" r:id="rId4" imgW="3826872" imgH="837713" progId="Word.Document.12">
                  <p:embed/>
                </p:oleObj>
              </mc:Choice>
              <mc:Fallback>
                <p:oleObj name="文档" r:id="rId4" imgW="3826872" imgH="8377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626415"/>
                        <a:ext cx="11671959" cy="255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418268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按照向量加法和减法的运算法则进行化简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进行减法运算时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必须保证两个向量的起点相同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774588"/>
              </p:ext>
            </p:extLst>
          </p:nvPr>
        </p:nvGraphicFramePr>
        <p:xfrm>
          <a:off x="209758" y="1801355"/>
          <a:ext cx="11671959" cy="2518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文档" r:id="rId4" imgW="3826872" imgH="825853" progId="Word.Document.12">
                  <p:embed/>
                </p:oleObj>
              </mc:Choice>
              <mc:Fallback>
                <p:oleObj name="文档" r:id="rId4" imgW="3826872" imgH="8258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758" y="1801355"/>
                        <a:ext cx="11671959" cy="25188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159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372187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992712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向量加减法化简的两种形式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首尾相连且为和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起点相同且为差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做题时要注意观察是否有这两种形式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同时要注意逆向应用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346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052888"/>
              </p:ext>
            </p:extLst>
          </p:nvPr>
        </p:nvGraphicFramePr>
        <p:xfrm>
          <a:off x="432445" y="952465"/>
          <a:ext cx="11671959" cy="1933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文档" r:id="rId4" imgW="3826872" imgH="633945" progId="Word.Document.12">
                  <p:embed/>
                </p:oleObj>
              </mc:Choice>
              <mc:Fallback>
                <p:oleObj name="文档" r:id="rId4" imgW="3826872" imgH="6339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52465"/>
                        <a:ext cx="11671959" cy="1933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677828"/>
              </p:ext>
            </p:extLst>
          </p:nvPr>
        </p:nvGraphicFramePr>
        <p:xfrm>
          <a:off x="432445" y="2916345"/>
          <a:ext cx="11671959" cy="251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文档" r:id="rId7" imgW="3826872" imgH="825135" progId="Word.Document.12">
                  <p:embed/>
                </p:oleObj>
              </mc:Choice>
              <mc:Fallback>
                <p:oleObj name="文档" r:id="rId7" imgW="3826872" imgH="8251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916345"/>
                        <a:ext cx="11671959" cy="2516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316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68047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加减法在平面几何中的应用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654533"/>
              </p:ext>
            </p:extLst>
          </p:nvPr>
        </p:nvGraphicFramePr>
        <p:xfrm>
          <a:off x="288429" y="1332520"/>
          <a:ext cx="11671959" cy="195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文档" r:id="rId4" imgW="3826872" imgH="640414" progId="Word.Document.12">
                  <p:embed/>
                </p:oleObj>
              </mc:Choice>
              <mc:Fallback>
                <p:oleObj name="文档" r:id="rId4" imgW="3826872" imgH="6404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332520"/>
                        <a:ext cx="11671959" cy="1953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907802"/>
              </p:ext>
            </p:extLst>
          </p:nvPr>
        </p:nvGraphicFramePr>
        <p:xfrm>
          <a:off x="288429" y="3256287"/>
          <a:ext cx="11671959" cy="257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文档" r:id="rId7" imgW="3826872" imgH="843463" progId="Word.Document.12">
                  <p:embed/>
                </p:oleObj>
              </mc:Choice>
              <mc:Fallback>
                <p:oleObj name="文档" r:id="rId7" imgW="3826872" imgH="8434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429" y="3256287"/>
                        <a:ext cx="11671959" cy="2572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26253" y="5737919"/>
            <a:ext cx="330731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平行四边形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824495"/>
            <a:ext cx="2524095" cy="460328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233970"/>
              </p:ext>
            </p:extLst>
          </p:nvPr>
        </p:nvGraphicFramePr>
        <p:xfrm>
          <a:off x="360437" y="1348215"/>
          <a:ext cx="11671959" cy="186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文档" r:id="rId5" imgW="3826872" imgH="612023" progId="Word.Document.12">
                  <p:embed/>
                </p:oleObj>
              </mc:Choice>
              <mc:Fallback>
                <p:oleObj name="文档" r:id="rId5" imgW="3826872" imgH="6120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0437" y="1348215"/>
                        <a:ext cx="11671959" cy="1866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498353"/>
              </p:ext>
            </p:extLst>
          </p:nvPr>
        </p:nvGraphicFramePr>
        <p:xfrm>
          <a:off x="360437" y="3200759"/>
          <a:ext cx="11671959" cy="1917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name="文档" r:id="rId8" imgW="3826872" imgH="628554" progId="Word.Document.12">
                  <p:embed/>
                </p:oleObj>
              </mc:Choice>
              <mc:Fallback>
                <p:oleObj name="文档" r:id="rId8" imgW="3826872" imgH="6285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0437" y="3200759"/>
                        <a:ext cx="11671959" cy="1917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278597" y="5047607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12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方法总结H.eps" descr="id:214749706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449719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2002544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对于平行四边形、菱形、矩形、正方形对角线具有的性质要熟悉并会应用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基本思路是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先对向量条件化简、转化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三角形或平行四边形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确定图形的形状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利用图形的几何性质求解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25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3478"/>
              </p:ext>
            </p:extLst>
          </p:nvPr>
        </p:nvGraphicFramePr>
        <p:xfrm>
          <a:off x="355600" y="709975"/>
          <a:ext cx="11617325" cy="133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8" name="文档" r:id="rId4" imgW="3826872" imgH="440599" progId="Word.Document.12">
                  <p:embed/>
                </p:oleObj>
              </mc:Choice>
              <mc:Fallback>
                <p:oleObj name="文档" r:id="rId4" imgW="3826872" imgH="4405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709975"/>
                        <a:ext cx="11617325" cy="1335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278597" y="1925638"/>
            <a:ext cx="11737191" cy="4335216"/>
            <a:chOff x="278597" y="1968535"/>
            <a:chExt cx="11737191" cy="4335216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3068428"/>
                </p:ext>
              </p:extLst>
            </p:nvPr>
          </p:nvGraphicFramePr>
          <p:xfrm>
            <a:off x="355600" y="1968535"/>
            <a:ext cx="11660188" cy="2581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9" name="文档" r:id="rId7" imgW="3826872" imgH="848494" progId="Word.Document.12">
                    <p:embed/>
                  </p:oleObj>
                </mc:Choice>
                <mc:Fallback>
                  <p:oleObj name="文档" r:id="rId7" imgW="3826872" imgH="84849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5600" y="1968535"/>
                          <a:ext cx="11660188" cy="25812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278597" y="449517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为邻边的平行四边形的两条对角线的长度相等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所以此平行四边形为矩形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是直角三角形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169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288429" y="637967"/>
            <a:ext cx="11739752" cy="5616624"/>
            <a:chOff x="288429" y="647799"/>
            <a:chExt cx="11739752" cy="5616624"/>
          </a:xfrm>
        </p:grpSpPr>
        <p:pic>
          <p:nvPicPr>
            <p:cNvPr id="2" name="YMG2TRA58.eps" descr="id:2147497082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562957" y="1934111"/>
              <a:ext cx="2952328" cy="3130599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3608" y="647799"/>
              <a:ext cx="4304383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错用向量减法法则致错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9116688"/>
                </p:ext>
              </p:extLst>
            </p:nvPr>
          </p:nvGraphicFramePr>
          <p:xfrm>
            <a:off x="355600" y="1300470"/>
            <a:ext cx="11660188" cy="1344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2" name="文档" r:id="rId5" imgW="3826872" imgH="442036" progId="Word.Document.12">
                    <p:embed/>
                  </p:oleObj>
                </mc:Choice>
                <mc:Fallback>
                  <p:oleObj name="文档" r:id="rId5" imgW="3826872" imgH="44203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5600" y="1300470"/>
                          <a:ext cx="11660188" cy="13446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414927"/>
                </p:ext>
              </p:extLst>
            </p:nvPr>
          </p:nvGraphicFramePr>
          <p:xfrm>
            <a:off x="356222" y="4391310"/>
            <a:ext cx="11671959" cy="655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3" name="文档" r:id="rId8" imgW="3826872" imgH="214909" progId="Word.Document.12">
                    <p:embed/>
                  </p:oleObj>
                </mc:Choice>
                <mc:Fallback>
                  <p:oleObj name="文档" r:id="rId8" imgW="3826872" imgH="2149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56222" y="4391310"/>
                          <a:ext cx="11671959" cy="6554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288429" y="5046782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61950" y="1221133"/>
            <a:ext cx="12586886" cy="2456057"/>
            <a:chOff x="361950" y="965997"/>
            <a:chExt cx="12586886" cy="2456057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965997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提示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错解中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在用向量减法运算表示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错用了运算法则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弄反了方向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导致错误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作向量减法时特别要注意差向量的方向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有公共起点的向量作差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应由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减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向量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终点指向被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减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向量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终点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8209444"/>
                </p:ext>
              </p:extLst>
            </p:nvPr>
          </p:nvGraphicFramePr>
          <p:xfrm>
            <a:off x="1276877" y="1015090"/>
            <a:ext cx="11671959" cy="549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6" name="文档" r:id="rId4" imgW="3826872" imgH="180049" progId="Word.Document.12">
                    <p:embed/>
                  </p:oleObj>
                </mc:Choice>
                <mc:Fallback>
                  <p:oleObj name="文档" r:id="rId4" imgW="3826872" imgH="18004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276877" y="1015090"/>
                          <a:ext cx="11671959" cy="5491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225189"/>
              </p:ext>
            </p:extLst>
          </p:nvPr>
        </p:nvGraphicFramePr>
        <p:xfrm>
          <a:off x="422285" y="3669729"/>
          <a:ext cx="11671959" cy="1226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文档" r:id="rId7" imgW="3826872" imgH="402145" progId="Word.Document.12">
                  <p:embed/>
                </p:oleObj>
              </mc:Choice>
              <mc:Fallback>
                <p:oleObj name="文档" r:id="rId7" imgW="3826872" imgH="4021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2285" y="3669729"/>
                        <a:ext cx="11671959" cy="1226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88779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防范措施H.eps" descr="id:214749086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727919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2321214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向量减法口诀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起点相同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连接终点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箭头指向被减向量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应把首尾相接的放在一起计算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起点相同的放在一起计算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必要时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可画出图形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结合图形观察将使问题更为直观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7653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656649"/>
              </p:ext>
            </p:extLst>
          </p:nvPr>
        </p:nvGraphicFramePr>
        <p:xfrm>
          <a:off x="504453" y="1350483"/>
          <a:ext cx="11671959" cy="330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文档" r:id="rId4" imgW="3826872" imgH="1084607" progId="Word.Document.12">
                  <p:embed/>
                </p:oleObj>
              </mc:Choice>
              <mc:Fallback>
                <p:oleObj name="文档" r:id="rId4" imgW="3826872" imgH="10846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350483"/>
                        <a:ext cx="11671959" cy="3308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YMG2TRA59.eps" descr="id:214749709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273205" y="1494498"/>
            <a:ext cx="3312368" cy="340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4611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018930"/>
              </p:ext>
            </p:extLst>
          </p:nvPr>
        </p:nvGraphicFramePr>
        <p:xfrm>
          <a:off x="357188" y="1512888"/>
          <a:ext cx="11645900" cy="315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文档" r:id="rId4" imgW="3837724" imgH="1043502" progId="Word.Document.12">
                  <p:embed/>
                </p:oleObj>
              </mc:Choice>
              <mc:Fallback>
                <p:oleObj name="文档" r:id="rId4" imgW="3837724" imgH="10435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188" y="1512888"/>
                        <a:ext cx="11645900" cy="3154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035220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60183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的相反向量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则下列说法错误的是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的长度必相等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一定不相等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的相反向量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的相反向量是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294222"/>
              </p:ext>
            </p:extLst>
          </p:nvPr>
        </p:nvGraphicFramePr>
        <p:xfrm>
          <a:off x="297993" y="719807"/>
          <a:ext cx="11645900" cy="352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8" name="文档" r:id="rId4" imgW="3837724" imgH="1162491" progId="Word.Document.12">
                  <p:embed/>
                </p:oleObj>
              </mc:Choice>
              <mc:Fallback>
                <p:oleObj name="文档" r:id="rId4" imgW="3837724" imgH="11624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7993" y="719807"/>
                        <a:ext cx="11645900" cy="3521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YMG2TRA60.eps" descr="id:2147497110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5404166" y="1358047"/>
            <a:ext cx="2952328" cy="2382680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115879"/>
              </p:ext>
            </p:extLst>
          </p:nvPr>
        </p:nvGraphicFramePr>
        <p:xfrm>
          <a:off x="272726" y="4211386"/>
          <a:ext cx="10640962" cy="1605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9" name="文档" r:id="rId8" imgW="3837724" imgH="579082" progId="Word.Document.12">
                  <p:embed/>
                </p:oleObj>
              </mc:Choice>
              <mc:Fallback>
                <p:oleObj name="文档" r:id="rId8" imgW="3837724" imgH="5790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2726" y="4211386"/>
                        <a:ext cx="10640962" cy="16056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144413" y="5797183"/>
            <a:ext cx="211468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79058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235827"/>
              </p:ext>
            </p:extLst>
          </p:nvPr>
        </p:nvGraphicFramePr>
        <p:xfrm>
          <a:off x="216421" y="1192559"/>
          <a:ext cx="11671959" cy="65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6" name="文档" r:id="rId4" imgW="3826872" imgH="214909" progId="Word.Document.12">
                  <p:embed/>
                </p:oleObj>
              </mc:Choice>
              <mc:Fallback>
                <p:oleObj name="文档" r:id="rId4" imgW="3826872" imgH="214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192559"/>
                        <a:ext cx="11671959" cy="65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898463"/>
              </p:ext>
            </p:extLst>
          </p:nvPr>
        </p:nvGraphicFramePr>
        <p:xfrm>
          <a:off x="219590" y="1818535"/>
          <a:ext cx="11671959" cy="65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name="文档" r:id="rId7" imgW="3826872" imgH="214909" progId="Word.Document.12">
                  <p:embed/>
                </p:oleObj>
              </mc:Choice>
              <mc:Fallback>
                <p:oleObj name="文档" r:id="rId7" imgW="3826872" imgH="214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590" y="1818535"/>
                        <a:ext cx="11671959" cy="65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spect="1"/>
          </p:cNvSpPr>
          <p:nvPr/>
        </p:nvSpPr>
        <p:spPr>
          <a:xfrm>
            <a:off x="126203" y="2443903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267092"/>
              </p:ext>
            </p:extLst>
          </p:nvPr>
        </p:nvGraphicFramePr>
        <p:xfrm>
          <a:off x="147638" y="3121025"/>
          <a:ext cx="11644312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" name="文档" r:id="rId10" imgW="3826872" imgH="211315" progId="Word.Document.12">
                  <p:embed/>
                </p:oleObj>
              </mc:Choice>
              <mc:Fallback>
                <p:oleObj name="文档" r:id="rId10" imgW="3826872" imgH="21131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7638" y="3121025"/>
                        <a:ext cx="11644312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066251"/>
              </p:ext>
            </p:extLst>
          </p:nvPr>
        </p:nvGraphicFramePr>
        <p:xfrm>
          <a:off x="134580" y="3775260"/>
          <a:ext cx="11671959" cy="65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" name="文档" r:id="rId13" imgW="3826872" imgH="213831" progId="Word.Document.12">
                  <p:embed/>
                </p:oleObj>
              </mc:Choice>
              <mc:Fallback>
                <p:oleObj name="文档" r:id="rId13" imgW="3826872" imgH="2138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4580" y="3775260"/>
                        <a:ext cx="11671959" cy="65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247271"/>
              </p:ext>
            </p:extLst>
          </p:nvPr>
        </p:nvGraphicFramePr>
        <p:xfrm>
          <a:off x="115888" y="4392613"/>
          <a:ext cx="116459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0" name="文档" r:id="rId16" imgW="3826872" imgH="226768" progId="Word.Document.12">
                  <p:embed/>
                </p:oleObj>
              </mc:Choice>
              <mc:Fallback>
                <p:oleObj name="文档" r:id="rId16" imgW="3826872" imgH="2267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5888" y="4392613"/>
                        <a:ext cx="11645900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72405" y="4428420"/>
            <a:ext cx="1350050" cy="6443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60919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713184"/>
              </p:ext>
            </p:extLst>
          </p:nvPr>
        </p:nvGraphicFramePr>
        <p:xfrm>
          <a:off x="355600" y="720725"/>
          <a:ext cx="11660188" cy="243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文档" r:id="rId4" imgW="3826872" imgH="819744" progId="Word.Document.12">
                  <p:embed/>
                </p:oleObj>
              </mc:Choice>
              <mc:Fallback>
                <p:oleObj name="文档" r:id="rId4" imgW="3826872" imgH="8197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5600" y="720725"/>
                        <a:ext cx="11660188" cy="2432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YMG2TRA61.eps" descr="id:214749711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065293" y="1295871"/>
            <a:ext cx="2232248" cy="2114333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327050"/>
              </p:ext>
            </p:extLst>
          </p:nvPr>
        </p:nvGraphicFramePr>
        <p:xfrm>
          <a:off x="345768" y="3154670"/>
          <a:ext cx="11671959" cy="3139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5" name="文档" r:id="rId8" imgW="3826872" imgH="1029262" progId="Word.Document.12">
                  <p:embed/>
                </p:oleObj>
              </mc:Choice>
              <mc:Fallback>
                <p:oleObj name="文档" r:id="rId8" imgW="3826872" imgH="10292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5768" y="3154670"/>
                        <a:ext cx="11671959" cy="3139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982466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117</TotalTime>
  <Words>884</Words>
  <Application>Microsoft Office PowerPoint</Application>
  <PresentationFormat>自定义</PresentationFormat>
  <Paragraphs>79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5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23</cp:revision>
  <dcterms:created xsi:type="dcterms:W3CDTF">2020-09-12T05:36:12Z</dcterms:created>
  <dcterms:modified xsi:type="dcterms:W3CDTF">2025-09-04T04:07:17Z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