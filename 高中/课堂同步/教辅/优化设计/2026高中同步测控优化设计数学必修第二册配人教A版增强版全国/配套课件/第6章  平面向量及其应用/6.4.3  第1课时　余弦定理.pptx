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37" r:id="rId15"/>
    <p:sldId id="750" r:id="rId16"/>
    <p:sldId id="782" r:id="rId17"/>
    <p:sldId id="764" r:id="rId18"/>
    <p:sldId id="765" r:id="rId19"/>
    <p:sldId id="754" r:id="rId20"/>
    <p:sldId id="768" r:id="rId21"/>
    <p:sldId id="769" r:id="rId22"/>
    <p:sldId id="755" r:id="rId23"/>
    <p:sldId id="770" r:id="rId24"/>
    <p:sldId id="771" r:id="rId25"/>
    <p:sldId id="772" r:id="rId26"/>
    <p:sldId id="773" r:id="rId27"/>
    <p:sldId id="747" r:id="rId28"/>
    <p:sldId id="751" r:id="rId29"/>
    <p:sldId id="774" r:id="rId30"/>
    <p:sldId id="775" r:id="rId31"/>
    <p:sldId id="776" r:id="rId32"/>
    <p:sldId id="777" r:id="rId33"/>
    <p:sldId id="778" r:id="rId34"/>
    <p:sldId id="748" r:id="rId35"/>
    <p:sldId id="752" r:id="rId36"/>
    <p:sldId id="779" r:id="rId37"/>
    <p:sldId id="780" r:id="rId38"/>
    <p:sldId id="781" r:id="rId39"/>
    <p:sldId id="783" r:id="rId40"/>
    <p:sldId id="735" r:id="rId41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40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4.xml"/><Relationship Id="rId5" Type="http://schemas.openxmlformats.org/officeDocument/2006/relationships/slide" Target="slide27.xml"/><Relationship Id="rId4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8.docx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1.docx"/><Relationship Id="rId3" Type="http://schemas.openxmlformats.org/officeDocument/2006/relationships/image" Target="../media/image14.jpeg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Word___10.docx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3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2.bin"/><Relationship Id="rId7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2.docx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4.docx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6.bin"/><Relationship Id="rId7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6.docx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8.docx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9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0.docx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1.docx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2.docx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3.docx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4.docx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6.bin"/><Relationship Id="rId7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3.emf"/><Relationship Id="rId5" Type="http://schemas.openxmlformats.org/officeDocument/2006/relationships/image" Target="../media/image31.emf"/><Relationship Id="rId10" Type="http://schemas.openxmlformats.org/officeDocument/2006/relationships/package" Target="../embeddings/Microsoft_Word___28.docx"/><Relationship Id="rId4" Type="http://schemas.openxmlformats.org/officeDocument/2006/relationships/package" Target="../embeddings/Microsoft_Word___26.docx"/><Relationship Id="rId9" Type="http://schemas.openxmlformats.org/officeDocument/2006/relationships/oleObject" Target="../embeddings/oleObject28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29.bin"/><Relationship Id="rId7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29.docx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1839673"/>
            <a:ext cx="10807700" cy="220233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余弦定理、正弦定理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余弦定理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873655"/>
            <a:ext cx="10729192" cy="5050118"/>
            <a:chOff x="360437" y="1430057"/>
            <a:chExt cx="10729192" cy="5050118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430057"/>
              <a:ext cx="10729192" cy="5050118"/>
              <a:chOff x="360437" y="1947822"/>
              <a:chExt cx="10729192" cy="3449299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947822"/>
                <a:ext cx="10729192" cy="3449299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993287"/>
                <a:ext cx="0" cy="3312371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3230257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511895"/>
              <a:ext cx="8496944" cy="47632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借助向量的运算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探索三角形边长与角度的关系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能用向量方法发现和证明余弦定理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掌握余弦定理及其推论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知道余弦定理是勾股定理的推广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勾股定理是余弦定理的特例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会用余弦定理及推论解三角形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提升数学抽象、逻辑推理和数学运算素养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8924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一、余弦定理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已知一个三角形的两条边及其夹角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这个三角形的大小、形状能完全确定吗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根据三角形全等的判断方法可知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这个三角形的大小、形状是完全确定的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722471"/>
              </p:ext>
            </p:extLst>
          </p:nvPr>
        </p:nvGraphicFramePr>
        <p:xfrm>
          <a:off x="360437" y="1203232"/>
          <a:ext cx="10640962" cy="2105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文档" r:id="rId4" imgW="3837724" imgH="759369" progId="Word.Document.12">
                  <p:embed/>
                </p:oleObj>
              </mc:Choice>
              <mc:Fallback>
                <p:oleObj name="文档" r:id="rId4" imgW="3837724" imgH="7593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203232"/>
                        <a:ext cx="10640962" cy="21055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805526"/>
              </p:ext>
            </p:extLst>
          </p:nvPr>
        </p:nvGraphicFramePr>
        <p:xfrm>
          <a:off x="360437" y="3363472"/>
          <a:ext cx="10640962" cy="1100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文档" r:id="rId7" imgW="3837724" imgH="396992" progId="Word.Document.12">
                  <p:embed/>
                </p:oleObj>
              </mc:Choice>
              <mc:Fallback>
                <p:oleObj name="文档" r:id="rId7" imgW="3837724" imgH="3969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3363472"/>
                        <a:ext cx="10640962" cy="1100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433354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63496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文字语言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三角形中任何一边的平方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等于其他两边平方的和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减去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这两边与它们夹角的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余弦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的积的两倍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符号语言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+c</a:t>
            </a:r>
            <a:r>
              <a:rPr lang="en-US" altLang="zh-CN" baseline="30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+c</a:t>
            </a:r>
            <a:r>
              <a:rPr lang="en-US" altLang="zh-CN" baseline="30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baseline="30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78283" y="1807400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1273693" y="2271498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767033" y="1838224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5762443" y="2302322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069759" y="2974908"/>
            <a:ext cx="260304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1065169" y="3439006"/>
            <a:ext cx="260010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069759" y="3564792"/>
            <a:ext cx="260304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1065169" y="4028890"/>
            <a:ext cx="260010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1091275" y="4146878"/>
            <a:ext cx="260304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1086685" y="4610976"/>
            <a:ext cx="260010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10411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0" grpId="0" animBg="1"/>
      <p:bldP spid="13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42286" y="1626776"/>
            <a:ext cx="108077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010356"/>
              </p:ext>
            </p:extLst>
          </p:nvPr>
        </p:nvGraphicFramePr>
        <p:xfrm>
          <a:off x="378012" y="2350912"/>
          <a:ext cx="11671959" cy="1407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" name="文档" r:id="rId4" imgW="3826872" imgH="461443" progId="Word.Document.12">
                  <p:embed/>
                </p:oleObj>
              </mc:Choice>
              <mc:Fallback>
                <p:oleObj name="文档" r:id="rId4" imgW="3826872" imgH="4614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8012" y="2350912"/>
                        <a:ext cx="11671959" cy="14074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97363"/>
              </p:ext>
            </p:extLst>
          </p:nvPr>
        </p:nvGraphicFramePr>
        <p:xfrm>
          <a:off x="361950" y="3720505"/>
          <a:ext cx="11671959" cy="639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name="文档" r:id="rId7" imgW="3826872" imgH="209518" progId="Word.Document.12">
                  <p:embed/>
                </p:oleObj>
              </mc:Choice>
              <mc:Fallback>
                <p:oleObj name="文档" r:id="rId7" imgW="3826872" imgH="2095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1950" y="3720505"/>
                        <a:ext cx="11671959" cy="639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751877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81983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二、余弦定理的推论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三个角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所对的边分别是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已知三条边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如何求出其三个内角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340255"/>
              </p:ext>
            </p:extLst>
          </p:nvPr>
        </p:nvGraphicFramePr>
        <p:xfrm>
          <a:off x="415950" y="2647109"/>
          <a:ext cx="11671959" cy="1861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文档" r:id="rId4" imgW="3826872" imgH="610226" progId="Word.Document.12">
                  <p:embed/>
                </p:oleObj>
              </mc:Choice>
              <mc:Fallback>
                <p:oleObj name="文档" r:id="rId4" imgW="3826872" imgH="6102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5950" y="2647109"/>
                        <a:ext cx="11671959" cy="18611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045676"/>
              </p:ext>
            </p:extLst>
          </p:nvPr>
        </p:nvGraphicFramePr>
        <p:xfrm>
          <a:off x="415950" y="4537794"/>
          <a:ext cx="11705058" cy="138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文档" r:id="rId7" imgW="3837724" imgH="453242" progId="Word.Document.12">
                  <p:embed/>
                </p:oleObj>
              </mc:Choice>
              <mc:Fallback>
                <p:oleObj name="文档" r:id="rId7" imgW="3837724" imgH="4532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5950" y="4537794"/>
                        <a:ext cx="11705058" cy="1382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105343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873026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的对边分别是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锐角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直角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钝角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不确定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366011"/>
              </p:ext>
            </p:extLst>
          </p:nvPr>
        </p:nvGraphicFramePr>
        <p:xfrm>
          <a:off x="406118" y="3278787"/>
          <a:ext cx="11671959" cy="1535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文档" r:id="rId4" imgW="3837724" imgH="505164" progId="Word.Document.12">
                  <p:embed/>
                </p:oleObj>
              </mc:Choice>
              <mc:Fallback>
                <p:oleObj name="文档" r:id="rId4" imgW="3837724" imgH="5051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6118" y="3278787"/>
                        <a:ext cx="11671959" cy="15356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27757" y="485124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70572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655911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三、解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三角形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正中黑简体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三角形的三个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对边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三角形的元素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已知三角形的几个元素求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其他元素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的过程叫做解三角形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17736" y="2303983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5112965" y="2768081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779088" y="2303983"/>
            <a:ext cx="99032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8774200" y="2768081"/>
            <a:ext cx="9892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429973" y="3455933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5425427" y="3920031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39599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9071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在三角形中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勾股定理是余弦定理针对直角三角形的一个特例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已知三角形的三边求三个内角时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解是唯一的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+c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是锐角三角形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+c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是钝角三角形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56581" y="3323246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145413" y="3960167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9433445" y="4536231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577461" y="5112295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258721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91616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已知</a:t>
            </a:r>
            <a:r>
              <a:rPr lang="zh-CN" altLang="zh-CN" dirty="0"/>
              <a:t>两边及一角解三角形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361950" y="1789767"/>
            <a:ext cx="13020009" cy="1234890"/>
            <a:chOff x="361950" y="2130610"/>
            <a:chExt cx="13020009" cy="1234890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130610"/>
              <a:ext cx="10807700" cy="123489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三个角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的对边分别为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9341851"/>
                </p:ext>
              </p:extLst>
            </p:nvPr>
          </p:nvGraphicFramePr>
          <p:xfrm>
            <a:off x="1676901" y="2782255"/>
            <a:ext cx="11705058" cy="5344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6" name="文档" r:id="rId4" imgW="3837724" imgH="175239" progId="Word.Document.12">
                    <p:embed/>
                  </p:oleObj>
                </mc:Choice>
                <mc:Fallback>
                  <p:oleObj name="文档" r:id="rId4" imgW="3837724" imgH="17523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676901" y="2782255"/>
                          <a:ext cx="11705058" cy="53447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361950" y="3023257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已知两边及其夹角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利用余弦定理求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817617"/>
              </p:ext>
            </p:extLst>
          </p:nvPr>
        </p:nvGraphicFramePr>
        <p:xfrm>
          <a:off x="454531" y="3743469"/>
          <a:ext cx="11705058" cy="1090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文档" r:id="rId7" imgW="3837724" imgH="357690" progId="Word.Document.12">
                  <p:embed/>
                </p:oleObj>
              </mc:Choice>
              <mc:Fallback>
                <p:oleObj name="文档" r:id="rId7" imgW="3837724" imgH="3576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4531" y="3743469"/>
                        <a:ext cx="11705058" cy="10909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延伸探究H.eps" descr="id:2147498775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32845" y="891143"/>
            <a:ext cx="2520280" cy="459632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362413"/>
            <a:ext cx="10807700" cy="6439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本例中将条件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其他条件不变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368957"/>
              </p:ext>
            </p:extLst>
          </p:nvPr>
        </p:nvGraphicFramePr>
        <p:xfrm>
          <a:off x="445319" y="2016204"/>
          <a:ext cx="10640962" cy="1070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2" name="文档" r:id="rId5" imgW="3837724" imgH="386175" progId="Word.Document.12">
                  <p:embed/>
                </p:oleObj>
              </mc:Choice>
              <mc:Fallback>
                <p:oleObj name="文档" r:id="rId5" imgW="3837724" imgH="3861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5319" y="2016204"/>
                        <a:ext cx="10640962" cy="10707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3106626"/>
            <a:ext cx="10807700" cy="6439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本例中将条件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其他条件不变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075214"/>
              </p:ext>
            </p:extLst>
          </p:nvPr>
        </p:nvGraphicFramePr>
        <p:xfrm>
          <a:off x="435487" y="3780081"/>
          <a:ext cx="11705058" cy="1652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3" name="文档" r:id="rId8" imgW="3837724" imgH="541943" progId="Word.Document.12">
                  <p:embed/>
                </p:oleObj>
              </mc:Choice>
              <mc:Fallback>
                <p:oleObj name="文档" r:id="rId8" imgW="3837724" imgH="5419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5487" y="3780081"/>
                        <a:ext cx="11705058" cy="16529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234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191281"/>
            <a:ext cx="10807700" cy="3652646"/>
            <a:chOff x="361950" y="1156163"/>
            <a:chExt cx="10807700" cy="3652646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156163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761821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已知三角形的两边及一角解三角形的方法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已知三角形的两边及一角解三角形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必须先判断该角是给出两边的夹角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还是其中一边的对角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若是给出两边的夹角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则可以由余弦定理求第三边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若是给出两边中一边的对角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则可以利用余弦定理建立一元二次方程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解方程求出第三条边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82465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205530"/>
              </p:ext>
            </p:extLst>
          </p:nvPr>
        </p:nvGraphicFramePr>
        <p:xfrm>
          <a:off x="438835" y="595455"/>
          <a:ext cx="10640962" cy="2440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文档" r:id="rId4" imgW="3837724" imgH="880162" progId="Word.Document.12">
                  <p:embed/>
                </p:oleObj>
              </mc:Choice>
              <mc:Fallback>
                <p:oleObj name="文档" r:id="rId4" imgW="3837724" imgH="8801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8835" y="595455"/>
                        <a:ext cx="10640962" cy="2440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550695"/>
              </p:ext>
            </p:extLst>
          </p:nvPr>
        </p:nvGraphicFramePr>
        <p:xfrm>
          <a:off x="463626" y="2960533"/>
          <a:ext cx="10640962" cy="3415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文档" r:id="rId7" imgW="3837724" imgH="1231721" progId="Word.Document.12">
                  <p:embed/>
                </p:oleObj>
              </mc:Choice>
              <mc:Fallback>
                <p:oleObj name="文档" r:id="rId7" imgW="3837724" imgH="12317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3626" y="2960533"/>
                        <a:ext cx="10640962" cy="34152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8065293" y="5653167"/>
            <a:ext cx="311655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(1)A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2)5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07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已知</a:t>
            </a:r>
            <a:r>
              <a:rPr lang="zh-CN" altLang="zh-CN" dirty="0"/>
              <a:t>三边解三角形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34318"/>
              </p:ext>
            </p:extLst>
          </p:nvPr>
        </p:nvGraphicFramePr>
        <p:xfrm>
          <a:off x="430213" y="1448371"/>
          <a:ext cx="11661775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文档" r:id="rId4" imgW="3826872" imgH="437005" progId="Word.Document.12">
                  <p:embed/>
                </p:oleObj>
              </mc:Choice>
              <mc:Fallback>
                <p:oleObj name="文档" r:id="rId4" imgW="3826872" imgH="43700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448371"/>
                        <a:ext cx="11661775" cy="1323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897958"/>
              </p:ext>
            </p:extLst>
          </p:nvPr>
        </p:nvGraphicFramePr>
        <p:xfrm>
          <a:off x="447172" y="2810236"/>
          <a:ext cx="11705058" cy="3434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文档" r:id="rId7" imgW="3837724" imgH="1126073" progId="Word.Document.12">
                  <p:embed/>
                </p:oleObj>
              </mc:Choice>
              <mc:Fallback>
                <p:oleObj name="文档" r:id="rId7" imgW="3837724" imgH="11260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7172" y="2810236"/>
                        <a:ext cx="11705058" cy="34345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315275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已知三边解三角形的步骤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余弦定理的推论求出两个角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用三角形内角和定理求出第三个角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709194"/>
            <a:ext cx="2259558" cy="53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72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667463"/>
            <a:ext cx="11814462" cy="2587583"/>
            <a:chOff x="361950" y="647799"/>
            <a:chExt cx="11814462" cy="2587583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647799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的三个内角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所对的边分别为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a+c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),q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b-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的大小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</a:t>
              </a: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3902800"/>
                </p:ext>
              </p:extLst>
            </p:nvPr>
          </p:nvGraphicFramePr>
          <p:xfrm>
            <a:off x="504453" y="2438512"/>
            <a:ext cx="11671959" cy="796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6" name="文档" r:id="rId4" imgW="3826872" imgH="261269" progId="Word.Document.12">
                    <p:embed/>
                  </p:oleObj>
                </mc:Choice>
                <mc:Fallback>
                  <p:oleObj name="文档" r:id="rId4" imgW="3826872" imgH="26126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2438512"/>
                          <a:ext cx="11671959" cy="7968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361950" y="3285910"/>
            <a:ext cx="11742454" cy="2926169"/>
            <a:chOff x="361950" y="3184406"/>
            <a:chExt cx="11742454" cy="2926169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3184406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a+c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),q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b-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c-a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b-a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-a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=b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-ab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0116194"/>
                </p:ext>
              </p:extLst>
            </p:nvPr>
          </p:nvGraphicFramePr>
          <p:xfrm>
            <a:off x="432445" y="4437915"/>
            <a:ext cx="11671959" cy="16726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7" name="文档" r:id="rId7" imgW="3837724" imgH="550236" progId="Word.Document.12">
                    <p:embed/>
                  </p:oleObj>
                </mc:Choice>
                <mc:Fallback>
                  <p:oleObj name="文档" r:id="rId7" imgW="3837724" imgH="55023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32445" y="4437915"/>
                          <a:ext cx="11671959" cy="167266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>
            <a:spLocks noChangeAspect="1"/>
          </p:cNvSpPr>
          <p:nvPr/>
        </p:nvSpPr>
        <p:spPr>
          <a:xfrm>
            <a:off x="7705253" y="5600823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188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43988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 </a:t>
            </a:r>
            <a:r>
              <a:rPr lang="zh-CN" altLang="zh-CN" dirty="0"/>
              <a:t>判断三角形的形状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2166462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三个内角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的对边分别为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a+b+c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a+b-c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2cos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试判断此三角形的形状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832159"/>
              </p:ext>
            </p:extLst>
          </p:nvPr>
        </p:nvGraphicFramePr>
        <p:xfrm>
          <a:off x="355600" y="775674"/>
          <a:ext cx="11617325" cy="540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5" name="文档" r:id="rId4" imgW="3826872" imgH="1784318" progId="Word.Document.12">
                  <p:embed/>
                </p:oleObj>
              </mc:Choice>
              <mc:Fallback>
                <p:oleObj name="文档" r:id="rId4" imgW="3826872" imgH="17843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5600" y="775674"/>
                        <a:ext cx="11617325" cy="540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226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863823"/>
            <a:ext cx="10807700" cy="4748220"/>
            <a:chOff x="361950" y="863823"/>
            <a:chExt cx="10807700" cy="4748220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863823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439747"/>
              <a:ext cx="10807700" cy="417229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要判断三角形的形状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必须深入研究边与边的大小关系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是否两边相等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是否三边相等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是否符合勾股定理的逆定理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还要研究角与角的大小关系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是否两个角相等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是否三个角相等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有无直角或钝角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解此类题的思想方法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从条件出发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利用余弦定理、两角和与差的正弦公式等进行代换、转化、化简、运算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发现边与边的关系或角与角的关系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从而作出正确判断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563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349437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判断三角形形状时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还经常用到以下结论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a&gt;b&gt;c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+c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为直角三角形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+c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为钝角三角形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+c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为锐角三角形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89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4415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a-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b-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试判断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的形状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519454"/>
              </p:ext>
            </p:extLst>
          </p:nvPr>
        </p:nvGraphicFramePr>
        <p:xfrm>
          <a:off x="504453" y="2091707"/>
          <a:ext cx="11671959" cy="3423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文档" r:id="rId4" imgW="3837724" imgH="1126073" progId="Word.Document.12">
                  <p:embed/>
                </p:oleObj>
              </mc:Choice>
              <mc:Fallback>
                <p:oleObj name="文档" r:id="rId4" imgW="3837724" imgH="11260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091707"/>
                        <a:ext cx="11671959" cy="3423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9005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575791"/>
            <a:ext cx="11690632" cy="5815995"/>
            <a:chOff x="361950" y="575791"/>
            <a:chExt cx="11690632" cy="581599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575791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忽视构成三角形的条件致错</a:t>
              </a:r>
              <a:endParaRPr lang="zh-CN" altLang="en-US" dirty="0"/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在钝角三角形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c=t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是最大角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的取值范围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错解</a:t>
              </a:r>
              <a:r>
                <a:rPr lang="en-US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是钝角三角形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是最大角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6970178"/>
                </p:ext>
              </p:extLst>
            </p:nvPr>
          </p:nvGraphicFramePr>
          <p:xfrm>
            <a:off x="380623" y="3567120"/>
            <a:ext cx="11671959" cy="2824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2" name="文档" r:id="rId4" imgW="3826872" imgH="926120" progId="Word.Document.12">
                    <p:embed/>
                  </p:oleObj>
                </mc:Choice>
                <mc:Fallback>
                  <p:oleObj name="文档" r:id="rId4" imgW="3826872" imgH="92612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80623" y="3567120"/>
                          <a:ext cx="11671959" cy="282466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776688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错解忽略了构成三角形的条件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两边之和大于第三边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这个隐含条件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导致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的取值范围变大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33627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821311"/>
            <a:ext cx="11700464" cy="5150674"/>
            <a:chOff x="361950" y="791815"/>
            <a:chExt cx="11700464" cy="515067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91815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正解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的三边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b-a&lt;c&lt;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&lt;t&lt;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&lt;t&lt;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是钝角三角形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是最大角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&lt;C&lt;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180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0453597"/>
                </p:ext>
              </p:extLst>
            </p:nvPr>
          </p:nvGraphicFramePr>
          <p:xfrm>
            <a:off x="390455" y="3723968"/>
            <a:ext cx="11671959" cy="22185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6" name="文档" r:id="rId4" imgW="3826872" imgH="727384" progId="Word.Document.12">
                    <p:embed/>
                  </p:oleObj>
                </mc:Choice>
                <mc:Fallback>
                  <p:oleObj name="文档" r:id="rId4" imgW="3826872" imgH="72738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90455" y="3723968"/>
                          <a:ext cx="11671959" cy="221852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3299853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799927"/>
            <a:ext cx="10807700" cy="2383335"/>
            <a:chOff x="361950" y="1792856"/>
            <a:chExt cx="10807700" cy="2383335"/>
          </a:xfrm>
        </p:grpSpPr>
        <p:pic>
          <p:nvPicPr>
            <p:cNvPr id="5" name="防范措施H.eps" descr="id:214749086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792856"/>
              <a:ext cx="2259558" cy="531552"/>
            </a:xfrm>
            <a:prstGeom prst="rect">
              <a:avLst/>
            </a:prstGeom>
          </p:spPr>
        </p:pic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367619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在三角形中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当解决边和角的范围问题时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首先要考虑到三角形中的隐含条件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即两边之和大于第三边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两边之差小于第三边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862059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310478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为钝角三角形的三边长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4115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51791"/>
              </p:ext>
            </p:extLst>
          </p:nvPr>
        </p:nvGraphicFramePr>
        <p:xfrm>
          <a:off x="430213" y="691588"/>
          <a:ext cx="11677650" cy="565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文档" r:id="rId4" imgW="3837724" imgH="1868495" progId="Word.Document.12">
                  <p:embed/>
                </p:oleObj>
              </mc:Choice>
              <mc:Fallback>
                <p:oleObj name="文档" r:id="rId4" imgW="3837724" imgH="18684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691588"/>
                        <a:ext cx="11677650" cy="5654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993909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076338"/>
              </p:ext>
            </p:extLst>
          </p:nvPr>
        </p:nvGraphicFramePr>
        <p:xfrm>
          <a:off x="454859" y="1513355"/>
          <a:ext cx="11705058" cy="1063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文档" r:id="rId4" imgW="3837724" imgH="348675" progId="Word.Document.12">
                  <p:embed/>
                </p:oleObj>
              </mc:Choice>
              <mc:Fallback>
                <p:oleObj name="文档" r:id="rId4" imgW="3837724" imgH="3486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4859" y="1513355"/>
                        <a:ext cx="11705058" cy="10634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52118" y="265565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由余弦定理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+c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49,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028373"/>
              </p:ext>
            </p:extLst>
          </p:nvPr>
        </p:nvGraphicFramePr>
        <p:xfrm>
          <a:off x="360437" y="1372015"/>
          <a:ext cx="11705058" cy="1092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2" name="文档" r:id="rId4" imgW="3837724" imgH="358050" progId="Word.Document.12">
                  <p:embed/>
                </p:oleObj>
              </mc:Choice>
              <mc:Fallback>
                <p:oleObj name="文档" r:id="rId4" imgW="3837724" imgH="3580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372015"/>
                        <a:ext cx="11705058" cy="10920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869562"/>
              </p:ext>
            </p:extLst>
          </p:nvPr>
        </p:nvGraphicFramePr>
        <p:xfrm>
          <a:off x="355600" y="2527300"/>
          <a:ext cx="11660188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3" name="文档" r:id="rId7" imgW="3826872" imgH="429458" progId="Word.Document.12">
                  <p:embed/>
                </p:oleObj>
              </mc:Choice>
              <mc:Fallback>
                <p:oleObj name="文档" r:id="rId7" imgW="3826872" imgH="4294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5600" y="2527300"/>
                        <a:ext cx="11660188" cy="1301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268765" y="3944639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05683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925999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的形状是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等腰直角三角形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直角三角形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等腰三角形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等边三角形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由余弦定理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+c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+c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-ac=ac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为等边三角形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367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869705"/>
              </p:ext>
            </p:extLst>
          </p:nvPr>
        </p:nvGraphicFramePr>
        <p:xfrm>
          <a:off x="504453" y="1439887"/>
          <a:ext cx="11705058" cy="706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5" name="文档" r:id="rId4" imgW="3837724" imgH="231489" progId="Word.Document.12">
                  <p:embed/>
                </p:oleObj>
              </mc:Choice>
              <mc:Fallback>
                <p:oleObj name="文档" r:id="rId4" imgW="3837724" imgH="2314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439887"/>
                        <a:ext cx="11705058" cy="706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407088"/>
              </p:ext>
            </p:extLst>
          </p:nvPr>
        </p:nvGraphicFramePr>
        <p:xfrm>
          <a:off x="504453" y="2241359"/>
          <a:ext cx="11705058" cy="1430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6" name="文档" r:id="rId7" imgW="3837724" imgH="469107" progId="Word.Document.12">
                  <p:embed/>
                </p:oleObj>
              </mc:Choice>
              <mc:Fallback>
                <p:oleObj name="文档" r:id="rId7" imgW="3837724" imgH="4691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2241359"/>
                        <a:ext cx="11705058" cy="1430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103202"/>
              </p:ext>
            </p:extLst>
          </p:nvPr>
        </p:nvGraphicFramePr>
        <p:xfrm>
          <a:off x="497383" y="3836790"/>
          <a:ext cx="11705058" cy="699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7" name="文档" r:id="rId10" imgW="3837724" imgH="229325" progId="Word.Document.12">
                  <p:embed/>
                </p:oleObj>
              </mc:Choice>
              <mc:Fallback>
                <p:oleObj name="文档" r:id="rId10" imgW="3837724" imgH="2293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97383" y="3836790"/>
                        <a:ext cx="11705058" cy="699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576967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799354"/>
              </p:ext>
            </p:extLst>
          </p:nvPr>
        </p:nvGraphicFramePr>
        <p:xfrm>
          <a:off x="432445" y="863823"/>
          <a:ext cx="11705058" cy="561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" name="文档" r:id="rId4" imgW="3837724" imgH="184253" progId="Word.Document.12">
                  <p:embed/>
                </p:oleObj>
              </mc:Choice>
              <mc:Fallback>
                <p:oleObj name="文档" r:id="rId4" imgW="3837724" imgH="1842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63823"/>
                        <a:ext cx="11705058" cy="5619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431298"/>
              </p:ext>
            </p:extLst>
          </p:nvPr>
        </p:nvGraphicFramePr>
        <p:xfrm>
          <a:off x="432445" y="1472947"/>
          <a:ext cx="11705058" cy="4225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文档" r:id="rId7" imgW="3837724" imgH="1385326" progId="Word.Document.12">
                  <p:embed/>
                </p:oleObj>
              </mc:Choice>
              <mc:Fallback>
                <p:oleObj name="文档" r:id="rId7" imgW="3837724" imgH="13853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1472947"/>
                        <a:ext cx="11705058" cy="42252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559640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60</TotalTime>
  <Words>1212</Words>
  <Application>Microsoft Office PowerPoint</Application>
  <PresentationFormat>自定义</PresentationFormat>
  <Paragraphs>97</Paragraphs>
  <Slides>40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6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27</cp:revision>
  <dcterms:created xsi:type="dcterms:W3CDTF">2020-09-12T05:36:12Z</dcterms:created>
  <dcterms:modified xsi:type="dcterms:W3CDTF">2025-09-04T05:26:12Z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