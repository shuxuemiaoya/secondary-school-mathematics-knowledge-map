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731" r:id="rId2"/>
    <p:sldId id="753" r:id="rId3"/>
    <p:sldId id="736" r:id="rId4"/>
    <p:sldId id="744" r:id="rId5"/>
    <p:sldId id="737" r:id="rId6"/>
    <p:sldId id="750" r:id="rId7"/>
    <p:sldId id="757" r:id="rId8"/>
    <p:sldId id="758" r:id="rId9"/>
    <p:sldId id="754" r:id="rId10"/>
    <p:sldId id="760" r:id="rId11"/>
    <p:sldId id="761" r:id="rId12"/>
    <p:sldId id="762" r:id="rId13"/>
    <p:sldId id="763" r:id="rId14"/>
    <p:sldId id="764" r:id="rId15"/>
    <p:sldId id="765" r:id="rId16"/>
    <p:sldId id="755" r:id="rId17"/>
    <p:sldId id="766" r:id="rId18"/>
    <p:sldId id="767" r:id="rId19"/>
    <p:sldId id="768" r:id="rId20"/>
    <p:sldId id="775" r:id="rId21"/>
    <p:sldId id="748" r:id="rId22"/>
    <p:sldId id="752" r:id="rId23"/>
    <p:sldId id="769" r:id="rId24"/>
    <p:sldId id="771" r:id="rId25"/>
    <p:sldId id="772" r:id="rId26"/>
    <p:sldId id="773" r:id="rId27"/>
    <p:sldId id="774" r:id="rId28"/>
    <p:sldId id="776" r:id="rId29"/>
    <p:sldId id="735" r:id="rId3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29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6.xml"/><Relationship Id="rId1" Type="http://schemas.openxmlformats.org/officeDocument/2006/relationships/slideLayout" Target="../slideLayouts/slideLayout4.xml"/><Relationship Id="rId4" Type="http://schemas.openxmlformats.org/officeDocument/2006/relationships/slide" Target="slide1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3.docx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5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jpeg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6.docx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jpeg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7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8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9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jpeg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0.docx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1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2.doc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3.docx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15.bin"/><Relationship Id="rId7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5.docx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7.docx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19.bin"/><Relationship Id="rId7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9.emf"/><Relationship Id="rId5" Type="http://schemas.openxmlformats.org/officeDocument/2006/relationships/image" Target="../media/image27.emf"/><Relationship Id="rId10" Type="http://schemas.openxmlformats.org/officeDocument/2006/relationships/package" Target="../embeddings/Microsoft_Word___21.docx"/><Relationship Id="rId4" Type="http://schemas.openxmlformats.org/officeDocument/2006/relationships/package" Target="../embeddings/Microsoft_Word___19.docx"/><Relationship Id="rId9" Type="http://schemas.openxmlformats.org/officeDocument/2006/relationships/oleObject" Target="../embeddings/oleObject21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1.jpeg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2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3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4.jpeg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4.docx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583903"/>
            <a:ext cx="10807700" cy="21611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数学</a:t>
            </a:r>
            <a:r>
              <a:rPr lang="zh-CN" altLang="zh-CN" sz="6000" dirty="0" smtClean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探究</a:t>
            </a:r>
            <a:endParaRPr lang="en-US" altLang="zh-CN" sz="6000" dirty="0" smtClean="0">
              <a:solidFill>
                <a:srgbClr val="00206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 smtClean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向量法研究三角形的性质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060181"/>
            <a:ext cx="10729192" cy="4392490"/>
            <a:chOff x="360437" y="1439887"/>
            <a:chExt cx="10729192" cy="4392490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439887"/>
              <a:ext cx="10729192" cy="4392490"/>
              <a:chOff x="360437" y="1954536"/>
              <a:chExt cx="10729192" cy="3000130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954536"/>
                <a:ext cx="10729192" cy="3000130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076338"/>
                <a:ext cx="0" cy="2737494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908471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583903"/>
              <a:ext cx="8496944" cy="41722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通过用向量法证明平面几何中已学的三角形的性质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发现和证明三角形的其他性质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体验数学探究的过程和方法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体验向量法在探索和证明三角形性质中的应用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提升直观想象、数学建模、逻辑推理和数学运算素养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136787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8" name="图文框 7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295205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680479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在判断三角形的形状</a:t>
            </a:r>
            <a:r>
              <a:rPr lang="zh-CN" altLang="zh-CN" dirty="0" smtClean="0"/>
              <a:t>中应用</a:t>
            </a:r>
            <a:endParaRPr lang="zh-CN" altLang="zh-CN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055252"/>
              </p:ext>
            </p:extLst>
          </p:nvPr>
        </p:nvGraphicFramePr>
        <p:xfrm>
          <a:off x="448667" y="1295871"/>
          <a:ext cx="10640962" cy="2060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文档" r:id="rId4" imgW="3837724" imgH="743143" progId="Word.Document.12">
                  <p:embed/>
                </p:oleObj>
              </mc:Choice>
              <mc:Fallback>
                <p:oleObj name="文档" r:id="rId4" imgW="3837724" imgH="7431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8667" y="1295871"/>
                        <a:ext cx="10640962" cy="2060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417726"/>
              </p:ext>
            </p:extLst>
          </p:nvPr>
        </p:nvGraphicFramePr>
        <p:xfrm>
          <a:off x="419361" y="3356404"/>
          <a:ext cx="11705058" cy="2865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文档" r:id="rId7" imgW="3837724" imgH="939656" progId="Word.Document.12">
                  <p:embed/>
                </p:oleObj>
              </mc:Choice>
              <mc:Fallback>
                <p:oleObj name="文档" r:id="rId7" imgW="3837724" imgH="9396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9361" y="3356404"/>
                        <a:ext cx="11705058" cy="28659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9793485" y="5524129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2159967"/>
            <a:ext cx="2259558" cy="531552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273172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通过向量运算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可以得到三角形的边、角的值或关系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进而判断出三角形的形状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17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9820932"/>
              </p:ext>
            </p:extLst>
          </p:nvPr>
        </p:nvGraphicFramePr>
        <p:xfrm>
          <a:off x="432445" y="762319"/>
          <a:ext cx="10636250" cy="307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文档" r:id="rId4" imgW="3837724" imgH="1113453" progId="Word.Document.12">
                  <p:embed/>
                </p:oleObj>
              </mc:Choice>
              <mc:Fallback>
                <p:oleObj name="文档" r:id="rId4" imgW="3837724" imgH="11134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62319"/>
                        <a:ext cx="10636250" cy="307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363474"/>
              </p:ext>
            </p:extLst>
          </p:nvPr>
        </p:nvGraphicFramePr>
        <p:xfrm>
          <a:off x="430213" y="3840163"/>
          <a:ext cx="11661775" cy="172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文档" r:id="rId7" imgW="3826872" imgH="567100" progId="Word.Document.12">
                  <p:embed/>
                </p:oleObj>
              </mc:Choice>
              <mc:Fallback>
                <p:oleObj name="文档" r:id="rId7" imgW="3826872" imgH="5671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13" y="3840163"/>
                        <a:ext cx="11661775" cy="172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437207" y="5586855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06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742655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法证明三角形的性质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8089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我们知道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三角形的三条高线相交于一点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这个交点叫做三角形的垂心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三角形的三条高线相交于一点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2624695"/>
            <a:ext cx="10807700" cy="3374544"/>
            <a:chOff x="361950" y="2529839"/>
            <a:chExt cx="10807700" cy="3374544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529839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BE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垂足分别为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BE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相交于一点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CI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并延长交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于一点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试用向量法证明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CF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NMG2TRA83.eps" descr="id:2147499285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320877" y="3763484"/>
              <a:ext cx="2808312" cy="21408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923735"/>
              </p:ext>
            </p:extLst>
          </p:nvPr>
        </p:nvGraphicFramePr>
        <p:xfrm>
          <a:off x="432445" y="1079847"/>
          <a:ext cx="11671959" cy="4489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文档" r:id="rId4" imgW="3826872" imgH="1472017" progId="Word.Document.12">
                  <p:embed/>
                </p:oleObj>
              </mc:Choice>
              <mc:Fallback>
                <p:oleObj name="文档" r:id="rId4" imgW="3826872" imgH="14720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79847"/>
                        <a:ext cx="11671959" cy="44896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729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543111"/>
            <a:ext cx="11732622" cy="5951726"/>
            <a:chOff x="361950" y="543111"/>
            <a:chExt cx="11732622" cy="595172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543111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证法二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为原点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所在直线分别为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轴建立平面直角坐标系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678675"/>
                </p:ext>
              </p:extLst>
            </p:nvPr>
          </p:nvGraphicFramePr>
          <p:xfrm>
            <a:off x="422613" y="1760752"/>
            <a:ext cx="11671959" cy="47340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3" name="文档" r:id="rId4" imgW="3826872" imgH="1552159" progId="Word.Document.12">
                    <p:embed/>
                  </p:oleObj>
                </mc:Choice>
                <mc:Fallback>
                  <p:oleObj name="文档" r:id="rId4" imgW="3826872" imgH="155215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2613" y="1760752"/>
                          <a:ext cx="11671959" cy="47340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" name="NMG2TRA84.eps" descr="id:2147499292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7273205" y="3024063"/>
              <a:ext cx="3528392" cy="29309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188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040519"/>
            <a:ext cx="10807700" cy="4243577"/>
            <a:chOff x="361950" y="1084155"/>
            <a:chExt cx="10807700" cy="4243577"/>
          </a:xfrm>
        </p:grpSpPr>
        <p:pic>
          <p:nvPicPr>
            <p:cNvPr id="9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084155"/>
              <a:ext cx="2259558" cy="531552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689813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用向量证明三角形性质的两种基本思路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基底向量法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选取已知的不共线的两个向量作为基底向量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用基底向量表示相关向量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转化为基底向量之间的向量运算进行证明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坐标法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先建立直角坐标系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表示出点、向量的坐标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利用坐标运算进行证明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340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5850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三角形三边的垂直平分线相交于一点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这个交点也是三角形外接圆的圆心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叫做三角形的外心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三角形三边的垂直平分线相交于一点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NMG2TRA85.eps" descr="id:214749930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816821" y="2667073"/>
            <a:ext cx="3744416" cy="294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84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749424"/>
            <a:ext cx="11772900" cy="5371976"/>
            <a:chOff x="361950" y="711435"/>
            <a:chExt cx="11772900" cy="5371976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711435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分别为边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BC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OD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BC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OE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垂足分别为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试证明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OF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AB.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chemeClr val="tx1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证明</a:t>
              </a:r>
              <a:r>
                <a:rPr lang="en-US" altLang="zh-CN" dirty="0">
                  <a:solidFill>
                    <a:schemeClr val="tx1"/>
                  </a:solidFill>
                  <a:ea typeface="宋体" panose="02010600030101010101" pitchFamily="2" charset="-122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OA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OB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OC.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为边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BC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4575158"/>
                </p:ext>
              </p:extLst>
            </p:nvPr>
          </p:nvGraphicFramePr>
          <p:xfrm>
            <a:off x="473075" y="2522649"/>
            <a:ext cx="11661775" cy="3560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7" name="文档" r:id="rId4" imgW="3826872" imgH="1183076" progId="Word.Document.12">
                    <p:embed/>
                  </p:oleObj>
                </mc:Choice>
                <mc:Fallback>
                  <p:oleObj name="文档" r:id="rId4" imgW="3826872" imgH="118307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3075" y="2522649"/>
                          <a:ext cx="11661775" cy="35607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" name="NMG2TRA86.eps" descr="id:2147499313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7705253" y="2626034"/>
              <a:ext cx="3096344" cy="24708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000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034703"/>
              </p:ext>
            </p:extLst>
          </p:nvPr>
        </p:nvGraphicFramePr>
        <p:xfrm>
          <a:off x="360437" y="1333498"/>
          <a:ext cx="11671959" cy="3418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文档" r:id="rId4" imgW="3826872" imgH="1120904" progId="Word.Document.12">
                  <p:embed/>
                </p:oleObj>
              </mc:Choice>
              <mc:Fallback>
                <p:oleObj name="文档" r:id="rId4" imgW="3826872" imgH="11209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333498"/>
                        <a:ext cx="11671959" cy="34187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7138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1223863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法判断三角形的性质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204389"/>
              </p:ext>
            </p:extLst>
          </p:nvPr>
        </p:nvGraphicFramePr>
        <p:xfrm>
          <a:off x="288429" y="1991405"/>
          <a:ext cx="11671959" cy="2472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文档" r:id="rId4" imgW="3826872" imgH="810760" progId="Word.Document.12">
                  <p:embed/>
                </p:oleObj>
              </mc:Choice>
              <mc:Fallback>
                <p:oleObj name="文档" r:id="rId4" imgW="3826872" imgH="8107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991405"/>
                        <a:ext cx="11671959" cy="24728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999639"/>
              </p:ext>
            </p:extLst>
          </p:nvPr>
        </p:nvGraphicFramePr>
        <p:xfrm>
          <a:off x="432445" y="739471"/>
          <a:ext cx="11645900" cy="553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文档" r:id="rId4" imgW="3837724" imgH="1828832" progId="Word.Document.12">
                  <p:embed/>
                </p:oleObj>
              </mc:Choice>
              <mc:Fallback>
                <p:oleObj name="文档" r:id="rId4" imgW="3837724" imgH="18288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39471"/>
                        <a:ext cx="11645900" cy="5538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NMG2TRA87.eps" descr="id:2147499327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344841" y="1204199"/>
            <a:ext cx="2952328" cy="2905324"/>
          </a:xfrm>
          <a:prstGeom prst="rect">
            <a:avLst/>
          </a:prstGeom>
        </p:spPr>
      </p:pic>
      <p:sp>
        <p:nvSpPr>
          <p:cNvPr id="6" name="矩形 5"/>
          <p:cNvSpPr>
            <a:spLocks noChangeAspect="1"/>
          </p:cNvSpPr>
          <p:nvPr/>
        </p:nvSpPr>
        <p:spPr>
          <a:xfrm>
            <a:off x="8938849" y="5570775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93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511895"/>
            <a:ext cx="10807700" cy="3020028"/>
            <a:chOff x="361950" y="940139"/>
            <a:chExt cx="10807700" cy="3020028"/>
          </a:xfrm>
        </p:grpSpPr>
        <p:pic>
          <p:nvPicPr>
            <p:cNvPr id="7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60664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熟悉三角形的外心、内心、垂心、重心的性质是解决此类问题的关键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外心是外接圆的圆心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三角形三条边的垂直平分线的交点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内心是内切圆的圆心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三角形三个内角的角平分线的交点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垂心是三条高线的交点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重心是三条中线的交点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971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982905"/>
              </p:ext>
            </p:extLst>
          </p:nvPr>
        </p:nvGraphicFramePr>
        <p:xfrm>
          <a:off x="455293" y="1274239"/>
          <a:ext cx="10640962" cy="1101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name="文档" r:id="rId4" imgW="3837724" imgH="397353" progId="Word.Document.12">
                  <p:embed/>
                </p:oleObj>
              </mc:Choice>
              <mc:Fallback>
                <p:oleObj name="文档" r:id="rId4" imgW="3837724" imgH="3973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5293" y="1274239"/>
                        <a:ext cx="10640962" cy="11017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1950" y="2424760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三个内角的角平分线的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交点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三条边的垂直平分线的交点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三条中线的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交点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三条高所在直线的交点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38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491895"/>
              </p:ext>
            </p:extLst>
          </p:nvPr>
        </p:nvGraphicFramePr>
        <p:xfrm>
          <a:off x="504453" y="1439887"/>
          <a:ext cx="11705058" cy="2872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文档" r:id="rId4" imgW="3837724" imgH="941820" progId="Word.Document.12">
                  <p:embed/>
                </p:oleObj>
              </mc:Choice>
              <mc:Fallback>
                <p:oleObj name="文档" r:id="rId4" imgW="3837724" imgH="9418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439887"/>
                        <a:ext cx="11705058" cy="2872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spect="1"/>
          </p:cNvSpPr>
          <p:nvPr/>
        </p:nvSpPr>
        <p:spPr>
          <a:xfrm>
            <a:off x="410433" y="4312438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69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235675"/>
              </p:ext>
            </p:extLst>
          </p:nvPr>
        </p:nvGraphicFramePr>
        <p:xfrm>
          <a:off x="290513" y="655638"/>
          <a:ext cx="11661775" cy="250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文档" r:id="rId4" imgW="3826872" imgH="825494" progId="Word.Document.12">
                  <p:embed/>
                </p:oleObj>
              </mc:Choice>
              <mc:Fallback>
                <p:oleObj name="文档" r:id="rId4" imgW="3826872" imgH="8254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0513" y="655638"/>
                        <a:ext cx="11661775" cy="2506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9230191"/>
              </p:ext>
            </p:extLst>
          </p:nvPr>
        </p:nvGraphicFramePr>
        <p:xfrm>
          <a:off x="290513" y="3098800"/>
          <a:ext cx="11661775" cy="321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9" name="文档" r:id="rId7" imgW="3826872" imgH="1058372" progId="Word.Document.12">
                  <p:embed/>
                </p:oleObj>
              </mc:Choice>
              <mc:Fallback>
                <p:oleObj name="文档" r:id="rId7" imgW="3826872" imgH="10583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0513" y="3098800"/>
                        <a:ext cx="11661775" cy="321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9577461" y="5602801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108612"/>
              </p:ext>
            </p:extLst>
          </p:nvPr>
        </p:nvGraphicFramePr>
        <p:xfrm>
          <a:off x="432445" y="618303"/>
          <a:ext cx="11705058" cy="115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9" name="文档" r:id="rId4" imgW="3837724" imgH="379324" progId="Word.Document.12">
                  <p:embed/>
                </p:oleObj>
              </mc:Choice>
              <mc:Fallback>
                <p:oleObj name="文档" r:id="rId4" imgW="3837724" imgH="3793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618303"/>
                        <a:ext cx="11705058" cy="1156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61950" y="180473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重心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外心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垂心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146909"/>
              </p:ext>
            </p:extLst>
          </p:nvPr>
        </p:nvGraphicFramePr>
        <p:xfrm>
          <a:off x="409575" y="3001963"/>
          <a:ext cx="11660188" cy="339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0" name="文档" r:id="rId7" imgW="3826872" imgH="1120544" progId="Word.Document.12">
                  <p:embed/>
                </p:oleObj>
              </mc:Choice>
              <mc:Fallback>
                <p:oleObj name="文档" r:id="rId7" imgW="3826872" imgH="1120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9575" y="3001963"/>
                        <a:ext cx="11660188" cy="3398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8353325" y="5787351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14103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37182"/>
              </p:ext>
            </p:extLst>
          </p:nvPr>
        </p:nvGraphicFramePr>
        <p:xfrm>
          <a:off x="360437" y="813554"/>
          <a:ext cx="11671959" cy="1310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name="文档" r:id="rId4" imgW="3826872" imgH="429818" progId="Word.Document.12">
                  <p:embed/>
                </p:oleObj>
              </mc:Choice>
              <mc:Fallback>
                <p:oleObj name="文档" r:id="rId4" imgW="3826872" imgH="4298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813554"/>
                        <a:ext cx="11671959" cy="1310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798419"/>
              </p:ext>
            </p:extLst>
          </p:nvPr>
        </p:nvGraphicFramePr>
        <p:xfrm>
          <a:off x="360437" y="2124499"/>
          <a:ext cx="11671959" cy="3174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" name="文档" r:id="rId7" imgW="3826872" imgH="1040762" progId="Word.Document.12">
                  <p:embed/>
                </p:oleObj>
              </mc:Choice>
              <mc:Fallback>
                <p:oleObj name="文档" r:id="rId7" imgW="3826872" imgH="10407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2124499"/>
                        <a:ext cx="11671959" cy="31743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288429" y="5286147"/>
            <a:ext cx="330731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等腰三角形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04552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394176"/>
              </p:ext>
            </p:extLst>
          </p:nvPr>
        </p:nvGraphicFramePr>
        <p:xfrm>
          <a:off x="432445" y="872059"/>
          <a:ext cx="10640962" cy="1053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6" name="文档" r:id="rId4" imgW="3837724" imgH="380045" progId="Word.Document.12">
                  <p:embed/>
                </p:oleObj>
              </mc:Choice>
              <mc:Fallback>
                <p:oleObj name="文档" r:id="rId4" imgW="3837724" imgH="3800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72059"/>
                        <a:ext cx="10640962" cy="1053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316013"/>
              </p:ext>
            </p:extLst>
          </p:nvPr>
        </p:nvGraphicFramePr>
        <p:xfrm>
          <a:off x="432445" y="1952179"/>
          <a:ext cx="11705058" cy="2977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7" name="文档" r:id="rId7" imgW="3837724" imgH="976074" progId="Word.Document.12">
                  <p:embed/>
                </p:oleObj>
              </mc:Choice>
              <mc:Fallback>
                <p:oleObj name="文档" r:id="rId7" imgW="3837724" imgH="9760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1952179"/>
                        <a:ext cx="11705058" cy="29770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994296"/>
              </p:ext>
            </p:extLst>
          </p:nvPr>
        </p:nvGraphicFramePr>
        <p:xfrm>
          <a:off x="432445" y="5001213"/>
          <a:ext cx="11705058" cy="65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8" name="文档" r:id="rId10" imgW="3837724" imgH="217426" progId="Word.Document.12">
                  <p:embed/>
                </p:oleObj>
              </mc:Choice>
              <mc:Fallback>
                <p:oleObj name="文档" r:id="rId10" imgW="3837724" imgH="2174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2445" y="5001213"/>
                        <a:ext cx="11705058" cy="65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239304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4779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用向量法证明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直角三角形斜边上的中线等于斜边的一半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867702"/>
              </p:ext>
            </p:extLst>
          </p:nvPr>
        </p:nvGraphicFramePr>
        <p:xfrm>
          <a:off x="430213" y="1279525"/>
          <a:ext cx="11661775" cy="503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文档" r:id="rId4" imgW="3826872" imgH="1657816" progId="Word.Document.12">
                  <p:embed/>
                </p:oleObj>
              </mc:Choice>
              <mc:Fallback>
                <p:oleObj name="文档" r:id="rId4" imgW="3826872" imgH="16578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279525"/>
                        <a:ext cx="11661775" cy="5035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NMG2TRA90.eps" descr="id:2147499608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561237" y="2231975"/>
            <a:ext cx="2016224" cy="271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7487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276673"/>
              </p:ext>
            </p:extLst>
          </p:nvPr>
        </p:nvGraphicFramePr>
        <p:xfrm>
          <a:off x="432445" y="1415559"/>
          <a:ext cx="11705058" cy="348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文档" r:id="rId4" imgW="3837724" imgH="1141217" progId="Word.Document.12">
                  <p:embed/>
                </p:oleObj>
              </mc:Choice>
              <mc:Fallback>
                <p:oleObj name="文档" r:id="rId4" imgW="3837724" imgH="11412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415559"/>
                        <a:ext cx="11705058" cy="3480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339771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03783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证法二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为原点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所在直线分别为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轴建立平面直角坐标系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493199"/>
              </p:ext>
            </p:extLst>
          </p:nvPr>
        </p:nvGraphicFramePr>
        <p:xfrm>
          <a:off x="432445" y="2356327"/>
          <a:ext cx="11705058" cy="4055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2" name="文档" r:id="rId4" imgW="3837724" imgH="1329798" progId="Word.Document.12">
                  <p:embed/>
                </p:oleObj>
              </mc:Choice>
              <mc:Fallback>
                <p:oleObj name="文档" r:id="rId4" imgW="3837724" imgH="13297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356327"/>
                        <a:ext cx="11705058" cy="4055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21N104.eps" descr="id:2147499615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633245" y="1295871"/>
            <a:ext cx="2448272" cy="313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21879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59</TotalTime>
  <Words>600</Words>
  <Application>Microsoft Office PowerPoint</Application>
  <PresentationFormat>自定义</PresentationFormat>
  <Paragraphs>47</Paragraphs>
  <Slides>29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NEU-BZ-S92</vt:lpstr>
      <vt:lpstr>方正书宋_GBK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23</cp:revision>
  <dcterms:created xsi:type="dcterms:W3CDTF">2020-09-12T05:36:12Z</dcterms:created>
  <dcterms:modified xsi:type="dcterms:W3CDTF">2025-09-04T05:31:20Z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