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89" r:id="rId18"/>
    <p:sldId id="764" r:id="rId19"/>
    <p:sldId id="765" r:id="rId20"/>
    <p:sldId id="766" r:id="rId21"/>
    <p:sldId id="767" r:id="rId22"/>
    <p:sldId id="754" r:id="rId23"/>
    <p:sldId id="768" r:id="rId24"/>
    <p:sldId id="769" r:id="rId25"/>
    <p:sldId id="770" r:id="rId26"/>
    <p:sldId id="771" r:id="rId27"/>
    <p:sldId id="755" r:id="rId28"/>
    <p:sldId id="772" r:id="rId29"/>
    <p:sldId id="773" r:id="rId30"/>
    <p:sldId id="774" r:id="rId31"/>
    <p:sldId id="775" r:id="rId32"/>
    <p:sldId id="776" r:id="rId33"/>
    <p:sldId id="747" r:id="rId34"/>
    <p:sldId id="751" r:id="rId35"/>
    <p:sldId id="777" r:id="rId36"/>
    <p:sldId id="778" r:id="rId37"/>
    <p:sldId id="779" r:id="rId38"/>
    <p:sldId id="780" r:id="rId39"/>
    <p:sldId id="781" r:id="rId40"/>
    <p:sldId id="782" r:id="rId41"/>
    <p:sldId id="790" r:id="rId42"/>
    <p:sldId id="748" r:id="rId43"/>
    <p:sldId id="752" r:id="rId44"/>
    <p:sldId id="783" r:id="rId45"/>
    <p:sldId id="784" r:id="rId46"/>
    <p:sldId id="785" r:id="rId47"/>
    <p:sldId id="786" r:id="rId48"/>
    <p:sldId id="735" r:id="rId4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2.xml"/><Relationship Id="rId5" Type="http://schemas.openxmlformats.org/officeDocument/2006/relationships/slide" Target="slide33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1.docx"/><Relationship Id="rId9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3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4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5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7.docx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8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9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0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3.jpeg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1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2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3.docx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9.jpeg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4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15.docx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16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3.jpeg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17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5.jpeg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18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19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20.docx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21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2.jpeg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22.docx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23.docx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12" Type="http://schemas.openxmlformats.org/officeDocument/2006/relationships/image" Target="../media/image47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5.bin"/><Relationship Id="rId11" Type="http://schemas.openxmlformats.org/officeDocument/2006/relationships/package" Target="../embeddings/Microsoft_Word___26.docx"/><Relationship Id="rId5" Type="http://schemas.openxmlformats.org/officeDocument/2006/relationships/image" Target="../media/image45.emf"/><Relationship Id="rId10" Type="http://schemas.openxmlformats.org/officeDocument/2006/relationships/oleObject" Target="../embeddings/oleObject26.bin"/><Relationship Id="rId4" Type="http://schemas.openxmlformats.org/officeDocument/2006/relationships/package" Target="../embeddings/Microsoft_Word___24.docx"/><Relationship Id="rId9" Type="http://schemas.openxmlformats.org/officeDocument/2006/relationships/image" Target="../media/image48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__27.docx"/><Relationship Id="rId9" Type="http://schemas.openxmlformats.org/officeDocument/2006/relationships/image" Target="../media/image5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116430" y="2087959"/>
            <a:ext cx="1130374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余弦定理、正弦定理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余弦定理、正弦定理应用举例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538079"/>
            <a:ext cx="10729192" cy="3142168"/>
            <a:chOff x="360437" y="1727108"/>
            <a:chExt cx="10729192" cy="3142168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727108"/>
              <a:ext cx="10729192" cy="3142168"/>
              <a:chOff x="360437" y="2150714"/>
              <a:chExt cx="10729192" cy="214614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50714"/>
                <a:ext cx="10729192" cy="214614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184542"/>
                <a:ext cx="0" cy="205672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594516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76688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了解实际测量中的专用名词与术语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会从给定的现实情境中抽象出三角形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能运用余弦定理、正弦定理解决一些与测量有关的简单实际问题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发展直观想象、数学建模和数学运算素养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一、实际应用问题中的专用名词与术语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在测量过程中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我们把根据测量的需要而确定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线段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叫做基线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为使测量具有较高的精确度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应根据实际需要选取合适的基线长度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一般来说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基线越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测量的精确度越高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6885" y="293648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72295" y="340058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201197" y="3535397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196372" y="3999495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2813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仰角和俯角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在视线和水平线所成的角中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视线在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水平线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上方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的角叫仰角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视线在水平线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下方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的角叫俯角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方位角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指从正北方向按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顺时针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转到目标方向线所转过的水平角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的方位角为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84573" y="3033895"/>
            <a:ext cx="8006492" cy="3272601"/>
            <a:chOff x="1584573" y="3096071"/>
            <a:chExt cx="8006492" cy="3272601"/>
          </a:xfrm>
        </p:grpSpPr>
        <p:pic>
          <p:nvPicPr>
            <p:cNvPr id="4" name="VMG2TRA32.eps" descr="id:214749889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584573" y="3410651"/>
              <a:ext cx="3816424" cy="2421724"/>
            </a:xfrm>
            <a:prstGeom prst="rect">
              <a:avLst/>
            </a:prstGeom>
          </p:spPr>
        </p:pic>
        <p:pic>
          <p:nvPicPr>
            <p:cNvPr id="5" name="VMG2TRA33.eps" descr="id:21474988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553125" y="3096071"/>
              <a:ext cx="3037940" cy="27894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2520677" y="5783897"/>
              <a:ext cx="59663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7756687" y="5783897"/>
              <a:ext cx="59663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en-US" dirty="0"/>
            </a:p>
          </p:txBody>
        </p:sp>
      </p:grpSp>
      <p:sp>
        <p:nvSpPr>
          <p:cNvPr id="10" name="矩形 9"/>
          <p:cNvSpPr/>
          <p:nvPr/>
        </p:nvSpPr>
        <p:spPr>
          <a:xfrm>
            <a:off x="482937" y="128511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78347" y="174921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869505" y="128511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864915" y="174921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134481" y="1862537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5129710" y="2326635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0302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990330"/>
            <a:ext cx="10807700" cy="1825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从指定方向线到目标方向线所成的小于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的水平角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如南偏西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指以正南方向为始边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顺时针方向向西旋转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3929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969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处的仰角为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处的俯角为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处的仰角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处的俯角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是内错角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根据水平线平行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34.eps" descr="id:214749890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337101" y="3116012"/>
            <a:ext cx="3312368" cy="237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053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28135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二、解决实际问题的步骤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解三角形应用题的一般步骤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VMG2TRA35.eps" descr="id:214749891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944613" y="1842439"/>
            <a:ext cx="6624736" cy="447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578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623188"/>
              </p:ext>
            </p:extLst>
          </p:nvPr>
        </p:nvGraphicFramePr>
        <p:xfrm>
          <a:off x="612775" y="854909"/>
          <a:ext cx="11661775" cy="189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4" imgW="3826872" imgH="623523" progId="Word.Document.12">
                  <p:embed/>
                </p:oleObj>
              </mc:Choice>
              <mc:Fallback>
                <p:oleObj name="文档" r:id="rId4" imgW="3826872" imgH="6235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854909"/>
                        <a:ext cx="11661775" cy="189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521322" y="2776035"/>
            <a:ext cx="11671959" cy="2489257"/>
            <a:chOff x="521322" y="3168079"/>
            <a:chExt cx="11671959" cy="2489257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9375144"/>
                </p:ext>
              </p:extLst>
            </p:nvPr>
          </p:nvGraphicFramePr>
          <p:xfrm>
            <a:off x="521322" y="3168079"/>
            <a:ext cx="11671959" cy="2489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" name="文档" r:id="rId7" imgW="3826872" imgH="816150" progId="Word.Document.12">
                    <p:embed/>
                  </p:oleObj>
                </mc:Choice>
                <mc:Fallback>
                  <p:oleObj name="文档" r:id="rId7" imgW="3826872" imgH="8161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1322" y="3168079"/>
                          <a:ext cx="11671959" cy="24892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VMG2TRA36.eps" descr="id:2147498918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704855" y="3518287"/>
              <a:ext cx="3240758" cy="1482328"/>
            </a:xfrm>
            <a:prstGeom prst="rect">
              <a:avLst/>
            </a:prstGeom>
          </p:spPr>
        </p:pic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432445" y="521128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3328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56127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的北偏西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的西偏北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方向角的取值范围是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方位角的取值范围是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方位角是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的方向正好是正西方向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测量底部不能到达的建筑物的高度的方法是不唯一的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97541" y="309607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48698" y="4198100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065293" y="4763013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297541" y="5904383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8686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距离问题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867989"/>
              </p:ext>
            </p:extLst>
          </p:nvPr>
        </p:nvGraphicFramePr>
        <p:xfrm>
          <a:off x="271934" y="1387543"/>
          <a:ext cx="11671959" cy="245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4" imgW="3837724" imgH="808047" progId="Word.Document.12">
                  <p:embed/>
                </p:oleObj>
              </mc:Choice>
              <mc:Fallback>
                <p:oleObj name="文档" r:id="rId4" imgW="3837724" imgH="8080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934" y="1387543"/>
                        <a:ext cx="11671959" cy="245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VMG2TRA37.eps" descr="id:214749893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168749" y="3782465"/>
            <a:ext cx="4104456" cy="24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936158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的距离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放在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但不管在哪个三角形中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这些量都是未知的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放在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中求出它们的值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42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805873"/>
              </p:ext>
            </p:extLst>
          </p:nvPr>
        </p:nvGraphicFramePr>
        <p:xfrm>
          <a:off x="52741" y="814663"/>
          <a:ext cx="11705058" cy="501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文档" r:id="rId4" imgW="3837724" imgH="1644218" progId="Word.Document.12">
                  <p:embed/>
                </p:oleObj>
              </mc:Choice>
              <mc:Fallback>
                <p:oleObj name="文档" r:id="rId4" imgW="3837724" imgH="16442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741" y="814663"/>
                        <a:ext cx="11705058" cy="5014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865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928422"/>
              </p:ext>
            </p:extLst>
          </p:nvPr>
        </p:nvGraphicFramePr>
        <p:xfrm>
          <a:off x="42909" y="729639"/>
          <a:ext cx="11705058" cy="5499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文档" r:id="rId4" imgW="3837724" imgH="1803231" progId="Word.Document.12">
                  <p:embed/>
                </p:oleObj>
              </mc:Choice>
              <mc:Fallback>
                <p:oleObj name="文档" r:id="rId4" imgW="3837724" imgH="1803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909" y="729639"/>
                        <a:ext cx="11705058" cy="5499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69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690311"/>
            <a:ext cx="10807700" cy="5601980"/>
            <a:chOff x="361950" y="700143"/>
            <a:chExt cx="10807700" cy="5601980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0014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61438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不可到达的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是地面上两点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要测量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两点之间的距离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步骤是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取基线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测量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ACD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解三角形得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BCD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解三角形得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利用余弦定理得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1120075"/>
                </p:ext>
              </p:extLst>
            </p:nvPr>
          </p:nvGraphicFramePr>
          <p:xfrm>
            <a:off x="460364" y="5400327"/>
            <a:ext cx="10610872" cy="901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文档" r:id="rId5" imgW="3826872" imgH="325238" progId="Word.Document.12">
                    <p:embed/>
                  </p:oleObj>
                </mc:Choice>
                <mc:Fallback>
                  <p:oleObj name="文档" r:id="rId5" imgW="3826872" imgH="32523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60364" y="5400327"/>
                          <a:ext cx="10610872" cy="9017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VMG2TRA38.eps" descr="id:2147498953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545013" y="1943943"/>
              <a:ext cx="2592288" cy="1585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651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10970" y="776097"/>
            <a:ext cx="11058680" cy="5272302"/>
            <a:chOff x="110970" y="719807"/>
            <a:chExt cx="11058680" cy="5272302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719807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在某次军事演习中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红方为了准确分析战场形势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在两个相距为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的军事基地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处测得蓝方两支精锐部队分别在同一平面上的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DCA=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求蓝方这两支精锐部队之间的距离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" name="VMG2TRA39.eps" descr="id:2147498960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909439" y="3710240"/>
              <a:ext cx="3003726" cy="2281869"/>
            </a:xfrm>
            <a:prstGeom prst="rect">
              <a:avLst/>
            </a:prstGeom>
          </p:spPr>
        </p:pic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7873671"/>
                </p:ext>
              </p:extLst>
            </p:nvPr>
          </p:nvGraphicFramePr>
          <p:xfrm>
            <a:off x="110970" y="1266375"/>
            <a:ext cx="7972105" cy="697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name="文档" r:id="rId5" imgW="3826872" imgH="334941" progId="Word.Document.12">
                    <p:embed/>
                  </p:oleObj>
                </mc:Choice>
                <mc:Fallback>
                  <p:oleObj name="文档" r:id="rId5" imgW="3826872" imgH="334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970" y="1266375"/>
                          <a:ext cx="7972105" cy="6977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3371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170311"/>
              </p:ext>
            </p:extLst>
          </p:nvPr>
        </p:nvGraphicFramePr>
        <p:xfrm>
          <a:off x="442277" y="680818"/>
          <a:ext cx="11017622" cy="5665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文档" r:id="rId4" imgW="3837724" imgH="1973422" progId="Word.Document.12">
                  <p:embed/>
                </p:oleObj>
              </mc:Choice>
              <mc:Fallback>
                <p:oleObj name="文档" r:id="rId4" imgW="3837724" imgH="19734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680818"/>
                        <a:ext cx="11017622" cy="5665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7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482388"/>
              </p:ext>
            </p:extLst>
          </p:nvPr>
        </p:nvGraphicFramePr>
        <p:xfrm>
          <a:off x="504453" y="873655"/>
          <a:ext cx="11705058" cy="475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文档" r:id="rId4" imgW="3837724" imgH="1559123" progId="Word.Document.12">
                  <p:embed/>
                </p:oleObj>
              </mc:Choice>
              <mc:Fallback>
                <p:oleObj name="文档" r:id="rId4" imgW="3837724" imgH="15591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73655"/>
                        <a:ext cx="11705058" cy="475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939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27489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高度问题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61950" y="1999834"/>
            <a:ext cx="12563099" cy="1825821"/>
            <a:chOff x="361950" y="1846314"/>
            <a:chExt cx="12563099" cy="1825821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1846314"/>
              <a:ext cx="10807700" cy="18258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在平地上有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在山坡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的正东方向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在山坡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的东南方向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同时点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的南偏西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处测山坡顶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的仰角为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求山坡的高度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27768"/>
                </p:ext>
              </p:extLst>
            </p:nvPr>
          </p:nvGraphicFramePr>
          <p:xfrm>
            <a:off x="1219991" y="3097934"/>
            <a:ext cx="11705058" cy="536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name="文档" r:id="rId4" imgW="3837724" imgH="175960" progId="Word.Document.12">
                    <p:embed/>
                  </p:oleObj>
                </mc:Choice>
                <mc:Fallback>
                  <p:oleObj name="文档" r:id="rId4" imgW="3837724" imgH="1759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19991" y="3097934"/>
                          <a:ext cx="11705058" cy="5366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>
            <a:spLocks noChangeAspect="1"/>
          </p:cNvSpPr>
          <p:nvPr/>
        </p:nvSpPr>
        <p:spPr>
          <a:xfrm>
            <a:off x="361950" y="382735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欲求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山坡的高度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只需求出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然后在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Rt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ADC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297578"/>
              </p:ext>
            </p:extLst>
          </p:nvPr>
        </p:nvGraphicFramePr>
        <p:xfrm>
          <a:off x="11113" y="661988"/>
          <a:ext cx="11687175" cy="572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4" imgW="3826872" imgH="1879553" progId="Word.Document.12">
                  <p:embed/>
                </p:oleObj>
              </mc:Choice>
              <mc:Fallback>
                <p:oleObj name="文档" r:id="rId4" imgW="3826872" imgH="18795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13" y="661988"/>
                        <a:ext cx="11687175" cy="572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VMG2TRA40.eps" descr="id:214749921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561237" y="1727919"/>
            <a:ext cx="3168352" cy="292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16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156163"/>
            <a:ext cx="10807700" cy="3652646"/>
            <a:chOff x="361950" y="940139"/>
            <a:chExt cx="10807700" cy="3652646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45797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对于底部不可到达的建筑物的高度测量问题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我们可选择一条过建筑物底部点的基线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在基线和基线所在的平面上取另外两点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这样四点可以构成两个小三角形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把不含未知高度的那个小三角形作为依托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从中解出相关量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进而应用到含未知高度的三角形中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利用正弦定理或余弦定理解决即可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6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63823"/>
            <a:ext cx="12620207" cy="2456057"/>
            <a:chOff x="361950" y="1556928"/>
            <a:chExt cx="12620207" cy="2456057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556928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处测得建筑物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的顶端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的仰角为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方向前进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 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至点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测得顶端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的仰角为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再继续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前进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m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至点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测得顶端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的仰角为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的大小及建筑物的高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4480239"/>
                </p:ext>
              </p:extLst>
            </p:nvPr>
          </p:nvGraphicFramePr>
          <p:xfrm>
            <a:off x="1310198" y="2789659"/>
            <a:ext cx="11671959" cy="532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4" name="文档" r:id="rId4" imgW="3826872" imgH="174658" progId="Word.Document.12">
                    <p:embed/>
                  </p:oleObj>
                </mc:Choice>
                <mc:Fallback>
                  <p:oleObj name="文档" r:id="rId4" imgW="3826872" imgH="17465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10198" y="2789659"/>
                          <a:ext cx="11671959" cy="532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VMG2TRA66.eps" descr="id:214749898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232645" y="3426541"/>
            <a:ext cx="5867900" cy="22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794731"/>
              </p:ext>
            </p:extLst>
          </p:nvPr>
        </p:nvGraphicFramePr>
        <p:xfrm>
          <a:off x="454859" y="585623"/>
          <a:ext cx="11705058" cy="578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文档" r:id="rId4" imgW="3826872" imgH="1893929" progId="Word.Document.12">
                  <p:embed/>
                </p:oleObj>
              </mc:Choice>
              <mc:Fallback>
                <p:oleObj name="文档" r:id="rId4" imgW="3826872" imgH="18939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4859" y="585623"/>
                        <a:ext cx="11705058" cy="5787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308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00783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探究三 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角度问题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1727919"/>
                <a:ext cx="10807700" cy="310270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3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Times New Roman" panose="02020603050405020304" pitchFamily="18" charset="0"/>
                  </a:rPr>
                  <a:t>】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某渔船在航行中不幸遇险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发出求救信号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某海军舰艇在</a:t>
                </a:r>
                <a:r>
                  <a:rPr lang="en-US" altLang="zh-CN" i="1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A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处获悉后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立即测出该渔船在方位角为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45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距离为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10 km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i="1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C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处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并测得渔船正沿方位角为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105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cs typeface="Times New Roman" panose="02020603050405020304" pitchFamily="18" charset="0"/>
                  </a:rPr>
                  <a:t>°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的方向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10 km/h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的速度向小岛靠拢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该海军舰艇立即以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 km/h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的速度前去营救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求舰艇的航向和靠近渔船所需的时间</a:t>
                </a:r>
                <a:r>
                  <a:rPr lang="en-US" altLang="zh-CN" i="1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.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727919"/>
                <a:ext cx="10807700" cy="3102709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965" r="-1128" b="-3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7986"/>
            <a:ext cx="2585964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696611"/>
              </p:ext>
            </p:extLst>
          </p:nvPr>
        </p:nvGraphicFramePr>
        <p:xfrm>
          <a:off x="393637" y="1431250"/>
          <a:ext cx="11705058" cy="452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文档" r:id="rId4" imgW="3837724" imgH="1483763" progId="Word.Document.12">
                  <p:embed/>
                </p:oleObj>
              </mc:Choice>
              <mc:Fallback>
                <p:oleObj name="文档" r:id="rId4" imgW="3837724" imgH="14837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3637" y="1431250"/>
                        <a:ext cx="11705058" cy="4525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VMG2TRA42.eps" descr="id:214749924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209309" y="2644359"/>
            <a:ext cx="3096742" cy="224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2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736516"/>
              </p:ext>
            </p:extLst>
          </p:nvPr>
        </p:nvGraphicFramePr>
        <p:xfrm>
          <a:off x="464691" y="988175"/>
          <a:ext cx="11705058" cy="176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文档" r:id="rId4" imgW="3837724" imgH="580164" progId="Word.Document.12">
                  <p:embed/>
                </p:oleObj>
              </mc:Choice>
              <mc:Fallback>
                <p:oleObj name="文档" r:id="rId4" imgW="3837724" imgH="580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4691" y="988175"/>
                        <a:ext cx="11705058" cy="176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819895"/>
            <a:ext cx="10807700" cy="24167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所以舰艇航行的方位角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BAD=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故舰艇航行的方位角为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航行的时间为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71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82479"/>
            <a:ext cx="10807700" cy="5794038"/>
            <a:chOff x="361950" y="902811"/>
            <a:chExt cx="10807700" cy="5794038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02811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42691"/>
              <a:ext cx="10807700" cy="53541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在与三角形有关的问题中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求某些角的度数时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最好用余弦定理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这是因为余弦函数在区间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内是单调递减的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由所求得的余弦值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不用判断角的个数问题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主要区别钝角、锐角问题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答案是唯一的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而正弦函数在区间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内不是单调的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因而求出正弦值后有两个角与之对应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还需判断角的合理性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若用正弦定理求角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应结合具体图形来判断角的解的个数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也可尽量地利用直角三角形来解答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测量角度问题的情境属于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根据需要对某些物体定位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在实际应用时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测量数量越准确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定位精度越高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440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3044259" y="1776688"/>
            <a:ext cx="14213909" cy="2399503"/>
            <a:chOff x="-3044259" y="965997"/>
            <a:chExt cx="14213909" cy="239950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965997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甲船在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处观察乙船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乙船在它的北偏东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两船相距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n mile,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乙船正向北行驶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若甲船的速度是乙船速度的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则甲船应沿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方向行驶才能追上乙船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2429806"/>
                </p:ext>
              </p:extLst>
            </p:nvPr>
          </p:nvGraphicFramePr>
          <p:xfrm>
            <a:off x="-3044259" y="2211655"/>
            <a:ext cx="11671959" cy="544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4" name="文档" r:id="rId4" imgW="3826872" imgH="178611" progId="Word.Document.12">
                    <p:embed/>
                  </p:oleObj>
                </mc:Choice>
                <mc:Fallback>
                  <p:oleObj name="文档" r:id="rId4" imgW="3826872" imgH="1786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3044259" y="2211655"/>
                          <a:ext cx="11671959" cy="5447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7307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759807"/>
            <a:ext cx="11766550" cy="4711995"/>
            <a:chOff x="361950" y="719807"/>
            <a:chExt cx="11766550" cy="471199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980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设到点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处甲船追上乙船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甲船追上乙船所用的时间为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h,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乙船的速度为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mile/h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2064653"/>
                </p:ext>
              </p:extLst>
            </p:nvPr>
          </p:nvGraphicFramePr>
          <p:xfrm>
            <a:off x="484188" y="1974227"/>
            <a:ext cx="11644312" cy="345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8" name="文档" r:id="rId4" imgW="3837724" imgH="1141217" progId="Word.Document.12">
                    <p:embed/>
                  </p:oleObj>
                </mc:Choice>
                <mc:Fallback>
                  <p:oleObj name="文档" r:id="rId4" imgW="3837724" imgH="114121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4188" y="1974227"/>
                          <a:ext cx="11644312" cy="3457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VMG2TRA43.eps" descr="id:2147499016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713365" y="1292687"/>
              <a:ext cx="2168253" cy="3606836"/>
            </a:xfrm>
            <a:prstGeom prst="rect">
              <a:avLst/>
            </a:prstGeom>
          </p:spPr>
        </p:pic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5489487"/>
            <a:ext cx="340990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43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545311"/>
            <a:ext cx="14728759" cy="6001643"/>
            <a:chOff x="361950" y="545311"/>
            <a:chExt cx="14728759" cy="600164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545311"/>
              <a:ext cx="10807700" cy="60016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函数与方程思想在解三角形应用举例中的应用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游客从某旅游景区的景点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处下山至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处有两种路径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一种是从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沿直线步行到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另一种是先从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沿索道乘缆车到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然后从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沿直线步行到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现有甲、乙两位游客从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处下山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匀速步行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速度为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 m/min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在甲出发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 min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乘缆车到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处停留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 min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再从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匀速步行到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假设缆车匀速直线运动的速度为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130 m/min,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山路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1 260 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经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测量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求索道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乙出发多少分钟后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乙在缆车上与甲的距离最短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8550087"/>
                </p:ext>
              </p:extLst>
            </p:nvPr>
          </p:nvGraphicFramePr>
          <p:xfrm>
            <a:off x="3418750" y="4610203"/>
            <a:ext cx="11671959" cy="770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2" name="文档" r:id="rId4" imgW="3826872" imgH="252644" progId="Word.Document.12">
                    <p:embed/>
                  </p:oleObj>
                </mc:Choice>
                <mc:Fallback>
                  <p:oleObj name="文档" r:id="rId4" imgW="3826872" imgH="2526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418750" y="4610203"/>
                          <a:ext cx="11671959" cy="7705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VMG2TRA44.eps" descr="id:214749903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489229" y="4657758"/>
              <a:ext cx="2520280" cy="11924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3759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</a:t>
            </a: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视角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利用正弦定理求出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先设再建立时间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与甲、乙间距离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的函数关系式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利用关系式求最值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9634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63185"/>
              </p:ext>
            </p:extLst>
          </p:nvPr>
        </p:nvGraphicFramePr>
        <p:xfrm>
          <a:off x="420688" y="944870"/>
          <a:ext cx="11645900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文档" r:id="rId4" imgW="3837724" imgH="1487729" progId="Word.Document.12">
                  <p:embed/>
                </p:oleObj>
              </mc:Choice>
              <mc:Fallback>
                <p:oleObj name="文档" r:id="rId4" imgW="3837724" imgH="14877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944870"/>
                        <a:ext cx="11645900" cy="449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72124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95871"/>
            <a:ext cx="11742454" cy="3573534"/>
            <a:chOff x="361950" y="1178721"/>
            <a:chExt cx="11742454" cy="357353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7872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假设乙出发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 min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甲、乙两游客距离为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此时甲行走了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(100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乙距离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130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 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所以由余弦定理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293069"/>
                </p:ext>
              </p:extLst>
            </p:nvPr>
          </p:nvGraphicFramePr>
          <p:xfrm>
            <a:off x="432445" y="2417547"/>
            <a:ext cx="11671959" cy="2334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0" name="文档" r:id="rId4" imgW="3826872" imgH="774462" progId="Word.Document.12">
                    <p:embed/>
                  </p:oleObj>
                </mc:Choice>
                <mc:Fallback>
                  <p:oleObj name="文档" r:id="rId4" imgW="3826872" imgH="7744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417547"/>
                          <a:ext cx="11671959" cy="23347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5603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91815"/>
            <a:ext cx="10807700" cy="5415509"/>
            <a:chOff x="361950" y="791815"/>
            <a:chExt cx="10807700" cy="5415509"/>
          </a:xfrm>
        </p:grpSpPr>
        <p:pic>
          <p:nvPicPr>
            <p:cNvPr id="6" name="方法点睛H.eps" descr="id:214749903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91815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387543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与函数思想相联系的就是方程思想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所谓方程思想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就是在解决问题时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用事先设定的未知数沟通问题所涉及的各量间的制约关系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列出方程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从而求出未知数及各量的值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使问题获得解决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所设的未知数沟通了变量之间的联系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方程可以看做未知量与已知量相互制约的条件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它架设了由已知探索未知的桥梁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函数与方程思想在数学中有着广泛的应用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本章在利用余弦定理、正弦定理求角或边长时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往往渗透着函数与方程思想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07619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0100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某港口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要将一件重要物品用小艇送到一艘正在航行的轮船上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在小艇出发时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轮船位于港口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北偏西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且与该港口相距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 n mile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并正以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 n mile/h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的航行速度沿正东方向匀速行驶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假设该小艇沿直线方向以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n mile/h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的航行速度匀速行驶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与轮船相遇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21N20.eps" descr="id:214749928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993285" y="3691439"/>
            <a:ext cx="3176365" cy="2102260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364889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若要使相遇时小艇的航行距离最小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小艇航行速度的大小应为多少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为保证小艇在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 min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 min)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轮船相遇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试确定小艇航行速度的最小值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0721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1561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设相遇时小艇航行的距离为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mile,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147479"/>
              </p:ext>
            </p:extLst>
          </p:nvPr>
        </p:nvGraphicFramePr>
        <p:xfrm>
          <a:off x="432445" y="1535699"/>
          <a:ext cx="11705058" cy="415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文档" r:id="rId4" imgW="3837724" imgH="1361528" progId="Word.Document.12">
                  <p:embed/>
                </p:oleObj>
              </mc:Choice>
              <mc:Fallback>
                <p:oleObj name="文档" r:id="rId4" imgW="3837724" imgH="13615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535699"/>
                        <a:ext cx="11705058" cy="4152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92760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984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设小艇与轮船在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处相遇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75025"/>
              </p:ext>
            </p:extLst>
          </p:nvPr>
        </p:nvGraphicFramePr>
        <p:xfrm>
          <a:off x="392683" y="1799927"/>
          <a:ext cx="11705058" cy="331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文档" r:id="rId4" imgW="3837724" imgH="1085689" progId="Word.Document.12">
                  <p:embed/>
                </p:oleObj>
              </mc:Choice>
              <mc:Fallback>
                <p:oleObj name="文档" r:id="rId4" imgW="3837724" imgH="10856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683" y="1799927"/>
                        <a:ext cx="11705058" cy="3311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N21.eps" descr="id:2147499290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209309" y="2447999"/>
            <a:ext cx="3024336" cy="19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456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414527"/>
            <a:ext cx="11735791" cy="2477629"/>
            <a:chOff x="361950" y="1295871"/>
            <a:chExt cx="11735791" cy="247762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95871"/>
              <a:ext cx="10807700" cy="12348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两地相距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 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km,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两地相距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 km,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两地相距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173292"/>
                </p:ext>
              </p:extLst>
            </p:nvPr>
          </p:nvGraphicFramePr>
          <p:xfrm>
            <a:off x="425782" y="2559014"/>
            <a:ext cx="11671959" cy="1214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1" name="文档" r:id="rId4" imgW="3826872" imgH="398192" progId="Word.Document.12">
                    <p:embed/>
                  </p:oleObj>
                </mc:Choice>
                <mc:Fallback>
                  <p:oleObj name="文档" r:id="rId4" imgW="3826872" imgH="39819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5782" y="2559014"/>
                          <a:ext cx="11671959" cy="1214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28593" y="392497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61950" y="71952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已知两座灯塔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与海洋观察站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灯塔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在观察站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灯塔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在观察站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则灯塔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在灯塔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北偏西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南偏东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南偏西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AC=BC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CAB=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CBA=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的北偏西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VMG2TRA46.eps" descr="id:214749905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425333" y="1940759"/>
            <a:ext cx="2016224" cy="21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5395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84163" y="585623"/>
            <a:ext cx="11681026" cy="5030728"/>
            <a:chOff x="284163" y="585623"/>
            <a:chExt cx="11681026" cy="503072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7932097"/>
                </p:ext>
              </p:extLst>
            </p:nvPr>
          </p:nvGraphicFramePr>
          <p:xfrm>
            <a:off x="284163" y="585623"/>
            <a:ext cx="11644312" cy="177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7" name="文档" r:id="rId4" imgW="3837724" imgH="586654" progId="Word.Document.12">
                    <p:embed/>
                  </p:oleObj>
                </mc:Choice>
                <mc:Fallback>
                  <p:oleObj name="文档" r:id="rId4" imgW="3837724" imgH="5866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4163" y="585623"/>
                          <a:ext cx="11644312" cy="1776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2674401"/>
                </p:ext>
              </p:extLst>
            </p:nvPr>
          </p:nvGraphicFramePr>
          <p:xfrm>
            <a:off x="293230" y="2027794"/>
            <a:ext cx="11671959" cy="1212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8" name="文档" r:id="rId7" imgW="3826872" imgH="397473" progId="Word.Document.12">
                    <p:embed/>
                  </p:oleObj>
                </mc:Choice>
                <mc:Fallback>
                  <p:oleObj name="文档" r:id="rId7" imgW="3826872" imgH="39747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3230" y="2027794"/>
                          <a:ext cx="11671959" cy="12122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VMG2TRA47.eps" descr="id:2147499065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241787" y="2528261"/>
              <a:ext cx="3168352" cy="3088090"/>
            </a:xfrm>
            <a:prstGeom prst="rect">
              <a:avLst/>
            </a:prstGeom>
          </p:spPr>
        </p:pic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200716"/>
              </p:ext>
            </p:extLst>
          </p:nvPr>
        </p:nvGraphicFramePr>
        <p:xfrm>
          <a:off x="284163" y="3248025"/>
          <a:ext cx="11644312" cy="319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文档" r:id="rId11" imgW="3826872" imgH="1055497" progId="Word.Document.12">
                  <p:embed/>
                </p:oleObj>
              </mc:Choice>
              <mc:Fallback>
                <p:oleObj name="文档" r:id="rId11" imgW="3826872" imgH="10554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4163" y="3248025"/>
                        <a:ext cx="11644312" cy="319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spect="1"/>
          </p:cNvSpPr>
          <p:nvPr/>
        </p:nvSpPr>
        <p:spPr>
          <a:xfrm>
            <a:off x="7201197" y="568835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536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93557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甲、乙两楼相距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 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从乙楼底望甲楼顶的仰角为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从甲楼顶望乙楼顶的俯角为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则甲楼高为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乙楼高为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33743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885873"/>
              </p:ext>
            </p:extLst>
          </p:nvPr>
        </p:nvGraphicFramePr>
        <p:xfrm>
          <a:off x="576461" y="700143"/>
          <a:ext cx="11705058" cy="4912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4" imgW="3837724" imgH="1610685" progId="Word.Document.12">
                  <p:embed/>
                </p:oleObj>
              </mc:Choice>
              <mc:Fallback>
                <p:oleObj name="文档" r:id="rId4" imgW="3837724" imgH="16106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00143"/>
                        <a:ext cx="11705058" cy="4912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20444"/>
              </p:ext>
            </p:extLst>
          </p:nvPr>
        </p:nvGraphicFramePr>
        <p:xfrm>
          <a:off x="576461" y="5542409"/>
          <a:ext cx="11705058" cy="794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7" imgW="3837724" imgH="260335" progId="Word.Document.12">
                  <p:embed/>
                </p:oleObj>
              </mc:Choice>
              <mc:Fallback>
                <p:oleObj name="文档" r:id="rId7" imgW="3837724" imgH="260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1" y="5542409"/>
                        <a:ext cx="11705058" cy="794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VMG2TRA48.eps" descr="id:2147499318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8137301" y="1367879"/>
            <a:ext cx="2520280" cy="366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2713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72</TotalTime>
  <Words>1980</Words>
  <Application>Microsoft Office PowerPoint</Application>
  <PresentationFormat>自定义</PresentationFormat>
  <Paragraphs>99</Paragraphs>
  <Slides>48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5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2025-09-04T05:28:45Z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