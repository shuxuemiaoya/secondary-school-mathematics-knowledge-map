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37" r:id="rId15"/>
    <p:sldId id="750" r:id="rId16"/>
    <p:sldId id="763" r:id="rId17"/>
    <p:sldId id="764" r:id="rId18"/>
    <p:sldId id="765" r:id="rId19"/>
    <p:sldId id="766" r:id="rId20"/>
    <p:sldId id="767" r:id="rId21"/>
    <p:sldId id="768" r:id="rId22"/>
    <p:sldId id="754" r:id="rId23"/>
    <p:sldId id="769" r:id="rId24"/>
    <p:sldId id="770" r:id="rId25"/>
    <p:sldId id="771" r:id="rId26"/>
    <p:sldId id="755" r:id="rId27"/>
    <p:sldId id="772" r:id="rId28"/>
    <p:sldId id="773" r:id="rId29"/>
    <p:sldId id="774" r:id="rId30"/>
    <p:sldId id="775" r:id="rId31"/>
    <p:sldId id="747" r:id="rId32"/>
    <p:sldId id="751" r:id="rId33"/>
    <p:sldId id="776" r:id="rId34"/>
    <p:sldId id="777" r:id="rId35"/>
    <p:sldId id="778" r:id="rId36"/>
    <p:sldId id="748" r:id="rId37"/>
    <p:sldId id="752" r:id="rId38"/>
    <p:sldId id="779" r:id="rId39"/>
    <p:sldId id="780" r:id="rId40"/>
    <p:sldId id="781" r:id="rId41"/>
    <p:sldId id="735" r:id="rId42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41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6.xml"/><Relationship Id="rId5" Type="http://schemas.openxmlformats.org/officeDocument/2006/relationships/slide" Target="slide31.xml"/><Relationship Id="rId4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8.emf"/><Relationship Id="rId5" Type="http://schemas.openxmlformats.org/officeDocument/2006/relationships/image" Target="../media/image6.emf"/><Relationship Id="rId10" Type="http://schemas.openxmlformats.org/officeDocument/2006/relationships/package" Target="../embeddings/Microsoft_Word___5.docx"/><Relationship Id="rId4" Type="http://schemas.openxmlformats.org/officeDocument/2006/relationships/package" Target="../embeddings/Microsoft_Word___3.docx"/><Relationship Id="rId9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7.docx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jpeg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6.docx"/><Relationship Id="rId9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8.docx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9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0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1.docx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2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3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4.docx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Word___15.docx"/><Relationship Id="rId4" Type="http://schemas.openxmlformats.org/officeDocument/2006/relationships/oleObject" Target="../embeddings/oleObject15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6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7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23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package" Target="../embeddings/Microsoft_Word___190.docx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8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9.docx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0.docx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1.docx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3.docx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5.bin"/><Relationship Id="rId7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5.docx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447999"/>
            <a:ext cx="10807700" cy="99604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4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54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54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平面向量数量积的坐标表示</a:t>
            </a:r>
            <a:endParaRPr lang="zh-CN" altLang="zh-CN" sz="54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593733"/>
            <a:ext cx="10729192" cy="2856517"/>
            <a:chOff x="360437" y="1593733"/>
            <a:chExt cx="10729192" cy="2856517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593733"/>
              <a:ext cx="10729192" cy="2856517"/>
              <a:chOff x="360437" y="2059618"/>
              <a:chExt cx="10729192" cy="1951040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059618"/>
                <a:ext cx="10729192" cy="1951040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089381"/>
                <a:ext cx="0" cy="1869745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727919"/>
              <a:ext cx="8496944" cy="23995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能用坐标表示平面向量的数量积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会用坐标表示两个平面向量的夹角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能用坐标表示平面向量垂直的条件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发展直观想象和数学运算素养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56125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一、平面向量的数量积与向量垂直的坐标表示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i,j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是两个互相垂直且分别与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相同的单位向量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如何用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i,j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07839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(2)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能否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的坐标表示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怎样表示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j)·(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)i·j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(3)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垂直与数量积的关系是什么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能用坐标表示向量垂直吗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75453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597928"/>
              </p:ext>
            </p:extLst>
          </p:nvPr>
        </p:nvGraphicFramePr>
        <p:xfrm>
          <a:off x="-173115" y="2010438"/>
          <a:ext cx="11976264" cy="3342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文档" r:id="rId4" imgW="3926644" imgH="1095747" progId="Word.Document.12">
                  <p:embed/>
                </p:oleObj>
              </mc:Choice>
              <mc:Fallback>
                <p:oleObj name="文档" r:id="rId4" imgW="3926644" imgH="10957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73115" y="2010438"/>
                        <a:ext cx="11976264" cy="33420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3046249" y="2419023"/>
            <a:ext cx="159493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3041703" y="2883121"/>
            <a:ext cx="159313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9987993" y="2119762"/>
            <a:ext cx="777144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9983403" y="256281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114716" y="2693548"/>
            <a:ext cx="446521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110126" y="3157646"/>
            <a:ext cx="4460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211961" y="3986146"/>
            <a:ext cx="214864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207416" y="4450244"/>
            <a:ext cx="21462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8760583" y="3355127"/>
            <a:ext cx="777144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8755993" y="3787422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5902550" y="3942076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5897725" y="4406174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6734928" y="3942076"/>
            <a:ext cx="36254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6730103" y="4406174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>
            <a:spLocks noChangeAspect="1"/>
          </p:cNvSpPr>
          <p:nvPr/>
        </p:nvSpPr>
        <p:spPr>
          <a:xfrm>
            <a:off x="361950" y="1324909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3954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3988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若向量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(4,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2),b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6),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若向量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(3,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),b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6),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(1)8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(2)1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37963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236085" y="902054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二、平面向量的模与夹角的坐标表示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分别用坐标怎样表示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能否用坐标表示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966474"/>
              </p:ext>
            </p:extLst>
          </p:nvPr>
        </p:nvGraphicFramePr>
        <p:xfrm>
          <a:off x="270383" y="2735325"/>
          <a:ext cx="11671959" cy="2746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文档" r:id="rId4" imgW="3826872" imgH="900604" progId="Word.Document.12">
                  <p:embed/>
                </p:oleObj>
              </mc:Choice>
              <mc:Fallback>
                <p:oleObj name="文档" r:id="rId4" imgW="3826872" imgH="9006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0383" y="2735325"/>
                        <a:ext cx="11671959" cy="27468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885272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90311"/>
            <a:ext cx="595035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YMG2TRA121J.eps" descr="id:214749816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1368549" y="1340090"/>
            <a:ext cx="8352928" cy="488782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147573" y="1445415"/>
            <a:ext cx="1358182" cy="5092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186831" y="2880047"/>
            <a:ext cx="2942358" cy="5092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453578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4706050"/>
              </p:ext>
            </p:extLst>
          </p:nvPr>
        </p:nvGraphicFramePr>
        <p:xfrm>
          <a:off x="281766" y="608471"/>
          <a:ext cx="11671959" cy="1864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文档" r:id="rId4" imgW="3826872" imgH="611304" progId="Word.Document.12">
                  <p:embed/>
                </p:oleObj>
              </mc:Choice>
              <mc:Fallback>
                <p:oleObj name="文档" r:id="rId4" imgW="3826872" imgH="6113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1766" y="608471"/>
                        <a:ext cx="11671959" cy="18644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9836410"/>
              </p:ext>
            </p:extLst>
          </p:nvPr>
        </p:nvGraphicFramePr>
        <p:xfrm>
          <a:off x="281766" y="2427210"/>
          <a:ext cx="11671959" cy="40040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文档" r:id="rId7" imgW="3826872" imgH="1312812" progId="Word.Document.12">
                  <p:embed/>
                </p:oleObj>
              </mc:Choice>
              <mc:Fallback>
                <p:oleObj name="文档" r:id="rId7" imgW="3826872" imgH="13128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1766" y="2427210"/>
                        <a:ext cx="11671959" cy="40040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5981122"/>
              </p:ext>
            </p:extLst>
          </p:nvPr>
        </p:nvGraphicFramePr>
        <p:xfrm>
          <a:off x="6265093" y="5492655"/>
          <a:ext cx="11671959" cy="802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文档" r:id="rId10" imgW="3826872" imgH="263066" progId="Word.Document.12">
                  <p:embed/>
                </p:oleObj>
              </mc:Choice>
              <mc:Fallback>
                <p:oleObj name="文档" r:id="rId10" imgW="3826872" imgH="2630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265093" y="5492655"/>
                        <a:ext cx="11671959" cy="802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801512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35831"/>
            <a:ext cx="10807700" cy="433727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共线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的夹角为锐角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025559" y="2818797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641357" y="3456111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195731" y="4003199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221106" y="4608239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514898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107984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数量</a:t>
            </a:r>
            <a:r>
              <a:rPr lang="zh-CN" altLang="zh-CN" dirty="0"/>
              <a:t>积的坐标运算</a:t>
            </a: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61950" y="176182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(3,2)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a·(a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)·(2a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(2,1),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根据坐标运算法则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结合数量积的运算律进行计算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5220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(3,2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a·(a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1,2)·(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方法二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:a·(a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(3,2)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(2,4),2a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(3,2)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(3,2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)·(2a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(2,4)·(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1,2)·(3,2)]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[(3,2)·(2,1)]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8,16)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760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15012"/>
              </p:ext>
            </p:extLst>
          </p:nvPr>
        </p:nvGraphicFramePr>
        <p:xfrm>
          <a:off x="363958" y="849313"/>
          <a:ext cx="11661775" cy="148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2" name="文档" r:id="rId4" imgW="3826872" imgH="489834" progId="Word.Document.12">
                  <p:embed/>
                </p:oleObj>
              </mc:Choice>
              <mc:Fallback>
                <p:oleObj name="文档" r:id="rId4" imgW="3826872" imgH="4898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3958" y="849313"/>
                        <a:ext cx="11661775" cy="1484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YMG2TRA122.eps" descr="id:2147498183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672805" y="2420920"/>
            <a:ext cx="2952328" cy="2033471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458693"/>
              </p:ext>
            </p:extLst>
          </p:nvPr>
        </p:nvGraphicFramePr>
        <p:xfrm>
          <a:off x="353774" y="4563116"/>
          <a:ext cx="11671959" cy="1259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文档" r:id="rId8" imgW="3826872" imgH="412927" progId="Word.Document.12">
                  <p:embed/>
                </p:oleObj>
              </mc:Choice>
              <mc:Fallback>
                <p:oleObj name="文档" r:id="rId8" imgW="3826872" imgH="4129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53774" y="4563116"/>
                        <a:ext cx="11671959" cy="12594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097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1128096"/>
              </p:ext>
            </p:extLst>
          </p:nvPr>
        </p:nvGraphicFramePr>
        <p:xfrm>
          <a:off x="357188" y="1076936"/>
          <a:ext cx="11677650" cy="313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文档" r:id="rId4" imgW="3837724" imgH="1033406" progId="Word.Document.12">
                  <p:embed/>
                </p:oleObj>
              </mc:Choice>
              <mc:Fallback>
                <p:oleObj name="文档" r:id="rId4" imgW="3837724" imgH="103340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188" y="1076936"/>
                        <a:ext cx="11677650" cy="313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42352" y="4294847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667463"/>
            <a:ext cx="10807700" cy="5848382"/>
            <a:chOff x="361950" y="863823"/>
            <a:chExt cx="10807700" cy="5848382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863823"/>
              <a:ext cx="2259558" cy="531552"/>
            </a:xfrm>
            <a:prstGeom prst="rect">
              <a:avLst/>
            </a:prstGeom>
          </p:spPr>
        </p:pic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358047"/>
              <a:ext cx="10807700" cy="535415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向量的数量积运算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进行向量的数量积运算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前提是牢记有关的运算法则和运算性质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解题时通常有两条途径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一是先将各向量用坐标表示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直接进行数量积运算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二是先利用数量积的运算律将原式展开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再依据已知计算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对于以图形为背景的向量数量积的运算有两种思路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一种是基向量法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另一种是坐标法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两者相互补充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如果题目中的图形是等腰三角形、矩形、正方形等特殊图形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那么一般选择坐标法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378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9188930"/>
              </p:ext>
            </p:extLst>
          </p:nvPr>
        </p:nvGraphicFramePr>
        <p:xfrm>
          <a:off x="360437" y="1657945"/>
          <a:ext cx="11671959" cy="3094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文档" r:id="rId4" imgW="3826872" imgH="1014528" progId="Word.Document.12">
                  <p:embed/>
                </p:oleObj>
              </mc:Choice>
              <mc:Fallback>
                <p:oleObj name="文档" r:id="rId4" imgW="3826872" imgH="10145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1657945"/>
                        <a:ext cx="11671959" cy="30943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678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0025485"/>
              </p:ext>
            </p:extLst>
          </p:nvPr>
        </p:nvGraphicFramePr>
        <p:xfrm>
          <a:off x="492099" y="1112527"/>
          <a:ext cx="11677650" cy="342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文档" r:id="rId4" imgW="3837724" imgH="1130761" progId="Word.Document.12">
                  <p:embed/>
                </p:oleObj>
              </mc:Choice>
              <mc:Fallback>
                <p:oleObj name="文档" r:id="rId4" imgW="3837724" imgH="11307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2099" y="1112527"/>
                        <a:ext cx="11677650" cy="342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506680" y="4503160"/>
            <a:ext cx="309411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(1)B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2)2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21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垂直的坐标表示</a:t>
            </a:r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361950" y="134755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3,1),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x,y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的坐标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1950" y="3197115"/>
            <a:ext cx="16096033" cy="3046988"/>
            <a:chOff x="361950" y="3153085"/>
            <a:chExt cx="16096033" cy="3046988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3153085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(1,2),b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3,1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=k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y=a-3b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x·y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k+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1419910"/>
                </p:ext>
              </p:extLst>
            </p:nvPr>
          </p:nvGraphicFramePr>
          <p:xfrm>
            <a:off x="4752925" y="5452015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6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52925" y="5452015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526314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涉及非零向量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的垂直问题时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一般借助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来解决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反思感悟H.eps" descr="id:214749842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77143" y="1871935"/>
            <a:ext cx="2475582" cy="58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8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841084"/>
              </p:ext>
            </p:extLst>
          </p:nvPr>
        </p:nvGraphicFramePr>
        <p:xfrm>
          <a:off x="430213" y="1799927"/>
          <a:ext cx="11661775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文档" r:id="rId4" imgW="3826872" imgH="736368" progId="Word.Document.12">
                  <p:embed/>
                </p:oleObj>
              </mc:Choice>
              <mc:Fallback>
                <p:oleObj name="文档" r:id="rId4" imgW="3826872" imgH="7363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799927"/>
                        <a:ext cx="11661775" cy="2238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5829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160255"/>
              </p:ext>
            </p:extLst>
          </p:nvPr>
        </p:nvGraphicFramePr>
        <p:xfrm>
          <a:off x="284163" y="777875"/>
          <a:ext cx="11644312" cy="5160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文档" r:id="rId4" imgW="3826872" imgH="1700223" progId="Word.Document.12">
                  <p:embed/>
                </p:oleObj>
              </mc:Choice>
              <mc:Fallback>
                <p:oleObj name="文档" r:id="rId4" imgW="3826872" imgH="17002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163" y="777875"/>
                        <a:ext cx="11644312" cy="5160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112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893319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向量</a:t>
            </a:r>
            <a:r>
              <a:rPr lang="zh-CN" altLang="zh-CN" dirty="0"/>
              <a:t>的模和夹角的坐标表示</a:t>
            </a: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1799927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(1,1),b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夹角的余弦值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的坐标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再代入向量模的公式求解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分别求出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a·(a-b),|a|,|a-b|,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代入夹角公式求解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430860"/>
              </p:ext>
            </p:extLst>
          </p:nvPr>
        </p:nvGraphicFramePr>
        <p:xfrm>
          <a:off x="432445" y="1243527"/>
          <a:ext cx="11705058" cy="3523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文档" r:id="rId4" imgW="3837724" imgH="1155280" progId="Word.Document.12">
                  <p:embed/>
                </p:oleObj>
              </mc:Choice>
              <mc:Fallback>
                <p:oleObj name="文档" r:id="rId4" imgW="3837724" imgH="11552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43527"/>
                        <a:ext cx="11705058" cy="35236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195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0437" y="1002900"/>
            <a:ext cx="11671959" cy="4531611"/>
            <a:chOff x="361950" y="935831"/>
            <a:chExt cx="11671959" cy="4531611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935831"/>
              <a:ext cx="2259558" cy="531552"/>
            </a:xfrm>
            <a:prstGeom prst="rect">
              <a:avLst/>
            </a:prstGeom>
          </p:spPr>
        </p:pic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6094040"/>
                </p:ext>
              </p:extLst>
            </p:nvPr>
          </p:nvGraphicFramePr>
          <p:xfrm>
            <a:off x="361950" y="1574071"/>
            <a:ext cx="11671959" cy="3893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6" name="文档" r:id="rId5" imgW="3826872" imgH="1280468" progId="Word.Document.12">
                    <p:embed/>
                  </p:oleObj>
                </mc:Choice>
                <mc:Fallback>
                  <p:oleObj name="文档" r:id="rId5" imgW="3826872" imgH="128046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61950" y="1574071"/>
                          <a:ext cx="11671959" cy="389337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60333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716654"/>
              </p:ext>
            </p:extLst>
          </p:nvPr>
        </p:nvGraphicFramePr>
        <p:xfrm>
          <a:off x="288429" y="2015951"/>
          <a:ext cx="11671959" cy="2092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0" name="文档" r:id="rId4" imgW="3826872" imgH="686055" progId="Word.Document.12">
                  <p:embed/>
                </p:oleObj>
              </mc:Choice>
              <mc:Fallback>
                <p:oleObj name="文档" r:id="rId4" imgW="3826872" imgH="6860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2015951"/>
                        <a:ext cx="11671959" cy="20924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714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5763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(2,1),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+t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8606172"/>
              </p:ext>
            </p:extLst>
          </p:nvPr>
        </p:nvGraphicFramePr>
        <p:xfrm>
          <a:off x="442277" y="1887768"/>
          <a:ext cx="11671959" cy="4489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文档" r:id="rId4" imgW="3837724" imgH="1476912" progId="Word.Document.12">
                  <p:embed/>
                </p:oleObj>
              </mc:Choice>
              <mc:Fallback>
                <p:oleObj name="文档" r:id="rId4" imgW="3837724" imgH="14769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77" y="1887768"/>
                        <a:ext cx="11671959" cy="44896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90000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575791"/>
            <a:ext cx="10807700" cy="5904656"/>
            <a:chOff x="361950" y="575791"/>
            <a:chExt cx="10807700" cy="590465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575791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不等价转化致错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【典例】</a:t>
              </a:r>
              <a:r>
                <a:rPr lang="zh-CN" altLang="zh-CN" dirty="0" smtClean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2),b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</a:t>
              </a:r>
              <a:r>
                <a:rPr lang="en-US" altLang="zh-CN" i="1" dirty="0" smtClean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的夹角</a:t>
              </a:r>
              <a:r>
                <a:rPr lang="en-US" altLang="zh-CN" i="1" dirty="0" smtClean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为锐角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则实数</a:t>
              </a:r>
              <a:r>
                <a:rPr lang="en-US" altLang="zh-CN" i="1" dirty="0" smtClean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的取值范围是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3" name="对象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26387712"/>
                    </p:ext>
                  </p:extLst>
                </p:nvPr>
              </p:nvGraphicFramePr>
              <p:xfrm>
                <a:off x="504453" y="2333044"/>
                <a:ext cx="10610872" cy="147874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6396" name="文档" r:id="rId4" imgW="3826872" imgH="533319" progId="Word.Document.12">
                        <p:embed/>
                      </p:oleObj>
                    </mc:Choice>
                    <mc:Fallback>
                      <p:oleObj name="文档" r:id="rId4" imgW="3826872" imgH="533319" progId="Word.Document.12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4453" y="2333044"/>
                              <a:ext cx="10610872" cy="147874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3" name="对象 2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826387712"/>
                    </p:ext>
                  </p:extLst>
                </p:nvPr>
              </p:nvGraphicFramePr>
              <p:xfrm>
                <a:off x="504453" y="2333044"/>
                <a:ext cx="10610872" cy="1478748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16387" name="文档" r:id="rId6" imgW="3826872" imgH="533319" progId="Word.Document.12">
                        <p:embed/>
                      </p:oleObj>
                    </mc:Choice>
                    <mc:Fallback>
                      <p:oleObj name="文档" r:id="rId6" imgW="3826872" imgH="533319" progId="Word.Document.12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4453" y="2333044"/>
                              <a:ext cx="10610872" cy="1478748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/>
                <p:cNvSpPr>
                  <a:spLocks noChangeAspect="1"/>
                </p:cNvSpPr>
                <p:nvPr/>
              </p:nvSpPr>
              <p:spPr>
                <a:xfrm>
                  <a:off x="361950" y="3760472"/>
                  <a:ext cx="10807700" cy="2719975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0"/>
                    </a:spcAft>
                    <a:tabLst>
                      <a:tab pos="1029335" algn="l"/>
                      <a:tab pos="1850390" algn="l"/>
                      <a:tab pos="2538095" algn="l"/>
                      <a:tab pos="3221990" algn="l"/>
                    </a:tabLst>
                  </a:pPr>
                  <a:r>
                    <a:rPr lang="zh-CN" altLang="zh-CN" dirty="0">
                      <a:solidFill>
                        <a:srgbClr val="000000"/>
                      </a:solidFill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错解</a:t>
                  </a:r>
                  <a:r>
                    <a:rPr lang="en-US" altLang="zh-CN" dirty="0">
                      <a:solidFill>
                        <a:srgbClr val="000000"/>
                      </a:solidFill>
                      <a:latin typeface="Arial" panose="020B0604020202020204" pitchFamily="34" charset="0"/>
                      <a:cs typeface="Times New Roman" panose="02020603050405020304" pitchFamily="18" charset="0"/>
                    </a:rPr>
                    <a:t>:</a:t>
                  </a:r>
                  <a:r>
                    <a:rPr lang="zh-CN" altLang="zh-CN" i="1" dirty="0">
                      <a:solidFill>
                        <a:srgbClr val="000000"/>
                      </a:solidFill>
                      <a:latin typeface="NEU-BZ-S92"/>
                      <a:ea typeface="宋体" panose="02010600030101010101" pitchFamily="2" charset="-122"/>
                      <a:cs typeface="宋体" panose="02010600030101010101" pitchFamily="2" charset="-122"/>
                    </a:rPr>
                    <a:t>∵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与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的夹角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Microsoft Yi Baiti" panose="03000500000000000000" pitchFamily="66" charset="0"/>
                      <a:cs typeface="Times New Roman" panose="02020603050405020304" pitchFamily="18" charset="0"/>
                    </a:rPr>
                    <a:t>θ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为锐角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,</a:t>
                  </a:r>
                  <a:endParaRPr lang="zh-CN" altLang="zh-CN" dirty="0">
                    <a:solidFill>
                      <a:srgbClr val="000000"/>
                    </a:solidFill>
                    <a:effectLst/>
                    <a:latin typeface="NEU-BZ-S92"/>
                    <a:ea typeface="方正书宋_GBK" panose="03000509000000000000" pitchFamily="65" charset="-122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20000"/>
                    </a:lnSpc>
                    <a:spcAft>
                      <a:spcPts val="0"/>
                    </a:spcAft>
                    <a:tabLst>
                      <a:tab pos="1029335" algn="l"/>
                      <a:tab pos="1850390" algn="l"/>
                      <a:tab pos="2538095" algn="l"/>
                      <a:tab pos="3221990" algn="l"/>
                    </a:tabLst>
                  </a:pPr>
                  <a:r>
                    <a:rPr lang="zh-CN" altLang="zh-CN" i="1" dirty="0">
                      <a:solidFill>
                        <a:srgbClr val="000000"/>
                      </a:solidFill>
                      <a:latin typeface="NEU-BZ-S92"/>
                      <a:ea typeface="宋体" panose="02010600030101010101" pitchFamily="2" charset="-122"/>
                      <a:cs typeface="宋体" panose="02010600030101010101" pitchFamily="2" charset="-122"/>
                    </a:rPr>
                    <a:t>∴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cos 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Microsoft Yi Baiti" panose="03000500000000000000" pitchFamily="66" charset="0"/>
                      <a:cs typeface="Times New Roman" panose="02020603050405020304" pitchFamily="18" charset="0"/>
                    </a:rPr>
                    <a:t>θ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&gt;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0,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即</a:t>
                  </a:r>
                  <a:r>
                    <a:rPr lang="en-US" altLang="zh-CN" dirty="0" err="1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a·b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=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-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Microsoft Yi Baiti" panose="03000500000000000000" pitchFamily="66" charset="0"/>
                      <a:cs typeface="Times New Roman" panose="02020603050405020304" pitchFamily="18" charset="0"/>
                    </a:rPr>
                    <a:t>λ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&gt;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0,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得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Microsoft Yi Baiti" panose="03000500000000000000" pitchFamily="66" charset="0"/>
                      <a:cs typeface="Times New Roman" panose="02020603050405020304" pitchFamily="18" charset="0"/>
                    </a:rPr>
                    <a:t>λ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&lt;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𝟐</m:t>
                          </m:r>
                        </m:den>
                      </m:f>
                    </m:oMath>
                  </a14:m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故选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D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.</a:t>
                  </a:r>
                  <a:endParaRPr lang="zh-CN" altLang="zh-CN" dirty="0">
                    <a:solidFill>
                      <a:srgbClr val="000000"/>
                    </a:solidFill>
                    <a:effectLst/>
                    <a:latin typeface="NEU-BZ-S92"/>
                    <a:ea typeface="方正书宋_GBK" panose="03000509000000000000" pitchFamily="65" charset="-122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20000"/>
                    </a:lnSpc>
                    <a:spcAft>
                      <a:spcPts val="0"/>
                    </a:spcAft>
                    <a:tabLst>
                      <a:tab pos="1029335" algn="l"/>
                      <a:tab pos="1850390" algn="l"/>
                      <a:tab pos="2538095" algn="l"/>
                      <a:tab pos="3221990" algn="l"/>
                    </a:tabLst>
                  </a:pP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以上解答过程中都有哪些错误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?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出错的原因是什么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?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你如何改正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?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你如何防范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?</a:t>
                  </a:r>
                  <a:endParaRPr lang="zh-CN" altLang="zh-CN" dirty="0">
                    <a:solidFill>
                      <a:srgbClr val="000000"/>
                    </a:solidFill>
                    <a:effectLst/>
                    <a:latin typeface="NEU-BZ-S92"/>
                    <a:ea typeface="方正书宋_GBK" panose="03000509000000000000" pitchFamily="65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950" y="3760472"/>
                  <a:ext cx="10807700" cy="271997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1410" t="-2242" r="-1466" b="-426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935831"/>
            <a:ext cx="10807700" cy="123489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以上错解是思考不全面造成的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的夹角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此时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显然是不合理的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361950" y="2200752"/>
            <a:ext cx="11752286" cy="2623511"/>
            <a:chOff x="361950" y="2203939"/>
            <a:chExt cx="11752286" cy="2623511"/>
          </a:xfrm>
        </p:grpSpPr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2203939"/>
              <a:ext cx="10807700" cy="186512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正解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的夹角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为锐角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≠1,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a·b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方向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不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能相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a·b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a≠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0),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3923532"/>
                </p:ext>
              </p:extLst>
            </p:nvPr>
          </p:nvGraphicFramePr>
          <p:xfrm>
            <a:off x="442277" y="4010849"/>
            <a:ext cx="11671959" cy="8166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0" name="文档" r:id="rId4" imgW="3826872" imgH="267738" progId="Word.Document.12">
                    <p:embed/>
                  </p:oleObj>
                </mc:Choice>
                <mc:Fallback>
                  <p:oleObj name="文档" r:id="rId4" imgW="3826872" imgH="26773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42277" y="4010849"/>
                          <a:ext cx="11671959" cy="81660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>
            <a:spLocks noChangeAspect="1"/>
          </p:cNvSpPr>
          <p:nvPr/>
        </p:nvSpPr>
        <p:spPr>
          <a:xfrm>
            <a:off x="361950" y="4824263"/>
            <a:ext cx="163519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A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8124181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727919"/>
            <a:ext cx="10807700" cy="2435679"/>
            <a:chOff x="361950" y="1792856"/>
            <a:chExt cx="10807700" cy="2435679"/>
          </a:xfrm>
        </p:grpSpPr>
        <p:pic>
          <p:nvPicPr>
            <p:cNvPr id="10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792856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2419963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对非零向量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设其夹角为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为锐角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≠1 </a:t>
              </a:r>
              <a:r>
                <a:rPr lang="en-US" altLang="zh-CN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a≠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0);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为钝角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·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a≠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0);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为直角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52444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96851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4,5),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的夹角为钝角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375923"/>
              </p:ext>
            </p:extLst>
          </p:nvPr>
        </p:nvGraphicFramePr>
        <p:xfrm>
          <a:off x="504825" y="2211875"/>
          <a:ext cx="11666538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4" name="文档" r:id="rId4" imgW="3837724" imgH="1002396" progId="Word.Document.12">
                  <p:embed/>
                </p:oleObj>
              </mc:Choice>
              <mc:Fallback>
                <p:oleObj name="文档" r:id="rId4" imgW="3837724" imgH="10023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2211875"/>
                        <a:ext cx="11666538" cy="303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6703887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36753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(0,1),b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A.1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	C.2	D.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(0,1),b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(0,1)·(2,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5,6),b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(6,5),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	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不垂直也不平行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平行且同向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平行且反向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 ∵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9663134"/>
              </p:ext>
            </p:extLst>
          </p:nvPr>
        </p:nvGraphicFramePr>
        <p:xfrm>
          <a:off x="304800" y="844159"/>
          <a:ext cx="11677650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文档" r:id="rId4" imgW="3837724" imgH="659490" progId="Word.Document.12">
                  <p:embed/>
                </p:oleObj>
              </mc:Choice>
              <mc:Fallback>
                <p:oleObj name="文档" r:id="rId4" imgW="3837724" imgH="65949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800" y="844159"/>
                        <a:ext cx="11677650" cy="194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196757" y="2848740"/>
            <a:ext cx="11702178" cy="2153745"/>
            <a:chOff x="196757" y="2690182"/>
            <a:chExt cx="11702178" cy="2153745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196757" y="2690182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(5,4)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(2,1)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(3,3),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(1,1),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3875251"/>
                </p:ext>
              </p:extLst>
            </p:nvPr>
          </p:nvGraphicFramePr>
          <p:xfrm>
            <a:off x="226976" y="3905659"/>
            <a:ext cx="11671959" cy="938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7" name="文档" r:id="rId7" imgW="3826872" imgH="307629" progId="Word.Document.12">
                    <p:embed/>
                  </p:oleObj>
                </mc:Choice>
                <mc:Fallback>
                  <p:oleObj name="文档" r:id="rId7" imgW="3826872" imgH="30762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26976" y="3905659"/>
                          <a:ext cx="11671959" cy="93826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178672" y="509164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69992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95871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(1,2),b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61950" y="1943943"/>
            <a:ext cx="11742454" cy="1868696"/>
            <a:chOff x="361950" y="1583903"/>
            <a:chExt cx="11742454" cy="1868696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1583903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(1,2),b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2,1),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33301396"/>
                </p:ext>
              </p:extLst>
            </p:nvPr>
          </p:nvGraphicFramePr>
          <p:xfrm>
            <a:off x="432445" y="2811376"/>
            <a:ext cx="11671959" cy="641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00" name="文档" r:id="rId4" imgW="3837724" imgH="210936" progId="Word.Document.12">
                    <p:embed/>
                  </p:oleObj>
                </mc:Choice>
                <mc:Fallback>
                  <p:oleObj name="文档" r:id="rId4" imgW="3837724" imgH="21093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811376"/>
                          <a:ext cx="11671959" cy="6412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25553"/>
              </p:ext>
            </p:extLst>
          </p:nvPr>
        </p:nvGraphicFramePr>
        <p:xfrm>
          <a:off x="432445" y="3823000"/>
          <a:ext cx="11671959" cy="641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1" name="文档" r:id="rId7" imgW="3826872" imgH="210237" progId="Word.Document.12">
                  <p:embed/>
                </p:oleObj>
              </mc:Choice>
              <mc:Fallback>
                <p:oleObj name="文档" r:id="rId7" imgW="3826872" imgH="2102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3823000"/>
                        <a:ext cx="11671959" cy="6412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0930536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22393"/>
              </p:ext>
            </p:extLst>
          </p:nvPr>
        </p:nvGraphicFramePr>
        <p:xfrm>
          <a:off x="311277" y="1040519"/>
          <a:ext cx="11671959" cy="126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4" name="文档" r:id="rId4" imgW="3826872" imgH="413646" progId="Word.Document.12">
                  <p:embed/>
                </p:oleObj>
              </mc:Choice>
              <mc:Fallback>
                <p:oleObj name="文档" r:id="rId4" imgW="3826872" imgH="4136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1277" y="1040519"/>
                        <a:ext cx="11671959" cy="126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888585"/>
              </p:ext>
            </p:extLst>
          </p:nvPr>
        </p:nvGraphicFramePr>
        <p:xfrm>
          <a:off x="312738" y="2290763"/>
          <a:ext cx="11660187" cy="297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文档" r:id="rId7" imgW="3826872" imgH="982543" progId="Word.Document.12">
                  <p:embed/>
                </p:oleObj>
              </mc:Choice>
              <mc:Fallback>
                <p:oleObj name="文档" r:id="rId7" imgW="3826872" imgH="9825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2738" y="2290763"/>
                        <a:ext cx="11660187" cy="297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752916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61</TotalTime>
  <Words>1280</Words>
  <Application>Microsoft Office PowerPoint</Application>
  <PresentationFormat>自定义</PresentationFormat>
  <Paragraphs>108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8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24</cp:revision>
  <dcterms:created xsi:type="dcterms:W3CDTF">2020-09-12T05:36:12Z</dcterms:created>
  <dcterms:modified xsi:type="dcterms:W3CDTF">2025-09-04T05:24:30Z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