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731" r:id="rId2"/>
    <p:sldId id="753" r:id="rId3"/>
    <p:sldId id="736" r:id="rId4"/>
    <p:sldId id="744" r:id="rId5"/>
    <p:sldId id="746" r:id="rId6"/>
    <p:sldId id="749" r:id="rId7"/>
    <p:sldId id="756" r:id="rId8"/>
    <p:sldId id="757" r:id="rId9"/>
    <p:sldId id="783" r:id="rId10"/>
    <p:sldId id="784" r:id="rId11"/>
    <p:sldId id="758" r:id="rId12"/>
    <p:sldId id="785" r:id="rId13"/>
    <p:sldId id="759" r:id="rId14"/>
    <p:sldId id="786" r:id="rId15"/>
    <p:sldId id="765" r:id="rId16"/>
    <p:sldId id="737" r:id="rId17"/>
    <p:sldId id="750" r:id="rId18"/>
    <p:sldId id="766" r:id="rId19"/>
    <p:sldId id="767" r:id="rId20"/>
    <p:sldId id="787" r:id="rId21"/>
    <p:sldId id="768" r:id="rId22"/>
    <p:sldId id="769" r:id="rId23"/>
    <p:sldId id="754" r:id="rId24"/>
    <p:sldId id="770" r:id="rId25"/>
    <p:sldId id="771" r:id="rId26"/>
    <p:sldId id="772" r:id="rId27"/>
    <p:sldId id="773" r:id="rId28"/>
    <p:sldId id="774" r:id="rId29"/>
    <p:sldId id="775" r:id="rId30"/>
    <p:sldId id="776" r:id="rId31"/>
    <p:sldId id="777" r:id="rId32"/>
    <p:sldId id="788" r:id="rId33"/>
    <p:sldId id="789" r:id="rId34"/>
    <p:sldId id="790" r:id="rId35"/>
    <p:sldId id="791" r:id="rId36"/>
    <p:sldId id="792" r:id="rId37"/>
    <p:sldId id="748" r:id="rId38"/>
    <p:sldId id="752" r:id="rId39"/>
    <p:sldId id="778" r:id="rId40"/>
    <p:sldId id="779" r:id="rId41"/>
    <p:sldId id="780" r:id="rId42"/>
    <p:sldId id="781" r:id="rId43"/>
    <p:sldId id="782" r:id="rId44"/>
    <p:sldId id="735" r:id="rId45"/>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179"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44</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7.xml"/><Relationship Id="rId5" Type="http://schemas.openxmlformats.org/officeDocument/2006/relationships/slide" Target="slide32.xml"/><Relationship Id="rId4" Type="http://schemas.openxmlformats.org/officeDocument/2006/relationships/slide" Target="slide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package" Target="../embeddings/Microsoft_Word___2.docx"/><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5.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5.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17.xml"/><Relationship Id="rId1" Type="http://schemas.openxmlformats.org/officeDocument/2006/relationships/slideLayout" Target="../slideLayouts/slideLayout4.xml"/><Relationship Id="rId4" Type="http://schemas.openxmlformats.org/officeDocument/2006/relationships/slide" Target="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1.bin"/><Relationship Id="rId7" Type="http://schemas.openxmlformats.org/officeDocument/2006/relationships/package" Target="../embeddings/Microsoft_Word___12.docx"/><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15.emf"/><Relationship Id="rId4" Type="http://schemas.openxmlformats.org/officeDocument/2006/relationships/package" Target="../embeddings/Microsoft_Word___11.docx"/></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9.emf"/><Relationship Id="rId4" Type="http://schemas.openxmlformats.org/officeDocument/2006/relationships/package" Target="../embeddings/Microsoft_Word___13.docx"/></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20.emf"/><Relationship Id="rId4" Type="http://schemas.openxmlformats.org/officeDocument/2006/relationships/package" Target="../embeddings/Microsoft_Word___14.docx"/></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22.emf"/><Relationship Id="rId4" Type="http://schemas.openxmlformats.org/officeDocument/2006/relationships/package" Target="../embeddings/Microsoft_Word___15.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3.emf"/><Relationship Id="rId4" Type="http://schemas.openxmlformats.org/officeDocument/2006/relationships/package" Target="../embeddings/Microsoft_Word___16.docx"/></Relationships>
</file>

<file path=ppt/slides/_rels/slide4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17.bin"/><Relationship Id="rId7" Type="http://schemas.openxmlformats.org/officeDocument/2006/relationships/package" Target="../embeddings/Microsoft_Word___18.docx"/><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18.bin"/><Relationship Id="rId5" Type="http://schemas.openxmlformats.org/officeDocument/2006/relationships/image" Target="../media/image25.emf"/><Relationship Id="rId4" Type="http://schemas.openxmlformats.org/officeDocument/2006/relationships/package" Target="../embeddings/Microsoft_Word___17.docx"/></Relationships>
</file>

<file path=ppt/slides/_rels/slide43.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19.bin"/><Relationship Id="rId7" Type="http://schemas.openxmlformats.org/officeDocument/2006/relationships/package" Target="../embeddings/Microsoft_Word___20.docx"/><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20.bin"/><Relationship Id="rId5" Type="http://schemas.openxmlformats.org/officeDocument/2006/relationships/image" Target="../media/image27.emf"/><Relationship Id="rId4" Type="http://schemas.openxmlformats.org/officeDocument/2006/relationships/package" Target="../embeddings/Microsoft_Word___19.docx"/></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287649"/>
            <a:ext cx="10807700" cy="1096454"/>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9</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2</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3</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总体集中趋势的估计</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295871"/>
            <a:ext cx="10729192" cy="3802023"/>
            <a:chOff x="360437" y="1377710"/>
            <a:chExt cx="10729192" cy="3802023"/>
          </a:xfrm>
        </p:grpSpPr>
        <p:grpSp>
          <p:nvGrpSpPr>
            <p:cNvPr id="13" name="组合 12"/>
            <p:cNvGrpSpPr/>
            <p:nvPr/>
          </p:nvGrpSpPr>
          <p:grpSpPr>
            <a:xfrm>
              <a:off x="360437" y="1377710"/>
              <a:ext cx="10729192" cy="3802023"/>
              <a:chOff x="360437" y="1912069"/>
              <a:chExt cx="10729192" cy="2596833"/>
            </a:xfrm>
          </p:grpSpPr>
          <p:sp>
            <p:nvSpPr>
              <p:cNvPr id="2" name="圆角矩形 1"/>
              <p:cNvSpPr/>
              <p:nvPr/>
            </p:nvSpPr>
            <p:spPr>
              <a:xfrm>
                <a:off x="360437" y="1912069"/>
                <a:ext cx="10729192" cy="259683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955283"/>
                <a:ext cx="0" cy="2488631"/>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386914"/>
              <a:ext cx="8496944" cy="3581365"/>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结合实例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能用样本估计总体的集中趋势参数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平均数、中位数、众数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会求样本数据的平均数、中位数、众数并理解它们的意义和作用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理解集中趋势参数的统计含义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培养直观想象、数据分析和数学运算素养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38261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75076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8" name="图文框 7">
            <a:hlinkClick r:id="rId5" action="ppaction://hlinksldjump">
              <a:snd r:embed="rId3" name="chimes.wav"/>
            </a:hlinkClick>
          </p:cNvPr>
          <p:cNvSpPr/>
          <p:nvPr/>
        </p:nvSpPr>
        <p:spPr>
          <a:xfrm>
            <a:off x="1728589" y="315826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5" name="图文框 4">
            <a:hlinkClick r:id="rId6" action="ppaction://hlinksldjump">
              <a:snd r:embed="rId3" name="chimes.wav"/>
            </a:hlinkClick>
          </p:cNvPr>
          <p:cNvSpPr/>
          <p:nvPr/>
        </p:nvSpPr>
        <p:spPr>
          <a:xfrm>
            <a:off x="1728589" y="4565771"/>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94394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平均数、中位数、众数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在初中我们已经学习过平均数、中位数、众数的知识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利用已有知识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回答下列问题</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487723855"/>
              </p:ext>
            </p:extLst>
          </p:nvPr>
        </p:nvGraphicFramePr>
        <p:xfrm>
          <a:off x="406118" y="1843969"/>
          <a:ext cx="11671959" cy="2423490"/>
        </p:xfrm>
        <a:graphic>
          <a:graphicData uri="http://schemas.openxmlformats.org/presentationml/2006/ole">
            <mc:AlternateContent xmlns:mc="http://schemas.openxmlformats.org/markup-compatibility/2006">
              <mc:Choice xmlns:v="urn:schemas-microsoft-com:vml" Requires="v">
                <p:oleObj spid="_x0000_s1048" name="文档" r:id="rId4" imgW="3826872" imgH="794587" progId="Word.Document.12">
                  <p:embed/>
                </p:oleObj>
              </mc:Choice>
              <mc:Fallback>
                <p:oleObj name="文档" r:id="rId4" imgW="3826872" imgH="794587" progId="Word.Document.12">
                  <p:embed/>
                  <p:pic>
                    <p:nvPicPr>
                      <p:cNvPr id="0" name=""/>
                      <p:cNvPicPr/>
                      <p:nvPr/>
                    </p:nvPicPr>
                    <p:blipFill>
                      <a:blip r:embed="rId5"/>
                      <a:stretch>
                        <a:fillRect/>
                      </a:stretch>
                    </p:blipFill>
                    <p:spPr>
                      <a:xfrm>
                        <a:off x="406118" y="1843969"/>
                        <a:ext cx="11671959" cy="2423490"/>
                      </a:xfrm>
                      <a:prstGeom prst="rect">
                        <a:avLst/>
                      </a:prstGeom>
                    </p:spPr>
                  </p:pic>
                </p:oleObj>
              </mc:Fallback>
            </mc:AlternateContent>
          </a:graphicData>
        </a:graphic>
      </p:graphicFrame>
      <p:sp>
        <p:nvSpPr>
          <p:cNvPr id="4" name="矩形 3"/>
          <p:cNvSpPr>
            <a:spLocks noChangeAspect="1"/>
          </p:cNvSpPr>
          <p:nvPr/>
        </p:nvSpPr>
        <p:spPr>
          <a:xfrm>
            <a:off x="361950" y="605287"/>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如果</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个数</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4</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的平均数为</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宋体" panose="02010600030101010101" pitchFamily="2"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这</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个数的平均数是多少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5" name="矩形 4"/>
          <p:cNvSpPr>
            <a:spLocks noChangeAspect="1"/>
          </p:cNvSpPr>
          <p:nvPr/>
        </p:nvSpPr>
        <p:spPr>
          <a:xfrm>
            <a:off x="361950" y="4300416"/>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一组数据</a:t>
            </a:r>
            <a:r>
              <a:rPr lang="en-US" altLang="zh-CN" dirty="0">
                <a:solidFill>
                  <a:srgbClr val="000000"/>
                </a:solidFill>
                <a:ea typeface="宋体" panose="02010600030101010101" pitchFamily="2" charset="-122"/>
                <a:cs typeface="Times New Roman" panose="02020603050405020304" pitchFamily="18" charset="0"/>
              </a:rPr>
              <a:t>12,15,24,25,31,31,31,36,36,37,39,44,49,50</a:t>
            </a:r>
            <a:r>
              <a:rPr lang="zh-CN" altLang="zh-CN" dirty="0">
                <a:solidFill>
                  <a:srgbClr val="000000"/>
                </a:solidFill>
                <a:ea typeface="宋体" panose="02010600030101010101" pitchFamily="2" charset="-122"/>
                <a:cs typeface="Times New Roman" panose="02020603050405020304" pitchFamily="18" charset="0"/>
              </a:rPr>
              <a:t>的中位数是多少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众数是多少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08179777"/>
              </p:ext>
            </p:extLst>
          </p:nvPr>
        </p:nvGraphicFramePr>
        <p:xfrm>
          <a:off x="452109" y="5570086"/>
          <a:ext cx="11671959" cy="723429"/>
        </p:xfrm>
        <a:graphic>
          <a:graphicData uri="http://schemas.openxmlformats.org/presentationml/2006/ole">
            <mc:AlternateContent xmlns:mc="http://schemas.openxmlformats.org/markup-compatibility/2006">
              <mc:Choice xmlns:v="urn:schemas-microsoft-com:vml" Requires="v">
                <p:oleObj spid="_x0000_s1049" name="文档" r:id="rId7" imgW="3826872" imgH="237190" progId="Word.Document.12">
                  <p:embed/>
                </p:oleObj>
              </mc:Choice>
              <mc:Fallback>
                <p:oleObj name="文档" r:id="rId7" imgW="3826872" imgH="237190" progId="Word.Document.12">
                  <p:embed/>
                  <p:pic>
                    <p:nvPicPr>
                      <p:cNvPr id="0" name=""/>
                      <p:cNvPicPr/>
                      <p:nvPr/>
                    </p:nvPicPr>
                    <p:blipFill>
                      <a:blip r:embed="rId8"/>
                      <a:stretch>
                        <a:fillRect/>
                      </a:stretch>
                    </p:blipFill>
                    <p:spPr>
                      <a:xfrm>
                        <a:off x="452109" y="5570086"/>
                        <a:ext cx="11671959" cy="723429"/>
                      </a:xfrm>
                      <a:prstGeom prst="rect">
                        <a:avLst/>
                      </a:prstGeom>
                    </p:spPr>
                  </p:pic>
                </p:oleObj>
              </mc:Fallback>
            </mc:AlternateContent>
          </a:graphicData>
        </a:graphic>
      </p:graphicFrame>
    </p:spTree>
    <p:extLst>
      <p:ext uri="{BB962C8B-B14F-4D97-AF65-F5344CB8AC3E}">
        <p14:creationId xmlns:p14="http://schemas.microsoft.com/office/powerpoint/2010/main" val="140183075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25145"/>
            <a:ext cx="10807700" cy="626710"/>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集中趋势参数的概念与特征</a:t>
            </a:r>
            <a:endParaRPr lang="zh-CN" altLang="en-US" dirty="0"/>
          </a:p>
        </p:txBody>
      </p:sp>
      <p:graphicFrame>
        <p:nvGraphicFramePr>
          <p:cNvPr id="9" name="对象 8"/>
          <p:cNvGraphicFramePr>
            <a:graphicFrameLocks noChangeAspect="1"/>
          </p:cNvGraphicFramePr>
          <p:nvPr>
            <p:extLst>
              <p:ext uri="{D42A27DB-BD31-4B8C-83A1-F6EECF244321}">
                <p14:modId xmlns:p14="http://schemas.microsoft.com/office/powerpoint/2010/main" val="2791361824"/>
              </p:ext>
            </p:extLst>
          </p:nvPr>
        </p:nvGraphicFramePr>
        <p:xfrm>
          <a:off x="284937" y="1151855"/>
          <a:ext cx="10732684" cy="5816433"/>
        </p:xfrm>
        <a:graphic>
          <a:graphicData uri="http://schemas.openxmlformats.org/presentationml/2006/ole">
            <mc:AlternateContent xmlns:mc="http://schemas.openxmlformats.org/markup-compatibility/2006">
              <mc:Choice xmlns:v="urn:schemas-microsoft-com:vml" Requires="v">
                <p:oleObj spid="_x0000_s2061" name="文档" r:id="rId4" imgW="4389106" imgH="2381232" progId="Word.Document.12">
                  <p:embed/>
                </p:oleObj>
              </mc:Choice>
              <mc:Fallback>
                <p:oleObj name="文档" r:id="rId4" imgW="4389106" imgH="2381232" progId="Word.Document.12">
                  <p:embed/>
                  <p:pic>
                    <p:nvPicPr>
                      <p:cNvPr id="0" name=""/>
                      <p:cNvPicPr/>
                      <p:nvPr/>
                    </p:nvPicPr>
                    <p:blipFill>
                      <a:blip r:embed="rId5"/>
                      <a:stretch>
                        <a:fillRect/>
                      </a:stretch>
                    </p:blipFill>
                    <p:spPr>
                      <a:xfrm>
                        <a:off x="284937" y="1151855"/>
                        <a:ext cx="10732684" cy="5816433"/>
                      </a:xfrm>
                      <a:prstGeom prst="rect">
                        <a:avLst/>
                      </a:prstGeom>
                    </p:spPr>
                  </p:pic>
                </p:oleObj>
              </mc:Fallback>
            </mc:AlternateContent>
          </a:graphicData>
        </a:graphic>
      </p:graphicFrame>
      <p:sp>
        <p:nvSpPr>
          <p:cNvPr id="11" name="矩形 10"/>
          <p:cNvSpPr/>
          <p:nvPr/>
        </p:nvSpPr>
        <p:spPr>
          <a:xfrm>
            <a:off x="2284989" y="5112295"/>
            <a:ext cx="1017944" cy="7288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80399" y="5842207"/>
            <a:ext cx="1016793"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5139123" y="4042007"/>
            <a:ext cx="841276" cy="7288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5134433" y="4771919"/>
            <a:ext cx="840325"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9341773" y="2138491"/>
            <a:ext cx="1008112"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021061" y="3394496"/>
            <a:ext cx="954000"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341202" y="4661854"/>
            <a:ext cx="954000"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024020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7"/>
                                        </p:tgtEl>
                                      </p:cBhvr>
                                    </p:animEffect>
                                    <p:set>
                                      <p:cBhvr>
                                        <p:cTn id="22" dur="1" fill="hold">
                                          <p:stCondLst>
                                            <p:cond delay="499"/>
                                          </p:stCondLst>
                                        </p:cTn>
                                        <p:tgtEl>
                                          <p:spTgt spid="1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446207562"/>
              </p:ext>
            </p:extLst>
          </p:nvPr>
        </p:nvGraphicFramePr>
        <p:xfrm>
          <a:off x="188913" y="791815"/>
          <a:ext cx="11309350" cy="5780087"/>
        </p:xfrm>
        <a:graphic>
          <a:graphicData uri="http://schemas.openxmlformats.org/presentationml/2006/ole">
            <mc:AlternateContent xmlns:mc="http://schemas.openxmlformats.org/markup-compatibility/2006">
              <mc:Choice xmlns:v="urn:schemas-microsoft-com:vml" Requires="v">
                <p:oleObj spid="_x0000_s11274" name="文档" r:id="rId4" imgW="4308846" imgH="2208156" progId="Word.Document.12">
                  <p:embed/>
                </p:oleObj>
              </mc:Choice>
              <mc:Fallback>
                <p:oleObj name="文档" r:id="rId4" imgW="4308846" imgH="2208156" progId="Word.Document.12">
                  <p:embed/>
                  <p:pic>
                    <p:nvPicPr>
                      <p:cNvPr id="0" name=""/>
                      <p:cNvPicPr/>
                      <p:nvPr/>
                    </p:nvPicPr>
                    <p:blipFill>
                      <a:blip r:embed="rId5"/>
                      <a:stretch>
                        <a:fillRect/>
                      </a:stretch>
                    </p:blipFill>
                    <p:spPr>
                      <a:xfrm>
                        <a:off x="188913" y="791815"/>
                        <a:ext cx="11309350" cy="5780087"/>
                      </a:xfrm>
                      <a:prstGeom prst="rect">
                        <a:avLst/>
                      </a:prstGeom>
                    </p:spPr>
                  </p:pic>
                </p:oleObj>
              </mc:Fallback>
            </mc:AlternateContent>
          </a:graphicData>
        </a:graphic>
      </p:graphicFrame>
      <p:sp>
        <p:nvSpPr>
          <p:cNvPr id="6" name="矩形 5"/>
          <p:cNvSpPr/>
          <p:nvPr/>
        </p:nvSpPr>
        <p:spPr>
          <a:xfrm>
            <a:off x="3727769" y="3183136"/>
            <a:ext cx="642268"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047349" y="4093526"/>
            <a:ext cx="657904"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184741" y="2964246"/>
            <a:ext cx="657904"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0245197" y="2964246"/>
            <a:ext cx="657904"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449179" y="5217013"/>
            <a:ext cx="105956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0905374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833946823"/>
              </p:ext>
            </p:extLst>
          </p:nvPr>
        </p:nvGraphicFramePr>
        <p:xfrm>
          <a:off x="361321" y="844296"/>
          <a:ext cx="10944332" cy="5641724"/>
        </p:xfrm>
        <a:graphic>
          <a:graphicData uri="http://schemas.openxmlformats.org/presentationml/2006/ole">
            <mc:AlternateContent xmlns:mc="http://schemas.openxmlformats.org/markup-compatibility/2006">
              <mc:Choice xmlns:v="urn:schemas-microsoft-com:vml" Requires="v">
                <p:oleObj spid="_x0000_s12298" name="文档" r:id="rId4" imgW="3947136" imgH="2034720" progId="Word.Document.12">
                  <p:embed/>
                </p:oleObj>
              </mc:Choice>
              <mc:Fallback>
                <p:oleObj name="文档" r:id="rId4" imgW="3947136" imgH="2034720" progId="Word.Document.12">
                  <p:embed/>
                  <p:pic>
                    <p:nvPicPr>
                      <p:cNvPr id="0" name=""/>
                      <p:cNvPicPr/>
                      <p:nvPr/>
                    </p:nvPicPr>
                    <p:blipFill>
                      <a:blip r:embed="rId5"/>
                      <a:stretch>
                        <a:fillRect/>
                      </a:stretch>
                    </p:blipFill>
                    <p:spPr>
                      <a:xfrm>
                        <a:off x="361321" y="844296"/>
                        <a:ext cx="10944332" cy="5641724"/>
                      </a:xfrm>
                      <a:prstGeom prst="rect">
                        <a:avLst/>
                      </a:prstGeom>
                    </p:spPr>
                  </p:pic>
                </p:oleObj>
              </mc:Fallback>
            </mc:AlternateContent>
          </a:graphicData>
        </a:graphic>
      </p:graphicFrame>
      <p:sp>
        <p:nvSpPr>
          <p:cNvPr id="5" name="矩形 4"/>
          <p:cNvSpPr/>
          <p:nvPr/>
        </p:nvSpPr>
        <p:spPr>
          <a:xfrm>
            <a:off x="1898640" y="3406126"/>
            <a:ext cx="706495"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126992" y="3406125"/>
            <a:ext cx="706495"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831325" y="4843927"/>
            <a:ext cx="1810032"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94273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61950" y="729639"/>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总体集中趋势的估计</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平均数和中位数都描述了数据的集中趋势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它们的大小关系和数据分布的形态有关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085095716"/>
              </p:ext>
            </p:extLst>
          </p:nvPr>
        </p:nvGraphicFramePr>
        <p:xfrm>
          <a:off x="-86729" y="2603914"/>
          <a:ext cx="11705058" cy="3454317"/>
        </p:xfrm>
        <a:graphic>
          <a:graphicData uri="http://schemas.openxmlformats.org/presentationml/2006/ole">
            <mc:AlternateContent xmlns:mc="http://schemas.openxmlformats.org/markup-compatibility/2006">
              <mc:Choice xmlns:v="urn:schemas-microsoft-com:vml" Requires="v">
                <p:oleObj spid="_x0000_s13322" name="文档" r:id="rId4" imgW="3837724" imgH="1132563" progId="Word.Document.12">
                  <p:embed/>
                </p:oleObj>
              </mc:Choice>
              <mc:Fallback>
                <p:oleObj name="文档" r:id="rId4" imgW="3837724" imgH="1132563" progId="Word.Document.12">
                  <p:embed/>
                  <p:pic>
                    <p:nvPicPr>
                      <p:cNvPr id="0" name=""/>
                      <p:cNvPicPr/>
                      <p:nvPr/>
                    </p:nvPicPr>
                    <p:blipFill>
                      <a:blip r:embed="rId5"/>
                      <a:stretch>
                        <a:fillRect/>
                      </a:stretch>
                    </p:blipFill>
                    <p:spPr>
                      <a:xfrm>
                        <a:off x="-86729" y="2603914"/>
                        <a:ext cx="11705058" cy="3454317"/>
                      </a:xfrm>
                      <a:prstGeom prst="rect">
                        <a:avLst/>
                      </a:prstGeom>
                    </p:spPr>
                  </p:pic>
                </p:oleObj>
              </mc:Fallback>
            </mc:AlternateContent>
          </a:graphicData>
        </a:graphic>
      </p:graphicFrame>
    </p:spTree>
    <p:extLst>
      <p:ext uri="{BB962C8B-B14F-4D97-AF65-F5344CB8AC3E}">
        <p14:creationId xmlns:p14="http://schemas.microsoft.com/office/powerpoint/2010/main" val="726822971"/>
      </p:ext>
    </p:extLst>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215110" y="678993"/>
            <a:ext cx="10807700" cy="626710"/>
          </a:xfrm>
          <a:prstGeom prst="rect">
            <a:avLst/>
          </a:prstGeom>
        </p:spPr>
        <p:txBody>
          <a:bodyPr>
            <a:spAutoFit/>
          </a:bodyPr>
          <a:lstStyle/>
          <a:p>
            <a:pPr>
              <a:lnSpc>
                <a:spcPct val="120000"/>
              </a:lnSpc>
            </a:pPr>
            <a:r>
              <a:rPr lang="zh-CN" altLang="zh-CN" dirty="0">
                <a:solidFill>
                  <a:srgbClr val="000000"/>
                </a:solidFill>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单峰频率分布直方图的平均数与中位数</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3864777996"/>
              </p:ext>
            </p:extLst>
          </p:nvPr>
        </p:nvGraphicFramePr>
        <p:xfrm>
          <a:off x="-284811" y="1310406"/>
          <a:ext cx="11878496" cy="3680868"/>
        </p:xfrm>
        <a:graphic>
          <a:graphicData uri="http://schemas.openxmlformats.org/presentationml/2006/ole">
            <mc:AlternateContent xmlns:mc="http://schemas.openxmlformats.org/markup-compatibility/2006">
              <mc:Choice xmlns:v="urn:schemas-microsoft-com:vml" Requires="v">
                <p:oleObj spid="_x0000_s14346" name="文档" r:id="rId4" imgW="3894589" imgH="1206842" progId="Word.Document.12">
                  <p:embed/>
                </p:oleObj>
              </mc:Choice>
              <mc:Fallback>
                <p:oleObj name="文档" r:id="rId4" imgW="3894589" imgH="1206842" progId="Word.Document.12">
                  <p:embed/>
                  <p:pic>
                    <p:nvPicPr>
                      <p:cNvPr id="0" name=""/>
                      <p:cNvPicPr/>
                      <p:nvPr/>
                    </p:nvPicPr>
                    <p:blipFill>
                      <a:blip r:embed="rId5"/>
                      <a:stretch>
                        <a:fillRect/>
                      </a:stretch>
                    </p:blipFill>
                    <p:spPr>
                      <a:xfrm>
                        <a:off x="-284811" y="1310406"/>
                        <a:ext cx="11878496" cy="3680868"/>
                      </a:xfrm>
                      <a:prstGeom prst="rect">
                        <a:avLst/>
                      </a:prstGeom>
                    </p:spPr>
                  </p:pic>
                </p:oleObj>
              </mc:Fallback>
            </mc:AlternateContent>
          </a:graphicData>
        </a:graphic>
      </p:graphicFrame>
      <p:sp>
        <p:nvSpPr>
          <p:cNvPr id="4" name="矩形 3"/>
          <p:cNvSpPr>
            <a:spLocks noChangeAspect="1"/>
          </p:cNvSpPr>
          <p:nvPr/>
        </p:nvSpPr>
        <p:spPr>
          <a:xfrm>
            <a:off x="216421" y="4317457"/>
            <a:ext cx="11231735" cy="1865126"/>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对数值型数据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如用水量、身高、收入、产量等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集中趋势的描述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可以用</a:t>
            </a:r>
            <a:r>
              <a:rPr lang="zh-CN" altLang="zh-CN" dirty="0">
                <a:ea typeface="宋体" panose="02010600030101010101" pitchFamily="2" charset="-122"/>
                <a:cs typeface="Times New Roman" panose="02020603050405020304" pitchFamily="18" charset="0"/>
              </a:rPr>
              <a:t>平均数</a:t>
            </a:r>
            <a:r>
              <a:rPr lang="zh-CN" altLang="zh-CN" dirty="0">
                <a:solidFill>
                  <a:srgbClr val="000000"/>
                </a:solidFill>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中位数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而对分类型数据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如校服规格、性别、产品质量等级等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集中趋势的描述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可以用</a:t>
            </a:r>
            <a:r>
              <a:rPr lang="zh-CN" altLang="zh-CN" dirty="0">
                <a:ea typeface="宋体" panose="02010600030101010101" pitchFamily="2" charset="-122"/>
                <a:cs typeface="Times New Roman" panose="02020603050405020304" pitchFamily="18" charset="0"/>
              </a:rPr>
              <a:t>众数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9" name="矩形 8"/>
          <p:cNvSpPr/>
          <p:nvPr/>
        </p:nvSpPr>
        <p:spPr>
          <a:xfrm>
            <a:off x="5855955" y="2587988"/>
            <a:ext cx="77714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855955" y="3146852"/>
            <a:ext cx="77714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672805" y="4957761"/>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3668034" y="5421859"/>
            <a:ext cx="1196942"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5318666" y="4957761"/>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5313895" y="5421859"/>
            <a:ext cx="1196942"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9510043" y="5547751"/>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9505453" y="6011849"/>
            <a:ext cx="77626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4455823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a:spLocks noChangeAspect="1"/>
          </p:cNvSpPr>
          <p:nvPr/>
        </p:nvSpPr>
        <p:spPr>
          <a:xfrm>
            <a:off x="361950" y="1037293"/>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已知一组数据为</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3,4,4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则该组数据的众数和中位数分别为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5	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4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	D</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已知一组观察值</a:t>
            </a:r>
            <a:r>
              <a:rPr lang="en-US" altLang="zh-CN" dirty="0">
                <a:solidFill>
                  <a:srgbClr val="000000"/>
                </a:solidFill>
                <a:ea typeface="宋体" panose="02010600030101010101" pitchFamily="2" charset="-122"/>
                <a:cs typeface="Times New Roman" panose="02020603050405020304" pitchFamily="18" charset="0"/>
              </a:rPr>
              <a:t>4,3,5,6</a:t>
            </a:r>
            <a:r>
              <a:rPr lang="zh-CN" altLang="zh-CN" dirty="0">
                <a:solidFill>
                  <a:srgbClr val="000000"/>
                </a:solidFill>
                <a:ea typeface="宋体" panose="02010600030101010101" pitchFamily="2" charset="-122"/>
                <a:cs typeface="Times New Roman" panose="02020603050405020304" pitchFamily="18" charset="0"/>
              </a:rPr>
              <a:t>出现的次数分别为</a:t>
            </a:r>
            <a:r>
              <a:rPr lang="en-US" altLang="zh-CN" dirty="0">
                <a:solidFill>
                  <a:srgbClr val="000000"/>
                </a:solidFill>
                <a:ea typeface="宋体" panose="02010600030101010101" pitchFamily="2" charset="-122"/>
                <a:cs typeface="Times New Roman" panose="02020603050405020304" pitchFamily="18" charset="0"/>
              </a:rPr>
              <a:t>3,2,4,2,</a:t>
            </a:r>
            <a:r>
              <a:rPr lang="zh-CN" altLang="zh-CN" dirty="0">
                <a:solidFill>
                  <a:srgbClr val="000000"/>
                </a:solidFill>
                <a:ea typeface="宋体" panose="02010600030101010101" pitchFamily="2" charset="-122"/>
                <a:cs typeface="Times New Roman" panose="02020603050405020304" pitchFamily="18" charset="0"/>
              </a:rPr>
              <a:t>则样本的平均数约为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5</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64</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13573712"/>
      </p:ext>
    </p:extLst>
  </p:cSld>
  <p:clrMapOvr>
    <a:masterClrMapping/>
  </p:clrMapOvr>
  <p:transition spd="slow">
    <p:wheel spokes="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55911"/>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将这组数据按从小到大的顺序排列</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3,4,4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5,4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5,5,5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故众数为</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中位数为</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76189904"/>
              </p:ext>
            </p:extLst>
          </p:nvPr>
        </p:nvGraphicFramePr>
        <p:xfrm>
          <a:off x="432445" y="2873552"/>
          <a:ext cx="11705058" cy="742333"/>
        </p:xfrm>
        <a:graphic>
          <a:graphicData uri="http://schemas.openxmlformats.org/presentationml/2006/ole">
            <mc:AlternateContent xmlns:mc="http://schemas.openxmlformats.org/markup-compatibility/2006">
              <mc:Choice xmlns:v="urn:schemas-microsoft-com:vml" Requires="v">
                <p:oleObj spid="_x0000_s15370" name="文档" r:id="rId4" imgW="3837724" imgH="243388" progId="Word.Document.12">
                  <p:embed/>
                </p:oleObj>
              </mc:Choice>
              <mc:Fallback>
                <p:oleObj name="文档" r:id="rId4" imgW="3837724" imgH="243388" progId="Word.Document.12">
                  <p:embed/>
                  <p:pic>
                    <p:nvPicPr>
                      <p:cNvPr id="0" name=""/>
                      <p:cNvPicPr/>
                      <p:nvPr/>
                    </p:nvPicPr>
                    <p:blipFill>
                      <a:blip r:embed="rId5"/>
                      <a:stretch>
                        <a:fillRect/>
                      </a:stretch>
                    </p:blipFill>
                    <p:spPr>
                      <a:xfrm>
                        <a:off x="432445" y="2873552"/>
                        <a:ext cx="11705058" cy="742333"/>
                      </a:xfrm>
                      <a:prstGeom prst="rect">
                        <a:avLst/>
                      </a:prstGeom>
                    </p:spPr>
                  </p:pic>
                </p:oleObj>
              </mc:Fallback>
            </mc:AlternateContent>
          </a:graphicData>
        </a:graphic>
      </p:graphicFrame>
      <p:sp>
        <p:nvSpPr>
          <p:cNvPr id="4" name="矩形 3"/>
          <p:cNvSpPr>
            <a:spLocks noChangeAspect="1"/>
          </p:cNvSpPr>
          <p:nvPr/>
        </p:nvSpPr>
        <p:spPr>
          <a:xfrm>
            <a:off x="361950" y="3693497"/>
            <a:ext cx="3185296" cy="626710"/>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(1)C</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6923854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50812"/>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若数据个数为偶数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则中位数是按从小到大顺序排列的最中间的那两个数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rPr>
              <a:t>(2)</a:t>
            </a:r>
            <a:r>
              <a:rPr lang="zh-CN" altLang="zh-CN" dirty="0">
                <a:solidFill>
                  <a:srgbClr val="000000"/>
                </a:solidFill>
                <a:ea typeface="宋体" panose="02010600030101010101" pitchFamily="2" charset="-122"/>
                <a:cs typeface="Times New Roman" panose="02020603050405020304" pitchFamily="18" charset="0"/>
              </a:rPr>
              <a:t>在频率分布直方图中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最高小矩形所在区间的中点作为众数的估计值</a:t>
            </a:r>
            <a:r>
              <a:rPr lang="en-US" altLang="zh-CN" i="1" dirty="0" smtClean="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因为样本平均数与每一个样本数据有关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所以用平均数能更好地反映数据的集中趋势</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在一组数据中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众数只有一个</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3744813" y="3004423"/>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2952725" y="4177375"/>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5765800" y="5376744"/>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6337101" y="5945030"/>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29184302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0166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8168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56170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333942" y="762319"/>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总体</a:t>
            </a:r>
            <a:r>
              <a:rPr lang="zh-CN" altLang="zh-CN" dirty="0"/>
              <a:t>集中趋势在具体数据中的估计</a:t>
            </a:r>
          </a:p>
        </p:txBody>
      </p:sp>
      <p:sp>
        <p:nvSpPr>
          <p:cNvPr id="2" name="矩形 1"/>
          <p:cNvSpPr>
            <a:spLocks noChangeAspect="1"/>
          </p:cNvSpPr>
          <p:nvPr/>
        </p:nvSpPr>
        <p:spPr>
          <a:xfrm>
            <a:off x="361950" y="1440338"/>
            <a:ext cx="10807700" cy="432002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高一</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班有男同学</a:t>
            </a:r>
            <a:r>
              <a:rPr lang="en-US" altLang="zh-CN" dirty="0">
                <a:solidFill>
                  <a:srgbClr val="000000"/>
                </a:solidFill>
                <a:ea typeface="宋体" panose="02010600030101010101" pitchFamily="2" charset="-122"/>
                <a:cs typeface="Times New Roman" panose="02020603050405020304" pitchFamily="18" charset="0"/>
              </a:rPr>
              <a:t>27</a:t>
            </a:r>
            <a:r>
              <a:rPr lang="zh-CN" altLang="zh-CN" dirty="0">
                <a:solidFill>
                  <a:srgbClr val="000000"/>
                </a:solidFill>
                <a:ea typeface="宋体" panose="02010600030101010101" pitchFamily="2" charset="-122"/>
                <a:cs typeface="Times New Roman" panose="02020603050405020304" pitchFamily="18" charset="0"/>
              </a:rPr>
              <a:t>名、女同学</a:t>
            </a:r>
            <a:r>
              <a:rPr lang="en-US" altLang="zh-CN" dirty="0">
                <a:solidFill>
                  <a:srgbClr val="000000"/>
                </a:solidFill>
                <a:ea typeface="宋体" panose="02010600030101010101" pitchFamily="2" charset="-122"/>
                <a:cs typeface="Times New Roman" panose="02020603050405020304" pitchFamily="18" charset="0"/>
              </a:rPr>
              <a:t>21</a:t>
            </a:r>
            <a:r>
              <a:rPr lang="zh-CN" altLang="zh-CN" dirty="0">
                <a:solidFill>
                  <a:srgbClr val="000000"/>
                </a:solidFill>
                <a:ea typeface="宋体" panose="02010600030101010101" pitchFamily="2" charset="-122"/>
                <a:cs typeface="Times New Roman" panose="02020603050405020304" pitchFamily="18" charset="0"/>
              </a:rPr>
              <a:t>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在一次语文测验中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男同学的平均分是</a:t>
            </a:r>
            <a:r>
              <a:rPr lang="en-US" altLang="zh-CN" dirty="0">
                <a:solidFill>
                  <a:srgbClr val="000000"/>
                </a:solidFill>
                <a:ea typeface="宋体" panose="02010600030101010101" pitchFamily="2" charset="-122"/>
                <a:cs typeface="Times New Roman" panose="02020603050405020304" pitchFamily="18" charset="0"/>
              </a:rPr>
              <a:t>82</a:t>
            </a:r>
            <a:r>
              <a:rPr lang="zh-CN" altLang="zh-CN" dirty="0">
                <a:solidFill>
                  <a:srgbClr val="000000"/>
                </a:solidFill>
                <a:ea typeface="宋体" panose="02010600030101010101" pitchFamily="2" charset="-122"/>
                <a:cs typeface="Times New Roman" panose="02020603050405020304" pitchFamily="18" charset="0"/>
              </a:rPr>
              <a:t>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中位数是</a:t>
            </a:r>
            <a:r>
              <a:rPr lang="en-US" altLang="zh-CN" dirty="0">
                <a:solidFill>
                  <a:srgbClr val="000000"/>
                </a:solidFill>
                <a:ea typeface="宋体" panose="02010600030101010101" pitchFamily="2" charset="-122"/>
                <a:cs typeface="Times New Roman" panose="02020603050405020304" pitchFamily="18" charset="0"/>
              </a:rPr>
              <a:t>75</a:t>
            </a:r>
            <a:r>
              <a:rPr lang="zh-CN" altLang="zh-CN" dirty="0">
                <a:solidFill>
                  <a:srgbClr val="000000"/>
                </a:solidFill>
                <a:ea typeface="宋体" panose="02010600030101010101" pitchFamily="2" charset="-122"/>
                <a:cs typeface="Times New Roman" panose="02020603050405020304" pitchFamily="18" charset="0"/>
              </a:rPr>
              <a:t>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女同学的平均分是</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中位数是</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求这次测验全班的平均分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精确到</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01</a:t>
            </a:r>
            <a:r>
              <a:rPr lang="zh-CN" altLang="zh-CN" dirty="0">
                <a:solidFill>
                  <a:srgbClr val="000000"/>
                </a:solidFill>
                <a:ea typeface="宋体" panose="02010600030101010101" pitchFamily="2" charset="-122"/>
                <a:cs typeface="Times New Roman" panose="02020603050405020304" pitchFamily="18" charset="0"/>
              </a:rPr>
              <a:t>分</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估计全班成绩在</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分及以下的同学至少有多少人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分析男同学的平均分与中位数相差较大的主要原因</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根据平均数和中位数的定义解决</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90311"/>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利用平均数计算公式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得这次测验全班的平均分为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70657448"/>
              </p:ext>
            </p:extLst>
          </p:nvPr>
        </p:nvGraphicFramePr>
        <p:xfrm>
          <a:off x="452109" y="1330428"/>
          <a:ext cx="11705058" cy="728035"/>
        </p:xfrm>
        <a:graphic>
          <a:graphicData uri="http://schemas.openxmlformats.org/presentationml/2006/ole">
            <mc:AlternateContent xmlns:mc="http://schemas.openxmlformats.org/markup-compatibility/2006">
              <mc:Choice xmlns:v="urn:schemas-microsoft-com:vml" Requires="v">
                <p:oleObj spid="_x0000_s4109" name="文档" r:id="rId4" imgW="3837724" imgH="238700" progId="Word.Document.12">
                  <p:embed/>
                </p:oleObj>
              </mc:Choice>
              <mc:Fallback>
                <p:oleObj name="文档" r:id="rId4" imgW="3837724" imgH="238700" progId="Word.Document.12">
                  <p:embed/>
                  <p:pic>
                    <p:nvPicPr>
                      <p:cNvPr id="0" name=""/>
                      <p:cNvPicPr/>
                      <p:nvPr/>
                    </p:nvPicPr>
                    <p:blipFill>
                      <a:blip r:embed="rId5"/>
                      <a:stretch>
                        <a:fillRect/>
                      </a:stretch>
                    </p:blipFill>
                    <p:spPr>
                      <a:xfrm>
                        <a:off x="452109" y="1330428"/>
                        <a:ext cx="11705058" cy="728035"/>
                      </a:xfrm>
                      <a:prstGeom prst="rect">
                        <a:avLst/>
                      </a:prstGeom>
                    </p:spPr>
                  </p:pic>
                </p:oleObj>
              </mc:Fallback>
            </mc:AlternateContent>
          </a:graphicData>
        </a:graphic>
      </p:graphicFrame>
      <p:sp>
        <p:nvSpPr>
          <p:cNvPr id="7" name="矩形 6"/>
          <p:cNvSpPr>
            <a:spLocks noChangeAspect="1"/>
          </p:cNvSpPr>
          <p:nvPr/>
        </p:nvSpPr>
        <p:spPr>
          <a:xfrm>
            <a:off x="361950" y="2134639"/>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27</a:t>
            </a:r>
            <a:r>
              <a:rPr lang="zh-CN" altLang="zh-CN" dirty="0">
                <a:solidFill>
                  <a:srgbClr val="000000"/>
                </a:solidFill>
                <a:ea typeface="楷体" panose="02010609060101010101" pitchFamily="49" charset="-122"/>
                <a:cs typeface="Times New Roman" panose="02020603050405020304" pitchFamily="18" charset="0"/>
              </a:rPr>
              <a:t>名男同学成绩的中位数是</a:t>
            </a:r>
            <a:r>
              <a:rPr lang="en-US" altLang="zh-CN" dirty="0">
                <a:solidFill>
                  <a:srgbClr val="000000"/>
                </a:solidFill>
                <a:ea typeface="宋体" panose="02010600030101010101" pitchFamily="2" charset="-122"/>
                <a:cs typeface="Times New Roman" panose="02020603050405020304" pitchFamily="18" charset="0"/>
              </a:rPr>
              <a:t>75,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所以至少有</a:t>
            </a:r>
            <a:r>
              <a:rPr lang="en-US" altLang="zh-CN" dirty="0">
                <a:solidFill>
                  <a:srgbClr val="000000"/>
                </a:solidFill>
                <a:ea typeface="宋体" panose="02010600030101010101" pitchFamily="2" charset="-122"/>
                <a:cs typeface="Times New Roman" panose="02020603050405020304" pitchFamily="18" charset="0"/>
              </a:rPr>
              <a:t>14</a:t>
            </a:r>
            <a:r>
              <a:rPr lang="zh-CN" altLang="zh-CN" dirty="0">
                <a:solidFill>
                  <a:srgbClr val="000000"/>
                </a:solidFill>
                <a:ea typeface="楷体" panose="02010609060101010101" pitchFamily="49" charset="-122"/>
                <a:cs typeface="Times New Roman" panose="02020603050405020304" pitchFamily="18" charset="0"/>
              </a:rPr>
              <a:t>人得分不超过</a:t>
            </a:r>
            <a:r>
              <a:rPr lang="en-US" altLang="zh-CN" dirty="0">
                <a:solidFill>
                  <a:srgbClr val="000000"/>
                </a:solidFill>
                <a:ea typeface="宋体" panose="02010600030101010101" pitchFamily="2" charset="-122"/>
                <a:cs typeface="Times New Roman" panose="02020603050405020304" pitchFamily="18" charset="0"/>
              </a:rPr>
              <a:t>75</a:t>
            </a:r>
            <a:r>
              <a:rPr lang="zh-CN" altLang="zh-CN" dirty="0">
                <a:solidFill>
                  <a:srgbClr val="000000"/>
                </a:solidFill>
                <a:ea typeface="楷体" panose="02010609060101010101" pitchFamily="49" charset="-122"/>
                <a:cs typeface="Times New Roman" panose="02020603050405020304" pitchFamily="18" charset="0"/>
              </a:rPr>
              <a:t>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又因为</a:t>
            </a:r>
            <a:r>
              <a:rPr lang="en-US" altLang="zh-CN" dirty="0">
                <a:solidFill>
                  <a:srgbClr val="000000"/>
                </a:solidFill>
                <a:ea typeface="宋体" panose="02010600030101010101" pitchFamily="2" charset="-122"/>
                <a:cs typeface="Times New Roman" panose="02020603050405020304" pitchFamily="18" charset="0"/>
              </a:rPr>
              <a:t>21</a:t>
            </a:r>
            <a:r>
              <a:rPr lang="zh-CN" altLang="zh-CN" dirty="0">
                <a:solidFill>
                  <a:srgbClr val="000000"/>
                </a:solidFill>
                <a:ea typeface="楷体" panose="02010609060101010101" pitchFamily="49" charset="-122"/>
                <a:cs typeface="Times New Roman" panose="02020603050405020304" pitchFamily="18" charset="0"/>
              </a:rPr>
              <a:t>名女同学成绩的中位数是</a:t>
            </a:r>
            <a:r>
              <a:rPr lang="en-US" altLang="zh-CN" dirty="0">
                <a:solidFill>
                  <a:srgbClr val="000000"/>
                </a:solidFill>
                <a:ea typeface="宋体" panose="02010600030101010101" pitchFamily="2" charset="-122"/>
                <a:cs typeface="Times New Roman" panose="02020603050405020304" pitchFamily="18" charset="0"/>
              </a:rPr>
              <a:t>80,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所以至少有</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楷体" panose="02010609060101010101" pitchFamily="49" charset="-122"/>
                <a:cs typeface="Times New Roman" panose="02020603050405020304" pitchFamily="18" charset="0"/>
              </a:rPr>
              <a:t>人得分不超过</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楷体" panose="02010609060101010101" pitchFamily="49" charset="-122"/>
                <a:cs typeface="Times New Roman" panose="02020603050405020304" pitchFamily="18" charset="0"/>
              </a:rPr>
              <a:t>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所以估计全班至少有</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楷体" panose="02010609060101010101" pitchFamily="49" charset="-122"/>
                <a:cs typeface="Times New Roman" panose="02020603050405020304" pitchFamily="18" charset="0"/>
              </a:rPr>
              <a:t>人得分不超过</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楷体" panose="02010609060101010101" pitchFamily="49" charset="-122"/>
                <a:cs typeface="Times New Roman" panose="02020603050405020304" pitchFamily="18" charset="0"/>
              </a:rPr>
              <a:t>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男同学的平均分与中位数的相差较大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说明男同学的成绩中两极分化现象严重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分数高的和低的相差较大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92437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反思感悟H.eps" descr="id:2147490797;FounderCES"/>
          <p:cNvPicPr/>
          <p:nvPr/>
        </p:nvPicPr>
        <p:blipFill>
          <a:blip r:embed="rId2"/>
          <a:stretch>
            <a:fillRect/>
          </a:stretch>
        </p:blipFill>
        <p:spPr>
          <a:xfrm>
            <a:off x="361950" y="847073"/>
            <a:ext cx="2259558" cy="531552"/>
          </a:xfrm>
          <a:prstGeom prst="rect">
            <a:avLst/>
          </a:prstGeom>
        </p:spPr>
      </p:pic>
      <p:sp>
        <p:nvSpPr>
          <p:cNvPr id="4" name="矩形 3"/>
          <p:cNvSpPr>
            <a:spLocks noChangeAspect="1"/>
          </p:cNvSpPr>
          <p:nvPr/>
        </p:nvSpPr>
        <p:spPr>
          <a:xfrm>
            <a:off x="361950" y="1439845"/>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众数、中位数、平均数的特点</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zh-CN" altLang="zh-CN" dirty="0">
                <a:solidFill>
                  <a:srgbClr val="000000"/>
                </a:solidFill>
                <a:ea typeface="仿宋" panose="02010609060101010101" pitchFamily="49" charset="-122"/>
                <a:cs typeface="Times New Roman" panose="02020603050405020304" pitchFamily="18" charset="0"/>
              </a:rPr>
              <a:t>众数、中位数及平均数都是描述一组数据集中趋势的量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它们各有优缺点</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平均数的大小与一组数据里每个数的大小均有关系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任何一个数据的变动都会引起平均数的变动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可反映更多的总体信息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但受数据中的极端值的影响较大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妨碍了对总体估计的可靠性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因此用平均数估计总体有时不可靠</a:t>
            </a:r>
            <a:r>
              <a:rPr lang="en-US" altLang="zh-CN" i="1"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0199153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67879"/>
            <a:ext cx="10807700" cy="2990434"/>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众数、中位数不受少数几个极端值的影响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这在某些情况下是一个优点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当一组数据中个别数据较大时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可用中位数描述其集中趋势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当一组数据中有不少数据重复出现时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其众数往往更能反映问题</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但它们对极端值的不敏感有时也会成为缺点</a:t>
            </a:r>
            <a:r>
              <a:rPr lang="en-US" altLang="zh-CN" i="1" dirty="0">
                <a:solidFill>
                  <a:srgbClr val="000000"/>
                </a:solidFill>
                <a:ea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160126391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17041" y="1079847"/>
            <a:ext cx="11844910" cy="4016994"/>
            <a:chOff x="-117041" y="791815"/>
            <a:chExt cx="11844910" cy="4016994"/>
          </a:xfrm>
        </p:grpSpPr>
        <p:sp>
          <p:nvSpPr>
            <p:cNvPr id="4" name="矩形 3"/>
            <p:cNvSpPr>
              <a:spLocks noChangeAspect="1"/>
            </p:cNvSpPr>
            <p:nvPr/>
          </p:nvSpPr>
          <p:spPr>
            <a:xfrm>
              <a:off x="361950" y="791815"/>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某工厂人员及其周工资构成如下表所示</a:t>
              </a:r>
              <a:r>
                <a:rPr lang="en-US" altLang="zh-CN" i="1">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663041690"/>
                </p:ext>
              </p:extLst>
            </p:nvPr>
          </p:nvGraphicFramePr>
          <p:xfrm>
            <a:off x="-117041" y="1446931"/>
            <a:ext cx="11844910" cy="2719441"/>
          </p:xfrm>
          <a:graphic>
            <a:graphicData uri="http://schemas.openxmlformats.org/presentationml/2006/ole">
              <mc:AlternateContent xmlns:mc="http://schemas.openxmlformats.org/markup-compatibility/2006">
                <mc:Choice xmlns:v="urn:schemas-microsoft-com:vml" Requires="v">
                  <p:oleObj spid="_x0000_s5133" name="文档" r:id="rId4" imgW="3883577" imgH="891620" progId="Word.Document.12">
                    <p:embed/>
                  </p:oleObj>
                </mc:Choice>
                <mc:Fallback>
                  <p:oleObj name="文档" r:id="rId4" imgW="3883577" imgH="891620" progId="Word.Document.12">
                    <p:embed/>
                    <p:pic>
                      <p:nvPicPr>
                        <p:cNvPr id="0" name=""/>
                        <p:cNvPicPr/>
                        <p:nvPr/>
                      </p:nvPicPr>
                      <p:blipFill>
                        <a:blip r:embed="rId5"/>
                        <a:stretch>
                          <a:fillRect/>
                        </a:stretch>
                      </p:blipFill>
                      <p:spPr>
                        <a:xfrm>
                          <a:off x="-117041" y="1446931"/>
                          <a:ext cx="11844910" cy="2719441"/>
                        </a:xfrm>
                        <a:prstGeom prst="rect">
                          <a:avLst/>
                        </a:prstGeom>
                      </p:spPr>
                    </p:pic>
                  </p:oleObj>
                </mc:Fallback>
              </mc:AlternateContent>
            </a:graphicData>
          </a:graphic>
        </p:graphicFrame>
        <p:sp>
          <p:nvSpPr>
            <p:cNvPr id="6" name="矩形 5"/>
            <p:cNvSpPr>
              <a:spLocks noChangeAspect="1"/>
            </p:cNvSpPr>
            <p:nvPr/>
          </p:nvSpPr>
          <p:spPr>
            <a:xfrm>
              <a:off x="361950" y="3534614"/>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求工厂人员周工资的众数、中位数、平均数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平均数能客观地反映该工厂人员的周工资水平吗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
        <p:nvSpPr>
          <p:cNvPr id="2" name="矩形 1"/>
          <p:cNvSpPr>
            <a:spLocks noChangeAspect="1"/>
          </p:cNvSpPr>
          <p:nvPr/>
        </p:nvSpPr>
        <p:spPr>
          <a:xfrm>
            <a:off x="361950" y="2721156"/>
            <a:ext cx="10807700" cy="655564"/>
          </a:xfrm>
          <a:prstGeom prst="rect">
            <a:avLst/>
          </a:prstGeom>
        </p:spPr>
        <p:txBody>
          <a:bodyPr>
            <a:spAutoFit/>
          </a:bodyPr>
          <a:lstStyle/>
          <a:p>
            <a:pPr>
              <a:lnSpc>
                <a:spcPct val="120000"/>
              </a:lnSpc>
              <a:spcAft>
                <a:spcPts val="0"/>
              </a:spcAft>
              <a:tabLst>
                <a:tab pos="1188085" algn="l"/>
                <a:tab pos="2163445" algn="l"/>
                <a:tab pos="3142615" algn="l"/>
                <a:tab pos="4190365" algn="l"/>
              </a:tabLst>
            </a:pP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2568730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13402"/>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由题中表格可知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众数为</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200,</a:t>
            </a:r>
            <a:r>
              <a:rPr lang="zh-CN" altLang="zh-CN" dirty="0">
                <a:solidFill>
                  <a:srgbClr val="000000"/>
                </a:solidFill>
                <a:ea typeface="楷体" panose="02010609060101010101" pitchFamily="49" charset="-122"/>
                <a:cs typeface="Times New Roman" panose="02020603050405020304" pitchFamily="18" charset="0"/>
              </a:rPr>
              <a:t>中位数为</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220,</a:t>
            </a:r>
            <a:r>
              <a:rPr lang="zh-CN" altLang="zh-CN" dirty="0">
                <a:solidFill>
                  <a:srgbClr val="000000"/>
                </a:solidFill>
                <a:ea typeface="楷体" panose="02010609060101010101" pitchFamily="49" charset="-122"/>
                <a:cs typeface="Times New Roman" panose="02020603050405020304" pitchFamily="18" charset="0"/>
              </a:rPr>
              <a:t>平均数为</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490)</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230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虽然平均数为</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230</a:t>
            </a:r>
            <a:r>
              <a:rPr lang="zh-CN" altLang="zh-CN" dirty="0">
                <a:solidFill>
                  <a:srgbClr val="000000"/>
                </a:solidFill>
                <a:ea typeface="楷体" panose="02010609060101010101" pitchFamily="49"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但从题干表格中所列出的数据可见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只有经理和</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名管理人员的周工资在平均数以上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其余人员的周工资都在平均数以下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故用平均数不能客观真实地反映该厂人员的周工资水平</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0270659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333942" y="667463"/>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总体</a:t>
            </a:r>
            <a:r>
              <a:rPr lang="zh-CN" altLang="zh-CN" dirty="0"/>
              <a:t>集中趋势在频率分布直方图中的估计</a:t>
            </a:r>
          </a:p>
        </p:txBody>
      </p:sp>
      <p:sp>
        <p:nvSpPr>
          <p:cNvPr id="2" name="矩形 1"/>
          <p:cNvSpPr>
            <a:spLocks noChangeAspect="1"/>
          </p:cNvSpPr>
          <p:nvPr/>
        </p:nvSpPr>
        <p:spPr>
          <a:xfrm>
            <a:off x="361950" y="1129007"/>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某校从参加高二年级学业水平测试的学生中随机抽出</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名学生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其数学成绩</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均为整数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的频率分布直方图如图所示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5" name="EMG2TRA64.eps" descr="id:2147500189;FounderCES"/>
          <p:cNvPicPr/>
          <p:nvPr/>
        </p:nvPicPr>
        <p:blipFill>
          <a:blip r:embed="rId2"/>
          <a:stretch>
            <a:fillRect/>
          </a:stretch>
        </p:blipFill>
        <p:spPr>
          <a:xfrm>
            <a:off x="4968949" y="2375991"/>
            <a:ext cx="5904656" cy="2444093"/>
          </a:xfrm>
          <a:prstGeom prst="rect">
            <a:avLst/>
          </a:prstGeom>
        </p:spPr>
      </p:pic>
      <p:sp>
        <p:nvSpPr>
          <p:cNvPr id="6" name="矩形 5"/>
          <p:cNvSpPr>
            <a:spLocks noChangeAspect="1"/>
          </p:cNvSpPr>
          <p:nvPr/>
        </p:nvSpPr>
        <p:spPr>
          <a:xfrm>
            <a:off x="361950" y="4651939"/>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估计这次测试数学成绩的众数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估计这次测试数学成绩的中位数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精确到</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估计这次测试数学成绩的平均分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776688"/>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利用频率分布直方图求众数、中位数、平均数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众数、中位数分别是频率分布直方图中最高的小矩形的中间值、累计频率为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时所对应的样本数据的值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平均数可以用每个小矩形底边中点的横坐标与小矩形的面积的乘积之和近似代替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4805933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834453"/>
            <a:ext cx="19912457" cy="5090250"/>
            <a:chOff x="361950" y="699487"/>
            <a:chExt cx="19912457" cy="5090250"/>
          </a:xfrm>
        </p:grpSpPr>
        <p:sp>
          <p:nvSpPr>
            <p:cNvPr id="4" name="矩形 3"/>
            <p:cNvSpPr>
              <a:spLocks noChangeAspect="1"/>
            </p:cNvSpPr>
            <p:nvPr/>
          </p:nvSpPr>
          <p:spPr>
            <a:xfrm>
              <a:off x="361950" y="719807"/>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由题图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估计这次测试数学成绩的众数为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设中位数为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由题图知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前三个矩形的面积之和为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第四个矩形的面积为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因此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中位数位于第四分组内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70),</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≈73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故估计这次测试数学成绩的中位数为</a:t>
              </a:r>
              <a:r>
                <a:rPr lang="en-US" altLang="zh-CN" dirty="0">
                  <a:solidFill>
                    <a:srgbClr val="000000"/>
                  </a:solidFill>
                  <a:ea typeface="宋体" panose="02010600030101010101" pitchFamily="2" charset="-122"/>
                  <a:cs typeface="Times New Roman" panose="02020603050405020304" pitchFamily="18" charset="0"/>
                </a:rPr>
                <a:t>73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由题图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估计这次测试数学成绩的平均分为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240582205"/>
                </p:ext>
              </p:extLst>
            </p:nvPr>
          </p:nvGraphicFramePr>
          <p:xfrm>
            <a:off x="8569349" y="699487"/>
            <a:ext cx="11705058" cy="725836"/>
          </p:xfrm>
          <a:graphic>
            <a:graphicData uri="http://schemas.openxmlformats.org/presentationml/2006/ole">
              <mc:AlternateContent xmlns:mc="http://schemas.openxmlformats.org/markup-compatibility/2006">
                <mc:Choice xmlns:v="urn:schemas-microsoft-com:vml" Requires="v">
                  <p:oleObj spid="_x0000_s6162" name="文档" r:id="rId4" imgW="3837724" imgH="237979" progId="Word.Document.12">
                    <p:embed/>
                  </p:oleObj>
                </mc:Choice>
                <mc:Fallback>
                  <p:oleObj name="文档" r:id="rId4" imgW="3837724" imgH="237979" progId="Word.Document.12">
                    <p:embed/>
                    <p:pic>
                      <p:nvPicPr>
                        <p:cNvPr id="0" name=""/>
                        <p:cNvPicPr/>
                        <p:nvPr/>
                      </p:nvPicPr>
                      <p:blipFill>
                        <a:blip r:embed="rId5"/>
                        <a:stretch>
                          <a:fillRect/>
                        </a:stretch>
                      </p:blipFill>
                      <p:spPr>
                        <a:xfrm>
                          <a:off x="8569349" y="699487"/>
                          <a:ext cx="11705058" cy="725836"/>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18216941"/>
                </p:ext>
              </p:extLst>
            </p:nvPr>
          </p:nvGraphicFramePr>
          <p:xfrm>
            <a:off x="452765" y="4330367"/>
            <a:ext cx="11705058" cy="1459370"/>
          </p:xfrm>
          <a:graphic>
            <a:graphicData uri="http://schemas.openxmlformats.org/presentationml/2006/ole">
              <mc:AlternateContent xmlns:mc="http://schemas.openxmlformats.org/markup-compatibility/2006">
                <mc:Choice xmlns:v="urn:schemas-microsoft-com:vml" Requires="v">
                  <p:oleObj spid="_x0000_s6163" name="文档" r:id="rId7" imgW="3837724" imgH="478482" progId="Word.Document.12">
                    <p:embed/>
                  </p:oleObj>
                </mc:Choice>
                <mc:Fallback>
                  <p:oleObj name="文档" r:id="rId7" imgW="3837724" imgH="478482" progId="Word.Document.12">
                    <p:embed/>
                    <p:pic>
                      <p:nvPicPr>
                        <p:cNvPr id="0" name=""/>
                        <p:cNvPicPr/>
                        <p:nvPr/>
                      </p:nvPicPr>
                      <p:blipFill>
                        <a:blip r:embed="rId8"/>
                        <a:stretch>
                          <a:fillRect/>
                        </a:stretch>
                      </p:blipFill>
                      <p:spPr>
                        <a:xfrm>
                          <a:off x="452765" y="4330367"/>
                          <a:ext cx="11705058" cy="1459370"/>
                        </a:xfrm>
                        <a:prstGeom prst="rect">
                          <a:avLst/>
                        </a:prstGeom>
                      </p:spPr>
                    </p:pic>
                  </p:oleObj>
                </mc:Fallback>
              </mc:AlternateContent>
            </a:graphicData>
          </a:graphic>
        </p:graphicFrame>
      </p:grpSp>
    </p:spTree>
    <p:extLst>
      <p:ext uri="{BB962C8B-B14F-4D97-AF65-F5344CB8AC3E}">
        <p14:creationId xmlns:p14="http://schemas.microsoft.com/office/powerpoint/2010/main" val="241667092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延伸探究H.eps" descr="id:2147490832;FounderCES"/>
          <p:cNvPicPr/>
          <p:nvPr/>
        </p:nvPicPr>
        <p:blipFill>
          <a:blip r:embed="rId2"/>
          <a:stretch>
            <a:fillRect/>
          </a:stretch>
        </p:blipFill>
        <p:spPr>
          <a:xfrm>
            <a:off x="4317062" y="883487"/>
            <a:ext cx="2524095" cy="460328"/>
          </a:xfrm>
          <a:prstGeom prst="rect">
            <a:avLst/>
          </a:prstGeom>
        </p:spPr>
      </p:pic>
      <p:sp>
        <p:nvSpPr>
          <p:cNvPr id="4" name="矩形 3"/>
          <p:cNvSpPr>
            <a:spLocks noChangeAspect="1"/>
          </p:cNvSpPr>
          <p:nvPr/>
        </p:nvSpPr>
        <p:spPr>
          <a:xfrm>
            <a:off x="361950" y="1407207"/>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本例条件不变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求这</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名学生中成绩在</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分及以上的学生人数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分数在区间</a:t>
            </a:r>
            <a:r>
              <a:rPr lang="en-US" altLang="zh-CN" dirty="0">
                <a:solidFill>
                  <a:srgbClr val="000000"/>
                </a:solidFill>
                <a:ea typeface="宋体" panose="02010600030101010101" pitchFamily="2" charset="-122"/>
                <a:cs typeface="Times New Roman" panose="02020603050405020304" pitchFamily="18" charset="0"/>
              </a:rPr>
              <a:t>[80,90)</a:t>
            </a:r>
            <a:r>
              <a:rPr lang="zh-CN" altLang="zh-CN" dirty="0">
                <a:solidFill>
                  <a:srgbClr val="000000"/>
                </a:solidFill>
                <a:ea typeface="楷体" panose="02010609060101010101" pitchFamily="49" charset="-122"/>
                <a:cs typeface="Times New Roman" panose="02020603050405020304" pitchFamily="18" charset="0"/>
              </a:rPr>
              <a:t>内的频率为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楷体" panose="02010609060101010101" pitchFamily="49" charset="-122"/>
                <a:cs typeface="Times New Roman" panose="02020603050405020304" pitchFamily="18" charset="0"/>
              </a:rPr>
              <a:t>频数为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分数在区间</a:t>
            </a:r>
            <a:r>
              <a:rPr lang="en-US" altLang="zh-CN" dirty="0">
                <a:solidFill>
                  <a:srgbClr val="000000"/>
                </a:solidFill>
                <a:ea typeface="宋体" panose="02010600030101010101" pitchFamily="2" charset="-122"/>
                <a:cs typeface="Times New Roman" panose="02020603050405020304" pitchFamily="18" charset="0"/>
              </a:rPr>
              <a:t>[90,100]</a:t>
            </a:r>
            <a:r>
              <a:rPr lang="zh-CN" altLang="zh-CN" dirty="0">
                <a:solidFill>
                  <a:srgbClr val="000000"/>
                </a:solidFill>
                <a:ea typeface="楷体" panose="02010609060101010101" pitchFamily="49" charset="-122"/>
                <a:cs typeface="Times New Roman" panose="02020603050405020304" pitchFamily="18" charset="0"/>
              </a:rPr>
              <a:t>上的频率为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频数为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所以这</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楷体" panose="02010609060101010101" pitchFamily="49" charset="-122"/>
                <a:cs typeface="Times New Roman" panose="02020603050405020304" pitchFamily="18" charset="0"/>
              </a:rPr>
              <a:t>名学生中成绩在</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楷体" panose="02010609060101010101" pitchFamily="49" charset="-122"/>
                <a:cs typeface="Times New Roman" panose="02020603050405020304" pitchFamily="18" charset="0"/>
              </a:rPr>
              <a:t>分及以上的学生人数为</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24</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4714399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500"/>
                                        <p:tgtEl>
                                          <p:spTgt spid="4">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3" dur="500"/>
                                        <p:tgtEl>
                                          <p:spTgt spid="4">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228171"/>
            <a:ext cx="10807700" cy="3596092"/>
            <a:chOff x="361950" y="1228171"/>
            <a:chExt cx="10807700" cy="3596092"/>
          </a:xfrm>
        </p:grpSpPr>
        <p:pic>
          <p:nvPicPr>
            <p:cNvPr id="5" name="反思感悟H.eps" descr="id:2147490797;FounderCES"/>
            <p:cNvPicPr/>
            <p:nvPr/>
          </p:nvPicPr>
          <p:blipFill>
            <a:blip r:embed="rId2"/>
            <a:stretch>
              <a:fillRect/>
            </a:stretch>
          </p:blipFill>
          <p:spPr>
            <a:xfrm>
              <a:off x="361950" y="1228171"/>
              <a:ext cx="2259558" cy="531552"/>
            </a:xfrm>
            <a:prstGeom prst="rect">
              <a:avLst/>
            </a:prstGeom>
          </p:spPr>
        </p:pic>
        <p:sp>
          <p:nvSpPr>
            <p:cNvPr id="2" name="矩形 1"/>
            <p:cNvSpPr>
              <a:spLocks noChangeAspect="1"/>
            </p:cNvSpPr>
            <p:nvPr/>
          </p:nvSpPr>
          <p:spPr>
            <a:xfrm>
              <a:off x="361950" y="1833829"/>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众数、中位数、平均数与频率分布表、频率分布直方图的关系</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众数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众数一般用频率分布表中频率最高的一小组的组中值来表示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即在样本数据的频率分布直方图中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最高矩形的底边中点的横坐标</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43255588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63823"/>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中位数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在频率分布表中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中位数是累计频率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样本数据小于某一数值的频率</a:t>
            </a:r>
            <a:r>
              <a:rPr lang="zh-CN" altLang="zh-CN" dirty="0" smtClean="0">
                <a:solidFill>
                  <a:srgbClr val="000000"/>
                </a:solidFill>
                <a:ea typeface="仿宋" panose="02010609060101010101" pitchFamily="49" charset="-122"/>
                <a:cs typeface="Times New Roman" panose="02020603050405020304" pitchFamily="18" charset="0"/>
              </a:rPr>
              <a:t>叫</a:t>
            </a:r>
            <a:r>
              <a:rPr lang="zh-CN" altLang="en-US" dirty="0" smtClean="0">
                <a:solidFill>
                  <a:srgbClr val="000000"/>
                </a:solidFill>
                <a:ea typeface="仿宋" panose="02010609060101010101" pitchFamily="49" charset="-122"/>
                <a:cs typeface="Times New Roman" panose="02020603050405020304" pitchFamily="18" charset="0"/>
              </a:rPr>
              <a:t>做</a:t>
            </a:r>
            <a:r>
              <a:rPr lang="zh-CN" altLang="zh-CN" dirty="0" smtClean="0">
                <a:solidFill>
                  <a:srgbClr val="000000"/>
                </a:solidFill>
                <a:ea typeface="仿宋" panose="02010609060101010101" pitchFamily="49" charset="-122"/>
                <a:cs typeface="Times New Roman" panose="02020603050405020304" pitchFamily="18" charset="0"/>
              </a:rPr>
              <a:t>该</a:t>
            </a:r>
            <a:r>
              <a:rPr lang="zh-CN" altLang="zh-CN" dirty="0">
                <a:solidFill>
                  <a:srgbClr val="000000"/>
                </a:solidFill>
                <a:ea typeface="仿宋" panose="02010609060101010101" pitchFamily="49" charset="-122"/>
                <a:cs typeface="Times New Roman" panose="02020603050405020304" pitchFamily="18" charset="0"/>
              </a:rPr>
              <a:t>数值点的</a:t>
            </a:r>
            <a:r>
              <a:rPr lang="zh-CN" altLang="zh-CN" dirty="0" smtClean="0">
                <a:solidFill>
                  <a:srgbClr val="000000"/>
                </a:solidFill>
                <a:ea typeface="仿宋" panose="02010609060101010101" pitchFamily="49" charset="-122"/>
                <a:cs typeface="Times New Roman" panose="02020603050405020304" pitchFamily="18" charset="0"/>
              </a:rPr>
              <a:t>累计频率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仿宋" panose="02010609060101010101" pitchFamily="49" charset="-122"/>
                <a:cs typeface="Times New Roman" panose="02020603050405020304" pitchFamily="18" charset="0"/>
              </a:rPr>
              <a:t>时所对应的样本数据的值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而在样本中有</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仿宋" panose="02010609060101010101" pitchFamily="49" charset="-122"/>
                <a:cs typeface="Times New Roman" panose="02020603050405020304" pitchFamily="18" charset="0"/>
              </a:rPr>
              <a:t>的个体小于或等于中位数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也有</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仿宋" panose="02010609060101010101" pitchFamily="49" charset="-122"/>
                <a:cs typeface="Times New Roman" panose="02020603050405020304" pitchFamily="18" charset="0"/>
              </a:rPr>
              <a:t>的个体大于或等于中位数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在频率分布直方图中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中位数左边和右边的直方图的面积应该相等</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平均数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平均数在频率分布直方图中可以用每个小矩形底边中点的横坐标与小矩形的面积的乘积之和近似代替</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平均数是频率分布直方图的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重心</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38441981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2079587"/>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利用直方图求众数、中位数、平均数均为近似值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往往与实际数据得出的不一致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但它们能粗略估计其众数、中位数和平均数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72391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67072"/>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某中学举行环保知识竞赛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现将高一参赛学生的成绩整理后分成五组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绘制成频率分布直方图如图所示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pic>
        <p:nvPicPr>
          <p:cNvPr id="6" name="21C97.eps" descr="id:2147490387;FounderCES"/>
          <p:cNvPicPr/>
          <p:nvPr/>
        </p:nvPicPr>
        <p:blipFill>
          <a:blip r:embed="rId2"/>
          <a:stretch>
            <a:fillRect/>
          </a:stretch>
        </p:blipFill>
        <p:spPr>
          <a:xfrm>
            <a:off x="3888829" y="1902347"/>
            <a:ext cx="3312368" cy="3240334"/>
          </a:xfrm>
          <a:prstGeom prst="rect">
            <a:avLst/>
          </a:prstGeom>
        </p:spPr>
      </p:pic>
      <p:sp>
        <p:nvSpPr>
          <p:cNvPr id="7" name="矩形 6"/>
          <p:cNvSpPr>
            <a:spLocks noChangeAspect="1"/>
          </p:cNvSpPr>
          <p:nvPr/>
        </p:nvSpPr>
        <p:spPr>
          <a:xfrm>
            <a:off x="361950" y="5112295"/>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估计高一参赛学生的成绩的众数、中位数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估计高一参赛学生的平均成绩</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603414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91815"/>
            <a:ext cx="10807700" cy="476322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由题图可估计高一参赛学生的成绩的众数为</a:t>
            </a:r>
            <a:r>
              <a:rPr lang="en-US" altLang="zh-CN" dirty="0">
                <a:solidFill>
                  <a:srgbClr val="000000"/>
                </a:solidFill>
                <a:ea typeface="宋体" panose="02010600030101010101" pitchFamily="2" charset="-122"/>
                <a:cs typeface="Times New Roman" panose="02020603050405020304" pitchFamily="18" charset="0"/>
              </a:rPr>
              <a:t>65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因为第一个小矩形的面积为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第二个小矩形的面积为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因此中位数位于第二个小矩形对应的分组内</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设中位数为</a:t>
            </a:r>
            <a:r>
              <a:rPr lang="en-US" altLang="zh-CN" dirty="0">
                <a:solidFill>
                  <a:srgbClr val="000000"/>
                </a:solidFill>
                <a:ea typeface="宋体" panose="02010600030101010101" pitchFamily="2" charset="-122"/>
                <a:cs typeface="Times New Roman" panose="02020603050405020304" pitchFamily="18" charset="0"/>
              </a:rPr>
              <a:t>60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所以估计高一参赛学生的成绩的中位数为</a:t>
            </a:r>
            <a:r>
              <a:rPr lang="en-US" altLang="zh-CN" dirty="0">
                <a:solidFill>
                  <a:srgbClr val="000000"/>
                </a:solidFill>
                <a:ea typeface="宋体" panose="02010600030101010101" pitchFamily="2" charset="-122"/>
                <a:cs typeface="Times New Roman" panose="02020603050405020304" pitchFamily="18" charset="0"/>
              </a:rPr>
              <a:t>60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由题图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估计高一参赛学生的平均成绩为</a:t>
            </a:r>
            <a:r>
              <a:rPr lang="en-US" altLang="zh-CN" dirty="0">
                <a:solidFill>
                  <a:srgbClr val="000000"/>
                </a:solidFill>
                <a:ea typeface="宋体" panose="02010600030101010101" pitchFamily="2" charset="-122"/>
                <a:cs typeface="Times New Roman" panose="02020603050405020304" pitchFamily="18" charset="0"/>
              </a:rPr>
              <a:t>55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67</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3720725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99158545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67463"/>
            <a:ext cx="10807700" cy="2399503"/>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用分类讨论思想求平均数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某班</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个小组的人数分别为</a:t>
            </a:r>
            <a:r>
              <a:rPr lang="en-US" altLang="zh-CN" dirty="0">
                <a:solidFill>
                  <a:srgbClr val="000000"/>
                </a:solidFill>
                <a:ea typeface="宋体" panose="02010600030101010101" pitchFamily="2" charset="-122"/>
                <a:cs typeface="Times New Roman" panose="02020603050405020304" pitchFamily="18" charset="0"/>
              </a:rPr>
              <a:t>10,10,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宋体" panose="02010600030101010101" pitchFamily="2" charset="-122"/>
                <a:cs typeface="Times New Roman" panose="02020603050405020304" pitchFamily="18" charset="0"/>
              </a:rPr>
              <a:t>已知该组数据的中位数与平均数相等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求这组数据的平均数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审题视角</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的大小未知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可根据</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的取值不同分别找出中位数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75010495"/>
              </p:ext>
            </p:extLst>
          </p:nvPr>
        </p:nvGraphicFramePr>
        <p:xfrm>
          <a:off x="445319" y="3044962"/>
          <a:ext cx="10640962" cy="3157285"/>
        </p:xfrm>
        <a:graphic>
          <a:graphicData uri="http://schemas.openxmlformats.org/presentationml/2006/ole">
            <mc:AlternateContent xmlns:mc="http://schemas.openxmlformats.org/markup-compatibility/2006">
              <mc:Choice xmlns:v="urn:schemas-microsoft-com:vml" Requires="v">
                <p:oleObj spid="_x0000_s16390" name="文档" r:id="rId4" imgW="3837724" imgH="1138693" progId="Word.Document.12">
                  <p:embed/>
                </p:oleObj>
              </mc:Choice>
              <mc:Fallback>
                <p:oleObj name="文档" r:id="rId4" imgW="3837724" imgH="1138693" progId="Word.Document.12">
                  <p:embed/>
                  <p:pic>
                    <p:nvPicPr>
                      <p:cNvPr id="0" name=""/>
                      <p:cNvPicPr/>
                      <p:nvPr/>
                    </p:nvPicPr>
                    <p:blipFill>
                      <a:blip r:embed="rId5"/>
                      <a:stretch>
                        <a:fillRect/>
                      </a:stretch>
                    </p:blipFill>
                    <p:spPr>
                      <a:xfrm>
                        <a:off x="445319" y="3044962"/>
                        <a:ext cx="10640962" cy="3157285"/>
                      </a:xfrm>
                      <a:prstGeom prst="rect">
                        <a:avLst/>
                      </a:prstGeom>
                    </p:spPr>
                  </p:pic>
                </p:oleObj>
              </mc:Fallback>
            </mc:AlternateContent>
          </a:graphicData>
        </a:graphic>
      </p:graphicFrame>
    </p:spTree>
    <p:extLst>
      <p:ext uri="{BB962C8B-B14F-4D97-AF65-F5344CB8AC3E}">
        <p14:creationId xmlns:p14="http://schemas.microsoft.com/office/powerpoint/2010/main" val="5117448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04513488"/>
              </p:ext>
            </p:extLst>
          </p:nvPr>
        </p:nvGraphicFramePr>
        <p:xfrm>
          <a:off x="432445" y="1007839"/>
          <a:ext cx="10640962" cy="4378009"/>
        </p:xfrm>
        <a:graphic>
          <a:graphicData uri="http://schemas.openxmlformats.org/presentationml/2006/ole">
            <mc:AlternateContent xmlns:mc="http://schemas.openxmlformats.org/markup-compatibility/2006">
              <mc:Choice xmlns:v="urn:schemas-microsoft-com:vml" Requires="v">
                <p:oleObj spid="_x0000_s17414" name="文档" r:id="rId4" imgW="3837724" imgH="1578954" progId="Word.Document.12">
                  <p:embed/>
                </p:oleObj>
              </mc:Choice>
              <mc:Fallback>
                <p:oleObj name="文档" r:id="rId4" imgW="3837724" imgH="1578954" progId="Word.Document.12">
                  <p:embed/>
                  <p:pic>
                    <p:nvPicPr>
                      <p:cNvPr id="0" name=""/>
                      <p:cNvPicPr/>
                      <p:nvPr/>
                    </p:nvPicPr>
                    <p:blipFill>
                      <a:blip r:embed="rId5"/>
                      <a:stretch>
                        <a:fillRect/>
                      </a:stretch>
                    </p:blipFill>
                    <p:spPr>
                      <a:xfrm>
                        <a:off x="432445" y="1007839"/>
                        <a:ext cx="10640962" cy="4378009"/>
                      </a:xfrm>
                      <a:prstGeom prst="rect">
                        <a:avLst/>
                      </a:prstGeom>
                    </p:spPr>
                  </p:pic>
                </p:oleObj>
              </mc:Fallback>
            </mc:AlternateContent>
          </a:graphicData>
        </a:graphic>
      </p:graphicFrame>
    </p:spTree>
    <p:extLst>
      <p:ext uri="{BB962C8B-B14F-4D97-AF65-F5344CB8AC3E}">
        <p14:creationId xmlns:p14="http://schemas.microsoft.com/office/powerpoint/2010/main" val="365171813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方法点睛H.eps" descr="id:2147500509;FounderCES"/>
          <p:cNvPicPr/>
          <p:nvPr/>
        </p:nvPicPr>
        <p:blipFill>
          <a:blip r:embed="rId2"/>
          <a:stretch>
            <a:fillRect/>
          </a:stretch>
        </p:blipFill>
        <p:spPr>
          <a:xfrm>
            <a:off x="477143" y="1355273"/>
            <a:ext cx="2403574" cy="565431"/>
          </a:xfrm>
          <a:prstGeom prst="rect">
            <a:avLst/>
          </a:prstGeom>
        </p:spPr>
      </p:pic>
      <p:sp>
        <p:nvSpPr>
          <p:cNvPr id="4" name="矩形 3"/>
          <p:cNvSpPr>
            <a:spLocks noChangeAspect="1"/>
          </p:cNvSpPr>
          <p:nvPr/>
        </p:nvSpPr>
        <p:spPr>
          <a:xfrm>
            <a:off x="361950" y="1992712"/>
            <a:ext cx="10807700" cy="245605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当在数据中含有未知数</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且题目与该组数据的中位数有关时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需根据</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的取值分情况讨论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分类讨论时要做到全面合理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不重不漏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仿宋" panose="02010609060101010101" pitchFamily="49" charset="-122"/>
                <a:cs typeface="Times New Roman" panose="02020603050405020304" pitchFamily="18" charset="0"/>
              </a:rPr>
              <a:t>提升</a:t>
            </a:r>
            <a:r>
              <a:rPr lang="zh-CN" altLang="zh-CN" dirty="0" smtClean="0">
                <a:solidFill>
                  <a:srgbClr val="000000"/>
                </a:solidFill>
                <a:ea typeface="仿宋" panose="02010609060101010101" pitchFamily="49" charset="-122"/>
                <a:cs typeface="Times New Roman" panose="02020603050405020304" pitchFamily="18" charset="0"/>
              </a:rPr>
              <a:t>逻辑推理</a:t>
            </a:r>
            <a:r>
              <a:rPr lang="zh-CN" altLang="zh-CN" dirty="0">
                <a:solidFill>
                  <a:srgbClr val="000000"/>
                </a:solidFill>
                <a:ea typeface="仿宋" panose="02010609060101010101" pitchFamily="49" charset="-122"/>
                <a:cs typeface="Times New Roman" panose="02020603050405020304" pitchFamily="18" charset="0"/>
              </a:rPr>
              <a:t>和数学运算素养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7182043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49407"/>
            <a:ext cx="10807700" cy="491096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已知由正整数组成的一组数据</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其平均数和中位数都是</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则这组数据为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从小到大排列</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因为平均数是</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err="1">
                <a:solidFill>
                  <a:srgbClr val="000000"/>
                </a:solidFill>
                <a:ea typeface="宋体" panose="02010600030101010101" pitchFamily="2" charset="-122"/>
                <a:cs typeface="Times New Roman" panose="02020603050405020304" pitchFamily="18" charset="0"/>
              </a:rPr>
              <a:t>x+y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又因为</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为正整数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的取值为</a:t>
            </a:r>
            <a:r>
              <a:rPr lang="en-US" altLang="zh-CN" dirty="0">
                <a:solidFill>
                  <a:srgbClr val="000000"/>
                </a:solidFill>
                <a:ea typeface="宋体" panose="02010600030101010101" pitchFamily="2" charset="-122"/>
                <a:cs typeface="Times New Roman" panose="02020603050405020304" pitchFamily="18" charset="0"/>
              </a:rPr>
              <a:t>1,3</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2,2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取</a:t>
            </a:r>
            <a:r>
              <a:rPr lang="en-US" altLang="zh-CN" dirty="0">
                <a:solidFill>
                  <a:srgbClr val="000000"/>
                </a:solidFill>
                <a:ea typeface="宋体" panose="02010600030101010101" pitchFamily="2" charset="-122"/>
                <a:cs typeface="Times New Roman" panose="02020603050405020304" pitchFamily="18" charset="0"/>
              </a:rPr>
              <a:t>1,3</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符合题意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取</a:t>
            </a:r>
            <a:r>
              <a:rPr lang="en-US" altLang="zh-CN" dirty="0">
                <a:solidFill>
                  <a:srgbClr val="000000"/>
                </a:solidFill>
                <a:ea typeface="宋体" panose="02010600030101010101" pitchFamily="2" charset="-122"/>
                <a:cs typeface="Times New Roman" panose="02020603050405020304" pitchFamily="18" charset="0"/>
              </a:rPr>
              <a:t>2,2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也符合题意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所以这组数据为</a:t>
            </a:r>
            <a:r>
              <a:rPr lang="en-US" altLang="zh-CN" dirty="0">
                <a:solidFill>
                  <a:srgbClr val="000000"/>
                </a:solidFill>
                <a:ea typeface="宋体" panose="02010600030101010101" pitchFamily="2" charset="-122"/>
                <a:cs typeface="Times New Roman" panose="02020603050405020304" pitchFamily="18" charset="0"/>
              </a:rPr>
              <a:t>1,1,3,3</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1,2,2,3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1,1,3,3</a:t>
            </a:r>
            <a:r>
              <a:rPr lang="zh-CN" altLang="zh-CN" dirty="0">
                <a:solidFill>
                  <a:srgbClr val="000000"/>
                </a:solidFill>
                <a:ea typeface="宋体" panose="02010600030101010101" pitchFamily="2"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1,2,2,3</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9291176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47220"/>
            <a:ext cx="10807700" cy="596272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某比赛项目的计分规则为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当评委亮分后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其成绩先去掉一个最高分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去掉一个最低分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再计算剩下分数的平均数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这是因为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减少计算量</a:t>
            </a:r>
            <a:r>
              <a:rPr lang="en-US" altLang="zh-CN" dirty="0">
                <a:solidFill>
                  <a:srgbClr val="000000"/>
                </a:solidFill>
                <a:ea typeface="宋体" panose="02010600030101010101" pitchFamily="2" charset="-122"/>
                <a:cs typeface="Times New Roman" panose="02020603050405020304" pitchFamily="18" charset="0"/>
              </a:rPr>
              <a:t>	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避免故障</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剔除异常值</a:t>
            </a:r>
            <a:r>
              <a:rPr lang="en-US" altLang="zh-CN" dirty="0">
                <a:solidFill>
                  <a:srgbClr val="000000"/>
                </a:solidFill>
                <a:ea typeface="宋体" panose="02010600030101010101" pitchFamily="2" charset="-122"/>
                <a:cs typeface="Times New Roman" panose="02020603050405020304" pitchFamily="18" charset="0"/>
              </a:rPr>
              <a:t>	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活跃赛场气氛</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因为在比赛的评分中使用的是平均分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所以计分过程中采用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去掉一个最高分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去掉一个最低分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防止个别评委的人为因素给出过高或过低的分数对选手的得分造成较大的影响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从而降低误差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尽量公平</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04831"/>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已知一组数据为</a:t>
            </a:r>
            <a:r>
              <a:rPr lang="en-US" altLang="zh-CN" dirty="0">
                <a:solidFill>
                  <a:srgbClr val="000000"/>
                </a:solidFill>
                <a:ea typeface="宋体" panose="02010600030101010101" pitchFamily="2" charset="-122"/>
                <a:cs typeface="Times New Roman" panose="02020603050405020304" pitchFamily="18" charset="0"/>
              </a:rPr>
              <a:t>20,30,40,50,50,60,70,80</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其中平均数、中位数和众数的大小关系是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平均数</a:t>
            </a:r>
            <a:r>
              <a:rPr lang="en-US" altLang="zh-CN" i="1" dirty="0">
                <a:solidFill>
                  <a:srgbClr val="000000"/>
                </a:solidFill>
                <a:ea typeface="宋体" panose="02010600030101010101" pitchFamily="2" charset="-122"/>
                <a:cs typeface="Times New Roman" panose="02020603050405020304" pitchFamily="18" charset="0"/>
              </a:rPr>
              <a:t>&gt;</a:t>
            </a:r>
            <a:r>
              <a:rPr lang="zh-CN" altLang="zh-CN" dirty="0">
                <a:solidFill>
                  <a:srgbClr val="000000"/>
                </a:solidFill>
                <a:ea typeface="宋体" panose="02010600030101010101" pitchFamily="2" charset="-122"/>
                <a:cs typeface="Times New Roman" panose="02020603050405020304" pitchFamily="18" charset="0"/>
              </a:rPr>
              <a:t>中位数</a:t>
            </a:r>
            <a:r>
              <a:rPr lang="en-US" altLang="zh-CN" i="1" dirty="0">
                <a:solidFill>
                  <a:srgbClr val="000000"/>
                </a:solidFill>
                <a:ea typeface="宋体" panose="02010600030101010101" pitchFamily="2" charset="-122"/>
                <a:cs typeface="Times New Roman" panose="02020603050405020304" pitchFamily="18" charset="0"/>
              </a:rPr>
              <a:t>&gt;</a:t>
            </a:r>
            <a:r>
              <a:rPr lang="zh-CN" altLang="zh-CN" dirty="0">
                <a:solidFill>
                  <a:srgbClr val="000000"/>
                </a:solidFill>
                <a:ea typeface="宋体" panose="02010600030101010101" pitchFamily="2" charset="-122"/>
                <a:cs typeface="Times New Roman" panose="02020603050405020304" pitchFamily="18" charset="0"/>
              </a:rPr>
              <a:t>众数</a:t>
            </a:r>
            <a:r>
              <a:rPr lang="en-US" altLang="zh-CN" dirty="0">
                <a:solidFill>
                  <a:srgbClr val="000000"/>
                </a:solidFill>
                <a:ea typeface="宋体" panose="02010600030101010101" pitchFamily="2" charset="-122"/>
                <a:cs typeface="Times New Roman" panose="02020603050405020304" pitchFamily="18" charset="0"/>
              </a:rPr>
              <a:t>	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平均数</a:t>
            </a:r>
            <a:r>
              <a:rPr lang="en-US" altLang="zh-CN" i="1" dirty="0">
                <a:solidFill>
                  <a:srgbClr val="000000"/>
                </a:solidFill>
                <a:ea typeface="宋体" panose="02010600030101010101" pitchFamily="2" charset="-122"/>
                <a:cs typeface="Times New Roman" panose="02020603050405020304" pitchFamily="18" charset="0"/>
              </a:rPr>
              <a:t>&lt;</a:t>
            </a:r>
            <a:r>
              <a:rPr lang="zh-CN" altLang="zh-CN" dirty="0">
                <a:solidFill>
                  <a:srgbClr val="000000"/>
                </a:solidFill>
                <a:ea typeface="宋体" panose="02010600030101010101" pitchFamily="2" charset="-122"/>
                <a:cs typeface="Times New Roman" panose="02020603050405020304" pitchFamily="18" charset="0"/>
              </a:rPr>
              <a:t>中位数</a:t>
            </a:r>
            <a:r>
              <a:rPr lang="en-US" altLang="zh-CN" i="1" dirty="0">
                <a:solidFill>
                  <a:srgbClr val="000000"/>
                </a:solidFill>
                <a:ea typeface="宋体" panose="02010600030101010101" pitchFamily="2" charset="-122"/>
                <a:cs typeface="Times New Roman" panose="02020603050405020304" pitchFamily="18" charset="0"/>
              </a:rPr>
              <a:t>&lt;</a:t>
            </a:r>
            <a:r>
              <a:rPr lang="zh-CN" altLang="zh-CN" dirty="0">
                <a:solidFill>
                  <a:srgbClr val="000000"/>
                </a:solidFill>
                <a:ea typeface="宋体" panose="02010600030101010101" pitchFamily="2" charset="-122"/>
                <a:cs typeface="Times New Roman" panose="02020603050405020304" pitchFamily="18" charset="0"/>
              </a:rPr>
              <a:t>众数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中位数</a:t>
            </a:r>
            <a:r>
              <a:rPr lang="en-US" altLang="zh-CN" i="1" dirty="0">
                <a:solidFill>
                  <a:srgbClr val="000000"/>
                </a:solidFill>
                <a:ea typeface="宋体" panose="02010600030101010101" pitchFamily="2" charset="-122"/>
                <a:cs typeface="Times New Roman" panose="02020603050405020304" pitchFamily="18" charset="0"/>
              </a:rPr>
              <a:t>&lt;</a:t>
            </a:r>
            <a:r>
              <a:rPr lang="zh-CN" altLang="zh-CN" dirty="0">
                <a:solidFill>
                  <a:srgbClr val="000000"/>
                </a:solidFill>
                <a:ea typeface="宋体" panose="02010600030101010101" pitchFamily="2" charset="-122"/>
                <a:cs typeface="Times New Roman" panose="02020603050405020304" pitchFamily="18" charset="0"/>
              </a:rPr>
              <a:t>众数</a:t>
            </a:r>
            <a:r>
              <a:rPr lang="en-US" altLang="zh-CN" i="1" dirty="0">
                <a:solidFill>
                  <a:srgbClr val="000000"/>
                </a:solidFill>
                <a:ea typeface="宋体" panose="02010600030101010101" pitchFamily="2" charset="-122"/>
                <a:cs typeface="Times New Roman" panose="02020603050405020304" pitchFamily="18" charset="0"/>
              </a:rPr>
              <a:t>&lt;</a:t>
            </a:r>
            <a:r>
              <a:rPr lang="zh-CN" altLang="zh-CN" dirty="0">
                <a:solidFill>
                  <a:srgbClr val="000000"/>
                </a:solidFill>
                <a:ea typeface="宋体" panose="02010600030101010101" pitchFamily="2" charset="-122"/>
                <a:cs typeface="Times New Roman" panose="02020603050405020304" pitchFamily="18" charset="0"/>
              </a:rPr>
              <a:t>平均数</a:t>
            </a:r>
            <a:r>
              <a:rPr lang="en-US" altLang="zh-CN" dirty="0">
                <a:solidFill>
                  <a:srgbClr val="000000"/>
                </a:solidFill>
                <a:ea typeface="宋体" panose="02010600030101010101" pitchFamily="2" charset="-122"/>
                <a:cs typeface="Times New Roman" panose="02020603050405020304" pitchFamily="18" charset="0"/>
              </a:rPr>
              <a:t>	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众数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中位数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平均数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473290040"/>
              </p:ext>
            </p:extLst>
          </p:nvPr>
        </p:nvGraphicFramePr>
        <p:xfrm>
          <a:off x="377825" y="3182955"/>
          <a:ext cx="11645900" cy="1976437"/>
        </p:xfrm>
        <a:graphic>
          <a:graphicData uri="http://schemas.openxmlformats.org/presentationml/2006/ole">
            <mc:AlternateContent xmlns:mc="http://schemas.openxmlformats.org/markup-compatibility/2006">
              <mc:Choice xmlns:v="urn:schemas-microsoft-com:vml" Requires="v">
                <p:oleObj spid="_x0000_s7180" name="文档" r:id="rId4" imgW="3837724" imgH="652639" progId="Word.Document.12">
                  <p:embed/>
                </p:oleObj>
              </mc:Choice>
              <mc:Fallback>
                <p:oleObj name="文档" r:id="rId4" imgW="3837724" imgH="652639" progId="Word.Document.12">
                  <p:embed/>
                  <p:pic>
                    <p:nvPicPr>
                      <p:cNvPr id="0" name=""/>
                      <p:cNvPicPr/>
                      <p:nvPr/>
                    </p:nvPicPr>
                    <p:blipFill>
                      <a:blip r:embed="rId5"/>
                      <a:stretch>
                        <a:fillRect/>
                      </a:stretch>
                    </p:blipFill>
                    <p:spPr>
                      <a:xfrm>
                        <a:off x="377825" y="3182955"/>
                        <a:ext cx="11645900" cy="1976437"/>
                      </a:xfrm>
                      <a:prstGeom prst="rect">
                        <a:avLst/>
                      </a:prstGeom>
                    </p:spPr>
                  </p:pic>
                </p:oleObj>
              </mc:Fallback>
            </mc:AlternateContent>
          </a:graphicData>
        </a:graphic>
      </p:graphicFrame>
      <p:sp>
        <p:nvSpPr>
          <p:cNvPr id="5" name="矩形 4"/>
          <p:cNvSpPr>
            <a:spLocks noChangeAspect="1"/>
          </p:cNvSpPr>
          <p:nvPr/>
        </p:nvSpPr>
        <p:spPr>
          <a:xfrm>
            <a:off x="361950" y="5206402"/>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7405533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65997"/>
            <a:ext cx="10807700" cy="245605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某同学使用计算器求</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宋体" panose="02010600030101010101" pitchFamily="2" charset="-122"/>
                <a:cs typeface="Times New Roman" panose="02020603050405020304" pitchFamily="18" charset="0"/>
              </a:rPr>
              <a:t>个数据的平均数时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错将其中一个数据</a:t>
            </a:r>
            <a:r>
              <a:rPr lang="en-US" altLang="zh-CN" dirty="0">
                <a:solidFill>
                  <a:srgbClr val="000000"/>
                </a:solidFill>
                <a:ea typeface="宋体" panose="02010600030101010101" pitchFamily="2" charset="-122"/>
                <a:cs typeface="Times New Roman" panose="02020603050405020304" pitchFamily="18" charset="0"/>
              </a:rPr>
              <a:t>105</a:t>
            </a:r>
            <a:r>
              <a:rPr lang="zh-CN" altLang="zh-CN" dirty="0">
                <a:solidFill>
                  <a:srgbClr val="000000"/>
                </a:solidFill>
                <a:ea typeface="宋体" panose="02010600030101010101" pitchFamily="2" charset="-122"/>
                <a:cs typeface="Times New Roman" panose="02020603050405020304" pitchFamily="18" charset="0"/>
              </a:rPr>
              <a:t>输入为</a:t>
            </a:r>
            <a:r>
              <a:rPr lang="en-US" altLang="zh-CN" dirty="0">
                <a:solidFill>
                  <a:srgbClr val="000000"/>
                </a:solidFill>
                <a:ea typeface="宋体" panose="02010600030101010101" pitchFamily="2" charset="-122"/>
                <a:cs typeface="Times New Roman" panose="02020603050405020304" pitchFamily="18" charset="0"/>
              </a:rPr>
              <a:t>15,</a:t>
            </a:r>
            <a:r>
              <a:rPr lang="zh-CN" altLang="zh-CN" dirty="0">
                <a:solidFill>
                  <a:srgbClr val="000000"/>
                </a:solidFill>
                <a:ea typeface="宋体" panose="02010600030101010101" pitchFamily="2" charset="-122"/>
                <a:cs typeface="Times New Roman" panose="02020603050405020304" pitchFamily="18" charset="0"/>
              </a:rPr>
              <a:t>则由此求出的平均数减去实际平均数</a:t>
            </a:r>
            <a:r>
              <a:rPr lang="zh-CN" altLang="zh-CN" dirty="0" smtClean="0">
                <a:solidFill>
                  <a:srgbClr val="000000"/>
                </a:solidFill>
                <a:ea typeface="宋体" panose="02010600030101010101" pitchFamily="2" charset="-122"/>
                <a:cs typeface="Times New Roman" panose="02020603050405020304" pitchFamily="18" charset="0"/>
              </a:rPr>
              <a:t>等于</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	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	D</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378642226"/>
              </p:ext>
            </p:extLst>
          </p:nvPr>
        </p:nvGraphicFramePr>
        <p:xfrm>
          <a:off x="406937" y="3365500"/>
          <a:ext cx="11671959" cy="1252848"/>
        </p:xfrm>
        <a:graphic>
          <a:graphicData uri="http://schemas.openxmlformats.org/presentationml/2006/ole">
            <mc:AlternateContent xmlns:mc="http://schemas.openxmlformats.org/markup-compatibility/2006">
              <mc:Choice xmlns:v="urn:schemas-microsoft-com:vml" Requires="v">
                <p:oleObj spid="_x0000_s8204" name="文档" r:id="rId4" imgW="3826872" imgH="410770" progId="Word.Document.12">
                  <p:embed/>
                </p:oleObj>
              </mc:Choice>
              <mc:Fallback>
                <p:oleObj name="文档" r:id="rId4" imgW="3826872" imgH="410770" progId="Word.Document.12">
                  <p:embed/>
                  <p:pic>
                    <p:nvPicPr>
                      <p:cNvPr id="0" name=""/>
                      <p:cNvPicPr/>
                      <p:nvPr/>
                    </p:nvPicPr>
                    <p:blipFill>
                      <a:blip r:embed="rId5"/>
                      <a:stretch>
                        <a:fillRect/>
                      </a:stretch>
                    </p:blipFill>
                    <p:spPr>
                      <a:xfrm>
                        <a:off x="406937" y="3365500"/>
                        <a:ext cx="11671959" cy="1252848"/>
                      </a:xfrm>
                      <a:prstGeom prst="rect">
                        <a:avLst/>
                      </a:prstGeom>
                    </p:spPr>
                  </p:pic>
                </p:oleObj>
              </mc:Fallback>
            </mc:AlternateContent>
          </a:graphicData>
        </a:graphic>
      </p:graphicFrame>
      <p:sp>
        <p:nvSpPr>
          <p:cNvPr id="7" name="矩形 6"/>
          <p:cNvSpPr>
            <a:spLocks noChangeAspect="1"/>
          </p:cNvSpPr>
          <p:nvPr/>
        </p:nvSpPr>
        <p:spPr>
          <a:xfrm>
            <a:off x="318355" y="4660583"/>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5000018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67463"/>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若已知某组数据的频率分布直方图如图所示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则估计该组数据的众数</a:t>
            </a:r>
            <a:r>
              <a:rPr lang="zh-CN" altLang="zh-CN" dirty="0" smtClean="0">
                <a:solidFill>
                  <a:srgbClr val="000000"/>
                </a:solidFill>
                <a:ea typeface="宋体" panose="02010600030101010101" pitchFamily="2" charset="-122"/>
                <a:cs typeface="Times New Roman" panose="02020603050405020304" pitchFamily="18" charset="0"/>
              </a:rPr>
              <a:t>为</a:t>
            </a:r>
            <a:r>
              <a:rPr lang="zh-CN" altLang="zh-CN" i="1" u="sng" dirty="0" smtClean="0">
                <a:uFill>
                  <a:solidFill>
                    <a:srgbClr val="000000"/>
                  </a:solidFill>
                </a:uFill>
                <a:ea typeface="宋体" panose="02010600030101010101" pitchFamily="2" charset="-122"/>
                <a:cs typeface="Times New Roman" panose="02020603050405020304" pitchFamily="18" charset="0"/>
              </a:rPr>
              <a:t>　　</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中位数为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i="1" u="sng" dirty="0" smtClean="0">
                <a:uFill>
                  <a:solidFill>
                    <a:srgbClr val="000000"/>
                  </a:solidFill>
                </a:uFill>
                <a:ea typeface="宋体" panose="02010600030101010101" pitchFamily="2" charset="-122"/>
                <a:cs typeface="Times New Roman" panose="02020603050405020304" pitchFamily="18" charset="0"/>
              </a:rPr>
              <a:t>　</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写成分数形式</a:t>
            </a:r>
            <a:r>
              <a:rPr lang="en-US" altLang="zh-CN" dirty="0" smtClean="0">
                <a:solidFill>
                  <a:srgbClr val="000000"/>
                </a:solidFill>
                <a:ea typeface="宋体" panose="02010600030101010101" pitchFamily="2" charset="-122"/>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8" name="EMG2TRA66.eps" descr="id:2147500224;FounderCES"/>
          <p:cNvPicPr/>
          <p:nvPr/>
        </p:nvPicPr>
        <p:blipFill>
          <a:blip r:embed="rId2"/>
          <a:stretch>
            <a:fillRect/>
          </a:stretch>
        </p:blipFill>
        <p:spPr>
          <a:xfrm>
            <a:off x="3384773" y="1894935"/>
            <a:ext cx="3600400" cy="4400489"/>
          </a:xfrm>
          <a:prstGeom prst="rect">
            <a:avLst/>
          </a:prstGeom>
        </p:spPr>
      </p:pic>
    </p:spTree>
    <p:extLst>
      <p:ext uri="{BB962C8B-B14F-4D97-AF65-F5344CB8AC3E}">
        <p14:creationId xmlns:p14="http://schemas.microsoft.com/office/powerpoint/2010/main" val="3832245782"/>
      </p:ext>
    </p:extLst>
  </p:cSld>
  <p:clrMapOvr>
    <a:masterClrMapping/>
  </p:clrMapOvr>
  <p:transition spd="slow">
    <p:comb/>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462802530"/>
              </p:ext>
            </p:extLst>
          </p:nvPr>
        </p:nvGraphicFramePr>
        <p:xfrm>
          <a:off x="432025" y="4248199"/>
          <a:ext cx="11671959" cy="733296"/>
        </p:xfrm>
        <a:graphic>
          <a:graphicData uri="http://schemas.openxmlformats.org/presentationml/2006/ole">
            <mc:AlternateContent xmlns:mc="http://schemas.openxmlformats.org/markup-compatibility/2006">
              <mc:Choice xmlns:v="urn:schemas-microsoft-com:vml" Requires="v">
                <p:oleObj spid="_x0000_s9238" name="文档" r:id="rId4" imgW="3826872" imgH="240425" progId="Word.Document.12">
                  <p:embed/>
                </p:oleObj>
              </mc:Choice>
              <mc:Fallback>
                <p:oleObj name="文档" r:id="rId4" imgW="3826872" imgH="240425" progId="Word.Document.12">
                  <p:embed/>
                  <p:pic>
                    <p:nvPicPr>
                      <p:cNvPr id="0" name=""/>
                      <p:cNvPicPr/>
                      <p:nvPr/>
                    </p:nvPicPr>
                    <p:blipFill>
                      <a:blip r:embed="rId5"/>
                      <a:stretch>
                        <a:fillRect/>
                      </a:stretch>
                    </p:blipFill>
                    <p:spPr>
                      <a:xfrm>
                        <a:off x="432025" y="4248199"/>
                        <a:ext cx="11671959" cy="733296"/>
                      </a:xfrm>
                      <a:prstGeom prst="rect">
                        <a:avLst/>
                      </a:prstGeom>
                    </p:spPr>
                  </p:pic>
                </p:oleObj>
              </mc:Fallback>
            </mc:AlternateContent>
          </a:graphicData>
        </a:graphic>
      </p:graphicFrame>
      <p:grpSp>
        <p:nvGrpSpPr>
          <p:cNvPr id="8" name="组合 7"/>
          <p:cNvGrpSpPr/>
          <p:nvPr/>
        </p:nvGrpSpPr>
        <p:grpSpPr>
          <a:xfrm>
            <a:off x="361950" y="1154084"/>
            <a:ext cx="15231937" cy="3022107"/>
            <a:chOff x="361950" y="1154084"/>
            <a:chExt cx="15231937" cy="3022107"/>
          </a:xfrm>
        </p:grpSpPr>
        <p:sp>
          <p:nvSpPr>
            <p:cNvPr id="3" name="矩形 2"/>
            <p:cNvSpPr>
              <a:spLocks noChangeAspect="1"/>
            </p:cNvSpPr>
            <p:nvPr/>
          </p:nvSpPr>
          <p:spPr>
            <a:xfrm>
              <a:off x="361950" y="1154084"/>
              <a:ext cx="10807700" cy="2990434"/>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由直方图可估计这组数据的众数为</a:t>
              </a:r>
              <a:r>
                <a:rPr lang="en-US" altLang="zh-CN" dirty="0">
                  <a:solidFill>
                    <a:srgbClr val="000000"/>
                  </a:solidFill>
                  <a:ea typeface="宋体" panose="02010600030101010101" pitchFamily="2" charset="-122"/>
                </a:rPr>
                <a:t>15</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5</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因为数据在区间</a:t>
              </a:r>
              <a:r>
                <a:rPr lang="en-US" altLang="zh-CN" dirty="0">
                  <a:solidFill>
                    <a:srgbClr val="000000"/>
                  </a:solidFill>
                  <a:ea typeface="宋体" panose="02010600030101010101" pitchFamily="2" charset="-122"/>
                </a:rPr>
                <a:t>[13,14)</a:t>
              </a:r>
              <a:r>
                <a:rPr lang="zh-CN" altLang="zh-CN" dirty="0">
                  <a:solidFill>
                    <a:srgbClr val="000000"/>
                  </a:solidFill>
                  <a:ea typeface="楷体" panose="02010609060101010101" pitchFamily="49" charset="-122"/>
                  <a:cs typeface="Times New Roman" panose="02020603050405020304" pitchFamily="18" charset="0"/>
                </a:rPr>
                <a:t>内的频率为</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02,</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rPr>
                <a:t>[14,15)</a:t>
              </a:r>
              <a:r>
                <a:rPr lang="zh-CN" altLang="zh-CN" dirty="0">
                  <a:solidFill>
                    <a:srgbClr val="000000"/>
                  </a:solidFill>
                  <a:ea typeface="楷体" panose="02010609060101010101" pitchFamily="49" charset="-122"/>
                  <a:cs typeface="Times New Roman" panose="02020603050405020304" pitchFamily="18" charset="0"/>
                </a:rPr>
                <a:t>内的频率为</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18,</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rPr>
                <a:t>[15,16)</a:t>
              </a:r>
              <a:r>
                <a:rPr lang="zh-CN" altLang="zh-CN" dirty="0">
                  <a:solidFill>
                    <a:srgbClr val="000000"/>
                  </a:solidFill>
                  <a:ea typeface="楷体" panose="02010609060101010101" pitchFamily="49" charset="-122"/>
                  <a:cs typeface="Times New Roman" panose="02020603050405020304" pitchFamily="18" charset="0"/>
                </a:rPr>
                <a:t>内的频率为</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36,0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18</a:t>
              </a:r>
              <a:r>
                <a:rPr lang="en-US" altLang="zh-CN" i="1" dirty="0">
                  <a:solidFill>
                    <a:srgbClr val="000000"/>
                  </a:solidFill>
                  <a:ea typeface="宋体" panose="02010600030101010101" pitchFamily="2" charset="-122"/>
                </a:rPr>
                <a:t>&lt;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5,0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18</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36</a:t>
              </a:r>
              <a:r>
                <a:rPr lang="en-US" altLang="zh-CN" i="1" dirty="0">
                  <a:solidFill>
                    <a:srgbClr val="000000"/>
                  </a:solidFill>
                  <a:ea typeface="宋体" panose="02010600030101010101" pitchFamily="2" charset="-122"/>
                </a:rPr>
                <a:t>&gt;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5,</a:t>
              </a:r>
              <a:r>
                <a:rPr lang="zh-CN" altLang="zh-CN" dirty="0">
                  <a:solidFill>
                    <a:srgbClr val="000000"/>
                  </a:solidFill>
                  <a:ea typeface="楷体" panose="02010609060101010101" pitchFamily="49" charset="-122"/>
                  <a:cs typeface="Times New Roman" panose="02020603050405020304" pitchFamily="18" charset="0"/>
                </a:rPr>
                <a:t>所以中位数落在区间</a:t>
              </a:r>
              <a:r>
                <a:rPr lang="en-US" altLang="zh-CN" dirty="0">
                  <a:solidFill>
                    <a:srgbClr val="000000"/>
                  </a:solidFill>
                  <a:ea typeface="宋体" panose="02010600030101010101" pitchFamily="2" charset="-122"/>
                </a:rPr>
                <a:t>[15,16)</a:t>
              </a:r>
              <a:r>
                <a:rPr lang="zh-CN" altLang="zh-CN" dirty="0">
                  <a:solidFill>
                    <a:srgbClr val="000000"/>
                  </a:solidFill>
                  <a:ea typeface="楷体" panose="02010609060101010101" pitchFamily="49" charset="-122"/>
                  <a:cs typeface="Times New Roman" panose="02020603050405020304" pitchFamily="18" charset="0"/>
                </a:rPr>
                <a:t>内</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设中位数为</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则</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18</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15)</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36</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5,</a:t>
              </a:r>
              <a:r>
                <a:rPr lang="zh-CN" altLang="zh-CN" dirty="0">
                  <a:solidFill>
                    <a:srgbClr val="000000"/>
                  </a:solidFill>
                  <a:ea typeface="楷体" panose="02010609060101010101" pitchFamily="49" charset="-122"/>
                  <a:cs typeface="Times New Roman" panose="02020603050405020304" pitchFamily="18" charset="0"/>
                </a:rPr>
                <a:t>解得</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090178548"/>
                </p:ext>
              </p:extLst>
            </p:nvPr>
          </p:nvGraphicFramePr>
          <p:xfrm>
            <a:off x="3888829" y="3440458"/>
            <a:ext cx="11705058" cy="735733"/>
          </p:xfrm>
          <a:graphic>
            <a:graphicData uri="http://schemas.openxmlformats.org/presentationml/2006/ole">
              <mc:AlternateContent xmlns:mc="http://schemas.openxmlformats.org/markup-compatibility/2006">
                <mc:Choice xmlns:v="urn:schemas-microsoft-com:vml" Requires="v">
                  <p:oleObj spid="_x0000_s9239" name="文档" r:id="rId7" imgW="3837724" imgH="241224" progId="Word.Document.12">
                    <p:embed/>
                  </p:oleObj>
                </mc:Choice>
                <mc:Fallback>
                  <p:oleObj name="文档" r:id="rId7" imgW="3837724" imgH="241224" progId="Word.Document.12">
                    <p:embed/>
                    <p:pic>
                      <p:nvPicPr>
                        <p:cNvPr id="0" name=""/>
                        <p:cNvPicPr/>
                        <p:nvPr/>
                      </p:nvPicPr>
                      <p:blipFill>
                        <a:blip r:embed="rId8"/>
                        <a:stretch>
                          <a:fillRect/>
                        </a:stretch>
                      </p:blipFill>
                      <p:spPr>
                        <a:xfrm>
                          <a:off x="3888829" y="3440458"/>
                          <a:ext cx="11705058" cy="735733"/>
                        </a:xfrm>
                        <a:prstGeom prst="rect">
                          <a:avLst/>
                        </a:prstGeom>
                      </p:spPr>
                    </p:pic>
                  </p:oleObj>
                </mc:Fallback>
              </mc:AlternateContent>
            </a:graphicData>
          </a:graphic>
        </p:graphicFrame>
      </p:grpSp>
    </p:spTree>
    <p:extLst>
      <p:ext uri="{BB962C8B-B14F-4D97-AF65-F5344CB8AC3E}">
        <p14:creationId xmlns:p14="http://schemas.microsoft.com/office/powerpoint/2010/main" val="220122579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807" y="575791"/>
            <a:ext cx="11844910" cy="4112828"/>
            <a:chOff x="36807" y="791815"/>
            <a:chExt cx="11844910" cy="4112828"/>
          </a:xfrm>
        </p:grpSpPr>
        <p:sp>
          <p:nvSpPr>
            <p:cNvPr id="2" name="矩形 1"/>
            <p:cNvSpPr>
              <a:spLocks noChangeAspect="1"/>
            </p:cNvSpPr>
            <p:nvPr/>
          </p:nvSpPr>
          <p:spPr>
            <a:xfrm>
              <a:off x="361950" y="791815"/>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某水厂为了了解某小区居民的用水情况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随机抽查了该小区</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户家庭某月的用水量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结果如下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815956384"/>
                </p:ext>
              </p:extLst>
            </p:nvPr>
          </p:nvGraphicFramePr>
          <p:xfrm>
            <a:off x="36807" y="1943943"/>
            <a:ext cx="11844910" cy="1972993"/>
          </p:xfrm>
          <a:graphic>
            <a:graphicData uri="http://schemas.openxmlformats.org/presentationml/2006/ole">
              <mc:AlternateContent xmlns:mc="http://schemas.openxmlformats.org/markup-compatibility/2006">
                <mc:Choice xmlns:v="urn:schemas-microsoft-com:vml" Requires="v">
                  <p:oleObj spid="_x0000_s10262" name="文档" r:id="rId4" imgW="3883577" imgH="646883" progId="Word.Document.12">
                    <p:embed/>
                  </p:oleObj>
                </mc:Choice>
                <mc:Fallback>
                  <p:oleObj name="文档" r:id="rId4" imgW="3883577" imgH="646883" progId="Word.Document.12">
                    <p:embed/>
                    <p:pic>
                      <p:nvPicPr>
                        <p:cNvPr id="0" name=""/>
                        <p:cNvPicPr/>
                        <p:nvPr/>
                      </p:nvPicPr>
                      <p:blipFill>
                        <a:blip r:embed="rId5"/>
                        <a:stretch>
                          <a:fillRect/>
                        </a:stretch>
                      </p:blipFill>
                      <p:spPr>
                        <a:xfrm>
                          <a:off x="36807" y="1943943"/>
                          <a:ext cx="11844910" cy="1972993"/>
                        </a:xfrm>
                        <a:prstGeom prst="rect">
                          <a:avLst/>
                        </a:prstGeom>
                      </p:spPr>
                    </p:pic>
                  </p:oleObj>
                </mc:Fallback>
              </mc:AlternateContent>
            </a:graphicData>
          </a:graphic>
        </p:graphicFrame>
        <p:sp>
          <p:nvSpPr>
            <p:cNvPr id="8" name="矩形 7"/>
            <p:cNvSpPr>
              <a:spLocks noChangeAspect="1"/>
            </p:cNvSpPr>
            <p:nvPr/>
          </p:nvSpPr>
          <p:spPr>
            <a:xfrm>
              <a:off x="361950" y="3096071"/>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计算这</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户家庭该月的平均用水量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如果该小区有</a:t>
              </a:r>
              <a:r>
                <a:rPr lang="en-US" altLang="zh-CN" dirty="0">
                  <a:solidFill>
                    <a:srgbClr val="000000"/>
                  </a:solidFill>
                  <a:ea typeface="宋体" panose="02010600030101010101" pitchFamily="2" charset="-122"/>
                  <a:cs typeface="Times New Roman" panose="02020603050405020304" pitchFamily="18" charset="0"/>
                </a:rPr>
                <a:t>500</a:t>
              </a:r>
              <a:r>
                <a:rPr lang="zh-CN" altLang="zh-CN" dirty="0">
                  <a:solidFill>
                    <a:srgbClr val="000000"/>
                  </a:solidFill>
                  <a:ea typeface="宋体" panose="02010600030101010101" pitchFamily="2" charset="-122"/>
                  <a:cs typeface="Times New Roman" panose="02020603050405020304" pitchFamily="18" charset="0"/>
                </a:rPr>
                <a:t>户家庭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根据上面的计算结果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估计该小区居民每月共用水多少立方米</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aphicFrame>
        <p:nvGraphicFramePr>
          <p:cNvPr id="10" name="对象 9"/>
          <p:cNvGraphicFramePr>
            <a:graphicFrameLocks noChangeAspect="1"/>
          </p:cNvGraphicFramePr>
          <p:nvPr>
            <p:extLst>
              <p:ext uri="{D42A27DB-BD31-4B8C-83A1-F6EECF244321}">
                <p14:modId xmlns:p14="http://schemas.microsoft.com/office/powerpoint/2010/main" val="1559035225"/>
              </p:ext>
            </p:extLst>
          </p:nvPr>
        </p:nvGraphicFramePr>
        <p:xfrm>
          <a:off x="432445" y="4637735"/>
          <a:ext cx="11671959" cy="1778983"/>
        </p:xfrm>
        <a:graphic>
          <a:graphicData uri="http://schemas.openxmlformats.org/presentationml/2006/ole">
            <mc:AlternateContent xmlns:mc="http://schemas.openxmlformats.org/markup-compatibility/2006">
              <mc:Choice xmlns:v="urn:schemas-microsoft-com:vml" Requires="v">
                <p:oleObj spid="_x0000_s10263" name="文档" r:id="rId7" imgW="3837724" imgH="585212" progId="Word.Document.12">
                  <p:embed/>
                </p:oleObj>
              </mc:Choice>
              <mc:Fallback>
                <p:oleObj name="文档" r:id="rId7" imgW="3837724" imgH="585212" progId="Word.Document.12">
                  <p:embed/>
                  <p:pic>
                    <p:nvPicPr>
                      <p:cNvPr id="0" name=""/>
                      <p:cNvPicPr/>
                      <p:nvPr/>
                    </p:nvPicPr>
                    <p:blipFill>
                      <a:blip r:embed="rId8"/>
                      <a:stretch>
                        <a:fillRect/>
                      </a:stretch>
                    </p:blipFill>
                    <p:spPr>
                      <a:xfrm>
                        <a:off x="432445" y="4637735"/>
                        <a:ext cx="11671959" cy="1778983"/>
                      </a:xfrm>
                      <a:prstGeom prst="rect">
                        <a:avLst/>
                      </a:prstGeom>
                    </p:spPr>
                  </p:pic>
                </p:oleObj>
              </mc:Fallback>
            </mc:AlternateContent>
          </a:graphicData>
        </a:graphic>
      </p:graphicFrame>
    </p:spTree>
    <p:extLst>
      <p:ext uri="{BB962C8B-B14F-4D97-AF65-F5344CB8AC3E}">
        <p14:creationId xmlns:p14="http://schemas.microsoft.com/office/powerpoint/2010/main" val="305458403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68</TotalTime>
  <Words>2019</Words>
  <Application>Microsoft Office PowerPoint</Application>
  <PresentationFormat>自定义</PresentationFormat>
  <Paragraphs>118</Paragraphs>
  <Slides>44</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60"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24</cp:revision>
  <dcterms:created xsi:type="dcterms:W3CDTF">2020-09-12T05:36:12Z</dcterms:created>
  <dcterms:modified xsi:type="dcterms:W3CDTF">2025-09-04T06:40:41Z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