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37" r:id="rId13"/>
    <p:sldId id="750" r:id="rId14"/>
    <p:sldId id="761" r:id="rId15"/>
    <p:sldId id="762" r:id="rId16"/>
    <p:sldId id="763" r:id="rId17"/>
    <p:sldId id="754" r:id="rId18"/>
    <p:sldId id="764" r:id="rId19"/>
    <p:sldId id="765" r:id="rId20"/>
    <p:sldId id="766" r:id="rId21"/>
    <p:sldId id="767" r:id="rId22"/>
    <p:sldId id="768" r:id="rId23"/>
    <p:sldId id="747" r:id="rId24"/>
    <p:sldId id="751" r:id="rId25"/>
    <p:sldId id="769" r:id="rId26"/>
    <p:sldId id="770" r:id="rId27"/>
    <p:sldId id="771" r:id="rId28"/>
    <p:sldId id="772" r:id="rId29"/>
    <p:sldId id="748" r:id="rId30"/>
    <p:sldId id="752" r:id="rId31"/>
    <p:sldId id="773" r:id="rId32"/>
    <p:sldId id="774" r:id="rId33"/>
    <p:sldId id="775" r:id="rId34"/>
    <p:sldId id="776" r:id="rId35"/>
    <p:sldId id="777" r:id="rId36"/>
    <p:sldId id="735" r:id="rId3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9.xml"/><Relationship Id="rId5" Type="http://schemas.openxmlformats.org/officeDocument/2006/relationships/slide" Target="slide23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0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1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3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7599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9.2.2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总体百分位数的估计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727919"/>
            <a:ext cx="10729192" cy="2856516"/>
            <a:chOff x="360437" y="1727919"/>
            <a:chExt cx="10729192" cy="285651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727919"/>
              <a:ext cx="10729192" cy="2856516"/>
              <a:chOff x="360437" y="2151266"/>
              <a:chExt cx="10729192" cy="195104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51266"/>
                <a:ext cx="10729192" cy="195104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81026"/>
                <a:ext cx="0" cy="1869746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848696"/>
              <a:ext cx="8496944" cy="2399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能用样本估计总体的百分位数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理解百分位数的统计含义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会求样本数据的第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发展数据分析、数学建模和数学运算素养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997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百分位数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给出以下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:49,64,50,48,65,52,56,46,54,51,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请将上述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个数据按从小到大排序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46,48,49,50,51,52,54,56,64,65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上述数据的中位数是多少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49021"/>
              </p:ext>
            </p:extLst>
          </p:nvPr>
        </p:nvGraphicFramePr>
        <p:xfrm>
          <a:off x="441325" y="3811584"/>
          <a:ext cx="116459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文档" r:id="rId4" imgW="3837724" imgH="240503" progId="Word.Document.12">
                  <p:embed/>
                </p:oleObj>
              </mc:Choice>
              <mc:Fallback>
                <p:oleObj name="文档" r:id="rId4" imgW="3837724" imgH="2405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25" y="3811584"/>
                        <a:ext cx="11645900" cy="725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46867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在上述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个数据中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有多少个数据不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超过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中位数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所占的百分比是多少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所占的百分比是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5668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一组数据的第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百分位数是这样一个值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它使得这组数据中至少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的数据小于或等于这个值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且至少有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(100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)%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的数据大于或等于这个值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计算一组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个数据的第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百分位数的步骤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按从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排列原始数据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n×p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不是整数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而大于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的比邻整数为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百分位数为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百分位数为第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项与第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项数据的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平均数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89562" y="1780016"/>
            <a:ext cx="70649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084932" y="2223069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408983" y="2343311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404437" y="2807409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957165" y="287027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952360" y="333436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2826" y="345611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58021" y="392020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736581" y="3509019"/>
            <a:ext cx="124822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731706" y="3973117"/>
            <a:ext cx="1246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071510" y="4093873"/>
            <a:ext cx="9403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067013" y="4557971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659713" y="4648197"/>
            <a:ext cx="123034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655216" y="5112295"/>
            <a:ext cx="12289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5049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常用的分位数有第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百分位数、第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百分位数、第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这三个分位数把一组由小到大排列后的数据分成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四等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因此称为四分位数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其中第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百分位数也称为第一四分位数或下四分位数等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百分位数也称为第三四分位数或上四分位数等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1787" y="1527579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947005" y="1991677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790155" y="1526468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785373" y="1990566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53735" y="2109475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48953" y="2573573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89040" y="270705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284450" y="317115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158165" y="2685539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153383" y="3149637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837827" y="3272361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833045" y="3736459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9734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一组数据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:125,121,123,125,127,129,125,128,130,129,126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124,125,127,126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则这组数据的第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百分位数和第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百分位数分别是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128	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124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128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129	D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128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8955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286039"/>
            <a:ext cx="11788775" cy="3106574"/>
            <a:chOff x="361950" y="1330360"/>
            <a:chExt cx="11788775" cy="31065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30360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把这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个数据按从小到大排序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121,123,124,125, 125,125,125,126,126,127,127,128,129,129,130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75,80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可知数据的第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125,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项与第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25449"/>
                </p:ext>
              </p:extLst>
            </p:nvPr>
          </p:nvGraphicFramePr>
          <p:xfrm>
            <a:off x="504825" y="3722559"/>
            <a:ext cx="116459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825" y="3722559"/>
                          <a:ext cx="11645900" cy="714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288429" y="4518894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2272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859239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76200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一组数据有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按从小到大排序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百分位数为第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项数据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上四分位数就是第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一组数据从小到大排列有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第三四分位数为第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项数据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17831" y="332324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697141" y="396016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85072" y="505143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41459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520677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489694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百</a:t>
            </a:r>
            <a:r>
              <a:rPr lang="zh-CN" altLang="zh-CN" dirty="0"/>
              <a:t>分位数在具体数据中的应用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82959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某中学从高一年级中抽取了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测量其体重数据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:kg)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57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48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名男生体重的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估计本校高一男生体重的第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根据计算第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百分位数的步骤进行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781116"/>
            <a:ext cx="13935793" cy="5410712"/>
            <a:chOff x="361950" y="781116"/>
            <a:chExt cx="13935793" cy="541071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81116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将所给数据按从小到大排序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48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49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51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52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52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53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53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54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54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54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55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55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55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56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57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57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57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58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58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59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59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59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62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5,75%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可知这组数据的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分位数分别是第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项和第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分别为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可知第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项与第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据此可以估计本校高一男生体重的第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81800"/>
                </p:ext>
              </p:extLst>
            </p:nvPr>
          </p:nvGraphicFramePr>
          <p:xfrm>
            <a:off x="2592685" y="4844583"/>
            <a:ext cx="11705058" cy="733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文档" r:id="rId4" imgW="3837724" imgH="240503" progId="Word.Document.12">
                    <p:embed/>
                  </p:oleObj>
                </mc:Choice>
                <mc:Fallback>
                  <p:oleObj name="文档" r:id="rId4" imgW="3837724" imgH="2405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92685" y="4844583"/>
                          <a:ext cx="11705058" cy="7335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552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21979"/>
            <a:ext cx="10807700" cy="4172156"/>
            <a:chOff x="361950" y="940139"/>
            <a:chExt cx="10807700" cy="4172156"/>
          </a:xfrm>
        </p:grpSpPr>
        <p:pic>
          <p:nvPicPr>
            <p:cNvPr id="8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3093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计算一组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个数据的第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百分位数的步骤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排序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按从小到大排列原始数据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n×p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不是整数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而大于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的比邻整数为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j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百分位数为第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j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项数据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是整数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百分位数为第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项与第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30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066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已知一组数据为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68,3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68,3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73,3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80,3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80,3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81,3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求这组数据的第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50,75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383232"/>
            <a:ext cx="13143705" cy="2399503"/>
            <a:chOff x="361950" y="2015951"/>
            <a:chExt cx="13143705" cy="239950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015951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这组数据已经按从小到大排序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可知第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百分位数是第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项和第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可知第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百分位数是第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1909230"/>
                </p:ext>
              </p:extLst>
            </p:nvPr>
          </p:nvGraphicFramePr>
          <p:xfrm>
            <a:off x="1800597" y="3195382"/>
            <a:ext cx="11705058" cy="733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文档" r:id="rId4" imgW="3837724" imgH="240503" progId="Word.Document.12">
                    <p:embed/>
                  </p:oleObj>
                </mc:Choice>
                <mc:Fallback>
                  <p:oleObj name="文档" r:id="rId4" imgW="3837724" imgH="2405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00597" y="3195382"/>
                          <a:ext cx="11705058" cy="7335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208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百</a:t>
            </a:r>
            <a:r>
              <a:rPr lang="zh-CN" altLang="zh-CN" dirty="0"/>
              <a:t>分位数在统计表或统计图中的应用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926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某中学举行普法知识竞赛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用简单随机抽样的方法从中抽取了部分参赛学生的成绩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进行整理后分成五组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绘制成的频率分布直方图如图所示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估计参赛学生的成绩的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25%,90%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根据累计频率计算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把每组中的数看成均匀分布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EMG2TRA58.eps" descr="id:214750005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553125" y="2539671"/>
            <a:ext cx="2579359" cy="2356600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539294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16095"/>
            <a:ext cx="11711287" cy="5078456"/>
            <a:chOff x="361950" y="783415"/>
            <a:chExt cx="11711287" cy="5078456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83415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由频率分布直方图得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从左到右的第一、二、三、四、五小组的频率分别是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成绩在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分以下的学生所占比例为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分位数一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定位于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区间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50,60)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1849973"/>
                </p:ext>
              </p:extLst>
            </p:nvPr>
          </p:nvGraphicFramePr>
          <p:xfrm>
            <a:off x="401278" y="3126792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0" name="文档" r:id="rId4" imgW="3826872" imgH="296847" progId="Word.Document.12">
                    <p:embed/>
                  </p:oleObj>
                </mc:Choice>
                <mc:Fallback>
                  <p:oleObj name="文档" r:id="rId4" imgW="3826872" imgH="296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01278" y="3126792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05329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可以估计参赛学生的成绩的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成绩在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分以下的学生所占比例为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90%,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923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367879"/>
            <a:ext cx="11725959" cy="3312368"/>
            <a:chOff x="361950" y="1079847"/>
            <a:chExt cx="11725959" cy="33123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07984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成绩在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分以下的学生所占比例为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90%,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分位数一定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位于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区间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80,90)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3428343"/>
                </p:ext>
              </p:extLst>
            </p:nvPr>
          </p:nvGraphicFramePr>
          <p:xfrm>
            <a:off x="415950" y="2861790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name="文档" r:id="rId4" imgW="3826872" imgH="296847" progId="Word.Document.12">
                    <p:embed/>
                  </p:oleObj>
                </mc:Choice>
                <mc:Fallback>
                  <p:oleObj name="文档" r:id="rId4" imgW="3826872" imgH="296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5950" y="2861790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765505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可以估计参赛学生的成绩的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00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708318"/>
            <a:ext cx="10807700" cy="2395865"/>
            <a:chOff x="361950" y="1636310"/>
            <a:chExt cx="10807700" cy="2395865"/>
          </a:xfrm>
        </p:grpSpPr>
        <p:pic>
          <p:nvPicPr>
            <p:cNvPr id="7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636310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22360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频率分布表和频率分布直方图与原始数据相比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它们损失了一些信息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百分位数的值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根据累计频率先推算这个值所在的区间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再把区间内的数据看成均匀分布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估计这个值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99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003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某工厂对一批产品进行了抽样检测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下图是根据抽样检测后的产品净重数据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:g)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绘制的频率分布直方图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其中产品净重的范围是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[96,106],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样本数据分组为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[96,98),[98,100),[100,102),[102,104),[104,106]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试估计样本数据的第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EMG2TRA59.eps" descr="id:214750006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057181" y="3070726"/>
            <a:ext cx="3456384" cy="316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67463"/>
            <a:ext cx="11762118" cy="5602624"/>
            <a:chOff x="361950" y="723975"/>
            <a:chExt cx="11762118" cy="560262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23975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由频率分布直方图得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从左到右的第一、二、三、四、五小组的频率分别是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净重在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102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以下的产品所占比例为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70%,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净重在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104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以下的产品所占比例为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70%,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70%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分位数一定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位于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区间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102,104)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4336593"/>
                </p:ext>
              </p:extLst>
            </p:nvPr>
          </p:nvGraphicFramePr>
          <p:xfrm>
            <a:off x="452109" y="4812472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文档" r:id="rId4" imgW="3826872" imgH="296847" progId="Word.Document.12">
                    <p:embed/>
                  </p:oleObj>
                </mc:Choice>
                <mc:Fallback>
                  <p:oleObj name="文档" r:id="rId4" imgW="3826872" imgH="296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2109" y="4812472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5699889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可以估计样本数据的第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64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852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对求第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百分位数的步骤不明确而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从某城市随机抽取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台自动售货机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对其销售额进行统计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8,8,10,12,22,23,20,23,32,34,31,34,42,43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台自动售货机的销售额的第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50,80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百分位数分别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i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2≈11,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50,80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百分位数分别是第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7,11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项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20,31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58922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上述错解有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没有把数据按从小到大排序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此百分位数应为第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项和第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项数据的平均数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不能四舍五入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此百分位数应取第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项数据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124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223863"/>
            <a:ext cx="11722790" cy="3122932"/>
            <a:chOff x="361950" y="1295871"/>
            <a:chExt cx="11722790" cy="312293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95871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台自动售货机的销售额按从小到大排序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8,8,10,12,20,22,23,23,31,32,34,34,42,43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7,14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百分位数是第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项和第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2016107"/>
                </p:ext>
              </p:extLst>
            </p:nvPr>
          </p:nvGraphicFramePr>
          <p:xfrm>
            <a:off x="412781" y="3695374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2781" y="3695374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50" y="4429031"/>
            <a:ext cx="248016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023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2008880"/>
            <a:ext cx="10807700" cy="1807271"/>
            <a:chOff x="361950" y="1792856"/>
            <a:chExt cx="10807700" cy="1807271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38248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明确求第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百分位数的步骤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n×p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%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的值是整数和非整数时的百分位数的取值情况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69064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749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6,15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10,12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3,11,3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则这组数据的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分位数是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1950" y="2209624"/>
            <a:ext cx="12849225" cy="2446132"/>
            <a:chOff x="361950" y="1992712"/>
            <a:chExt cx="12849225" cy="244613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99271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把这组数据按从小到大排序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8,8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1,9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6,10,11,12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3,15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75%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9,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75%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分位数是第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9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项和第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项数据的平均数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endParaRPr lang="zh-CN" altLang="en-US" dirty="0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6367334"/>
                </p:ext>
              </p:extLst>
            </p:nvPr>
          </p:nvGraphicFramePr>
          <p:xfrm>
            <a:off x="1817688" y="3735581"/>
            <a:ext cx="11393487" cy="703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17688" y="3735581"/>
                          <a:ext cx="11393487" cy="703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4738271"/>
            <a:ext cx="196560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2696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874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已知一组数据为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6,47,49,15,42,41,7,39,43,40,36,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则这组数据的下四分位数是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47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49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数据由小到大排列的结果为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6,7,15,36,39,40,41,42,43,47, 49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下四分位数即第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百分位数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得下四分位数是第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012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一样本的频率分布直方图如图所示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样本数据共分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[5,10),[10,15),[15,20]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估计样本数据的第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G2TRA60.eps" descr="id:214750009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240757" y="2008720"/>
            <a:ext cx="4248472" cy="32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62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556431"/>
            <a:ext cx="11722790" cy="2142688"/>
            <a:chOff x="361950" y="1079847"/>
            <a:chExt cx="11722790" cy="214268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7984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[5,10)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的频率为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[10,15)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的频率为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0043165"/>
                </p:ext>
              </p:extLst>
            </p:nvPr>
          </p:nvGraphicFramePr>
          <p:xfrm>
            <a:off x="412781" y="2317152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文档" r:id="rId4" imgW="3837724" imgH="297834" progId="Word.Document.12">
                    <p:embed/>
                  </p:oleObj>
                </mc:Choice>
                <mc:Fallback>
                  <p:oleObj name="文档" r:id="rId4" imgW="3837724" imgH="2978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2781" y="2317152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417257" y="3708951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4729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65631"/>
            <a:ext cx="511105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从某校随机抽取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获得了他们一周课外阅读时间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:h)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整理得到数据分组及频数分布表如下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名学生的一周课外阅读时间的四分位数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01);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估计本校学生的一周课外阅读时间的第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百分位数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203759"/>
              </p:ext>
            </p:extLst>
          </p:nvPr>
        </p:nvGraphicFramePr>
        <p:xfrm>
          <a:off x="2769801" y="766455"/>
          <a:ext cx="10768100" cy="609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文档" r:id="rId4" imgW="3883577" imgH="2197963" progId="Word.Document.12">
                  <p:embed/>
                </p:oleObj>
              </mc:Choice>
              <mc:Fallback>
                <p:oleObj name="文档" r:id="rId4" imgW="3883577" imgH="21979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69801" y="766455"/>
                        <a:ext cx="10768100" cy="6094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465548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7579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由频数分布表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1,2,3,4,5,6,7,8,9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组的频率分别为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17,0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02,0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组的频率之和为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组的频率之和为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组的频率之和为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组的频率之和为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291300"/>
              </p:ext>
            </p:extLst>
          </p:nvPr>
        </p:nvGraphicFramePr>
        <p:xfrm>
          <a:off x="402949" y="3544312"/>
          <a:ext cx="11671959" cy="2864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文档" r:id="rId4" imgW="3826872" imgH="939058" progId="Word.Document.12">
                  <p:embed/>
                </p:oleObj>
              </mc:Choice>
              <mc:Fallback>
                <p:oleObj name="文档" r:id="rId4" imgW="3826872" imgH="9390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2949" y="3544312"/>
                        <a:ext cx="11671959" cy="2864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66431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39124"/>
            <a:ext cx="11804630" cy="5199443"/>
            <a:chOff x="361950" y="935831"/>
            <a:chExt cx="11804630" cy="51994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3583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第三四分位数即第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百分位数在第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[8,10)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6968314"/>
                </p:ext>
              </p:extLst>
            </p:nvPr>
          </p:nvGraphicFramePr>
          <p:xfrm>
            <a:off x="494621" y="1562541"/>
            <a:ext cx="11671959" cy="905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name="文档" r:id="rId4" imgW="3826872" imgH="296847" progId="Word.Document.12">
                    <p:embed/>
                  </p:oleObj>
                </mc:Choice>
                <mc:Fallback>
                  <p:oleObj name="文档" r:id="rId4" imgW="3826872" imgH="296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4621" y="1562541"/>
                          <a:ext cx="11671959" cy="9053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553909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所以估计这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名学生的一周课外阅读时间的四分位数分别为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29,7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73,9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组的频率之和为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所以样本数据的第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百分位数约为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据此可以估计本校学生的一周课外阅读时间的第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百分位数为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970389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126</TotalTime>
  <Words>1739</Words>
  <Application>Microsoft Office PowerPoint</Application>
  <PresentationFormat>自定义</PresentationFormat>
  <Paragraphs>131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2025-09-04T06:39:59Z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