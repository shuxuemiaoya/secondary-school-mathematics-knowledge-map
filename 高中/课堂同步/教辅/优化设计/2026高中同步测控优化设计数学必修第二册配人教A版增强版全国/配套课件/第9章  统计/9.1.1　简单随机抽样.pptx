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68" r:id="rId19"/>
    <p:sldId id="789" r:id="rId20"/>
    <p:sldId id="737" r:id="rId21"/>
    <p:sldId id="750" r:id="rId22"/>
    <p:sldId id="769" r:id="rId23"/>
    <p:sldId id="770" r:id="rId24"/>
    <p:sldId id="771" r:id="rId25"/>
    <p:sldId id="772" r:id="rId26"/>
    <p:sldId id="773" r:id="rId27"/>
    <p:sldId id="774" r:id="rId28"/>
    <p:sldId id="754" r:id="rId29"/>
    <p:sldId id="775" r:id="rId30"/>
    <p:sldId id="776" r:id="rId31"/>
    <p:sldId id="793" r:id="rId32"/>
    <p:sldId id="777" r:id="rId33"/>
    <p:sldId id="778" r:id="rId34"/>
    <p:sldId id="755" r:id="rId35"/>
    <p:sldId id="779" r:id="rId36"/>
    <p:sldId id="780" r:id="rId37"/>
    <p:sldId id="781" r:id="rId38"/>
    <p:sldId id="790" r:id="rId39"/>
    <p:sldId id="748" r:id="rId40"/>
    <p:sldId id="752" r:id="rId41"/>
    <p:sldId id="792" r:id="rId42"/>
    <p:sldId id="786" r:id="rId43"/>
    <p:sldId id="787" r:id="rId44"/>
    <p:sldId id="788" r:id="rId45"/>
    <p:sldId id="735" r:id="rId4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45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39.xml"/><Relationship Id="rId4" Type="http://schemas.openxmlformats.org/officeDocument/2006/relationships/slide" Target="slide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47999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9.1.1</a:t>
            </a:r>
            <a:r>
              <a:rPr lang="zh-CN" altLang="zh-CN" sz="6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简单随机抽样</a:t>
            </a:r>
            <a:endParaRPr lang="zh-CN" altLang="zh-CN" sz="60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5673434" y="1616405"/>
            <a:ext cx="184731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834330"/>
            <a:ext cx="10913686" cy="4600446"/>
            <a:chOff x="360437" y="834330"/>
            <a:chExt cx="10913686" cy="460044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834330"/>
              <a:ext cx="10913686" cy="4600446"/>
              <a:chOff x="360437" y="1540932"/>
              <a:chExt cx="10913686" cy="314216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40932"/>
                <a:ext cx="10913686" cy="314216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326351" y="1595508"/>
                <a:ext cx="0" cy="301124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326351" y="920922"/>
              <a:ext cx="882545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了解总体、样本、样本量的概念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了解样本数据的随机性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了解简单随机抽样的含义及其解决问题的过程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掌握两种简单随机抽样方法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抽签法和随机数法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会计算样本均值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了解样本与总体的关系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抽象、数学建模和数学运算素养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00783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2375991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6" name="图文框 5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78349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一、全面调查与抽样调查的含义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为了解我校高一学生的体重指数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对全校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名高一学生进行调查分析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测量其身高和体重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计算其体重指数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像这样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一名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都进行调查的方法称为什么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全面调查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又称普查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名高一学生和每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学生分别称为什么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总体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如果从全校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名高一学生中抽取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名进行身高和体重测量登记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计算其体重指数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并以此估计全校高一学生的体重指数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这种调查方法称为什么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抽样调查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名高一学生称为什么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4010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全面调查的定义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对每一个调查对象都进行调查的方法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全面调查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又称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普查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在一个调查中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我们把调查对象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全体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称为总体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组成总体的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每一个调查对象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称为个体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为了强调调查目的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也可以把调查对象的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某些指标的全体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作为总体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每一个调查对象的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相应指标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作为个体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3089" y="1205545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78543" y="1669643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821587" y="120554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816997" y="166964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3438" y="180055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58848" y="226465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040957" y="1790724"/>
            <a:ext cx="284058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036411" y="2254822"/>
            <a:ext cx="28373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258881" y="2374472"/>
            <a:ext cx="284058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254335" y="2838570"/>
            <a:ext cx="28373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726595" y="2961294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722049" y="3425392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>
            <a:spLocks noChangeAspect="1"/>
          </p:cNvSpPr>
          <p:nvPr/>
        </p:nvSpPr>
        <p:spPr>
          <a:xfrm>
            <a:off x="361950" y="3450702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抽样调查的定义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根据一定目的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从总体中抽取一部分</a:t>
            </a:r>
            <a:r>
              <a:rPr lang="zh-CN" altLang="zh-CN">
                <a:ea typeface="宋体" panose="02010600030101010101" pitchFamily="2" charset="-122"/>
                <a:cs typeface="Times New Roman" panose="02020603050405020304" pitchFamily="18" charset="0"/>
              </a:rPr>
              <a:t>个体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进行调查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并以此为依据对</a:t>
            </a:r>
            <a:r>
              <a:rPr lang="zh-CN" altLang="zh-CN">
                <a:ea typeface="宋体" panose="02010600030101010101" pitchFamily="2" charset="-122"/>
                <a:cs typeface="Times New Roman" panose="02020603050405020304" pitchFamily="18" charset="0"/>
              </a:rPr>
              <a:t>总体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的情况作出估计和推断的调查方法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称为抽样调查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我们把从总体中抽取的那部分</a:t>
            </a:r>
            <a:r>
              <a:rPr lang="zh-CN" altLang="zh-CN">
                <a:ea typeface="宋体" panose="02010600030101010101" pitchFamily="2" charset="-122"/>
                <a:cs typeface="Times New Roman" panose="02020603050405020304" pitchFamily="18" charset="0"/>
              </a:rPr>
              <a:t>个体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称为样本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样本中包含的</a:t>
            </a:r>
            <a:r>
              <a:rPr lang="zh-CN" altLang="zh-CN">
                <a:ea typeface="宋体" panose="02010600030101010101" pitchFamily="2" charset="-122"/>
                <a:cs typeface="Times New Roman" panose="02020603050405020304" pitchFamily="18" charset="0"/>
              </a:rPr>
              <a:t>个体数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称为样本容量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简称样本量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调查样本获得的</a:t>
            </a:r>
            <a:r>
              <a:rPr lang="zh-CN" altLang="zh-CN">
                <a:ea typeface="宋体" panose="02010600030101010101" pitchFamily="2" charset="-122"/>
                <a:cs typeface="Times New Roman" panose="02020603050405020304" pitchFamily="18" charset="0"/>
              </a:rPr>
              <a:t>变量值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称为样本的观测数据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简称样本数据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36599" y="350633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0132009" y="397043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067063" y="4086388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5062473" y="455048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624679" y="467013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620089" y="513423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238111" y="5265756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233340" y="5729854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509919" y="5843556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2505148" y="6307654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9085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2" grpId="0" animBg="1"/>
      <p:bldP spid="14" grpId="0" animBg="1"/>
      <p:bldP spid="17" grpId="0" animBg="1"/>
      <p:bldP spid="19" grpId="0" animBg="1"/>
      <p:bldP spid="21" grpId="0" animBg="1"/>
      <p:bldP spid="23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7151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学校为了解高一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名新入学学生的数学成绩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从中抽取了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名学生进行调查分析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在这个问题中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被抽取的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总体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被抽取的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名学生是样本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817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94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二、简单随机抽样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班班主任为了解本班学生的体重指数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想从全班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名进行身高和体重测量登记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计算其体重指数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要合理又快捷地抽取这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你有哪些方法呢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用抽签法或随机数法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818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49" y="543111"/>
            <a:ext cx="10943703" cy="5945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简单随机抽样的定义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设一个总体含有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从中逐个抽取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n&lt;N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个个体作为样本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如果抽取是放回的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且每次抽取时总体内的各个个体被抽到的概率都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我们把这样的抽样方法叫做放回简单随机抽样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如果抽取是不放回的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且每次抽取时总体内未进入样本的各个个体被抽到的概率都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我们把这样的抽样方法叫做不放回简单随机抽样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放回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简单随机抽样和不放回简单随机抽样统称为简单随机抽样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通过简单随机抽样获得的样本称为简单随机样本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除非特殊声明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本章所称的简单随机抽样指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不放回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简单随机抽样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9547" y="234394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74957" y="280803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15325" y="352493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910735" y="398903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95355" y="411921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790765" y="458331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901613" y="527342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896842" y="573751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4730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3279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常用的简单随机抽样的方法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抽签法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随机数法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先给总体中的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然后把所有编号写在外观、质地等无差别的小纸片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也可以是卡片、小球等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上作为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并将这些小纸片放在一个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不透明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的盒里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充分搅拌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最后从盒中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不放回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地逐个抽取号签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使与号签上的编号对应的个体进入样本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直到抽足样本所需要的个体数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随机数法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先给总体中的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用随机数工具产生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范围内的整数随机数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把产生的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随机数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作为抽中的编号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使与编号对应的个体进入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重复上述过程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直到抽足样本所需要的个体数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5545" y="677217"/>
            <a:ext cx="119829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950774" y="1079623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557939" y="666459"/>
            <a:ext cx="161645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553168" y="1068865"/>
            <a:ext cx="16146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65093" y="1178882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260503" y="164298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71953" y="234701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67363" y="281111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271261" y="2336257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266490" y="2800355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082642" y="292330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2077871" y="338740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651239" y="4086408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6646649" y="455050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568654" y="466971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6563883" y="513381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944159" y="524555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4939569" y="570965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9551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50248"/>
            <a:ext cx="406072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产生随机数的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205244"/>
              </p:ext>
            </p:extLst>
          </p:nvPr>
        </p:nvGraphicFramePr>
        <p:xfrm>
          <a:off x="360437" y="1733512"/>
          <a:ext cx="11671959" cy="3038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4" imgW="3826872" imgH="996199" progId="Word.Document.12">
                  <p:embed/>
                </p:oleObj>
              </mc:Choice>
              <mc:Fallback>
                <p:oleObj name="文档" r:id="rId4" imgW="3826872" imgH="9961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733512"/>
                        <a:ext cx="11671959" cy="3038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080517" y="1842046"/>
            <a:ext cx="1584176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40210" y="2621370"/>
            <a:ext cx="119021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50967" y="3395254"/>
            <a:ext cx="2392836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40209" y="4176584"/>
            <a:ext cx="196078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03287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放回简单随机抽样中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每次抽取时某一个个体被抽到的概率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与第几次抽样有关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第一次抽到的概率要大些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与第几次抽样无关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每次抽到的概率都相等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与第几次抽样有关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最后一次抽到的概率要大些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每个个体被抽到的概率无法确定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在放回简单随机抽样中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每次抽取时各个个体被抽到的概率都相等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与第几次抽样无关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3771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78597" y="1089679"/>
            <a:ext cx="11671959" cy="4268136"/>
            <a:chOff x="278597" y="1862103"/>
            <a:chExt cx="11671959" cy="426813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297214" y="1862103"/>
              <a:ext cx="10807700" cy="6443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三、总体均值与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样本均值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620896"/>
                </p:ext>
              </p:extLst>
            </p:nvPr>
          </p:nvGraphicFramePr>
          <p:xfrm>
            <a:off x="278597" y="2604064"/>
            <a:ext cx="11671959" cy="3526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文档" r:id="rId4" imgW="3826872" imgH="1156123" progId="Word.Document.12">
                    <p:embed/>
                  </p:oleObj>
                </mc:Choice>
                <mc:Fallback>
                  <p:oleObj name="文档" r:id="rId4" imgW="3826872" imgH="11561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8597" y="2604064"/>
                          <a:ext cx="11671959" cy="3526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3125717" y="2385823"/>
            <a:ext cx="4795560" cy="938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121171" y="3325001"/>
            <a:ext cx="47901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409109" y="4402047"/>
            <a:ext cx="2315014" cy="934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404888" y="5338151"/>
            <a:ext cx="23123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4714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582981"/>
              </p:ext>
            </p:extLst>
          </p:nvPr>
        </p:nvGraphicFramePr>
        <p:xfrm>
          <a:off x="360437" y="1151855"/>
          <a:ext cx="11671959" cy="4139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文档" r:id="rId4" imgW="3826872" imgH="1357375" progId="Word.Document.12">
                  <p:embed/>
                </p:oleObj>
              </mc:Choice>
              <mc:Fallback>
                <p:oleObj name="文档" r:id="rId4" imgW="3826872" imgH="13573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151855"/>
                        <a:ext cx="11671959" cy="4139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512739" y="1655911"/>
            <a:ext cx="4640786" cy="934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508193" y="2592015"/>
            <a:ext cx="46355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552299" y="3725012"/>
            <a:ext cx="2304256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09200" y="4824263"/>
            <a:ext cx="84332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2673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56928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次数学成绩分别是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:121,127,123,124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125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则他这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次数学成绩的平均成绩是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770268"/>
              </p:ext>
            </p:extLst>
          </p:nvPr>
        </p:nvGraphicFramePr>
        <p:xfrm>
          <a:off x="432445" y="2802497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802497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564935"/>
            <a:ext cx="186301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6044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718063"/>
            <a:ext cx="10807700" cy="53714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调查某批袋装牛奶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总体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的细菌超标情况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可以用全面调查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简单随机抽样可以用在任何调查中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用抽签法抽取样本时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编号问题可视情况而定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若已有编号如考号、学号、标签号码等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可不必重新编号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用简单随机抽样方法抽取样本时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样本量越大越好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96541" y="320021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489229" y="379835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785373" y="500041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009509" y="563733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31878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61950" y="23759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在简单随机抽样中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我们可以用样本中的比例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估计总体中的比例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03942" y="310590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1125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6973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简单随机抽样</a:t>
            </a:r>
            <a:r>
              <a:rPr lang="zh-CN" altLang="zh-CN" dirty="0"/>
              <a:t>的有关概念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8981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世界读书日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前夕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了解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居民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日这天的阅读时间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从中抽样调查了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名居民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对他们这天的阅读时间进行统计分析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在这个问题中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调查的总体是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个体是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调查的变量是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下面的抽样方法是简单随机抽样吗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某连队从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名党员官兵中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挑选出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名最优秀的官兵参加抗震救灾工作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一彩民选号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个大小、形状、质地都相同的号签的盒子中逐个随机抽取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从无限多个个体中抽取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个个体作为样本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1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7958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总体、个体、样本和调查的变量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依据定义判断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判断抽取样本的方式是不是简单随机抽样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与简单随机抽样的几个特点是否完全符合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7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6231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某地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名居民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每一名居民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被抽取的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名居民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居民在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日这天的阅读时间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不是简单随机抽样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名官兵是从中挑选出来的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是最优秀的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每个个体被抽到的概率不相等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不符合简单随机抽样中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等概率抽样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的要求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是简单随机抽样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因为总体中的个体数是有限的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并且是从总体中逐个随机抽取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是等概率的抽样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不是简单随机抽样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因为被抽取样本的总体的个体数是无限的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而不是有限的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51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420956"/>
            <a:ext cx="10807700" cy="3027813"/>
            <a:chOff x="361950" y="1204932"/>
            <a:chExt cx="10807700" cy="3027813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204932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7668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简单随机抽样的判断方法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判断所给抽样是不是简单随机抽样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关键是看它们是否符合简单随机抽样的三个特点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总体的个体数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有限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随机性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概率抽样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72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0020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下列抽样方法是简单随机抽样的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指定坐在教室第一排中间的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人参加某项活动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小乐从玩具箱里的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件外观、质地完全相同的玩具中任意拿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玩后放回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再任意拿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连续玩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台型号相同的电脑中逐个不放回地随机抽取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进行质量检验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从平面直角坐标系中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个点的坐标作为样本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11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7407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根据简单随机抽样的特点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中不是等概率抽样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即每个个体被抽到的概率不相等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故不是简单随机抽样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中被抽取样本的总体的个体数是无限的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故不是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简单随机抽样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 B,C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中都符合简单随机抽样的特点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7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7064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简单随机抽样</a:t>
            </a:r>
            <a:r>
              <a:rPr lang="zh-CN" altLang="zh-CN" dirty="0"/>
              <a:t>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16168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要从某汽车厂生产的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辆汽车中随机抽取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辆进行测试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抽签法和随机数法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抽样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用抽签法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步骤如下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辆汽车编号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号码是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个编号写在外观、质地等无差别的小纸片上作为号签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将写好的小纸片放在一个不透明的盒里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充分搅拌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从盒中不放回地逐个抽取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并记录上面的编号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与号签上的编号对应的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辆汽车就是要抽取的样本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319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用随机数法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步骤如下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辆汽车编号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号码是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进入计算器的计算模式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调出生成随机数的函数并设置参数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RandInt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(1,30),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范围内的整数随机数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个随机数有重复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剔除重复的编号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继续按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直到生成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个不同的随机数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本步还可以用其他方式生成随机数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把产生的随机数作为抽中的编号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与编号对应的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辆汽车就是要抽取的样本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53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49" y="1243527"/>
            <a:ext cx="10943703" cy="3456384"/>
            <a:chOff x="361949" y="660815"/>
            <a:chExt cx="10943703" cy="345638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49" y="1331821"/>
              <a:ext cx="10943703" cy="2785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利用抽签法抽取样本时应注意以下问题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编号时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若已有编号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如学号、标号等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则可不必重新编号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号签的外观、质地等无差别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号签必须充分搅拌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要不放回地逐个抽取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660815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38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07839"/>
            <a:ext cx="10807700" cy="4189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利用随机数法抽取样本的步骤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给含有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个个体的总体编号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生成不相同的整数随机数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用信息技术如计算器或电子表格软件或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统计软件等生成随机数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也可以用随机试验生成随机数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把产生的随机数作为抽中的编号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使与编号对应的个体进入样本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86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07958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某卫生单位为了支援抗震救灾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名志愿者中抽取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人组成医疗小组去参加救治工作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请用抽签法设计抽样方案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1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8494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方案如下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名志愿者编号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号码为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个编号写在外观、质地等无差别的小纸片上作为号签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第三步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将写好的小纸片放在一个不透明的盒里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充分搅拌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第四步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盒中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不放回地逐个抽取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个号签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并记录上面的编号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第五步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与号签上的编号对应的志愿者就是医疗小组成员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36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4174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总体</a:t>
            </a:r>
            <a:r>
              <a:rPr lang="zh-CN" altLang="zh-CN" dirty="0"/>
              <a:t>平均数的估计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6182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从甲、乙两种玉米苗中通过简单随机抽样各抽取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分别测得它们的株高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:cm)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:25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:27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试估计这两种玉米苗哪种长得高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799759"/>
            <a:ext cx="11814462" cy="5156968"/>
            <a:chOff x="361950" y="747415"/>
            <a:chExt cx="11814462" cy="5156968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2028692"/>
                </p:ext>
              </p:extLst>
            </p:nvPr>
          </p:nvGraphicFramePr>
          <p:xfrm>
            <a:off x="504453" y="747415"/>
            <a:ext cx="11671959" cy="3932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name="文档" r:id="rId4" imgW="3826872" imgH="1289453" progId="Word.Document.12">
                    <p:embed/>
                  </p:oleObj>
                </mc:Choice>
                <mc:Fallback>
                  <p:oleObj name="文档" r:id="rId4" imgW="3826872" imgH="12894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747415"/>
                          <a:ext cx="11671959" cy="39328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68674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在简单随机抽样中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我们常用样本平均数去估计总体平均数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所以估计乙种玉米苗长得高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6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反思感悟H.eps" descr="id:214749079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61950" y="1632570"/>
            <a:ext cx="2259558" cy="531552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633517"/>
              </p:ext>
            </p:extLst>
          </p:nvPr>
        </p:nvGraphicFramePr>
        <p:xfrm>
          <a:off x="361950" y="2276334"/>
          <a:ext cx="10640962" cy="154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文档" r:id="rId5" imgW="3837724" imgH="558890" progId="Word.Document.12">
                  <p:embed/>
                </p:oleObj>
              </mc:Choice>
              <mc:Fallback>
                <p:oleObj name="文档" r:id="rId5" imgW="3837724" imgH="5588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950" y="2276334"/>
                        <a:ext cx="10640962" cy="1549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590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63823"/>
            <a:ext cx="10807700" cy="49285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某学校为了调查高一年级学生的体育锻炼情况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用简单随机抽样的方法从中获得了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名学生一周的锻炼时间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:h),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	12	3	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	6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7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9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	12	13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估计这个学校高一年级的学生中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一周的锻炼时间超过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的比例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估计这个学校高一年级学生一周的平均锻炼时间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0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105360"/>
              </p:ext>
            </p:extLst>
          </p:nvPr>
        </p:nvGraphicFramePr>
        <p:xfrm>
          <a:off x="478757" y="1070015"/>
          <a:ext cx="10610872" cy="416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文档" r:id="rId4" imgW="3826872" imgH="1500408" progId="Word.Document.12">
                  <p:embed/>
                </p:oleObj>
              </mc:Choice>
              <mc:Fallback>
                <p:oleObj name="文档" r:id="rId4" imgW="3826872" imgH="15004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757" y="1070015"/>
                        <a:ext cx="10610872" cy="4160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985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在以下调查中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适合用普查的是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调查一批小包装饼干的卫生是否达标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调查一批袋装牛奶的质量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调查一个班级的学生每周做家务劳动的时间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调查一批绳索的抗拉强度是否达到要求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选项的调查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对于个体具有破坏性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不适合用普查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1957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下列抽样方式属于简单随机抽样的是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课上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李老师在全班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名学生中点名表扬了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名发言积极的学生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个个体编号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把号签放在一个不透明的容器内搅拌均匀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从中逐个抽取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个作为样本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某产品公司从放在仓库的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箱产品中抽取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箱进行质量检查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从摆放在最上层的箱子中抽取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某市质监局要检查某公司某个时间段生产的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克袋装牛奶的质量是否达标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袋牛奶中用随机数法抽取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袋进行检验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7849269" y="5750535"/>
            <a:ext cx="18181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0011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3809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从某批零件中随机抽取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再从这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个中随机抽出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个进行合格检查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发现合格品有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则该批产品的合格率约为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A.36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%	B.72%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C.90%	D.25%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被抽取的样本的合格率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可以估计该产品的合格率为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422316"/>
              </p:ext>
            </p:extLst>
          </p:nvPr>
        </p:nvGraphicFramePr>
        <p:xfrm>
          <a:off x="5915213" y="3702716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15213" y="3702716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17541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58390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某校有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要求从每班随机派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名参加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学生代表大会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在这个问题中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样本量是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每班随机派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名学生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2913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9639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某学校通过简单随机抽样从该学校中抽取了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位老师进行调查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得到的年龄数据如表所示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140747"/>
              </p:ext>
            </p:extLst>
          </p:nvPr>
        </p:nvGraphicFramePr>
        <p:xfrm>
          <a:off x="366484" y="1947280"/>
          <a:ext cx="10798633" cy="179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文档" r:id="rId4" imgW="3894589" imgH="649034" progId="Word.Document.12">
                  <p:embed/>
                </p:oleObj>
              </mc:Choice>
              <mc:Fallback>
                <p:oleObj name="文档" r:id="rId4" imgW="3894589" imgH="649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6484" y="1947280"/>
                        <a:ext cx="10798633" cy="1799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312016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请估计这个学校老师的平均年龄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189863"/>
              </p:ext>
            </p:extLst>
          </p:nvPr>
        </p:nvGraphicFramePr>
        <p:xfrm>
          <a:off x="465125" y="3807632"/>
          <a:ext cx="11705058" cy="23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文档" r:id="rId7" imgW="3837724" imgH="758287" progId="Word.Document.12">
                  <p:embed/>
                </p:oleObj>
              </mc:Choice>
              <mc:Fallback>
                <p:oleObj name="文档" r:id="rId7" imgW="3837724" imgH="7582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125" y="3807632"/>
                        <a:ext cx="11705058" cy="23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61950" y="2130225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78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98</TotalTime>
  <Words>2281</Words>
  <Application>Microsoft Office PowerPoint</Application>
  <PresentationFormat>自定义</PresentationFormat>
  <Paragraphs>144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2025-09-04T06:35:40Z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