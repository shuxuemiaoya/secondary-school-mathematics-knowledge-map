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731" r:id="rId2"/>
    <p:sldId id="753" r:id="rId3"/>
    <p:sldId id="736" r:id="rId4"/>
    <p:sldId id="744" r:id="rId5"/>
    <p:sldId id="746" r:id="rId6"/>
    <p:sldId id="749" r:id="rId7"/>
    <p:sldId id="756" r:id="rId8"/>
    <p:sldId id="757" r:id="rId9"/>
    <p:sldId id="758" r:id="rId10"/>
    <p:sldId id="760" r:id="rId11"/>
    <p:sldId id="761" r:id="rId12"/>
    <p:sldId id="762" r:id="rId13"/>
    <p:sldId id="763" r:id="rId14"/>
    <p:sldId id="764" r:id="rId15"/>
    <p:sldId id="765" r:id="rId16"/>
    <p:sldId id="767" r:id="rId17"/>
    <p:sldId id="768" r:id="rId18"/>
    <p:sldId id="737" r:id="rId19"/>
    <p:sldId id="750" r:id="rId20"/>
    <p:sldId id="769" r:id="rId21"/>
    <p:sldId id="770" r:id="rId22"/>
    <p:sldId id="771" r:id="rId23"/>
    <p:sldId id="772" r:id="rId24"/>
    <p:sldId id="754" r:id="rId25"/>
    <p:sldId id="773" r:id="rId26"/>
    <p:sldId id="774" r:id="rId27"/>
    <p:sldId id="775" r:id="rId28"/>
    <p:sldId id="776" r:id="rId29"/>
    <p:sldId id="777" r:id="rId30"/>
    <p:sldId id="755" r:id="rId31"/>
    <p:sldId id="778" r:id="rId32"/>
    <p:sldId id="779" r:id="rId33"/>
    <p:sldId id="780" r:id="rId34"/>
    <p:sldId id="781" r:id="rId35"/>
    <p:sldId id="782" r:id="rId36"/>
    <p:sldId id="793" r:id="rId37"/>
    <p:sldId id="783" r:id="rId38"/>
    <p:sldId id="784" r:id="rId39"/>
    <p:sldId id="795" r:id="rId40"/>
    <p:sldId id="796" r:id="rId41"/>
    <p:sldId id="797" r:id="rId42"/>
    <p:sldId id="798" r:id="rId43"/>
    <p:sldId id="748" r:id="rId44"/>
    <p:sldId id="752" r:id="rId45"/>
    <p:sldId id="794" r:id="rId46"/>
    <p:sldId id="788" r:id="rId47"/>
    <p:sldId id="790" r:id="rId48"/>
    <p:sldId id="791" r:id="rId49"/>
    <p:sldId id="735" r:id="rId50"/>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49</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5" Type="http://schemas.openxmlformats.org/officeDocument/2006/relationships/slide" Target="slide43.xml"/><Relationship Id="rId4" Type="http://schemas.openxmlformats.org/officeDocument/2006/relationships/slide" Target="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9.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2.bin"/><Relationship Id="rId7" Type="http://schemas.openxmlformats.org/officeDocument/2006/relationships/package" Target="../embeddings/Microsoft_Word___3.docx"/><Relationship Id="rId2" Type="http://schemas.openxmlformats.org/officeDocument/2006/relationships/slideLayout" Target="../slideLayouts/slideLayout5.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10.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4.bin"/><Relationship Id="rId7" Type="http://schemas.openxmlformats.org/officeDocument/2006/relationships/package" Target="../embeddings/Microsoft_Word___5.docx"/><Relationship Id="rId2" Type="http://schemas.openxmlformats.org/officeDocument/2006/relationships/slideLayout" Target="../slideLayouts/slideLayout5.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5.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5.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5.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Word___8.docx"/></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5.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5.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package" Target="../embeddings/Microsoft_Word___10.docx"/></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slide" Target="slide19.xml"/><Relationship Id="rId1" Type="http://schemas.openxmlformats.org/officeDocument/2006/relationships/slideLayout" Target="../slideLayouts/slideLayout4.xml"/><Relationship Id="rId5" Type="http://schemas.openxmlformats.org/officeDocument/2006/relationships/slide" Target="slide39.xml"/><Relationship Id="rId4" Type="http://schemas.openxmlformats.org/officeDocument/2006/relationships/slide" Target="slide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4.emf"/><Relationship Id="rId4" Type="http://schemas.openxmlformats.org/officeDocument/2006/relationships/package" Target="../embeddings/Microsoft_Word___11.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5.emf"/><Relationship Id="rId4" Type="http://schemas.openxmlformats.org/officeDocument/2006/relationships/package" Target="../embeddings/Microsoft_Word___12.docx"/></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image" Target="../media/image16.emf"/><Relationship Id="rId5" Type="http://schemas.openxmlformats.org/officeDocument/2006/relationships/package" Target="../embeddings/Microsoft_Word___13.docx"/><Relationship Id="rId4" Type="http://schemas.openxmlformats.org/officeDocument/2006/relationships/oleObject" Target="../embeddings/oleObject13.bin"/></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18.emf"/><Relationship Id="rId5" Type="http://schemas.openxmlformats.org/officeDocument/2006/relationships/package" Target="../embeddings/Microsoft_Word___14.docx"/><Relationship Id="rId4" Type="http://schemas.openxmlformats.org/officeDocument/2006/relationships/oleObject" Target="../embeddings/oleObject14.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19.emf"/><Relationship Id="rId4" Type="http://schemas.openxmlformats.org/officeDocument/2006/relationships/package" Target="../embeddings/Microsoft_Word___15.docx"/></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0.emf"/><Relationship Id="rId4" Type="http://schemas.openxmlformats.org/officeDocument/2006/relationships/package" Target="../embeddings/Microsoft_Word___16.docx"/></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21.emf"/><Relationship Id="rId4" Type="http://schemas.openxmlformats.org/officeDocument/2006/relationships/package" Target="../embeddings/Microsoft_Word___17.docx"/></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image" Target="../media/image22.emf"/><Relationship Id="rId5" Type="http://schemas.openxmlformats.org/officeDocument/2006/relationships/package" Target="../embeddings/Microsoft_Word___18.docx"/><Relationship Id="rId4" Type="http://schemas.openxmlformats.org/officeDocument/2006/relationships/oleObject" Target="../embeddings/oleObject18.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vmlDrawing" Target="../drawings/vmlDrawing17.vml"/><Relationship Id="rId5" Type="http://schemas.openxmlformats.org/officeDocument/2006/relationships/image" Target="../media/image23.emf"/><Relationship Id="rId4" Type="http://schemas.openxmlformats.org/officeDocument/2006/relationships/package" Target="../embeddings/Microsoft_Word___19.docx"/></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18.vml"/><Relationship Id="rId5" Type="http://schemas.openxmlformats.org/officeDocument/2006/relationships/image" Target="../media/image24.emf"/><Relationship Id="rId4" Type="http://schemas.openxmlformats.org/officeDocument/2006/relationships/package" Target="../embeddings/Microsoft_Word___20.docx"/></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19.vml"/><Relationship Id="rId5" Type="http://schemas.openxmlformats.org/officeDocument/2006/relationships/image" Target="../media/image25.emf"/><Relationship Id="rId4" Type="http://schemas.openxmlformats.org/officeDocument/2006/relationships/package" Target="../embeddings/Microsoft_Word___21.docx"/></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20.vml"/><Relationship Id="rId5" Type="http://schemas.openxmlformats.org/officeDocument/2006/relationships/image" Target="../media/image26.emf"/><Relationship Id="rId4" Type="http://schemas.openxmlformats.org/officeDocument/2006/relationships/package" Target="../embeddings/Microsoft_Word___22.docx"/></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21.vml"/><Relationship Id="rId5" Type="http://schemas.openxmlformats.org/officeDocument/2006/relationships/image" Target="../media/image27.emf"/><Relationship Id="rId4" Type="http://schemas.openxmlformats.org/officeDocument/2006/relationships/package" Target="../embeddings/Microsoft_Word___23.docx"/></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1656581" y="1795859"/>
            <a:ext cx="8063383" cy="2308324"/>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9</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1</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2</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分层随机抽样</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9</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1</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3</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获取数据的途径</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6589" y="762319"/>
            <a:ext cx="11089232" cy="5472609"/>
            <a:chOff x="360437" y="791815"/>
            <a:chExt cx="11089232" cy="5472609"/>
          </a:xfrm>
        </p:grpSpPr>
        <p:grpSp>
          <p:nvGrpSpPr>
            <p:cNvPr id="13" name="组合 12"/>
            <p:cNvGrpSpPr/>
            <p:nvPr/>
          </p:nvGrpSpPr>
          <p:grpSpPr>
            <a:xfrm>
              <a:off x="360437" y="791815"/>
              <a:ext cx="11089232" cy="5472609"/>
              <a:chOff x="360437" y="1511895"/>
              <a:chExt cx="11089232" cy="3737866"/>
            </a:xfrm>
          </p:grpSpPr>
          <p:sp>
            <p:nvSpPr>
              <p:cNvPr id="2" name="圆角矩形 1"/>
              <p:cNvSpPr/>
              <p:nvPr/>
            </p:nvSpPr>
            <p:spPr>
              <a:xfrm>
                <a:off x="360437" y="1511895"/>
                <a:ext cx="11089232" cy="373786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336183" y="1586449"/>
                <a:ext cx="0" cy="3582121"/>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408191" y="834327"/>
              <a:ext cx="8753446" cy="5354158"/>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通过实例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了解分层随机抽样的特点、适用范围及必要性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掌握各层样本量比例分配的方法</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结合具体实例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掌握分层随机抽样的样本均值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在简单的实际问题情境中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能够根据问题的特点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设计恰当的抽样方法解决问题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知道获取数据的基本途径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包括统计报表和年鉴、社会调查、试验设计、普查和抽样、互联网等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6</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提升数据分析、数学建模和数学运算素养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104049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240864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6" name="图文框 5">
            <a:hlinkClick r:id="rId5" action="ppaction://hlinksldjump">
              <a:snd r:embed="rId3" name="chimes.wav"/>
            </a:hlinkClick>
          </p:cNvPr>
          <p:cNvSpPr/>
          <p:nvPr/>
        </p:nvSpPr>
        <p:spPr>
          <a:xfrm>
            <a:off x="1728589" y="3816151"/>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63823"/>
            <a:ext cx="10807700" cy="481978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方正正中黑简体"/>
                <a:cs typeface="Times New Roman" panose="02020603050405020304" pitchFamily="18" charset="0"/>
              </a:rPr>
              <a:t>一、分层随机抽样的含义</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某地区有高中生</a:t>
            </a:r>
            <a:r>
              <a:rPr lang="en-US" altLang="zh-CN" dirty="0">
                <a:solidFill>
                  <a:srgbClr val="000000"/>
                </a:solidFill>
                <a:ea typeface="宋体" panose="02010600030101010101" pitchFamily="2" charset="-122"/>
                <a:cs typeface="Times New Roman" panose="02020603050405020304" pitchFamily="18" charset="0"/>
              </a:rPr>
              <a:t>7 100</a:t>
            </a:r>
            <a:r>
              <a:rPr lang="zh-CN" altLang="zh-CN" dirty="0">
                <a:solidFill>
                  <a:srgbClr val="000000"/>
                </a:solidFill>
                <a:ea typeface="宋体" panose="02010600030101010101" pitchFamily="2" charset="-122"/>
                <a:cs typeface="Times New Roman" panose="02020603050405020304" pitchFamily="18" charset="0"/>
              </a:rPr>
              <a:t>人、初中生</a:t>
            </a:r>
            <a:r>
              <a:rPr lang="en-US" altLang="zh-CN" dirty="0">
                <a:solidFill>
                  <a:srgbClr val="000000"/>
                </a:solidFill>
                <a:ea typeface="宋体" panose="02010600030101010101" pitchFamily="2" charset="-122"/>
                <a:cs typeface="Times New Roman" panose="02020603050405020304" pitchFamily="18" charset="0"/>
              </a:rPr>
              <a:t>10 900</a:t>
            </a:r>
            <a:r>
              <a:rPr lang="zh-CN" altLang="zh-CN" dirty="0">
                <a:solidFill>
                  <a:srgbClr val="000000"/>
                </a:solidFill>
                <a:ea typeface="宋体" panose="02010600030101010101" pitchFamily="2" charset="-122"/>
                <a:cs typeface="Times New Roman" panose="02020603050405020304" pitchFamily="18" charset="0"/>
              </a:rPr>
              <a:t>人、小学生</a:t>
            </a:r>
            <a:r>
              <a:rPr lang="en-US" altLang="zh-CN" dirty="0">
                <a:solidFill>
                  <a:srgbClr val="000000"/>
                </a:solidFill>
                <a:ea typeface="宋体" panose="02010600030101010101" pitchFamily="2" charset="-122"/>
                <a:cs typeface="Times New Roman" panose="02020603050405020304" pitchFamily="18" charset="0"/>
              </a:rPr>
              <a:t>11 000</a:t>
            </a:r>
            <a:r>
              <a:rPr lang="zh-CN" altLang="zh-CN" dirty="0">
                <a:solidFill>
                  <a:srgbClr val="000000"/>
                </a:solidFill>
                <a:ea typeface="宋体" panose="02010600030101010101" pitchFamily="2" charset="-122"/>
                <a:cs typeface="Times New Roman" panose="02020603050405020304" pitchFamily="18" charset="0"/>
              </a:rPr>
              <a:t>人</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当地教育部门为了解本地区中小学生的近视率及其形成原因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要从本地区的中小学生中抽取</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的学生进行调查</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你认为应当怎样抽取样本</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因为不同年龄阶段的学生的近视情况可能存在明显差异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为使样本具有较好的代表性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应分高中、初中、小学三个层分别进行抽样</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513117"/>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在高中、初中、小学三部分学生中都按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的比例抽取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应各抽取多少人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高中生抽取</a:t>
            </a:r>
            <a:r>
              <a:rPr lang="en-US" altLang="zh-CN" dirty="0">
                <a:solidFill>
                  <a:srgbClr val="000000"/>
                </a:solidFill>
                <a:ea typeface="宋体" panose="02010600030101010101" pitchFamily="2" charset="-122"/>
                <a:cs typeface="Times New Roman" panose="02020603050405020304" pitchFamily="18" charset="0"/>
              </a:rPr>
              <a:t>7</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71(</a:t>
            </a:r>
            <a:r>
              <a:rPr lang="zh-CN" altLang="zh-CN" dirty="0">
                <a:solidFill>
                  <a:srgbClr val="000000"/>
                </a:solidFill>
                <a:ea typeface="楷体" panose="02010609060101010101" pitchFamily="49"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初中生抽取</a:t>
            </a:r>
            <a:r>
              <a:rPr lang="en-US" altLang="zh-CN" dirty="0">
                <a:solidFill>
                  <a:srgbClr val="000000"/>
                </a:solidFill>
                <a:ea typeface="宋体" panose="02010600030101010101" pitchFamily="2" charset="-122"/>
                <a:cs typeface="Times New Roman" panose="02020603050405020304" pitchFamily="18" charset="0"/>
              </a:rPr>
              <a:t>10</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109(</a:t>
            </a:r>
            <a:r>
              <a:rPr lang="zh-CN" altLang="zh-CN" dirty="0">
                <a:solidFill>
                  <a:srgbClr val="000000"/>
                </a:solidFill>
                <a:ea typeface="楷体" panose="02010609060101010101" pitchFamily="49"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小学生抽取</a:t>
            </a:r>
            <a:r>
              <a:rPr lang="en-US" altLang="zh-CN" dirty="0">
                <a:solidFill>
                  <a:srgbClr val="000000"/>
                </a:solidFill>
                <a:ea typeface="宋体" panose="02010600030101010101" pitchFamily="2" charset="-122"/>
                <a:cs typeface="Times New Roman" panose="02020603050405020304" pitchFamily="18" charset="0"/>
              </a:rPr>
              <a:t>11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110(</a:t>
            </a:r>
            <a:r>
              <a:rPr lang="zh-CN" altLang="zh-CN" dirty="0">
                <a:solidFill>
                  <a:srgbClr val="000000"/>
                </a:solidFill>
                <a:ea typeface="楷体" panose="02010609060101010101" pitchFamily="49"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4720225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0" dur="500"/>
                                        <p:tgtEl>
                                          <p:spTgt spid="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583779" y="503783"/>
            <a:ext cx="12753429" cy="5923160"/>
            <a:chOff x="-1583779" y="503783"/>
            <a:chExt cx="12753429" cy="5923160"/>
          </a:xfrm>
        </p:grpSpPr>
        <p:sp>
          <p:nvSpPr>
            <p:cNvPr id="3" name="矩形 2"/>
            <p:cNvSpPr>
              <a:spLocks noChangeAspect="1"/>
            </p:cNvSpPr>
            <p:nvPr/>
          </p:nvSpPr>
          <p:spPr>
            <a:xfrm>
              <a:off x="361950" y="503783"/>
              <a:ext cx="10807700" cy="592316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分层随机抽样的定义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按一个或多个变量把总体划分成若干个子总体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每个个体</a:t>
              </a:r>
              <a:r>
                <a:rPr lang="zh-CN" altLang="zh-CN" dirty="0">
                  <a:ea typeface="宋体" panose="02010600030101010101" pitchFamily="2" charset="-122"/>
                  <a:cs typeface="Times New Roman" panose="02020603050405020304" pitchFamily="18" charset="0"/>
                </a:rPr>
                <a:t>属于且仅属于</a:t>
              </a:r>
              <a:r>
                <a:rPr lang="zh-CN" altLang="zh-CN" dirty="0">
                  <a:solidFill>
                    <a:srgbClr val="000000"/>
                  </a:solidFill>
                  <a:ea typeface="宋体" panose="02010600030101010101" pitchFamily="2" charset="-122"/>
                  <a:cs typeface="Times New Roman" panose="02020603050405020304" pitchFamily="18" charset="0"/>
                </a:rPr>
                <a:t>一个子总体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在每个子总体中独立地进行</a:t>
              </a:r>
              <a:r>
                <a:rPr lang="zh-CN" altLang="zh-CN" dirty="0">
                  <a:ea typeface="宋体" panose="02010600030101010101" pitchFamily="2" charset="-122"/>
                  <a:cs typeface="Times New Roman" panose="02020603050405020304" pitchFamily="18" charset="0"/>
                </a:rPr>
                <a:t>简单随机抽样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再把所有子总体中抽取的样本合在一起作为</a:t>
              </a:r>
              <a:r>
                <a:rPr lang="zh-CN" altLang="zh-CN" dirty="0">
                  <a:ea typeface="宋体" panose="02010600030101010101" pitchFamily="2" charset="-122"/>
                  <a:cs typeface="Times New Roman" panose="02020603050405020304" pitchFamily="18" charset="0"/>
                </a:rPr>
                <a:t>总样本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这样的抽样方法称为分层随机抽样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每一个</a:t>
              </a:r>
              <a:r>
                <a:rPr lang="zh-CN" altLang="zh-CN" dirty="0">
                  <a:ea typeface="宋体" panose="02010600030101010101" pitchFamily="2" charset="-122"/>
                  <a:cs typeface="Times New Roman" panose="02020603050405020304" pitchFamily="18" charset="0"/>
                </a:rPr>
                <a:t>子总体</a:t>
              </a:r>
              <a:r>
                <a:rPr lang="zh-CN" altLang="zh-CN" dirty="0">
                  <a:solidFill>
                    <a:srgbClr val="000000"/>
                  </a:solidFill>
                  <a:ea typeface="宋体" panose="02010600030101010101" pitchFamily="2" charset="-122"/>
                  <a:cs typeface="Times New Roman" panose="02020603050405020304" pitchFamily="18" charset="0"/>
                </a:rPr>
                <a:t>称为层</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比例分配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在分层随机抽样中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如果每层样本量都与层的大小成</a:t>
              </a:r>
              <a:r>
                <a:rPr lang="zh-CN" altLang="zh-CN" dirty="0">
                  <a:ea typeface="宋体" panose="02010600030101010101" pitchFamily="2" charset="-122"/>
                  <a:cs typeface="Times New Roman" panose="02020603050405020304" pitchFamily="18" charset="0"/>
                </a:rPr>
                <a:t>比例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那么称这种样本量的分配方式为比例分配</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在比例分配的分层随机抽样中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如果层数分为</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层和第</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层包含的个体数分别为</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抽取的样本量分别为</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则分配比例为</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706077304"/>
                </p:ext>
              </p:extLst>
            </p:nvPr>
          </p:nvGraphicFramePr>
          <p:xfrm>
            <a:off x="-1583779" y="5754934"/>
            <a:ext cx="7994713" cy="636971"/>
          </p:xfrm>
          <a:graphic>
            <a:graphicData uri="http://schemas.openxmlformats.org/presentationml/2006/ole">
              <mc:AlternateContent xmlns:mc="http://schemas.openxmlformats.org/markup-compatibility/2006">
                <mc:Choice xmlns:v="urn:schemas-microsoft-com:vml" Requires="v">
                  <p:oleObj spid="_x0000_s26639" name="文档" r:id="rId4" imgW="3837724" imgH="305767" progId="Word.Document.12">
                    <p:embed/>
                  </p:oleObj>
                </mc:Choice>
                <mc:Fallback>
                  <p:oleObj name="文档" r:id="rId4" imgW="3837724" imgH="305767" progId="Word.Document.12">
                    <p:embed/>
                    <p:pic>
                      <p:nvPicPr>
                        <p:cNvPr id="0" name=""/>
                        <p:cNvPicPr/>
                        <p:nvPr/>
                      </p:nvPicPr>
                      <p:blipFill>
                        <a:blip r:embed="rId5"/>
                        <a:stretch>
                          <a:fillRect/>
                        </a:stretch>
                      </p:blipFill>
                      <p:spPr>
                        <a:xfrm>
                          <a:off x="-1583779" y="5754934"/>
                          <a:ext cx="7994713" cy="636971"/>
                        </a:xfrm>
                        <a:prstGeom prst="rect">
                          <a:avLst/>
                        </a:prstGeom>
                      </p:spPr>
                    </p:pic>
                  </p:oleObj>
                </mc:Fallback>
              </mc:AlternateContent>
            </a:graphicData>
          </a:graphic>
        </p:graphicFrame>
      </p:grpSp>
      <p:sp>
        <p:nvSpPr>
          <p:cNvPr id="16" name="矩形 15"/>
          <p:cNvSpPr/>
          <p:nvPr/>
        </p:nvSpPr>
        <p:spPr>
          <a:xfrm>
            <a:off x="5873377" y="1162015"/>
            <a:ext cx="239778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5868831" y="1626113"/>
            <a:ext cx="2395068" cy="0"/>
          </a:xfrm>
          <a:prstGeom prst="line">
            <a:avLst/>
          </a:prstGeom>
        </p:spPr>
        <p:style>
          <a:lnRef idx="2">
            <a:schemeClr val="dk1"/>
          </a:lnRef>
          <a:fillRef idx="0">
            <a:schemeClr val="dk1"/>
          </a:fillRef>
          <a:effectRef idx="1">
            <a:schemeClr val="dk1"/>
          </a:effectRef>
          <a:fontRef idx="minor">
            <a:schemeClr val="tx1"/>
          </a:fontRef>
        </p:style>
      </p:cxnSp>
      <p:sp>
        <p:nvSpPr>
          <p:cNvPr id="18" name="矩形 17"/>
          <p:cNvSpPr/>
          <p:nvPr/>
        </p:nvSpPr>
        <p:spPr>
          <a:xfrm>
            <a:off x="4958789" y="1738079"/>
            <a:ext cx="239778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4954243" y="2202177"/>
            <a:ext cx="2395068" cy="0"/>
          </a:xfrm>
          <a:prstGeom prst="line">
            <a:avLst/>
          </a:prstGeom>
        </p:spPr>
        <p:style>
          <a:lnRef idx="2">
            <a:schemeClr val="dk1"/>
          </a:lnRef>
          <a:fillRef idx="0">
            <a:schemeClr val="dk1"/>
          </a:fillRef>
          <a:effectRef idx="1">
            <a:schemeClr val="dk1"/>
          </a:effectRef>
          <a:fontRef idx="minor">
            <a:schemeClr val="tx1"/>
          </a:fontRef>
        </p:style>
      </p:cxnSp>
      <p:sp>
        <p:nvSpPr>
          <p:cNvPr id="20" name="矩形 19"/>
          <p:cNvSpPr/>
          <p:nvPr/>
        </p:nvSpPr>
        <p:spPr>
          <a:xfrm>
            <a:off x="4932940" y="2324303"/>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4928169" y="2788401"/>
            <a:ext cx="1196942" cy="0"/>
          </a:xfrm>
          <a:prstGeom prst="line">
            <a:avLst/>
          </a:prstGeom>
        </p:spPr>
        <p:style>
          <a:lnRef idx="2">
            <a:schemeClr val="dk1"/>
          </a:lnRef>
          <a:fillRef idx="0">
            <a:schemeClr val="dk1"/>
          </a:fillRef>
          <a:effectRef idx="1">
            <a:schemeClr val="dk1"/>
          </a:effectRef>
          <a:fontRef idx="minor">
            <a:schemeClr val="tx1"/>
          </a:fontRef>
        </p:style>
      </p:cxnSp>
      <p:sp>
        <p:nvSpPr>
          <p:cNvPr id="22" name="矩形 21"/>
          <p:cNvSpPr/>
          <p:nvPr/>
        </p:nvSpPr>
        <p:spPr>
          <a:xfrm>
            <a:off x="3425318" y="2900367"/>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a:off x="3420547" y="3364465"/>
            <a:ext cx="1196942" cy="0"/>
          </a:xfrm>
          <a:prstGeom prst="line">
            <a:avLst/>
          </a:prstGeom>
        </p:spPr>
        <p:style>
          <a:lnRef idx="2">
            <a:schemeClr val="dk1"/>
          </a:lnRef>
          <a:fillRef idx="0">
            <a:schemeClr val="dk1"/>
          </a:fillRef>
          <a:effectRef idx="1">
            <a:schemeClr val="dk1"/>
          </a:effectRef>
          <a:fontRef idx="minor">
            <a:schemeClr val="tx1"/>
          </a:fontRef>
        </p:style>
      </p:cxnSp>
      <p:sp>
        <p:nvSpPr>
          <p:cNvPr id="24" name="矩形 23"/>
          <p:cNvSpPr/>
          <p:nvPr/>
        </p:nvSpPr>
        <p:spPr>
          <a:xfrm>
            <a:off x="1301325" y="4065677"/>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1296735" y="4529775"/>
            <a:ext cx="77626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3159472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8"/>
                                        </p:tgtEl>
                                      </p:cBhvr>
                                    </p:animEffect>
                                    <p:set>
                                      <p:cBhvr>
                                        <p:cTn id="12" dur="1" fill="hold">
                                          <p:stCondLst>
                                            <p:cond delay="499"/>
                                          </p:stCondLst>
                                        </p:cTn>
                                        <p:tgtEl>
                                          <p:spTgt spid="1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20"/>
                                        </p:tgtEl>
                                      </p:cBhvr>
                                    </p:animEffect>
                                    <p:set>
                                      <p:cBhvr>
                                        <p:cTn id="17" dur="1" fill="hold">
                                          <p:stCondLst>
                                            <p:cond delay="499"/>
                                          </p:stCondLst>
                                        </p:cTn>
                                        <p:tgtEl>
                                          <p:spTgt spid="2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22"/>
                                        </p:tgtEl>
                                      </p:cBhvr>
                                    </p:animEffect>
                                    <p:set>
                                      <p:cBhvr>
                                        <p:cTn id="22" dur="1" fill="hold">
                                          <p:stCondLst>
                                            <p:cond delay="499"/>
                                          </p:stCondLst>
                                        </p:cTn>
                                        <p:tgtEl>
                                          <p:spTgt spid="2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24"/>
                                        </p:tgtEl>
                                      </p:cBhvr>
                                    </p:animEffect>
                                    <p:set>
                                      <p:cBhvr>
                                        <p:cTn id="27"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0" grpId="0" animBg="1"/>
      <p:bldP spid="22"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61950" y="1070015"/>
            <a:ext cx="11671959" cy="2545486"/>
            <a:chOff x="361950" y="935831"/>
            <a:chExt cx="11671959" cy="2545486"/>
          </a:xfrm>
        </p:grpSpPr>
        <p:sp>
          <p:nvSpPr>
            <p:cNvPr id="6" name="矩形 5"/>
            <p:cNvSpPr>
              <a:spLocks noChangeAspect="1"/>
            </p:cNvSpPr>
            <p:nvPr/>
          </p:nvSpPr>
          <p:spPr>
            <a:xfrm>
              <a:off x="361950" y="935831"/>
              <a:ext cx="10807700" cy="186512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已知</a:t>
              </a:r>
              <a:r>
                <a:rPr lang="zh-CN" altLang="zh-CN" dirty="0">
                  <a:solidFill>
                    <a:srgbClr val="000000"/>
                  </a:solidFill>
                  <a:ea typeface="宋体" panose="02010600030101010101" pitchFamily="2" charset="-122"/>
                  <a:cs typeface="Times New Roman" panose="02020603050405020304" pitchFamily="18" charset="0"/>
                </a:rPr>
                <a:t>某单位有职工</a:t>
              </a:r>
              <a:r>
                <a:rPr lang="en-US" altLang="zh-CN" dirty="0">
                  <a:solidFill>
                    <a:srgbClr val="000000"/>
                  </a:solidFill>
                  <a:ea typeface="宋体" panose="02010600030101010101" pitchFamily="2" charset="-122"/>
                  <a:cs typeface="Times New Roman" panose="02020603050405020304" pitchFamily="18" charset="0"/>
                </a:rPr>
                <a:t>120</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其中男职工</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现采用比例分配的分层随机抽样的方法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按男、女分层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抽取一个样本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若已知样本中有</a:t>
              </a:r>
              <a:r>
                <a:rPr lang="en-US" altLang="zh-CN" dirty="0">
                  <a:solidFill>
                    <a:srgbClr val="000000"/>
                  </a:solidFill>
                  <a:ea typeface="宋体" panose="02010600030101010101" pitchFamily="2" charset="-122"/>
                  <a:cs typeface="Times New Roman" panose="02020603050405020304" pitchFamily="18" charset="0"/>
                </a:rPr>
                <a:t>27</a:t>
              </a:r>
              <a:r>
                <a:rPr lang="zh-CN" altLang="zh-CN" dirty="0">
                  <a:solidFill>
                    <a:srgbClr val="000000"/>
                  </a:solidFill>
                  <a:ea typeface="宋体" panose="02010600030101010101" pitchFamily="2" charset="-122"/>
                  <a:cs typeface="Times New Roman" panose="02020603050405020304" pitchFamily="18" charset="0"/>
                </a:rPr>
                <a:t>名男职工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则抽样比为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348997477"/>
                </p:ext>
              </p:extLst>
            </p:nvPr>
          </p:nvGraphicFramePr>
          <p:xfrm>
            <a:off x="361950" y="2755695"/>
            <a:ext cx="11671959" cy="725622"/>
          </p:xfrm>
          <a:graphic>
            <a:graphicData uri="http://schemas.openxmlformats.org/presentationml/2006/ole">
              <mc:AlternateContent xmlns:mc="http://schemas.openxmlformats.org/markup-compatibility/2006">
                <mc:Choice xmlns:v="urn:schemas-microsoft-com:vml" Requires="v">
                  <p:oleObj spid="_x0000_s2086" name="文档" r:id="rId4" imgW="3826872" imgH="237909" progId="Word.Document.12">
                    <p:embed/>
                  </p:oleObj>
                </mc:Choice>
                <mc:Fallback>
                  <p:oleObj name="文档" r:id="rId4" imgW="3826872" imgH="237909" progId="Word.Document.12">
                    <p:embed/>
                    <p:pic>
                      <p:nvPicPr>
                        <p:cNvPr id="0" name=""/>
                        <p:cNvPicPr/>
                        <p:nvPr/>
                      </p:nvPicPr>
                      <p:blipFill>
                        <a:blip r:embed="rId5"/>
                        <a:stretch>
                          <a:fillRect/>
                        </a:stretch>
                      </p:blipFill>
                      <p:spPr>
                        <a:xfrm>
                          <a:off x="361950" y="2755695"/>
                          <a:ext cx="11671959" cy="725622"/>
                        </a:xfrm>
                        <a:prstGeom prst="rect">
                          <a:avLst/>
                        </a:prstGeom>
                      </p:spPr>
                    </p:pic>
                  </p:oleObj>
                </mc:Fallback>
              </mc:AlternateContent>
            </a:graphicData>
          </a:graphic>
        </p:graphicFrame>
      </p:grpSp>
      <p:graphicFrame>
        <p:nvGraphicFramePr>
          <p:cNvPr id="10" name="对象 9"/>
          <p:cNvGraphicFramePr>
            <a:graphicFrameLocks noChangeAspect="1"/>
          </p:cNvGraphicFramePr>
          <p:nvPr>
            <p:extLst>
              <p:ext uri="{D42A27DB-BD31-4B8C-83A1-F6EECF244321}">
                <p14:modId xmlns:p14="http://schemas.microsoft.com/office/powerpoint/2010/main" val="3346051093"/>
              </p:ext>
            </p:extLst>
          </p:nvPr>
        </p:nvGraphicFramePr>
        <p:xfrm>
          <a:off x="357188" y="3741738"/>
          <a:ext cx="11645900" cy="714375"/>
        </p:xfrm>
        <a:graphic>
          <a:graphicData uri="http://schemas.openxmlformats.org/presentationml/2006/ole">
            <mc:AlternateContent xmlns:mc="http://schemas.openxmlformats.org/markup-compatibility/2006">
              <mc:Choice xmlns:v="urn:schemas-microsoft-com:vml" Requires="v">
                <p:oleObj spid="_x0000_s2087" name="文档" r:id="rId7" imgW="3837724" imgH="238700" progId="Word.Document.12">
                  <p:embed/>
                </p:oleObj>
              </mc:Choice>
              <mc:Fallback>
                <p:oleObj name="文档" r:id="rId7" imgW="3837724" imgH="238700" progId="Word.Document.12">
                  <p:embed/>
                  <p:pic>
                    <p:nvPicPr>
                      <p:cNvPr id="0" name=""/>
                      <p:cNvPicPr/>
                      <p:nvPr/>
                    </p:nvPicPr>
                    <p:blipFill>
                      <a:blip r:embed="rId8"/>
                      <a:stretch>
                        <a:fillRect/>
                      </a:stretch>
                    </p:blipFill>
                    <p:spPr>
                      <a:xfrm>
                        <a:off x="357188" y="3741738"/>
                        <a:ext cx="11645900" cy="714375"/>
                      </a:xfrm>
                      <a:prstGeom prst="rect">
                        <a:avLst/>
                      </a:prstGeom>
                    </p:spPr>
                  </p:pic>
                </p:oleObj>
              </mc:Fallback>
            </mc:AlternateContent>
          </a:graphicData>
        </a:graphic>
      </p:graphicFrame>
      <p:sp>
        <p:nvSpPr>
          <p:cNvPr id="11" name="矩形 10"/>
          <p:cNvSpPr>
            <a:spLocks noChangeAspect="1"/>
          </p:cNvSpPr>
          <p:nvPr/>
        </p:nvSpPr>
        <p:spPr>
          <a:xfrm>
            <a:off x="272364" y="4563215"/>
            <a:ext cx="152157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4864368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583903"/>
            <a:ext cx="10807700" cy="64434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二、分层随机抽样的样本均值与</a:t>
            </a:r>
            <a:r>
              <a:rPr lang="zh-CN" altLang="zh-CN" dirty="0" smtClean="0">
                <a:solidFill>
                  <a:srgbClr val="000000"/>
                </a:solidFill>
                <a:latin typeface="NEU-BZ-S92"/>
                <a:ea typeface="方正正中黑简体"/>
                <a:cs typeface="Times New Roman" panose="02020603050405020304" pitchFamily="18" charset="0"/>
              </a:rPr>
              <a:t>总体均值</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52664703"/>
              </p:ext>
            </p:extLst>
          </p:nvPr>
        </p:nvGraphicFramePr>
        <p:xfrm>
          <a:off x="494621" y="2345495"/>
          <a:ext cx="11671959" cy="568880"/>
        </p:xfrm>
        <a:graphic>
          <a:graphicData uri="http://schemas.openxmlformats.org/presentationml/2006/ole">
            <mc:AlternateContent xmlns:mc="http://schemas.openxmlformats.org/markup-compatibility/2006">
              <mc:Choice xmlns:v="urn:schemas-microsoft-com:vml" Requires="v">
                <p:oleObj spid="_x0000_s3110" name="文档" r:id="rId4" imgW="3826872" imgH="186518" progId="Word.Document.12">
                  <p:embed/>
                </p:oleObj>
              </mc:Choice>
              <mc:Fallback>
                <p:oleObj name="文档" r:id="rId4" imgW="3826872" imgH="186518" progId="Word.Document.12">
                  <p:embed/>
                  <p:pic>
                    <p:nvPicPr>
                      <p:cNvPr id="0" name=""/>
                      <p:cNvPicPr/>
                      <p:nvPr/>
                    </p:nvPicPr>
                    <p:blipFill>
                      <a:blip r:embed="rId5"/>
                      <a:stretch>
                        <a:fillRect/>
                      </a:stretch>
                    </p:blipFill>
                    <p:spPr>
                      <a:xfrm>
                        <a:off x="494621" y="2345495"/>
                        <a:ext cx="11671959" cy="56888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120671790"/>
              </p:ext>
            </p:extLst>
          </p:nvPr>
        </p:nvGraphicFramePr>
        <p:xfrm>
          <a:off x="502319" y="3058391"/>
          <a:ext cx="11671959" cy="970056"/>
        </p:xfrm>
        <a:graphic>
          <a:graphicData uri="http://schemas.openxmlformats.org/presentationml/2006/ole">
            <mc:AlternateContent xmlns:mc="http://schemas.openxmlformats.org/markup-compatibility/2006">
              <mc:Choice xmlns:v="urn:schemas-microsoft-com:vml" Requires="v">
                <p:oleObj spid="_x0000_s3111" name="文档" r:id="rId7" imgW="3826872" imgH="318051" progId="Word.Document.12">
                  <p:embed/>
                </p:oleObj>
              </mc:Choice>
              <mc:Fallback>
                <p:oleObj name="文档" r:id="rId7" imgW="3826872" imgH="318051" progId="Word.Document.12">
                  <p:embed/>
                  <p:pic>
                    <p:nvPicPr>
                      <p:cNvPr id="0" name=""/>
                      <p:cNvPicPr/>
                      <p:nvPr/>
                    </p:nvPicPr>
                    <p:blipFill>
                      <a:blip r:embed="rId8"/>
                      <a:stretch>
                        <a:fillRect/>
                      </a:stretch>
                    </p:blipFill>
                    <p:spPr>
                      <a:xfrm>
                        <a:off x="502319" y="3058391"/>
                        <a:ext cx="11671959" cy="970056"/>
                      </a:xfrm>
                      <a:prstGeom prst="rect">
                        <a:avLst/>
                      </a:prstGeom>
                    </p:spPr>
                  </p:pic>
                </p:oleObj>
              </mc:Fallback>
            </mc:AlternateContent>
          </a:graphicData>
        </a:graphic>
      </p:graphicFrame>
    </p:spTree>
    <p:extLst>
      <p:ext uri="{BB962C8B-B14F-4D97-AF65-F5344CB8AC3E}">
        <p14:creationId xmlns:p14="http://schemas.microsoft.com/office/powerpoint/2010/main" val="6737039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137119304"/>
              </p:ext>
            </p:extLst>
          </p:nvPr>
        </p:nvGraphicFramePr>
        <p:xfrm>
          <a:off x="360437" y="1007839"/>
          <a:ext cx="10640962" cy="4376010"/>
        </p:xfrm>
        <a:graphic>
          <a:graphicData uri="http://schemas.openxmlformats.org/presentationml/2006/ole">
            <mc:AlternateContent xmlns:mc="http://schemas.openxmlformats.org/markup-compatibility/2006">
              <mc:Choice xmlns:v="urn:schemas-microsoft-com:vml" Requires="v">
                <p:oleObj spid="_x0000_s4116" name="文档" r:id="rId4" imgW="3837724" imgH="1578233" progId="Word.Document.12">
                  <p:embed/>
                </p:oleObj>
              </mc:Choice>
              <mc:Fallback>
                <p:oleObj name="文档" r:id="rId4" imgW="3837724" imgH="1578233" progId="Word.Document.12">
                  <p:embed/>
                  <p:pic>
                    <p:nvPicPr>
                      <p:cNvPr id="0" name=""/>
                      <p:cNvPicPr/>
                      <p:nvPr/>
                    </p:nvPicPr>
                    <p:blipFill>
                      <a:blip r:embed="rId5"/>
                      <a:stretch>
                        <a:fillRect/>
                      </a:stretch>
                    </p:blipFill>
                    <p:spPr>
                      <a:xfrm>
                        <a:off x="360437" y="1007839"/>
                        <a:ext cx="10640962" cy="4376010"/>
                      </a:xfrm>
                      <a:prstGeom prst="rect">
                        <a:avLst/>
                      </a:prstGeom>
                    </p:spPr>
                  </p:pic>
                </p:oleObj>
              </mc:Fallback>
            </mc:AlternateContent>
          </a:graphicData>
        </a:graphic>
      </p:graphicFrame>
    </p:spTree>
    <p:extLst>
      <p:ext uri="{BB962C8B-B14F-4D97-AF65-F5344CB8AC3E}">
        <p14:creationId xmlns:p14="http://schemas.microsoft.com/office/powerpoint/2010/main" val="1185161030"/>
      </p:ext>
    </p:extLst>
  </p:cSld>
  <p:clrMapOvr>
    <a:masterClrMapping/>
  </p:clrMapOvr>
  <p:transition spd="slow">
    <p:wheel spokes="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649930897"/>
              </p:ext>
            </p:extLst>
          </p:nvPr>
        </p:nvGraphicFramePr>
        <p:xfrm>
          <a:off x="430213" y="860425"/>
          <a:ext cx="11661775" cy="5110163"/>
        </p:xfrm>
        <a:graphic>
          <a:graphicData uri="http://schemas.openxmlformats.org/presentationml/2006/ole">
            <mc:AlternateContent xmlns:mc="http://schemas.openxmlformats.org/markup-compatibility/2006">
              <mc:Choice xmlns:v="urn:schemas-microsoft-com:vml" Requires="v">
                <p:oleObj spid="_x0000_s5140" name="文档" r:id="rId4" imgW="3826872" imgH="1682614" progId="Word.Document.12">
                  <p:embed/>
                </p:oleObj>
              </mc:Choice>
              <mc:Fallback>
                <p:oleObj name="文档" r:id="rId4" imgW="3826872" imgH="1682614" progId="Word.Document.12">
                  <p:embed/>
                  <p:pic>
                    <p:nvPicPr>
                      <p:cNvPr id="0" name=""/>
                      <p:cNvPicPr/>
                      <p:nvPr/>
                    </p:nvPicPr>
                    <p:blipFill>
                      <a:blip r:embed="rId5"/>
                      <a:stretch>
                        <a:fillRect/>
                      </a:stretch>
                    </p:blipFill>
                    <p:spPr>
                      <a:xfrm>
                        <a:off x="430213" y="860425"/>
                        <a:ext cx="11661775" cy="5110163"/>
                      </a:xfrm>
                      <a:prstGeom prst="rect">
                        <a:avLst/>
                      </a:prstGeom>
                    </p:spPr>
                  </p:pic>
                </p:oleObj>
              </mc:Fallback>
            </mc:AlternateContent>
          </a:graphicData>
        </a:graphic>
      </p:graphicFrame>
      <p:sp>
        <p:nvSpPr>
          <p:cNvPr id="4" name="矩形 3"/>
          <p:cNvSpPr/>
          <p:nvPr/>
        </p:nvSpPr>
        <p:spPr>
          <a:xfrm>
            <a:off x="3701781" y="1799927"/>
            <a:ext cx="2779336" cy="8414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3697235" y="2642507"/>
            <a:ext cx="2776192"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3474999" y="3005845"/>
            <a:ext cx="2779336" cy="8414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3470453" y="3848425"/>
            <a:ext cx="2776192"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3643445" y="5112295"/>
            <a:ext cx="2693656" cy="7802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3638753" y="5893625"/>
            <a:ext cx="269060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9128868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88368653"/>
              </p:ext>
            </p:extLst>
          </p:nvPr>
        </p:nvGraphicFramePr>
        <p:xfrm>
          <a:off x="425782" y="2375991"/>
          <a:ext cx="11671959" cy="1356979"/>
        </p:xfrm>
        <a:graphic>
          <a:graphicData uri="http://schemas.openxmlformats.org/presentationml/2006/ole">
            <mc:AlternateContent xmlns:mc="http://schemas.openxmlformats.org/markup-compatibility/2006">
              <mc:Choice xmlns:v="urn:schemas-microsoft-com:vml" Requires="v">
                <p:oleObj spid="_x0000_s6164" name="文档" r:id="rId4" imgW="3826872" imgH="444911" progId="Word.Document.12">
                  <p:embed/>
                </p:oleObj>
              </mc:Choice>
              <mc:Fallback>
                <p:oleObj name="文档" r:id="rId4" imgW="3826872" imgH="444911" progId="Word.Document.12">
                  <p:embed/>
                  <p:pic>
                    <p:nvPicPr>
                      <p:cNvPr id="0" name=""/>
                      <p:cNvPicPr/>
                      <p:nvPr/>
                    </p:nvPicPr>
                    <p:blipFill>
                      <a:blip r:embed="rId5"/>
                      <a:stretch>
                        <a:fillRect/>
                      </a:stretch>
                    </p:blipFill>
                    <p:spPr>
                      <a:xfrm>
                        <a:off x="425782" y="2375991"/>
                        <a:ext cx="11671959" cy="1356979"/>
                      </a:xfrm>
                      <a:prstGeom prst="rect">
                        <a:avLst/>
                      </a:prstGeom>
                    </p:spPr>
                  </p:pic>
                </p:oleObj>
              </mc:Fallback>
            </mc:AlternateContent>
          </a:graphicData>
        </a:graphic>
      </p:graphicFrame>
      <p:sp>
        <p:nvSpPr>
          <p:cNvPr id="3" name="矩形 2"/>
          <p:cNvSpPr/>
          <p:nvPr/>
        </p:nvSpPr>
        <p:spPr>
          <a:xfrm>
            <a:off x="821461" y="2952055"/>
            <a:ext cx="3488658" cy="679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816915" y="3632401"/>
            <a:ext cx="3484711"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5212491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75791"/>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在</a:t>
            </a:r>
            <a:r>
              <a:rPr lang="zh-CN" altLang="zh-CN" dirty="0">
                <a:solidFill>
                  <a:srgbClr val="000000"/>
                </a:solidFill>
                <a:ea typeface="宋体" panose="02010600030101010101" pitchFamily="2" charset="-122"/>
                <a:cs typeface="Times New Roman" panose="02020603050405020304" pitchFamily="18" charset="0"/>
              </a:rPr>
              <a:t>某校高一年级的</a:t>
            </a:r>
            <a:r>
              <a:rPr lang="en-US" altLang="zh-CN" dirty="0">
                <a:solidFill>
                  <a:srgbClr val="000000"/>
                </a:solidFill>
                <a:ea typeface="宋体" panose="02010600030101010101" pitchFamily="2" charset="-122"/>
                <a:cs typeface="Times New Roman" panose="02020603050405020304" pitchFamily="18" charset="0"/>
              </a:rPr>
              <a:t>800</a:t>
            </a:r>
            <a:r>
              <a:rPr lang="zh-CN" altLang="zh-CN" dirty="0">
                <a:solidFill>
                  <a:srgbClr val="000000"/>
                </a:solidFill>
                <a:ea typeface="宋体" panose="02010600030101010101" pitchFamily="2" charset="-122"/>
                <a:cs typeface="Times New Roman" panose="02020603050405020304" pitchFamily="18" charset="0"/>
              </a:rPr>
              <a:t>名学生中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男生有</a:t>
            </a:r>
            <a:r>
              <a:rPr lang="en-US" altLang="zh-CN" dirty="0">
                <a:solidFill>
                  <a:srgbClr val="000000"/>
                </a:solidFill>
                <a:ea typeface="宋体" panose="02010600030101010101" pitchFamily="2" charset="-122"/>
                <a:cs typeface="Times New Roman" panose="02020603050405020304" pitchFamily="18" charset="0"/>
              </a:rPr>
              <a:t>360</a:t>
            </a:r>
            <a:r>
              <a:rPr lang="zh-CN" altLang="zh-CN" dirty="0">
                <a:solidFill>
                  <a:srgbClr val="000000"/>
                </a:solidFill>
                <a:ea typeface="宋体" panose="02010600030101010101" pitchFamily="2" charset="-122"/>
                <a:cs typeface="Times New Roman" panose="02020603050405020304" pitchFamily="18" charset="0"/>
              </a:rPr>
              <a:t>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女生有</a:t>
            </a:r>
            <a:r>
              <a:rPr lang="en-US" altLang="zh-CN" dirty="0">
                <a:solidFill>
                  <a:srgbClr val="000000"/>
                </a:solidFill>
                <a:ea typeface="宋体" panose="02010600030101010101" pitchFamily="2" charset="-122"/>
                <a:cs typeface="Times New Roman" panose="02020603050405020304" pitchFamily="18" charset="0"/>
              </a:rPr>
              <a:t>440</a:t>
            </a:r>
            <a:r>
              <a:rPr lang="zh-CN" altLang="zh-CN" dirty="0">
                <a:solidFill>
                  <a:srgbClr val="000000"/>
                </a:solidFill>
                <a:ea typeface="宋体" panose="02010600030101010101" pitchFamily="2" charset="-122"/>
                <a:cs typeface="Times New Roman" panose="02020603050405020304" pitchFamily="18" charset="0"/>
              </a:rPr>
              <a:t>名</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现按男生、女生进行分层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采用比例分配的分层随机抽样方法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从中抽取一个容量为</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的样本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计算出男生身高的样本平均数为</a:t>
            </a:r>
            <a:r>
              <a:rPr lang="en-US" altLang="zh-CN" dirty="0">
                <a:solidFill>
                  <a:srgbClr val="000000"/>
                </a:solidFill>
                <a:ea typeface="宋体" panose="02010600030101010101" pitchFamily="2" charset="-122"/>
                <a:cs typeface="Times New Roman" panose="02020603050405020304" pitchFamily="18" charset="0"/>
              </a:rPr>
              <a:t>171 cm,</a:t>
            </a:r>
            <a:r>
              <a:rPr lang="zh-CN" altLang="zh-CN" dirty="0">
                <a:solidFill>
                  <a:srgbClr val="000000"/>
                </a:solidFill>
                <a:ea typeface="宋体" panose="02010600030101010101" pitchFamily="2" charset="-122"/>
                <a:cs typeface="Times New Roman" panose="02020603050405020304" pitchFamily="18" charset="0"/>
              </a:rPr>
              <a:t>女生身高的样本平均数为</a:t>
            </a:r>
            <a:r>
              <a:rPr lang="en-US" altLang="zh-CN" dirty="0">
                <a:solidFill>
                  <a:srgbClr val="000000"/>
                </a:solidFill>
                <a:ea typeface="宋体" panose="02010600030101010101" pitchFamily="2" charset="-122"/>
                <a:cs typeface="Times New Roman" panose="02020603050405020304" pitchFamily="18" charset="0"/>
              </a:rPr>
              <a:t>160 cm,</a:t>
            </a:r>
            <a:r>
              <a:rPr lang="zh-CN" altLang="zh-CN" dirty="0">
                <a:solidFill>
                  <a:srgbClr val="000000"/>
                </a:solidFill>
                <a:ea typeface="宋体" panose="02010600030101010101" pitchFamily="2" charset="-122"/>
                <a:cs typeface="Times New Roman" panose="02020603050405020304" pitchFamily="18" charset="0"/>
              </a:rPr>
              <a:t>则总样本平均数为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530758546"/>
              </p:ext>
            </p:extLst>
          </p:nvPr>
        </p:nvGraphicFramePr>
        <p:xfrm>
          <a:off x="432445" y="3493797"/>
          <a:ext cx="11671959" cy="2414722"/>
        </p:xfrm>
        <a:graphic>
          <a:graphicData uri="http://schemas.openxmlformats.org/presentationml/2006/ole">
            <mc:AlternateContent xmlns:mc="http://schemas.openxmlformats.org/markup-compatibility/2006">
              <mc:Choice xmlns:v="urn:schemas-microsoft-com:vml" Requires="v">
                <p:oleObj spid="_x0000_s7188" name="文档" r:id="rId4" imgW="3837724" imgH="794345" progId="Word.Document.12">
                  <p:embed/>
                </p:oleObj>
              </mc:Choice>
              <mc:Fallback>
                <p:oleObj name="文档" r:id="rId4" imgW="3837724" imgH="794345" progId="Word.Document.12">
                  <p:embed/>
                  <p:pic>
                    <p:nvPicPr>
                      <p:cNvPr id="0" name=""/>
                      <p:cNvPicPr/>
                      <p:nvPr/>
                    </p:nvPicPr>
                    <p:blipFill>
                      <a:blip r:embed="rId5"/>
                      <a:stretch>
                        <a:fillRect/>
                      </a:stretch>
                    </p:blipFill>
                    <p:spPr>
                      <a:xfrm>
                        <a:off x="432445" y="3493797"/>
                        <a:ext cx="11671959" cy="2414722"/>
                      </a:xfrm>
                      <a:prstGeom prst="rect">
                        <a:avLst/>
                      </a:prstGeom>
                    </p:spPr>
                  </p:pic>
                </p:oleObj>
              </mc:Fallback>
            </mc:AlternateContent>
          </a:graphicData>
        </a:graphic>
      </p:graphicFrame>
      <p:sp>
        <p:nvSpPr>
          <p:cNvPr id="5" name="矩形 4"/>
          <p:cNvSpPr>
            <a:spLocks noChangeAspect="1"/>
          </p:cNvSpPr>
          <p:nvPr/>
        </p:nvSpPr>
        <p:spPr>
          <a:xfrm>
            <a:off x="361950" y="5797183"/>
            <a:ext cx="3002745"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95 </a:t>
            </a:r>
            <a:r>
              <a:rPr lang="en-US" altLang="zh-CN" dirty="0" smtClean="0">
                <a:solidFill>
                  <a:srgbClr val="000000"/>
                </a:solidFill>
                <a:ea typeface="宋体" panose="02010600030101010101" pitchFamily="2" charset="-122"/>
                <a:cs typeface="Times New Roman" panose="02020603050405020304" pitchFamily="18" charset="0"/>
              </a:rPr>
              <a:t>cm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93903751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75791"/>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三、获取数据的途径</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统计学是通过收集数据和分析数据来认识未知现象的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你知道哪些获取数据的途径</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统计报表和年鉴、社会调查、试验设计、普查和</a:t>
            </a:r>
            <a:r>
              <a:rPr lang="zh-CN" altLang="zh-CN" dirty="0" smtClean="0">
                <a:solidFill>
                  <a:srgbClr val="000000"/>
                </a:solidFill>
                <a:ea typeface="楷体" panose="02010609060101010101" pitchFamily="49" charset="-122"/>
                <a:cs typeface="Times New Roman" panose="02020603050405020304" pitchFamily="18" charset="0"/>
              </a:rPr>
              <a:t>抽</a:t>
            </a:r>
            <a:r>
              <a:rPr lang="zh-CN" altLang="en-US" dirty="0" smtClean="0">
                <a:solidFill>
                  <a:srgbClr val="000000"/>
                </a:solidFill>
                <a:ea typeface="楷体" panose="02010609060101010101" pitchFamily="49" charset="-122"/>
                <a:cs typeface="Times New Roman" panose="02020603050405020304" pitchFamily="18" charset="0"/>
              </a:rPr>
              <a:t>样</a:t>
            </a:r>
            <a:r>
              <a:rPr lang="zh-CN" altLang="zh-CN" dirty="0" smtClean="0">
                <a:solidFill>
                  <a:srgbClr val="000000"/>
                </a:solidFill>
                <a:ea typeface="楷体" panose="02010609060101010101" pitchFamily="49"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互联网等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a:spLocks noChangeAspect="1"/>
          </p:cNvSpPr>
          <p:nvPr/>
        </p:nvSpPr>
        <p:spPr>
          <a:xfrm>
            <a:off x="361950" y="3462683"/>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获取</a:t>
            </a:r>
            <a:r>
              <a:rPr lang="zh-CN" altLang="zh-CN" dirty="0">
                <a:solidFill>
                  <a:srgbClr val="000000"/>
                </a:solidFill>
                <a:ea typeface="宋体" panose="02010600030101010101" pitchFamily="2" charset="-122"/>
                <a:cs typeface="Times New Roman" panose="02020603050405020304" pitchFamily="18" charset="0"/>
              </a:rPr>
              <a:t>数据的一些基本途径</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通过</a:t>
            </a:r>
            <a:r>
              <a:rPr lang="zh-CN" altLang="zh-CN" dirty="0">
                <a:ea typeface="宋体" panose="02010600030101010101" pitchFamily="2" charset="-122"/>
                <a:cs typeface="Times New Roman" panose="02020603050405020304" pitchFamily="18" charset="0"/>
              </a:rPr>
              <a:t>调查</a:t>
            </a:r>
            <a:r>
              <a:rPr lang="zh-CN" altLang="zh-CN" dirty="0">
                <a:solidFill>
                  <a:srgbClr val="000000"/>
                </a:solidFill>
                <a:ea typeface="宋体" panose="02010600030101010101" pitchFamily="2" charset="-122"/>
                <a:cs typeface="Times New Roman" panose="02020603050405020304" pitchFamily="18" charset="0"/>
              </a:rPr>
              <a:t>获取数据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如抽样调查或普查的方法获取数据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通过试验获取数据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通过观察获取数据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通过</a:t>
            </a:r>
            <a:r>
              <a:rPr lang="zh-CN" altLang="zh-CN" dirty="0">
                <a:ea typeface="宋体" panose="02010600030101010101" pitchFamily="2" charset="-122"/>
                <a:cs typeface="Times New Roman" panose="02020603050405020304" pitchFamily="18" charset="0"/>
              </a:rPr>
              <a:t>查询</a:t>
            </a:r>
            <a:r>
              <a:rPr lang="zh-CN" altLang="zh-CN" dirty="0" smtClean="0">
                <a:solidFill>
                  <a:srgbClr val="000000"/>
                </a:solidFill>
                <a:ea typeface="宋体" panose="02010600030101010101" pitchFamily="2" charset="-122"/>
                <a:cs typeface="Times New Roman" panose="02020603050405020304" pitchFamily="18" charset="0"/>
              </a:rPr>
              <a:t>获</a:t>
            </a:r>
            <a:r>
              <a:rPr lang="zh-CN" altLang="en-US" dirty="0" smtClean="0">
                <a:solidFill>
                  <a:srgbClr val="000000"/>
                </a:solidFill>
                <a:ea typeface="宋体" panose="02010600030101010101" pitchFamily="2" charset="-122"/>
                <a:cs typeface="Times New Roman" panose="02020603050405020304" pitchFamily="18" charset="0"/>
              </a:rPr>
              <a:t>得</a:t>
            </a:r>
            <a:r>
              <a:rPr lang="zh-CN" altLang="zh-CN" dirty="0" smtClean="0">
                <a:solidFill>
                  <a:srgbClr val="000000"/>
                </a:solidFill>
                <a:ea typeface="宋体" panose="02010600030101010101" pitchFamily="2" charset="-122"/>
                <a:cs typeface="Times New Roman" panose="02020603050405020304" pitchFamily="18" charset="0"/>
              </a:rPr>
              <a:t>取</a:t>
            </a:r>
            <a:r>
              <a:rPr lang="zh-CN" altLang="zh-CN" dirty="0">
                <a:solidFill>
                  <a:srgbClr val="000000"/>
                </a:solidFill>
                <a:ea typeface="宋体" panose="02010600030101010101" pitchFamily="2" charset="-122"/>
                <a:cs typeface="Times New Roman" panose="02020603050405020304" pitchFamily="18" charset="0"/>
              </a:rPr>
              <a:t>数据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1754695" y="408125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1750105" y="4545357"/>
            <a:ext cx="776265"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1760863" y="5848961"/>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756273" y="6313059"/>
            <a:ext cx="77626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7319759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20266"/>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在分层随机抽样中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每层抽取的样本量都一样</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在比例分配的分层随机抽样中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每层样本量都与层的大小成比例</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在比例分配的分层随机抽样中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各层的抽样比</a:t>
            </a:r>
            <a:r>
              <a:rPr lang="zh-CN" altLang="zh-CN" dirty="0" smtClean="0">
                <a:solidFill>
                  <a:srgbClr val="000000"/>
                </a:solidFill>
                <a:ea typeface="宋体" panose="02010600030101010101" pitchFamily="2" charset="-122"/>
                <a:cs typeface="Times New Roman" panose="02020603050405020304" pitchFamily="18" charset="0"/>
              </a:rPr>
              <a:t>等于</a:t>
            </a:r>
            <a:endParaRPr lang="en-US" altLang="zh-CN" dirty="0" smtClean="0">
              <a:solidFill>
                <a:srgbClr val="000000"/>
              </a:solidFill>
              <a:ea typeface="宋体" panose="02010600030101010101" pitchFamily="2" charset="-122"/>
              <a:cs typeface="Times New Roman" panose="02020603050405020304" pitchFamily="18" charset="0"/>
            </a:endParaRPr>
          </a:p>
          <a:p>
            <a:pPr algn="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6" name="矩形 5"/>
          <p:cNvSpPr/>
          <p:nvPr/>
        </p:nvSpPr>
        <p:spPr>
          <a:xfrm>
            <a:off x="9217421" y="2848320"/>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2160637" y="397812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10432789" y="5118200"/>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4223948313"/>
              </p:ext>
            </p:extLst>
          </p:nvPr>
        </p:nvGraphicFramePr>
        <p:xfrm>
          <a:off x="7129189" y="4339968"/>
          <a:ext cx="6607201" cy="788392"/>
        </p:xfrm>
        <a:graphic>
          <a:graphicData uri="http://schemas.openxmlformats.org/presentationml/2006/ole">
            <mc:AlternateContent xmlns:mc="http://schemas.openxmlformats.org/markup-compatibility/2006">
              <mc:Choice xmlns:v="urn:schemas-microsoft-com:vml" Requires="v">
                <p:oleObj spid="_x0000_s8212" name="文档" r:id="rId4" imgW="3837724" imgH="457929" progId="Word.Document.12">
                  <p:embed/>
                </p:oleObj>
              </mc:Choice>
              <mc:Fallback>
                <p:oleObj name="文档" r:id="rId4" imgW="3837724" imgH="457929" progId="Word.Document.12">
                  <p:embed/>
                  <p:pic>
                    <p:nvPicPr>
                      <p:cNvPr id="0" name=""/>
                      <p:cNvPicPr/>
                      <p:nvPr/>
                    </p:nvPicPr>
                    <p:blipFill>
                      <a:blip r:embed="rId5"/>
                      <a:stretch>
                        <a:fillRect/>
                      </a:stretch>
                    </p:blipFill>
                    <p:spPr>
                      <a:xfrm>
                        <a:off x="7129189" y="4339968"/>
                        <a:ext cx="6607201" cy="788392"/>
                      </a:xfrm>
                      <a:prstGeom prst="rect">
                        <a:avLst/>
                      </a:prstGeom>
                    </p:spPr>
                  </p:pic>
                </p:oleObj>
              </mc:Fallback>
            </mc:AlternateContent>
          </a:graphicData>
        </a:graphic>
      </p:graphicFrame>
    </p:spTree>
    <p:extLst>
      <p:ext uri="{BB962C8B-B14F-4D97-AF65-F5344CB8AC3E}">
        <p14:creationId xmlns:p14="http://schemas.microsoft.com/office/powerpoint/2010/main" val="271258627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704680"/>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在分层随机抽样中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我们直接用样本平均数估计总体平均数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从互联网上查找的数据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质量参差不齐</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应该根据问题背景知识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清洗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去伪存真后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再进行数据分析</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1296541" y="244799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8857381" y="3600127"/>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64970993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
        <p:nvSpPr>
          <p:cNvPr id="3" name="圆角矩形 2">
            <a:hlinkClick r:id="rId2" action="ppaction://hlinksldjump"/>
          </p:cNvPr>
          <p:cNvSpPr/>
          <p:nvPr/>
        </p:nvSpPr>
        <p:spPr>
          <a:xfrm>
            <a:off x="1224533"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a:t>探究一</a:t>
            </a:r>
            <a:endParaRPr lang="zh-CN" altLang="en-US" sz="2400"/>
          </a:p>
        </p:txBody>
      </p:sp>
      <p:sp>
        <p:nvSpPr>
          <p:cNvPr id="4" name="圆角矩形 3">
            <a:hlinkClick r:id="rId3" action="ppaction://hlinksldjump"/>
          </p:cNvPr>
          <p:cNvSpPr/>
          <p:nvPr/>
        </p:nvSpPr>
        <p:spPr>
          <a:xfrm>
            <a:off x="3024733"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二</a:t>
            </a:r>
            <a:endParaRPr lang="zh-CN" altLang="en-US" sz="2400" dirty="0"/>
          </a:p>
        </p:txBody>
      </p:sp>
      <p:sp>
        <p:nvSpPr>
          <p:cNvPr id="5" name="圆角矩形 4">
            <a:hlinkClick r:id="rId4" action="ppaction://hlinksldjump"/>
          </p:cNvPr>
          <p:cNvSpPr/>
          <p:nvPr/>
        </p:nvSpPr>
        <p:spPr>
          <a:xfrm>
            <a:off x="4824933"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三</a:t>
            </a:r>
            <a:endParaRPr lang="zh-CN" altLang="en-US" sz="2400" dirty="0"/>
          </a:p>
        </p:txBody>
      </p:sp>
      <p:sp>
        <p:nvSpPr>
          <p:cNvPr id="6" name="圆角矩形 5">
            <a:hlinkClick r:id="rId5" action="ppaction://hlinksldjump"/>
          </p:cNvPr>
          <p:cNvSpPr/>
          <p:nvPr/>
        </p:nvSpPr>
        <p:spPr>
          <a:xfrm>
            <a:off x="6625133"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四</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8" fill="hold" grpId="0" nodeType="after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0-#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680479"/>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分层</a:t>
            </a:r>
            <a:r>
              <a:rPr lang="zh-CN" altLang="zh-CN" dirty="0"/>
              <a:t>随机抽样的概念</a:t>
            </a:r>
          </a:p>
        </p:txBody>
      </p:sp>
      <p:sp>
        <p:nvSpPr>
          <p:cNvPr id="2" name="矩形 1"/>
          <p:cNvSpPr>
            <a:spLocks noChangeAspect="1"/>
          </p:cNvSpPr>
          <p:nvPr/>
        </p:nvSpPr>
        <p:spPr>
          <a:xfrm>
            <a:off x="361950" y="1161687"/>
            <a:ext cx="10807700" cy="547996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下列问题中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最适合用分层随机抽样抽取样本的</a:t>
            </a:r>
            <a:r>
              <a:rPr lang="zh-CN" altLang="zh-CN" dirty="0" smtClean="0">
                <a:solidFill>
                  <a:srgbClr val="000000"/>
                </a:solidFill>
                <a:ea typeface="宋体" panose="02010600030101010101" pitchFamily="2" charset="-122"/>
                <a:cs typeface="Times New Roman" panose="02020603050405020304" pitchFamily="18" charset="0"/>
              </a:rPr>
              <a:t>是</a:t>
            </a:r>
            <a:endParaRPr lang="en-US" altLang="zh-CN" dirty="0" smtClean="0">
              <a:solidFill>
                <a:srgbClr val="000000"/>
              </a:solidFill>
              <a:ea typeface="宋体" panose="02010600030101010101" pitchFamily="2" charset="-122"/>
              <a:cs typeface="Times New Roman" panose="02020603050405020304" pitchFamily="18" charset="0"/>
            </a:endParaRP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从</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名同学中抽取</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人参加座谈会</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某社区有</a:t>
            </a:r>
            <a:r>
              <a:rPr lang="en-US" altLang="zh-CN" dirty="0">
                <a:solidFill>
                  <a:srgbClr val="000000"/>
                </a:solidFill>
                <a:ea typeface="宋体" panose="02010600030101010101" pitchFamily="2" charset="-122"/>
                <a:cs typeface="Times New Roman" panose="02020603050405020304" pitchFamily="18" charset="0"/>
              </a:rPr>
              <a:t>500</a:t>
            </a:r>
            <a:r>
              <a:rPr lang="zh-CN" altLang="zh-CN" dirty="0">
                <a:solidFill>
                  <a:srgbClr val="000000"/>
                </a:solidFill>
                <a:ea typeface="宋体" panose="02010600030101010101" pitchFamily="2" charset="-122"/>
                <a:cs typeface="Times New Roman" panose="02020603050405020304" pitchFamily="18" charset="0"/>
              </a:rPr>
              <a:t>个家庭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其中高收入的家庭</a:t>
            </a:r>
            <a:r>
              <a:rPr lang="en-US" altLang="zh-CN" dirty="0">
                <a:solidFill>
                  <a:srgbClr val="000000"/>
                </a:solidFill>
                <a:ea typeface="宋体" panose="02010600030101010101" pitchFamily="2" charset="-122"/>
                <a:cs typeface="Times New Roman" panose="02020603050405020304" pitchFamily="18" charset="0"/>
              </a:rPr>
              <a:t>125</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中等收入的家庭</a:t>
            </a:r>
            <a:r>
              <a:rPr lang="en-US" altLang="zh-CN" dirty="0">
                <a:solidFill>
                  <a:srgbClr val="000000"/>
                </a:solidFill>
                <a:ea typeface="宋体" panose="02010600030101010101" pitchFamily="2" charset="-122"/>
                <a:cs typeface="Times New Roman" panose="02020603050405020304" pitchFamily="18" charset="0"/>
              </a:rPr>
              <a:t>280</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低收入的家庭</a:t>
            </a:r>
            <a:r>
              <a:rPr lang="en-US" altLang="zh-CN" dirty="0">
                <a:solidFill>
                  <a:srgbClr val="000000"/>
                </a:solidFill>
                <a:ea typeface="宋体" panose="02010600030101010101" pitchFamily="2" charset="-122"/>
                <a:cs typeface="Times New Roman" panose="02020603050405020304" pitchFamily="18" charset="0"/>
              </a:rPr>
              <a:t>95</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为了解</a:t>
            </a:r>
            <a:r>
              <a:rPr lang="zh-CN" altLang="zh-CN" dirty="0">
                <a:solidFill>
                  <a:srgbClr val="000000"/>
                </a:solidFill>
                <a:ea typeface="宋体" panose="02010600030101010101" pitchFamily="2" charset="-122"/>
                <a:cs typeface="Times New Roman" panose="02020603050405020304" pitchFamily="18" charset="0"/>
              </a:rPr>
              <a:t>生活购买力的某项指标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要从中抽取一个容量为</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宋体" panose="02010600030101010101" pitchFamily="2" charset="-122"/>
                <a:cs typeface="Times New Roman" panose="02020603050405020304" pitchFamily="18" charset="0"/>
              </a:rPr>
              <a:t>的样本</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从</a:t>
            </a:r>
            <a:r>
              <a:rPr lang="en-US" altLang="zh-CN" dirty="0">
                <a:solidFill>
                  <a:srgbClr val="000000"/>
                </a:solidFill>
                <a:ea typeface="宋体" panose="02010600030101010101" pitchFamily="2" charset="-122"/>
                <a:cs typeface="Times New Roman" panose="02020603050405020304" pitchFamily="18" charset="0"/>
              </a:rPr>
              <a:t>1 000</a:t>
            </a:r>
            <a:r>
              <a:rPr lang="zh-CN" altLang="zh-CN" dirty="0">
                <a:solidFill>
                  <a:srgbClr val="000000"/>
                </a:solidFill>
                <a:ea typeface="宋体" panose="02010600030101010101" pitchFamily="2" charset="-122"/>
                <a:cs typeface="Times New Roman" panose="02020603050405020304" pitchFamily="18" charset="0"/>
              </a:rPr>
              <a:t>名工人中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抽取</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宋体" panose="02010600030101010101" pitchFamily="2" charset="-122"/>
                <a:cs typeface="Times New Roman" panose="02020603050405020304" pitchFamily="18" charset="0"/>
              </a:rPr>
              <a:t>名调查上班途中所用时间</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在某地区中有</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个特大型销售点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要从中抽取</a:t>
            </a:r>
            <a:r>
              <a:rPr lang="en-US" altLang="zh-CN" dirty="0">
                <a:solidFill>
                  <a:srgbClr val="000000"/>
                </a:solidFill>
                <a:ea typeface="宋体" panose="02010600030101010101" pitchFamily="2" charset="-122"/>
                <a:cs typeface="Times New Roman" panose="02020603050405020304" pitchFamily="18" charset="0"/>
              </a:rPr>
              <a:t>7</a:t>
            </a:r>
            <a:r>
              <a:rPr lang="zh-CN" altLang="zh-CN" dirty="0">
                <a:solidFill>
                  <a:srgbClr val="000000"/>
                </a:solidFill>
                <a:ea typeface="宋体" panose="02010600030101010101" pitchFamily="2" charset="-122"/>
                <a:cs typeface="Times New Roman" panose="02020603050405020304" pitchFamily="18" charset="0"/>
              </a:rPr>
              <a:t>个调查其销售收入和售后服务等情况</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2097791"/>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中总体个体间差异较大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适合用分层随机抽样</a:t>
            </a:r>
            <a:r>
              <a:rPr lang="en-US" altLang="zh-CN" dirty="0">
                <a:solidFill>
                  <a:srgbClr val="000000"/>
                </a:solidFill>
                <a:ea typeface="宋体" panose="02010600030101010101" pitchFamily="2" charset="-122"/>
                <a:cs typeface="Times New Roman" panose="02020603050405020304" pitchFamily="18" charset="0"/>
              </a:rPr>
              <a:t>;A,C</a:t>
            </a:r>
            <a:r>
              <a:rPr lang="zh-CN" altLang="zh-CN" dirty="0">
                <a:solidFill>
                  <a:srgbClr val="000000"/>
                </a:solidFill>
                <a:ea typeface="楷体" panose="02010609060101010101" pitchFamily="49"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中总体个体间差异不大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不适合用分层随机抽样</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8855506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772151"/>
            <a:ext cx="10807700" cy="5338424"/>
            <a:chOff x="361950" y="719807"/>
            <a:chExt cx="10807700" cy="5338424"/>
          </a:xfrm>
        </p:grpSpPr>
        <p:pic>
          <p:nvPicPr>
            <p:cNvPr id="3" name="反思感悟H.eps" descr="id:2147490797;FounderCES"/>
            <p:cNvPicPr/>
            <p:nvPr/>
          </p:nvPicPr>
          <p:blipFill>
            <a:blip r:embed="rId2"/>
            <a:stretch>
              <a:fillRect/>
            </a:stretch>
          </p:blipFill>
          <p:spPr>
            <a:xfrm>
              <a:off x="361950" y="719807"/>
              <a:ext cx="2259558" cy="531552"/>
            </a:xfrm>
            <a:prstGeom prst="rect">
              <a:avLst/>
            </a:prstGeom>
          </p:spPr>
        </p:pic>
        <p:sp>
          <p:nvSpPr>
            <p:cNvPr id="2" name="矩形 1"/>
            <p:cNvSpPr>
              <a:spLocks noChangeAspect="1"/>
            </p:cNvSpPr>
            <p:nvPr/>
          </p:nvSpPr>
          <p:spPr>
            <a:xfrm>
              <a:off x="361950" y="1295004"/>
              <a:ext cx="10807700" cy="476322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分层随机抽样的前提和遵循的两条原则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前提</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分层随机抽样使用的前提是总体可以分层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层与层之间差异较大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而层内个体间差异较小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遵循的两条原则</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仿宋" panose="02010609060101010101" pitchFamily="49" charset="-122"/>
                  <a:cs typeface="Times New Roman" panose="02020603050405020304" pitchFamily="18" charset="0"/>
                </a:rPr>
                <a:t>按一个或多个变量把总体划分成若干个子总体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每个个体属于且仅属于一个子总体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即遵循不重复、不遗漏的原则</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仿宋" panose="02010609060101010101" pitchFamily="49" charset="-122"/>
                  <a:cs typeface="Times New Roman" panose="02020603050405020304" pitchFamily="18" charset="0"/>
                </a:rPr>
                <a:t>在每个子总体中独立地进行简单随机抽样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即各层遵循等概率抽样的原则</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40225162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723204"/>
            <a:ext cx="10807700" cy="550189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某学院有四个饲养房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分别养有</a:t>
            </a:r>
            <a:r>
              <a:rPr lang="en-US" altLang="zh-CN" dirty="0">
                <a:solidFill>
                  <a:srgbClr val="000000"/>
                </a:solidFill>
                <a:ea typeface="宋体" panose="02010600030101010101" pitchFamily="2" charset="-122"/>
                <a:cs typeface="Times New Roman" panose="02020603050405020304" pitchFamily="18" charset="0"/>
              </a:rPr>
              <a:t>18,54,24,48</a:t>
            </a:r>
            <a:r>
              <a:rPr lang="zh-CN" altLang="zh-CN" dirty="0">
                <a:solidFill>
                  <a:srgbClr val="000000"/>
                </a:solidFill>
                <a:ea typeface="宋体" panose="02010600030101010101" pitchFamily="2" charset="-122"/>
                <a:cs typeface="Times New Roman" panose="02020603050405020304" pitchFamily="18" charset="0"/>
              </a:rPr>
              <a:t>只白鼠供试验用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某项试验需抽取</a:t>
            </a:r>
            <a:r>
              <a:rPr lang="en-US" altLang="zh-CN" dirty="0">
                <a:solidFill>
                  <a:srgbClr val="000000"/>
                </a:solidFill>
                <a:ea typeface="宋体" panose="02010600030101010101" pitchFamily="2" charset="-122"/>
                <a:cs typeface="Times New Roman" panose="02020603050405020304" pitchFamily="18" charset="0"/>
              </a:rPr>
              <a:t>24</a:t>
            </a:r>
            <a:r>
              <a:rPr lang="zh-CN" altLang="zh-CN" dirty="0">
                <a:solidFill>
                  <a:srgbClr val="000000"/>
                </a:solidFill>
                <a:ea typeface="宋体" panose="02010600030101010101" pitchFamily="2" charset="-122"/>
                <a:cs typeface="Times New Roman" panose="02020603050405020304" pitchFamily="18" charset="0"/>
              </a:rPr>
              <a:t>只白鼠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你认为最合适的抽样方法为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在每个饲养房中各抽取</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只</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把所有白鼠都加上编有不同号码的颈圈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用简单随机抽样的方法确定</a:t>
            </a:r>
            <a:r>
              <a:rPr lang="en-US" altLang="zh-CN" dirty="0">
                <a:solidFill>
                  <a:srgbClr val="000000"/>
                </a:solidFill>
                <a:ea typeface="宋体" panose="02010600030101010101" pitchFamily="2" charset="-122"/>
                <a:cs typeface="Times New Roman" panose="02020603050405020304" pitchFamily="18" charset="0"/>
              </a:rPr>
              <a:t>24</a:t>
            </a:r>
            <a:r>
              <a:rPr lang="zh-CN" altLang="zh-CN" dirty="0">
                <a:solidFill>
                  <a:srgbClr val="000000"/>
                </a:solidFill>
                <a:ea typeface="宋体" panose="02010600030101010101" pitchFamily="2" charset="-122"/>
                <a:cs typeface="Times New Roman" panose="02020603050405020304" pitchFamily="18" charset="0"/>
              </a:rPr>
              <a:t>只</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在四个饲养房分别随手抓取</a:t>
            </a:r>
            <a:r>
              <a:rPr lang="en-US" altLang="zh-CN" dirty="0">
                <a:solidFill>
                  <a:srgbClr val="000000"/>
                </a:solidFill>
                <a:ea typeface="宋体" panose="02010600030101010101" pitchFamily="2" charset="-122"/>
                <a:cs typeface="Times New Roman" panose="02020603050405020304" pitchFamily="18" charset="0"/>
              </a:rPr>
              <a:t>3,9,4,8</a:t>
            </a:r>
            <a:r>
              <a:rPr lang="zh-CN" altLang="zh-CN" dirty="0">
                <a:solidFill>
                  <a:srgbClr val="000000"/>
                </a:solidFill>
                <a:ea typeface="宋体" panose="02010600030101010101" pitchFamily="2" charset="-122"/>
                <a:cs typeface="Times New Roman" panose="02020603050405020304" pitchFamily="18" charset="0"/>
              </a:rPr>
              <a:t>只</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先确定在这四个饲养房应分别抽取</a:t>
            </a:r>
            <a:r>
              <a:rPr lang="en-US" altLang="zh-CN" dirty="0">
                <a:solidFill>
                  <a:srgbClr val="000000"/>
                </a:solidFill>
                <a:ea typeface="宋体" panose="02010600030101010101" pitchFamily="2" charset="-122"/>
                <a:cs typeface="Times New Roman" panose="02020603050405020304" pitchFamily="18" charset="0"/>
              </a:rPr>
              <a:t>3,9,4,8</a:t>
            </a:r>
            <a:r>
              <a:rPr lang="zh-CN" altLang="zh-CN" dirty="0">
                <a:solidFill>
                  <a:srgbClr val="000000"/>
                </a:solidFill>
                <a:ea typeface="宋体" panose="02010600030101010101" pitchFamily="2" charset="-122"/>
                <a:cs typeface="Times New Roman" panose="02020603050405020304" pitchFamily="18" charset="0"/>
              </a:rPr>
              <a:t>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再由各饲养房自己加号码颈圈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用简单随机抽样法确定各自要抽取的对象</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2524792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29639"/>
            <a:ext cx="10807700" cy="535415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中对四个饲养房平均摊派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但由于各饲养房所养数量不一致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反而造成了各个个体被抽到的概率不相等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是错误的方法</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中保证了各个个体被抽到的概率相等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但没有注意到在四个不同环境中生长会产生差异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不如采取分层随机抽样的方法可靠性高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且统一编号统一抽取加大了工作量</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中采用了比例分配的分层随机抽样的方法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但在每层中没有考虑到个体间的差异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如健壮程度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灵活程度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貌似随机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实则各个个体被抽取到的概率不相等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7757155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71980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分层</a:t>
            </a:r>
            <a:r>
              <a:rPr lang="zh-CN" altLang="zh-CN" dirty="0"/>
              <a:t>随机抽样的应用</a:t>
            </a:r>
          </a:p>
        </p:txBody>
      </p:sp>
      <p:sp>
        <p:nvSpPr>
          <p:cNvPr id="2" name="矩形 1"/>
          <p:cNvSpPr>
            <a:spLocks noChangeAspect="1"/>
          </p:cNvSpPr>
          <p:nvPr/>
        </p:nvSpPr>
        <p:spPr>
          <a:xfrm>
            <a:off x="361950" y="1295871"/>
            <a:ext cx="10807700" cy="1865126"/>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某企业三月中旬生产</a:t>
            </a:r>
            <a:r>
              <a:rPr lang="en-US" altLang="zh-CN" dirty="0">
                <a:solidFill>
                  <a:srgbClr val="000000"/>
                </a:solidFill>
                <a:ea typeface="宋体" panose="02010600030101010101" pitchFamily="2" charset="-122"/>
              </a:rPr>
              <a:t>A,B,C</a:t>
            </a:r>
            <a:r>
              <a:rPr lang="zh-CN" altLang="zh-CN" dirty="0">
                <a:solidFill>
                  <a:srgbClr val="000000"/>
                </a:solidFill>
                <a:ea typeface="宋体" panose="02010600030101010101" pitchFamily="2" charset="-122"/>
                <a:cs typeface="Times New Roman" panose="02020603050405020304" pitchFamily="18" charset="0"/>
              </a:rPr>
              <a:t>三种产品共</a:t>
            </a:r>
            <a:r>
              <a:rPr lang="en-US" altLang="zh-CN" dirty="0">
                <a:solidFill>
                  <a:srgbClr val="000000"/>
                </a:solidFill>
                <a:ea typeface="宋体" panose="02010600030101010101" pitchFamily="2" charset="-122"/>
              </a:rPr>
              <a:t>3 000</a:t>
            </a:r>
            <a:r>
              <a:rPr lang="zh-CN" altLang="zh-CN" dirty="0">
                <a:solidFill>
                  <a:srgbClr val="000000"/>
                </a:solidFill>
                <a:ea typeface="宋体" panose="02010600030101010101" pitchFamily="2" charset="-122"/>
                <a:cs typeface="Times New Roman" panose="02020603050405020304" pitchFamily="18" charset="0"/>
              </a:rPr>
              <a:t>件</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根据比例分配的分层随机抽样的结果</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企业统计员作了统计如表所示</a:t>
            </a:r>
            <a:r>
              <a:rPr lang="en-US" altLang="zh-CN" i="1" dirty="0">
                <a:solidFill>
                  <a:srgbClr val="000000"/>
                </a:solidFill>
                <a:ea typeface="宋体" panose="02010600030101010101" pitchFamily="2" charset="-122"/>
              </a:rPr>
              <a:t>.</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2137463039"/>
              </p:ext>
            </p:extLst>
          </p:nvPr>
        </p:nvGraphicFramePr>
        <p:xfrm>
          <a:off x="504453" y="2552283"/>
          <a:ext cx="10768100" cy="2636634"/>
        </p:xfrm>
        <a:graphic>
          <a:graphicData uri="http://schemas.openxmlformats.org/presentationml/2006/ole">
            <mc:AlternateContent xmlns:mc="http://schemas.openxmlformats.org/markup-compatibility/2006">
              <mc:Choice xmlns:v="urn:schemas-microsoft-com:vml" Requires="v">
                <p:oleObj spid="_x0000_s9237" name="文档" r:id="rId4" imgW="3883577" imgH="950917" progId="Word.Document.12">
                  <p:embed/>
                </p:oleObj>
              </mc:Choice>
              <mc:Fallback>
                <p:oleObj name="文档" r:id="rId4" imgW="3883577" imgH="950917" progId="Word.Document.12">
                  <p:embed/>
                  <p:pic>
                    <p:nvPicPr>
                      <p:cNvPr id="0" name=""/>
                      <p:cNvPicPr/>
                      <p:nvPr/>
                    </p:nvPicPr>
                    <p:blipFill>
                      <a:blip r:embed="rId5"/>
                      <a:stretch>
                        <a:fillRect/>
                      </a:stretch>
                    </p:blipFill>
                    <p:spPr>
                      <a:xfrm>
                        <a:off x="504453" y="2552283"/>
                        <a:ext cx="10768100" cy="2636634"/>
                      </a:xfrm>
                      <a:prstGeom prst="rect">
                        <a:avLst/>
                      </a:prstGeom>
                    </p:spPr>
                  </p:pic>
                </p:oleObj>
              </mc:Fallback>
            </mc:AlternateContent>
          </a:graphicData>
        </a:graphic>
      </p:graphicFrame>
      <p:sp>
        <p:nvSpPr>
          <p:cNvPr id="6" name="矩形 5"/>
          <p:cNvSpPr>
            <a:spLocks noChangeAspect="1"/>
          </p:cNvSpPr>
          <p:nvPr/>
        </p:nvSpPr>
        <p:spPr>
          <a:xfrm>
            <a:off x="361950" y="4580203"/>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由于不小心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表格中</a:t>
            </a:r>
            <a:r>
              <a:rPr lang="en-US" altLang="zh-CN" dirty="0">
                <a:solidFill>
                  <a:srgbClr val="000000"/>
                </a:solidFill>
                <a:ea typeface="宋体" panose="02010600030101010101" pitchFamily="2" charset="-122"/>
                <a:cs typeface="Times New Roman" panose="02020603050405020304" pitchFamily="18" charset="0"/>
              </a:rPr>
              <a:t>A,C</a:t>
            </a:r>
            <a:r>
              <a:rPr lang="zh-CN" altLang="zh-CN" dirty="0">
                <a:solidFill>
                  <a:srgbClr val="000000"/>
                </a:solidFill>
                <a:ea typeface="宋体" panose="02010600030101010101" pitchFamily="2" charset="-122"/>
                <a:cs typeface="Times New Roman" panose="02020603050405020304" pitchFamily="18" charset="0"/>
              </a:rPr>
              <a:t>产品的有关数据已被污染看不清楚了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统计员只记得</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产品的样本量比</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产品的样本量多</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根据以上信息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可得</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产品的数量是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a:spLocks noChangeAspect="1"/>
          </p:cNvSpPr>
          <p:nvPr/>
        </p:nvSpPr>
        <p:spPr>
          <a:xfrm>
            <a:off x="361950" y="1556928"/>
            <a:ext cx="10807700" cy="631711"/>
          </a:xfrm>
          <a:prstGeom prst="rect">
            <a:avLst/>
          </a:prstGeom>
        </p:spPr>
        <p:txBody>
          <a:bodyPr>
            <a:spAutoFit/>
          </a:bodyPr>
          <a:lstStyle/>
          <a:p>
            <a:pPr>
              <a:lnSpc>
                <a:spcPct val="120000"/>
              </a:lnSpc>
            </a:pPr>
            <a:endParaRPr lang="zh-CN" altLang="en-US" dirty="0"/>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449489416"/>
              </p:ext>
            </p:extLst>
          </p:nvPr>
        </p:nvGraphicFramePr>
        <p:xfrm>
          <a:off x="430213" y="1134358"/>
          <a:ext cx="11677650" cy="3248025"/>
        </p:xfrm>
        <a:graphic>
          <a:graphicData uri="http://schemas.openxmlformats.org/presentationml/2006/ole">
            <mc:AlternateContent xmlns:mc="http://schemas.openxmlformats.org/markup-compatibility/2006">
              <mc:Choice xmlns:v="urn:schemas-microsoft-com:vml" Requires="v">
                <p:oleObj spid="_x0000_s10260" name="文档" r:id="rId4" imgW="3837724" imgH="1071626" progId="Word.Document.12">
                  <p:embed/>
                </p:oleObj>
              </mc:Choice>
              <mc:Fallback>
                <p:oleObj name="文档" r:id="rId4" imgW="3837724" imgH="1071626" progId="Word.Document.12">
                  <p:embed/>
                  <p:pic>
                    <p:nvPicPr>
                      <p:cNvPr id="0" name=""/>
                      <p:cNvPicPr/>
                      <p:nvPr/>
                    </p:nvPicPr>
                    <p:blipFill>
                      <a:blip r:embed="rId5"/>
                      <a:stretch>
                        <a:fillRect/>
                      </a:stretch>
                    </p:blipFill>
                    <p:spPr>
                      <a:xfrm>
                        <a:off x="430213" y="1134358"/>
                        <a:ext cx="11677650" cy="3248025"/>
                      </a:xfrm>
                      <a:prstGeom prst="rect">
                        <a:avLst/>
                      </a:prstGeom>
                    </p:spPr>
                  </p:pic>
                </p:oleObj>
              </mc:Fallback>
            </mc:AlternateContent>
          </a:graphicData>
        </a:graphic>
      </p:graphicFrame>
      <p:sp>
        <p:nvSpPr>
          <p:cNvPr id="7" name="矩形 6"/>
          <p:cNvSpPr>
            <a:spLocks noChangeAspect="1"/>
          </p:cNvSpPr>
          <p:nvPr/>
        </p:nvSpPr>
        <p:spPr>
          <a:xfrm>
            <a:off x="375696" y="4419199"/>
            <a:ext cx="1863011"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800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612199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延伸探究H.eps" descr="id:2147490832;FounderCES"/>
          <p:cNvPicPr/>
          <p:nvPr/>
        </p:nvPicPr>
        <p:blipFill>
          <a:blip r:embed="rId3"/>
          <a:stretch>
            <a:fillRect/>
          </a:stretch>
        </p:blipFill>
        <p:spPr>
          <a:xfrm>
            <a:off x="4317062" y="1223863"/>
            <a:ext cx="2524095" cy="460328"/>
          </a:xfrm>
          <a:prstGeom prst="rect">
            <a:avLst/>
          </a:prstGeom>
        </p:spPr>
      </p:pic>
      <p:sp>
        <p:nvSpPr>
          <p:cNvPr id="2" name="矩形 1"/>
          <p:cNvSpPr>
            <a:spLocks noChangeAspect="1"/>
          </p:cNvSpPr>
          <p:nvPr/>
        </p:nvSpPr>
        <p:spPr>
          <a:xfrm>
            <a:off x="361950" y="1727919"/>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若本例中条件不变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产品的数量为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8" name="组合 7"/>
          <p:cNvGrpSpPr/>
          <p:nvPr/>
        </p:nvGrpSpPr>
        <p:grpSpPr>
          <a:xfrm>
            <a:off x="361950" y="2450758"/>
            <a:ext cx="11707114" cy="1509409"/>
            <a:chOff x="361950" y="2231975"/>
            <a:chExt cx="11707114" cy="1509409"/>
          </a:xfrm>
        </p:grpSpPr>
        <p:sp>
          <p:nvSpPr>
            <p:cNvPr id="3" name="矩形 2"/>
            <p:cNvSpPr>
              <a:spLocks noChangeAspect="1"/>
            </p:cNvSpPr>
            <p:nvPr/>
          </p:nvSpPr>
          <p:spPr>
            <a:xfrm>
              <a:off x="361950" y="2231975"/>
              <a:ext cx="10807700" cy="626710"/>
            </a:xfrm>
            <a:prstGeom prst="rect">
              <a:avLst/>
            </a:prstGeom>
          </p:spPr>
          <p:txBody>
            <a:bodyPr>
              <a:spAutoFit/>
            </a:bodyPr>
            <a:lstStyle/>
            <a:p>
              <a:pPr>
                <a:lnSpc>
                  <a:spcPct val="120000"/>
                </a:lnSpc>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由例</a:t>
              </a:r>
              <a:r>
                <a:rPr lang="en-US" altLang="zh-CN" dirty="0">
                  <a:solidFill>
                    <a:srgbClr val="000000"/>
                  </a:solidFill>
                  <a:ea typeface="宋体" panose="02010600030101010101" pitchFamily="2" charset="-122"/>
                </a:rPr>
                <a:t>2</a:t>
              </a:r>
              <a:r>
                <a:rPr lang="zh-CN" altLang="zh-CN" dirty="0">
                  <a:solidFill>
                    <a:srgbClr val="000000"/>
                  </a:solidFill>
                  <a:ea typeface="楷体" panose="02010609060101010101" pitchFamily="49" charset="-122"/>
                  <a:cs typeface="Times New Roman" panose="02020603050405020304" pitchFamily="18" charset="0"/>
                </a:rPr>
                <a:t>可知</a:t>
              </a:r>
              <a:r>
                <a:rPr lang="en-US" altLang="zh-CN" dirty="0">
                  <a:solidFill>
                    <a:srgbClr val="000000"/>
                  </a:solidFill>
                  <a:ea typeface="宋体" panose="02010600030101010101" pitchFamily="2" charset="-122"/>
                </a:rPr>
                <a:t>,A</a:t>
              </a:r>
              <a:r>
                <a:rPr lang="zh-CN" altLang="zh-CN" dirty="0">
                  <a:solidFill>
                    <a:srgbClr val="000000"/>
                  </a:solidFill>
                  <a:ea typeface="楷体" panose="02010609060101010101" pitchFamily="49" charset="-122"/>
                  <a:cs typeface="Times New Roman" panose="02020603050405020304" pitchFamily="18" charset="0"/>
                </a:rPr>
                <a:t>产品的样本量为</a:t>
              </a:r>
              <a:r>
                <a:rPr lang="en-US" altLang="zh-CN" dirty="0">
                  <a:solidFill>
                    <a:srgbClr val="000000"/>
                  </a:solidFill>
                  <a:ea typeface="宋体" panose="02010600030101010101" pitchFamily="2" charset="-122"/>
                </a:rPr>
                <a:t>80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90,</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1048168564"/>
                </p:ext>
              </p:extLst>
            </p:nvPr>
          </p:nvGraphicFramePr>
          <p:xfrm>
            <a:off x="397105" y="2936843"/>
            <a:ext cx="11671959" cy="804541"/>
          </p:xfrm>
          <a:graphic>
            <a:graphicData uri="http://schemas.openxmlformats.org/presentationml/2006/ole">
              <mc:AlternateContent xmlns:mc="http://schemas.openxmlformats.org/markup-compatibility/2006">
                <mc:Choice xmlns:v="urn:schemas-microsoft-com:vml" Requires="v">
                  <p:oleObj spid="_x0000_s11284" name="文档" r:id="rId5" imgW="3837724" imgH="264661" progId="Word.Document.12">
                    <p:embed/>
                  </p:oleObj>
                </mc:Choice>
                <mc:Fallback>
                  <p:oleObj name="文档" r:id="rId5" imgW="3837724" imgH="264661" progId="Word.Document.12">
                    <p:embed/>
                    <p:pic>
                      <p:nvPicPr>
                        <p:cNvPr id="0" name=""/>
                        <p:cNvPicPr/>
                        <p:nvPr/>
                      </p:nvPicPr>
                      <p:blipFill>
                        <a:blip r:embed="rId6"/>
                        <a:stretch>
                          <a:fillRect/>
                        </a:stretch>
                      </p:blipFill>
                      <p:spPr>
                        <a:xfrm>
                          <a:off x="397105" y="2936843"/>
                          <a:ext cx="11671959" cy="804541"/>
                        </a:xfrm>
                        <a:prstGeom prst="rect">
                          <a:avLst/>
                        </a:prstGeom>
                      </p:spPr>
                    </p:pic>
                  </p:oleObj>
                </mc:Fallback>
              </mc:AlternateContent>
            </a:graphicData>
          </a:graphic>
        </p:graphicFrame>
      </p:grpSp>
      <p:sp>
        <p:nvSpPr>
          <p:cNvPr id="9" name="矩形 8"/>
          <p:cNvSpPr>
            <a:spLocks noChangeAspect="1"/>
          </p:cNvSpPr>
          <p:nvPr/>
        </p:nvSpPr>
        <p:spPr>
          <a:xfrm>
            <a:off x="378735" y="3996983"/>
            <a:ext cx="1863011"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900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6745561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反思感悟H.eps" descr="id:2147490797;FounderCES"/>
          <p:cNvPicPr/>
          <p:nvPr/>
        </p:nvPicPr>
        <p:blipFill>
          <a:blip r:embed="rId3"/>
          <a:stretch>
            <a:fillRect/>
          </a:stretch>
        </p:blipFill>
        <p:spPr>
          <a:xfrm>
            <a:off x="361950" y="1295871"/>
            <a:ext cx="2259558" cy="531552"/>
          </a:xfrm>
          <a:prstGeom prst="rect">
            <a:avLst/>
          </a:prstGeom>
        </p:spPr>
      </p:pic>
      <p:graphicFrame>
        <p:nvGraphicFramePr>
          <p:cNvPr id="2" name="对象 1"/>
          <p:cNvGraphicFramePr>
            <a:graphicFrameLocks noChangeAspect="1"/>
          </p:cNvGraphicFramePr>
          <p:nvPr>
            <p:extLst>
              <p:ext uri="{D42A27DB-BD31-4B8C-83A1-F6EECF244321}">
                <p14:modId xmlns:p14="http://schemas.microsoft.com/office/powerpoint/2010/main" val="3147590021"/>
              </p:ext>
            </p:extLst>
          </p:nvPr>
        </p:nvGraphicFramePr>
        <p:xfrm>
          <a:off x="361950" y="1981271"/>
          <a:ext cx="10640962" cy="2597414"/>
        </p:xfrm>
        <a:graphic>
          <a:graphicData uri="http://schemas.openxmlformats.org/presentationml/2006/ole">
            <mc:AlternateContent xmlns:mc="http://schemas.openxmlformats.org/markup-compatibility/2006">
              <mc:Choice xmlns:v="urn:schemas-microsoft-com:vml" Requires="v">
                <p:oleObj spid="_x0000_s12308" name="文档" r:id="rId5" imgW="3837724" imgH="936772" progId="Word.Document.12">
                  <p:embed/>
                </p:oleObj>
              </mc:Choice>
              <mc:Fallback>
                <p:oleObj name="文档" r:id="rId5" imgW="3837724" imgH="936772" progId="Word.Document.12">
                  <p:embed/>
                  <p:pic>
                    <p:nvPicPr>
                      <p:cNvPr id="0" name=""/>
                      <p:cNvPicPr/>
                      <p:nvPr/>
                    </p:nvPicPr>
                    <p:blipFill>
                      <a:blip r:embed="rId6"/>
                      <a:stretch>
                        <a:fillRect/>
                      </a:stretch>
                    </p:blipFill>
                    <p:spPr>
                      <a:xfrm>
                        <a:off x="361950" y="1981271"/>
                        <a:ext cx="10640962" cy="2597414"/>
                      </a:xfrm>
                      <a:prstGeom prst="rect">
                        <a:avLst/>
                      </a:prstGeom>
                    </p:spPr>
                  </p:pic>
                </p:oleObj>
              </mc:Fallback>
            </mc:AlternateContent>
          </a:graphicData>
        </a:graphic>
      </p:graphicFrame>
    </p:spTree>
    <p:extLst>
      <p:ext uri="{BB962C8B-B14F-4D97-AF65-F5344CB8AC3E}">
        <p14:creationId xmlns:p14="http://schemas.microsoft.com/office/powerpoint/2010/main" val="293249904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51855"/>
            <a:ext cx="10807700" cy="358136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一个单位有职工</a:t>
            </a:r>
            <a:r>
              <a:rPr lang="en-US" altLang="zh-CN" dirty="0">
                <a:solidFill>
                  <a:srgbClr val="000000"/>
                </a:solidFill>
                <a:ea typeface="宋体" panose="02010600030101010101" pitchFamily="2" charset="-122"/>
                <a:cs typeface="Times New Roman" panose="02020603050405020304" pitchFamily="18" charset="0"/>
              </a:rPr>
              <a:t>500</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其中不到</a:t>
            </a:r>
            <a:r>
              <a:rPr lang="en-US" altLang="zh-CN" dirty="0">
                <a:solidFill>
                  <a:srgbClr val="000000"/>
                </a:solidFill>
                <a:ea typeface="宋体" panose="02010600030101010101" pitchFamily="2" charset="-122"/>
                <a:cs typeface="Times New Roman" panose="02020603050405020304" pitchFamily="18" charset="0"/>
              </a:rPr>
              <a:t>35</a:t>
            </a:r>
            <a:r>
              <a:rPr lang="zh-CN" altLang="zh-CN" dirty="0">
                <a:solidFill>
                  <a:srgbClr val="000000"/>
                </a:solidFill>
                <a:ea typeface="宋体" panose="02010600030101010101" pitchFamily="2" charset="-122"/>
                <a:cs typeface="Times New Roman" panose="02020603050405020304" pitchFamily="18" charset="0"/>
              </a:rPr>
              <a:t>岁的有</a:t>
            </a:r>
            <a:r>
              <a:rPr lang="en-US" altLang="zh-CN" dirty="0">
                <a:solidFill>
                  <a:srgbClr val="000000"/>
                </a:solidFill>
                <a:ea typeface="宋体" panose="02010600030101010101" pitchFamily="2" charset="-122"/>
                <a:cs typeface="Times New Roman" panose="02020603050405020304" pitchFamily="18" charset="0"/>
              </a:rPr>
              <a:t>125</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,35</a:t>
            </a:r>
            <a:r>
              <a:rPr lang="zh-CN" altLang="zh-CN" dirty="0">
                <a:solidFill>
                  <a:srgbClr val="000000"/>
                </a:solidFill>
                <a:ea typeface="宋体" panose="02010600030101010101" pitchFamily="2" charset="-122"/>
                <a:cs typeface="Times New Roman" panose="02020603050405020304" pitchFamily="18" charset="0"/>
              </a:rPr>
              <a:t>岁至</a:t>
            </a:r>
            <a:r>
              <a:rPr lang="en-US" altLang="zh-CN" dirty="0">
                <a:solidFill>
                  <a:srgbClr val="000000"/>
                </a:solidFill>
                <a:ea typeface="宋体" panose="02010600030101010101" pitchFamily="2" charset="-122"/>
                <a:cs typeface="Times New Roman" panose="02020603050405020304" pitchFamily="18" charset="0"/>
              </a:rPr>
              <a:t>49</a:t>
            </a:r>
            <a:r>
              <a:rPr lang="zh-CN" altLang="zh-CN" dirty="0">
                <a:solidFill>
                  <a:srgbClr val="000000"/>
                </a:solidFill>
                <a:ea typeface="宋体" panose="02010600030101010101" pitchFamily="2" charset="-122"/>
                <a:cs typeface="Times New Roman" panose="02020603050405020304" pitchFamily="18" charset="0"/>
              </a:rPr>
              <a:t>岁的有</a:t>
            </a:r>
            <a:r>
              <a:rPr lang="en-US" altLang="zh-CN" dirty="0">
                <a:solidFill>
                  <a:srgbClr val="000000"/>
                </a:solidFill>
                <a:ea typeface="宋体" panose="02010600030101010101" pitchFamily="2" charset="-122"/>
                <a:cs typeface="Times New Roman" panose="02020603050405020304" pitchFamily="18" charset="0"/>
              </a:rPr>
              <a:t>280</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宋体" panose="02010600030101010101" pitchFamily="2" charset="-122"/>
                <a:cs typeface="Times New Roman" panose="02020603050405020304" pitchFamily="18" charset="0"/>
              </a:rPr>
              <a:t>岁及以上的有</a:t>
            </a:r>
            <a:r>
              <a:rPr lang="en-US" altLang="zh-CN" dirty="0">
                <a:solidFill>
                  <a:srgbClr val="000000"/>
                </a:solidFill>
                <a:ea typeface="宋体" panose="02010600030101010101" pitchFamily="2" charset="-122"/>
                <a:cs typeface="Times New Roman" panose="02020603050405020304" pitchFamily="18" charset="0"/>
              </a:rPr>
              <a:t>95</a:t>
            </a:r>
            <a:r>
              <a:rPr lang="zh-CN" altLang="zh-CN" dirty="0">
                <a:solidFill>
                  <a:srgbClr val="000000"/>
                </a:solidFill>
                <a:ea typeface="宋体" panose="02010600030101010101" pitchFamily="2" charset="-122"/>
                <a:cs typeface="Times New Roman" panose="02020603050405020304" pitchFamily="18" charset="0"/>
              </a:rPr>
              <a:t>人</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为了解与身体状况有关的某项指标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要从所有职工中抽取</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宋体" panose="02010600030101010101" pitchFamily="2" charset="-122"/>
                <a:cs typeface="Times New Roman" panose="02020603050405020304" pitchFamily="18" charset="0"/>
              </a:rPr>
              <a:t>名作为样本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因职工年龄与这项指标有关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故采用分层随机抽样方法抽取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如果样本按各年龄段所占的比例进行分配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那么从各年龄段应该分别抽取多少人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8889246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240262659"/>
              </p:ext>
            </p:extLst>
          </p:nvPr>
        </p:nvGraphicFramePr>
        <p:xfrm>
          <a:off x="432445" y="1532989"/>
          <a:ext cx="11671959" cy="3219266"/>
        </p:xfrm>
        <a:graphic>
          <a:graphicData uri="http://schemas.openxmlformats.org/presentationml/2006/ole">
            <mc:AlternateContent xmlns:mc="http://schemas.openxmlformats.org/markup-compatibility/2006">
              <mc:Choice xmlns:v="urn:schemas-microsoft-com:vml" Requires="v">
                <p:oleObj spid="_x0000_s13332" name="文档" r:id="rId4" imgW="3837724" imgH="1059006" progId="Word.Document.12">
                  <p:embed/>
                </p:oleObj>
              </mc:Choice>
              <mc:Fallback>
                <p:oleObj name="文档" r:id="rId4" imgW="3837724" imgH="1059006" progId="Word.Document.12">
                  <p:embed/>
                  <p:pic>
                    <p:nvPicPr>
                      <p:cNvPr id="0" name=""/>
                      <p:cNvPicPr/>
                      <p:nvPr/>
                    </p:nvPicPr>
                    <p:blipFill>
                      <a:blip r:embed="rId5"/>
                      <a:stretch>
                        <a:fillRect/>
                      </a:stretch>
                    </p:blipFill>
                    <p:spPr>
                      <a:xfrm>
                        <a:off x="432445" y="1532989"/>
                        <a:ext cx="11671959" cy="3219266"/>
                      </a:xfrm>
                      <a:prstGeom prst="rect">
                        <a:avLst/>
                      </a:prstGeom>
                    </p:spPr>
                  </p:pic>
                </p:oleObj>
              </mc:Fallback>
            </mc:AlternateContent>
          </a:graphicData>
        </a:graphic>
      </p:graphicFrame>
    </p:spTree>
    <p:extLst>
      <p:ext uri="{BB962C8B-B14F-4D97-AF65-F5344CB8AC3E}">
        <p14:creationId xmlns:p14="http://schemas.microsoft.com/office/powerpoint/2010/main" val="368982081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1223863"/>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分层</a:t>
            </a:r>
            <a:r>
              <a:rPr lang="zh-CN" altLang="zh-CN" dirty="0"/>
              <a:t>随机抽样的样本均值与总体均值</a:t>
            </a:r>
          </a:p>
        </p:txBody>
      </p:sp>
      <p:sp>
        <p:nvSpPr>
          <p:cNvPr id="2" name="矩形 1"/>
          <p:cNvSpPr>
            <a:spLocks noChangeAspect="1"/>
          </p:cNvSpPr>
          <p:nvPr/>
        </p:nvSpPr>
        <p:spPr>
          <a:xfrm>
            <a:off x="361950" y="1943943"/>
            <a:ext cx="10807700" cy="300806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某小区有居民</a:t>
            </a:r>
            <a:r>
              <a:rPr lang="en-US" altLang="zh-CN" dirty="0">
                <a:solidFill>
                  <a:srgbClr val="000000"/>
                </a:solidFill>
                <a:ea typeface="宋体" panose="02010600030101010101" pitchFamily="2" charset="-122"/>
                <a:cs typeface="Times New Roman" panose="02020603050405020304" pitchFamily="18" charset="0"/>
              </a:rPr>
              <a:t>600</a:t>
            </a:r>
            <a:r>
              <a:rPr lang="zh-CN" altLang="zh-CN" dirty="0">
                <a:solidFill>
                  <a:srgbClr val="000000"/>
                </a:solidFill>
                <a:ea typeface="宋体" panose="02010600030101010101" pitchFamily="2" charset="-122"/>
                <a:cs typeface="Times New Roman" panose="02020603050405020304" pitchFamily="18" charset="0"/>
              </a:rPr>
              <a:t>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其中普通收入家庭</a:t>
            </a:r>
            <a:r>
              <a:rPr lang="en-US" altLang="zh-CN" dirty="0">
                <a:solidFill>
                  <a:srgbClr val="000000"/>
                </a:solidFill>
                <a:ea typeface="宋体" panose="02010600030101010101" pitchFamily="2" charset="-122"/>
                <a:cs typeface="Times New Roman" panose="02020603050405020304" pitchFamily="18" charset="0"/>
              </a:rPr>
              <a:t>450</a:t>
            </a:r>
            <a:r>
              <a:rPr lang="zh-CN" altLang="zh-CN" dirty="0">
                <a:solidFill>
                  <a:srgbClr val="000000"/>
                </a:solidFill>
                <a:ea typeface="宋体" panose="02010600030101010101" pitchFamily="2" charset="-122"/>
                <a:cs typeface="Times New Roman" panose="02020603050405020304" pitchFamily="18" charset="0"/>
              </a:rPr>
              <a:t>户、高收入家庭</a:t>
            </a:r>
            <a:r>
              <a:rPr lang="en-US" altLang="zh-CN" dirty="0">
                <a:solidFill>
                  <a:srgbClr val="000000"/>
                </a:solidFill>
                <a:ea typeface="宋体" panose="02010600030101010101" pitchFamily="2" charset="-122"/>
                <a:cs typeface="Times New Roman" panose="02020603050405020304" pitchFamily="18" charset="0"/>
              </a:rPr>
              <a:t>150</a:t>
            </a:r>
            <a:r>
              <a:rPr lang="zh-CN" altLang="zh-CN" dirty="0">
                <a:solidFill>
                  <a:srgbClr val="000000"/>
                </a:solidFill>
                <a:ea typeface="宋体" panose="02010600030101010101" pitchFamily="2" charset="-122"/>
                <a:cs typeface="Times New Roman" panose="02020603050405020304" pitchFamily="18" charset="0"/>
              </a:rPr>
              <a:t>户</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为调查该小区居民奶制品月消费支出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决定按普通收入家庭、高收入家庭进行分层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通过分层随机抽样的方法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得到普通收入家庭、高收入家庭奶制品的平均月消费支出分别为</a:t>
            </a:r>
            <a:r>
              <a:rPr lang="en-US" altLang="zh-CN" dirty="0">
                <a:solidFill>
                  <a:srgbClr val="000000"/>
                </a:solidFill>
                <a:ea typeface="宋体" panose="02010600030101010101" pitchFamily="2" charset="-122"/>
                <a:cs typeface="Times New Roman" panose="02020603050405020304" pitchFamily="18" charset="0"/>
              </a:rPr>
              <a:t>240</a:t>
            </a:r>
            <a:r>
              <a:rPr lang="zh-CN" altLang="zh-CN" dirty="0">
                <a:solidFill>
                  <a:srgbClr val="000000"/>
                </a:solidFill>
                <a:ea typeface="宋体" panose="02010600030101010101" pitchFamily="2" charset="-122"/>
                <a:cs typeface="Times New Roman" panose="02020603050405020304" pitchFamily="18" charset="0"/>
              </a:rPr>
              <a:t>元和</a:t>
            </a:r>
            <a:r>
              <a:rPr lang="en-US" altLang="zh-CN" dirty="0">
                <a:solidFill>
                  <a:srgbClr val="000000"/>
                </a:solidFill>
                <a:ea typeface="宋体" panose="02010600030101010101" pitchFamily="2" charset="-122"/>
                <a:cs typeface="Times New Roman" panose="02020603050405020304" pitchFamily="18" charset="0"/>
              </a:rPr>
              <a:t>900</a:t>
            </a:r>
            <a:r>
              <a:rPr lang="zh-CN" altLang="zh-CN" dirty="0">
                <a:solidFill>
                  <a:srgbClr val="000000"/>
                </a:solidFill>
                <a:ea typeface="宋体" panose="02010600030101010101" pitchFamily="2"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907498"/>
            <a:ext cx="10807700" cy="478086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如果在各层中按比例分配样本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总样本量为</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那么从普通收入家庭、高收入家庭中分别抽取多少户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在这种情况下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请估计该小区全体居民奶制品的平均月消费支出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如果从普通收入家庭、高收入家庭中抽取的样本量分别为</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宋体" panose="02010600030101010101" pitchFamily="2"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宋体" panose="02010600030101010101" pitchFamily="2" charset="-122"/>
                <a:cs typeface="Times New Roman" panose="02020603050405020304" pitchFamily="18" charset="0"/>
              </a:rPr>
              <a:t>那么在这种情况下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抽取的这</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户居民奶制品的平均月消费支出是多少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用这</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户居民奶制品的平均月消费支出估计该小区全体居民奶制品的平均月消费支出合理吗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如果不合理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那该怎样估计较合理</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423234254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83487"/>
            <a:ext cx="10807700" cy="64434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设从普通收入家庭、高收入家庭中分别抽取</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楷体" panose="02010609060101010101" pitchFamily="49" charset="-122"/>
                <a:cs typeface="Times New Roman" panose="02020603050405020304" pitchFamily="18" charset="0"/>
              </a:rPr>
              <a:t>户、</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楷体" panose="02010609060101010101" pitchFamily="49" charset="-122"/>
                <a:cs typeface="Times New Roman" panose="02020603050405020304" pitchFamily="18" charset="0"/>
              </a:rPr>
              <a:t>户</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022838391"/>
              </p:ext>
            </p:extLst>
          </p:nvPr>
        </p:nvGraphicFramePr>
        <p:xfrm>
          <a:off x="420381" y="1551031"/>
          <a:ext cx="11661775" cy="4065588"/>
        </p:xfrm>
        <a:graphic>
          <a:graphicData uri="http://schemas.openxmlformats.org/presentationml/2006/ole">
            <mc:AlternateContent xmlns:mc="http://schemas.openxmlformats.org/markup-compatibility/2006">
              <mc:Choice xmlns:v="urn:schemas-microsoft-com:vml" Requires="v">
                <p:oleObj spid="_x0000_s14364" name="文档" r:id="rId4" imgW="3826872" imgH="1338328" progId="Word.Document.12">
                  <p:embed/>
                </p:oleObj>
              </mc:Choice>
              <mc:Fallback>
                <p:oleObj name="文档" r:id="rId4" imgW="3826872" imgH="1338328" progId="Word.Document.12">
                  <p:embed/>
                  <p:pic>
                    <p:nvPicPr>
                      <p:cNvPr id="0" name=""/>
                      <p:cNvPicPr/>
                      <p:nvPr/>
                    </p:nvPicPr>
                    <p:blipFill>
                      <a:blip r:embed="rId5"/>
                      <a:stretch>
                        <a:fillRect/>
                      </a:stretch>
                    </p:blipFill>
                    <p:spPr>
                      <a:xfrm>
                        <a:off x="420381" y="1551031"/>
                        <a:ext cx="11661775" cy="4065588"/>
                      </a:xfrm>
                      <a:prstGeom prst="rect">
                        <a:avLst/>
                      </a:prstGeom>
                    </p:spPr>
                  </p:pic>
                </p:oleObj>
              </mc:Fallback>
            </mc:AlternateContent>
          </a:graphicData>
        </a:graphic>
      </p:graphicFrame>
    </p:spTree>
    <p:extLst>
      <p:ext uri="{BB962C8B-B14F-4D97-AF65-F5344CB8AC3E}">
        <p14:creationId xmlns:p14="http://schemas.microsoft.com/office/powerpoint/2010/main" val="49613616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061562717"/>
              </p:ext>
            </p:extLst>
          </p:nvPr>
        </p:nvGraphicFramePr>
        <p:xfrm>
          <a:off x="367020" y="595234"/>
          <a:ext cx="10815637" cy="5927725"/>
        </p:xfrm>
        <a:graphic>
          <a:graphicData uri="http://schemas.openxmlformats.org/presentationml/2006/ole">
            <mc:AlternateContent xmlns:mc="http://schemas.openxmlformats.org/markup-compatibility/2006">
              <mc:Choice xmlns:v="urn:schemas-microsoft-com:vml" Requires="v">
                <p:oleObj spid="_x0000_s15380" name="文档" r:id="rId4" imgW="3915324" imgH="2144775" progId="Word.Document.12">
                  <p:embed/>
                </p:oleObj>
              </mc:Choice>
              <mc:Fallback>
                <p:oleObj name="文档" r:id="rId4" imgW="3915324" imgH="2144775" progId="Word.Document.12">
                  <p:embed/>
                  <p:pic>
                    <p:nvPicPr>
                      <p:cNvPr id="0" name=""/>
                      <p:cNvPicPr/>
                      <p:nvPr/>
                    </p:nvPicPr>
                    <p:blipFill>
                      <a:blip r:embed="rId5"/>
                      <a:stretch>
                        <a:fillRect/>
                      </a:stretch>
                    </p:blipFill>
                    <p:spPr>
                      <a:xfrm>
                        <a:off x="367020" y="595234"/>
                        <a:ext cx="10815637" cy="5927725"/>
                      </a:xfrm>
                      <a:prstGeom prst="rect">
                        <a:avLst/>
                      </a:prstGeom>
                    </p:spPr>
                  </p:pic>
                </p:oleObj>
              </mc:Fallback>
            </mc:AlternateContent>
          </a:graphicData>
        </a:graphic>
      </p:graphicFrame>
    </p:spTree>
    <p:extLst>
      <p:ext uri="{BB962C8B-B14F-4D97-AF65-F5344CB8AC3E}">
        <p14:creationId xmlns:p14="http://schemas.microsoft.com/office/powerpoint/2010/main" val="208667546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920475"/>
            <a:ext cx="11671959" cy="4718724"/>
            <a:chOff x="361950" y="940139"/>
            <a:chExt cx="11671959" cy="4718724"/>
          </a:xfrm>
        </p:grpSpPr>
        <p:pic>
          <p:nvPicPr>
            <p:cNvPr id="9" name="反思感悟H.eps" descr="id:2147490797;FounderCES"/>
            <p:cNvPicPr/>
            <p:nvPr/>
          </p:nvPicPr>
          <p:blipFill>
            <a:blip r:embed="rId3"/>
            <a:stretch>
              <a:fillRect/>
            </a:stretch>
          </p:blipFill>
          <p:spPr>
            <a:xfrm>
              <a:off x="361950" y="940139"/>
              <a:ext cx="2259558" cy="531552"/>
            </a:xfrm>
            <a:prstGeom prst="rect">
              <a:avLst/>
            </a:prstGeom>
          </p:spPr>
        </p:pic>
        <p:graphicFrame>
          <p:nvGraphicFramePr>
            <p:cNvPr id="2" name="对象 1"/>
            <p:cNvGraphicFramePr>
              <a:graphicFrameLocks noChangeAspect="1"/>
            </p:cNvGraphicFramePr>
            <p:nvPr>
              <p:extLst>
                <p:ext uri="{D42A27DB-BD31-4B8C-83A1-F6EECF244321}">
                  <p14:modId xmlns:p14="http://schemas.microsoft.com/office/powerpoint/2010/main" val="3632450120"/>
                </p:ext>
              </p:extLst>
            </p:nvPr>
          </p:nvGraphicFramePr>
          <p:xfrm>
            <a:off x="361950" y="1592307"/>
            <a:ext cx="11671959" cy="4066556"/>
          </p:xfrm>
          <a:graphic>
            <a:graphicData uri="http://schemas.openxmlformats.org/presentationml/2006/ole">
              <mc:AlternateContent xmlns:mc="http://schemas.openxmlformats.org/markup-compatibility/2006">
                <mc:Choice xmlns:v="urn:schemas-microsoft-com:vml" Requires="v">
                  <p:oleObj spid="_x0000_s16404" name="文档" r:id="rId5" imgW="3826872" imgH="1333297" progId="Word.Document.12">
                    <p:embed/>
                  </p:oleObj>
                </mc:Choice>
                <mc:Fallback>
                  <p:oleObj name="文档" r:id="rId5" imgW="3826872" imgH="1333297" progId="Word.Document.12">
                    <p:embed/>
                    <p:pic>
                      <p:nvPicPr>
                        <p:cNvPr id="0" name=""/>
                        <p:cNvPicPr/>
                        <p:nvPr/>
                      </p:nvPicPr>
                      <p:blipFill>
                        <a:blip r:embed="rId6"/>
                        <a:stretch>
                          <a:fillRect/>
                        </a:stretch>
                      </p:blipFill>
                      <p:spPr>
                        <a:xfrm>
                          <a:off x="361950" y="1592307"/>
                          <a:ext cx="11671959" cy="4066556"/>
                        </a:xfrm>
                        <a:prstGeom prst="rect">
                          <a:avLst/>
                        </a:prstGeom>
                      </p:spPr>
                    </p:pic>
                  </p:oleObj>
                </mc:Fallback>
              </mc:AlternateContent>
            </a:graphicData>
          </a:graphic>
        </p:graphicFrame>
      </p:grpSp>
    </p:spTree>
    <p:extLst>
      <p:ext uri="{BB962C8B-B14F-4D97-AF65-F5344CB8AC3E}">
        <p14:creationId xmlns:p14="http://schemas.microsoft.com/office/powerpoint/2010/main" val="87439148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655911"/>
            <a:ext cx="10807700" cy="300806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某地区有高中生</a:t>
            </a:r>
            <a:r>
              <a:rPr lang="en-US" altLang="zh-CN" dirty="0">
                <a:solidFill>
                  <a:srgbClr val="000000"/>
                </a:solidFill>
                <a:ea typeface="宋体" panose="02010600030101010101" pitchFamily="2" charset="-122"/>
                <a:cs typeface="Times New Roman" panose="02020603050405020304" pitchFamily="18" charset="0"/>
              </a:rPr>
              <a:t>7 200</a:t>
            </a:r>
            <a:r>
              <a:rPr lang="zh-CN" altLang="zh-CN" dirty="0">
                <a:solidFill>
                  <a:srgbClr val="000000"/>
                </a:solidFill>
                <a:ea typeface="宋体" panose="02010600030101010101" pitchFamily="2" charset="-122"/>
                <a:cs typeface="Times New Roman" panose="02020603050405020304" pitchFamily="18" charset="0"/>
              </a:rPr>
              <a:t>人、初中生</a:t>
            </a:r>
            <a:r>
              <a:rPr lang="en-US" altLang="zh-CN" dirty="0">
                <a:solidFill>
                  <a:srgbClr val="000000"/>
                </a:solidFill>
                <a:ea typeface="宋体" panose="02010600030101010101" pitchFamily="2" charset="-122"/>
                <a:cs typeface="Times New Roman" panose="02020603050405020304" pitchFamily="18" charset="0"/>
              </a:rPr>
              <a:t>11 800</a:t>
            </a:r>
            <a:r>
              <a:rPr lang="zh-CN" altLang="zh-CN" dirty="0">
                <a:solidFill>
                  <a:srgbClr val="000000"/>
                </a:solidFill>
                <a:ea typeface="宋体" panose="02010600030101010101" pitchFamily="2" charset="-122"/>
                <a:cs typeface="Times New Roman" panose="02020603050405020304" pitchFamily="18" charset="0"/>
              </a:rPr>
              <a:t>人、小学生</a:t>
            </a:r>
            <a:r>
              <a:rPr lang="en-US" altLang="zh-CN" dirty="0">
                <a:solidFill>
                  <a:srgbClr val="000000"/>
                </a:solidFill>
                <a:ea typeface="宋体" panose="02010600030101010101" pitchFamily="2" charset="-122"/>
                <a:cs typeface="Times New Roman" panose="02020603050405020304" pitchFamily="18" charset="0"/>
              </a:rPr>
              <a:t>12 000</a:t>
            </a:r>
            <a:r>
              <a:rPr lang="zh-CN" altLang="zh-CN" dirty="0">
                <a:solidFill>
                  <a:srgbClr val="000000"/>
                </a:solidFill>
                <a:ea typeface="宋体" panose="02010600030101010101" pitchFamily="2" charset="-122"/>
                <a:cs typeface="Times New Roman" panose="02020603050405020304" pitchFamily="18" charset="0"/>
              </a:rPr>
              <a:t>人</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当地教育部门为了解本地区中小学生的近视率情况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决定按高中生、初中生、小学生进行分层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通过分层随机抽样的方法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得到高中生、初中生、小学生的近视率分别为</a:t>
            </a:r>
            <a:r>
              <a:rPr lang="en-US" altLang="zh-CN" dirty="0">
                <a:solidFill>
                  <a:srgbClr val="000000"/>
                </a:solidFill>
                <a:ea typeface="宋体" panose="02010600030101010101" pitchFamily="2" charset="-122"/>
                <a:cs typeface="Times New Roman" panose="02020603050405020304" pitchFamily="18" charset="0"/>
              </a:rPr>
              <a:t>80%,70%</a:t>
            </a:r>
            <a:r>
              <a:rPr lang="zh-CN" altLang="zh-CN" dirty="0">
                <a:solidFill>
                  <a:srgbClr val="000000"/>
                </a:solidFill>
                <a:ea typeface="宋体" panose="02010600030101010101" pitchFamily="2"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36</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87871284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25264"/>
            <a:ext cx="10807700" cy="359899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如果在各层中按比例分配样本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总样本量为</a:t>
            </a:r>
            <a:r>
              <a:rPr lang="en-US" altLang="zh-CN" dirty="0">
                <a:solidFill>
                  <a:srgbClr val="000000"/>
                </a:solidFill>
                <a:ea typeface="宋体" panose="02010600030101010101" pitchFamily="2" charset="-122"/>
                <a:cs typeface="Times New Roman" panose="02020603050405020304" pitchFamily="18" charset="0"/>
              </a:rPr>
              <a:t>310,</a:t>
            </a:r>
            <a:r>
              <a:rPr lang="zh-CN" altLang="zh-CN" dirty="0">
                <a:solidFill>
                  <a:srgbClr val="000000"/>
                </a:solidFill>
                <a:ea typeface="宋体" panose="02010600030101010101" pitchFamily="2" charset="-122"/>
                <a:cs typeface="Times New Roman" panose="02020603050405020304" pitchFamily="18" charset="0"/>
              </a:rPr>
              <a:t>那么应从高中生、初中生、小学生中分别抽取多少人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在这种情况下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请估计该地区全体中小学生的近视率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精确到</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如果从高中生、初中生、小学生中抽取的样本量分别为</a:t>
            </a:r>
            <a:r>
              <a:rPr lang="en-US" altLang="zh-CN" dirty="0">
                <a:solidFill>
                  <a:srgbClr val="000000"/>
                </a:solidFill>
                <a:ea typeface="宋体" panose="02010600030101010101" pitchFamily="2" charset="-122"/>
                <a:cs typeface="Times New Roman" panose="02020603050405020304" pitchFamily="18" charset="0"/>
              </a:rPr>
              <a:t>60,100</a:t>
            </a:r>
            <a:r>
              <a:rPr lang="zh-CN" altLang="zh-CN" dirty="0">
                <a:solidFill>
                  <a:srgbClr val="000000"/>
                </a:solidFill>
                <a:ea typeface="宋体" panose="02010600030101010101" pitchFamily="2"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150,</a:t>
            </a:r>
            <a:r>
              <a:rPr lang="zh-CN" altLang="zh-CN" dirty="0">
                <a:solidFill>
                  <a:srgbClr val="000000"/>
                </a:solidFill>
                <a:ea typeface="宋体" panose="02010600030101010101" pitchFamily="2" charset="-122"/>
                <a:cs typeface="Times New Roman" panose="02020603050405020304" pitchFamily="18" charset="0"/>
              </a:rPr>
              <a:t>那么在这种情况下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抽取的样本的近视率是多少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该地区全体中小学生的近视率约为多少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精确到</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40463393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56174736"/>
              </p:ext>
            </p:extLst>
          </p:nvPr>
        </p:nvGraphicFramePr>
        <p:xfrm>
          <a:off x="538163" y="774700"/>
          <a:ext cx="11661775" cy="3227388"/>
        </p:xfrm>
        <a:graphic>
          <a:graphicData uri="http://schemas.openxmlformats.org/presentationml/2006/ole">
            <mc:AlternateContent xmlns:mc="http://schemas.openxmlformats.org/markup-compatibility/2006">
              <mc:Choice xmlns:v="urn:schemas-microsoft-com:vml" Requires="v">
                <p:oleObj spid="_x0000_s17428" name="文档" r:id="rId4" imgW="3826872" imgH="1063403" progId="Word.Document.12">
                  <p:embed/>
                </p:oleObj>
              </mc:Choice>
              <mc:Fallback>
                <p:oleObj name="文档" r:id="rId4" imgW="3826872" imgH="1063403" progId="Word.Document.12">
                  <p:embed/>
                  <p:pic>
                    <p:nvPicPr>
                      <p:cNvPr id="0" name=""/>
                      <p:cNvPicPr/>
                      <p:nvPr/>
                    </p:nvPicPr>
                    <p:blipFill>
                      <a:blip r:embed="rId5"/>
                      <a:stretch>
                        <a:fillRect/>
                      </a:stretch>
                    </p:blipFill>
                    <p:spPr>
                      <a:xfrm>
                        <a:off x="538163" y="774700"/>
                        <a:ext cx="11661775" cy="3227388"/>
                      </a:xfrm>
                      <a:prstGeom prst="rect">
                        <a:avLst/>
                      </a:prstGeom>
                    </p:spPr>
                  </p:pic>
                </p:oleObj>
              </mc:Fallback>
            </mc:AlternateContent>
          </a:graphicData>
        </a:graphic>
      </p:graphicFrame>
      <p:sp>
        <p:nvSpPr>
          <p:cNvPr id="5" name="矩形 4"/>
          <p:cNvSpPr>
            <a:spLocks noChangeAspect="1"/>
          </p:cNvSpPr>
          <p:nvPr/>
        </p:nvSpPr>
        <p:spPr>
          <a:xfrm>
            <a:off x="361950" y="4085979"/>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在比例分配的分层随机抽样中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我们可以直接用样本平均数估计总体平均数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所以估计该地区全体中小学生的近视率为</a:t>
            </a:r>
            <a:r>
              <a:rPr lang="en-US" altLang="zh-CN" dirty="0">
                <a:solidFill>
                  <a:srgbClr val="000000"/>
                </a:solidFill>
                <a:ea typeface="宋体" panose="02010600030101010101" pitchFamily="2" charset="-122"/>
                <a:cs typeface="Times New Roman" panose="02020603050405020304" pitchFamily="18" charset="0"/>
              </a:rPr>
              <a:t>59%</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996636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63245666"/>
              </p:ext>
            </p:extLst>
          </p:nvPr>
        </p:nvGraphicFramePr>
        <p:xfrm>
          <a:off x="432445" y="1367879"/>
          <a:ext cx="10640962" cy="3461217"/>
        </p:xfrm>
        <a:graphic>
          <a:graphicData uri="http://schemas.openxmlformats.org/presentationml/2006/ole">
            <mc:AlternateContent xmlns:mc="http://schemas.openxmlformats.org/markup-compatibility/2006">
              <mc:Choice xmlns:v="urn:schemas-microsoft-com:vml" Requires="v">
                <p:oleObj spid="_x0000_s18452" name="文档" r:id="rId4" imgW="3837724" imgH="1248308" progId="Word.Document.12">
                  <p:embed/>
                </p:oleObj>
              </mc:Choice>
              <mc:Fallback>
                <p:oleObj name="文档" r:id="rId4" imgW="3837724" imgH="1248308" progId="Word.Document.12">
                  <p:embed/>
                  <p:pic>
                    <p:nvPicPr>
                      <p:cNvPr id="0" name=""/>
                      <p:cNvPicPr/>
                      <p:nvPr/>
                    </p:nvPicPr>
                    <p:blipFill>
                      <a:blip r:embed="rId5"/>
                      <a:stretch>
                        <a:fillRect/>
                      </a:stretch>
                    </p:blipFill>
                    <p:spPr>
                      <a:xfrm>
                        <a:off x="432445" y="1367879"/>
                        <a:ext cx="10640962" cy="3461217"/>
                      </a:xfrm>
                      <a:prstGeom prst="rect">
                        <a:avLst/>
                      </a:prstGeom>
                    </p:spPr>
                  </p:pic>
                </p:oleObj>
              </mc:Fallback>
            </mc:AlternateContent>
          </a:graphicData>
        </a:graphic>
      </p:graphicFrame>
    </p:spTree>
    <p:extLst>
      <p:ext uri="{BB962C8B-B14F-4D97-AF65-F5344CB8AC3E}">
        <p14:creationId xmlns:p14="http://schemas.microsoft.com/office/powerpoint/2010/main" val="365457207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700143"/>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四</a:t>
            </a:r>
            <a:r>
              <a:rPr lang="en-US" altLang="zh-CN" dirty="0" smtClean="0"/>
              <a:t>  </a:t>
            </a:r>
            <a:r>
              <a:rPr lang="zh-CN" altLang="zh-CN" dirty="0" smtClean="0"/>
              <a:t>获取</a:t>
            </a:r>
            <a:r>
              <a:rPr lang="zh-CN" altLang="zh-CN" dirty="0"/>
              <a:t>数据的途径</a:t>
            </a:r>
          </a:p>
        </p:txBody>
      </p:sp>
      <p:sp>
        <p:nvSpPr>
          <p:cNvPr id="4" name="矩形 3"/>
          <p:cNvSpPr>
            <a:spLocks noChangeAspect="1"/>
          </p:cNvSpPr>
          <p:nvPr/>
        </p:nvSpPr>
        <p:spPr>
          <a:xfrm>
            <a:off x="361950" y="1151855"/>
            <a:ext cx="10807700" cy="537179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为调查某大型小区平均每户居民的月用水量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下面是三名同学设计的方案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学生甲</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我把这张《用水量调查表》放在互联网上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只要登录小区网站的人就可以看到这张表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他们填的表可以很快地反馈到我的电脑中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这样就可以很快估算出小区平均每户居民的月用水量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学生乙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我给我们居民小区的每一个住户发一张《用水量调查表》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只要一两天就可以统计出小区平均每户居民的月用水量</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78416721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871935"/>
            <a:ext cx="10807700" cy="241713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学生丙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我先从小区的户主联系本上随机地选出一定数量的手机号码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再逐个给这些户主打电话</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问一下他们的月用水量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然后就可以估算出小区平均每户居民的月用水量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结合所学知识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分析这三名同学的设计方案</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57532211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19807"/>
            <a:ext cx="10807700" cy="537179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i="1" dirty="0">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学生甲的方法得到的样本只能够反映登录小区网站居民的用水情况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它是一种方便样本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所得到的样本代表性差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不能准确地获得平均每户居民的月用水量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学生乙的方法实际上是普查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花费的人力、物力更多一些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但是如果统计过程不出错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可以准确地得到平均每户居民的月用水量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学生丙的方法是随机抽样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如果该小区的每户户主的手机都畅通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建议用随机抽样方法获得数据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即用学生丙的方法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既节省人力、物力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又可以得到比较精确的结果</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4826536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反思感悟H.eps" descr="id:2147490797;FounderCES"/>
          <p:cNvPicPr/>
          <p:nvPr/>
        </p:nvPicPr>
        <p:blipFill>
          <a:blip r:embed="rId2"/>
          <a:stretch>
            <a:fillRect/>
          </a:stretch>
        </p:blipFill>
        <p:spPr>
          <a:xfrm>
            <a:off x="361950" y="1905308"/>
            <a:ext cx="2259558" cy="531552"/>
          </a:xfrm>
          <a:prstGeom prst="rect">
            <a:avLst/>
          </a:prstGeom>
        </p:spPr>
      </p:pic>
      <p:sp>
        <p:nvSpPr>
          <p:cNvPr id="2" name="矩形 1"/>
          <p:cNvSpPr>
            <a:spLocks noChangeAspect="1"/>
          </p:cNvSpPr>
          <p:nvPr/>
        </p:nvSpPr>
        <p:spPr>
          <a:xfrm>
            <a:off x="361950" y="2436860"/>
            <a:ext cx="10807700" cy="123527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在实践中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获取数据的途径多种多样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可通过综合比较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选择一种省时、省力的有效方法</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80805218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51855"/>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某校高三年级有男生</a:t>
            </a:r>
            <a:r>
              <a:rPr lang="en-US" altLang="zh-CN" dirty="0">
                <a:solidFill>
                  <a:srgbClr val="000000"/>
                </a:solidFill>
                <a:ea typeface="宋体" panose="02010600030101010101" pitchFamily="2" charset="-122"/>
                <a:cs typeface="Times New Roman" panose="02020603050405020304" pitchFamily="18" charset="0"/>
              </a:rPr>
              <a:t>500</a:t>
            </a:r>
            <a:r>
              <a:rPr lang="zh-CN" altLang="zh-CN" dirty="0" smtClean="0">
                <a:solidFill>
                  <a:srgbClr val="000000"/>
                </a:solidFill>
                <a:ea typeface="宋体" panose="02010600030101010101" pitchFamily="2" charset="-122"/>
                <a:cs typeface="Times New Roman" panose="02020603050405020304" pitchFamily="18" charset="0"/>
              </a:rPr>
              <a:t>人</a:t>
            </a:r>
            <a:r>
              <a:rPr lang="zh-CN" altLang="en-US"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女生</a:t>
            </a:r>
            <a:r>
              <a:rPr lang="en-US" altLang="zh-CN" dirty="0">
                <a:solidFill>
                  <a:srgbClr val="000000"/>
                </a:solidFill>
                <a:ea typeface="宋体" panose="02010600030101010101" pitchFamily="2" charset="-122"/>
                <a:cs typeface="Times New Roman" panose="02020603050405020304" pitchFamily="18" charset="0"/>
              </a:rPr>
              <a:t>400</a:t>
            </a:r>
            <a:r>
              <a:rPr lang="zh-CN" altLang="zh-CN" dirty="0">
                <a:solidFill>
                  <a:srgbClr val="000000"/>
                </a:solidFill>
                <a:ea typeface="宋体" panose="02010600030101010101" pitchFamily="2" charset="-122"/>
                <a:cs typeface="Times New Roman" panose="02020603050405020304" pitchFamily="18" charset="0"/>
              </a:rPr>
              <a:t>人</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为了解该年级学生的健康情况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从男生中任意抽取</a:t>
            </a:r>
            <a:r>
              <a:rPr lang="en-US" altLang="zh-CN" dirty="0">
                <a:solidFill>
                  <a:srgbClr val="000000"/>
                </a:solidFill>
                <a:ea typeface="宋体" panose="02010600030101010101" pitchFamily="2" charset="-122"/>
                <a:cs typeface="Times New Roman" panose="02020603050405020304" pitchFamily="18" charset="0"/>
              </a:rPr>
              <a:t>25</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从女生中任意抽取</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人进行调查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这种抽样方法是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简单随机抽样法</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抽签法</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随机数法</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分层随机抽样法</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07839"/>
            <a:ext cx="10807700" cy="418993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某商场有四类食品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其中粮食类、植物油类、肉食品类、果蔬类分别有</a:t>
            </a:r>
            <a:r>
              <a:rPr lang="en-US" altLang="zh-CN" dirty="0">
                <a:solidFill>
                  <a:srgbClr val="000000"/>
                </a:solidFill>
                <a:ea typeface="宋体" panose="02010600030101010101" pitchFamily="2" charset="-122"/>
                <a:cs typeface="Times New Roman" panose="02020603050405020304" pitchFamily="18" charset="0"/>
              </a:rPr>
              <a:t>40</a:t>
            </a:r>
            <a:r>
              <a:rPr lang="zh-CN" altLang="zh-CN" dirty="0">
                <a:solidFill>
                  <a:srgbClr val="000000"/>
                </a:solidFill>
                <a:ea typeface="宋体" panose="02010600030101010101" pitchFamily="2" charset="-122"/>
                <a:cs typeface="Times New Roman" panose="02020603050405020304" pitchFamily="18" charset="0"/>
              </a:rPr>
              <a:t>种、</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种、</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宋体" panose="02010600030101010101" pitchFamily="2" charset="-122"/>
                <a:cs typeface="Times New Roman" panose="02020603050405020304" pitchFamily="18" charset="0"/>
              </a:rPr>
              <a:t>种、</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现从中抽取一个容量为</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的样本进行食品安全检测</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若采用分层随机抽样的方法抽取样本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则抽取的植物油类与果蔬类食品种数之和是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A.4	B.5</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C.6	D.7</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43033616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45663"/>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某工厂甲、乙、丙三个车间生产了同一种产品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数量分别为</a:t>
            </a:r>
            <a:r>
              <a:rPr lang="en-US" altLang="zh-CN" dirty="0">
                <a:solidFill>
                  <a:srgbClr val="000000"/>
                </a:solidFill>
                <a:ea typeface="宋体" panose="02010600030101010101" pitchFamily="2" charset="-122"/>
                <a:cs typeface="Times New Roman" panose="02020603050405020304" pitchFamily="18" charset="0"/>
              </a:rPr>
              <a:t>120</a:t>
            </a:r>
            <a:r>
              <a:rPr lang="zh-CN" altLang="zh-CN" dirty="0">
                <a:solidFill>
                  <a:srgbClr val="000000"/>
                </a:solidFill>
                <a:ea typeface="宋体" panose="02010600030101010101" pitchFamily="2" charset="-122"/>
                <a:cs typeface="Times New Roman" panose="02020603050405020304" pitchFamily="18" charset="0"/>
              </a:rPr>
              <a:t>件、</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件、</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件</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为了解它们的产品质量是否存在显著差异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用比例分配的分层随机抽样方法抽取了一个容量为</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的样本</a:t>
            </a:r>
            <a:r>
              <a:rPr lang="zh-CN" altLang="zh-CN" dirty="0" smtClean="0">
                <a:solidFill>
                  <a:srgbClr val="000000"/>
                </a:solidFill>
                <a:ea typeface="宋体" panose="02010600030101010101" pitchFamily="2" charset="-122"/>
                <a:cs typeface="Times New Roman" panose="02020603050405020304" pitchFamily="18" charset="0"/>
              </a:rPr>
              <a:t>进行</a:t>
            </a:r>
            <a:r>
              <a:rPr lang="zh-CN" altLang="en-US" dirty="0" smtClean="0">
                <a:solidFill>
                  <a:srgbClr val="000000"/>
                </a:solidFill>
                <a:ea typeface="宋体" panose="02010600030101010101" pitchFamily="2" charset="-122"/>
                <a:cs typeface="Times New Roman" panose="02020603050405020304" pitchFamily="18" charset="0"/>
              </a:rPr>
              <a:t>检测</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其中从丙车间的产品中抽取了</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等于</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A.9	</a:t>
            </a:r>
            <a:r>
              <a:rPr lang="en-US" altLang="zh-CN" dirty="0" smtClean="0">
                <a:solidFill>
                  <a:srgbClr val="000000"/>
                </a:solidFill>
                <a:ea typeface="宋体" panose="02010600030101010101" pitchFamily="2" charset="-122"/>
                <a:cs typeface="Times New Roman" panose="02020603050405020304" pitchFamily="18" charset="0"/>
              </a:rPr>
              <a:t>	B.10</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C.12</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D.13</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92305384"/>
              </p:ext>
            </p:extLst>
          </p:nvPr>
        </p:nvGraphicFramePr>
        <p:xfrm>
          <a:off x="400050" y="3951288"/>
          <a:ext cx="11644313" cy="800100"/>
        </p:xfrm>
        <a:graphic>
          <a:graphicData uri="http://schemas.openxmlformats.org/presentationml/2006/ole">
            <mc:AlternateContent xmlns:mc="http://schemas.openxmlformats.org/markup-compatibility/2006">
              <mc:Choice xmlns:v="urn:schemas-microsoft-com:vml" Requires="v">
                <p:oleObj spid="_x0000_s22546" name="文档" r:id="rId4" imgW="3837724" imgH="264661" progId="Word.Document.12">
                  <p:embed/>
                </p:oleObj>
              </mc:Choice>
              <mc:Fallback>
                <p:oleObj name="文档" r:id="rId4" imgW="3837724" imgH="264661" progId="Word.Document.12">
                  <p:embed/>
                  <p:pic>
                    <p:nvPicPr>
                      <p:cNvPr id="0" name=""/>
                      <p:cNvPicPr/>
                      <p:nvPr/>
                    </p:nvPicPr>
                    <p:blipFill>
                      <a:blip r:embed="rId5"/>
                      <a:stretch>
                        <a:fillRect/>
                      </a:stretch>
                    </p:blipFill>
                    <p:spPr>
                      <a:xfrm>
                        <a:off x="400050" y="3951288"/>
                        <a:ext cx="11644313" cy="800100"/>
                      </a:xfrm>
                      <a:prstGeom prst="rect">
                        <a:avLst/>
                      </a:prstGeom>
                    </p:spPr>
                  </p:pic>
                </p:oleObj>
              </mc:Fallback>
            </mc:AlternateContent>
          </a:graphicData>
        </a:graphic>
      </p:graphicFrame>
      <p:sp>
        <p:nvSpPr>
          <p:cNvPr id="5" name="矩形 4"/>
          <p:cNvSpPr>
            <a:spLocks noChangeAspect="1"/>
          </p:cNvSpPr>
          <p:nvPr/>
        </p:nvSpPr>
        <p:spPr>
          <a:xfrm>
            <a:off x="361950" y="4798903"/>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6362815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03295"/>
            <a:ext cx="10807700" cy="358136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某大学为了解在校本科生对参加某项社会实践活动的意向</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拟按年级进行分层</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采用比例分配的分层随机抽样的方法</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从该校四个年级的本科生中抽取一个容量为</a:t>
            </a:r>
            <a:r>
              <a:rPr lang="en-US" altLang="zh-CN" dirty="0">
                <a:solidFill>
                  <a:srgbClr val="000000"/>
                </a:solidFill>
                <a:latin typeface="+mn-lt"/>
                <a:ea typeface="宋体" panose="02010600030101010101" pitchFamily="2" charset="-122"/>
                <a:cs typeface="Times New Roman" panose="02020603050405020304" pitchFamily="18" charset="0"/>
              </a:rPr>
              <a:t>300</a:t>
            </a:r>
            <a:r>
              <a:rPr lang="zh-CN" altLang="zh-CN" dirty="0">
                <a:solidFill>
                  <a:srgbClr val="000000"/>
                </a:solidFill>
                <a:latin typeface="+mn-lt"/>
                <a:ea typeface="宋体" panose="02010600030101010101" pitchFamily="2" charset="-122"/>
                <a:cs typeface="Times New Roman" panose="02020603050405020304" pitchFamily="18" charset="0"/>
              </a:rPr>
              <a:t>的样本进行调查</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已知该校一年级、二年级、三年级、四年级的本科生人数之比为</a:t>
            </a:r>
            <a:r>
              <a:rPr lang="en-US" altLang="zh-CN" dirty="0">
                <a:solidFill>
                  <a:srgbClr val="000000"/>
                </a:solidFill>
                <a:latin typeface="+mn-lt"/>
                <a:ea typeface="宋体" panose="02010600030101010101" pitchFamily="2" charset="-122"/>
                <a:cs typeface="Times New Roman" panose="02020603050405020304" pitchFamily="18" charset="0"/>
              </a:rPr>
              <a:t>4</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5</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5</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6,</a:t>
            </a:r>
            <a:r>
              <a:rPr lang="zh-CN" altLang="zh-CN" dirty="0">
                <a:solidFill>
                  <a:srgbClr val="000000"/>
                </a:solidFill>
                <a:latin typeface="+mn-lt"/>
                <a:ea typeface="宋体" panose="02010600030101010101" pitchFamily="2" charset="-122"/>
                <a:cs typeface="Times New Roman" panose="02020603050405020304" pitchFamily="18" charset="0"/>
              </a:rPr>
              <a:t>则应从一年级本科生中抽取</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zh-CN" altLang="zh-CN" dirty="0">
                <a:solidFill>
                  <a:srgbClr val="000000"/>
                </a:solidFill>
                <a:latin typeface="+mn-lt"/>
                <a:ea typeface="宋体" panose="02010600030101010101" pitchFamily="2" charset="-122"/>
                <a:cs typeface="Times New Roman" panose="02020603050405020304" pitchFamily="18" charset="0"/>
              </a:rPr>
              <a:t>名学生</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方正书宋_GBK" panose="03000509000000000000" pitchFamily="65" charset="-122"/>
                <a:cs typeface="Times New Roman" panose="02020603050405020304" pitchFamily="18" charset="0"/>
              </a:rPr>
              <a:t> </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85685329"/>
              </p:ext>
            </p:extLst>
          </p:nvPr>
        </p:nvGraphicFramePr>
        <p:xfrm>
          <a:off x="430213" y="4464050"/>
          <a:ext cx="11618912" cy="806450"/>
        </p:xfrm>
        <a:graphic>
          <a:graphicData uri="http://schemas.openxmlformats.org/presentationml/2006/ole">
            <mc:AlternateContent xmlns:mc="http://schemas.openxmlformats.org/markup-compatibility/2006">
              <mc:Choice xmlns:v="urn:schemas-microsoft-com:vml" Requires="v">
                <p:oleObj spid="_x0000_s24594" name="文档" r:id="rId4" imgW="3826872" imgH="266300" progId="Word.Document.12">
                  <p:embed/>
                </p:oleObj>
              </mc:Choice>
              <mc:Fallback>
                <p:oleObj name="文档" r:id="rId4" imgW="3826872" imgH="266300" progId="Word.Document.12">
                  <p:embed/>
                  <p:pic>
                    <p:nvPicPr>
                      <p:cNvPr id="0" name=""/>
                      <p:cNvPicPr/>
                      <p:nvPr/>
                    </p:nvPicPr>
                    <p:blipFill>
                      <a:blip r:embed="rId5"/>
                      <a:stretch>
                        <a:fillRect/>
                      </a:stretch>
                    </p:blipFill>
                    <p:spPr>
                      <a:xfrm>
                        <a:off x="430213" y="4464050"/>
                        <a:ext cx="11618912" cy="806450"/>
                      </a:xfrm>
                      <a:prstGeom prst="rect">
                        <a:avLst/>
                      </a:prstGeom>
                    </p:spPr>
                  </p:pic>
                </p:oleObj>
              </mc:Fallback>
            </mc:AlternateContent>
          </a:graphicData>
        </a:graphic>
      </p:graphicFrame>
      <p:sp>
        <p:nvSpPr>
          <p:cNvPr id="5" name="矩形 4"/>
          <p:cNvSpPr>
            <a:spLocks noChangeAspect="1"/>
          </p:cNvSpPr>
          <p:nvPr/>
        </p:nvSpPr>
        <p:spPr>
          <a:xfrm>
            <a:off x="361950" y="5283295"/>
            <a:ext cx="1657826"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60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2655720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35831"/>
            <a:ext cx="10807700" cy="241713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某校高二年级化生史组合只有</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个班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且每班</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在一次数学测试中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从两个班各抽取了</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名学生的数学成绩进行分析</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统计得在该次测试中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两班中各抽取的</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名学生的平均成绩分别为</a:t>
            </a:r>
            <a:r>
              <a:rPr lang="en-US" altLang="zh-CN" dirty="0">
                <a:solidFill>
                  <a:srgbClr val="000000"/>
                </a:solidFill>
                <a:ea typeface="宋体" panose="02010600030101010101" pitchFamily="2" charset="-122"/>
                <a:cs typeface="Times New Roman" panose="02020603050405020304" pitchFamily="18" charset="0"/>
              </a:rPr>
              <a:t>110</a:t>
            </a:r>
            <a:r>
              <a:rPr lang="zh-CN" altLang="zh-CN" dirty="0">
                <a:solidFill>
                  <a:srgbClr val="000000"/>
                </a:solidFill>
                <a:ea typeface="宋体" panose="02010600030101010101" pitchFamily="2" charset="-122"/>
                <a:cs typeface="Times New Roman" panose="02020603050405020304" pitchFamily="18" charset="0"/>
              </a:rPr>
              <a:t>分和</a:t>
            </a:r>
            <a:r>
              <a:rPr lang="en-US" altLang="zh-CN" dirty="0">
                <a:solidFill>
                  <a:srgbClr val="000000"/>
                </a:solidFill>
                <a:ea typeface="宋体" panose="02010600030101010101" pitchFamily="2" charset="-122"/>
                <a:cs typeface="Times New Roman" panose="02020603050405020304" pitchFamily="18" charset="0"/>
              </a:rPr>
              <a:t>106</a:t>
            </a:r>
            <a:r>
              <a:rPr lang="zh-CN" altLang="zh-CN" dirty="0">
                <a:solidFill>
                  <a:srgbClr val="000000"/>
                </a:solidFill>
                <a:ea typeface="宋体" panose="02010600030101010101" pitchFamily="2" charset="-122"/>
                <a:cs typeface="Times New Roman" panose="02020603050405020304" pitchFamily="18" charset="0"/>
              </a:rPr>
              <a:t>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则该组合学生的平均成绩为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分</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100427412"/>
              </p:ext>
            </p:extLst>
          </p:nvPr>
        </p:nvGraphicFramePr>
        <p:xfrm>
          <a:off x="484789" y="3352968"/>
          <a:ext cx="11671959" cy="1410689"/>
        </p:xfrm>
        <a:graphic>
          <a:graphicData uri="http://schemas.openxmlformats.org/presentationml/2006/ole">
            <mc:AlternateContent xmlns:mc="http://schemas.openxmlformats.org/markup-compatibility/2006">
              <mc:Choice xmlns:v="urn:schemas-microsoft-com:vml" Requires="v">
                <p:oleObj spid="_x0000_s27655" name="文档" r:id="rId4" imgW="3826872" imgH="462521" progId="Word.Document.12">
                  <p:embed/>
                </p:oleObj>
              </mc:Choice>
              <mc:Fallback>
                <p:oleObj name="文档" r:id="rId4" imgW="3826872" imgH="462521" progId="Word.Document.12">
                  <p:embed/>
                  <p:pic>
                    <p:nvPicPr>
                      <p:cNvPr id="0" name=""/>
                      <p:cNvPicPr/>
                      <p:nvPr/>
                    </p:nvPicPr>
                    <p:blipFill>
                      <a:blip r:embed="rId5"/>
                      <a:stretch>
                        <a:fillRect/>
                      </a:stretch>
                    </p:blipFill>
                    <p:spPr>
                      <a:xfrm>
                        <a:off x="484789" y="3352968"/>
                        <a:ext cx="11671959" cy="1410689"/>
                      </a:xfrm>
                      <a:prstGeom prst="rect">
                        <a:avLst/>
                      </a:prstGeom>
                    </p:spPr>
                  </p:pic>
                </p:oleObj>
              </mc:Fallback>
            </mc:AlternateContent>
          </a:graphicData>
        </a:graphic>
      </p:graphicFrame>
      <p:sp>
        <p:nvSpPr>
          <p:cNvPr id="5" name="矩形 4"/>
          <p:cNvSpPr>
            <a:spLocks noChangeAspect="1"/>
          </p:cNvSpPr>
          <p:nvPr/>
        </p:nvSpPr>
        <p:spPr>
          <a:xfrm>
            <a:off x="361950" y="4789071"/>
            <a:ext cx="1863011"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108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38606505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143</TotalTime>
  <Words>2556</Words>
  <Application>Microsoft Office PowerPoint</Application>
  <PresentationFormat>自定义</PresentationFormat>
  <Paragraphs>115</Paragraphs>
  <Slides>49</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65" baseType="lpstr">
      <vt:lpstr>NEU-BZ-S92</vt:lpstr>
      <vt:lpstr>方正书宋_GBK</vt:lpstr>
      <vt:lpstr>方正正中黑简体</vt:lpstr>
      <vt:lpstr>仿宋</vt:lpstr>
      <vt:lpstr>黑体</vt:lpstr>
      <vt:lpstr>华文新魏</vt:lpstr>
      <vt:lpstr>楷体</vt:lpstr>
      <vt:lpstr>隶书</vt:lpstr>
      <vt:lpstr>宋体</vt:lpstr>
      <vt:lpstr>微软雅黑</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31</cp:revision>
  <dcterms:created xsi:type="dcterms:W3CDTF">2020-09-12T05:36:12Z</dcterms:created>
  <dcterms:modified xsi:type="dcterms:W3CDTF">2025-09-04T06:36:29Z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