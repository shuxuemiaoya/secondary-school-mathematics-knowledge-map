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731" r:id="rId2"/>
    <p:sldId id="753" r:id="rId3"/>
    <p:sldId id="736" r:id="rId4"/>
    <p:sldId id="749" r:id="rId5"/>
    <p:sldId id="756" r:id="rId6"/>
    <p:sldId id="757" r:id="rId7"/>
    <p:sldId id="758" r:id="rId8"/>
    <p:sldId id="759" r:id="rId9"/>
    <p:sldId id="760" r:id="rId10"/>
    <p:sldId id="761" r:id="rId11"/>
    <p:sldId id="762" r:id="rId12"/>
    <p:sldId id="763" r:id="rId13"/>
    <p:sldId id="764" r:id="rId14"/>
    <p:sldId id="766" r:id="rId15"/>
    <p:sldId id="767" r:id="rId16"/>
    <p:sldId id="735" r:id="rId1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16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" action="ppaction://noaction">
              <a:snd r:embed="rId9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1" r:id="rId4"/>
    <p:sldLayoutId id="2147483692" r:id="rId5"/>
    <p:sldLayoutId id="2147483694" r:id="rId6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943943"/>
            <a:ext cx="10807700" cy="21611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9.3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统计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案例</a:t>
            </a:r>
            <a:endParaRPr lang="en-US" altLang="zh-CN" sz="6000" dirty="0" smtClean="0">
              <a:solidFill>
                <a:srgbClr val="00206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公司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员工的肥胖情况调查分析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45663"/>
              <a:ext cx="8496944" cy="47632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了解数据分析的意义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了解统计分析报告的主要组成部分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会选择合适的图表描述和表达实际问题的样本数据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会从实际问题的样本数据中提取刻画其特征的量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如中位数、均值、方差等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经历数据分析的全过程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提升数学运算、数学建模、逻辑推理和直观想象的数学素养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53991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一、数据分析简介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数据分析的含义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数据分析是指针对研究对象获取数据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运用数学方法对数据进行整理、分析和推断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形成关于研究对象知识的素养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数据分析是研究随机现象的重要数学技术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是大数据时代数学应用的主要方法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互联网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相关领域的主要数学方法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数据分析已经深入到科学、技术、工程和现代社会生活的各个方面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48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数据分析的过程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数据分析的基本过程包括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收集数据、整理数据、提取信息、构建模型、进行推断、获得结论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统计分析报告的主要组成部分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以调查公司员工的肥胖情况为例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前言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简单交代调查的目的、方法、范围等背景情况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使读者了解调查的基本情况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6817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6463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主体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展示数据分析的全过程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首先要明确所关心的问题是什么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说明数据蕴含的信息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根据数据分析的需要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说明如何选择合适的图表描述和表达数据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从样本数据中提取能刻画其特征的量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平均数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方差等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用于比较男、女员工在肥胖状况上的差异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通过样本估计总体的统计规律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分析公司员工胖瘦程度的整体情况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结尾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对主体部分的内容进行概括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结合控制体重的一般方法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可以查阅有关文献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提出控制公司员工体重的建议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080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20922"/>
            <a:ext cx="6071870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二、数据分析例题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【例题】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近年来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青少年视力水平的下降已经引起全社会的关注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为了使学生意识到保护视力的重要性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某中学开展了一次中小学生视力测试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采用如下的国际标准视力表测试学生的视力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以五分记录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得到全校学生的视力数据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NMG2TRA82.eps" descr="id:214750055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769149" y="719807"/>
            <a:ext cx="3600400" cy="54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248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5763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按照简单随机抽样从一至九年级中每个年级各抽查一个班级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得分在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及以上的是合格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低于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的是不合格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得到的数据统计如下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982868"/>
              </p:ext>
            </p:extLst>
          </p:nvPr>
        </p:nvGraphicFramePr>
        <p:xfrm>
          <a:off x="-176319" y="2438167"/>
          <a:ext cx="11844910" cy="388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文档" r:id="rId4" imgW="3883577" imgH="1274718" progId="Word.Document.12">
                  <p:embed/>
                </p:oleObj>
              </mc:Choice>
              <mc:Fallback>
                <p:oleObj name="文档" r:id="rId4" imgW="3883577" imgH="12747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76319" y="2438167"/>
                        <a:ext cx="11844910" cy="3887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562618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请你根据给出的数据信息回答下列问题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6204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014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填写下表中未完成部分的数据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298413"/>
              </p:ext>
            </p:extLst>
          </p:nvPr>
        </p:nvGraphicFramePr>
        <p:xfrm>
          <a:off x="216421" y="1348215"/>
          <a:ext cx="10768100" cy="3038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文档" r:id="rId4" imgW="3883577" imgH="1095747" progId="Word.Document.12">
                  <p:embed/>
                </p:oleObj>
              </mc:Choice>
              <mc:Fallback>
                <p:oleObj name="文档" r:id="rId4" imgW="3883577" imgH="10957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348215"/>
                        <a:ext cx="10768100" cy="3038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377324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试比较小学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一至五年级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、初中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六至九年级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在视力状况上的差异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试分析初中学生视力比小学学生视力下降的原因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提出保护视力的建议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4147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65959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(1)92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00%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67%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00%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95%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通过对以上学生视力的数据分析发现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小学的大部分学生的视力都处于正常水平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视力都能保持在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初中学生视力的不合格率明显高于小学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从整体测得的结果来看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小学学生视力的平均合格率要高于初中学生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分析其主要原因可能有以下几点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初中学生平时的学习任务相对繁重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导致用眼过多而造成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视力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合格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率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较低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初中学生对手机还有电脑的使用较多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初中学生对眼保健操的重视程度不够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初中学生平常的学习行为以及座位没有及时更换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874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8401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适当减轻学生的作业负担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尽量让学生当堂消化掉所学知识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以免回家熬夜学习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通过家校联合的方式来监督学生对手机、电脑的使用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禁止学生带手机进入校园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加强对学生做眼保健操的监督力度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要让学生将眼保健操视为眼睛的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一日三餐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使做眼保健操成为学生的一种习惯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206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6746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某市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2019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天和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2024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天的空气质量指数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(AQI)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的监测数据如下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2019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61,76,70,56,81,91,125,161,105,81,88,67,101,115, 159,91,77,86,81,83,82,82,64,79,86,85,42,56,49,45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2024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:35,54,80,86,72,85,58,72,102,53,10,66,56,36,18,25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23,40,60,89,88,54,79,14,16,40,59,67,104,62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空气质量等级分级标准如下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12447514"/>
              </p:ext>
            </p:extLst>
          </p:nvPr>
        </p:nvGraphicFramePr>
        <p:xfrm>
          <a:off x="361951" y="4791551"/>
          <a:ext cx="10807698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2734790"/>
                <a:gridCol w="1224136"/>
                <a:gridCol w="1444923"/>
                <a:gridCol w="1801283"/>
                <a:gridCol w="1801283"/>
                <a:gridCol w="1801283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空气</a:t>
                      </a:r>
                      <a:r>
                        <a:rPr lang="zh-CN" sz="3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质量指数</a:t>
                      </a:r>
                      <a:r>
                        <a:rPr lang="en-US" sz="3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AQI</a:t>
                      </a: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3200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151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201</a:t>
                      </a:r>
                      <a:r>
                        <a:rPr lang="en-US" sz="32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空气</a:t>
                      </a:r>
                      <a:r>
                        <a:rPr lang="zh-CN" sz="3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质量</a:t>
                      </a:r>
                      <a:r>
                        <a:rPr lang="zh-CN" sz="3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等级</a:t>
                      </a:r>
                      <a:endParaRPr lang="zh-CN" sz="3200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优</a:t>
                      </a:r>
                      <a:endParaRPr lang="zh-CN" sz="3200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良</a:t>
                      </a:r>
                      <a:endParaRPr lang="zh-CN" sz="3200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轻度污染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中度污染</a:t>
                      </a:r>
                      <a:endParaRPr lang="zh-CN" sz="320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重度污染</a:t>
                      </a:r>
                      <a:endParaRPr lang="zh-CN" sz="3200" dirty="0">
                        <a:solidFill>
                          <a:srgbClr val="000000"/>
                        </a:solidFill>
                        <a:effectLst/>
                        <a:latin typeface="NEU-BZ-S92" panose="02020503000000020003" pitchFamily="18" charset="-122"/>
                        <a:ea typeface="NEU-BZ-S92" panose="02020503000000020003" pitchFamily="18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32623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9807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请根据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2019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天的空气质量指数的监测数据完成下表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053159"/>
              </p:ext>
            </p:extLst>
          </p:nvPr>
        </p:nvGraphicFramePr>
        <p:xfrm>
          <a:off x="576461" y="2006748"/>
          <a:ext cx="10798633" cy="2315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文档" r:id="rId4" imgW="3894589" imgH="835090" progId="Word.Document.12">
                  <p:embed/>
                </p:oleObj>
              </mc:Choice>
              <mc:Fallback>
                <p:oleObj name="文档" r:id="rId4" imgW="3894589" imgH="8350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2006748"/>
                        <a:ext cx="10798633" cy="2315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73494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请根据上面的数据和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中表的信息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对该市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2019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月的空气质量给出一个简短评价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请根据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2024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月的空气质量状况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分析政府对大气污染的治理效果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424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88429" y="531148"/>
            <a:ext cx="1094370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07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答对下述两条中的一条即可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该市一个月中空气质量有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天处于优的水平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天处于良的水平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处于优或良的天数共有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说明该市空气质量等级为优的天数较少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良的天数多些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空气质量一般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需进一步提升空气质量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轻度污染有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约占当月天数的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天处于中度污染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约占当月天数的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07,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空气质量指数在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以上的接近轻度污染的有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加上处于轻度和中度污染的天数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超过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说明该市空气质量一般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有待进一步改善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7371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2977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3)2024</a:t>
            </a:r>
            <a:r>
              <a:rPr lang="zh-CN" altLang="zh-CN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月的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空气质量有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天处于优的水平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约占当月天数的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天处于良的水平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天处于轻度污染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约占当月天数的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07,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而且处于优或良的天数共有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约占当月天数的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说明该市政府对大气污染的治理效果很明显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76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38</TotalTime>
  <Words>867</Words>
  <Application>Microsoft Office PowerPoint</Application>
  <PresentationFormat>自定义</PresentationFormat>
  <Paragraphs>62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NEU-BZ-S92</vt:lpstr>
      <vt:lpstr>方正书宋_GBK</vt:lpstr>
      <vt:lpstr>方正正中黑简体</vt:lpstr>
      <vt:lpstr>黑体</vt:lpstr>
      <vt:lpstr>楷体</vt:lpstr>
      <vt:lpstr>隶书</vt:lpstr>
      <vt:lpstr>宋体</vt:lpstr>
      <vt:lpstr>Arial</vt:lpstr>
      <vt:lpstr>Calibri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18</cp:revision>
  <dcterms:created xsi:type="dcterms:W3CDTF">2020-09-12T05:36:12Z</dcterms:created>
  <dcterms:modified xsi:type="dcterms:W3CDTF">2025-09-04T06:43:21Z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