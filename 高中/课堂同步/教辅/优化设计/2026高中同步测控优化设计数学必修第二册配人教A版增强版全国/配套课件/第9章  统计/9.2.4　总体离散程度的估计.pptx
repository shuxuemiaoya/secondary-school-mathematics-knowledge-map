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docx" ContentType="application/vnd.openxmlformats-officedocument.wordprocessingml.document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9"/>
  </p:notesMasterIdLst>
  <p:sldIdLst>
    <p:sldId id="731" r:id="rId2"/>
    <p:sldId id="753" r:id="rId3"/>
    <p:sldId id="736" r:id="rId4"/>
    <p:sldId id="744" r:id="rId5"/>
    <p:sldId id="746" r:id="rId6"/>
    <p:sldId id="749" r:id="rId7"/>
    <p:sldId id="756" r:id="rId8"/>
    <p:sldId id="757" r:id="rId9"/>
    <p:sldId id="759" r:id="rId10"/>
    <p:sldId id="760" r:id="rId11"/>
    <p:sldId id="761" r:id="rId12"/>
    <p:sldId id="762" r:id="rId13"/>
    <p:sldId id="763" r:id="rId14"/>
    <p:sldId id="764" r:id="rId15"/>
    <p:sldId id="737" r:id="rId16"/>
    <p:sldId id="750" r:id="rId17"/>
    <p:sldId id="765" r:id="rId18"/>
    <p:sldId id="766" r:id="rId19"/>
    <p:sldId id="768" r:id="rId20"/>
    <p:sldId id="769" r:id="rId21"/>
    <p:sldId id="788" r:id="rId22"/>
    <p:sldId id="754" r:id="rId23"/>
    <p:sldId id="770" r:id="rId24"/>
    <p:sldId id="789" r:id="rId25"/>
    <p:sldId id="771" r:id="rId26"/>
    <p:sldId id="772" r:id="rId27"/>
    <p:sldId id="773" r:id="rId28"/>
    <p:sldId id="774" r:id="rId29"/>
    <p:sldId id="755" r:id="rId30"/>
    <p:sldId id="775" r:id="rId31"/>
    <p:sldId id="776" r:id="rId32"/>
    <p:sldId id="777" r:id="rId33"/>
    <p:sldId id="778" r:id="rId34"/>
    <p:sldId id="779" r:id="rId35"/>
    <p:sldId id="747" r:id="rId36"/>
    <p:sldId id="751" r:id="rId37"/>
    <p:sldId id="780" r:id="rId38"/>
    <p:sldId id="781" r:id="rId39"/>
    <p:sldId id="782" r:id="rId40"/>
    <p:sldId id="748" r:id="rId41"/>
    <p:sldId id="752" r:id="rId42"/>
    <p:sldId id="783" r:id="rId43"/>
    <p:sldId id="784" r:id="rId44"/>
    <p:sldId id="785" r:id="rId45"/>
    <p:sldId id="786" r:id="rId46"/>
    <p:sldId id="787" r:id="rId47"/>
    <p:sldId id="735" r:id="rId48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9">
          <p15:clr>
            <a:srgbClr val="A4A3A4"/>
          </p15:clr>
        </p15:guide>
        <p15:guide id="2" pos="36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F9933"/>
    <a:srgbClr val="FF3399"/>
    <a:srgbClr val="FF7C80"/>
    <a:srgbClr val="FFFFFF"/>
    <a:srgbClr val="C6A7DD"/>
    <a:srgbClr val="9E5ECE"/>
    <a:srgbClr val="D60093"/>
    <a:srgbClr val="934BC9"/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5468" autoAdjust="0"/>
  </p:normalViewPr>
  <p:slideViewPr>
    <p:cSldViewPr>
      <p:cViewPr varScale="1">
        <p:scale>
          <a:sx n="97" d="100"/>
          <a:sy n="97" d="100"/>
        </p:scale>
        <p:origin x="504" y="78"/>
      </p:cViewPr>
      <p:guideLst>
        <p:guide orient="horz" pos="2059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image" Target="../media/image7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e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28.emf"/><Relationship Id="rId1" Type="http://schemas.openxmlformats.org/officeDocument/2006/relationships/image" Target="../media/image27.emf"/></Relationships>
</file>

<file path=ppt/drawings/_rels/vmlDrawing2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image" Target="../media/image30.e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image" Target="../media/image34.emf"/><Relationship Id="rId1" Type="http://schemas.openxmlformats.org/officeDocument/2006/relationships/image" Target="../media/image33.e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e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2" Type="http://schemas.openxmlformats.org/officeDocument/2006/relationships/image" Target="../media/image38.emf"/><Relationship Id="rId1" Type="http://schemas.openxmlformats.org/officeDocument/2006/relationships/image" Target="../media/image37.e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e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e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noProof="1" dirty="0">
                <a:ea typeface="黑体" panose="02010609060101010101" pitchFamily="49" charset="-122"/>
              </a:defRPr>
            </a:lvl1pPr>
          </a:lstStyle>
          <a:p>
            <a:fld id="{A64CA497-71E0-4184-919F-D45F39379D11}" type="slidenum">
              <a:rPr lang="zh-CN" altLang="en-US"/>
              <a:pPr/>
              <a:t>‹#›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78225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4CA497-71E0-4184-919F-D45F39379D11}" type="slidenum">
              <a:rPr lang="zh-CN" altLang="en-US" smtClean="0"/>
              <a:pPr/>
              <a:t>47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8147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11961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pattFill prst="lgGrid">
          <a:fgClr>
            <a:schemeClr val="bg2">
              <a:lumMod val="9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云形标注 7"/>
          <p:cNvSpPr/>
          <p:nvPr userDrawn="1"/>
        </p:nvSpPr>
        <p:spPr>
          <a:xfrm>
            <a:off x="8868398" y="132726"/>
            <a:ext cx="2460413" cy="136045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600" dirty="0" smtClean="0">
                <a:solidFill>
                  <a:srgbClr val="FF0000"/>
                </a:solidFill>
              </a:rPr>
              <a:t>   </a:t>
            </a:r>
            <a:r>
              <a:rPr lang="zh-CN" altLang="en-US" sz="8800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7165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pattFill prst="pct5">
          <a:fgClr>
            <a:schemeClr val="bg2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510820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24695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0370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2894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gradFill>
          <a:gsLst>
            <a:gs pos="61000">
              <a:schemeClr val="bg2">
                <a:lumMod val="90000"/>
              </a:schemeClr>
            </a:gs>
            <a:gs pos="100000">
              <a:schemeClr val="bg2">
                <a:lumMod val="50000"/>
              </a:schemeClr>
            </a:gs>
            <a:gs pos="0">
              <a:schemeClr val="bg2">
                <a:lumMod val="50000"/>
              </a:schemeClr>
            </a:gs>
            <a:gs pos="40000">
              <a:schemeClr val="bg2">
                <a:lumMod val="9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801617" y="1129203"/>
            <a:ext cx="10071988" cy="304698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十年寒窗磨利剑，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一朝折桂展宏图！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60790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audio" Target="../media/audio1.wav"/><Relationship Id="rId5" Type="http://schemas.openxmlformats.org/officeDocument/2006/relationships/slideLayout" Target="../slideLayouts/slideLayout5.xml"/><Relationship Id="rId10" Type="http://schemas.openxmlformats.org/officeDocument/2006/relationships/slide" Target="../slides/slide4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-1" y="36116"/>
            <a:ext cx="11522075" cy="611683"/>
            <a:chOff x="-1" y="36116"/>
            <a:chExt cx="11522075" cy="611683"/>
          </a:xfrm>
        </p:grpSpPr>
        <p:sp>
          <p:nvSpPr>
            <p:cNvPr id="7" name="矩形 6"/>
            <p:cNvSpPr/>
            <p:nvPr userDrawn="1"/>
          </p:nvSpPr>
          <p:spPr>
            <a:xfrm>
              <a:off x="-1" y="359767"/>
              <a:ext cx="11522075" cy="288032"/>
            </a:xfrm>
            <a:prstGeom prst="rect">
              <a:avLst/>
            </a:prstGeom>
            <a:gradFill flip="none" rotWithShape="1">
              <a:gsLst>
                <a:gs pos="65000">
                  <a:schemeClr val="bg2">
                    <a:lumMod val="90000"/>
                  </a:schemeClr>
                </a:gs>
                <a:gs pos="38000">
                  <a:schemeClr val="bg2">
                    <a:lumMod val="75000"/>
                  </a:schemeClr>
                </a:gs>
                <a:gs pos="1000">
                  <a:srgbClr val="0070C0"/>
                </a:gs>
                <a:gs pos="100000">
                  <a:schemeClr val="bg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8429" y="36116"/>
              <a:ext cx="576064" cy="576064"/>
            </a:xfrm>
            <a:prstGeom prst="rect">
              <a:avLst/>
            </a:prstGeom>
          </p:spPr>
        </p:pic>
      </p:grpSp>
      <p:sp>
        <p:nvSpPr>
          <p:cNvPr id="9" name="矩形 8"/>
          <p:cNvSpPr/>
          <p:nvPr userDrawn="1"/>
        </p:nvSpPr>
        <p:spPr>
          <a:xfrm>
            <a:off x="-9728" y="6404527"/>
            <a:ext cx="11522074" cy="7200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2">
                    <a:lumMod val="50000"/>
                  </a:schemeClr>
                </a:solidFill>
              </a:ln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云形标注 9">
            <a:hlinkClick r:id="rId10" action="ppaction://hlinksldjump">
              <a:snd r:embed="rId11" name="camera.wav"/>
            </a:hlinkClick>
          </p:cNvPr>
          <p:cNvSpPr/>
          <p:nvPr userDrawn="1"/>
        </p:nvSpPr>
        <p:spPr>
          <a:xfrm>
            <a:off x="10441557" y="42551"/>
            <a:ext cx="864096" cy="43204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  </a:t>
            </a:r>
            <a:r>
              <a:rPr lang="zh-CN" altLang="en-US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586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95" r:id="rId2"/>
    <p:sldLayoutId id="2147483697" r:id="rId3"/>
    <p:sldLayoutId id="2147483690" r:id="rId4"/>
    <p:sldLayoutId id="2147483691" r:id="rId5"/>
    <p:sldLayoutId id="2147483692" r:id="rId6"/>
    <p:sldLayoutId id="2147483694" r:id="rId7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5pPr>
      <a:lvl6pPr marL="432008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6pPr>
      <a:lvl7pPr marL="864017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7pPr>
      <a:lvl8pPr marL="1296025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8pPr>
      <a:lvl9pPr marL="1728033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9pPr>
    </p:titleStyle>
    <p:bodyStyle>
      <a:lvl1pPr marL="324006" indent="-3240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1pPr>
      <a:lvl2pPr marL="702013" indent="-27000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slide" Target="slide5.xml"/><Relationship Id="rId1" Type="http://schemas.openxmlformats.org/officeDocument/2006/relationships/slideLayout" Target="../slideLayouts/slideLayout3.xml"/><Relationship Id="rId6" Type="http://schemas.openxmlformats.org/officeDocument/2006/relationships/slide" Target="slide40.xml"/><Relationship Id="rId5" Type="http://schemas.openxmlformats.org/officeDocument/2006/relationships/slide" Target="slide35.xml"/><Relationship Id="rId4" Type="http://schemas.openxmlformats.org/officeDocument/2006/relationships/slide" Target="slide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3" Type="http://schemas.openxmlformats.org/officeDocument/2006/relationships/oleObject" Target="../embeddings/oleObject1.bin"/><Relationship Id="rId7" Type="http://schemas.openxmlformats.org/officeDocument/2006/relationships/package" Target="../embeddings/Microsoft_Word___2.docx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3.emf"/><Relationship Id="rId4" Type="http://schemas.openxmlformats.org/officeDocument/2006/relationships/package" Target="../embeddings/Microsoft_Word___1.docx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5.emf"/><Relationship Id="rId4" Type="http://schemas.openxmlformats.org/officeDocument/2006/relationships/package" Target="../embeddings/Microsoft_Word___3.docx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6.emf"/><Relationship Id="rId4" Type="http://schemas.openxmlformats.org/officeDocument/2006/relationships/package" Target="../embeddings/Microsoft_Word___4.docx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oleObject" Target="../embeddings/oleObject5.bin"/><Relationship Id="rId7" Type="http://schemas.openxmlformats.org/officeDocument/2006/relationships/package" Target="../embeddings/Microsoft_Word___6.docx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7.emf"/><Relationship Id="rId4" Type="http://schemas.openxmlformats.org/officeDocument/2006/relationships/package" Target="../embeddings/Microsoft_Word___5.docx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22.xml"/><Relationship Id="rId2" Type="http://schemas.openxmlformats.org/officeDocument/2006/relationships/slide" Target="slide16.xml"/><Relationship Id="rId1" Type="http://schemas.openxmlformats.org/officeDocument/2006/relationships/slideLayout" Target="../slideLayouts/slideLayout4.xml"/><Relationship Id="rId4" Type="http://schemas.openxmlformats.org/officeDocument/2006/relationships/slide" Target="slide2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9.emf"/><Relationship Id="rId4" Type="http://schemas.openxmlformats.org/officeDocument/2006/relationships/package" Target="../embeddings/Microsoft_Word___7.docx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1.jpeg"/><Relationship Id="rId5" Type="http://schemas.openxmlformats.org/officeDocument/2006/relationships/image" Target="../media/image10.emf"/><Relationship Id="rId4" Type="http://schemas.openxmlformats.org/officeDocument/2006/relationships/package" Target="../embeddings/Microsoft_Word___8.docx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3.emf"/><Relationship Id="rId4" Type="http://schemas.openxmlformats.org/officeDocument/2006/relationships/package" Target="../embeddings/Microsoft_Word___9.docx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14.emf"/><Relationship Id="rId4" Type="http://schemas.openxmlformats.org/officeDocument/2006/relationships/package" Target="../embeddings/Microsoft_Word___10.docx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15.emf"/><Relationship Id="rId4" Type="http://schemas.openxmlformats.org/officeDocument/2006/relationships/package" Target="../embeddings/Microsoft_Word___11.docx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16.emf"/><Relationship Id="rId4" Type="http://schemas.openxmlformats.org/officeDocument/2006/relationships/package" Target="../embeddings/Microsoft_Word___12.docx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17.emf"/><Relationship Id="rId4" Type="http://schemas.openxmlformats.org/officeDocument/2006/relationships/package" Target="../embeddings/Microsoft_Word___13.docx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18.emf"/><Relationship Id="rId5" Type="http://schemas.openxmlformats.org/officeDocument/2006/relationships/package" Target="../embeddings/Microsoft_Word___14.docx"/><Relationship Id="rId4" Type="http://schemas.openxmlformats.org/officeDocument/2006/relationships/oleObject" Target="../embeddings/oleObject14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20.emf"/><Relationship Id="rId5" Type="http://schemas.openxmlformats.org/officeDocument/2006/relationships/package" Target="../embeddings/Microsoft_Word___15.docx"/><Relationship Id="rId4" Type="http://schemas.openxmlformats.org/officeDocument/2006/relationships/oleObject" Target="../embeddings/oleObject15.bin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4.vml"/><Relationship Id="rId5" Type="http://schemas.openxmlformats.org/officeDocument/2006/relationships/image" Target="../media/image21.emf"/><Relationship Id="rId4" Type="http://schemas.openxmlformats.org/officeDocument/2006/relationships/package" Target="../embeddings/Microsoft_Word___16.docx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5.vml"/><Relationship Id="rId5" Type="http://schemas.openxmlformats.org/officeDocument/2006/relationships/image" Target="../media/image22.emf"/><Relationship Id="rId4" Type="http://schemas.openxmlformats.org/officeDocument/2006/relationships/package" Target="../embeddings/Microsoft_Word___17.docx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6.vml"/><Relationship Id="rId5" Type="http://schemas.openxmlformats.org/officeDocument/2006/relationships/image" Target="../media/image23.emf"/><Relationship Id="rId4" Type="http://schemas.openxmlformats.org/officeDocument/2006/relationships/package" Target="../embeddings/Microsoft_Word___18.docx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7.vml"/><Relationship Id="rId5" Type="http://schemas.openxmlformats.org/officeDocument/2006/relationships/image" Target="../media/image24.emf"/><Relationship Id="rId4" Type="http://schemas.openxmlformats.org/officeDocument/2006/relationships/package" Target="../embeddings/Microsoft_Word___19.docx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25.emf"/><Relationship Id="rId5" Type="http://schemas.openxmlformats.org/officeDocument/2006/relationships/package" Target="../embeddings/Microsoft_Word___20.docx"/><Relationship Id="rId4" Type="http://schemas.openxmlformats.org/officeDocument/2006/relationships/oleObject" Target="../embeddings/oleObject20.bin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9.vml"/><Relationship Id="rId5" Type="http://schemas.openxmlformats.org/officeDocument/2006/relationships/image" Target="../media/image26.emf"/><Relationship Id="rId4" Type="http://schemas.openxmlformats.org/officeDocument/2006/relationships/package" Target="../embeddings/Microsoft_Word___21.docx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emf"/><Relationship Id="rId3" Type="http://schemas.openxmlformats.org/officeDocument/2006/relationships/oleObject" Target="../embeddings/oleObject22.bin"/><Relationship Id="rId7" Type="http://schemas.openxmlformats.org/officeDocument/2006/relationships/package" Target="../embeddings/Microsoft_Word___23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23.bin"/><Relationship Id="rId11" Type="http://schemas.openxmlformats.org/officeDocument/2006/relationships/image" Target="../media/image29.emf"/><Relationship Id="rId5" Type="http://schemas.openxmlformats.org/officeDocument/2006/relationships/image" Target="../media/image27.emf"/><Relationship Id="rId10" Type="http://schemas.openxmlformats.org/officeDocument/2006/relationships/package" Target="../embeddings/Microsoft_Word___24.docx"/><Relationship Id="rId4" Type="http://schemas.openxmlformats.org/officeDocument/2006/relationships/package" Target="../embeddings/Microsoft_Word___22.docx"/><Relationship Id="rId9" Type="http://schemas.openxmlformats.org/officeDocument/2006/relationships/oleObject" Target="../embeddings/oleObject24.bin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emf"/><Relationship Id="rId3" Type="http://schemas.openxmlformats.org/officeDocument/2006/relationships/oleObject" Target="../embeddings/oleObject25.bin"/><Relationship Id="rId7" Type="http://schemas.openxmlformats.org/officeDocument/2006/relationships/package" Target="../embeddings/Microsoft_Word___26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26.bin"/><Relationship Id="rId5" Type="http://schemas.openxmlformats.org/officeDocument/2006/relationships/image" Target="../media/image30.emf"/><Relationship Id="rId4" Type="http://schemas.openxmlformats.org/officeDocument/2006/relationships/package" Target="../embeddings/Microsoft_Word___25.docx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emf"/><Relationship Id="rId3" Type="http://schemas.openxmlformats.org/officeDocument/2006/relationships/oleObject" Target="../embeddings/oleObject27.bin"/><Relationship Id="rId7" Type="http://schemas.openxmlformats.org/officeDocument/2006/relationships/package" Target="../embeddings/Microsoft_Word___28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28.bin"/><Relationship Id="rId11" Type="http://schemas.openxmlformats.org/officeDocument/2006/relationships/image" Target="../media/image35.emf"/><Relationship Id="rId5" Type="http://schemas.openxmlformats.org/officeDocument/2006/relationships/image" Target="../media/image33.emf"/><Relationship Id="rId10" Type="http://schemas.openxmlformats.org/officeDocument/2006/relationships/package" Target="../embeddings/Microsoft_Word___29.docx"/><Relationship Id="rId4" Type="http://schemas.openxmlformats.org/officeDocument/2006/relationships/package" Target="../embeddings/Microsoft_Word___27.docx"/><Relationship Id="rId9" Type="http://schemas.openxmlformats.org/officeDocument/2006/relationships/oleObject" Target="../embeddings/oleObject29.bin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3.vml"/><Relationship Id="rId5" Type="http://schemas.openxmlformats.org/officeDocument/2006/relationships/image" Target="../media/image36.emf"/><Relationship Id="rId4" Type="http://schemas.openxmlformats.org/officeDocument/2006/relationships/package" Target="../embeddings/Microsoft_Word___30.docx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emf"/><Relationship Id="rId3" Type="http://schemas.openxmlformats.org/officeDocument/2006/relationships/oleObject" Target="../embeddings/oleObject31.bin"/><Relationship Id="rId7" Type="http://schemas.openxmlformats.org/officeDocument/2006/relationships/package" Target="../embeddings/Microsoft_Word___32.docx"/><Relationship Id="rId12" Type="http://schemas.openxmlformats.org/officeDocument/2006/relationships/image" Target="../media/image39.e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4.vml"/><Relationship Id="rId6" Type="http://schemas.openxmlformats.org/officeDocument/2006/relationships/oleObject" Target="../embeddings/oleObject32.bin"/><Relationship Id="rId11" Type="http://schemas.openxmlformats.org/officeDocument/2006/relationships/package" Target="../embeddings/Microsoft_Word___33.docx"/><Relationship Id="rId5" Type="http://schemas.openxmlformats.org/officeDocument/2006/relationships/image" Target="../media/image37.emf"/><Relationship Id="rId10" Type="http://schemas.openxmlformats.org/officeDocument/2006/relationships/oleObject" Target="../embeddings/oleObject33.bin"/><Relationship Id="rId4" Type="http://schemas.openxmlformats.org/officeDocument/2006/relationships/package" Target="../embeddings/Microsoft_Word___31.docx"/><Relationship Id="rId9" Type="http://schemas.openxmlformats.org/officeDocument/2006/relationships/image" Target="../media/image40.jpe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5.vml"/><Relationship Id="rId5" Type="http://schemas.openxmlformats.org/officeDocument/2006/relationships/image" Target="../media/image41.emf"/><Relationship Id="rId4" Type="http://schemas.openxmlformats.org/officeDocument/2006/relationships/package" Target="../embeddings/Microsoft_Word___34.docx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5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6.vml"/><Relationship Id="rId5" Type="http://schemas.openxmlformats.org/officeDocument/2006/relationships/image" Target="../media/image42.emf"/><Relationship Id="rId4" Type="http://schemas.openxmlformats.org/officeDocument/2006/relationships/package" Target="../embeddings/Microsoft_Word___35.docx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7.vml"/><Relationship Id="rId5" Type="http://schemas.openxmlformats.org/officeDocument/2006/relationships/image" Target="../media/image43.emf"/><Relationship Id="rId4" Type="http://schemas.openxmlformats.org/officeDocument/2006/relationships/package" Target="../embeddings/Microsoft_Word___36.docx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51336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>
            <a:spLocks noChangeAspect="1"/>
          </p:cNvSpPr>
          <p:nvPr/>
        </p:nvSpPr>
        <p:spPr>
          <a:xfrm>
            <a:off x="361950" y="2431665"/>
            <a:ext cx="10807700" cy="1096454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</a:t>
            </a:r>
            <a:r>
              <a:rPr lang="en-US" altLang="zh-CN" sz="60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60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sz="60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sz="6000" dirty="0">
                <a:solidFill>
                  <a:srgbClr val="00206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总体离散程度的估计</a:t>
            </a:r>
            <a:endParaRPr lang="zh-CN" altLang="zh-CN" sz="6000" dirty="0">
              <a:solidFill>
                <a:srgbClr val="00206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423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60437" y="1410395"/>
            <a:ext cx="10729192" cy="3456385"/>
            <a:chOff x="360437" y="1410395"/>
            <a:chExt cx="10729192" cy="3456385"/>
          </a:xfrm>
        </p:grpSpPr>
        <p:grpSp>
          <p:nvGrpSpPr>
            <p:cNvPr id="13" name="组合 12"/>
            <p:cNvGrpSpPr/>
            <p:nvPr/>
          </p:nvGrpSpPr>
          <p:grpSpPr>
            <a:xfrm>
              <a:off x="360437" y="1410395"/>
              <a:ext cx="10729192" cy="3456385"/>
              <a:chOff x="360437" y="1934392"/>
              <a:chExt cx="10729192" cy="2360758"/>
            </a:xfrm>
          </p:grpSpPr>
          <p:sp>
            <p:nvSpPr>
              <p:cNvPr id="2" name="圆角矩形 1"/>
              <p:cNvSpPr/>
              <p:nvPr/>
            </p:nvSpPr>
            <p:spPr>
              <a:xfrm>
                <a:off x="360437" y="1934392"/>
                <a:ext cx="10729192" cy="2360758"/>
              </a:xfrm>
              <a:prstGeom prst="round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2" name="直接连接符 11"/>
              <p:cNvCxnSpPr/>
              <p:nvPr/>
            </p:nvCxnSpPr>
            <p:spPr>
              <a:xfrm>
                <a:off x="2448669" y="1972689"/>
                <a:ext cx="0" cy="2262392"/>
              </a:xfrm>
              <a:prstGeom prst="line">
                <a:avLst/>
              </a:prstGeom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</p:grpSp>
        <p:sp>
          <p:nvSpPr>
            <p:cNvPr id="14" name="矩形 13"/>
            <p:cNvSpPr>
              <a:spLocks noChangeAspect="1"/>
            </p:cNvSpPr>
            <p:nvPr/>
          </p:nvSpPr>
          <p:spPr>
            <a:xfrm>
              <a:off x="360437" y="2447999"/>
              <a:ext cx="2086719" cy="119571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课标定位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素养阐释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矩形 14"/>
            <p:cNvSpPr>
              <a:spLocks noChangeAspect="1"/>
            </p:cNvSpPr>
            <p:nvPr/>
          </p:nvSpPr>
          <p:spPr>
            <a:xfrm>
              <a:off x="2552207" y="1571083"/>
              <a:ext cx="8496944" cy="304698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结合实例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能用样本估计总体的离散程度参数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标准差、方差、极差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会求样本数据的方差、标准差、极差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理解离散程度参数的统计含义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4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r>
                <a:rPr lang="zh-CN" altLang="en-US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提升</a:t>
              </a: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数据分析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、数学建模和数学运算素养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30740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文框 2">
            <a:hlinkClick r:id="rId2" action="ppaction://hlinksldjump">
              <a:snd r:embed="rId3" name="chimes.wav"/>
            </a:hlinkClick>
          </p:cNvPr>
          <p:cNvSpPr/>
          <p:nvPr/>
        </p:nvSpPr>
        <p:spPr>
          <a:xfrm>
            <a:off x="1728589" y="503783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导学</a:t>
            </a:r>
          </a:p>
        </p:txBody>
      </p:sp>
      <p:sp>
        <p:nvSpPr>
          <p:cNvPr id="4" name="图文框 3">
            <a:hlinkClick r:id="rId4" action="ppaction://hlinksldjump">
              <a:snd r:embed="rId3" name="chimes.wav"/>
            </a:hlinkClick>
          </p:cNvPr>
          <p:cNvSpPr/>
          <p:nvPr/>
        </p:nvSpPr>
        <p:spPr>
          <a:xfrm>
            <a:off x="1728589" y="1871935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解惑</a:t>
            </a:r>
          </a:p>
        </p:txBody>
      </p:sp>
      <p:sp>
        <p:nvSpPr>
          <p:cNvPr id="7" name="图文框 6">
            <a:hlinkClick r:id="rId5" action="ppaction://hlinksldjump">
              <a:snd r:embed="rId3" name="chimes.wav"/>
            </a:hlinkClick>
          </p:cNvPr>
          <p:cNvSpPr/>
          <p:nvPr/>
        </p:nvSpPr>
        <p:spPr>
          <a:xfrm>
            <a:off x="1728589" y="3279437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" name="图文框 7">
            <a:hlinkClick r:id="rId6" action="ppaction://hlinksldjump">
              <a:snd r:embed="rId3" name="chimes.wav"/>
            </a:hlinkClick>
          </p:cNvPr>
          <p:cNvSpPr/>
          <p:nvPr/>
        </p:nvSpPr>
        <p:spPr>
          <a:xfrm>
            <a:off x="1728589" y="4647589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1409961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虚尾箭头 3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新知导学</a:t>
            </a:r>
          </a:p>
        </p:txBody>
      </p:sp>
    </p:spTree>
    <p:extLst>
      <p:ext uri="{BB962C8B-B14F-4D97-AF65-F5344CB8AC3E}">
        <p14:creationId xmlns:p14="http://schemas.microsoft.com/office/powerpoint/2010/main" val="2722224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ChangeAspect="1"/>
          </p:cNvSpPr>
          <p:nvPr/>
        </p:nvSpPr>
        <p:spPr>
          <a:xfrm>
            <a:off x="361950" y="925999"/>
            <a:ext cx="108077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zh-CN" dirty="0">
                <a:solidFill>
                  <a:srgbClr val="000000"/>
                </a:solidFill>
                <a:latin typeface="NEU-BZ-S92" panose="02020503000000020003" pitchFamily="18" charset="-122"/>
                <a:ea typeface="方正正中黑简体"/>
                <a:cs typeface="Times New Roman" panose="02020603050405020304" pitchFamily="18" charset="0"/>
              </a:rPr>
              <a:t>极差、方差、标准差</a:t>
            </a:r>
            <a:endParaRPr lang="zh-CN" altLang="en-US" dirty="0"/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甲、乙两名射击运动员在一次射击测试中各射靶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次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每次命中的环数如下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甲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乙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7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9617745"/>
              </p:ext>
            </p:extLst>
          </p:nvPr>
        </p:nvGraphicFramePr>
        <p:xfrm>
          <a:off x="445319" y="3916433"/>
          <a:ext cx="10640962" cy="11157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8" name="文档" r:id="rId4" imgW="3837724" imgH="402401" progId="Word.Document.12">
                  <p:embed/>
                </p:oleObj>
              </mc:Choice>
              <mc:Fallback>
                <p:oleObj name="文档" r:id="rId4" imgW="3837724" imgH="40240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45319" y="3916433"/>
                        <a:ext cx="10640962" cy="11157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6787571"/>
              </p:ext>
            </p:extLst>
          </p:nvPr>
        </p:nvGraphicFramePr>
        <p:xfrm>
          <a:off x="445319" y="5094116"/>
          <a:ext cx="11705058" cy="6367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9" name="文档" r:id="rId7" imgW="3837724" imgH="208772" progId="Word.Document.12">
                  <p:embed/>
                </p:oleObj>
              </mc:Choice>
              <mc:Fallback>
                <p:oleObj name="文档" r:id="rId7" imgW="3837724" imgH="20877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45319" y="5094116"/>
                        <a:ext cx="11705058" cy="6367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6428917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756417"/>
            <a:ext cx="10807700" cy="535415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甲、乙两名射击运动员命中环数的中位数分别是多少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能否由中位数判断两人的射击水平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中位数都是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由于中位数相等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故无法判断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甲、乙两名射击运动员命中环数的众数分别是多少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能否由众数判断两人的射击水平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众数都是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由于众数相等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故无法判断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观察上述两组数据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你认为哪名运动员的射击水平更稳定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从数据分布来看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甲命中的环数较分散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乙命中的环数较集中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故乙的射击水平更稳定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1827708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ChangeAspect="1"/>
          </p:cNvSpPr>
          <p:nvPr/>
        </p:nvSpPr>
        <p:spPr>
          <a:xfrm>
            <a:off x="361950" y="1246711"/>
            <a:ext cx="10807700" cy="363791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极差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定义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一组数据中最大值与最小值的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差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特征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用极差是一种简单的度量数据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离散程度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的方法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极差在一定程度上刻画了数据的离散程度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但因为极差只使用了数据中最大、最小两个值的信息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对其他数据的取值情况没有涉及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所以极差所含的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信息量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很少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094260" y="1884951"/>
            <a:ext cx="398797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7089455" y="2349049"/>
            <a:ext cx="39834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7125377" y="2461015"/>
            <a:ext cx="159493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7120831" y="2925113"/>
            <a:ext cx="159313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4624438" y="4207649"/>
            <a:ext cx="1198297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>
            <a:off x="4619667" y="4671747"/>
            <a:ext cx="119694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5085637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639910"/>
              </p:ext>
            </p:extLst>
          </p:nvPr>
        </p:nvGraphicFramePr>
        <p:xfrm>
          <a:off x="360437" y="1337884"/>
          <a:ext cx="11671959" cy="34143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0" name="文档" r:id="rId4" imgW="3826872" imgH="1119466" progId="Word.Document.12">
                  <p:embed/>
                </p:oleObj>
              </mc:Choice>
              <mc:Fallback>
                <p:oleObj name="文档" r:id="rId4" imgW="3826872" imgH="111946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0437" y="1337884"/>
                        <a:ext cx="11671959" cy="34143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6265093" y="2345996"/>
            <a:ext cx="4752528" cy="9672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6260547" y="3314374"/>
            <a:ext cx="474715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8440832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7139521"/>
              </p:ext>
            </p:extLst>
          </p:nvPr>
        </p:nvGraphicFramePr>
        <p:xfrm>
          <a:off x="308093" y="690485"/>
          <a:ext cx="11671959" cy="561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文档" r:id="rId4" imgW="3826872" imgH="1841459" progId="Word.Document.12">
                  <p:embed/>
                </p:oleObj>
              </mc:Choice>
              <mc:Fallback>
                <p:oleObj name="文档" r:id="rId4" imgW="3826872" imgH="184145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08093" y="690485"/>
                        <a:ext cx="11671959" cy="5616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>
          <a:xfrm>
            <a:off x="6337101" y="3322853"/>
            <a:ext cx="1198297" cy="9380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/>
          <p:cNvCxnSpPr/>
          <p:nvPr/>
        </p:nvCxnSpPr>
        <p:spPr>
          <a:xfrm>
            <a:off x="6332330" y="4262031"/>
            <a:ext cx="119694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6376836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655911"/>
            <a:ext cx="10807700" cy="245605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④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特征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标准差刻画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了数据的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离散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程度或波动幅度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标准差越大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数据的离散程度越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大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标准差越小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数据的离散程度越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在刻画数据的分散程度上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方差和标准差是一样的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但在解决实际问题中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一般多采用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标准差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500965" y="1725601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5496375" y="2189699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4247761" y="2314741"/>
            <a:ext cx="398797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4242956" y="2778839"/>
            <a:ext cx="39834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10196037" y="2291597"/>
            <a:ext cx="362543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10191212" y="2755695"/>
            <a:ext cx="36213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4633344" y="3469943"/>
            <a:ext cx="1198297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4628573" y="3934041"/>
            <a:ext cx="119694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6902442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7" grpId="0" animBg="1"/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017629"/>
            <a:ext cx="10807700" cy="42288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甲、乙两名同学都参加了由学校举办的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场篮球比赛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平均得分均为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16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标准差分别为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09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72,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则甲、乙两名同学在这次篮球比赛中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发挥得更稳定的是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甲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		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乙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甲、乙相同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D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不能确定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某学员在一次射击测试中射靶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次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命中环数为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:9,5,8,4,6,10,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则命中环数的极差为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命中环数的方差为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5144966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61950" y="1141695"/>
            <a:ext cx="14396590" cy="3046988"/>
            <a:chOff x="361950" y="823628"/>
            <a:chExt cx="14396590" cy="3046988"/>
          </a:xfrm>
        </p:grpSpPr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61950" y="823628"/>
              <a:ext cx="10807700" cy="3046988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解析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方差或标准差越小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数据的离散程度越小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表明发挥得越稳定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因为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09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&gt;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72,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所以选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由极差的定义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知极差为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10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4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6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由平均数、方差的计算公式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知平均数为</a:t>
              </a:r>
              <a:endParaRPr lang="zh-CN" altLang="en-US" dirty="0"/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57573037"/>
                </p:ext>
              </p:extLst>
            </p:nvPr>
          </p:nvGraphicFramePr>
          <p:xfrm>
            <a:off x="3086581" y="3115016"/>
            <a:ext cx="11671959" cy="7256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18" name="文档" r:id="rId4" imgW="3837724" imgH="238700" progId="Word.Document.12">
                    <p:embed/>
                  </p:oleObj>
                </mc:Choice>
                <mc:Fallback>
                  <p:oleObj name="文档" r:id="rId4" imgW="3837724" imgH="238700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3086581" y="3115016"/>
                          <a:ext cx="11671959" cy="72562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9274606"/>
              </p:ext>
            </p:extLst>
          </p:nvPr>
        </p:nvGraphicFramePr>
        <p:xfrm>
          <a:off x="422285" y="4248010"/>
          <a:ext cx="11671959" cy="7256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9" name="文档" r:id="rId7" imgW="3826872" imgH="237909" progId="Word.Document.12">
                  <p:embed/>
                </p:oleObj>
              </mc:Choice>
              <mc:Fallback>
                <p:oleObj name="文档" r:id="rId7" imgW="3826872" imgH="23790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22285" y="4248010"/>
                        <a:ext cx="11671959" cy="7256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16036653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878903"/>
            <a:ext cx="10807700" cy="491096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【思考辨析】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判断下列说法是否正确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正确的在后面的括号内画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错误的画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极差对一组数据中的极端值非常敏感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方差与原始数据的单位一致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标准差、方差越小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数据的离散程度越大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即数据离平均数波动的幅度越大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平均数和标准差一起能反映数据取值的更多信息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921277" y="2808039"/>
            <a:ext cx="432759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6265093" y="3395254"/>
            <a:ext cx="432759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3744813" y="4536231"/>
            <a:ext cx="432759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9937501" y="5112295"/>
            <a:ext cx="432759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7106189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释疑解惑</a:t>
            </a:r>
          </a:p>
        </p:txBody>
      </p:sp>
      <p:sp>
        <p:nvSpPr>
          <p:cNvPr id="3" name="圆角矩形 2">
            <a:hlinkClick r:id="rId2" action="ppaction://hlinksldjump"/>
          </p:cNvPr>
          <p:cNvSpPr/>
          <p:nvPr/>
        </p:nvSpPr>
        <p:spPr>
          <a:xfrm>
            <a:off x="2016621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/>
              <a:t>探究一</a:t>
            </a:r>
            <a:endParaRPr lang="zh-CN" altLang="en-US" sz="2400"/>
          </a:p>
        </p:txBody>
      </p:sp>
      <p:sp>
        <p:nvSpPr>
          <p:cNvPr id="4" name="圆角矩形 3">
            <a:hlinkClick r:id="rId3" action="ppaction://hlinksldjump"/>
          </p:cNvPr>
          <p:cNvSpPr/>
          <p:nvPr/>
        </p:nvSpPr>
        <p:spPr>
          <a:xfrm>
            <a:off x="3816821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 dirty="0" smtClean="0"/>
              <a:t>探究</a:t>
            </a:r>
            <a:r>
              <a:rPr lang="zh-CN" altLang="en-US" sz="2400" dirty="0" smtClean="0"/>
              <a:t>二</a:t>
            </a:r>
            <a:endParaRPr lang="zh-CN" altLang="en-US" sz="2400" dirty="0"/>
          </a:p>
        </p:txBody>
      </p:sp>
      <p:sp>
        <p:nvSpPr>
          <p:cNvPr id="5" name="圆角矩形 4">
            <a:hlinkClick r:id="rId4" action="ppaction://hlinksldjump"/>
          </p:cNvPr>
          <p:cNvSpPr/>
          <p:nvPr/>
        </p:nvSpPr>
        <p:spPr>
          <a:xfrm>
            <a:off x="5617021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 dirty="0" smtClean="0"/>
              <a:t>探究</a:t>
            </a:r>
            <a:r>
              <a:rPr lang="zh-CN" altLang="en-US" sz="2400" dirty="0" smtClean="0"/>
              <a:t>三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916960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一</a:t>
            </a:r>
            <a:r>
              <a:rPr lang="en-US" altLang="zh-CN" dirty="0" smtClean="0"/>
              <a:t>  </a:t>
            </a:r>
            <a:r>
              <a:rPr lang="zh-CN" altLang="zh-CN" dirty="0" smtClean="0"/>
              <a:t>标准差</a:t>
            </a:r>
            <a:r>
              <a:rPr lang="zh-CN" altLang="zh-CN" dirty="0"/>
              <a:t>与方差的应用</a:t>
            </a:r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361950" y="1363295"/>
            <a:ext cx="10807700" cy="491096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甲、乙两机床同时加工直径为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100 cm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的零件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为检验质量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从中随机抽取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件测量直径数据如下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甲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99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100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98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100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100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103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乙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99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100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102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99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100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100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分别计算两组数据的极差、平均数及方差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根据计算结果说明哪台机床加工零件的质量更稳定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分析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利用极差、平均数和方差的计算公式求解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先比较平均数的大小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再比较方差的大小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6412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2604404"/>
              </p:ext>
            </p:extLst>
          </p:nvPr>
        </p:nvGraphicFramePr>
        <p:xfrm>
          <a:off x="576461" y="932351"/>
          <a:ext cx="11671959" cy="47560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2" name="文档" r:id="rId4" imgW="3826872" imgH="1559347" progId="Word.Document.12">
                  <p:embed/>
                </p:oleObj>
              </mc:Choice>
              <mc:Fallback>
                <p:oleObj name="文档" r:id="rId4" imgW="3826872" imgH="155934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76461" y="932351"/>
                        <a:ext cx="11671959" cy="47560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12487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7210202"/>
              </p:ext>
            </p:extLst>
          </p:nvPr>
        </p:nvGraphicFramePr>
        <p:xfrm>
          <a:off x="422613" y="978343"/>
          <a:ext cx="11645900" cy="183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7" name="文档" r:id="rId4" imgW="3837724" imgH="609010" progId="Word.Document.12">
                  <p:embed/>
                </p:oleObj>
              </mc:Choice>
              <mc:Fallback>
                <p:oleObj name="文档" r:id="rId4" imgW="3837724" imgH="60901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22613" y="978343"/>
                        <a:ext cx="11645900" cy="1838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/>
          <p:cNvGrpSpPr/>
          <p:nvPr/>
        </p:nvGrpSpPr>
        <p:grpSpPr>
          <a:xfrm>
            <a:off x="361950" y="2947991"/>
            <a:ext cx="10807700" cy="2380328"/>
            <a:chOff x="361950" y="1651847"/>
            <a:chExt cx="10807700" cy="2380328"/>
          </a:xfrm>
        </p:grpSpPr>
        <p:pic>
          <p:nvPicPr>
            <p:cNvPr id="4" name="反思感悟H.eps" descr="id:2147490797;FounderCES"/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361950" y="1651847"/>
              <a:ext cx="2259558" cy="531552"/>
            </a:xfrm>
            <a:prstGeom prst="rect">
              <a:avLst/>
            </a:prstGeom>
          </p:spPr>
        </p:pic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61950" y="2223603"/>
              <a:ext cx="10807700" cy="180857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在实际问题中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仅靠平均数不能完全反映问题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还要研究其偏离平均数的程度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即方差或标准差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):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方差大说明取值离散程度大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方差小说明取值离散程度小或者取值集中、稳定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12287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677295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甲、乙两人参加某体育项目训练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近期的五次测试成绩得分情况如图所示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4" name="21C235.eps" descr="id:2147500670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3024733" y="1894935"/>
            <a:ext cx="4824536" cy="3268283"/>
          </a:xfrm>
          <a:prstGeom prst="rect">
            <a:avLst/>
          </a:prstGeom>
        </p:spPr>
      </p:pic>
      <p:sp>
        <p:nvSpPr>
          <p:cNvPr id="5" name="矩形 4"/>
          <p:cNvSpPr>
            <a:spLocks noChangeAspect="1"/>
          </p:cNvSpPr>
          <p:nvPr/>
        </p:nvSpPr>
        <p:spPr>
          <a:xfrm>
            <a:off x="361950" y="5141791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分别求出两人得分的平均数与方差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根据图形和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中计算结果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对两人的训练成绩作出评价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2984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4149894"/>
              </p:ext>
            </p:extLst>
          </p:nvPr>
        </p:nvGraphicFramePr>
        <p:xfrm>
          <a:off x="415950" y="1017671"/>
          <a:ext cx="11671959" cy="4535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0" name="文档" r:id="rId4" imgW="3826872" imgH="1487111" progId="Word.Document.12">
                  <p:embed/>
                </p:oleObj>
              </mc:Choice>
              <mc:Fallback>
                <p:oleObj name="文档" r:id="rId4" imgW="3826872" imgH="148711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15950" y="1017671"/>
                        <a:ext cx="11671959" cy="45356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66023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091707"/>
              </p:ext>
            </p:extLst>
          </p:nvPr>
        </p:nvGraphicFramePr>
        <p:xfrm>
          <a:off x="432445" y="2355554"/>
          <a:ext cx="10640962" cy="16766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4" name="文档" r:id="rId4" imgW="3837724" imgH="604683" progId="Word.Document.12">
                  <p:embed/>
                </p:oleObj>
              </mc:Choice>
              <mc:Fallback>
                <p:oleObj name="文档" r:id="rId4" imgW="3837724" imgH="60468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2355554"/>
                        <a:ext cx="10640962" cy="167662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0742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947109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二</a:t>
            </a:r>
            <a:r>
              <a:rPr lang="en-US" altLang="zh-CN" dirty="0" smtClean="0"/>
              <a:t>  </a:t>
            </a:r>
            <a:r>
              <a:rPr lang="zh-CN" altLang="zh-CN" dirty="0" smtClean="0"/>
              <a:t>用</a:t>
            </a:r>
            <a:r>
              <a:rPr lang="zh-CN" altLang="zh-CN" dirty="0"/>
              <a:t>平均数和标准差分析数据</a:t>
            </a:r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361950" y="1595181"/>
            <a:ext cx="10807700" cy="186512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 panose="02020503000000020003" pitchFamily="18" charset="-12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某校代表队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名同学在一次英语听力比赛中的成绩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单位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分别为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56,68,68,64,65,70,72,73,71,71,76,76,77,80,86,88,89,80,82,88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7344416"/>
              </p:ext>
            </p:extLst>
          </p:nvPr>
        </p:nvGraphicFramePr>
        <p:xfrm>
          <a:off x="409575" y="3430503"/>
          <a:ext cx="11660188" cy="20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4" name="文档" r:id="rId4" imgW="3826872" imgH="670961" progId="Word.Document.12">
                  <p:embed/>
                </p:oleObj>
              </mc:Choice>
              <mc:Fallback>
                <p:oleObj name="文档" r:id="rId4" imgW="3826872" imgH="67096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09575" y="3430503"/>
                        <a:ext cx="11660188" cy="203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61950" y="-972162"/>
            <a:ext cx="10807700" cy="65556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zh-CN" altLang="zh-CN" dirty="0">
              <a:solidFill>
                <a:srgbClr val="000000"/>
              </a:solidFill>
              <a:effectLst/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4994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9673167"/>
              </p:ext>
            </p:extLst>
          </p:nvPr>
        </p:nvGraphicFramePr>
        <p:xfrm>
          <a:off x="176659" y="1079847"/>
          <a:ext cx="11705058" cy="39778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8" name="文档" r:id="rId4" imgW="3837724" imgH="1304197" progId="Word.Document.12">
                  <p:embed/>
                </p:oleObj>
              </mc:Choice>
              <mc:Fallback>
                <p:oleObj name="文档" r:id="rId4" imgW="3837724" imgH="130419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76659" y="1079847"/>
                        <a:ext cx="11705058" cy="39778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55956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5081594"/>
              </p:ext>
            </p:extLst>
          </p:nvPr>
        </p:nvGraphicFramePr>
        <p:xfrm>
          <a:off x="432445" y="1871935"/>
          <a:ext cx="10640962" cy="22294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8" name="文档" r:id="rId4" imgW="3837724" imgH="804080" progId="Word.Document.12">
                  <p:embed/>
                </p:oleObj>
              </mc:Choice>
              <mc:Fallback>
                <p:oleObj name="文档" r:id="rId4" imgW="3837724" imgH="80408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1871935"/>
                        <a:ext cx="10640962" cy="22294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22182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延伸探究H.eps" descr="id:2147490832;FounderCES"/>
          <p:cNvPicPr/>
          <p:nvPr/>
        </p:nvPicPr>
        <p:blipFill>
          <a:blip r:embed="rId3"/>
          <a:stretch>
            <a:fillRect/>
          </a:stretch>
        </p:blipFill>
        <p:spPr>
          <a:xfrm>
            <a:off x="4317062" y="982568"/>
            <a:ext cx="2524095" cy="460328"/>
          </a:xfrm>
          <a:prstGeom prst="rect">
            <a:avLst/>
          </a:prstGeom>
        </p:spPr>
      </p:pic>
      <p:sp>
        <p:nvSpPr>
          <p:cNvPr id="2" name="矩形 1"/>
          <p:cNvSpPr>
            <a:spLocks noChangeAspect="1"/>
          </p:cNvSpPr>
          <p:nvPr/>
        </p:nvSpPr>
        <p:spPr>
          <a:xfrm>
            <a:off x="75737" y="1496456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本例条件不变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求有多少名同学的成绩在以平均数为中心、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倍标准差的范围内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4639370"/>
              </p:ext>
            </p:extLst>
          </p:nvPr>
        </p:nvGraphicFramePr>
        <p:xfrm>
          <a:off x="142900" y="2767657"/>
          <a:ext cx="11671959" cy="23643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2" name="文档" r:id="rId5" imgW="3826872" imgH="775181" progId="Word.Document.12">
                  <p:embed/>
                </p:oleObj>
              </mc:Choice>
              <mc:Fallback>
                <p:oleObj name="文档" r:id="rId5" imgW="3826872" imgH="77518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42900" y="2767657"/>
                        <a:ext cx="11671959" cy="23643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99412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361950" y="1439887"/>
            <a:ext cx="11671959" cy="2750481"/>
            <a:chOff x="361950" y="940139"/>
            <a:chExt cx="11671959" cy="2750481"/>
          </a:xfrm>
        </p:grpSpPr>
        <p:pic>
          <p:nvPicPr>
            <p:cNvPr id="5" name="反思感悟H.eps" descr="id:2147490797;FounderCES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361950" y="940139"/>
              <a:ext cx="2259558" cy="531552"/>
            </a:xfrm>
            <a:prstGeom prst="rect">
              <a:avLst/>
            </a:prstGeom>
          </p:spPr>
        </p:pic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09034694"/>
                </p:ext>
              </p:extLst>
            </p:nvPr>
          </p:nvGraphicFramePr>
          <p:xfrm>
            <a:off x="361950" y="1583903"/>
            <a:ext cx="11671959" cy="21067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76" name="文档" r:id="rId5" imgW="3837724" imgH="693024" progId="Word.Document.12">
                    <p:embed/>
                  </p:oleObj>
                </mc:Choice>
                <mc:Fallback>
                  <p:oleObj name="文档" r:id="rId5" imgW="3837724" imgH="693024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61950" y="1583903"/>
                          <a:ext cx="11671959" cy="210671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006373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849407"/>
            <a:ext cx="10807700" cy="491096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某农场计划种植某种新品种作物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为此对这种作物进行田间试验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先选取一大块地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再把这一大块地分成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小块地种植新品种作物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试验结束后随机抽取了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小块地的每公顷产量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单位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:kg/hm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):403,397,390,408,404,388,400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 412,406,392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(1)10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小块地的每公顷产量的平均数和方差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能否说明这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小块地的每公顷产量都在以平均数为中心、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倍标准差的范围内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7379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16421" y="605287"/>
            <a:ext cx="11375753" cy="5740976"/>
            <a:chOff x="216421" y="605287"/>
            <a:chExt cx="11375753" cy="5740976"/>
          </a:xfrm>
        </p:grpSpPr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216421" y="605287"/>
              <a:ext cx="11015711" cy="6267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解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(1)10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小块地的每公顷产量的平均数和方差分别为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00530888"/>
                </p:ext>
              </p:extLst>
            </p:nvPr>
          </p:nvGraphicFramePr>
          <p:xfrm>
            <a:off x="349094" y="1181351"/>
            <a:ext cx="11243080" cy="33659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00" name="文档" r:id="rId4" imgW="3826872" imgH="1145701" progId="Word.Document.12">
                    <p:embed/>
                  </p:oleObj>
                </mc:Choice>
                <mc:Fallback>
                  <p:oleObj name="文档" r:id="rId4" imgW="3826872" imgH="1145701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349094" y="1181351"/>
                          <a:ext cx="11243080" cy="336598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216422" y="4537691"/>
              <a:ext cx="10807700" cy="180857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这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10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小块地的每公顷产量都在以平均数为中心、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倍标准差的范围内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但抽样具有随机性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不能说明这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50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小块地的每公顷产量也都在以平均数为中心、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倍标准差的范围内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20875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808363" y="703421"/>
            <a:ext cx="9488422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三</a:t>
            </a:r>
            <a:r>
              <a:rPr lang="en-US" altLang="zh-CN" dirty="0" smtClean="0"/>
              <a:t>  </a:t>
            </a:r>
            <a:r>
              <a:rPr lang="zh-CN" altLang="zh-CN" dirty="0" smtClean="0"/>
              <a:t>求</a:t>
            </a:r>
            <a:r>
              <a:rPr lang="zh-CN" altLang="zh-CN" dirty="0"/>
              <a:t>总体平均数和总体方差、标准差</a:t>
            </a:r>
          </a:p>
        </p:txBody>
      </p:sp>
      <p:sp>
        <p:nvSpPr>
          <p:cNvPr id="6" name="矩形 5"/>
          <p:cNvSpPr>
            <a:spLocks noChangeAspect="1"/>
          </p:cNvSpPr>
          <p:nvPr/>
        </p:nvSpPr>
        <p:spPr>
          <a:xfrm>
            <a:off x="361950" y="1338477"/>
            <a:ext cx="10807700" cy="241713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 panose="02020503000000020003" pitchFamily="18" charset="-12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某中学为研究该校男女学生在每月生活费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单位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支出上的差异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在高一年级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400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名学生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其中男生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220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女生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180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中采用比例分配的分层抽样方法随机抽取了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名男生与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18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名女生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统计他们每月生活费的支出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得到下面的结果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3933118"/>
              </p:ext>
            </p:extLst>
          </p:nvPr>
        </p:nvGraphicFramePr>
        <p:xfrm>
          <a:off x="432445" y="3755614"/>
          <a:ext cx="11671959" cy="12232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4" name="文档" r:id="rId4" imgW="3826872" imgH="401067" progId="Word.Document.12">
                  <p:embed/>
                </p:oleObj>
              </mc:Choice>
              <mc:Fallback>
                <p:oleObj name="文档" r:id="rId4" imgW="3826872" imgH="40106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3755614"/>
                        <a:ext cx="11671959" cy="12232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>
            <a:spLocks noChangeAspect="1"/>
          </p:cNvSpPr>
          <p:nvPr/>
        </p:nvSpPr>
        <p:spPr>
          <a:xfrm>
            <a:off x="361950" y="4947308"/>
            <a:ext cx="10807700" cy="123527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试根据以上数据估计该校高一学生每月的生活费支出的总体均值、总体方差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5607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7585372"/>
              </p:ext>
            </p:extLst>
          </p:nvPr>
        </p:nvGraphicFramePr>
        <p:xfrm>
          <a:off x="432445" y="849934"/>
          <a:ext cx="11671959" cy="511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8" name="文档" r:id="rId4" imgW="3826872" imgH="1677582" progId="Word.Document.12">
                  <p:embed/>
                </p:oleObj>
              </mc:Choice>
              <mc:Fallback>
                <p:oleObj name="文档" r:id="rId4" imgW="3826872" imgH="167758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849934"/>
                        <a:ext cx="11671959" cy="5116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5066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ChangeAspect="1"/>
          </p:cNvSpPr>
          <p:nvPr/>
        </p:nvSpPr>
        <p:spPr>
          <a:xfrm>
            <a:off x="361950" y="3384103"/>
            <a:ext cx="10807700" cy="123527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因为分层随机抽样按比例分配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所以可估计该校高一学生每月的生活费支出的总体均值为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511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总体方差为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362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9324090"/>
              </p:ext>
            </p:extLst>
          </p:nvPr>
        </p:nvGraphicFramePr>
        <p:xfrm>
          <a:off x="497790" y="1800694"/>
          <a:ext cx="11671959" cy="1601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2" name="文档" r:id="rId4" imgW="3826872" imgH="525053" progId="Word.Document.12">
                  <p:embed/>
                </p:oleObj>
              </mc:Choice>
              <mc:Fallback>
                <p:oleObj name="文档" r:id="rId4" imgW="3826872" imgH="52505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97790" y="1800694"/>
                        <a:ext cx="11671959" cy="16014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04287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361950" y="1206678"/>
            <a:ext cx="12409559" cy="3525257"/>
            <a:chOff x="361950" y="940139"/>
            <a:chExt cx="12409559" cy="3525257"/>
          </a:xfrm>
        </p:grpSpPr>
        <p:pic>
          <p:nvPicPr>
            <p:cNvPr id="5" name="反思感悟H.eps" descr="id:2147490797;FounderCES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361950" y="940139"/>
              <a:ext cx="2259558" cy="531552"/>
            </a:xfrm>
            <a:prstGeom prst="rect">
              <a:avLst/>
            </a:prstGeom>
          </p:spPr>
        </p:pic>
        <p:sp>
          <p:nvSpPr>
            <p:cNvPr id="7" name="矩形 6"/>
            <p:cNvSpPr>
              <a:spLocks noChangeAspect="1"/>
            </p:cNvSpPr>
            <p:nvPr/>
          </p:nvSpPr>
          <p:spPr>
            <a:xfrm>
              <a:off x="361950" y="1511895"/>
              <a:ext cx="10807700" cy="295350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计算样本平均数、样本方差直接利用公式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注意公式的变形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样本方差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在按比例分配的分层随机抽样中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我们可以用样本平均数和样本方差估计总体平均数和总体方差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8" name="对象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9767910"/>
                </p:ext>
              </p:extLst>
            </p:nvPr>
          </p:nvGraphicFramePr>
          <p:xfrm>
            <a:off x="2160637" y="2258047"/>
            <a:ext cx="10610872" cy="8380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396" name="文档" r:id="rId5" imgW="3826872" imgH="302238" progId="Word.Document.12">
                    <p:embed/>
                  </p:oleObj>
                </mc:Choice>
                <mc:Fallback>
                  <p:oleObj name="文档" r:id="rId5" imgW="3826872" imgH="302238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160637" y="2258047"/>
                          <a:ext cx="10610872" cy="83802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843127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583903"/>
            <a:ext cx="10807700" cy="299043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 panose="02020503000000020003" pitchFamily="18" charset="-12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在一个文艺比赛中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,8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名专业人士和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名观众代表各组成一个评判小组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给参赛选手打分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在给某选手的打分中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专业人士打分的平均数和标准差分别为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47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观众代表打分的平均数和标准差分别为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56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试根据这些数据计算这名选手得分的平均数和标准差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精确到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01)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1444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3073297"/>
              </p:ext>
            </p:extLst>
          </p:nvPr>
        </p:nvGraphicFramePr>
        <p:xfrm>
          <a:off x="504453" y="681675"/>
          <a:ext cx="10640962" cy="57387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4" name="文档" r:id="rId4" imgW="3837724" imgH="2069696" progId="Word.Document.12">
                  <p:embed/>
                </p:oleObj>
              </mc:Choice>
              <mc:Fallback>
                <p:oleObj name="文档" r:id="rId4" imgW="3837724" imgH="206969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681675"/>
                        <a:ext cx="10640962" cy="57387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60023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</a:p>
        </p:txBody>
      </p:sp>
    </p:spTree>
    <p:extLst>
      <p:ext uri="{BB962C8B-B14F-4D97-AF65-F5344CB8AC3E}">
        <p14:creationId xmlns:p14="http://schemas.microsoft.com/office/powerpoint/2010/main" val="4161990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647799"/>
            <a:ext cx="10807700" cy="1865126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方差、标准差混淆而</a:t>
            </a:r>
            <a:r>
              <a:rPr lang="zh-CN" altLang="zh-CN" dirty="0" smtClean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致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错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【典例】</a:t>
            </a:r>
            <a:r>
              <a:rPr lang="zh-CN" altLang="zh-CN" dirty="0">
                <a:solidFill>
                  <a:srgbClr val="000000"/>
                </a:solidFill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从某项综合能力测试中抽取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100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人的成绩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统计如表所示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则这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100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人成绩的标准差为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en-US" dirty="0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0395557"/>
              </p:ext>
            </p:extLst>
          </p:nvPr>
        </p:nvGraphicFramePr>
        <p:xfrm>
          <a:off x="-322263" y="2452688"/>
          <a:ext cx="11833226" cy="2119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88" name="文档" r:id="rId4" imgW="3894589" imgH="700956" progId="Word.Document.12">
                  <p:embed/>
                </p:oleObj>
              </mc:Choice>
              <mc:Fallback>
                <p:oleObj name="文档" r:id="rId4" imgW="3894589" imgH="70095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-322263" y="2452688"/>
                        <a:ext cx="11833226" cy="21193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3062877"/>
              </p:ext>
            </p:extLst>
          </p:nvPr>
        </p:nvGraphicFramePr>
        <p:xfrm>
          <a:off x="432445" y="3960167"/>
          <a:ext cx="11671959" cy="24070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89" name="文档" r:id="rId7" imgW="3826872" imgH="789197" progId="Word.Document.12">
                  <p:embed/>
                </p:oleObj>
              </mc:Choice>
              <mc:Fallback>
                <p:oleObj name="文档" r:id="rId7" imgW="3826872" imgH="78919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2445" y="3960167"/>
                        <a:ext cx="11671959" cy="24070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4210655"/>
              </p:ext>
            </p:extLst>
          </p:nvPr>
        </p:nvGraphicFramePr>
        <p:xfrm>
          <a:off x="4032845" y="5578714"/>
          <a:ext cx="11671959" cy="8045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90" name="文档" r:id="rId10" imgW="3826872" imgH="263784" progId="Word.Document.12">
                  <p:embed/>
                </p:oleObj>
              </mc:Choice>
              <mc:Fallback>
                <p:oleObj name="文档" r:id="rId10" imgW="3826872" imgH="26378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032845" y="5578714"/>
                        <a:ext cx="11671959" cy="8045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4394447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ChangeAspect="1"/>
          </p:cNvSpPr>
          <p:nvPr/>
        </p:nvSpPr>
        <p:spPr>
          <a:xfrm>
            <a:off x="361950" y="1295871"/>
            <a:ext cx="10807700" cy="180857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以上解答过程中都有哪些错误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出错的原因是什么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你如何改正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你如何防范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错解中求的是方差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而不是标准差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2349192"/>
              </p:ext>
            </p:extLst>
          </p:nvPr>
        </p:nvGraphicFramePr>
        <p:xfrm>
          <a:off x="432445" y="3104443"/>
          <a:ext cx="11671959" cy="8703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0" name="文档" r:id="rId4" imgW="3826872" imgH="285347" progId="Word.Document.12">
                  <p:embed/>
                </p:oleObj>
              </mc:Choice>
              <mc:Fallback>
                <p:oleObj name="文档" r:id="rId4" imgW="3826872" imgH="28534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3104443"/>
                        <a:ext cx="11671959" cy="8703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0785851"/>
              </p:ext>
            </p:extLst>
          </p:nvPr>
        </p:nvGraphicFramePr>
        <p:xfrm>
          <a:off x="432025" y="4009236"/>
          <a:ext cx="11671959" cy="8703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1" name="文档" r:id="rId7" imgW="3826872" imgH="285347" progId="Word.Document.12">
                  <p:embed/>
                </p:oleObj>
              </mc:Choice>
              <mc:Fallback>
                <p:oleObj name="文档" r:id="rId7" imgW="3826872" imgH="28534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2025" y="4009236"/>
                        <a:ext cx="11671959" cy="8703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98052169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61950" y="2008880"/>
            <a:ext cx="10807700" cy="1807271"/>
            <a:chOff x="361950" y="1792856"/>
            <a:chExt cx="10807700" cy="1807271"/>
          </a:xfrm>
        </p:grpSpPr>
        <p:pic>
          <p:nvPicPr>
            <p:cNvPr id="6" name="防范措施H.eps" descr="id:2147490860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1950" y="1792856"/>
              <a:ext cx="2259558" cy="531552"/>
            </a:xfrm>
            <a:prstGeom prst="rect">
              <a:avLst/>
            </a:prstGeom>
          </p:spPr>
        </p:pic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2382486"/>
              <a:ext cx="10807700" cy="121764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理解方差的加权形式的计算公式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注意方差和标准差的区别与联系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审清题意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　　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98967785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5371796"/>
              </p:ext>
            </p:extLst>
          </p:nvPr>
        </p:nvGraphicFramePr>
        <p:xfrm>
          <a:off x="245917" y="791815"/>
          <a:ext cx="11671959" cy="1474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0" name="文档" r:id="rId4" imgW="3826872" imgH="483365" progId="Word.Document.12">
                  <p:embed/>
                </p:oleObj>
              </mc:Choice>
              <mc:Fallback>
                <p:oleObj name="文档" r:id="rId4" imgW="3826872" imgH="48336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45917" y="791815"/>
                        <a:ext cx="11671959" cy="14742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9826394"/>
              </p:ext>
            </p:extLst>
          </p:nvPr>
        </p:nvGraphicFramePr>
        <p:xfrm>
          <a:off x="252413" y="2249488"/>
          <a:ext cx="11645900" cy="2752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1" name="文档" r:id="rId7" imgW="3837724" imgH="911171" progId="Word.Document.12">
                  <p:embed/>
                </p:oleObj>
              </mc:Choice>
              <mc:Fallback>
                <p:oleObj name="文档" r:id="rId7" imgW="3837724" imgH="91117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52413" y="2249488"/>
                        <a:ext cx="11645900" cy="2752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1782627"/>
              </p:ext>
            </p:extLst>
          </p:nvPr>
        </p:nvGraphicFramePr>
        <p:xfrm>
          <a:off x="245916" y="5106083"/>
          <a:ext cx="11671959" cy="8703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2" name="文档" r:id="rId10" imgW="3826872" imgH="285347" progId="Word.Document.12">
                  <p:embed/>
                </p:oleObj>
              </mc:Choice>
              <mc:Fallback>
                <p:oleObj name="文档" r:id="rId10" imgW="3826872" imgH="28534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45916" y="5106083"/>
                        <a:ext cx="11671959" cy="8703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17329841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367879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</a:p>
        </p:txBody>
      </p:sp>
    </p:spTree>
    <p:extLst>
      <p:ext uri="{BB962C8B-B14F-4D97-AF65-F5344CB8AC3E}">
        <p14:creationId xmlns:p14="http://schemas.microsoft.com/office/powerpoint/2010/main" val="4075514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529918"/>
            <a:ext cx="10807700" cy="594508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下列说法正确的是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在两组数据中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平均数较大的一组方差较大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平均数反映数据的集中趋势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方差则反映数据的离散程度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方差的求法是求出各个数据与平均数的差的平方后再求和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在记录两个人射击环数的两组数据中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方差大的表示射击水平高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平均数和方差是数据的两个特征量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不存在这种关系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求和后还需取平均数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;D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方差越大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说明成绩波动越大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射击水平越低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40624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595455"/>
            <a:ext cx="10807700" cy="239950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某校举行元旦诗歌朗诵比赛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七位评委为某位选手打出的分数为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79,84,84,86,84,87,93,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去掉一个最高分和一个最低分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所剩数据的平均数和方差分别为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84,4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84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B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84,1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C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85,1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D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85,0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1375790"/>
              </p:ext>
            </p:extLst>
          </p:nvPr>
        </p:nvGraphicFramePr>
        <p:xfrm>
          <a:off x="420688" y="2996805"/>
          <a:ext cx="11645900" cy="2690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7" name="文档" r:id="rId4" imgW="3837724" imgH="889536" progId="Word.Document.12">
                  <p:embed/>
                </p:oleObj>
              </mc:Choice>
              <mc:Fallback>
                <p:oleObj name="文档" r:id="rId4" imgW="3837724" imgH="88953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20688" y="2996805"/>
                        <a:ext cx="11645900" cy="26908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216421" y="5713264"/>
            <a:ext cx="1544012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3549904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388118"/>
              </p:ext>
            </p:extLst>
          </p:nvPr>
        </p:nvGraphicFramePr>
        <p:xfrm>
          <a:off x="340773" y="719807"/>
          <a:ext cx="11671959" cy="13789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5" name="文档" r:id="rId4" imgW="3826872" imgH="452099" progId="Word.Document.12">
                  <p:embed/>
                </p:oleObj>
              </mc:Choice>
              <mc:Fallback>
                <p:oleObj name="文档" r:id="rId4" imgW="3826872" imgH="45209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40773" y="719807"/>
                        <a:ext cx="11671959" cy="13789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0384333"/>
              </p:ext>
            </p:extLst>
          </p:nvPr>
        </p:nvGraphicFramePr>
        <p:xfrm>
          <a:off x="340773" y="2032176"/>
          <a:ext cx="11671959" cy="2854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6" name="文档" r:id="rId7" imgW="3826872" imgH="935824" progId="Word.Document.12">
                  <p:embed/>
                </p:oleObj>
              </mc:Choice>
              <mc:Fallback>
                <p:oleObj name="文档" r:id="rId7" imgW="3826872" imgH="93582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40773" y="2032176"/>
                        <a:ext cx="11671959" cy="28542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EMG2TRA74.eps" descr="id:2147500435;FounderCES"/>
          <p:cNvPicPr/>
          <p:nvPr/>
        </p:nvPicPr>
        <p:blipFill>
          <a:blip r:embed="rId9"/>
          <a:stretch>
            <a:fillRect/>
          </a:stretch>
        </p:blipFill>
        <p:spPr>
          <a:xfrm>
            <a:off x="4517237" y="2042008"/>
            <a:ext cx="5832648" cy="2497087"/>
          </a:xfrm>
          <a:prstGeom prst="rect">
            <a:avLst/>
          </a:prstGeom>
        </p:spPr>
      </p:pic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1271652"/>
              </p:ext>
            </p:extLst>
          </p:nvPr>
        </p:nvGraphicFramePr>
        <p:xfrm>
          <a:off x="268765" y="4896271"/>
          <a:ext cx="11671959" cy="13186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7" name="文档" r:id="rId11" imgW="3826872" imgH="432333" progId="Word.Document.12">
                  <p:embed/>
                </p:oleObj>
              </mc:Choice>
              <mc:Fallback>
                <p:oleObj name="文档" r:id="rId11" imgW="3826872" imgH="43233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68765" y="4896271"/>
                        <a:ext cx="11671959" cy="13186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/>
          <p:cNvSpPr>
            <a:spLocks noChangeAspect="1"/>
          </p:cNvSpPr>
          <p:nvPr/>
        </p:nvSpPr>
        <p:spPr>
          <a:xfrm>
            <a:off x="8929389" y="5419991"/>
            <a:ext cx="1521570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2274054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132191"/>
            <a:ext cx="10807700" cy="127419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已知一组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数据</a:t>
            </a:r>
            <a:r>
              <a:rPr lang="zh-CN" altLang="en-US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7,4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8,5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1,5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4,5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则该组数据的方差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endParaRPr lang="en-US" altLang="zh-CN" dirty="0" smtClean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5893517"/>
              </p:ext>
            </p:extLst>
          </p:nvPr>
        </p:nvGraphicFramePr>
        <p:xfrm>
          <a:off x="372259" y="2349832"/>
          <a:ext cx="11671959" cy="21461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5" name="文档" r:id="rId4" imgW="3826872" imgH="703665" progId="Word.Document.12">
                  <p:embed/>
                </p:oleObj>
              </mc:Choice>
              <mc:Fallback>
                <p:oleObj name="文档" r:id="rId4" imgW="3826872" imgH="70366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72259" y="2349832"/>
                        <a:ext cx="11671959" cy="21461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226253" y="4496010"/>
            <a:ext cx="1760418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5012559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361950" y="1151855"/>
            <a:ext cx="10936814" cy="3816424"/>
            <a:chOff x="361950" y="1151855"/>
            <a:chExt cx="10936814" cy="3816424"/>
          </a:xfrm>
        </p:grpSpPr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61950" y="1151855"/>
              <a:ext cx="10807700" cy="121764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随机抽取统计甲、乙两名射击运动员的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次训练成绩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单位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环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结果如下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4547559"/>
                </p:ext>
              </p:extLst>
            </p:nvPr>
          </p:nvGraphicFramePr>
          <p:xfrm>
            <a:off x="528673" y="2373234"/>
            <a:ext cx="10770091" cy="25230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09" name="文档" r:id="rId4" imgW="3884295" imgH="909948" progId="Word.Document.12">
                    <p:embed/>
                  </p:oleObj>
                </mc:Choice>
                <mc:Fallback>
                  <p:oleObj name="文档" r:id="rId4" imgW="3884295" imgH="909948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528673" y="2373234"/>
                          <a:ext cx="10770091" cy="252303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矩形 6"/>
            <p:cNvSpPr>
              <a:spLocks noChangeAspect="1"/>
            </p:cNvSpPr>
            <p:nvPr/>
          </p:nvSpPr>
          <p:spPr>
            <a:xfrm>
              <a:off x="361950" y="4341569"/>
              <a:ext cx="10807700" cy="62671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则成绩较为稳定的那位运动员成绩的方差为</a:t>
              </a:r>
              <a:r>
                <a:rPr lang="zh-CN" altLang="zh-CN" i="1" u="sng" dirty="0">
                  <a:uFill>
                    <a:solidFill>
                      <a:srgbClr val="000000"/>
                    </a:solidFill>
                  </a:uFill>
                  <a:ea typeface="宋体" panose="02010600030101010101" pitchFamily="2" charset="-122"/>
                  <a:cs typeface="Times New Roman" panose="02020603050405020304" pitchFamily="18" charset="0"/>
                </a:rPr>
                <a:t>　　　　　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i="1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 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56215656"/>
      </p:ext>
    </p:extLst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7871931"/>
              </p:ext>
            </p:extLst>
          </p:nvPr>
        </p:nvGraphicFramePr>
        <p:xfrm>
          <a:off x="360437" y="1295871"/>
          <a:ext cx="11671959" cy="3184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3" name="文档" r:id="rId4" imgW="3826872" imgH="1043997" progId="Word.Document.12">
                  <p:embed/>
                </p:oleObj>
              </mc:Choice>
              <mc:Fallback>
                <p:oleObj name="文档" r:id="rId4" imgW="3826872" imgH="104399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0437" y="1295871"/>
                        <a:ext cx="11671959" cy="3184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288429" y="4464815"/>
            <a:ext cx="1452642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1149805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081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专业教辅课件Q:251490010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 经典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7F1B58FA-3D69-4926-A2BA-EEBABBAD5E6B}" vid="{76CC91B4-AC1E-4E21-9BDB-923C2B156DC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新教材 高中同步</Template>
  <TotalTime>78</TotalTime>
  <Words>1496</Words>
  <Application>Microsoft Office PowerPoint</Application>
  <PresentationFormat>自定义</PresentationFormat>
  <Paragraphs>96</Paragraphs>
  <Slides>47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47</vt:i4>
      </vt:variant>
    </vt:vector>
  </HeadingPairs>
  <TitlesOfParts>
    <vt:vector size="63" baseType="lpstr">
      <vt:lpstr>NEU-BZ-S92</vt:lpstr>
      <vt:lpstr>方正书宋_GBK</vt:lpstr>
      <vt:lpstr>方正正中黑简体</vt:lpstr>
      <vt:lpstr>仿宋</vt:lpstr>
      <vt:lpstr>黑体</vt:lpstr>
      <vt:lpstr>华文新魏</vt:lpstr>
      <vt:lpstr>楷体</vt:lpstr>
      <vt:lpstr>隶书</vt:lpstr>
      <vt:lpstr>宋体</vt:lpstr>
      <vt:lpstr>微软雅黑</vt:lpstr>
      <vt:lpstr>Arial</vt:lpstr>
      <vt:lpstr>Calibri</vt:lpstr>
      <vt:lpstr>Cambria Math</vt:lpstr>
      <vt:lpstr>Times New Roman</vt:lpstr>
      <vt:lpstr>专业教辅课件Q:251490010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Microsoft</cp:lastModifiedBy>
  <cp:revision>25</cp:revision>
  <dcterms:created xsi:type="dcterms:W3CDTF">2020-09-12T05:36:12Z</dcterms:created>
  <dcterms:modified xsi:type="dcterms:W3CDTF">2025-09-04T06:41:41Z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TAG2">
    <vt:lpwstr>0008007650000000000001024140</vt:lpwstr>
  </property>
  <property fmtid="{D5CDD505-2E9C-101B-9397-08002B2CF9AE}" pid="3" name="KSOProductBuildVer">
    <vt:lpwstr>2052-10.1.0.7698</vt:lpwstr>
  </property>
</Properties>
</file>