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731" r:id="rId2"/>
    <p:sldId id="753" r:id="rId3"/>
    <p:sldId id="736" r:id="rId4"/>
    <p:sldId id="744" r:id="rId5"/>
    <p:sldId id="746" r:id="rId6"/>
    <p:sldId id="749" r:id="rId7"/>
    <p:sldId id="756" r:id="rId8"/>
    <p:sldId id="757" r:id="rId9"/>
    <p:sldId id="758" r:id="rId10"/>
    <p:sldId id="759" r:id="rId11"/>
    <p:sldId id="798" r:id="rId12"/>
    <p:sldId id="760" r:id="rId13"/>
    <p:sldId id="761" r:id="rId14"/>
    <p:sldId id="763" r:id="rId15"/>
    <p:sldId id="764" r:id="rId16"/>
    <p:sldId id="765" r:id="rId17"/>
    <p:sldId id="737" r:id="rId18"/>
    <p:sldId id="750" r:id="rId19"/>
    <p:sldId id="766" r:id="rId20"/>
    <p:sldId id="767" r:id="rId21"/>
    <p:sldId id="768" r:id="rId22"/>
    <p:sldId id="769" r:id="rId23"/>
    <p:sldId id="770" r:id="rId24"/>
    <p:sldId id="771" r:id="rId25"/>
    <p:sldId id="801" r:id="rId26"/>
    <p:sldId id="772" r:id="rId27"/>
    <p:sldId id="754" r:id="rId28"/>
    <p:sldId id="773" r:id="rId29"/>
    <p:sldId id="799" r:id="rId30"/>
    <p:sldId id="774" r:id="rId31"/>
    <p:sldId id="800" r:id="rId32"/>
    <p:sldId id="775" r:id="rId33"/>
    <p:sldId id="776" r:id="rId34"/>
    <p:sldId id="755" r:id="rId35"/>
    <p:sldId id="777" r:id="rId36"/>
    <p:sldId id="778" r:id="rId37"/>
    <p:sldId id="779" r:id="rId38"/>
    <p:sldId id="780" r:id="rId39"/>
    <p:sldId id="781" r:id="rId40"/>
    <p:sldId id="782" r:id="rId41"/>
    <p:sldId id="783" r:id="rId42"/>
    <p:sldId id="747" r:id="rId43"/>
    <p:sldId id="751" r:id="rId44"/>
    <p:sldId id="784" r:id="rId45"/>
    <p:sldId id="785" r:id="rId46"/>
    <p:sldId id="786" r:id="rId47"/>
    <p:sldId id="787" r:id="rId48"/>
    <p:sldId id="748" r:id="rId49"/>
    <p:sldId id="752" r:id="rId50"/>
    <p:sldId id="788" r:id="rId51"/>
    <p:sldId id="789" r:id="rId52"/>
    <p:sldId id="790" r:id="rId53"/>
    <p:sldId id="791" r:id="rId54"/>
    <p:sldId id="792" r:id="rId55"/>
    <p:sldId id="793" r:id="rId56"/>
    <p:sldId id="794" r:id="rId57"/>
    <p:sldId id="795" r:id="rId58"/>
    <p:sldId id="796" r:id="rId59"/>
    <p:sldId id="797" r:id="rId60"/>
    <p:sldId id="735" r:id="rId61"/>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4" d="100"/>
          <a:sy n="94" d="100"/>
        </p:scale>
        <p:origin x="1002" y="9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60</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48.xml"/><Relationship Id="rId5" Type="http://schemas.openxmlformats.org/officeDocument/2006/relationships/slide" Target="slide42.xml"/><Relationship Id="rId4" Type="http://schemas.openxmlformats.org/officeDocument/2006/relationships/slide" Target="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18.xml"/><Relationship Id="rId1" Type="http://schemas.openxmlformats.org/officeDocument/2006/relationships/slideLayout" Target="../slideLayouts/slideLayout4.xml"/><Relationship Id="rId4" Type="http://schemas.openxmlformats.org/officeDocument/2006/relationships/slide" Target="slide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12.emf"/><Relationship Id="rId5" Type="http://schemas.openxmlformats.org/officeDocument/2006/relationships/package" Target="../embeddings/Microsoft_Word___8.docx"/><Relationship Id="rId4"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16.jpeg"/><Relationship Id="rId5" Type="http://schemas.openxmlformats.org/officeDocument/2006/relationships/image" Target="../media/image15.emf"/><Relationship Id="rId4" Type="http://schemas.openxmlformats.org/officeDocument/2006/relationships/package" Target="../embeddings/Microsoft_Word___9.docx"/></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8.emf"/><Relationship Id="rId4" Type="http://schemas.openxmlformats.org/officeDocument/2006/relationships/package" Target="../embeddings/Microsoft_Word___10.docx"/></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19.emf"/><Relationship Id="rId5" Type="http://schemas.openxmlformats.org/officeDocument/2006/relationships/package" Target="../embeddings/Microsoft_Word___11.docx"/><Relationship Id="rId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21.emf"/><Relationship Id="rId5" Type="http://schemas.openxmlformats.org/officeDocument/2006/relationships/package" Target="../embeddings/Microsoft_Word___12.docx"/><Relationship Id="rId4" Type="http://schemas.openxmlformats.org/officeDocument/2006/relationships/oleObject" Target="../embeddings/oleObject12.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26.jpeg"/><Relationship Id="rId5" Type="http://schemas.openxmlformats.org/officeDocument/2006/relationships/image" Target="../media/image25.emf"/><Relationship Id="rId4" Type="http://schemas.openxmlformats.org/officeDocument/2006/relationships/package" Target="../embeddings/Microsoft_Word___13.docx"/></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29.emf"/><Relationship Id="rId5" Type="http://schemas.openxmlformats.org/officeDocument/2006/relationships/package" Target="../embeddings/Microsoft_Word___14.docx"/><Relationship Id="rId4" Type="http://schemas.openxmlformats.org/officeDocument/2006/relationships/oleObject" Target="../embeddings/oleObject14.bin"/></Relationships>
</file>

<file path=ppt/slides/_rels/slide4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32.emf"/><Relationship Id="rId4" Type="http://schemas.openxmlformats.org/officeDocument/2006/relationships/package" Target="../embeddings/Microsoft_Word___15.docx"/></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33.emf"/><Relationship Id="rId4" Type="http://schemas.openxmlformats.org/officeDocument/2006/relationships/package" Target="../embeddings/Microsoft_Word___16.docx"/></Relationships>
</file>

<file path=ppt/slides/_rels/slide5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35.emf"/><Relationship Id="rId4" Type="http://schemas.openxmlformats.org/officeDocument/2006/relationships/package" Target="../embeddings/Microsoft_Word___17.docx"/></Relationships>
</file>

<file path=ppt/slides/_rels/slide5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image" Target="../media/image39.jpeg"/><Relationship Id="rId5" Type="http://schemas.openxmlformats.org/officeDocument/2006/relationships/image" Target="../media/image38.emf"/><Relationship Id="rId4" Type="http://schemas.openxmlformats.org/officeDocument/2006/relationships/package" Target="../embeddings/Microsoft_Word___18.docx"/></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40.emf"/><Relationship Id="rId4" Type="http://schemas.openxmlformats.org/officeDocument/2006/relationships/package" Target="../embeddings/Microsoft_Word___19.docx"/></Relationships>
</file>

<file path=ppt/slides/_rels/slide5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359657"/>
            <a:ext cx="10807700" cy="109645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9</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1</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总体取值规律的估计</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791815"/>
            <a:ext cx="10729192" cy="5060491"/>
            <a:chOff x="360437" y="791815"/>
            <a:chExt cx="10729192" cy="5060491"/>
          </a:xfrm>
        </p:grpSpPr>
        <p:grpSp>
          <p:nvGrpSpPr>
            <p:cNvPr id="13" name="组合 12"/>
            <p:cNvGrpSpPr/>
            <p:nvPr/>
          </p:nvGrpSpPr>
          <p:grpSpPr>
            <a:xfrm>
              <a:off x="360437" y="791815"/>
              <a:ext cx="10729192" cy="5060491"/>
              <a:chOff x="360437" y="1511895"/>
              <a:chExt cx="10729192" cy="3456384"/>
            </a:xfrm>
          </p:grpSpPr>
          <p:sp>
            <p:nvSpPr>
              <p:cNvPr id="2" name="圆角矩形 1"/>
              <p:cNvSpPr/>
              <p:nvPr/>
            </p:nvSpPr>
            <p:spPr>
              <a:xfrm>
                <a:off x="360437" y="1511895"/>
                <a:ext cx="10729192" cy="34563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573017"/>
                <a:ext cx="0" cy="3312368"/>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968511"/>
              <a:ext cx="8496944" cy="4763227"/>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结合实例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能用样本估计总体的取值规律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会列频率分布表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会画频率分布直方图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能根据频率分布表和频率分布直方图观测数据的分布规律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能够根据实际问题的特点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选择恰当的统计图表对数据进行可视化描述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体会合理使用统计图表的重要性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5</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提升直观想象、数学建模和数学运算素养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79847"/>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一、频率分布直方图</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给出以下</a:t>
            </a:r>
            <a:r>
              <a:rPr lang="en-US" altLang="zh-CN" dirty="0">
                <a:solidFill>
                  <a:srgbClr val="000000"/>
                </a:solidFill>
                <a:ea typeface="宋体" panose="02010600030101010101" pitchFamily="2" charset="-122"/>
                <a:cs typeface="Times New Roman" panose="02020603050405020304" pitchFamily="18" charset="0"/>
              </a:rPr>
              <a:t>44</a:t>
            </a:r>
            <a:r>
              <a:rPr lang="zh-CN" altLang="zh-CN" dirty="0">
                <a:solidFill>
                  <a:srgbClr val="000000"/>
                </a:solidFill>
                <a:ea typeface="宋体" panose="02010600030101010101" pitchFamily="2" charset="-122"/>
                <a:cs typeface="Times New Roman" panose="02020603050405020304" pitchFamily="18" charset="0"/>
              </a:rPr>
              <a:t>个数据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57,61,57,57,58,57,61,54,68,51,49,64,50,48,65,52,56,46,54,49,51, 47,55,55,54,42,51,56,55,51,54,51,60,62,43,55,56,61,52,69,64,46, 54,48</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上述</a:t>
            </a:r>
            <a:r>
              <a:rPr lang="en-US" altLang="zh-CN" dirty="0">
                <a:solidFill>
                  <a:srgbClr val="000000"/>
                </a:solidFill>
                <a:ea typeface="宋体" panose="02010600030101010101" pitchFamily="2" charset="-122"/>
                <a:cs typeface="Times New Roman" panose="02020603050405020304" pitchFamily="18" charset="0"/>
              </a:rPr>
              <a:t>44</a:t>
            </a:r>
            <a:r>
              <a:rPr lang="zh-CN" altLang="zh-CN" dirty="0">
                <a:solidFill>
                  <a:srgbClr val="000000"/>
                </a:solidFill>
                <a:ea typeface="宋体" panose="02010600030101010101" pitchFamily="2" charset="-122"/>
                <a:cs typeface="Times New Roman" panose="02020603050405020304" pitchFamily="18" charset="0"/>
              </a:rPr>
              <a:t>个数据中最大值与最小值的差是多少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27</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06335"/>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若将上述数据分成下列几组</a:t>
            </a:r>
            <a:r>
              <a:rPr lang="en-US" altLang="zh-CN" dirty="0">
                <a:solidFill>
                  <a:srgbClr val="000000"/>
                </a:solidFill>
                <a:ea typeface="宋体" panose="02010600030101010101" pitchFamily="2" charset="-122"/>
                <a:cs typeface="Times New Roman" panose="02020603050405020304" pitchFamily="18" charset="0"/>
              </a:rPr>
              <a:t>:[41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5,49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则数据落在各个小组的个数是多少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数据落在各小组的个数依次是</a:t>
            </a:r>
            <a:r>
              <a:rPr lang="en-US" altLang="zh-CN" dirty="0">
                <a:solidFill>
                  <a:srgbClr val="000000"/>
                </a:solidFill>
                <a:ea typeface="宋体" panose="02010600030101010101" pitchFamily="2" charset="-122"/>
                <a:cs typeface="Times New Roman" panose="02020603050405020304" pitchFamily="18" charset="0"/>
              </a:rPr>
              <a:t>2,7,8,16,5,4,2</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我们初中学过的频数分布直方图和频数分布表能清楚地表示数据分布在各个小组的个数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那么如何刻画样本观测数据落在各个小组的比例大小呢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利用频率分布表和频率分布直方图</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5731137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06796"/>
            <a:ext cx="10807700" cy="604781"/>
          </a:xfrm>
          <a:prstGeom prst="rect">
            <a:avLst/>
          </a:prstGeom>
        </p:spPr>
        <p:txBody>
          <a:bodyPr>
            <a:spAutoFit/>
          </a:bodyPr>
          <a:lstStyle/>
          <a:p>
            <a:pPr>
              <a:lnSpc>
                <a:spcPct val="120000"/>
              </a:lnSpc>
              <a:spcAft>
                <a:spcPts val="0"/>
              </a:spcAft>
              <a:tabLst>
                <a:tab pos="1029335" algn="l"/>
                <a:tab pos="1850390" algn="l"/>
                <a:tab pos="2538095" algn="l"/>
                <a:tab pos="3221990" algn="l"/>
              </a:tabLst>
            </a:pP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6" name="组合 5"/>
          <p:cNvGrpSpPr/>
          <p:nvPr/>
        </p:nvGrpSpPr>
        <p:grpSpPr>
          <a:xfrm>
            <a:off x="373441" y="871657"/>
            <a:ext cx="20659955" cy="4970878"/>
            <a:chOff x="373441" y="789489"/>
            <a:chExt cx="20659955" cy="4970878"/>
          </a:xfrm>
        </p:grpSpPr>
        <p:sp>
          <p:nvSpPr>
            <p:cNvPr id="2" name="矩形 1"/>
            <p:cNvSpPr>
              <a:spLocks noChangeAspect="1"/>
            </p:cNvSpPr>
            <p:nvPr/>
          </p:nvSpPr>
          <p:spPr>
            <a:xfrm>
              <a:off x="373441" y="789489"/>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频率分布直方图</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zh-CN" altLang="zh-CN" dirty="0" smtClean="0">
                  <a:solidFill>
                    <a:srgbClr val="000000"/>
                  </a:solidFill>
                  <a:ea typeface="宋体" panose="02010600030101010101" pitchFamily="2" charset="-122"/>
                  <a:cs typeface="Times New Roman" panose="02020603050405020304" pitchFamily="18" charset="0"/>
                </a:rPr>
                <a:t>绘制步骤</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zh-CN" altLang="zh-CN" dirty="0" smtClean="0">
                  <a:solidFill>
                    <a:srgbClr val="000000"/>
                  </a:solidFill>
                  <a:ea typeface="宋体" panose="02010600030101010101" pitchFamily="2" charset="-122"/>
                  <a:cs typeface="Times New Roman" panose="02020603050405020304" pitchFamily="18" charset="0"/>
                </a:rPr>
                <a:t>求</a:t>
              </a:r>
              <a:r>
                <a:rPr lang="zh-CN" altLang="zh-CN" dirty="0" smtClean="0">
                  <a:ea typeface="宋体" panose="02010600030101010101" pitchFamily="2" charset="-122"/>
                  <a:cs typeface="Times New Roman" panose="02020603050405020304" pitchFamily="18" charset="0"/>
                </a:rPr>
                <a:t>极差</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即一组数据中的最大值与最小值的差</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宋体" panose="02010600030101010101" pitchFamily="2" charset="-122"/>
                  <a:cs typeface="宋体" panose="02010600030101010101" pitchFamily="2" charset="-122"/>
                </a:rPr>
                <a:t>②</a:t>
              </a:r>
              <a:r>
                <a:rPr lang="zh-CN" altLang="zh-CN" dirty="0" smtClean="0">
                  <a:solidFill>
                    <a:srgbClr val="000000"/>
                  </a:solidFill>
                  <a:ea typeface="宋体" panose="02010600030101010101" pitchFamily="2" charset="-122"/>
                  <a:cs typeface="Times New Roman" panose="02020603050405020304" pitchFamily="18" charset="0"/>
                </a:rPr>
                <a:t>决定</a:t>
              </a:r>
              <a:r>
                <a:rPr lang="zh-CN" altLang="zh-CN" dirty="0" smtClean="0">
                  <a:ea typeface="宋体" panose="02010600030101010101" pitchFamily="2" charset="-122"/>
                  <a:cs typeface="Times New Roman" panose="02020603050405020304" pitchFamily="18" charset="0"/>
                </a:rPr>
                <a:t>组距</a:t>
              </a:r>
              <a:r>
                <a:rPr lang="zh-CN" altLang="zh-CN" dirty="0" smtClean="0">
                  <a:solidFill>
                    <a:srgbClr val="000000"/>
                  </a:solidFill>
                  <a:ea typeface="宋体" panose="02010600030101010101" pitchFamily="2" charset="-122"/>
                  <a:cs typeface="Times New Roman" panose="02020603050405020304" pitchFamily="18" charset="0"/>
                </a:rPr>
                <a:t>与</a:t>
              </a:r>
              <a:r>
                <a:rPr lang="zh-CN" altLang="zh-CN" dirty="0" smtClean="0">
                  <a:ea typeface="宋体" panose="02010600030101010101" pitchFamily="2" charset="-122"/>
                  <a:cs typeface="Times New Roman" panose="02020603050405020304" pitchFamily="18" charset="0"/>
                </a:rPr>
                <a:t>组数</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组距与组数的确定没有固定的标准</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一般数据的个数越多</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所分组数也越</a:t>
              </a:r>
              <a:r>
                <a:rPr lang="zh-CN" altLang="zh-CN" dirty="0" smtClean="0">
                  <a:ea typeface="宋体" panose="02010600030101010101" pitchFamily="2" charset="-122"/>
                  <a:cs typeface="Times New Roman" panose="02020603050405020304" pitchFamily="18" charset="0"/>
                </a:rPr>
                <a:t>多</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当样本量不超过</a:t>
              </a:r>
              <a:r>
                <a:rPr lang="en-US" altLang="zh-CN" dirty="0" smtClean="0">
                  <a:solidFill>
                    <a:srgbClr val="000000"/>
                  </a:solidFill>
                  <a:ea typeface="宋体" panose="02010600030101010101" pitchFamily="2" charset="-122"/>
                  <a:cs typeface="Times New Roman" panose="02020603050405020304" pitchFamily="18" charset="0"/>
                </a:rPr>
                <a:t>100</a:t>
              </a:r>
              <a:r>
                <a:rPr lang="zh-CN" altLang="zh-CN" dirty="0" smtClean="0">
                  <a:solidFill>
                    <a:srgbClr val="000000"/>
                  </a:solidFill>
                  <a:ea typeface="宋体" panose="02010600030101010101" pitchFamily="2" charset="-122"/>
                  <a:cs typeface="Times New Roman" panose="02020603050405020304" pitchFamily="18" charset="0"/>
                </a:rPr>
                <a:t>时</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常分成</a:t>
              </a:r>
              <a:r>
                <a:rPr lang="en-US" altLang="zh-CN" dirty="0" smtClean="0">
                  <a:solidFill>
                    <a:srgbClr val="000000"/>
                  </a:solidFill>
                  <a:ea typeface="宋体" panose="02010600030101010101" pitchFamily="2" charset="-122"/>
                  <a:cs typeface="Times New Roman" panose="02020603050405020304" pitchFamily="18" charset="0"/>
                </a:rPr>
                <a:t>5</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12</a:t>
              </a:r>
              <a:r>
                <a:rPr lang="zh-CN" altLang="zh-CN" dirty="0" smtClean="0">
                  <a:solidFill>
                    <a:srgbClr val="000000"/>
                  </a:solidFill>
                  <a:ea typeface="宋体" panose="02010600030101010101" pitchFamily="2" charset="-122"/>
                  <a:cs typeface="Times New Roman" panose="02020603050405020304" pitchFamily="18" charset="0"/>
                </a:rPr>
                <a:t>组</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为方便起见</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一般取</a:t>
              </a:r>
              <a:r>
                <a:rPr lang="zh-CN" altLang="zh-CN" dirty="0" smtClean="0">
                  <a:ea typeface="宋体" panose="02010600030101010101" pitchFamily="2" charset="-122"/>
                  <a:cs typeface="Times New Roman" panose="02020603050405020304" pitchFamily="18" charset="0"/>
                </a:rPr>
                <a:t>等长</a:t>
              </a:r>
              <a:r>
                <a:rPr lang="zh-CN" altLang="zh-CN" dirty="0" smtClean="0">
                  <a:solidFill>
                    <a:srgbClr val="000000"/>
                  </a:solidFill>
                  <a:ea typeface="宋体" panose="02010600030101010101" pitchFamily="2" charset="-122"/>
                  <a:cs typeface="Times New Roman" panose="02020603050405020304" pitchFamily="18" charset="0"/>
                </a:rPr>
                <a:t>组距</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并且组距应力求</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ea typeface="宋体" panose="02010600030101010101" pitchFamily="2" charset="-122"/>
                  <a:cs typeface="Times New Roman" panose="02020603050405020304" pitchFamily="18" charset="0"/>
                </a:rPr>
                <a:t>取整</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宋体" panose="02010600030101010101" pitchFamily="2" charset="-122"/>
                  <a:cs typeface="宋体" panose="02010600030101010101" pitchFamily="2" charset="-122"/>
                </a:rPr>
                <a:t>③</a:t>
              </a:r>
              <a:r>
                <a:rPr lang="zh-CN" altLang="zh-CN" dirty="0" smtClean="0">
                  <a:solidFill>
                    <a:srgbClr val="000000"/>
                  </a:solidFill>
                  <a:ea typeface="宋体" panose="02010600030101010101" pitchFamily="2" charset="-122"/>
                  <a:cs typeface="Times New Roman" panose="02020603050405020304" pitchFamily="18" charset="0"/>
                </a:rPr>
                <a:t>将数据</a:t>
              </a:r>
              <a:r>
                <a:rPr lang="zh-CN" altLang="zh-CN" dirty="0" smtClean="0">
                  <a:ea typeface="宋体" panose="02010600030101010101" pitchFamily="2" charset="-122"/>
                  <a:cs typeface="Times New Roman" panose="02020603050405020304" pitchFamily="18" charset="0"/>
                </a:rPr>
                <a:t>分组</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宋体" panose="02010600030101010101" pitchFamily="2" charset="-122"/>
                  <a:cs typeface="Times New Roman" panose="02020603050405020304" pitchFamily="18" charset="0"/>
                </a:rPr>
                <a:t>列</a:t>
              </a:r>
              <a:r>
                <a:rPr lang="zh-CN" altLang="zh-CN" dirty="0">
                  <a:ea typeface="宋体" panose="02010600030101010101" pitchFamily="2" charset="-122"/>
                  <a:cs typeface="Times New Roman" panose="02020603050405020304" pitchFamily="18" charset="0"/>
                </a:rPr>
                <a:t>频率分布</a:t>
              </a:r>
              <a:r>
                <a:rPr lang="zh-CN" altLang="zh-CN" dirty="0">
                  <a:solidFill>
                    <a:srgbClr val="000000"/>
                  </a:solidFill>
                  <a:ea typeface="宋体" panose="02010600030101010101" pitchFamily="2" charset="-122"/>
                  <a:cs typeface="Times New Roman" panose="02020603050405020304" pitchFamily="18" charset="0"/>
                </a:rPr>
                <a:t>表</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计算各小组的频率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i="1"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组的频率</a:t>
              </a:r>
              <a:r>
                <a:rPr lang="zh-CN" altLang="zh-CN" dirty="0" smtClean="0">
                  <a:solidFill>
                    <a:srgbClr val="000000"/>
                  </a:solidFill>
                  <a:ea typeface="宋体" panose="02010600030101010101" pitchFamily="2" charset="-122"/>
                  <a:cs typeface="Times New Roman" panose="02020603050405020304" pitchFamily="18" charset="0"/>
                </a:rPr>
                <a:t>是</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8488871"/>
                </p:ext>
              </p:extLst>
            </p:nvPr>
          </p:nvGraphicFramePr>
          <p:xfrm>
            <a:off x="9361437" y="4698241"/>
            <a:ext cx="11671959" cy="1062126"/>
          </p:xfrm>
          <a:graphic>
            <a:graphicData uri="http://schemas.openxmlformats.org/presentationml/2006/ole">
              <mc:AlternateContent xmlns:mc="http://schemas.openxmlformats.org/markup-compatibility/2006">
                <mc:Choice xmlns:v="urn:schemas-microsoft-com:vml" Requires="v">
                  <p:oleObj spid="_x0000_s1036" name="文档" r:id="rId4" imgW="3826872" imgH="348238" progId="Word.Document.12">
                    <p:embed/>
                  </p:oleObj>
                </mc:Choice>
                <mc:Fallback>
                  <p:oleObj name="文档" r:id="rId4" imgW="3826872" imgH="348238" progId="Word.Document.12">
                    <p:embed/>
                    <p:pic>
                      <p:nvPicPr>
                        <p:cNvPr id="0" name=""/>
                        <p:cNvPicPr/>
                        <p:nvPr/>
                      </p:nvPicPr>
                      <p:blipFill>
                        <a:blip r:embed="rId5"/>
                        <a:stretch>
                          <a:fillRect/>
                        </a:stretch>
                      </p:blipFill>
                      <p:spPr>
                        <a:xfrm>
                          <a:off x="9361437" y="4698241"/>
                          <a:ext cx="11671959" cy="1062126"/>
                        </a:xfrm>
                        <a:prstGeom prst="rect">
                          <a:avLst/>
                        </a:prstGeom>
                      </p:spPr>
                    </p:pic>
                  </p:oleObj>
                </mc:Fallback>
              </mc:AlternateContent>
            </a:graphicData>
          </a:graphic>
        </p:graphicFrame>
      </p:grpSp>
      <p:sp>
        <p:nvSpPr>
          <p:cNvPr id="7" name="矩形 6"/>
          <p:cNvSpPr/>
          <p:nvPr/>
        </p:nvSpPr>
        <p:spPr>
          <a:xfrm>
            <a:off x="3539547" y="151211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534957" y="1976217"/>
            <a:ext cx="776265"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1707073" y="208795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1702483" y="2552057"/>
            <a:ext cx="776265"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2927935" y="208795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923345" y="2552057"/>
            <a:ext cx="776265"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5876286" y="2682465"/>
            <a:ext cx="3625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5871462" y="3146563"/>
            <a:ext cx="362133"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6009335" y="326928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6004745" y="3733385"/>
            <a:ext cx="776265" cy="0"/>
          </a:xfrm>
          <a:prstGeom prst="line">
            <a:avLst/>
          </a:prstGeom>
        </p:spPr>
        <p:style>
          <a:lnRef idx="2">
            <a:schemeClr val="dk1"/>
          </a:lnRef>
          <a:fillRef idx="0">
            <a:schemeClr val="dk1"/>
          </a:fillRef>
          <a:effectRef idx="1">
            <a:schemeClr val="dk1"/>
          </a:effectRef>
          <a:fontRef idx="minor">
            <a:schemeClr val="tx1"/>
          </a:fontRef>
        </p:style>
      </p:cxnSp>
      <p:sp>
        <p:nvSpPr>
          <p:cNvPr id="17" name="矩形 16"/>
          <p:cNvSpPr/>
          <p:nvPr/>
        </p:nvSpPr>
        <p:spPr>
          <a:xfrm>
            <a:off x="695687" y="384864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91097" y="4312747"/>
            <a:ext cx="776265" cy="0"/>
          </a:xfrm>
          <a:prstGeom prst="line">
            <a:avLst/>
          </a:prstGeom>
        </p:spPr>
        <p:style>
          <a:lnRef idx="2">
            <a:schemeClr val="dk1"/>
          </a:lnRef>
          <a:fillRef idx="0">
            <a:schemeClr val="dk1"/>
          </a:fillRef>
          <a:effectRef idx="1">
            <a:schemeClr val="dk1"/>
          </a:effectRef>
          <a:fontRef idx="minor">
            <a:schemeClr val="tx1"/>
          </a:fontRef>
        </p:style>
      </p:cxnSp>
      <p:sp>
        <p:nvSpPr>
          <p:cNvPr id="19" name="矩形 18"/>
          <p:cNvSpPr/>
          <p:nvPr/>
        </p:nvSpPr>
        <p:spPr>
          <a:xfrm>
            <a:off x="2100934" y="444293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2096344" y="4907029"/>
            <a:ext cx="776265" cy="0"/>
          </a:xfrm>
          <a:prstGeom prst="line">
            <a:avLst/>
          </a:prstGeom>
        </p:spPr>
        <p:style>
          <a:lnRef idx="2">
            <a:schemeClr val="dk1"/>
          </a:lnRef>
          <a:fillRef idx="0">
            <a:schemeClr val="dk1"/>
          </a:fillRef>
          <a:effectRef idx="1">
            <a:schemeClr val="dk1"/>
          </a:effectRef>
          <a:fontRef idx="minor">
            <a:schemeClr val="tx1"/>
          </a:fontRef>
        </p:style>
      </p:cxnSp>
      <p:sp>
        <p:nvSpPr>
          <p:cNvPr id="21" name="矩形 20"/>
          <p:cNvSpPr/>
          <p:nvPr/>
        </p:nvSpPr>
        <p:spPr>
          <a:xfrm>
            <a:off x="1277361" y="5005078"/>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a:off x="1272815" y="5469176"/>
            <a:ext cx="159313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930984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21"/>
                                        </p:tgtEl>
                                      </p:cBhvr>
                                    </p:animEffect>
                                    <p:set>
                                      <p:cBhvr>
                                        <p:cTn id="42"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06796"/>
            <a:ext cx="10807700" cy="604781"/>
          </a:xfrm>
          <a:prstGeom prst="rect">
            <a:avLst/>
          </a:prstGeom>
        </p:spPr>
        <p:txBody>
          <a:bodyPr>
            <a:spAutoFit/>
          </a:bodyPr>
          <a:lstStyle/>
          <a:p>
            <a:pPr>
              <a:lnSpc>
                <a:spcPct val="120000"/>
              </a:lnSpc>
              <a:spcAft>
                <a:spcPts val="0"/>
              </a:spcAft>
              <a:tabLst>
                <a:tab pos="1029335" algn="l"/>
                <a:tab pos="1850390" algn="l"/>
                <a:tab pos="2538095" algn="l"/>
                <a:tab pos="3221990" algn="l"/>
              </a:tabLst>
            </a:pP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274833029"/>
              </p:ext>
            </p:extLst>
          </p:nvPr>
        </p:nvGraphicFramePr>
        <p:xfrm>
          <a:off x="281766" y="1967202"/>
          <a:ext cx="11671959" cy="2280997"/>
        </p:xfrm>
        <a:graphic>
          <a:graphicData uri="http://schemas.openxmlformats.org/presentationml/2006/ole">
            <mc:AlternateContent xmlns:mc="http://schemas.openxmlformats.org/markup-compatibility/2006">
              <mc:Choice xmlns:v="urn:schemas-microsoft-com:vml" Requires="v">
                <p:oleObj spid="_x0000_s2060" name="文档" r:id="rId4" imgW="3826872" imgH="747868" progId="Word.Document.12">
                  <p:embed/>
                </p:oleObj>
              </mc:Choice>
              <mc:Fallback>
                <p:oleObj name="文档" r:id="rId4" imgW="3826872" imgH="747868" progId="Word.Document.12">
                  <p:embed/>
                  <p:pic>
                    <p:nvPicPr>
                      <p:cNvPr id="0" name=""/>
                      <p:cNvPicPr/>
                      <p:nvPr/>
                    </p:nvPicPr>
                    <p:blipFill>
                      <a:blip r:embed="rId5"/>
                      <a:stretch>
                        <a:fillRect/>
                      </a:stretch>
                    </p:blipFill>
                    <p:spPr>
                      <a:xfrm>
                        <a:off x="281766" y="1967202"/>
                        <a:ext cx="11671959" cy="2280997"/>
                      </a:xfrm>
                      <a:prstGeom prst="rect">
                        <a:avLst/>
                      </a:prstGeom>
                    </p:spPr>
                  </p:pic>
                </p:oleObj>
              </mc:Fallback>
            </mc:AlternateContent>
          </a:graphicData>
        </a:graphic>
      </p:graphicFrame>
      <p:sp>
        <p:nvSpPr>
          <p:cNvPr id="4" name="矩形 3"/>
          <p:cNvSpPr/>
          <p:nvPr/>
        </p:nvSpPr>
        <p:spPr>
          <a:xfrm>
            <a:off x="3163471" y="3681815"/>
            <a:ext cx="7666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62159785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216421" y="1162015"/>
            <a:ext cx="17248162" cy="3771775"/>
            <a:chOff x="216421" y="1162015"/>
            <a:chExt cx="17248162" cy="3771775"/>
          </a:xfrm>
        </p:grpSpPr>
        <p:sp>
          <p:nvSpPr>
            <p:cNvPr id="18" name="矩形 17"/>
            <p:cNvSpPr>
              <a:spLocks noChangeAspect="1"/>
            </p:cNvSpPr>
            <p:nvPr/>
          </p:nvSpPr>
          <p:spPr>
            <a:xfrm>
              <a:off x="216421" y="1295871"/>
              <a:ext cx="11015711" cy="3637919"/>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因为小长方形的面积</a:t>
              </a:r>
              <a:r>
                <a:rPr lang="en-US" altLang="zh-CN" i="1" dirty="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所以各小长方形的面积表示相应各组的</a:t>
              </a:r>
              <a:r>
                <a:rPr lang="zh-CN" altLang="zh-CN" dirty="0">
                  <a:ea typeface="宋体" panose="02010600030101010101" pitchFamily="2" charset="-122"/>
                  <a:cs typeface="Times New Roman" panose="02020603050405020304" pitchFamily="18" charset="0"/>
                </a:rPr>
                <a:t>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频率分布直方图以</a:t>
              </a:r>
              <a:r>
                <a:rPr lang="zh-CN" altLang="zh-CN" dirty="0">
                  <a:ea typeface="宋体" panose="02010600030101010101" pitchFamily="2" charset="-122"/>
                  <a:cs typeface="Times New Roman" panose="02020603050405020304" pitchFamily="18" charset="0"/>
                </a:rPr>
                <a:t>面积</a:t>
              </a:r>
              <a:r>
                <a:rPr lang="zh-CN" altLang="zh-CN" dirty="0">
                  <a:solidFill>
                    <a:srgbClr val="000000"/>
                  </a:solidFill>
                  <a:ea typeface="宋体" panose="02010600030101010101" pitchFamily="2" charset="-122"/>
                  <a:cs typeface="Times New Roman" panose="02020603050405020304" pitchFamily="18" charset="0"/>
                </a:rPr>
                <a:t>的形式反映了数据落在各个小组的频率的大小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各小长方形的面积的总和</a:t>
              </a:r>
              <a:r>
                <a:rPr lang="zh-CN" altLang="zh-CN" dirty="0" smtClean="0">
                  <a:solidFill>
                    <a:srgbClr val="000000"/>
                  </a:solidFill>
                  <a:ea typeface="宋体" panose="02010600030101010101" pitchFamily="2" charset="-122"/>
                  <a:cs typeface="Times New Roman" panose="02020603050405020304" pitchFamily="18" charset="0"/>
                </a:rPr>
                <a:t>等于</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smtClean="0">
                  <a:ea typeface="宋体" panose="02010600030101010101" pitchFamily="2" charset="-122"/>
                  <a:cs typeface="Times New Roman" panose="02020603050405020304" pitchFamily="18" charset="0"/>
                </a:rPr>
                <a:t>1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总体取值规律的估计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我们可以用样本观测数据的</a:t>
              </a:r>
              <a:r>
                <a:rPr lang="zh-CN" altLang="zh-CN" dirty="0">
                  <a:ea typeface="宋体" panose="02010600030101010101" pitchFamily="2" charset="-122"/>
                  <a:cs typeface="Times New Roman" panose="02020603050405020304" pitchFamily="18" charset="0"/>
                </a:rPr>
                <a:t>频率分布</a:t>
              </a:r>
              <a:r>
                <a:rPr lang="zh-CN" altLang="zh-CN" dirty="0">
                  <a:solidFill>
                    <a:srgbClr val="000000"/>
                  </a:solidFill>
                  <a:ea typeface="宋体" panose="02010600030101010101" pitchFamily="2" charset="-122"/>
                  <a:cs typeface="Times New Roman" panose="02020603050405020304" pitchFamily="18" charset="0"/>
                </a:rPr>
                <a:t>估计总体的取值规律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2158066271"/>
                </p:ext>
              </p:extLst>
            </p:nvPr>
          </p:nvGraphicFramePr>
          <p:xfrm>
            <a:off x="5759525" y="1162015"/>
            <a:ext cx="11705058" cy="994175"/>
          </p:xfrm>
          <a:graphic>
            <a:graphicData uri="http://schemas.openxmlformats.org/presentationml/2006/ole">
              <mc:AlternateContent xmlns:mc="http://schemas.openxmlformats.org/markup-compatibility/2006">
                <mc:Choice xmlns:v="urn:schemas-microsoft-com:vml" Requires="v">
                  <p:oleObj spid="_x0000_s18441" name="文档" r:id="rId4" imgW="3837724" imgH="325959" progId="Word.Document.12">
                    <p:embed/>
                  </p:oleObj>
                </mc:Choice>
                <mc:Fallback>
                  <p:oleObj name="文档" r:id="rId4" imgW="3837724" imgH="325959" progId="Word.Document.12">
                    <p:embed/>
                    <p:pic>
                      <p:nvPicPr>
                        <p:cNvPr id="0" name=""/>
                        <p:cNvPicPr/>
                        <p:nvPr/>
                      </p:nvPicPr>
                      <p:blipFill>
                        <a:blip r:embed="rId5"/>
                        <a:stretch>
                          <a:fillRect/>
                        </a:stretch>
                      </p:blipFill>
                      <p:spPr>
                        <a:xfrm>
                          <a:off x="5759525" y="1162015"/>
                          <a:ext cx="11705058" cy="994175"/>
                        </a:xfrm>
                        <a:prstGeom prst="rect">
                          <a:avLst/>
                        </a:prstGeom>
                      </p:spPr>
                    </p:pic>
                  </p:oleObj>
                </mc:Fallback>
              </mc:AlternateContent>
            </a:graphicData>
          </a:graphic>
        </p:graphicFrame>
      </p:grpSp>
      <p:sp>
        <p:nvSpPr>
          <p:cNvPr id="21" name="矩形 20"/>
          <p:cNvSpPr/>
          <p:nvPr/>
        </p:nvSpPr>
        <p:spPr>
          <a:xfrm>
            <a:off x="5200968" y="2016229"/>
            <a:ext cx="77714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a:off x="5196378" y="2407877"/>
            <a:ext cx="776265" cy="0"/>
          </a:xfrm>
          <a:prstGeom prst="line">
            <a:avLst/>
          </a:prstGeom>
        </p:spPr>
        <p:style>
          <a:lnRef idx="2">
            <a:schemeClr val="dk1"/>
          </a:lnRef>
          <a:fillRef idx="0">
            <a:schemeClr val="dk1"/>
          </a:fillRef>
          <a:effectRef idx="1">
            <a:schemeClr val="dk1"/>
          </a:effectRef>
          <a:fontRef idx="minor">
            <a:schemeClr val="tx1"/>
          </a:fontRef>
        </p:style>
      </p:cxnSp>
      <p:sp>
        <p:nvSpPr>
          <p:cNvPr id="23" name="矩形 22"/>
          <p:cNvSpPr/>
          <p:nvPr/>
        </p:nvSpPr>
        <p:spPr>
          <a:xfrm>
            <a:off x="9376381" y="193949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9371791" y="2403595"/>
            <a:ext cx="776265" cy="0"/>
          </a:xfrm>
          <a:prstGeom prst="line">
            <a:avLst/>
          </a:prstGeom>
        </p:spPr>
        <p:style>
          <a:lnRef idx="2">
            <a:schemeClr val="dk1"/>
          </a:lnRef>
          <a:fillRef idx="0">
            <a:schemeClr val="dk1"/>
          </a:fillRef>
          <a:effectRef idx="1">
            <a:schemeClr val="dk1"/>
          </a:effectRef>
          <a:fontRef idx="minor">
            <a:schemeClr val="tx1"/>
          </a:fontRef>
        </p:style>
      </p:cxnSp>
      <p:sp>
        <p:nvSpPr>
          <p:cNvPr id="25" name="矩形 24"/>
          <p:cNvSpPr/>
          <p:nvPr/>
        </p:nvSpPr>
        <p:spPr>
          <a:xfrm>
            <a:off x="2380477" y="3116391"/>
            <a:ext cx="32958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2375633" y="3580489"/>
            <a:ext cx="329212" cy="0"/>
          </a:xfrm>
          <a:prstGeom prst="line">
            <a:avLst/>
          </a:prstGeom>
        </p:spPr>
        <p:style>
          <a:lnRef idx="2">
            <a:schemeClr val="dk1"/>
          </a:lnRef>
          <a:fillRef idx="0">
            <a:schemeClr val="dk1"/>
          </a:fillRef>
          <a:effectRef idx="1">
            <a:schemeClr val="dk1"/>
          </a:effectRef>
          <a:fontRef idx="minor">
            <a:schemeClr val="tx1"/>
          </a:fontRef>
        </p:style>
      </p:cxnSp>
      <p:sp>
        <p:nvSpPr>
          <p:cNvPr id="27" name="矩形 26"/>
          <p:cNvSpPr/>
          <p:nvPr/>
        </p:nvSpPr>
        <p:spPr>
          <a:xfrm>
            <a:off x="9488483" y="3691773"/>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a:off x="9483937" y="4155871"/>
            <a:ext cx="159313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3321469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3"/>
                                        </p:tgtEl>
                                      </p:cBhvr>
                                    </p:animEffect>
                                    <p:set>
                                      <p:cBhvr>
                                        <p:cTn id="12" dur="1" fill="hold">
                                          <p:stCondLst>
                                            <p:cond delay="499"/>
                                          </p:stCondLst>
                                        </p:cTn>
                                        <p:tgtEl>
                                          <p:spTgt spid="2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25"/>
                                        </p:tgtEl>
                                      </p:cBhvr>
                                    </p:animEffect>
                                    <p:set>
                                      <p:cBhvr>
                                        <p:cTn id="17" dur="1" fill="hold">
                                          <p:stCondLst>
                                            <p:cond delay="499"/>
                                          </p:stCondLst>
                                        </p:cTn>
                                        <p:tgtEl>
                                          <p:spTgt spid="2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27"/>
                                        </p:tgtEl>
                                      </p:cBhvr>
                                    </p:animEffect>
                                    <p:set>
                                      <p:cBhvr>
                                        <p:cTn id="22"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5" grpId="0" animBg="1"/>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54537"/>
            <a:ext cx="10807700" cy="604781"/>
          </a:xfrm>
          <a:prstGeom prst="rect">
            <a:avLst/>
          </a:prstGeom>
        </p:spPr>
        <p:txBody>
          <a:bodyPr>
            <a:spAutoFit/>
          </a:bodyPr>
          <a:lstStyle/>
          <a:p>
            <a:pPr>
              <a:lnSpc>
                <a:spcPct val="120000"/>
              </a:lnSpc>
              <a:spcAft>
                <a:spcPts val="0"/>
              </a:spcAft>
              <a:tabLst>
                <a:tab pos="1029335" algn="l"/>
                <a:tab pos="1850390" algn="l"/>
                <a:tab pos="2538095" algn="l"/>
                <a:tab pos="3221990" algn="l"/>
              </a:tabLst>
            </a:pP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 name="矩形 1"/>
          <p:cNvSpPr>
            <a:spLocks noChangeAspect="1"/>
          </p:cNvSpPr>
          <p:nvPr/>
        </p:nvSpPr>
        <p:spPr>
          <a:xfrm>
            <a:off x="245917" y="1351993"/>
            <a:ext cx="11015711" cy="3280513"/>
          </a:xfrm>
          <a:prstGeom prst="rect">
            <a:avLst/>
          </a:prstGeom>
        </p:spPr>
        <p:txBody>
          <a:bodyPr wrap="square">
            <a:spAutoFit/>
          </a:bodyPr>
          <a:lstStyle/>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频率分布直方图的特征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当频率分布直方图的组数少、组距大时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容易从中看出数据整体的分布特点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但由于无法看出每组内的数据分布情况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损失了较多的</a:t>
            </a:r>
            <a:r>
              <a:rPr lang="zh-CN" altLang="zh-CN" dirty="0">
                <a:ea typeface="宋体" panose="02010600030101010101" pitchFamily="2" charset="-122"/>
                <a:cs typeface="Times New Roman" panose="02020603050405020304" pitchFamily="18" charset="0"/>
              </a:rPr>
              <a:t>原始数据信息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当频率分布直方图的组数多、组距小时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保留了较多的原始数据信息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但由于小长方形较多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有时图形会变得非常</a:t>
            </a:r>
            <a:r>
              <a:rPr lang="zh-CN" altLang="zh-CN" dirty="0">
                <a:ea typeface="宋体" panose="02010600030101010101" pitchFamily="2" charset="-122"/>
                <a:cs typeface="Times New Roman" panose="02020603050405020304" pitchFamily="18" charset="0"/>
              </a:rPr>
              <a:t>不规则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不容易从中看出总体数据的分布特点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2" name="矩形 11"/>
          <p:cNvSpPr/>
          <p:nvPr/>
        </p:nvSpPr>
        <p:spPr>
          <a:xfrm>
            <a:off x="6142593" y="2462434"/>
            <a:ext cx="242675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6138047" y="2926532"/>
            <a:ext cx="2424011"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6963657" y="3510504"/>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6958886" y="3974602"/>
            <a:ext cx="119694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7604908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86925" y="3872417"/>
            <a:ext cx="14746111" cy="1342366"/>
            <a:chOff x="186925" y="4110678"/>
            <a:chExt cx="14746111" cy="1342366"/>
          </a:xfrm>
        </p:grpSpPr>
        <p:sp>
          <p:nvSpPr>
            <p:cNvPr id="6" name="矩形 5"/>
            <p:cNvSpPr>
              <a:spLocks noChangeAspect="1"/>
            </p:cNvSpPr>
            <p:nvPr/>
          </p:nvSpPr>
          <p:spPr>
            <a:xfrm>
              <a:off x="186925" y="4110678"/>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各</a:t>
              </a:r>
              <a:r>
                <a:rPr lang="zh-CN" altLang="zh-CN" dirty="0" smtClean="0">
                  <a:solidFill>
                    <a:srgbClr val="000000"/>
                  </a:solidFill>
                  <a:ea typeface="楷体" panose="02010609060101010101" pitchFamily="49" charset="-122"/>
                  <a:cs typeface="Times New Roman" panose="02020603050405020304" pitchFamily="18" charset="0"/>
                </a:rPr>
                <a:t>小</a:t>
              </a:r>
              <a:r>
                <a:rPr lang="zh-CN" altLang="en-US" dirty="0" smtClean="0">
                  <a:solidFill>
                    <a:srgbClr val="000000"/>
                  </a:solidFill>
                  <a:ea typeface="楷体" panose="02010609060101010101" pitchFamily="49" charset="-122"/>
                  <a:cs typeface="Times New Roman" panose="02020603050405020304" pitchFamily="18" charset="0"/>
                </a:rPr>
                <a:t>长方</a:t>
              </a:r>
              <a:r>
                <a:rPr lang="zh-CN" altLang="zh-CN" dirty="0" smtClean="0">
                  <a:solidFill>
                    <a:srgbClr val="000000"/>
                  </a:solidFill>
                  <a:ea typeface="楷体" panose="02010609060101010101" pitchFamily="49" charset="-122"/>
                  <a:cs typeface="Times New Roman" panose="02020603050405020304" pitchFamily="18" charset="0"/>
                </a:rPr>
                <a:t>形</a:t>
              </a:r>
              <a:r>
                <a:rPr lang="zh-CN" altLang="zh-CN" dirty="0">
                  <a:solidFill>
                    <a:srgbClr val="000000"/>
                  </a:solidFill>
                  <a:ea typeface="楷体" panose="02010609060101010101" pitchFamily="49" charset="-122"/>
                  <a:cs typeface="Times New Roman" panose="02020603050405020304" pitchFamily="18" charset="0"/>
                </a:rPr>
                <a:t>面积的和等于各组频率的和</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该组的频率是</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998351813"/>
                </p:ext>
              </p:extLst>
            </p:nvPr>
          </p:nvGraphicFramePr>
          <p:xfrm>
            <a:off x="3261077" y="4656174"/>
            <a:ext cx="11671959" cy="796870"/>
          </p:xfrm>
          <a:graphic>
            <a:graphicData uri="http://schemas.openxmlformats.org/presentationml/2006/ole">
              <mc:AlternateContent xmlns:mc="http://schemas.openxmlformats.org/markup-compatibility/2006">
                <mc:Choice xmlns:v="urn:schemas-microsoft-com:vml" Requires="v">
                  <p:oleObj spid="_x0000_s3094" name="文档" r:id="rId4" imgW="3826872" imgH="261269" progId="Word.Document.12">
                    <p:embed/>
                  </p:oleObj>
                </mc:Choice>
                <mc:Fallback>
                  <p:oleObj name="文档" r:id="rId4" imgW="3826872" imgH="261269" progId="Word.Document.12">
                    <p:embed/>
                    <p:pic>
                      <p:nvPicPr>
                        <p:cNvPr id="0" name=""/>
                        <p:cNvPicPr/>
                        <p:nvPr/>
                      </p:nvPicPr>
                      <p:blipFill>
                        <a:blip r:embed="rId5"/>
                        <a:stretch>
                          <a:fillRect/>
                        </a:stretch>
                      </p:blipFill>
                      <p:spPr>
                        <a:xfrm>
                          <a:off x="3261077" y="4656174"/>
                          <a:ext cx="11671959" cy="796870"/>
                        </a:xfrm>
                        <a:prstGeom prst="rect">
                          <a:avLst/>
                        </a:prstGeom>
                      </p:spPr>
                    </p:pic>
                  </p:oleObj>
                </mc:Fallback>
              </mc:AlternateContent>
            </a:graphicData>
          </a:graphic>
        </p:graphicFrame>
      </p:grpSp>
      <p:sp>
        <p:nvSpPr>
          <p:cNvPr id="9" name="矩形 8"/>
          <p:cNvSpPr>
            <a:spLocks noChangeAspect="1"/>
          </p:cNvSpPr>
          <p:nvPr/>
        </p:nvSpPr>
        <p:spPr>
          <a:xfrm>
            <a:off x="268765" y="5210959"/>
            <a:ext cx="3185296"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(1)C</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628049400"/>
              </p:ext>
            </p:extLst>
          </p:nvPr>
        </p:nvGraphicFramePr>
        <p:xfrm>
          <a:off x="268288" y="799216"/>
          <a:ext cx="10618787" cy="2989263"/>
        </p:xfrm>
        <a:graphic>
          <a:graphicData uri="http://schemas.openxmlformats.org/presentationml/2006/ole">
            <mc:AlternateContent xmlns:mc="http://schemas.openxmlformats.org/markup-compatibility/2006">
              <mc:Choice xmlns:v="urn:schemas-microsoft-com:vml" Requires="v">
                <p:oleObj spid="_x0000_s3095" name="文档" r:id="rId7" imgW="3826872" imgH="1082450" progId="Word.Document.12">
                  <p:embed/>
                </p:oleObj>
              </mc:Choice>
              <mc:Fallback>
                <p:oleObj name="文档" r:id="rId7" imgW="3826872" imgH="1082450" progId="Word.Document.12">
                  <p:embed/>
                  <p:pic>
                    <p:nvPicPr>
                      <p:cNvPr id="0" name=""/>
                      <p:cNvPicPr/>
                      <p:nvPr/>
                    </p:nvPicPr>
                    <p:blipFill>
                      <a:blip r:embed="rId8"/>
                      <a:stretch>
                        <a:fillRect/>
                      </a:stretch>
                    </p:blipFill>
                    <p:spPr>
                      <a:xfrm>
                        <a:off x="268288" y="799216"/>
                        <a:ext cx="10618787" cy="2989263"/>
                      </a:xfrm>
                      <a:prstGeom prst="rect">
                        <a:avLst/>
                      </a:prstGeom>
                    </p:spPr>
                  </p:pic>
                </p:oleObj>
              </mc:Fallback>
            </mc:AlternateContent>
          </a:graphicData>
        </a:graphic>
      </p:graphicFrame>
    </p:spTree>
    <p:extLst>
      <p:ext uri="{BB962C8B-B14F-4D97-AF65-F5344CB8AC3E}">
        <p14:creationId xmlns:p14="http://schemas.microsoft.com/office/powerpoint/2010/main" val="60504392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09034"/>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二、其他统计图及其选择</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在初中我们学习过哪些统计图</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条形图、扇形图、折线图、频数分布直方图等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361950" y="2574160"/>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不同的统计图在表示数据上有不同的特点</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如扇形图主要用于直观描述各类数据占总数的</a:t>
            </a:r>
            <a:r>
              <a:rPr lang="zh-CN" altLang="zh-CN" dirty="0">
                <a:ea typeface="宋体" panose="02010600030101010101" pitchFamily="2" charset="-122"/>
                <a:cs typeface="Times New Roman" panose="02020603050405020304" pitchFamily="18" charset="0"/>
              </a:rPr>
              <a:t>比例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条形图和直方图主要用于直观描述不同类别或分组数据的</a:t>
            </a:r>
            <a:r>
              <a:rPr lang="zh-CN" altLang="zh-CN" dirty="0">
                <a:ea typeface="宋体" panose="02010600030101010101" pitchFamily="2" charset="-122"/>
                <a:cs typeface="Times New Roman" panose="02020603050405020304" pitchFamily="18" charset="0"/>
              </a:rPr>
              <a:t>频数</a:t>
            </a:r>
            <a:r>
              <a:rPr lang="zh-CN" altLang="zh-CN" dirty="0">
                <a:solidFill>
                  <a:srgbClr val="000000"/>
                </a:solidFill>
                <a:ea typeface="宋体" panose="02010600030101010101" pitchFamily="2" charset="-122"/>
                <a:cs typeface="Times New Roman" panose="02020603050405020304" pitchFamily="18" charset="0"/>
              </a:rPr>
              <a:t>和</a:t>
            </a:r>
            <a:r>
              <a:rPr lang="zh-CN" altLang="zh-CN" dirty="0">
                <a:ea typeface="宋体" panose="02010600030101010101" pitchFamily="2" charset="-122"/>
                <a:cs typeface="Times New Roman" panose="02020603050405020304" pitchFamily="18" charset="0"/>
              </a:rPr>
              <a:t>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折线图主要用于描述数据随时间的变化趋势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不同的统计图适用的数据类型也不同</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如条形图适用于描述</a:t>
            </a:r>
            <a:r>
              <a:rPr lang="zh-CN" altLang="zh-CN" dirty="0">
                <a:ea typeface="宋体" panose="02010600030101010101" pitchFamily="2" charset="-122"/>
                <a:cs typeface="Times New Roman" panose="02020603050405020304" pitchFamily="18" charset="0"/>
              </a:rPr>
              <a:t>离散型</a:t>
            </a:r>
            <a:r>
              <a:rPr lang="zh-CN" altLang="zh-CN" dirty="0">
                <a:solidFill>
                  <a:srgbClr val="000000"/>
                </a:solidFill>
                <a:ea typeface="宋体" panose="02010600030101010101" pitchFamily="2" charset="-122"/>
                <a:cs typeface="Times New Roman" panose="02020603050405020304" pitchFamily="18" charset="0"/>
              </a:rPr>
              <a:t>的数据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直方图适用于描述</a:t>
            </a:r>
            <a:r>
              <a:rPr lang="zh-CN" altLang="zh-CN" dirty="0">
                <a:ea typeface="宋体" panose="02010600030101010101" pitchFamily="2" charset="-122"/>
                <a:cs typeface="Times New Roman" panose="02020603050405020304" pitchFamily="18" charset="0"/>
              </a:rPr>
              <a:t>连续型</a:t>
            </a:r>
            <a:r>
              <a:rPr lang="zh-CN" altLang="zh-CN" dirty="0">
                <a:solidFill>
                  <a:srgbClr val="000000"/>
                </a:solidFill>
                <a:ea typeface="宋体" panose="02010600030101010101" pitchFamily="2" charset="-122"/>
                <a:cs typeface="Times New Roman" panose="02020603050405020304" pitchFamily="18" charset="0"/>
              </a:rPr>
              <a:t>数据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6606875" y="3222232"/>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602285" y="3686330"/>
            <a:ext cx="77626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7406423" y="380586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7401833" y="4269959"/>
            <a:ext cx="776265"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8623099" y="3805861"/>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8618509" y="4269959"/>
            <a:ext cx="776265"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869264" y="5558762"/>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864493" y="6022860"/>
            <a:ext cx="1196942"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6683246" y="5558762"/>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6678475" y="6022860"/>
            <a:ext cx="119694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4056575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550812"/>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在</a:t>
            </a:r>
            <a:r>
              <a:rPr lang="zh-CN" altLang="zh-CN" dirty="0">
                <a:solidFill>
                  <a:srgbClr val="000000"/>
                </a:solidFill>
                <a:ea typeface="宋体" panose="02010600030101010101" pitchFamily="2" charset="-122"/>
                <a:cs typeface="Times New Roman" panose="02020603050405020304" pitchFamily="18" charset="0"/>
              </a:rPr>
              <a:t>第十六届亚运会中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各个国家和地区代表队金牌获得情况的条形统计图如图所示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第十六届亚运会各个国家和地区代表队金牌获得情况统计图</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从图中可以得出中国代表队所获得金牌数占全部金牌数的比例约是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A.41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	</a:t>
            </a:r>
            <a:r>
              <a:rPr lang="en-US" altLang="zh-CN" dirty="0" smtClean="0">
                <a:solidFill>
                  <a:srgbClr val="000000"/>
                </a:solidFill>
                <a:ea typeface="宋体" panose="02010600030101010101" pitchFamily="2" charset="-122"/>
                <a:cs typeface="Times New Roman" panose="02020603050405020304" pitchFamily="18" charset="0"/>
              </a:rPr>
              <a:t>	B.59</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8</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C.67</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D.34</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EMG2TRA25.eps" descr="id:2147492873;FounderCES"/>
          <p:cNvPicPr/>
          <p:nvPr/>
        </p:nvPicPr>
        <p:blipFill>
          <a:blip r:embed="rId2"/>
          <a:stretch>
            <a:fillRect/>
          </a:stretch>
        </p:blipFill>
        <p:spPr>
          <a:xfrm>
            <a:off x="3700651" y="2303983"/>
            <a:ext cx="3428538" cy="2384899"/>
          </a:xfrm>
          <a:prstGeom prst="rect">
            <a:avLst/>
          </a:prstGeom>
        </p:spPr>
      </p:pic>
    </p:spTree>
    <p:extLst>
      <p:ext uri="{BB962C8B-B14F-4D97-AF65-F5344CB8AC3E}">
        <p14:creationId xmlns:p14="http://schemas.microsoft.com/office/powerpoint/2010/main" val="2848668552"/>
      </p:ext>
    </p:extLst>
  </p:cSld>
  <p:clrMapOvr>
    <a:masterClrMapping/>
  </p:clrMapOvr>
  <p:transition spd="slow">
    <p:wheel spokes="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943943"/>
            <a:ext cx="11762118" cy="1439990"/>
            <a:chOff x="361950" y="2738790"/>
            <a:chExt cx="11762118" cy="1439990"/>
          </a:xfrm>
        </p:grpSpPr>
        <p:sp>
          <p:nvSpPr>
            <p:cNvPr id="2" name="矩形 1"/>
            <p:cNvSpPr>
              <a:spLocks noChangeAspect="1"/>
            </p:cNvSpPr>
            <p:nvPr/>
          </p:nvSpPr>
          <p:spPr>
            <a:xfrm>
              <a:off x="361950" y="2738790"/>
              <a:ext cx="10807700" cy="626710"/>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金牌总数为</a:t>
              </a:r>
              <a:r>
                <a:rPr lang="en-US" altLang="zh-CN" dirty="0">
                  <a:solidFill>
                    <a:srgbClr val="000000"/>
                  </a:solidFill>
                  <a:ea typeface="宋体" panose="02010600030101010101" pitchFamily="2" charset="-122"/>
                </a:rPr>
                <a:t>477,</a:t>
              </a:r>
              <a:r>
                <a:rPr lang="zh-CN" altLang="zh-CN" dirty="0">
                  <a:solidFill>
                    <a:srgbClr val="000000"/>
                  </a:solidFill>
                  <a:ea typeface="楷体" panose="02010609060101010101" pitchFamily="49" charset="-122"/>
                  <a:cs typeface="Times New Roman" panose="02020603050405020304" pitchFamily="18" charset="0"/>
                </a:rPr>
                <a:t>我国获得</a:t>
              </a:r>
              <a:r>
                <a:rPr lang="en-US" altLang="zh-CN" dirty="0">
                  <a:solidFill>
                    <a:srgbClr val="000000"/>
                  </a:solidFill>
                  <a:ea typeface="宋体" panose="02010600030101010101" pitchFamily="2" charset="-122"/>
                </a:rPr>
                <a:t>199</a:t>
              </a:r>
              <a:r>
                <a:rPr lang="zh-CN" altLang="zh-CN" dirty="0">
                  <a:solidFill>
                    <a:srgbClr val="000000"/>
                  </a:solidFill>
                  <a:ea typeface="楷体" panose="02010609060101010101" pitchFamily="49" charset="-122"/>
                  <a:cs typeface="Times New Roman" panose="02020603050405020304" pitchFamily="18" charset="0"/>
                </a:rPr>
                <a:t>块金牌</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所占比例为</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2368387471"/>
                </p:ext>
              </p:extLst>
            </p:nvPr>
          </p:nvGraphicFramePr>
          <p:xfrm>
            <a:off x="452109" y="3384103"/>
            <a:ext cx="11671959" cy="794677"/>
          </p:xfrm>
          <a:graphic>
            <a:graphicData uri="http://schemas.openxmlformats.org/presentationml/2006/ole">
              <mc:AlternateContent xmlns:mc="http://schemas.openxmlformats.org/markup-compatibility/2006">
                <mc:Choice xmlns:v="urn:schemas-microsoft-com:vml" Requires="v">
                  <p:oleObj spid="_x0000_s4108" name="文档" r:id="rId4" imgW="3826872" imgH="260550" progId="Word.Document.12">
                    <p:embed/>
                  </p:oleObj>
                </mc:Choice>
                <mc:Fallback>
                  <p:oleObj name="文档" r:id="rId4" imgW="3826872" imgH="260550" progId="Word.Document.12">
                    <p:embed/>
                    <p:pic>
                      <p:nvPicPr>
                        <p:cNvPr id="0" name=""/>
                        <p:cNvPicPr/>
                        <p:nvPr/>
                      </p:nvPicPr>
                      <p:blipFill>
                        <a:blip r:embed="rId5"/>
                        <a:stretch>
                          <a:fillRect/>
                        </a:stretch>
                      </p:blipFill>
                      <p:spPr>
                        <a:xfrm>
                          <a:off x="452109" y="3384103"/>
                          <a:ext cx="11671959" cy="794677"/>
                        </a:xfrm>
                        <a:prstGeom prst="rect">
                          <a:avLst/>
                        </a:prstGeom>
                      </p:spPr>
                    </p:pic>
                  </p:oleObj>
                </mc:Fallback>
              </mc:AlternateContent>
            </a:graphicData>
          </a:graphic>
        </p:graphicFrame>
      </p:grpSp>
      <p:sp>
        <p:nvSpPr>
          <p:cNvPr id="7" name="矩形 6"/>
          <p:cNvSpPr>
            <a:spLocks noChangeAspect="1"/>
          </p:cNvSpPr>
          <p:nvPr/>
        </p:nvSpPr>
        <p:spPr>
          <a:xfrm>
            <a:off x="361950" y="3492927"/>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4584299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533279"/>
            <a:ext cx="10807700" cy="5990807"/>
          </a:xfrm>
          <a:prstGeom prst="rect">
            <a:avLst/>
          </a:prstGeom>
        </p:spPr>
        <p:txBody>
          <a:bodyPr>
            <a:spAutoFit/>
          </a:bodyPr>
          <a:lstStyle/>
          <a:p>
            <a:pPr>
              <a:lnSpc>
                <a:spcPts val="42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频率分布直方图的组数越多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越能看出总体数据的分布特点</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频率分布直方图中小长方形的高度就是对应组的频率</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同一组数据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组数不同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得到的频率分布直方图的形状也不同</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条形图和直方图只能用于直观描述不同分组数据的频率</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296541" y="280803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10369549" y="3816151"/>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1296540" y="4907422"/>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1296539" y="5926292"/>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6200320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频率</a:t>
            </a:r>
            <a:r>
              <a:rPr lang="zh-CN" altLang="zh-CN" dirty="0"/>
              <a:t>分布表和频率分布直方图</a:t>
            </a:r>
          </a:p>
        </p:txBody>
      </p:sp>
      <p:sp>
        <p:nvSpPr>
          <p:cNvPr id="2" name="矩形 1"/>
          <p:cNvSpPr>
            <a:spLocks noChangeAspect="1"/>
          </p:cNvSpPr>
          <p:nvPr/>
        </p:nvSpPr>
        <p:spPr>
          <a:xfrm>
            <a:off x="361950" y="1373127"/>
            <a:ext cx="10807700" cy="491096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调查某校高一年级男生的身高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随机抽取</a:t>
            </a:r>
            <a:r>
              <a:rPr lang="en-US" altLang="zh-CN" dirty="0">
                <a:solidFill>
                  <a:srgbClr val="000000"/>
                </a:solidFill>
                <a:ea typeface="宋体" panose="02010600030101010101" pitchFamily="2" charset="-122"/>
                <a:cs typeface="Times New Roman" panose="02020603050405020304" pitchFamily="18" charset="0"/>
              </a:rPr>
              <a:t>40</a:t>
            </a:r>
            <a:r>
              <a:rPr lang="zh-CN" altLang="zh-CN" dirty="0">
                <a:solidFill>
                  <a:srgbClr val="000000"/>
                </a:solidFill>
                <a:ea typeface="宋体" panose="02010600030101010101" pitchFamily="2" charset="-122"/>
                <a:cs typeface="Times New Roman" panose="02020603050405020304" pitchFamily="18" charset="0"/>
              </a:rPr>
              <a:t>名高三男生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实测身高数据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宋体" panose="02010600030101010101" pitchFamily="2" charset="-122"/>
                <a:cs typeface="Times New Roman" panose="02020603050405020304" pitchFamily="18" charset="0"/>
              </a:rPr>
              <a:t>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171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171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151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170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174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174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158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156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157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180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176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157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158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作出频率分布表</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画出频率分布直方图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2382486"/>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找出此组数据的最大值和最小值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确定分组的组距和组数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列出</a:t>
            </a:r>
            <a:r>
              <a:rPr lang="zh-CN" altLang="en-US" dirty="0" smtClean="0">
                <a:solidFill>
                  <a:srgbClr val="000000"/>
                </a:solidFill>
                <a:ea typeface="楷体" panose="02010609060101010101" pitchFamily="49" charset="-122"/>
                <a:cs typeface="Times New Roman" panose="02020603050405020304" pitchFamily="18" charset="0"/>
              </a:rPr>
              <a:t>频率</a:t>
            </a:r>
            <a:r>
              <a:rPr lang="zh-CN" altLang="zh-CN" dirty="0" smtClean="0">
                <a:solidFill>
                  <a:srgbClr val="000000"/>
                </a:solidFill>
                <a:ea typeface="楷体" panose="02010609060101010101" pitchFamily="49" charset="-122"/>
                <a:cs typeface="Times New Roman" panose="02020603050405020304" pitchFamily="18" charset="0"/>
              </a:rPr>
              <a:t>分布</a:t>
            </a:r>
            <a:r>
              <a:rPr lang="zh-CN" altLang="zh-CN" dirty="0">
                <a:solidFill>
                  <a:srgbClr val="000000"/>
                </a:solidFill>
                <a:ea typeface="楷体" panose="02010609060101010101" pitchFamily="49" charset="-122"/>
                <a:cs typeface="Times New Roman" panose="02020603050405020304" pitchFamily="18" charset="0"/>
              </a:rPr>
              <a:t>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再由频率分布表绘制频率分布直方图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2050324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03783"/>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最低身高</a:t>
            </a:r>
            <a:r>
              <a:rPr lang="en-US" altLang="zh-CN" dirty="0">
                <a:solidFill>
                  <a:srgbClr val="000000"/>
                </a:solidFill>
                <a:ea typeface="宋体" panose="02010600030101010101" pitchFamily="2" charset="-122"/>
                <a:cs typeface="Times New Roman" panose="02020603050405020304" pitchFamily="18" charset="0"/>
              </a:rPr>
              <a:t>151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楷体" panose="02010609060101010101" pitchFamily="49" charset="-122"/>
                <a:cs typeface="Times New Roman" panose="02020603050405020304" pitchFamily="18" charset="0"/>
              </a:rPr>
              <a:t>最高身高</a:t>
            </a:r>
            <a:r>
              <a:rPr lang="en-US" altLang="zh-CN" dirty="0">
                <a:solidFill>
                  <a:srgbClr val="000000"/>
                </a:solidFill>
                <a:ea typeface="宋体" panose="02010600030101010101" pitchFamily="2" charset="-122"/>
                <a:cs typeface="Times New Roman" panose="02020603050405020304" pitchFamily="18" charset="0"/>
              </a:rPr>
              <a:t>180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cm,</a:t>
            </a:r>
            <a:r>
              <a:rPr lang="zh-CN" altLang="zh-CN" dirty="0">
                <a:solidFill>
                  <a:srgbClr val="000000"/>
                </a:solidFill>
                <a:ea typeface="楷体" panose="02010609060101010101" pitchFamily="49" charset="-122"/>
                <a:cs typeface="Times New Roman" panose="02020603050405020304" pitchFamily="18" charset="0"/>
              </a:rPr>
              <a:t>它们的差是</a:t>
            </a:r>
            <a:r>
              <a:rPr lang="en-US" altLang="zh-CN" dirty="0">
                <a:solidFill>
                  <a:srgbClr val="000000"/>
                </a:solidFill>
                <a:ea typeface="宋体" panose="02010600030101010101" pitchFamily="2" charset="-122"/>
                <a:cs typeface="Times New Roman" panose="02020603050405020304" pitchFamily="18" charset="0"/>
              </a:rPr>
              <a:t>180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29,</a:t>
            </a:r>
            <a:r>
              <a:rPr lang="zh-CN" altLang="zh-CN" dirty="0">
                <a:solidFill>
                  <a:srgbClr val="000000"/>
                </a:solidFill>
                <a:ea typeface="楷体" panose="02010609060101010101" pitchFamily="49" charset="-122"/>
                <a:cs typeface="Times New Roman" panose="02020603050405020304" pitchFamily="18" charset="0"/>
              </a:rPr>
              <a:t>即极差为</a:t>
            </a:r>
            <a:r>
              <a:rPr lang="en-US" altLang="zh-CN" dirty="0">
                <a:solidFill>
                  <a:srgbClr val="000000"/>
                </a:solidFill>
                <a:ea typeface="宋体" panose="02010600030101010101" pitchFamily="2" charset="-122"/>
                <a:cs typeface="Times New Roman" panose="02020603050405020304" pitchFamily="18" charset="0"/>
              </a:rPr>
              <a:t>29;</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solidFill>
                  <a:srgbClr val="000000"/>
                </a:solidFill>
                <a:ea typeface="楷体" panose="02010609060101010101" pitchFamily="49" charset="-122"/>
                <a:cs typeface="Times New Roman" panose="02020603050405020304" pitchFamily="18" charset="0"/>
              </a:rPr>
              <a:t>确定组距为</a:t>
            </a:r>
            <a:r>
              <a:rPr lang="en-US" altLang="zh-CN" dirty="0">
                <a:solidFill>
                  <a:srgbClr val="000000"/>
                </a:solidFill>
                <a:ea typeface="宋体" panose="02010600030101010101" pitchFamily="2" charset="-122"/>
              </a:rPr>
              <a:t>4,</a:t>
            </a:r>
            <a:r>
              <a:rPr lang="zh-CN" altLang="zh-CN" dirty="0">
                <a:solidFill>
                  <a:srgbClr val="000000"/>
                </a:solidFill>
                <a:ea typeface="楷体" panose="02010609060101010101" pitchFamily="49" charset="-122"/>
                <a:cs typeface="Times New Roman" panose="02020603050405020304" pitchFamily="18" charset="0"/>
              </a:rPr>
              <a:t>组数为</a:t>
            </a:r>
            <a:r>
              <a:rPr lang="en-US" altLang="zh-CN" dirty="0">
                <a:solidFill>
                  <a:srgbClr val="000000"/>
                </a:solidFill>
                <a:ea typeface="宋体" panose="02010600030101010101" pitchFamily="2" charset="-122"/>
              </a:rPr>
              <a:t>8,</a:t>
            </a:r>
            <a:r>
              <a:rPr lang="zh-CN" altLang="zh-CN" dirty="0">
                <a:solidFill>
                  <a:srgbClr val="000000"/>
                </a:solidFill>
                <a:ea typeface="楷体" panose="02010609060101010101" pitchFamily="49" charset="-122"/>
                <a:cs typeface="Times New Roman" panose="02020603050405020304" pitchFamily="18" charset="0"/>
              </a:rPr>
              <a:t>频率分布表如下</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1956508567"/>
              </p:ext>
            </p:extLst>
          </p:nvPr>
        </p:nvGraphicFramePr>
        <p:xfrm>
          <a:off x="1296541" y="2240000"/>
          <a:ext cx="8090233" cy="4600487"/>
        </p:xfrm>
        <a:graphic>
          <a:graphicData uri="http://schemas.openxmlformats.org/presentationml/2006/ole">
            <mc:AlternateContent xmlns:mc="http://schemas.openxmlformats.org/markup-compatibility/2006">
              <mc:Choice xmlns:v="urn:schemas-microsoft-com:vml" Requires="v">
                <p:oleObj spid="_x0000_s5132" name="文档" r:id="rId4" imgW="3883577" imgH="2208385" progId="Word.Document.12">
                  <p:embed/>
                </p:oleObj>
              </mc:Choice>
              <mc:Fallback>
                <p:oleObj name="文档" r:id="rId4" imgW="3883577" imgH="2208385" progId="Word.Document.12">
                  <p:embed/>
                  <p:pic>
                    <p:nvPicPr>
                      <p:cNvPr id="0" name=""/>
                      <p:cNvPicPr/>
                      <p:nvPr/>
                    </p:nvPicPr>
                    <p:blipFill>
                      <a:blip r:embed="rId5"/>
                      <a:stretch>
                        <a:fillRect/>
                      </a:stretch>
                    </p:blipFill>
                    <p:spPr>
                      <a:xfrm>
                        <a:off x="1296541" y="2240000"/>
                        <a:ext cx="8090233" cy="4600487"/>
                      </a:xfrm>
                      <a:prstGeom prst="rect">
                        <a:avLst/>
                      </a:prstGeom>
                    </p:spPr>
                  </p:pic>
                </p:oleObj>
              </mc:Fallback>
            </mc:AlternateContent>
          </a:graphicData>
        </a:graphic>
      </p:graphicFrame>
    </p:spTree>
    <p:extLst>
      <p:ext uri="{BB962C8B-B14F-4D97-AF65-F5344CB8AC3E}">
        <p14:creationId xmlns:p14="http://schemas.microsoft.com/office/powerpoint/2010/main" val="397860760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924991"/>
            <a:ext cx="4575291"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频率分布直方图如下</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EMG2TRA26.eps" descr="id:2147492902;FounderCES"/>
          <p:cNvPicPr/>
          <p:nvPr/>
        </p:nvPicPr>
        <p:blipFill>
          <a:blip r:embed="rId2"/>
          <a:stretch>
            <a:fillRect/>
          </a:stretch>
        </p:blipFill>
        <p:spPr>
          <a:xfrm>
            <a:off x="2520677" y="1608255"/>
            <a:ext cx="6297370" cy="4152112"/>
          </a:xfrm>
          <a:prstGeom prst="rect">
            <a:avLst/>
          </a:prstGeom>
        </p:spPr>
      </p:pic>
    </p:spTree>
    <p:extLst>
      <p:ext uri="{BB962C8B-B14F-4D97-AF65-F5344CB8AC3E}">
        <p14:creationId xmlns:p14="http://schemas.microsoft.com/office/powerpoint/2010/main" val="38787598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1325367"/>
            <a:ext cx="11742454" cy="3456384"/>
            <a:chOff x="361950" y="862024"/>
            <a:chExt cx="11742454" cy="3456384"/>
          </a:xfrm>
        </p:grpSpPr>
        <p:pic>
          <p:nvPicPr>
            <p:cNvPr id="6" name="反思感悟H.eps" descr="id:2147490797;FounderCES"/>
            <p:cNvPicPr/>
            <p:nvPr/>
          </p:nvPicPr>
          <p:blipFill>
            <a:blip r:embed="rId3"/>
            <a:stretch>
              <a:fillRect/>
            </a:stretch>
          </p:blipFill>
          <p:spPr>
            <a:xfrm>
              <a:off x="361950" y="862024"/>
              <a:ext cx="2259558" cy="531552"/>
            </a:xfrm>
            <a:prstGeom prst="rect">
              <a:avLst/>
            </a:prstGeom>
          </p:spPr>
        </p:pic>
        <p:sp>
          <p:nvSpPr>
            <p:cNvPr id="2" name="矩形 1"/>
            <p:cNvSpPr>
              <a:spLocks noChangeAspect="1"/>
            </p:cNvSpPr>
            <p:nvPr/>
          </p:nvSpPr>
          <p:spPr>
            <a:xfrm>
              <a:off x="361950" y="1511895"/>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在列频率分布表时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极差、组距、组数有如下关系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40735764"/>
                </p:ext>
              </p:extLst>
            </p:nvPr>
          </p:nvGraphicFramePr>
          <p:xfrm>
            <a:off x="432445" y="2178809"/>
            <a:ext cx="11671959" cy="2139599"/>
          </p:xfrm>
          <a:graphic>
            <a:graphicData uri="http://schemas.openxmlformats.org/presentationml/2006/ole">
              <mc:AlternateContent xmlns:mc="http://schemas.openxmlformats.org/markup-compatibility/2006">
                <mc:Choice xmlns:v="urn:schemas-microsoft-com:vml" Requires="v">
                  <p:oleObj spid="_x0000_s6156" name="文档" r:id="rId5" imgW="3826872" imgH="701508" progId="Word.Document.12">
                    <p:embed/>
                  </p:oleObj>
                </mc:Choice>
                <mc:Fallback>
                  <p:oleObj name="文档" r:id="rId5" imgW="3826872" imgH="701508" progId="Word.Document.12">
                    <p:embed/>
                    <p:pic>
                      <p:nvPicPr>
                        <p:cNvPr id="0" name=""/>
                        <p:cNvPicPr/>
                        <p:nvPr/>
                      </p:nvPicPr>
                      <p:blipFill>
                        <a:blip r:embed="rId6"/>
                        <a:stretch>
                          <a:fillRect/>
                        </a:stretch>
                      </p:blipFill>
                      <p:spPr>
                        <a:xfrm>
                          <a:off x="432445" y="2178809"/>
                          <a:ext cx="11671959" cy="2139599"/>
                        </a:xfrm>
                        <a:prstGeom prst="rect">
                          <a:avLst/>
                        </a:prstGeom>
                      </p:spPr>
                    </p:pic>
                  </p:oleObj>
                </mc:Fallback>
              </mc:AlternateContent>
            </a:graphicData>
          </a:graphic>
        </p:graphicFrame>
      </p:grpSp>
    </p:spTree>
    <p:extLst>
      <p:ext uri="{BB962C8B-B14F-4D97-AF65-F5344CB8AC3E}">
        <p14:creationId xmlns:p14="http://schemas.microsoft.com/office/powerpoint/2010/main" val="364619931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511895"/>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组距和组数的确定没有固定的标准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将数据分组时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组数力求合适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能使数据的分布规律较清楚地呈现出来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组数太多或太少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都会影响我们了解数据的分布情况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若样本量不超过</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仿宋" panose="02010609060101010101" pitchFamily="49" charset="-122"/>
                <a:cs typeface="Times New Roman" panose="02020603050405020304" pitchFamily="18" charset="0"/>
              </a:rPr>
              <a:t>则常按照数据的多少分为</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仿宋" panose="02010609060101010101" pitchFamily="49"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一般样本量越大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所分组数越多</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5072646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03783"/>
            <a:ext cx="10807700" cy="359983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一款手机移动互联网应用程序使用非常广泛</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随机对使用该应用程序的</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人进行了统计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得到数据统计表如下所示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每天使用该应用程序时间在</a:t>
            </a:r>
            <a:r>
              <a:rPr lang="en-US" altLang="zh-CN" dirty="0">
                <a:solidFill>
                  <a:srgbClr val="000000"/>
                </a:solidFill>
                <a:ea typeface="宋体" panose="02010600030101010101" pitchFamily="2" charset="-122"/>
                <a:cs typeface="Times New Roman" panose="02020603050405020304" pitchFamily="18" charset="0"/>
              </a:rPr>
              <a:t>2 h</a:t>
            </a:r>
            <a:r>
              <a:rPr lang="zh-CN" altLang="zh-CN" dirty="0">
                <a:solidFill>
                  <a:srgbClr val="000000"/>
                </a:solidFill>
                <a:ea typeface="宋体" panose="02010600030101010101" pitchFamily="2" charset="-122"/>
                <a:cs typeface="Times New Roman" panose="02020603050405020304" pitchFamily="18" charset="0"/>
              </a:rPr>
              <a:t>以上的人被定义为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该应用程序达人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不超过</a:t>
            </a:r>
            <a:r>
              <a:rPr lang="en-US" altLang="zh-CN" dirty="0">
                <a:solidFill>
                  <a:srgbClr val="000000"/>
                </a:solidFill>
                <a:ea typeface="宋体" panose="02010600030101010101" pitchFamily="2" charset="-122"/>
                <a:cs typeface="Times New Roman" panose="02020603050405020304" pitchFamily="18" charset="0"/>
              </a:rPr>
              <a:t>2 h</a:t>
            </a:r>
            <a:r>
              <a:rPr lang="zh-CN" altLang="zh-CN" dirty="0">
                <a:solidFill>
                  <a:srgbClr val="000000"/>
                </a:solidFill>
                <a:ea typeface="宋体" panose="02010600030101010101" pitchFamily="2" charset="-122"/>
                <a:cs typeface="Times New Roman" panose="02020603050405020304" pitchFamily="18" charset="0"/>
              </a:rPr>
              <a:t>的人被定义为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非该应用程序达人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非该应用程序达人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该应用程序达人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人数比恰为</a:t>
            </a:r>
            <a:r>
              <a:rPr lang="en-US" altLang="zh-CN" dirty="0">
                <a:solidFill>
                  <a:srgbClr val="000000"/>
                </a:solidFill>
                <a:ea typeface="宋体" panose="02010600030101010101" pitchFamily="2" charset="-122"/>
                <a:cs typeface="Times New Roman" panose="02020603050405020304" pitchFamily="18" charset="0"/>
              </a:rPr>
              <a:t>3</a:t>
            </a:r>
            <a:r>
              <a:rPr lang="zh-CN" altLang="zh-CN" i="1" dirty="0">
                <a:solidFill>
                  <a:srgbClr val="000000"/>
                </a:solidFill>
                <a:latin typeface="NEU-BZ-S92" panose="02020503000000020003" pitchFamily="18" charset="-12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pic>
        <p:nvPicPr>
          <p:cNvPr id="6" name="EMG2TRA27.eps" descr="id:2147504423;FounderCES"/>
          <p:cNvPicPr/>
          <p:nvPr/>
        </p:nvPicPr>
        <p:blipFill>
          <a:blip r:embed="rId2"/>
          <a:stretch>
            <a:fillRect/>
          </a:stretch>
        </p:blipFill>
        <p:spPr>
          <a:xfrm>
            <a:off x="4104853" y="3430754"/>
            <a:ext cx="2880320" cy="2905677"/>
          </a:xfrm>
          <a:prstGeom prst="rect">
            <a:avLst/>
          </a:prstGeom>
        </p:spPr>
      </p:pic>
    </p:spTree>
    <p:extLst>
      <p:ext uri="{BB962C8B-B14F-4D97-AF65-F5344CB8AC3E}">
        <p14:creationId xmlns:p14="http://schemas.microsoft.com/office/powerpoint/2010/main" val="11445866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noChangeAspect="1"/>
          </p:cNvGraphicFramePr>
          <p:nvPr>
            <p:extLst>
              <p:ext uri="{D42A27DB-BD31-4B8C-83A1-F6EECF244321}">
                <p14:modId xmlns:p14="http://schemas.microsoft.com/office/powerpoint/2010/main" val="2773491778"/>
              </p:ext>
            </p:extLst>
          </p:nvPr>
        </p:nvGraphicFramePr>
        <p:xfrm>
          <a:off x="361950" y="1151855"/>
          <a:ext cx="10807701" cy="3901440"/>
        </p:xfrm>
        <a:graphic>
          <a:graphicData uri="http://schemas.openxmlformats.org/drawingml/2006/table">
            <a:tbl>
              <a:tblPr firstRow="1" firstCol="1" bandRow="1"/>
              <a:tblGrid>
                <a:gridCol w="4534991"/>
                <a:gridCol w="2670143"/>
                <a:gridCol w="3602567"/>
              </a:tblGrid>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使用该应用程序时间</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频数</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频率</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5,1]</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5,2]</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5,3]</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zh-CN" sz="32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合计</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320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3200" i="1"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3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a:t>
                      </a:r>
                      <a:endParaRPr lang="zh-CN" sz="3200"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524274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64779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确定</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并补全频率分布直方图</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78107318"/>
              </p:ext>
            </p:extLst>
          </p:nvPr>
        </p:nvGraphicFramePr>
        <p:xfrm>
          <a:off x="495300" y="1301750"/>
          <a:ext cx="11660188" cy="3378200"/>
        </p:xfrm>
        <a:graphic>
          <a:graphicData uri="http://schemas.openxmlformats.org/presentationml/2006/ole">
            <mc:AlternateContent xmlns:mc="http://schemas.openxmlformats.org/markup-compatibility/2006">
              <mc:Choice xmlns:v="urn:schemas-microsoft-com:vml" Requires="v">
                <p:oleObj spid="_x0000_s8204" name="文档" r:id="rId4" imgW="3826872" imgH="1113357" progId="Word.Document.12">
                  <p:embed/>
                </p:oleObj>
              </mc:Choice>
              <mc:Fallback>
                <p:oleObj name="文档" r:id="rId4" imgW="3826872" imgH="1113357" progId="Word.Document.12">
                  <p:embed/>
                  <p:pic>
                    <p:nvPicPr>
                      <p:cNvPr id="0" name=""/>
                      <p:cNvPicPr/>
                      <p:nvPr/>
                    </p:nvPicPr>
                    <p:blipFill>
                      <a:blip r:embed="rId5"/>
                      <a:stretch>
                        <a:fillRect/>
                      </a:stretch>
                    </p:blipFill>
                    <p:spPr>
                      <a:xfrm>
                        <a:off x="495300" y="1301750"/>
                        <a:ext cx="11660188" cy="3378200"/>
                      </a:xfrm>
                      <a:prstGeom prst="rect">
                        <a:avLst/>
                      </a:prstGeom>
                    </p:spPr>
                  </p:pic>
                </p:oleObj>
              </mc:Fallback>
            </mc:AlternateContent>
          </a:graphicData>
        </a:graphic>
      </p:graphicFrame>
      <p:pic>
        <p:nvPicPr>
          <p:cNvPr id="7" name="EMG2TRA28.eps" descr="id:2147492931;FounderCES"/>
          <p:cNvPicPr/>
          <p:nvPr/>
        </p:nvPicPr>
        <p:blipFill>
          <a:blip r:embed="rId6"/>
          <a:stretch>
            <a:fillRect/>
          </a:stretch>
        </p:blipFill>
        <p:spPr>
          <a:xfrm>
            <a:off x="6913165" y="2719372"/>
            <a:ext cx="3456384" cy="3572589"/>
          </a:xfrm>
          <a:prstGeom prst="rect">
            <a:avLst/>
          </a:prstGeom>
        </p:spPr>
      </p:pic>
    </p:spTree>
    <p:extLst>
      <p:ext uri="{BB962C8B-B14F-4D97-AF65-F5344CB8AC3E}">
        <p14:creationId xmlns:p14="http://schemas.microsoft.com/office/powerpoint/2010/main" val="255718462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68712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频率</a:t>
            </a:r>
            <a:r>
              <a:rPr lang="zh-CN" altLang="zh-CN" dirty="0"/>
              <a:t>分布直方图的应用</a:t>
            </a:r>
          </a:p>
        </p:txBody>
      </p:sp>
      <p:sp>
        <p:nvSpPr>
          <p:cNvPr id="2" name="矩形 1"/>
          <p:cNvSpPr>
            <a:spLocks noChangeAspect="1"/>
          </p:cNvSpPr>
          <p:nvPr/>
        </p:nvSpPr>
        <p:spPr>
          <a:xfrm>
            <a:off x="361950" y="1158503"/>
            <a:ext cx="10807700" cy="5410712"/>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为了解某校高一年级学生的体能情况</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随机抽取部分高一年级学生进行一分钟跳绳测试</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将所得数据整理后</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画出频率分布直方图如图所示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图中从左到右各小长方形的面积之比为</a:t>
            </a:r>
            <a:r>
              <a:rPr lang="en-US" altLang="zh-CN" dirty="0">
                <a:solidFill>
                  <a:srgbClr val="000000"/>
                </a:solidFill>
                <a:ea typeface="宋体" panose="02010600030101010101" pitchFamily="2" charset="-122"/>
              </a:rPr>
              <a:t>2</a:t>
            </a: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4</a:t>
            </a: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17</a:t>
            </a: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15</a:t>
            </a: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9</a:t>
            </a:r>
            <a:r>
              <a:rPr lang="zh-CN" altLang="zh-CN" i="1"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3,</a:t>
            </a:r>
            <a:r>
              <a:rPr lang="zh-CN" altLang="zh-CN" dirty="0">
                <a:solidFill>
                  <a:srgbClr val="000000"/>
                </a:solidFill>
                <a:ea typeface="宋体" panose="02010600030101010101" pitchFamily="2" charset="-122"/>
                <a:cs typeface="Times New Roman" panose="02020603050405020304" pitchFamily="18" charset="0"/>
              </a:rPr>
              <a:t>第二小组的频数为</a:t>
            </a:r>
            <a:r>
              <a:rPr lang="en-US" altLang="zh-CN" dirty="0">
                <a:solidFill>
                  <a:srgbClr val="000000"/>
                </a:solidFill>
                <a:ea typeface="宋体" panose="02010600030101010101" pitchFamily="2" charset="-122"/>
              </a:rPr>
              <a:t>12</a:t>
            </a:r>
            <a:r>
              <a:rPr lang="en-US" altLang="zh-CN" i="1" dirty="0">
                <a:solidFill>
                  <a:srgbClr val="000000"/>
                </a:solidFill>
                <a:ea typeface="宋体" panose="02010600030101010101" pitchFamily="2" charset="-122"/>
              </a:rPr>
              <a:t>.</a:t>
            </a:r>
            <a:endParaRPr lang="zh-CN" altLang="en-US" dirty="0"/>
          </a:p>
          <a:p>
            <a:pPr algn="ct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 </a:t>
            </a:r>
          </a:p>
          <a:p>
            <a:pPr algn="ctr">
              <a:lnSpc>
                <a:spcPct val="120000"/>
              </a:lnSpc>
              <a:spcAft>
                <a:spcPts val="0"/>
              </a:spcAft>
              <a:tabLst>
                <a:tab pos="1029335" algn="l"/>
                <a:tab pos="1850390" algn="l"/>
                <a:tab pos="2538095" algn="l"/>
                <a:tab pos="3221990" algn="l"/>
              </a:tabLst>
            </a:pP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zh-CN" altLang="zh-CN" dirty="0" smtClean="0">
                <a:solidFill>
                  <a:srgbClr val="000000"/>
                </a:solidFill>
                <a:ea typeface="宋体" panose="02010600030101010101" pitchFamily="2" charset="-122"/>
                <a:cs typeface="Times New Roman" panose="02020603050405020304" pitchFamily="18" charset="0"/>
              </a:rPr>
              <a:t>第二小组的频率是多少</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样本量是多少</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ea typeface="宋体" panose="02010600030101010101" pitchFamily="2" charset="-122"/>
                <a:cs typeface="Times New Roman" panose="02020603050405020304" pitchFamily="18" charset="0"/>
              </a:rPr>
              <a:t>若次数在</a:t>
            </a:r>
            <a:r>
              <a:rPr lang="en-US" altLang="zh-CN" dirty="0" smtClean="0">
                <a:solidFill>
                  <a:srgbClr val="000000"/>
                </a:solidFill>
                <a:ea typeface="宋体" panose="02010600030101010101" pitchFamily="2" charset="-122"/>
                <a:cs typeface="Times New Roman" panose="02020603050405020304" pitchFamily="18" charset="0"/>
              </a:rPr>
              <a:t>110</a:t>
            </a:r>
            <a:r>
              <a:rPr lang="zh-CN" altLang="zh-CN" dirty="0" smtClean="0">
                <a:solidFill>
                  <a:srgbClr val="000000"/>
                </a:solidFill>
                <a:ea typeface="宋体" panose="02010600030101010101" pitchFamily="2" charset="-122"/>
                <a:cs typeface="Times New Roman" panose="02020603050405020304" pitchFamily="18" charset="0"/>
              </a:rPr>
              <a:t>以上</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含</a:t>
            </a:r>
            <a:r>
              <a:rPr lang="en-US" altLang="zh-CN" dirty="0" smtClean="0">
                <a:solidFill>
                  <a:srgbClr val="000000"/>
                </a:solidFill>
                <a:ea typeface="宋体" panose="02010600030101010101" pitchFamily="2" charset="-122"/>
                <a:cs typeface="Times New Roman" panose="02020603050405020304" pitchFamily="18" charset="0"/>
              </a:rPr>
              <a:t>110)</a:t>
            </a:r>
            <a:r>
              <a:rPr lang="zh-CN" altLang="zh-CN" dirty="0" smtClean="0">
                <a:solidFill>
                  <a:srgbClr val="000000"/>
                </a:solidFill>
                <a:ea typeface="宋体" panose="02010600030101010101" pitchFamily="2" charset="-122"/>
                <a:cs typeface="Times New Roman" panose="02020603050405020304" pitchFamily="18" charset="0"/>
              </a:rPr>
              <a:t>为达标</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则</a:t>
            </a:r>
            <a:r>
              <a:rPr lang="zh-CN" altLang="en-US" dirty="0" smtClean="0">
                <a:solidFill>
                  <a:srgbClr val="000000"/>
                </a:solidFill>
                <a:ea typeface="宋体" panose="02010600030101010101" pitchFamily="2" charset="-122"/>
                <a:cs typeface="Times New Roman" panose="02020603050405020304" pitchFamily="18" charset="0"/>
              </a:rPr>
              <a:t>估计</a:t>
            </a:r>
            <a:r>
              <a:rPr lang="zh-CN" altLang="zh-CN" dirty="0" smtClean="0">
                <a:solidFill>
                  <a:srgbClr val="000000"/>
                </a:solidFill>
                <a:ea typeface="宋体" panose="02010600030101010101" pitchFamily="2" charset="-122"/>
                <a:cs typeface="Times New Roman" panose="02020603050405020304" pitchFamily="18" charset="0"/>
              </a:rPr>
              <a:t>该校全体高一年级学生的达标率是多少</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EMG2TRA29.eps" descr="id:2147492945;FounderCES"/>
          <p:cNvPicPr/>
          <p:nvPr/>
        </p:nvPicPr>
        <p:blipFill>
          <a:blip r:embed="rId2"/>
          <a:stretch>
            <a:fillRect/>
          </a:stretch>
        </p:blipFill>
        <p:spPr>
          <a:xfrm>
            <a:off x="8137301" y="3495169"/>
            <a:ext cx="2888333" cy="1833150"/>
          </a:xfrm>
          <a:prstGeom prst="rect">
            <a:avLst/>
          </a:prstGeom>
        </p:spPr>
      </p:pic>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663566"/>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频率分布直方图以面积的形式反映了数据落在各个小组的</a:t>
            </a:r>
            <a:r>
              <a:rPr lang="zh-CN" altLang="zh-CN" dirty="0" smtClean="0">
                <a:solidFill>
                  <a:srgbClr val="000000"/>
                </a:solidFill>
                <a:ea typeface="楷体" panose="02010609060101010101" pitchFamily="49" charset="-122"/>
                <a:cs typeface="Times New Roman" panose="02020603050405020304" pitchFamily="18" charset="0"/>
              </a:rPr>
              <a:t>频率</a:t>
            </a:r>
            <a:r>
              <a:rPr lang="zh-CN" altLang="en-US" dirty="0" smtClean="0">
                <a:solidFill>
                  <a:srgbClr val="000000"/>
                </a:solidFill>
                <a:ea typeface="楷体" panose="02010609060101010101" pitchFamily="49" charset="-122"/>
                <a:cs typeface="Times New Roman" panose="02020603050405020304" pitchFamily="18" charset="0"/>
              </a:rPr>
              <a:t>的</a:t>
            </a:r>
            <a:r>
              <a:rPr lang="zh-CN" altLang="zh-CN" dirty="0" smtClean="0">
                <a:solidFill>
                  <a:srgbClr val="000000"/>
                </a:solidFill>
                <a:ea typeface="楷体" panose="02010609060101010101" pitchFamily="49" charset="-122"/>
                <a:cs typeface="Times New Roman" panose="02020603050405020304" pitchFamily="18" charset="0"/>
              </a:rPr>
              <a:t>大小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501692711"/>
              </p:ext>
            </p:extLst>
          </p:nvPr>
        </p:nvGraphicFramePr>
        <p:xfrm>
          <a:off x="432445" y="1907366"/>
          <a:ext cx="11671959" cy="4366889"/>
        </p:xfrm>
        <a:graphic>
          <a:graphicData uri="http://schemas.openxmlformats.org/presentationml/2006/ole">
            <mc:AlternateContent xmlns:mc="http://schemas.openxmlformats.org/markup-compatibility/2006">
              <mc:Choice xmlns:v="urn:schemas-microsoft-com:vml" Requires="v">
                <p:oleObj spid="_x0000_s9228" name="文档" r:id="rId4" imgW="3826872" imgH="1431767" progId="Word.Document.12">
                  <p:embed/>
                </p:oleObj>
              </mc:Choice>
              <mc:Fallback>
                <p:oleObj name="文档" r:id="rId4" imgW="3826872" imgH="1431767" progId="Word.Document.12">
                  <p:embed/>
                  <p:pic>
                    <p:nvPicPr>
                      <p:cNvPr id="0" name=""/>
                      <p:cNvPicPr/>
                      <p:nvPr/>
                    </p:nvPicPr>
                    <p:blipFill>
                      <a:blip r:embed="rId5"/>
                      <a:stretch>
                        <a:fillRect/>
                      </a:stretch>
                    </p:blipFill>
                    <p:spPr>
                      <a:xfrm>
                        <a:off x="432445" y="1907366"/>
                        <a:ext cx="11671959" cy="4366889"/>
                      </a:xfrm>
                      <a:prstGeom prst="rect">
                        <a:avLst/>
                      </a:prstGeom>
                    </p:spPr>
                  </p:pic>
                </p:oleObj>
              </mc:Fallback>
            </mc:AlternateContent>
          </a:graphicData>
        </a:graphic>
      </p:graphicFrame>
    </p:spTree>
    <p:extLst>
      <p:ext uri="{BB962C8B-B14F-4D97-AF65-F5344CB8AC3E}">
        <p14:creationId xmlns:p14="http://schemas.microsoft.com/office/powerpoint/2010/main" val="183379936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延伸探究H.eps" descr="id:2147492067;FounderCES"/>
          <p:cNvPicPr/>
          <p:nvPr/>
        </p:nvPicPr>
        <p:blipFill>
          <a:blip r:embed="rId3"/>
          <a:stretch>
            <a:fillRect/>
          </a:stretch>
        </p:blipFill>
        <p:spPr>
          <a:xfrm>
            <a:off x="4062812" y="719807"/>
            <a:ext cx="2740119" cy="499725"/>
          </a:xfrm>
          <a:prstGeom prst="rect">
            <a:avLst/>
          </a:prstGeom>
        </p:spPr>
      </p:pic>
      <p:sp>
        <p:nvSpPr>
          <p:cNvPr id="2" name="矩形 1"/>
          <p:cNvSpPr>
            <a:spLocks noChangeAspect="1"/>
          </p:cNvSpPr>
          <p:nvPr/>
        </p:nvSpPr>
        <p:spPr>
          <a:xfrm>
            <a:off x="361950" y="1232599"/>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本例条件不变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试求样本中不达标的学生人数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样本的达标率为</a:t>
            </a:r>
            <a:r>
              <a:rPr lang="en-US" altLang="zh-CN" dirty="0">
                <a:solidFill>
                  <a:srgbClr val="000000"/>
                </a:solidFill>
                <a:ea typeface="宋体" panose="02010600030101010101" pitchFamily="2" charset="-122"/>
                <a:cs typeface="Times New Roman" panose="02020603050405020304" pitchFamily="18" charset="0"/>
              </a:rPr>
              <a:t>88%,</a:t>
            </a:r>
            <a:r>
              <a:rPr lang="zh-CN" altLang="zh-CN" dirty="0">
                <a:solidFill>
                  <a:srgbClr val="000000"/>
                </a:solidFill>
                <a:ea typeface="楷体" panose="02010609060101010101" pitchFamily="49" charset="-122"/>
                <a:cs typeface="Times New Roman" panose="02020603050405020304" pitchFamily="18" charset="0"/>
              </a:rPr>
              <a:t>样本量为</a:t>
            </a:r>
            <a:r>
              <a:rPr lang="en-US" altLang="zh-CN" dirty="0">
                <a:solidFill>
                  <a:srgbClr val="000000"/>
                </a:solidFill>
                <a:ea typeface="宋体" panose="02010600030101010101" pitchFamily="2" charset="-122"/>
                <a:cs typeface="Times New Roman" panose="02020603050405020304" pitchFamily="18" charset="0"/>
              </a:rPr>
              <a:t>150,</a:t>
            </a:r>
            <a:r>
              <a:rPr lang="zh-CN" altLang="zh-CN" dirty="0">
                <a:solidFill>
                  <a:srgbClr val="000000"/>
                </a:solidFill>
                <a:ea typeface="楷体" panose="02010609060101010101" pitchFamily="49" charset="-122"/>
                <a:cs typeface="Times New Roman" panose="02020603050405020304" pitchFamily="18" charset="0"/>
              </a:rPr>
              <a:t>不达标的学生频率为</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所以样本中不达标的学生人数为</a:t>
            </a:r>
            <a:r>
              <a:rPr lang="en-US" altLang="zh-CN" dirty="0">
                <a:solidFill>
                  <a:srgbClr val="000000"/>
                </a:solidFill>
                <a:ea typeface="宋体" panose="02010600030101010101" pitchFamily="2" charset="-122"/>
                <a:cs typeface="Times New Roman" panose="02020603050405020304" pitchFamily="18" charset="0"/>
              </a:rPr>
              <a:t>150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18</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本例条件不变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试求样本中次数在</a:t>
            </a:r>
            <a:r>
              <a:rPr lang="en-US" altLang="zh-CN" dirty="0">
                <a:solidFill>
                  <a:srgbClr val="000000"/>
                </a:solidFill>
                <a:ea typeface="宋体" panose="02010600030101010101" pitchFamily="2" charset="-122"/>
                <a:cs typeface="Times New Roman" panose="02020603050405020304" pitchFamily="18" charset="0"/>
              </a:rPr>
              <a:t>130</a:t>
            </a:r>
            <a:r>
              <a:rPr lang="zh-CN" altLang="zh-CN" dirty="0">
                <a:solidFill>
                  <a:srgbClr val="000000"/>
                </a:solidFill>
                <a:ea typeface="宋体" panose="02010600030101010101" pitchFamily="2" charset="-122"/>
                <a:cs typeface="Times New Roman" panose="02020603050405020304" pitchFamily="18" charset="0"/>
              </a:rPr>
              <a:t>以上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含</a:t>
            </a:r>
            <a:r>
              <a:rPr lang="en-US" altLang="zh-CN" dirty="0">
                <a:solidFill>
                  <a:srgbClr val="000000"/>
                </a:solidFill>
                <a:ea typeface="宋体" panose="02010600030101010101" pitchFamily="2" charset="-122"/>
                <a:cs typeface="Times New Roman" panose="02020603050405020304" pitchFamily="18" charset="0"/>
              </a:rPr>
              <a:t>130)</a:t>
            </a:r>
            <a:r>
              <a:rPr lang="zh-CN" altLang="zh-CN" dirty="0">
                <a:solidFill>
                  <a:srgbClr val="000000"/>
                </a:solidFill>
                <a:ea typeface="宋体" panose="02010600030101010101" pitchFamily="2" charset="-122"/>
                <a:cs typeface="Times New Roman" panose="02020603050405020304" pitchFamily="18" charset="0"/>
              </a:rPr>
              <a:t>的学生人数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9" name="组合 8"/>
          <p:cNvGrpSpPr/>
          <p:nvPr/>
        </p:nvGrpSpPr>
        <p:grpSpPr>
          <a:xfrm>
            <a:off x="361950" y="4752255"/>
            <a:ext cx="11785385" cy="1381009"/>
            <a:chOff x="361950" y="4771919"/>
            <a:chExt cx="11785385" cy="1381009"/>
          </a:xfrm>
        </p:grpSpPr>
        <p:sp>
          <p:nvSpPr>
            <p:cNvPr id="3" name="矩形 2"/>
            <p:cNvSpPr>
              <a:spLocks noChangeAspect="1"/>
            </p:cNvSpPr>
            <p:nvPr/>
          </p:nvSpPr>
          <p:spPr>
            <a:xfrm>
              <a:off x="361950" y="4771919"/>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次数在</a:t>
              </a:r>
              <a:r>
                <a:rPr lang="en-US" altLang="zh-CN" dirty="0">
                  <a:solidFill>
                    <a:srgbClr val="000000"/>
                  </a:solidFill>
                  <a:ea typeface="宋体" panose="02010600030101010101" pitchFamily="2" charset="-122"/>
                  <a:cs typeface="Times New Roman" panose="02020603050405020304" pitchFamily="18" charset="0"/>
                </a:rPr>
                <a:t>130</a:t>
              </a:r>
              <a:r>
                <a:rPr lang="zh-CN" altLang="zh-CN" dirty="0">
                  <a:solidFill>
                    <a:srgbClr val="000000"/>
                  </a:solidFill>
                  <a:ea typeface="楷体" panose="02010609060101010101" pitchFamily="49" charset="-122"/>
                  <a:cs typeface="Times New Roman" panose="02020603050405020304" pitchFamily="18" charset="0"/>
                </a:rPr>
                <a:t>以上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含</a:t>
              </a:r>
              <a:r>
                <a:rPr lang="en-US" altLang="zh-CN" dirty="0">
                  <a:solidFill>
                    <a:srgbClr val="000000"/>
                  </a:solidFill>
                  <a:ea typeface="宋体" panose="02010600030101010101" pitchFamily="2" charset="-122"/>
                  <a:cs typeface="Times New Roman" panose="02020603050405020304" pitchFamily="18" charset="0"/>
                </a:rPr>
                <a:t>130)</a:t>
              </a:r>
              <a:r>
                <a:rPr lang="zh-CN" altLang="zh-CN" dirty="0">
                  <a:solidFill>
                    <a:srgbClr val="000000"/>
                  </a:solidFill>
                  <a:ea typeface="楷体" panose="02010609060101010101" pitchFamily="49" charset="-122"/>
                  <a:cs typeface="Times New Roman" panose="02020603050405020304" pitchFamily="18" charset="0"/>
                </a:rPr>
                <a:t>的学生人数</a:t>
              </a:r>
              <a:r>
                <a:rPr lang="zh-CN" altLang="zh-CN" dirty="0" smtClean="0">
                  <a:solidFill>
                    <a:srgbClr val="000000"/>
                  </a:solidFill>
                  <a:ea typeface="楷体" panose="02010609060101010101" pitchFamily="49" charset="-122"/>
                  <a:cs typeface="Times New Roman" panose="02020603050405020304" pitchFamily="18" charset="0"/>
                </a:rPr>
                <a:t>为</a:t>
              </a:r>
              <a:r>
                <a:rPr lang="en-US" altLang="zh-CN" dirty="0" smtClean="0">
                  <a:solidFill>
                    <a:srgbClr val="000000"/>
                  </a:solidFill>
                  <a:ea typeface="楷体" panose="02010609060101010101" pitchFamily="49"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875170211"/>
                </p:ext>
              </p:extLst>
            </p:nvPr>
          </p:nvGraphicFramePr>
          <p:xfrm>
            <a:off x="442277" y="5418293"/>
            <a:ext cx="11705058" cy="734635"/>
          </p:xfrm>
          <a:graphic>
            <a:graphicData uri="http://schemas.openxmlformats.org/presentationml/2006/ole">
              <mc:AlternateContent xmlns:mc="http://schemas.openxmlformats.org/markup-compatibility/2006">
                <mc:Choice xmlns:v="urn:schemas-microsoft-com:vml" Requires="v">
                  <p:oleObj spid="_x0000_s19464" name="文档" r:id="rId5" imgW="3837724" imgH="240864" progId="Word.Document.12">
                    <p:embed/>
                  </p:oleObj>
                </mc:Choice>
                <mc:Fallback>
                  <p:oleObj name="文档" r:id="rId5" imgW="3837724" imgH="240864" progId="Word.Document.12">
                    <p:embed/>
                    <p:pic>
                      <p:nvPicPr>
                        <p:cNvPr id="0" name=""/>
                        <p:cNvPicPr/>
                        <p:nvPr/>
                      </p:nvPicPr>
                      <p:blipFill>
                        <a:blip r:embed="rId6"/>
                        <a:stretch>
                          <a:fillRect/>
                        </a:stretch>
                      </p:blipFill>
                      <p:spPr>
                        <a:xfrm>
                          <a:off x="442277" y="5418293"/>
                          <a:ext cx="11705058" cy="734635"/>
                        </a:xfrm>
                        <a:prstGeom prst="rect">
                          <a:avLst/>
                        </a:prstGeom>
                      </p:spPr>
                    </p:pic>
                  </p:oleObj>
                </mc:Fallback>
              </mc:AlternateContent>
            </a:graphicData>
          </a:graphic>
        </p:graphicFrame>
      </p:grpSp>
    </p:spTree>
    <p:extLst>
      <p:ext uri="{BB962C8B-B14F-4D97-AF65-F5344CB8AC3E}">
        <p14:creationId xmlns:p14="http://schemas.microsoft.com/office/powerpoint/2010/main" val="112891063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反思感悟H.eps" descr="id:2147490797;FounderCES"/>
          <p:cNvPicPr/>
          <p:nvPr/>
        </p:nvPicPr>
        <p:blipFill>
          <a:blip r:embed="rId3"/>
          <a:stretch>
            <a:fillRect/>
          </a:stretch>
        </p:blipFill>
        <p:spPr>
          <a:xfrm>
            <a:off x="361950" y="689095"/>
            <a:ext cx="2259558" cy="531552"/>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357341908"/>
              </p:ext>
            </p:extLst>
          </p:nvPr>
        </p:nvGraphicFramePr>
        <p:xfrm>
          <a:off x="361950" y="1266375"/>
          <a:ext cx="10640962" cy="5153835"/>
        </p:xfrm>
        <a:graphic>
          <a:graphicData uri="http://schemas.openxmlformats.org/presentationml/2006/ole">
            <mc:AlternateContent xmlns:mc="http://schemas.openxmlformats.org/markup-compatibility/2006">
              <mc:Choice xmlns:v="urn:schemas-microsoft-com:vml" Requires="v">
                <p:oleObj spid="_x0000_s10256" name="文档" r:id="rId5" imgW="3837724" imgH="1858760" progId="Word.Document.12">
                  <p:embed/>
                </p:oleObj>
              </mc:Choice>
              <mc:Fallback>
                <p:oleObj name="文档" r:id="rId5" imgW="3837724" imgH="1858760" progId="Word.Document.12">
                  <p:embed/>
                  <p:pic>
                    <p:nvPicPr>
                      <p:cNvPr id="0" name=""/>
                      <p:cNvPicPr/>
                      <p:nvPr/>
                    </p:nvPicPr>
                    <p:blipFill>
                      <a:blip r:embed="rId6"/>
                      <a:stretch>
                        <a:fillRect/>
                      </a:stretch>
                    </p:blipFill>
                    <p:spPr>
                      <a:xfrm>
                        <a:off x="361950" y="1266375"/>
                        <a:ext cx="10640962" cy="5153835"/>
                      </a:xfrm>
                      <a:prstGeom prst="rect">
                        <a:avLst/>
                      </a:prstGeom>
                    </p:spPr>
                  </p:pic>
                </p:oleObj>
              </mc:Fallback>
            </mc:AlternateContent>
          </a:graphicData>
        </a:graphic>
      </p:graphicFrame>
    </p:spTree>
    <p:extLst>
      <p:ext uri="{BB962C8B-B14F-4D97-AF65-F5344CB8AC3E}">
        <p14:creationId xmlns:p14="http://schemas.microsoft.com/office/powerpoint/2010/main" val="37123150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238470"/>
            <a:ext cx="10807700" cy="1217641"/>
          </a:xfrm>
          <a:prstGeom prst="rect">
            <a:avLst/>
          </a:prstGeom>
        </p:spPr>
        <p:txBody>
          <a:bodyPr>
            <a:spAutoFit/>
          </a:bodyPr>
          <a:lstStyle/>
          <a:p>
            <a:pPr>
              <a:lnSpc>
                <a:spcPct val="120000"/>
              </a:lnSpc>
              <a:spcAft>
                <a:spcPts val="0"/>
              </a:spcAf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在频率分布直方图中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各小长方形的面积之比等于频率之比</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各小长方形的高度之比也等于频率之比</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684512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31148"/>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从某小区抽取</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户居民进行月用电量调查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发现其用电量都在</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至</a:t>
            </a:r>
            <a:r>
              <a:rPr lang="en-US" altLang="zh-CN" dirty="0">
                <a:solidFill>
                  <a:srgbClr val="000000"/>
                </a:solidFill>
                <a:ea typeface="宋体" panose="02010600030101010101" pitchFamily="2" charset="-122"/>
                <a:cs typeface="Times New Roman" panose="02020603050405020304" pitchFamily="18" charset="0"/>
              </a:rPr>
              <a:t>350 </a:t>
            </a:r>
            <a:r>
              <a:rPr lang="en-US" altLang="zh-CN" dirty="0" err="1">
                <a:solidFill>
                  <a:srgbClr val="000000"/>
                </a:solidFill>
                <a:ea typeface="宋体" panose="02010600030101010101" pitchFamily="2" charset="-122"/>
                <a:cs typeface="Times New Roman" panose="02020603050405020304" pitchFamily="18" charset="0"/>
              </a:rPr>
              <a:t>kW·h</a:t>
            </a:r>
            <a:r>
              <a:rPr lang="zh-CN" altLang="zh-CN" dirty="0">
                <a:solidFill>
                  <a:srgbClr val="000000"/>
                </a:solidFill>
                <a:ea typeface="宋体" panose="02010600030101010101" pitchFamily="2" charset="-122"/>
                <a:cs typeface="Times New Roman" panose="02020603050405020304" pitchFamily="18" charset="0"/>
              </a:rPr>
              <a:t>之间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频率分布直方图如图所示</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直方图中</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的值为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在这些用户中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用电量落在区间</a:t>
            </a:r>
            <a:r>
              <a:rPr lang="en-US" altLang="zh-CN" dirty="0">
                <a:solidFill>
                  <a:srgbClr val="000000"/>
                </a:solidFill>
                <a:ea typeface="宋体" panose="02010600030101010101" pitchFamily="2" charset="-122"/>
                <a:cs typeface="Times New Roman" panose="02020603050405020304" pitchFamily="18" charset="0"/>
              </a:rPr>
              <a:t>[100,250)</a:t>
            </a:r>
            <a:r>
              <a:rPr lang="zh-CN" altLang="zh-CN" dirty="0">
                <a:solidFill>
                  <a:srgbClr val="000000"/>
                </a:solidFill>
                <a:ea typeface="宋体" panose="02010600030101010101" pitchFamily="2" charset="-122"/>
                <a:cs typeface="Times New Roman" panose="02020603050405020304" pitchFamily="18" charset="0"/>
              </a:rPr>
              <a:t>内的户数</a:t>
            </a:r>
            <a:r>
              <a:rPr lang="zh-CN" altLang="zh-CN" dirty="0" smtClean="0">
                <a:solidFill>
                  <a:srgbClr val="000000"/>
                </a:solidFill>
                <a:ea typeface="宋体" panose="02010600030101010101" pitchFamily="2" charset="-122"/>
                <a:cs typeface="Times New Roman" panose="02020603050405020304" pitchFamily="18" charset="0"/>
              </a:rPr>
              <a:t>为</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12" name="EMG2TRA30.eps" descr="id:2147492959;FounderCES"/>
          <p:cNvPicPr/>
          <p:nvPr/>
        </p:nvPicPr>
        <p:blipFill>
          <a:blip r:embed="rId2"/>
          <a:stretch>
            <a:fillRect/>
          </a:stretch>
        </p:blipFill>
        <p:spPr>
          <a:xfrm>
            <a:off x="3024733" y="1737751"/>
            <a:ext cx="5832648" cy="2867168"/>
          </a:xfrm>
          <a:prstGeom prst="rect">
            <a:avLst/>
          </a:prstGeom>
        </p:spPr>
      </p:pic>
    </p:spTree>
    <p:extLst>
      <p:ext uri="{BB962C8B-B14F-4D97-AF65-F5344CB8AC3E}">
        <p14:creationId xmlns:p14="http://schemas.microsoft.com/office/powerpoint/2010/main" val="82468729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由频率分布直方图中各小长方形的面积的总和等于</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003</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006</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002</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004</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用电量在区间</a:t>
            </a:r>
            <a:r>
              <a:rPr lang="en-US" altLang="zh-CN" dirty="0">
                <a:solidFill>
                  <a:srgbClr val="000000"/>
                </a:solidFill>
                <a:ea typeface="宋体" panose="02010600030101010101" pitchFamily="2" charset="-122"/>
                <a:cs typeface="Times New Roman" panose="02020603050405020304" pitchFamily="18" charset="0"/>
              </a:rPr>
              <a:t>[100,250)</a:t>
            </a:r>
            <a:r>
              <a:rPr lang="zh-CN" altLang="zh-CN" dirty="0">
                <a:solidFill>
                  <a:srgbClr val="000000"/>
                </a:solidFill>
                <a:ea typeface="楷体" panose="02010609060101010101" pitchFamily="49" charset="-122"/>
                <a:cs typeface="Times New Roman" panose="02020603050405020304" pitchFamily="18" charset="0"/>
              </a:rPr>
              <a:t>内的频率</a:t>
            </a:r>
            <a:r>
              <a:rPr lang="zh-CN" altLang="zh-CN" dirty="0" smtClean="0">
                <a:solidFill>
                  <a:srgbClr val="000000"/>
                </a:solidFill>
                <a:ea typeface="楷体" panose="02010609060101010101" pitchFamily="49" charset="-122"/>
                <a:cs typeface="Times New Roman" panose="02020603050405020304" pitchFamily="18" charset="0"/>
              </a:rPr>
              <a:t>为</a:t>
            </a:r>
            <a:endParaRPr lang="en-US" altLang="zh-CN" dirty="0" smtClean="0">
              <a:solidFill>
                <a:srgbClr val="000000"/>
              </a:solidFill>
              <a:ea typeface="楷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003</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006</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004</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因此</a:t>
            </a:r>
            <a:r>
              <a:rPr lang="zh-CN" altLang="zh-CN" dirty="0">
                <a:solidFill>
                  <a:srgbClr val="000000"/>
                </a:solidFill>
                <a:ea typeface="楷体" panose="02010609060101010101" pitchFamily="49" charset="-122"/>
                <a:cs typeface="Times New Roman" panose="02020603050405020304" pitchFamily="18" charset="0"/>
              </a:rPr>
              <a:t>用电量在区间</a:t>
            </a:r>
            <a:r>
              <a:rPr lang="en-US" altLang="zh-CN" dirty="0">
                <a:solidFill>
                  <a:srgbClr val="000000"/>
                </a:solidFill>
                <a:ea typeface="宋体" panose="02010600030101010101" pitchFamily="2" charset="-122"/>
                <a:cs typeface="Times New Roman" panose="02020603050405020304" pitchFamily="18" charset="0"/>
              </a:rPr>
              <a:t>[100,250)</a:t>
            </a:r>
            <a:r>
              <a:rPr lang="zh-CN" altLang="zh-CN" dirty="0">
                <a:solidFill>
                  <a:srgbClr val="000000"/>
                </a:solidFill>
                <a:ea typeface="楷体" panose="02010609060101010101" pitchFamily="49" charset="-122"/>
                <a:cs typeface="Times New Roman" panose="02020603050405020304" pitchFamily="18" charset="0"/>
              </a:rPr>
              <a:t>内的户数为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004 4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(2)70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318515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680479"/>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其他</a:t>
            </a:r>
            <a:r>
              <a:rPr lang="zh-CN" altLang="zh-CN" dirty="0"/>
              <a:t>统计图的应用</a:t>
            </a:r>
          </a:p>
        </p:txBody>
      </p:sp>
      <p:sp>
        <p:nvSpPr>
          <p:cNvPr id="2" name="矩形 1"/>
          <p:cNvSpPr>
            <a:spLocks noChangeAspect="1"/>
          </p:cNvSpPr>
          <p:nvPr/>
        </p:nvSpPr>
        <p:spPr>
          <a:xfrm>
            <a:off x="361950" y="1161687"/>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家庭过期药品已被列入《国家危险废物名录》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处理不当将污染环境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危害健康</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某市药监</a:t>
            </a:r>
            <a:r>
              <a:rPr lang="zh-CN" altLang="zh-CN">
                <a:solidFill>
                  <a:srgbClr val="000000"/>
                </a:solidFill>
                <a:ea typeface="宋体" panose="02010600030101010101" pitchFamily="2" charset="-122"/>
                <a:cs typeface="Times New Roman" panose="02020603050405020304" pitchFamily="18" charset="0"/>
              </a:rPr>
              <a:t>部门为了了解</a:t>
            </a:r>
            <a:r>
              <a:rPr lang="zh-CN" altLang="zh-CN" dirty="0">
                <a:solidFill>
                  <a:srgbClr val="000000"/>
                </a:solidFill>
                <a:ea typeface="宋体" panose="02010600030101010101" pitchFamily="2" charset="-122"/>
                <a:cs typeface="Times New Roman" panose="02020603050405020304" pitchFamily="18" charset="0"/>
              </a:rPr>
              <a:t>市民家庭处理过期药品的方式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决定对全市家庭进行一次简单随机抽样调查</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下列抽取样本的方法最合理的一种是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只需填上正确答案的序号</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在市中心某个居民区以家庭为单位随机抽取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在全市医务工作者中以家庭为单位随机抽取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在全市常住人口中以家庭为单位随机抽取</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216421" y="533279"/>
            <a:ext cx="10943703" cy="6001643"/>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本次抽样调查发现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接受调查的家庭都有过期药品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现将有关数据呈现如图</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m=</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i="1" dirty="0" smtClean="0">
                <a:solidFill>
                  <a:srgbClr val="000000"/>
                </a:solidFill>
                <a:ea typeface="宋体" panose="02010600030101010101" pitchFamily="2" charset="-122"/>
                <a:cs typeface="Times New Roman" panose="02020603050405020304" pitchFamily="18" charset="0"/>
              </a:rPr>
              <a:t>n</a:t>
            </a:r>
            <a:r>
              <a:rPr lang="en-US" altLang="zh-CN" i="1" dirty="0">
                <a:solidFill>
                  <a:srgbClr val="000000"/>
                </a:solidFill>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补全条形统计图</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smtClean="0">
                <a:solidFill>
                  <a:srgbClr val="000000"/>
                </a:solidFill>
                <a:ea typeface="宋体" panose="02010600030101010101" pitchFamily="2" charset="-122"/>
                <a:cs typeface="Times New Roman" panose="02020603050405020304" pitchFamily="18" charset="0"/>
              </a:rPr>
              <a:t>根据</a:t>
            </a:r>
            <a:r>
              <a:rPr lang="zh-CN" altLang="en-US" dirty="0" smtClean="0">
                <a:solidFill>
                  <a:srgbClr val="000000"/>
                </a:solidFill>
                <a:ea typeface="宋体" panose="02010600030101010101" pitchFamily="2" charset="-122"/>
                <a:cs typeface="Times New Roman" panose="02020603050405020304" pitchFamily="18" charset="0"/>
              </a:rPr>
              <a:t>调查</a:t>
            </a:r>
            <a:r>
              <a:rPr lang="zh-CN" altLang="zh-CN" dirty="0" smtClean="0">
                <a:solidFill>
                  <a:srgbClr val="000000"/>
                </a:solidFill>
                <a:ea typeface="宋体" panose="02010600030101010101" pitchFamily="2" charset="-122"/>
                <a:cs typeface="Times New Roman" panose="02020603050405020304" pitchFamily="18" charset="0"/>
              </a:rPr>
              <a:t>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你认为该市市民家庭处理过期药品最常见的方式是什么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宋体" panose="02010600030101010101" pitchFamily="2" charset="-122"/>
                <a:cs typeface="Times New Roman" panose="02020603050405020304" pitchFamily="18" charset="0"/>
              </a:rPr>
              <a:t>家庭过期药品的正确处理方式是送回收点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若该市有</a:t>
            </a:r>
            <a:r>
              <a:rPr lang="en-US" altLang="zh-CN" dirty="0">
                <a:solidFill>
                  <a:srgbClr val="000000"/>
                </a:solidFill>
                <a:ea typeface="宋体" panose="02010600030101010101" pitchFamily="2" charset="-122"/>
                <a:cs typeface="Times New Roman" panose="02020603050405020304" pitchFamily="18" charset="0"/>
              </a:rPr>
              <a:t>180</a:t>
            </a:r>
            <a:r>
              <a:rPr lang="zh-CN" altLang="zh-CN" dirty="0">
                <a:solidFill>
                  <a:srgbClr val="000000"/>
                </a:solidFill>
                <a:ea typeface="宋体" panose="02010600030101010101" pitchFamily="2" charset="-122"/>
                <a:cs typeface="Times New Roman" panose="02020603050405020304" pitchFamily="18" charset="0"/>
              </a:rPr>
              <a:t>万户家庭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请估计有多少户家庭处理过期药品的方式是送回收点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2" name="组合 1"/>
          <p:cNvGrpSpPr/>
          <p:nvPr/>
        </p:nvGrpSpPr>
        <p:grpSpPr>
          <a:xfrm>
            <a:off x="3761771" y="1223863"/>
            <a:ext cx="7327858" cy="2520280"/>
            <a:chOff x="3761771" y="1223863"/>
            <a:chExt cx="7327858" cy="2520280"/>
          </a:xfrm>
        </p:grpSpPr>
        <p:pic>
          <p:nvPicPr>
            <p:cNvPr id="4" name="24Z10.eps" descr="id:2147489871;FounderCES"/>
            <p:cNvPicPr/>
            <p:nvPr/>
          </p:nvPicPr>
          <p:blipFill>
            <a:blip r:embed="rId2"/>
            <a:stretch>
              <a:fillRect/>
            </a:stretch>
          </p:blipFill>
          <p:spPr>
            <a:xfrm>
              <a:off x="3761771" y="1223863"/>
              <a:ext cx="3535372" cy="2520280"/>
            </a:xfrm>
            <a:prstGeom prst="rect">
              <a:avLst/>
            </a:prstGeom>
          </p:spPr>
        </p:pic>
        <p:pic>
          <p:nvPicPr>
            <p:cNvPr id="7" name="24Z11.eps" descr="id:2147489878;FounderCES"/>
            <p:cNvPicPr/>
            <p:nvPr/>
          </p:nvPicPr>
          <p:blipFill>
            <a:blip r:embed="rId3"/>
            <a:stretch>
              <a:fillRect/>
            </a:stretch>
          </p:blipFill>
          <p:spPr>
            <a:xfrm>
              <a:off x="7506265" y="1619429"/>
              <a:ext cx="3583364" cy="2124714"/>
            </a:xfrm>
            <a:prstGeom prst="rect">
              <a:avLst/>
            </a:prstGeom>
          </p:spPr>
        </p:pic>
      </p:grpSp>
    </p:spTree>
    <p:extLst>
      <p:ext uri="{BB962C8B-B14F-4D97-AF65-F5344CB8AC3E}">
        <p14:creationId xmlns:p14="http://schemas.microsoft.com/office/powerpoint/2010/main" val="284172888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53357"/>
            <a:ext cx="10807700" cy="182582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根据抽样调查时选取的样本需具有代表性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可知所给抽取样本的方法中最合理的一种是</a:t>
            </a:r>
            <a:r>
              <a:rPr lang="zh-CN" altLang="zh-CN" dirty="0">
                <a:solidFill>
                  <a:srgbClr val="000000"/>
                </a:solidFill>
                <a:latin typeface="NEU-BZ-S92"/>
                <a:ea typeface="宋体" panose="02010600030101010101" pitchFamily="2" charset="-122"/>
                <a:cs typeface="宋体" panose="02010600030101010101" pitchFamily="2" charset="-122"/>
              </a:rPr>
              <a:t>③</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楷体" panose="02010609060101010101" pitchFamily="49" charset="-122"/>
                <a:cs typeface="Times New Roman" panose="02020603050405020304" pitchFamily="18" charset="0"/>
              </a:rPr>
              <a:t>抽样调查的家庭总户数为</a:t>
            </a:r>
            <a:r>
              <a:rPr lang="en-US" altLang="zh-CN" dirty="0">
                <a:solidFill>
                  <a:srgbClr val="000000"/>
                </a:solidFill>
                <a:ea typeface="宋体" panose="02010600030101010101" pitchFamily="2" charset="-122"/>
                <a:cs typeface="Times New Roman" panose="02020603050405020304" pitchFamily="18" charset="0"/>
              </a:rPr>
              <a:t>80</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379634289"/>
              </p:ext>
            </p:extLst>
          </p:nvPr>
        </p:nvGraphicFramePr>
        <p:xfrm>
          <a:off x="504825" y="2574035"/>
          <a:ext cx="11661775" cy="1441450"/>
        </p:xfrm>
        <a:graphic>
          <a:graphicData uri="http://schemas.openxmlformats.org/presentationml/2006/ole">
            <mc:AlternateContent xmlns:mc="http://schemas.openxmlformats.org/markup-compatibility/2006">
              <mc:Choice xmlns:v="urn:schemas-microsoft-com:vml" Requires="v">
                <p:oleObj spid="_x0000_s11276" name="文档" r:id="rId4" imgW="3826872" imgH="476896" progId="Word.Document.12">
                  <p:embed/>
                </p:oleObj>
              </mc:Choice>
              <mc:Fallback>
                <p:oleObj name="文档" r:id="rId4" imgW="3826872" imgH="476896" progId="Word.Document.12">
                  <p:embed/>
                  <p:pic>
                    <p:nvPicPr>
                      <p:cNvPr id="0" name=""/>
                      <p:cNvPicPr/>
                      <p:nvPr/>
                    </p:nvPicPr>
                    <p:blipFill>
                      <a:blip r:embed="rId5"/>
                      <a:stretch>
                        <a:fillRect/>
                      </a:stretch>
                    </p:blipFill>
                    <p:spPr>
                      <a:xfrm>
                        <a:off x="504825" y="2574035"/>
                        <a:ext cx="11661775" cy="1441450"/>
                      </a:xfrm>
                      <a:prstGeom prst="rect">
                        <a:avLst/>
                      </a:prstGeom>
                    </p:spPr>
                  </p:pic>
                </p:oleObj>
              </mc:Fallback>
            </mc:AlternateContent>
          </a:graphicData>
        </a:graphic>
      </p:graphicFrame>
      <p:sp>
        <p:nvSpPr>
          <p:cNvPr id="8" name="矩形 7"/>
          <p:cNvSpPr>
            <a:spLocks noChangeAspect="1"/>
          </p:cNvSpPr>
          <p:nvPr/>
        </p:nvSpPr>
        <p:spPr>
          <a:xfrm>
            <a:off x="361950" y="4088009"/>
            <a:ext cx="10807700" cy="182620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panose="02020503000000020003" pitchFamily="18" charset="-12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处理方式</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的户数</a:t>
            </a:r>
            <a:r>
              <a:rPr lang="zh-CN" altLang="zh-CN" dirty="0" smtClean="0">
                <a:solidFill>
                  <a:srgbClr val="000000"/>
                </a:solidFill>
                <a:ea typeface="楷体" panose="02010609060101010101" pitchFamily="49" charset="-122"/>
                <a:cs typeface="Times New Roman" panose="02020603050405020304" pitchFamily="18" charset="0"/>
              </a:rPr>
              <a:t>为</a:t>
            </a:r>
            <a:endParaRPr lang="en-US" altLang="zh-CN" dirty="0" smtClean="0">
              <a:solidFill>
                <a:srgbClr val="000000"/>
              </a:solidFill>
              <a:ea typeface="楷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460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150,</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条形</a:t>
            </a:r>
            <a:r>
              <a:rPr lang="zh-CN" altLang="zh-CN" dirty="0">
                <a:solidFill>
                  <a:srgbClr val="000000"/>
                </a:solidFill>
                <a:ea typeface="楷体" panose="02010609060101010101" pitchFamily="49" charset="-122"/>
                <a:cs typeface="Times New Roman" panose="02020603050405020304" pitchFamily="18" charset="0"/>
              </a:rPr>
              <a:t>统计图补全</a:t>
            </a:r>
            <a:r>
              <a:rPr lang="zh-CN" altLang="zh-CN" dirty="0" smtClean="0">
                <a:solidFill>
                  <a:srgbClr val="000000"/>
                </a:solidFill>
                <a:ea typeface="楷体" panose="02010609060101010101" pitchFamily="49" charset="-122"/>
                <a:cs typeface="Times New Roman" panose="02020603050405020304" pitchFamily="18" charset="0"/>
              </a:rPr>
              <a:t>如</a:t>
            </a:r>
            <a:r>
              <a:rPr lang="zh-CN" altLang="en-US" dirty="0" smtClean="0">
                <a:solidFill>
                  <a:srgbClr val="000000"/>
                </a:solidFill>
                <a:ea typeface="楷体" panose="02010609060101010101" pitchFamily="49" charset="-122"/>
                <a:cs typeface="Times New Roman" panose="02020603050405020304" pitchFamily="18" charset="0"/>
              </a:rPr>
              <a:t>图</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24Z23.eps" descr="id:2147489885;FounderCES"/>
          <p:cNvPicPr/>
          <p:nvPr/>
        </p:nvPicPr>
        <p:blipFill>
          <a:blip r:embed="rId6"/>
          <a:stretch>
            <a:fillRect/>
          </a:stretch>
        </p:blipFill>
        <p:spPr>
          <a:xfrm>
            <a:off x="6625133" y="2835852"/>
            <a:ext cx="4176464" cy="2977556"/>
          </a:xfrm>
          <a:prstGeom prst="rect">
            <a:avLst/>
          </a:prstGeom>
        </p:spPr>
      </p:pic>
    </p:spTree>
    <p:extLst>
      <p:ext uri="{BB962C8B-B14F-4D97-AF65-F5344CB8AC3E}">
        <p14:creationId xmlns:p14="http://schemas.microsoft.com/office/powerpoint/2010/main" val="18863422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29773"/>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根据调查数据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即可知道该市市民家庭处理过期药品最常见的方式是方式</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④</a:t>
            </a:r>
            <a:r>
              <a:rPr lang="en-US" altLang="zh-CN" dirty="0">
                <a:solidFill>
                  <a:srgbClr val="000000"/>
                </a:solidFill>
                <a:ea typeface="宋体" panose="02010600030101010101" pitchFamily="2" charset="-122"/>
                <a:cs typeface="Times New Roman" panose="02020603050405020304" pitchFamily="18" charset="0"/>
              </a:rPr>
              <a:t>180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18(</a:t>
            </a:r>
            <a:r>
              <a:rPr lang="zh-CN" altLang="zh-CN" dirty="0">
                <a:solidFill>
                  <a:srgbClr val="000000"/>
                </a:solidFill>
                <a:ea typeface="楷体" panose="02010609060101010101" pitchFamily="49" charset="-122"/>
                <a:cs typeface="Times New Roman" panose="02020603050405020304" pitchFamily="18" charset="0"/>
              </a:rPr>
              <a:t>万户</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若该市有</a:t>
            </a:r>
            <a:r>
              <a:rPr lang="en-US" altLang="zh-CN" dirty="0">
                <a:solidFill>
                  <a:srgbClr val="000000"/>
                </a:solidFill>
                <a:ea typeface="宋体" panose="02010600030101010101" pitchFamily="2" charset="-122"/>
                <a:cs typeface="Times New Roman" panose="02020603050405020304" pitchFamily="18" charset="0"/>
              </a:rPr>
              <a:t>180</a:t>
            </a:r>
            <a:r>
              <a:rPr lang="zh-CN" altLang="zh-CN" dirty="0">
                <a:solidFill>
                  <a:srgbClr val="000000"/>
                </a:solidFill>
                <a:ea typeface="楷体" panose="02010609060101010101" pitchFamily="49" charset="-122"/>
                <a:cs typeface="Times New Roman" panose="02020603050405020304" pitchFamily="18" charset="0"/>
              </a:rPr>
              <a:t>万户家庭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估计有</a:t>
            </a:r>
            <a:r>
              <a:rPr lang="en-US" altLang="zh-CN" dirty="0">
                <a:solidFill>
                  <a:srgbClr val="000000"/>
                </a:solidFill>
                <a:ea typeface="宋体" panose="02010600030101010101" pitchFamily="2" charset="-122"/>
                <a:cs typeface="Times New Roman" panose="02020603050405020304" pitchFamily="18" charset="0"/>
              </a:rPr>
              <a:t>18</a:t>
            </a:r>
            <a:r>
              <a:rPr lang="zh-CN" altLang="zh-CN" dirty="0">
                <a:solidFill>
                  <a:srgbClr val="000000"/>
                </a:solidFill>
                <a:ea typeface="楷体" panose="02010609060101010101" pitchFamily="49" charset="-122"/>
                <a:cs typeface="Times New Roman" panose="02020603050405020304" pitchFamily="18" charset="0"/>
              </a:rPr>
              <a:t>万户家庭处理过期药品的方式是送回收点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7002932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439887"/>
            <a:ext cx="10807700" cy="3020028"/>
            <a:chOff x="361950" y="940139"/>
            <a:chExt cx="10807700" cy="3020028"/>
          </a:xfrm>
        </p:grpSpPr>
        <p:pic>
          <p:nvPicPr>
            <p:cNvPr id="3"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60664"/>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各类统计图的特点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条形统计图主要用于直观描述不同类别或分组数据的频数和频率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扇形统计图主要用于直观描述各类数据占总数的比例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折线统计图主要用于描述数据随时间的变化趋势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84606447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647799"/>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某厂生产一种产品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是该厂第一季度三个月产量的统计图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是这三个月的产量与第一季度总产量的比例分布统计图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统计员在制作图</a:t>
            </a: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时漏填了部分数据</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根据上述信息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回答下列问题</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22T46.eps" descr="id:2147489899;FounderCES"/>
          <p:cNvPicPr/>
          <p:nvPr/>
        </p:nvPicPr>
        <p:blipFill>
          <a:blip r:embed="rId2"/>
          <a:stretch>
            <a:fillRect/>
          </a:stretch>
        </p:blipFill>
        <p:spPr>
          <a:xfrm>
            <a:off x="2448669" y="3058591"/>
            <a:ext cx="6192688" cy="3098104"/>
          </a:xfrm>
          <a:prstGeom prst="rect">
            <a:avLst/>
          </a:prstGeom>
        </p:spPr>
      </p:pic>
    </p:spTree>
    <p:extLst>
      <p:ext uri="{BB962C8B-B14F-4D97-AF65-F5344CB8AC3E}">
        <p14:creationId xmlns:p14="http://schemas.microsoft.com/office/powerpoint/2010/main" val="39042372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该厂第一季度哪一个月的产量最高</a:t>
            </a:r>
            <a:r>
              <a:rPr lang="en-US" altLang="zh-CN" dirty="0">
                <a:solidFill>
                  <a:srgbClr val="000000"/>
                </a:solidFill>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月</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该厂一月份产量占第一季度总产量的</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填百分数</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 </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该厂质检科从第一季度的产品中随机抽样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抽检结果发现样品的合格率为</a:t>
            </a:r>
            <a:r>
              <a:rPr lang="en-US" altLang="zh-CN" dirty="0">
                <a:solidFill>
                  <a:srgbClr val="000000"/>
                </a:solidFill>
                <a:ea typeface="宋体" panose="02010600030101010101" pitchFamily="2" charset="-122"/>
                <a:cs typeface="Times New Roman" panose="02020603050405020304" pitchFamily="18" charset="0"/>
              </a:rPr>
              <a:t>98%</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请你估计该厂第一季度生产了多少件合格的产品</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60170587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89243"/>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由条形图可知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三月的产量最高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该厂一月份产量占第一季度总产量的</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该厂第一季度共生产</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900</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产品</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因为样品的合格率为</a:t>
            </a:r>
            <a:r>
              <a:rPr lang="en-US" altLang="zh-CN" dirty="0">
                <a:solidFill>
                  <a:srgbClr val="000000"/>
                </a:solidFill>
                <a:ea typeface="宋体" panose="02010600030101010101" pitchFamily="2" charset="-122"/>
                <a:cs typeface="Times New Roman" panose="02020603050405020304" pitchFamily="18" charset="0"/>
              </a:rPr>
              <a:t>98%,</a:t>
            </a:r>
            <a:r>
              <a:rPr lang="zh-CN" altLang="zh-CN" dirty="0">
                <a:solidFill>
                  <a:srgbClr val="000000"/>
                </a:solidFill>
                <a:ea typeface="楷体" panose="02010609060101010101" pitchFamily="49" charset="-122"/>
                <a:cs typeface="Times New Roman" panose="02020603050405020304" pitchFamily="18" charset="0"/>
              </a:rPr>
              <a:t>所以估计该厂第一季度生产的合格产品有</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900(</a:t>
            </a:r>
            <a:r>
              <a:rPr lang="zh-CN" altLang="zh-CN" dirty="0">
                <a:solidFill>
                  <a:srgbClr val="000000"/>
                </a:solidFill>
                <a:ea typeface="楷体" panose="02010609060101010101" pitchFamily="49" charset="-122"/>
                <a:cs typeface="Times New Roman" panose="02020603050405020304" pitchFamily="18" charset="0"/>
              </a:rPr>
              <a:t>件</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22107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47799"/>
            <a:ext cx="10807700" cy="2399503"/>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错把频率分布直方图中的纵坐标当作频率而致错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有一个容量为</a:t>
            </a:r>
            <a:r>
              <a:rPr lang="en-US" altLang="zh-CN" dirty="0">
                <a:solidFill>
                  <a:srgbClr val="000000"/>
                </a:solidFill>
                <a:ea typeface="宋体" panose="02010600030101010101" pitchFamily="2" charset="-122"/>
                <a:cs typeface="Times New Roman" panose="02020603050405020304" pitchFamily="18" charset="0"/>
              </a:rPr>
              <a:t>200</a:t>
            </a:r>
            <a:r>
              <a:rPr lang="zh-CN" altLang="zh-CN" dirty="0">
                <a:solidFill>
                  <a:srgbClr val="000000"/>
                </a:solidFill>
                <a:ea typeface="宋体" panose="02010600030101010101" pitchFamily="2" charset="-122"/>
                <a:cs typeface="Times New Roman" panose="02020603050405020304" pitchFamily="18" charset="0"/>
              </a:rPr>
              <a:t>的样本</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其频率分布直方图如图所示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根据样本的频率分布直方图计算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样本数据落在区间</a:t>
            </a:r>
            <a:r>
              <a:rPr lang="en-US" altLang="zh-CN" dirty="0">
                <a:solidFill>
                  <a:srgbClr val="000000"/>
                </a:solidFill>
                <a:ea typeface="宋体" panose="02010600030101010101" pitchFamily="2" charset="-122"/>
                <a:cs typeface="Times New Roman" panose="02020603050405020304" pitchFamily="18" charset="0"/>
              </a:rPr>
              <a:t>[10,12]</a:t>
            </a:r>
            <a:r>
              <a:rPr lang="zh-CN" altLang="zh-CN" dirty="0">
                <a:solidFill>
                  <a:srgbClr val="000000"/>
                </a:solidFill>
                <a:ea typeface="宋体" panose="02010600030101010101" pitchFamily="2" charset="-122"/>
                <a:cs typeface="Times New Roman" panose="02020603050405020304" pitchFamily="18" charset="0"/>
              </a:rPr>
              <a:t>上的频数为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3" name="EMG2TRA34.eps" descr="id:2147493008;FounderCES"/>
          <p:cNvPicPr/>
          <p:nvPr/>
        </p:nvPicPr>
        <p:blipFill>
          <a:blip r:embed="rId2"/>
          <a:stretch>
            <a:fillRect/>
          </a:stretch>
        </p:blipFill>
        <p:spPr>
          <a:xfrm>
            <a:off x="3240757" y="3047302"/>
            <a:ext cx="3960440" cy="3116066"/>
          </a:xfrm>
          <a:prstGeom prst="rect">
            <a:avLst/>
          </a:prstGeom>
        </p:spPr>
      </p:pic>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95636"/>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设样本数据落在区间</a:t>
            </a:r>
            <a:r>
              <a:rPr lang="en-US" altLang="zh-CN" dirty="0">
                <a:solidFill>
                  <a:srgbClr val="000000"/>
                </a:solidFill>
                <a:ea typeface="宋体" panose="02010600030101010101" pitchFamily="2" charset="-122"/>
                <a:cs typeface="Times New Roman" panose="02020603050405020304" pitchFamily="18" charset="0"/>
              </a:rPr>
              <a:t>[10,12]</a:t>
            </a:r>
            <a:r>
              <a:rPr lang="zh-CN" altLang="zh-CN" dirty="0">
                <a:solidFill>
                  <a:srgbClr val="000000"/>
                </a:solidFill>
                <a:ea typeface="宋体" panose="02010600030101010101" pitchFamily="2" charset="-122"/>
                <a:cs typeface="Times New Roman" panose="02020603050405020304" pitchFamily="18" charset="0"/>
              </a:rPr>
              <a:t>上的频率为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19</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59,</a:t>
            </a:r>
            <a:r>
              <a:rPr lang="zh-CN" altLang="zh-CN" dirty="0">
                <a:solidFill>
                  <a:srgbClr val="000000"/>
                </a:solidFill>
                <a:ea typeface="宋体" panose="02010600030101010101" pitchFamily="2" charset="-122"/>
                <a:cs typeface="Times New Roman" panose="02020603050405020304" pitchFamily="18" charset="0"/>
              </a:rPr>
              <a:t>所以样本数据落在区间</a:t>
            </a:r>
            <a:r>
              <a:rPr lang="en-US" altLang="zh-CN" dirty="0">
                <a:solidFill>
                  <a:srgbClr val="000000"/>
                </a:solidFill>
                <a:ea typeface="宋体" panose="02010600030101010101" pitchFamily="2" charset="-122"/>
                <a:cs typeface="Times New Roman" panose="02020603050405020304" pitchFamily="18" charset="0"/>
              </a:rPr>
              <a:t>[10,12]</a:t>
            </a:r>
            <a:r>
              <a:rPr lang="zh-CN" altLang="zh-CN" dirty="0">
                <a:solidFill>
                  <a:srgbClr val="000000"/>
                </a:solidFill>
                <a:ea typeface="宋体" panose="02010600030101010101" pitchFamily="2" charset="-122"/>
                <a:cs typeface="Times New Roman" panose="02020603050405020304" pitchFamily="18" charset="0"/>
              </a:rPr>
              <a:t>上的频数为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118</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答案</a:t>
            </a:r>
            <a:r>
              <a:rPr lang="en-US" altLang="zh-CN" dirty="0">
                <a:solidFill>
                  <a:srgbClr val="000000"/>
                </a:solidFill>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118</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在求解过程中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把频率分布直方图的纵轴含义误认为频率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4229629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29639"/>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正解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设样本数据落在区间</a:t>
            </a:r>
            <a:r>
              <a:rPr lang="en-US" altLang="zh-CN" dirty="0">
                <a:solidFill>
                  <a:srgbClr val="000000"/>
                </a:solidFill>
                <a:ea typeface="宋体" panose="02010600030101010101" pitchFamily="2" charset="-122"/>
                <a:cs typeface="Times New Roman" panose="02020603050405020304" pitchFamily="18" charset="0"/>
              </a:rPr>
              <a:t>[10,12]</a:t>
            </a:r>
            <a:r>
              <a:rPr lang="zh-CN" altLang="zh-CN" dirty="0">
                <a:solidFill>
                  <a:srgbClr val="000000"/>
                </a:solidFill>
                <a:ea typeface="宋体" panose="02010600030101010101" pitchFamily="2" charset="-122"/>
                <a:cs typeface="Times New Roman" panose="02020603050405020304" pitchFamily="18" charset="0"/>
              </a:rPr>
              <a:t>上的频率为</a:t>
            </a:r>
            <a:r>
              <a:rPr lang="en-US" altLang="zh-CN" i="1"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18</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所以样本数据落在区间</a:t>
            </a:r>
            <a:r>
              <a:rPr lang="en-US" altLang="zh-CN" dirty="0">
                <a:solidFill>
                  <a:srgbClr val="000000"/>
                </a:solidFill>
                <a:ea typeface="宋体" panose="02010600030101010101" pitchFamily="2" charset="-122"/>
                <a:cs typeface="Times New Roman" panose="02020603050405020304" pitchFamily="18" charset="0"/>
              </a:rPr>
              <a:t>[10,12]</a:t>
            </a:r>
            <a:r>
              <a:rPr lang="zh-CN" altLang="zh-CN" dirty="0">
                <a:solidFill>
                  <a:srgbClr val="000000"/>
                </a:solidFill>
                <a:ea typeface="宋体" panose="02010600030101010101" pitchFamily="2" charset="-122"/>
                <a:cs typeface="Times New Roman" panose="02020603050405020304" pitchFamily="18" charset="0"/>
              </a:rPr>
              <a:t>上的频数为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36</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36</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361950" y="3249919"/>
            <a:ext cx="11742454" cy="2808312"/>
            <a:chOff x="361950" y="3312095"/>
            <a:chExt cx="11742454" cy="2808312"/>
          </a:xfrm>
        </p:grpSpPr>
        <p:pic>
          <p:nvPicPr>
            <p:cNvPr id="4" name="防范措施H.eps" descr="id:2147490860;FounderCES"/>
            <p:cNvPicPr/>
            <p:nvPr/>
          </p:nvPicPr>
          <p:blipFill>
            <a:blip r:embed="rId3"/>
            <a:stretch>
              <a:fillRect/>
            </a:stretch>
          </p:blipFill>
          <p:spPr>
            <a:xfrm>
              <a:off x="361950" y="3312095"/>
              <a:ext cx="2259558" cy="531552"/>
            </a:xfrm>
            <a:prstGeom prst="rect">
              <a:avLst/>
            </a:prstGeom>
          </p:spPr>
        </p:pic>
        <p:grpSp>
          <p:nvGrpSpPr>
            <p:cNvPr id="7" name="组合 6"/>
            <p:cNvGrpSpPr/>
            <p:nvPr/>
          </p:nvGrpSpPr>
          <p:grpSpPr>
            <a:xfrm>
              <a:off x="361950" y="3911885"/>
              <a:ext cx="11742454" cy="2208522"/>
              <a:chOff x="361950" y="3901725"/>
              <a:chExt cx="11742454" cy="2208522"/>
            </a:xfrm>
          </p:grpSpPr>
          <p:sp>
            <p:nvSpPr>
              <p:cNvPr id="5" name="矩形 4"/>
              <p:cNvSpPr>
                <a:spLocks noChangeAspect="1"/>
              </p:cNvSpPr>
              <p:nvPr/>
            </p:nvSpPr>
            <p:spPr>
              <a:xfrm>
                <a:off x="361950" y="3901725"/>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明确频率分布直方图纵轴的含义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提高识图能力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在频率分布直方图中每个</a:t>
                </a:r>
                <a:r>
                  <a:rPr lang="zh-CN" altLang="zh-CN" dirty="0" smtClean="0">
                    <a:solidFill>
                      <a:srgbClr val="000000"/>
                    </a:solidFill>
                    <a:ea typeface="仿宋" panose="02010609060101010101" pitchFamily="49" charset="-122"/>
                    <a:cs typeface="Times New Roman" panose="02020603050405020304" pitchFamily="18" charset="0"/>
                  </a:rPr>
                  <a:t>小</a:t>
                </a:r>
                <a:r>
                  <a:rPr lang="zh-CN" altLang="en-US" dirty="0" smtClean="0">
                    <a:solidFill>
                      <a:srgbClr val="000000"/>
                    </a:solidFill>
                    <a:ea typeface="仿宋" panose="02010609060101010101" pitchFamily="49" charset="-122"/>
                    <a:cs typeface="Times New Roman" panose="02020603050405020304" pitchFamily="18" charset="0"/>
                  </a:rPr>
                  <a:t>长方</a:t>
                </a:r>
                <a:r>
                  <a:rPr lang="zh-CN" altLang="zh-CN" dirty="0" smtClean="0">
                    <a:solidFill>
                      <a:srgbClr val="000000"/>
                    </a:solidFill>
                    <a:ea typeface="仿宋" panose="02010609060101010101" pitchFamily="49" charset="-122"/>
                    <a:cs typeface="Times New Roman" panose="02020603050405020304" pitchFamily="18" charset="0"/>
                  </a:rPr>
                  <a:t>形</a:t>
                </a:r>
                <a:r>
                  <a:rPr lang="zh-CN" altLang="zh-CN" dirty="0">
                    <a:solidFill>
                      <a:srgbClr val="000000"/>
                    </a:solidFill>
                    <a:ea typeface="仿宋" panose="02010609060101010101" pitchFamily="49" charset="-122"/>
                    <a:cs typeface="Times New Roman" panose="02020603050405020304" pitchFamily="18" charset="0"/>
                  </a:rPr>
                  <a:t>的高为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680482943"/>
                  </p:ext>
                </p:extLst>
              </p:nvPr>
            </p:nvGraphicFramePr>
            <p:xfrm>
              <a:off x="432445" y="5119366"/>
              <a:ext cx="11671959" cy="990881"/>
            </p:xfrm>
            <a:graphic>
              <a:graphicData uri="http://schemas.openxmlformats.org/presentationml/2006/ole">
                <mc:AlternateContent xmlns:mc="http://schemas.openxmlformats.org/markup-compatibility/2006">
                  <mc:Choice xmlns:v="urn:schemas-microsoft-com:vml" Requires="v">
                    <p:oleObj spid="_x0000_s12300" name="文档" r:id="rId5" imgW="3826872" imgH="324879" progId="Word.Document.12">
                      <p:embed/>
                    </p:oleObj>
                  </mc:Choice>
                  <mc:Fallback>
                    <p:oleObj name="文档" r:id="rId5" imgW="3826872" imgH="324879" progId="Word.Document.12">
                      <p:embed/>
                      <p:pic>
                        <p:nvPicPr>
                          <p:cNvPr id="0" name=""/>
                          <p:cNvPicPr/>
                          <p:nvPr/>
                        </p:nvPicPr>
                        <p:blipFill>
                          <a:blip r:embed="rId6"/>
                          <a:stretch>
                            <a:fillRect/>
                          </a:stretch>
                        </p:blipFill>
                        <p:spPr>
                          <a:xfrm>
                            <a:off x="432445" y="5119366"/>
                            <a:ext cx="11671959" cy="990881"/>
                          </a:xfrm>
                          <a:prstGeom prst="rect">
                            <a:avLst/>
                          </a:prstGeom>
                        </p:spPr>
                      </p:pic>
                    </p:oleObj>
                  </mc:Fallback>
                </mc:AlternateContent>
              </a:graphicData>
            </a:graphic>
          </p:graphicFrame>
        </p:grpSp>
      </p:grpSp>
    </p:spTree>
    <p:extLst>
      <p:ext uri="{BB962C8B-B14F-4D97-AF65-F5344CB8AC3E}">
        <p14:creationId xmlns:p14="http://schemas.microsoft.com/office/powerpoint/2010/main" val="18752072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2037"/>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mn-lt"/>
                <a:cs typeface="Times New Roman" panose="02020603050405020304" pitchFamily="18" charset="0"/>
              </a:rPr>
              <a:t>【变式训练】</a:t>
            </a:r>
            <a:r>
              <a:rPr lang="zh-CN" altLang="zh-CN" dirty="0">
                <a:solidFill>
                  <a:srgbClr val="000000"/>
                </a:solidFill>
                <a:latin typeface="+mn-lt"/>
                <a:ea typeface="Arial" panose="020B0604020202020204" pitchFamily="34" charset="0"/>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为了解今年某校高三毕业班准备报考</a:t>
            </a:r>
            <a:r>
              <a:rPr lang="zh-CN" altLang="zh-CN" dirty="0" smtClean="0">
                <a:solidFill>
                  <a:srgbClr val="000000"/>
                </a:solidFill>
                <a:latin typeface="+mn-lt"/>
                <a:ea typeface="宋体" panose="02010600030101010101" pitchFamily="2" charset="-122"/>
                <a:cs typeface="Times New Roman" panose="02020603050405020304" pitchFamily="18" charset="0"/>
              </a:rPr>
              <a:t>飞行员</a:t>
            </a:r>
            <a:r>
              <a:rPr lang="zh-CN" altLang="en-US" dirty="0" smtClean="0">
                <a:solidFill>
                  <a:srgbClr val="000000"/>
                </a:solidFill>
                <a:latin typeface="+mn-lt"/>
                <a:ea typeface="宋体" panose="02010600030101010101" pitchFamily="2" charset="-122"/>
                <a:cs typeface="Times New Roman" panose="02020603050405020304" pitchFamily="18" charset="0"/>
              </a:rPr>
              <a:t>的</a:t>
            </a:r>
            <a:r>
              <a:rPr lang="zh-CN" altLang="zh-CN" dirty="0" smtClean="0">
                <a:solidFill>
                  <a:srgbClr val="000000"/>
                </a:solidFill>
                <a:latin typeface="+mn-lt"/>
                <a:ea typeface="宋体" panose="02010600030101010101" pitchFamily="2" charset="-122"/>
                <a:cs typeface="Times New Roman" panose="02020603050405020304" pitchFamily="18" charset="0"/>
              </a:rPr>
              <a:t>学生</a:t>
            </a:r>
            <a:r>
              <a:rPr lang="zh-CN" altLang="zh-CN" dirty="0">
                <a:solidFill>
                  <a:srgbClr val="000000"/>
                </a:solidFill>
                <a:latin typeface="+mn-lt"/>
                <a:ea typeface="宋体" panose="02010600030101010101" pitchFamily="2" charset="-122"/>
                <a:cs typeface="Times New Roman" panose="02020603050405020304" pitchFamily="18" charset="0"/>
              </a:rPr>
              <a:t>的体重</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单位</a:t>
            </a:r>
            <a:r>
              <a:rPr lang="en-US" altLang="zh-CN" dirty="0">
                <a:solidFill>
                  <a:srgbClr val="000000"/>
                </a:solidFill>
                <a:latin typeface="+mn-lt"/>
                <a:ea typeface="宋体" panose="02010600030101010101" pitchFamily="2" charset="-122"/>
                <a:cs typeface="Times New Roman" panose="02020603050405020304" pitchFamily="18" charset="0"/>
              </a:rPr>
              <a:t>:kg)</a:t>
            </a:r>
            <a:r>
              <a:rPr lang="zh-CN" altLang="zh-CN" dirty="0">
                <a:solidFill>
                  <a:srgbClr val="000000"/>
                </a:solidFill>
                <a:latin typeface="+mn-lt"/>
                <a:ea typeface="宋体" panose="02010600030101010101" pitchFamily="2" charset="-122"/>
                <a:cs typeface="Times New Roman" panose="02020603050405020304" pitchFamily="18" charset="0"/>
              </a:rPr>
              <a:t>情况</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将所得的数据整理后</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画出了频率分布直方图</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如图所示</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已知图中从左到右的前三个小组的频率之比为</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其中</a:t>
            </a:r>
            <a:r>
              <a:rPr lang="zh-CN" altLang="zh-CN" dirty="0" smtClean="0">
                <a:solidFill>
                  <a:srgbClr val="000000"/>
                </a:solidFill>
                <a:latin typeface="+mn-lt"/>
                <a:ea typeface="宋体" panose="02010600030101010101" pitchFamily="2" charset="-122"/>
                <a:cs typeface="Times New Roman" panose="02020603050405020304" pitchFamily="18" charset="0"/>
              </a:rPr>
              <a:t>第</a:t>
            </a:r>
            <a:r>
              <a:rPr lang="zh-CN" altLang="en-US" dirty="0" smtClean="0">
                <a:solidFill>
                  <a:srgbClr val="000000"/>
                </a:solidFill>
                <a:latin typeface="+mn-lt"/>
                <a:ea typeface="宋体" panose="02010600030101010101" pitchFamily="2" charset="-122"/>
                <a:cs typeface="Times New Roman" panose="02020603050405020304" pitchFamily="18" charset="0"/>
              </a:rPr>
              <a:t>二</a:t>
            </a:r>
            <a:r>
              <a:rPr lang="zh-CN" altLang="zh-CN" dirty="0" smtClean="0">
                <a:solidFill>
                  <a:srgbClr val="000000"/>
                </a:solidFill>
                <a:latin typeface="+mn-lt"/>
                <a:ea typeface="宋体" panose="02010600030101010101" pitchFamily="2" charset="-122"/>
                <a:cs typeface="Times New Roman" panose="02020603050405020304" pitchFamily="18" charset="0"/>
              </a:rPr>
              <a:t>小组</a:t>
            </a:r>
            <a:r>
              <a:rPr lang="zh-CN" altLang="zh-CN" dirty="0">
                <a:solidFill>
                  <a:srgbClr val="000000"/>
                </a:solidFill>
                <a:latin typeface="+mn-lt"/>
                <a:ea typeface="宋体" panose="02010600030101010101" pitchFamily="2" charset="-122"/>
                <a:cs typeface="Times New Roman" panose="02020603050405020304" pitchFamily="18" charset="0"/>
              </a:rPr>
              <a:t>的频数为</a:t>
            </a:r>
            <a:r>
              <a:rPr lang="en-US" altLang="zh-CN" dirty="0">
                <a:solidFill>
                  <a:srgbClr val="000000"/>
                </a:solidFill>
                <a:latin typeface="+mn-lt"/>
                <a:ea typeface="宋体" panose="02010600030101010101" pitchFamily="2" charset="-122"/>
                <a:cs typeface="Times New Roman" panose="02020603050405020304" pitchFamily="18" charset="0"/>
              </a:rPr>
              <a:t>12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则该校报考飞行员的总人数为</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pic>
        <p:nvPicPr>
          <p:cNvPr id="9" name="EMG2TRA35.eps" descr="id:2147493022;FounderCES"/>
          <p:cNvPicPr/>
          <p:nvPr/>
        </p:nvPicPr>
        <p:blipFill>
          <a:blip r:embed="rId2"/>
          <a:stretch>
            <a:fillRect/>
          </a:stretch>
        </p:blipFill>
        <p:spPr>
          <a:xfrm>
            <a:off x="3744813" y="3621599"/>
            <a:ext cx="3312368" cy="2676968"/>
          </a:xfrm>
          <a:prstGeom prst="rect">
            <a:avLst/>
          </a:prstGeom>
        </p:spPr>
      </p:pic>
    </p:spTree>
    <p:extLst>
      <p:ext uri="{BB962C8B-B14F-4D97-AF65-F5344CB8AC3E}">
        <p14:creationId xmlns:p14="http://schemas.microsoft.com/office/powerpoint/2010/main" val="1120587428"/>
      </p:ext>
    </p:extLst>
  </p:cSld>
  <p:clrMapOvr>
    <a:masterClrMapping/>
  </p:clrMapOvr>
  <p:transition spd="slow">
    <p:randomBar dir="ver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051573"/>
            <a:ext cx="11742454" cy="3765479"/>
            <a:chOff x="361950" y="1041741"/>
            <a:chExt cx="11742454" cy="3765479"/>
          </a:xfrm>
        </p:grpSpPr>
        <p:sp>
          <p:nvSpPr>
            <p:cNvPr id="3" name="矩形 2"/>
            <p:cNvSpPr>
              <a:spLocks noChangeAspect="1"/>
            </p:cNvSpPr>
            <p:nvPr/>
          </p:nvSpPr>
          <p:spPr>
            <a:xfrm>
              <a:off x="361950" y="1041741"/>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设该校报考飞行员的总人数为</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en-US" dirty="0" smtClean="0">
                  <a:solidFill>
                    <a:srgbClr val="000000"/>
                  </a:solidFill>
                  <a:ea typeface="楷体" panose="02010609060101010101" pitchFamily="49" charset="-122"/>
                  <a:cs typeface="Times New Roman" panose="02020603050405020304" pitchFamily="18" charset="0"/>
                </a:rPr>
                <a:t>又设</a:t>
              </a:r>
              <a:r>
                <a:rPr lang="zh-CN" altLang="zh-CN" dirty="0" smtClean="0">
                  <a:solidFill>
                    <a:srgbClr val="000000"/>
                  </a:solidFill>
                  <a:ea typeface="楷体" panose="02010609060101010101" pitchFamily="49" charset="-122"/>
                  <a:cs typeface="Times New Roman" panose="02020603050405020304" pitchFamily="18" charset="0"/>
                </a:rPr>
                <a:t>第一</a:t>
              </a:r>
              <a:r>
                <a:rPr lang="zh-CN" altLang="zh-CN" dirty="0">
                  <a:solidFill>
                    <a:srgbClr val="000000"/>
                  </a:solidFill>
                  <a:ea typeface="楷体" panose="02010609060101010101" pitchFamily="49" charset="-122"/>
                  <a:cs typeface="Times New Roman" panose="02020603050405020304" pitchFamily="18" charset="0"/>
                </a:rPr>
                <a:t>小组的频率为</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则有</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013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037)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解</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a:t>
              </a:r>
              <a:r>
                <a:rPr lang="zh-CN" altLang="zh-CN" dirty="0" smtClean="0">
                  <a:solidFill>
                    <a:srgbClr val="000000"/>
                  </a:solidFill>
                  <a:ea typeface="楷体" panose="02010609060101010101" pitchFamily="49" charset="-122"/>
                  <a:cs typeface="Times New Roman" panose="02020603050405020304" pitchFamily="18" charset="0"/>
                </a:rPr>
                <a:t>第</a:t>
              </a:r>
              <a:r>
                <a:rPr lang="zh-CN" altLang="en-US" dirty="0" smtClean="0">
                  <a:solidFill>
                    <a:srgbClr val="000000"/>
                  </a:solidFill>
                  <a:ea typeface="楷体" panose="02010609060101010101" pitchFamily="49" charset="-122"/>
                  <a:cs typeface="Times New Roman" panose="02020603050405020304" pitchFamily="18" charset="0"/>
                </a:rPr>
                <a:t>二</a:t>
              </a:r>
              <a:r>
                <a:rPr lang="zh-CN" altLang="zh-CN" dirty="0" smtClean="0">
                  <a:solidFill>
                    <a:srgbClr val="000000"/>
                  </a:solidFill>
                  <a:ea typeface="楷体" panose="02010609060101010101" pitchFamily="49" charset="-122"/>
                  <a:cs typeface="Times New Roman" panose="02020603050405020304" pitchFamily="18" charset="0"/>
                </a:rPr>
                <a:t>小组</a:t>
              </a:r>
              <a:r>
                <a:rPr lang="zh-CN" altLang="zh-CN" dirty="0">
                  <a:solidFill>
                    <a:srgbClr val="000000"/>
                  </a:solidFill>
                  <a:ea typeface="楷体" panose="02010609060101010101" pitchFamily="49" charset="-122"/>
                  <a:cs typeface="Times New Roman" panose="02020603050405020304" pitchFamily="18" charset="0"/>
                </a:rPr>
                <a:t>的频率为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又因为</a:t>
              </a:r>
              <a:r>
                <a:rPr lang="zh-CN" altLang="zh-CN" dirty="0" smtClean="0">
                  <a:solidFill>
                    <a:srgbClr val="000000"/>
                  </a:solidFill>
                  <a:ea typeface="楷体" panose="02010609060101010101" pitchFamily="49" charset="-122"/>
                  <a:cs typeface="Times New Roman" panose="02020603050405020304" pitchFamily="18" charset="0"/>
                </a:rPr>
                <a:t>第</a:t>
              </a:r>
              <a:r>
                <a:rPr lang="zh-CN" altLang="en-US" dirty="0" smtClean="0">
                  <a:solidFill>
                    <a:srgbClr val="000000"/>
                  </a:solidFill>
                  <a:ea typeface="楷体" panose="02010609060101010101" pitchFamily="49" charset="-122"/>
                  <a:cs typeface="Times New Roman" panose="02020603050405020304" pitchFamily="18" charset="0"/>
                </a:rPr>
                <a:t>二</a:t>
              </a:r>
              <a:r>
                <a:rPr lang="zh-CN" altLang="zh-CN" dirty="0" smtClean="0">
                  <a:solidFill>
                    <a:srgbClr val="000000"/>
                  </a:solidFill>
                  <a:ea typeface="楷体" panose="02010609060101010101" pitchFamily="49" charset="-122"/>
                  <a:cs typeface="Times New Roman" panose="02020603050405020304" pitchFamily="18" charset="0"/>
                </a:rPr>
                <a:t>小组</a:t>
              </a:r>
              <a:r>
                <a:rPr lang="zh-CN" altLang="zh-CN" dirty="0">
                  <a:solidFill>
                    <a:srgbClr val="000000"/>
                  </a:solidFill>
                  <a:ea typeface="楷体" panose="02010609060101010101" pitchFamily="49" charset="-122"/>
                  <a:cs typeface="Times New Roman" panose="02020603050405020304" pitchFamily="18" charset="0"/>
                </a:rPr>
                <a:t>的频数为</a:t>
              </a:r>
              <a:r>
                <a:rPr lang="en-US" altLang="zh-CN" dirty="0">
                  <a:solidFill>
                    <a:srgbClr val="000000"/>
                  </a:solidFill>
                  <a:ea typeface="宋体" panose="02010600030101010101" pitchFamily="2" charset="-122"/>
                  <a:cs typeface="Times New Roman" panose="02020603050405020304" pitchFamily="18" charset="0"/>
                </a:rPr>
                <a:t>12,</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51718690"/>
                </p:ext>
              </p:extLst>
            </p:nvPr>
          </p:nvGraphicFramePr>
          <p:xfrm>
            <a:off x="432445" y="4002679"/>
            <a:ext cx="11671959" cy="804541"/>
          </p:xfrm>
          <a:graphic>
            <a:graphicData uri="http://schemas.openxmlformats.org/presentationml/2006/ole">
              <mc:AlternateContent xmlns:mc="http://schemas.openxmlformats.org/markup-compatibility/2006">
                <mc:Choice xmlns:v="urn:schemas-microsoft-com:vml" Requires="v">
                  <p:oleObj spid="_x0000_s13324" name="文档" r:id="rId4" imgW="3837724" imgH="263940" progId="Word.Document.12">
                    <p:embed/>
                  </p:oleObj>
                </mc:Choice>
                <mc:Fallback>
                  <p:oleObj name="文档" r:id="rId4" imgW="3837724" imgH="263940" progId="Word.Document.12">
                    <p:embed/>
                    <p:pic>
                      <p:nvPicPr>
                        <p:cNvPr id="0" name=""/>
                        <p:cNvPicPr/>
                        <p:nvPr/>
                      </p:nvPicPr>
                      <p:blipFill>
                        <a:blip r:embed="rId5"/>
                        <a:stretch>
                          <a:fillRect/>
                        </a:stretch>
                      </p:blipFill>
                      <p:spPr>
                        <a:xfrm>
                          <a:off x="432445" y="4002679"/>
                          <a:ext cx="11671959" cy="804541"/>
                        </a:xfrm>
                        <a:prstGeom prst="rect">
                          <a:avLst/>
                        </a:prstGeom>
                      </p:spPr>
                    </p:pic>
                  </p:oleObj>
                </mc:Fallback>
              </mc:AlternateContent>
            </a:graphicData>
          </a:graphic>
        </p:graphicFrame>
      </p:grpSp>
      <p:sp>
        <p:nvSpPr>
          <p:cNvPr id="6" name="矩形 5"/>
          <p:cNvSpPr>
            <a:spLocks noChangeAspect="1"/>
          </p:cNvSpPr>
          <p:nvPr/>
        </p:nvSpPr>
        <p:spPr>
          <a:xfrm>
            <a:off x="430803" y="4834095"/>
            <a:ext cx="1657826"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48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8855693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在频率分布直方图中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各小长方形的面积等于相应各组</a:t>
            </a:r>
            <a:r>
              <a:rPr lang="zh-CN" altLang="zh-CN" dirty="0" smtClean="0">
                <a:solidFill>
                  <a:srgbClr val="000000"/>
                </a:solidFill>
                <a:ea typeface="宋体" panose="02010600030101010101" pitchFamily="2" charset="-122"/>
                <a:cs typeface="Times New Roman" panose="02020603050405020304" pitchFamily="18" charset="0"/>
              </a:rPr>
              <a:t>的</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组距</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频率</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组数</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频数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根据小长方形的宽及高的意义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可知小长方形的面积表示相应小组的频率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23369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已知一个容量为</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的样本中数据的最大值是</a:t>
            </a:r>
            <a:r>
              <a:rPr lang="en-US" altLang="zh-CN" dirty="0">
                <a:solidFill>
                  <a:srgbClr val="000000"/>
                </a:solidFill>
                <a:ea typeface="宋体" panose="02010600030101010101" pitchFamily="2" charset="-122"/>
                <a:cs typeface="Times New Roman" panose="02020603050405020304" pitchFamily="18" charset="0"/>
              </a:rPr>
              <a:t>140,</a:t>
            </a:r>
            <a:r>
              <a:rPr lang="zh-CN" altLang="zh-CN" dirty="0">
                <a:solidFill>
                  <a:srgbClr val="000000"/>
                </a:solidFill>
                <a:ea typeface="宋体" panose="02010600030101010101" pitchFamily="2" charset="-122"/>
                <a:cs typeface="Times New Roman" panose="02020603050405020304" pitchFamily="18" charset="0"/>
              </a:rPr>
              <a:t>最小值是</a:t>
            </a:r>
            <a:r>
              <a:rPr lang="en-US" altLang="zh-CN" dirty="0">
                <a:solidFill>
                  <a:srgbClr val="000000"/>
                </a:solidFill>
                <a:ea typeface="宋体" panose="02010600030101010101" pitchFamily="2" charset="-122"/>
                <a:cs typeface="Times New Roman" panose="02020603050405020304" pitchFamily="18" charset="0"/>
              </a:rPr>
              <a:t>51,</a:t>
            </a:r>
            <a:r>
              <a:rPr lang="zh-CN" altLang="zh-CN" dirty="0">
                <a:solidFill>
                  <a:srgbClr val="000000"/>
                </a:solidFill>
                <a:ea typeface="宋体" panose="02010600030101010101" pitchFamily="2" charset="-122"/>
                <a:cs typeface="Times New Roman" panose="02020603050405020304" pitchFamily="18" charset="0"/>
              </a:rPr>
              <a:t>组距是</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则应将样本数据分为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A.10</a:t>
            </a:r>
            <a:r>
              <a:rPr lang="zh-CN" altLang="zh-CN" dirty="0">
                <a:solidFill>
                  <a:srgbClr val="000000"/>
                </a:solidFill>
                <a:ea typeface="宋体" panose="02010600030101010101" pitchFamily="2"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	B.9</a:t>
            </a:r>
            <a:r>
              <a:rPr lang="zh-CN" altLang="zh-CN" dirty="0">
                <a:solidFill>
                  <a:srgbClr val="000000"/>
                </a:solidFill>
                <a:ea typeface="宋体" panose="02010600030101010101" pitchFamily="2"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C.8</a:t>
            </a:r>
            <a:r>
              <a:rPr lang="zh-CN" altLang="zh-CN" dirty="0">
                <a:solidFill>
                  <a:srgbClr val="000000"/>
                </a:solidFill>
                <a:ea typeface="宋体" panose="02010600030101010101" pitchFamily="2"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	D.7</a:t>
            </a:r>
            <a:r>
              <a:rPr lang="zh-CN" altLang="zh-CN" dirty="0">
                <a:solidFill>
                  <a:srgbClr val="000000"/>
                </a:solidFill>
                <a:ea typeface="宋体" panose="02010600030101010101" pitchFamily="2" charset="-122"/>
                <a:cs typeface="Times New Roman" panose="02020603050405020304" pitchFamily="18" charset="0"/>
              </a:rPr>
              <a:t>组</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2781497"/>
              </p:ext>
            </p:extLst>
          </p:nvPr>
        </p:nvGraphicFramePr>
        <p:xfrm>
          <a:off x="430213" y="3033573"/>
          <a:ext cx="11645900" cy="1071563"/>
        </p:xfrm>
        <a:graphic>
          <a:graphicData uri="http://schemas.openxmlformats.org/presentationml/2006/ole">
            <mc:AlternateContent xmlns:mc="http://schemas.openxmlformats.org/markup-compatibility/2006">
              <mc:Choice xmlns:v="urn:schemas-microsoft-com:vml" Requires="v">
                <p:oleObj spid="_x0000_s14348" name="文档" r:id="rId4" imgW="3837724" imgH="353723" progId="Word.Document.12">
                  <p:embed/>
                </p:oleObj>
              </mc:Choice>
              <mc:Fallback>
                <p:oleObj name="文档" r:id="rId4" imgW="3837724" imgH="353723" progId="Word.Document.12">
                  <p:embed/>
                  <p:pic>
                    <p:nvPicPr>
                      <p:cNvPr id="0" name=""/>
                      <p:cNvPicPr/>
                      <p:nvPr/>
                    </p:nvPicPr>
                    <p:blipFill>
                      <a:blip r:embed="rId5"/>
                      <a:stretch>
                        <a:fillRect/>
                      </a:stretch>
                    </p:blipFill>
                    <p:spPr>
                      <a:xfrm>
                        <a:off x="430213" y="3033573"/>
                        <a:ext cx="11645900" cy="1071563"/>
                      </a:xfrm>
                      <a:prstGeom prst="rect">
                        <a:avLst/>
                      </a:prstGeom>
                    </p:spPr>
                  </p:pic>
                </p:oleObj>
              </mc:Fallback>
            </mc:AlternateContent>
          </a:graphicData>
        </a:graphic>
      </p:graphicFrame>
      <p:sp>
        <p:nvSpPr>
          <p:cNvPr id="6" name="矩形 5"/>
          <p:cNvSpPr>
            <a:spLocks noChangeAspect="1"/>
          </p:cNvSpPr>
          <p:nvPr/>
        </p:nvSpPr>
        <p:spPr>
          <a:xfrm>
            <a:off x="340969" y="4105136"/>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6098151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56127"/>
            <a:ext cx="10807700" cy="594508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为研究某药品的疗效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某科研所选取若干名志愿者进行临床试验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所有志愿者的舒张压数据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kPa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的分组区间为</a:t>
            </a:r>
            <a:r>
              <a:rPr lang="en-US" altLang="zh-CN" dirty="0">
                <a:solidFill>
                  <a:srgbClr val="000000"/>
                </a:solidFill>
                <a:ea typeface="宋体" panose="02010600030101010101" pitchFamily="2" charset="-122"/>
                <a:cs typeface="Times New Roman" panose="02020603050405020304" pitchFamily="18" charset="0"/>
              </a:rPr>
              <a:t>[12,13),[13,14),[14,15),[15,16),[16,17],</a:t>
            </a:r>
            <a:r>
              <a:rPr lang="zh-CN" altLang="zh-CN" dirty="0">
                <a:solidFill>
                  <a:srgbClr val="000000"/>
                </a:solidFill>
                <a:ea typeface="宋体" panose="02010600030101010101" pitchFamily="2" charset="-122"/>
                <a:cs typeface="Times New Roman" panose="02020603050405020304" pitchFamily="18" charset="0"/>
              </a:rPr>
              <a:t>将其按从左到右的顺序分别编号为第一组、第二组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第五组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下图是根据试验数据制成的频率分布直方图</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已知第一组与第二组共有</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第三组中没有疗效的有</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则第三组中有疗效的人数为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endParaRPr lang="en-US" altLang="zh-CN" dirty="0" smtClean="0">
              <a:solidFill>
                <a:srgbClr val="000000"/>
              </a:solidFill>
              <a:ea typeface="宋体" panose="02010600030101010101" pitchFamily="2"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A.6	</a:t>
            </a:r>
            <a:r>
              <a:rPr lang="en-US" altLang="zh-CN" dirty="0" smtClean="0">
                <a:solidFill>
                  <a:srgbClr val="000000"/>
                </a:solidFill>
                <a:ea typeface="宋体" panose="02010600030101010101" pitchFamily="2" charset="-122"/>
                <a:cs typeface="Times New Roman" panose="02020603050405020304" pitchFamily="18" charset="0"/>
              </a:rPr>
              <a:t>	B.8</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C.12	</a:t>
            </a:r>
            <a:r>
              <a:rPr lang="en-US" altLang="zh-CN" dirty="0" smtClean="0">
                <a:solidFill>
                  <a:srgbClr val="000000"/>
                </a:solidFill>
                <a:ea typeface="宋体" panose="02010600030101010101" pitchFamily="2" charset="-122"/>
                <a:cs typeface="Times New Roman" panose="02020603050405020304" pitchFamily="18" charset="0"/>
              </a:rPr>
              <a:t>	D.18</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EMG2TRA36.eps" descr="id:2147493036;FounderCES"/>
          <p:cNvPicPr/>
          <p:nvPr/>
        </p:nvPicPr>
        <p:blipFill>
          <a:blip r:embed="rId2"/>
          <a:stretch>
            <a:fillRect/>
          </a:stretch>
        </p:blipFill>
        <p:spPr>
          <a:xfrm>
            <a:off x="5040957" y="4114015"/>
            <a:ext cx="3168352" cy="2134339"/>
          </a:xfrm>
          <a:prstGeom prst="rect">
            <a:avLst/>
          </a:prstGeom>
        </p:spPr>
      </p:pic>
    </p:spTree>
    <p:extLst>
      <p:ext uri="{BB962C8B-B14F-4D97-AF65-F5344CB8AC3E}">
        <p14:creationId xmlns:p14="http://schemas.microsoft.com/office/powerpoint/2010/main" val="1342312063"/>
      </p:ext>
    </p:extLst>
  </p:cSld>
  <p:clrMapOvr>
    <a:masterClrMapping/>
  </p:clrMapOvr>
  <p:transition spd="slow">
    <p:comb/>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655911"/>
            <a:ext cx="11725959" cy="2048425"/>
            <a:chOff x="361950" y="2147859"/>
            <a:chExt cx="11725959" cy="2048425"/>
          </a:xfrm>
        </p:grpSpPr>
        <p:sp>
          <p:nvSpPr>
            <p:cNvPr id="3" name="矩形 2"/>
            <p:cNvSpPr>
              <a:spLocks noChangeAspect="1"/>
            </p:cNvSpPr>
            <p:nvPr/>
          </p:nvSpPr>
          <p:spPr>
            <a:xfrm>
              <a:off x="361950" y="2147859"/>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第一组与第二组的频率之和为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第三组的频率为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36,</a:t>
              </a:r>
              <a:r>
                <a:rPr lang="zh-CN" altLang="zh-CN" dirty="0">
                  <a:solidFill>
                    <a:srgbClr val="000000"/>
                  </a:solidFill>
                  <a:ea typeface="楷体" panose="02010609060101010101" pitchFamily="49" charset="-122"/>
                  <a:cs typeface="Times New Roman" panose="02020603050405020304" pitchFamily="18" charset="0"/>
                </a:rPr>
                <a:t>设第三</a:t>
              </a:r>
              <a:r>
                <a:rPr lang="zh-CN" altLang="zh-CN" dirty="0" smtClean="0">
                  <a:solidFill>
                    <a:srgbClr val="000000"/>
                  </a:solidFill>
                  <a:ea typeface="楷体" panose="02010609060101010101" pitchFamily="49" charset="-122"/>
                  <a:cs typeface="Times New Roman" panose="02020603050405020304" pitchFamily="18" charset="0"/>
                </a:rPr>
                <a:t>组</a:t>
              </a:r>
              <a:r>
                <a:rPr lang="zh-CN" altLang="en-US" dirty="0" smtClean="0">
                  <a:solidFill>
                    <a:srgbClr val="000000"/>
                  </a:solidFill>
                  <a:ea typeface="楷体" panose="02010609060101010101" pitchFamily="49" charset="-122"/>
                  <a:cs typeface="Times New Roman" panose="02020603050405020304" pitchFamily="18" charset="0"/>
                </a:rPr>
                <a:t>中</a:t>
              </a:r>
              <a:r>
                <a:rPr lang="zh-CN" altLang="zh-CN" dirty="0" smtClean="0">
                  <a:solidFill>
                    <a:srgbClr val="000000"/>
                  </a:solidFill>
                  <a:ea typeface="楷体" panose="02010609060101010101" pitchFamily="49" charset="-122"/>
                  <a:cs typeface="Times New Roman" panose="02020603050405020304" pitchFamily="18" charset="0"/>
                </a:rPr>
                <a:t>有</a:t>
              </a:r>
              <a:r>
                <a:rPr lang="zh-CN" altLang="zh-CN" dirty="0">
                  <a:solidFill>
                    <a:srgbClr val="000000"/>
                  </a:solidFill>
                  <a:ea typeface="楷体" panose="02010609060101010101" pitchFamily="49" charset="-122"/>
                  <a:cs typeface="Times New Roman" panose="02020603050405020304" pitchFamily="18" charset="0"/>
                </a:rPr>
                <a:t>疗效的为</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15265478"/>
                </p:ext>
              </p:extLst>
            </p:nvPr>
          </p:nvGraphicFramePr>
          <p:xfrm>
            <a:off x="415950" y="3385164"/>
            <a:ext cx="11671959" cy="811120"/>
          </p:xfrm>
          <a:graphic>
            <a:graphicData uri="http://schemas.openxmlformats.org/presentationml/2006/ole">
              <mc:AlternateContent xmlns:mc="http://schemas.openxmlformats.org/markup-compatibility/2006">
                <mc:Choice xmlns:v="urn:schemas-microsoft-com:vml" Requires="v">
                  <p:oleObj spid="_x0000_s15372" name="文档" r:id="rId4" imgW="3826872" imgH="265941" progId="Word.Document.12">
                    <p:embed/>
                  </p:oleObj>
                </mc:Choice>
                <mc:Fallback>
                  <p:oleObj name="文档" r:id="rId4" imgW="3826872" imgH="265941" progId="Word.Document.12">
                    <p:embed/>
                    <p:pic>
                      <p:nvPicPr>
                        <p:cNvPr id="0" name=""/>
                        <p:cNvPicPr/>
                        <p:nvPr/>
                      </p:nvPicPr>
                      <p:blipFill>
                        <a:blip r:embed="rId5"/>
                        <a:stretch>
                          <a:fillRect/>
                        </a:stretch>
                      </p:blipFill>
                      <p:spPr>
                        <a:xfrm>
                          <a:off x="415950" y="3385164"/>
                          <a:ext cx="11671959" cy="811120"/>
                        </a:xfrm>
                        <a:prstGeom prst="rect">
                          <a:avLst/>
                        </a:prstGeom>
                      </p:spPr>
                    </p:pic>
                  </p:oleObj>
                </mc:Fallback>
              </mc:AlternateContent>
            </a:graphicData>
          </a:graphic>
        </p:graphicFrame>
      </p:grpSp>
      <p:sp>
        <p:nvSpPr>
          <p:cNvPr id="6" name="矩形 5"/>
          <p:cNvSpPr>
            <a:spLocks noChangeAspect="1"/>
          </p:cNvSpPr>
          <p:nvPr/>
        </p:nvSpPr>
        <p:spPr>
          <a:xfrm>
            <a:off x="350515" y="3780959"/>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9518611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68284"/>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某调查机构对我国若干大型科技公司进行调查统计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得到了从事芯片、软件两个行业从业者的年龄分布的饼形图和</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从事这两个行业的岗位分布雷达图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则下列说法中正确的是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1" name="组合 10"/>
          <p:cNvGrpSpPr/>
          <p:nvPr/>
        </p:nvGrpSpPr>
        <p:grpSpPr>
          <a:xfrm>
            <a:off x="1226046" y="2909543"/>
            <a:ext cx="3670895" cy="3642912"/>
            <a:chOff x="1080517" y="2909543"/>
            <a:chExt cx="3670895" cy="3642912"/>
          </a:xfrm>
        </p:grpSpPr>
        <p:pic>
          <p:nvPicPr>
            <p:cNvPr id="5" name="21C91.eps" descr="id:2147504549;FounderCES"/>
            <p:cNvPicPr/>
            <p:nvPr/>
          </p:nvPicPr>
          <p:blipFill>
            <a:blip r:embed="rId2"/>
            <a:stretch>
              <a:fillRect/>
            </a:stretch>
          </p:blipFill>
          <p:spPr>
            <a:xfrm>
              <a:off x="1440557" y="2909543"/>
              <a:ext cx="2950815" cy="2483603"/>
            </a:xfrm>
            <a:prstGeom prst="rect">
              <a:avLst/>
            </a:prstGeom>
          </p:spPr>
        </p:pic>
        <p:sp>
          <p:nvSpPr>
            <p:cNvPr id="4" name="矩形 3"/>
            <p:cNvSpPr>
              <a:spLocks noChangeAspect="1"/>
            </p:cNvSpPr>
            <p:nvPr/>
          </p:nvSpPr>
          <p:spPr>
            <a:xfrm>
              <a:off x="1080517" y="5278260"/>
              <a:ext cx="3670895" cy="1274195"/>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楷体" panose="02010609060101010101" pitchFamily="49" charset="-122"/>
                  <a:cs typeface="Times New Roman" panose="02020603050405020304" pitchFamily="18" charset="0"/>
                </a:rPr>
                <a:t>后从事芯片、软</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件行业岗位的分布</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pSp>
        <p:nvGrpSpPr>
          <p:cNvPr id="10" name="组合 9"/>
          <p:cNvGrpSpPr/>
          <p:nvPr/>
        </p:nvGrpSpPr>
        <p:grpSpPr>
          <a:xfrm>
            <a:off x="5998314" y="3255588"/>
            <a:ext cx="3723163" cy="3194230"/>
            <a:chOff x="5852785" y="3255588"/>
            <a:chExt cx="3723163" cy="3194230"/>
          </a:xfrm>
        </p:grpSpPr>
        <p:pic>
          <p:nvPicPr>
            <p:cNvPr id="8" name="21C92.eps" descr="id:2147504556;FounderCES"/>
            <p:cNvPicPr/>
            <p:nvPr/>
          </p:nvPicPr>
          <p:blipFill>
            <a:blip r:embed="rId3"/>
            <a:stretch>
              <a:fillRect/>
            </a:stretch>
          </p:blipFill>
          <p:spPr>
            <a:xfrm>
              <a:off x="5852785" y="3255588"/>
              <a:ext cx="3508652" cy="2053067"/>
            </a:xfrm>
            <a:prstGeom prst="rect">
              <a:avLst/>
            </a:prstGeom>
          </p:spPr>
        </p:pic>
        <p:sp>
          <p:nvSpPr>
            <p:cNvPr id="9" name="矩形 8"/>
            <p:cNvSpPr>
              <a:spLocks noChangeAspect="1"/>
            </p:cNvSpPr>
            <p:nvPr/>
          </p:nvSpPr>
          <p:spPr>
            <a:xfrm>
              <a:off x="5905053" y="5254106"/>
              <a:ext cx="3670895"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芯片、软件行业从</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业者年龄分布</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624523891"/>
      </p:ext>
    </p:extLst>
  </p:cSld>
  <p:clrMapOvr>
    <a:masterClrMapping/>
  </p:clrMapOvr>
  <p:transition spd="slow">
    <p:comb/>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07839"/>
            <a:ext cx="10807700" cy="415036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芯片、软件行业从业者中</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人数占总人数的比例超过</a:t>
            </a:r>
            <a:r>
              <a:rPr lang="en-US" altLang="zh-CN" dirty="0">
                <a:solidFill>
                  <a:srgbClr val="000000"/>
                </a:solidFill>
                <a:ea typeface="宋体" panose="02010600030101010101" pitchFamily="2" charset="-122"/>
                <a:cs typeface="Times New Roman" panose="02020603050405020304" pitchFamily="18" charset="0"/>
              </a:rPr>
              <a:t>50%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芯片、软件行业中从事技术、设计岗位的</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人数超过总人数的</a:t>
            </a:r>
            <a:r>
              <a:rPr lang="en-US" altLang="zh-CN" dirty="0">
                <a:solidFill>
                  <a:srgbClr val="000000"/>
                </a:solidFill>
                <a:ea typeface="宋体" panose="02010600030101010101" pitchFamily="2" charset="-122"/>
                <a:cs typeface="Times New Roman" panose="02020603050405020304" pitchFamily="18" charset="0"/>
              </a:rPr>
              <a:t>25%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芯片、软件行业从事技术岗位的人中</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比</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多</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芯片、软件行业中</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宋体" panose="02010600030101010101" pitchFamily="2"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从事市场岗位的人数比</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宋体" panose="02010600030101010101" pitchFamily="2" charset="-122"/>
                <a:cs typeface="Times New Roman" panose="02020603050405020304" pitchFamily="18" charset="0"/>
              </a:rPr>
              <a:t>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的人数多</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0756144"/>
      </p:ext>
    </p:extLst>
  </p:cSld>
  <p:clrMapOvr>
    <a:masterClrMapping/>
  </p:clrMapOvr>
  <p:transition spd="slow">
    <p:comb/>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49401"/>
            <a:ext cx="10807700" cy="5973558"/>
          </a:xfrm>
          <a:prstGeom prst="rect">
            <a:avLst/>
          </a:prstGeom>
        </p:spPr>
        <p:txBody>
          <a:bodyPr>
            <a:spAutoFit/>
          </a:bodyPr>
          <a:lstStyle/>
          <a:p>
            <a:pPr>
              <a:lnSpc>
                <a:spcPts val="42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芯片、软件行业从业者中</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楷体" panose="02010609060101010101" pitchFamily="49"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a:t>
            </a:r>
            <a:r>
              <a:rPr lang="en-US" altLang="zh-CN" dirty="0">
                <a:solidFill>
                  <a:srgbClr val="000000"/>
                </a:solidFill>
                <a:ea typeface="宋体" panose="02010600030101010101" pitchFamily="2" charset="-122"/>
                <a:cs typeface="Times New Roman" panose="02020603050405020304" pitchFamily="18" charset="0"/>
              </a:rPr>
              <a:t>55%,</a:t>
            </a:r>
            <a:r>
              <a:rPr lang="zh-CN" altLang="zh-CN" dirty="0">
                <a:solidFill>
                  <a:srgbClr val="000000"/>
                </a:solidFill>
                <a:ea typeface="楷体" panose="02010609060101010101" pitchFamily="49" charset="-122"/>
                <a:cs typeface="Times New Roman" panose="02020603050405020304" pitchFamily="18" charset="0"/>
              </a:rPr>
              <a:t>故选项</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芯片、软件行业中从事技术、设计岗位的</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楷体" panose="02010609060101010101" pitchFamily="49"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a:t>
            </a:r>
            <a:r>
              <a:rPr lang="en-US" altLang="zh-CN" dirty="0">
                <a:solidFill>
                  <a:srgbClr val="000000"/>
                </a:solidFill>
                <a:ea typeface="宋体" panose="02010600030101010101" pitchFamily="2" charset="-122"/>
                <a:cs typeface="Times New Roman" panose="02020603050405020304" pitchFamily="18" charset="0"/>
              </a:rPr>
              <a:t>(37%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故选项</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芯片、软件行业中从事技术岗位的</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楷体" panose="02010609060101010101" pitchFamily="49"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a:t>
            </a:r>
            <a:r>
              <a:rPr lang="en-US" altLang="zh-CN" dirty="0">
                <a:solidFill>
                  <a:srgbClr val="000000"/>
                </a:solidFill>
                <a:ea typeface="宋体" panose="02010600030101010101" pitchFamily="2" charset="-122"/>
                <a:cs typeface="Times New Roman" panose="02020603050405020304" pitchFamily="18" charset="0"/>
              </a:rPr>
              <a:t>37%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35%,“80</a:t>
            </a:r>
            <a:r>
              <a:rPr lang="zh-CN" altLang="zh-CN" dirty="0">
                <a:solidFill>
                  <a:srgbClr val="000000"/>
                </a:solidFill>
                <a:ea typeface="楷体" panose="02010609060101010101" pitchFamily="49"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a:t>
            </a:r>
            <a:r>
              <a:rPr lang="en-US" altLang="zh-CN" dirty="0">
                <a:solidFill>
                  <a:srgbClr val="000000"/>
                </a:solidFill>
                <a:ea typeface="宋体" panose="02010600030101010101" pitchFamily="2" charset="-122"/>
                <a:cs typeface="Times New Roman" panose="02020603050405020304" pitchFamily="18" charset="0"/>
              </a:rPr>
              <a:t>40%,</a:t>
            </a:r>
            <a:r>
              <a:rPr lang="zh-CN" altLang="zh-CN" dirty="0">
                <a:solidFill>
                  <a:srgbClr val="000000"/>
                </a:solidFill>
                <a:ea typeface="楷体" panose="02010609060101010101" pitchFamily="49" charset="-122"/>
                <a:cs typeface="Times New Roman" panose="02020603050405020304" pitchFamily="18" charset="0"/>
              </a:rPr>
              <a:t>但从事技术岗位的</a:t>
            </a:r>
            <a:r>
              <a:rPr lang="en-US" altLang="zh-CN" dirty="0">
                <a:solidFill>
                  <a:srgbClr val="000000"/>
                </a:solidFill>
                <a:ea typeface="宋体" panose="02010600030101010101" pitchFamily="2" charset="-122"/>
                <a:cs typeface="Times New Roman" panose="02020603050405020304" pitchFamily="18" charset="0"/>
              </a:rPr>
              <a:t>“80</a:t>
            </a:r>
            <a:r>
              <a:rPr lang="zh-CN" altLang="zh-CN" dirty="0">
                <a:solidFill>
                  <a:srgbClr val="000000"/>
                </a:solidFill>
                <a:ea typeface="楷体" panose="02010609060101010101" pitchFamily="49"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人数占总人数的百分比不知道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所以无法确定二者人数多少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故选项</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楷体" panose="02010609060101010101" pitchFamily="49" charset="-122"/>
                <a:cs typeface="Times New Roman" panose="02020603050405020304" pitchFamily="18" charset="0"/>
              </a:rPr>
              <a:t>错误</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对于选项</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芯片、软件行业中从事市场岗位的</a:t>
            </a:r>
            <a:r>
              <a:rPr lang="en-US" altLang="zh-CN" dirty="0">
                <a:solidFill>
                  <a:srgbClr val="000000"/>
                </a:solidFill>
                <a:ea typeface="宋体" panose="02010600030101010101" pitchFamily="2" charset="-122"/>
                <a:cs typeface="Times New Roman" panose="02020603050405020304" pitchFamily="18" charset="0"/>
              </a:rPr>
              <a:t>“90</a:t>
            </a:r>
            <a:r>
              <a:rPr lang="zh-CN" altLang="zh-CN" dirty="0">
                <a:solidFill>
                  <a:srgbClr val="000000"/>
                </a:solidFill>
                <a:ea typeface="楷体" panose="02010609060101010101" pitchFamily="49" charset="-122"/>
                <a:cs typeface="Times New Roman" panose="02020603050405020304" pitchFamily="18" charset="0"/>
              </a:rPr>
              <a:t>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7%,“80</a:t>
            </a:r>
            <a:r>
              <a:rPr lang="zh-CN" altLang="zh-CN" dirty="0">
                <a:solidFill>
                  <a:srgbClr val="000000"/>
                </a:solidFill>
                <a:ea typeface="楷体" panose="02010609060101010101" pitchFamily="49" charset="-122"/>
                <a:cs typeface="Times New Roman" panose="02020603050405020304" pitchFamily="18" charset="0"/>
              </a:rPr>
              <a:t>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人数占总人数的</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故选项</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正确</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6697141" y="5822543"/>
            <a:ext cx="2114681" cy="683264"/>
          </a:xfrm>
          <a:prstGeom prst="rect">
            <a:avLst/>
          </a:prstGeom>
        </p:spPr>
        <p:txBody>
          <a:bodyPr wrap="none">
            <a:spAutoFit/>
          </a:bodyPr>
          <a:lstStyle/>
          <a:p>
            <a:pPr>
              <a:lnSpc>
                <a:spcPct val="120000"/>
              </a:lnSpc>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ABD </a:t>
            </a:r>
            <a:endParaRPr lang="zh-CN" altLang="en-US" dirty="0"/>
          </a:p>
        </p:txBody>
      </p:sp>
    </p:spTree>
    <p:extLst>
      <p:ext uri="{BB962C8B-B14F-4D97-AF65-F5344CB8AC3E}">
        <p14:creationId xmlns:p14="http://schemas.microsoft.com/office/powerpoint/2010/main" val="153195045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583903"/>
            <a:ext cx="10807700" cy="241713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为增强学生环保意识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某中学举行了一次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环保知识竞赛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共有</a:t>
            </a:r>
            <a:r>
              <a:rPr lang="en-US" altLang="zh-CN" dirty="0">
                <a:solidFill>
                  <a:srgbClr val="000000"/>
                </a:solidFill>
                <a:ea typeface="宋体" panose="02010600030101010101" pitchFamily="2" charset="-122"/>
                <a:cs typeface="Times New Roman" panose="02020603050405020304" pitchFamily="18" charset="0"/>
              </a:rPr>
              <a:t>900</a:t>
            </a:r>
            <a:r>
              <a:rPr lang="zh-CN" altLang="zh-CN" dirty="0">
                <a:solidFill>
                  <a:srgbClr val="000000"/>
                </a:solidFill>
                <a:ea typeface="宋体" panose="02010600030101010101" pitchFamily="2" charset="-122"/>
                <a:cs typeface="Times New Roman" panose="02020603050405020304" pitchFamily="18" charset="0"/>
              </a:rPr>
              <a:t>名学生参加</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为了解本次竞赛成绩情况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从中抽取了部分学生的成绩</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得分均为整数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满分为</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宋体" panose="02010600030101010101" pitchFamily="2" charset="-122"/>
                <a:cs typeface="Times New Roman" panose="02020603050405020304" pitchFamily="18" charset="0"/>
              </a:rPr>
              <a:t>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进行统计</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请你根据尚未完成的频率分布表和频率分布直方图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解答问题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226858471"/>
      </p:ext>
    </p:extLst>
  </p:cSld>
  <p:clrMapOvr>
    <a:masterClrMapping/>
  </p:clrMapOvr>
  <p:transition spd="slow">
    <p:comb/>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190798"/>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填充频率分布表的空格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将答案直接填在表格内</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补全频率分布直方图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666331164"/>
              </p:ext>
            </p:extLst>
          </p:nvPr>
        </p:nvGraphicFramePr>
        <p:xfrm>
          <a:off x="-1583779" y="719807"/>
          <a:ext cx="9789182" cy="4996798"/>
        </p:xfrm>
        <a:graphic>
          <a:graphicData uri="http://schemas.openxmlformats.org/presentationml/2006/ole">
            <mc:AlternateContent xmlns:mc="http://schemas.openxmlformats.org/markup-compatibility/2006">
              <mc:Choice xmlns:v="urn:schemas-microsoft-com:vml" Requires="v">
                <p:oleObj spid="_x0000_s16395" name="文档" r:id="rId4" imgW="3883577" imgH="1982336" progId="Word.Document.12">
                  <p:embed/>
                </p:oleObj>
              </mc:Choice>
              <mc:Fallback>
                <p:oleObj name="文档" r:id="rId4" imgW="3883577" imgH="1982336" progId="Word.Document.12">
                  <p:embed/>
                  <p:pic>
                    <p:nvPicPr>
                      <p:cNvPr id="0" name=""/>
                      <p:cNvPicPr/>
                      <p:nvPr/>
                    </p:nvPicPr>
                    <p:blipFill>
                      <a:blip r:embed="rId5"/>
                      <a:stretch>
                        <a:fillRect/>
                      </a:stretch>
                    </p:blipFill>
                    <p:spPr>
                      <a:xfrm>
                        <a:off x="-1583779" y="719807"/>
                        <a:ext cx="9789182" cy="4996798"/>
                      </a:xfrm>
                      <a:prstGeom prst="rect">
                        <a:avLst/>
                      </a:prstGeom>
                    </p:spPr>
                  </p:pic>
                </p:oleObj>
              </mc:Fallback>
            </mc:AlternateContent>
          </a:graphicData>
        </a:graphic>
      </p:graphicFrame>
      <p:pic>
        <p:nvPicPr>
          <p:cNvPr id="7" name="EMG2TRA38.eps" descr="id:2147493058;FounderCES"/>
          <p:cNvPicPr/>
          <p:nvPr/>
        </p:nvPicPr>
        <p:blipFill>
          <a:blip r:embed="rId6"/>
          <a:stretch>
            <a:fillRect/>
          </a:stretch>
        </p:blipFill>
        <p:spPr>
          <a:xfrm>
            <a:off x="6045163" y="726846"/>
            <a:ext cx="4832848" cy="4463952"/>
          </a:xfrm>
          <a:prstGeom prst="rect">
            <a:avLst/>
          </a:prstGeom>
        </p:spPr>
      </p:pic>
    </p:spTree>
    <p:extLst>
      <p:ext uri="{BB962C8B-B14F-4D97-AF65-F5344CB8AC3E}">
        <p14:creationId xmlns:p14="http://schemas.microsoft.com/office/powerpoint/2010/main" val="1864921948"/>
      </p:ext>
    </p:extLst>
  </p:cSld>
  <p:clrMapOvr>
    <a:masterClrMapping/>
  </p:clrMapOvr>
  <p:transition spd="slow">
    <p:comb/>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29967"/>
            <a:ext cx="1313180" cy="683264"/>
          </a:xfrm>
          <a:prstGeom prst="rect">
            <a:avLst/>
          </a:prstGeom>
        </p:spPr>
        <p:txBody>
          <a:bodyPr wrap="none">
            <a:spAutoFit/>
          </a:bodyPr>
          <a:lstStyle/>
          <a:p>
            <a:pPr>
              <a:lnSpc>
                <a:spcPct val="120000"/>
              </a:lnSpc>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rPr>
              <a:t>(1</a:t>
            </a:r>
            <a:r>
              <a:rPr lang="en-US" altLang="zh-CN" dirty="0" smtClean="0">
                <a:solidFill>
                  <a:srgbClr val="000000"/>
                </a:solidFill>
                <a:ea typeface="宋体" panose="02010600030101010101" pitchFamily="2" charset="-122"/>
              </a:rPr>
              <a:t>)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010556817"/>
              </p:ext>
            </p:extLst>
          </p:nvPr>
        </p:nvGraphicFramePr>
        <p:xfrm>
          <a:off x="-71611" y="1389072"/>
          <a:ext cx="11844910" cy="5009207"/>
        </p:xfrm>
        <a:graphic>
          <a:graphicData uri="http://schemas.openxmlformats.org/presentationml/2006/ole">
            <mc:AlternateContent xmlns:mc="http://schemas.openxmlformats.org/markup-compatibility/2006">
              <mc:Choice xmlns:v="urn:schemas-microsoft-com:vml" Requires="v">
                <p:oleObj spid="_x0000_s17419" name="文档" r:id="rId4" imgW="3883577" imgH="1642363" progId="Word.Document.12">
                  <p:embed/>
                </p:oleObj>
              </mc:Choice>
              <mc:Fallback>
                <p:oleObj name="文档" r:id="rId4" imgW="3883577" imgH="1642363" progId="Word.Document.12">
                  <p:embed/>
                  <p:pic>
                    <p:nvPicPr>
                      <p:cNvPr id="0" name=""/>
                      <p:cNvPicPr/>
                      <p:nvPr/>
                    </p:nvPicPr>
                    <p:blipFill>
                      <a:blip r:embed="rId5"/>
                      <a:stretch>
                        <a:fillRect/>
                      </a:stretch>
                    </p:blipFill>
                    <p:spPr>
                      <a:xfrm>
                        <a:off x="-71611" y="1389072"/>
                        <a:ext cx="11844910" cy="5009207"/>
                      </a:xfrm>
                      <a:prstGeom prst="rect">
                        <a:avLst/>
                      </a:prstGeom>
                    </p:spPr>
                  </p:pic>
                </p:oleObj>
              </mc:Fallback>
            </mc:AlternateContent>
          </a:graphicData>
        </a:graphic>
      </p:graphicFrame>
    </p:spTree>
    <p:extLst>
      <p:ext uri="{BB962C8B-B14F-4D97-AF65-F5344CB8AC3E}">
        <p14:creationId xmlns:p14="http://schemas.microsoft.com/office/powerpoint/2010/main" val="823732230"/>
      </p:ext>
    </p:extLst>
  </p:cSld>
  <p:clrMapOvr>
    <a:masterClrMapping/>
  </p:clrMapOvr>
  <p:transition spd="slow">
    <p:comb/>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639"/>
            <a:ext cx="6120586" cy="626710"/>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补全频率分布直方图如图所示</a:t>
            </a:r>
            <a:r>
              <a:rPr lang="en-US" altLang="zh-CN" i="1">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5" name="EMG2TRA39.eps" descr="id:2147493073;FounderCES"/>
          <p:cNvPicPr/>
          <p:nvPr/>
        </p:nvPicPr>
        <p:blipFill>
          <a:blip r:embed="rId2"/>
          <a:stretch>
            <a:fillRect/>
          </a:stretch>
        </p:blipFill>
        <p:spPr>
          <a:xfrm>
            <a:off x="3096741" y="1397375"/>
            <a:ext cx="5184576" cy="4788832"/>
          </a:xfrm>
          <a:prstGeom prst="rect">
            <a:avLst/>
          </a:prstGeom>
        </p:spPr>
      </p:pic>
      <p:sp>
        <p:nvSpPr>
          <p:cNvPr id="3" name="矩形 2"/>
          <p:cNvSpPr>
            <a:spLocks noChangeAspect="1"/>
          </p:cNvSpPr>
          <p:nvPr/>
        </p:nvSpPr>
        <p:spPr>
          <a:xfrm>
            <a:off x="361950" y="2738790"/>
            <a:ext cx="10807700" cy="626710"/>
          </a:xfrm>
          <a:prstGeom prst="rect">
            <a:avLst/>
          </a:prstGeom>
        </p:spPr>
        <p:txBody>
          <a:bodyPr>
            <a:spAutoFit/>
          </a:bodyPr>
          <a:lstStyle/>
          <a:p>
            <a:pPr>
              <a:lnSpc>
                <a:spcPct val="120000"/>
              </a:lnSpc>
              <a:spcAft>
                <a:spcPts val="0"/>
              </a:spcAft>
              <a:tabLst>
                <a:tab pos="1188085" algn="l"/>
                <a:tab pos="2163445" algn="l"/>
                <a:tab pos="3142615" algn="l"/>
                <a:tab pos="4190365" algn="l"/>
              </a:tabLst>
            </a:pP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18801406"/>
      </p:ext>
    </p:extLst>
  </p:cSld>
  <p:clrMapOvr>
    <a:masterClrMapping/>
  </p:clrMapOvr>
  <p:transition spd="slow">
    <p:comb/>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72</TotalTime>
  <Words>2994</Words>
  <Application>Microsoft Office PowerPoint</Application>
  <PresentationFormat>自定义</PresentationFormat>
  <Paragraphs>209</Paragraphs>
  <Slides>60</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76"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24</cp:revision>
  <dcterms:created xsi:type="dcterms:W3CDTF">2020-09-12T05:36:12Z</dcterms:created>
  <dcterms:modified xsi:type="dcterms:W3CDTF">2025-09-04T06:39:03Z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