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731" r:id="rId2"/>
    <p:sldId id="753" r:id="rId3"/>
    <p:sldId id="744" r:id="rId4"/>
    <p:sldId id="737" r:id="rId5"/>
    <p:sldId id="750" r:id="rId6"/>
    <p:sldId id="754" r:id="rId7"/>
    <p:sldId id="757" r:id="rId8"/>
    <p:sldId id="756" r:id="rId9"/>
    <p:sldId id="758" r:id="rId10"/>
    <p:sldId id="759" r:id="rId11"/>
    <p:sldId id="760" r:id="rId12"/>
    <p:sldId id="761" r:id="rId13"/>
    <p:sldId id="762" r:id="rId14"/>
    <p:sldId id="747" r:id="rId15"/>
    <p:sldId id="751" r:id="rId16"/>
    <p:sldId id="764" r:id="rId17"/>
    <p:sldId id="765" r:id="rId18"/>
    <p:sldId id="766" r:id="rId19"/>
    <p:sldId id="767" r:id="rId20"/>
    <p:sldId id="768" r:id="rId21"/>
    <p:sldId id="769" r:id="rId22"/>
    <p:sldId id="763" r:id="rId23"/>
    <p:sldId id="771" r:id="rId24"/>
    <p:sldId id="772" r:id="rId25"/>
    <p:sldId id="773" r:id="rId26"/>
    <p:sldId id="774" r:id="rId27"/>
    <p:sldId id="775" r:id="rId28"/>
    <p:sldId id="776" r:id="rId29"/>
    <p:sldId id="777" r:id="rId30"/>
    <p:sldId id="770" r:id="rId31"/>
    <p:sldId id="778" r:id="rId32"/>
    <p:sldId id="779" r:id="rId33"/>
    <p:sldId id="780" r:id="rId34"/>
    <p:sldId id="781" r:id="rId35"/>
    <p:sldId id="782" r:id="rId36"/>
    <p:sldId id="783" r:id="rId37"/>
    <p:sldId id="784" r:id="rId38"/>
    <p:sldId id="785" r:id="rId39"/>
    <p:sldId id="786" r:id="rId40"/>
    <p:sldId id="787" r:id="rId41"/>
    <p:sldId id="788" r:id="rId42"/>
    <p:sldId id="789" r:id="rId43"/>
    <p:sldId id="790" r:id="rId44"/>
    <p:sldId id="791" r:id="rId45"/>
    <p:sldId id="792" r:id="rId46"/>
    <p:sldId id="793" r:id="rId47"/>
    <p:sldId id="794" r:id="rId48"/>
    <p:sldId id="795" r:id="rId49"/>
    <p:sldId id="796" r:id="rId50"/>
    <p:sldId id="828" r:id="rId51"/>
    <p:sldId id="797" r:id="rId52"/>
    <p:sldId id="798" r:id="rId53"/>
    <p:sldId id="801" r:id="rId54"/>
    <p:sldId id="799" r:id="rId55"/>
    <p:sldId id="800" r:id="rId56"/>
    <p:sldId id="802" r:id="rId57"/>
    <p:sldId id="803" r:id="rId58"/>
    <p:sldId id="755" r:id="rId59"/>
    <p:sldId id="829" r:id="rId60"/>
    <p:sldId id="805" r:id="rId61"/>
    <p:sldId id="804" r:id="rId62"/>
    <p:sldId id="832" r:id="rId63"/>
    <p:sldId id="807" r:id="rId64"/>
    <p:sldId id="830" r:id="rId65"/>
    <p:sldId id="806" r:id="rId66"/>
    <p:sldId id="812" r:id="rId67"/>
    <p:sldId id="833" r:id="rId68"/>
    <p:sldId id="834" r:id="rId69"/>
    <p:sldId id="835" r:id="rId70"/>
    <p:sldId id="836" r:id="rId71"/>
    <p:sldId id="813" r:id="rId72"/>
    <p:sldId id="814" r:id="rId73"/>
    <p:sldId id="831" r:id="rId74"/>
    <p:sldId id="811" r:id="rId75"/>
    <p:sldId id="816" r:id="rId76"/>
    <p:sldId id="735" r:id="rId7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76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3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9.docx"/><Relationship Id="rId3" Type="http://schemas.openxmlformats.org/officeDocument/2006/relationships/image" Target="../media/image13.jpeg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8.docx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0.docx"/><Relationship Id="rId4" Type="http://schemas.openxmlformats.org/officeDocument/2006/relationships/oleObject" Target="../embeddings/oleObject1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2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3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4.docx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5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7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8.docx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9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0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1.docx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2.docx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3.docx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4.docx"/><Relationship Id="rId9" Type="http://schemas.openxmlformats.org/officeDocument/2006/relationships/image" Target="../media/image34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6.docx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7.docx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28.docx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29.docx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0.docx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2.docx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34.docx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36.docx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48.emf"/><Relationship Id="rId4" Type="http://schemas.openxmlformats.org/officeDocument/2006/relationships/package" Target="../embeddings/Microsoft_Word___37.docx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__38.docx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50.emf"/><Relationship Id="rId4" Type="http://schemas.openxmlformats.org/officeDocument/2006/relationships/package" Target="../embeddings/Microsoft_Word___39.docx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52.emf"/><Relationship Id="rId4" Type="http://schemas.openxmlformats.org/officeDocument/2006/relationships/package" Target="../embeddings/Microsoft_Word___41.docx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53.emf"/><Relationship Id="rId4" Type="http://schemas.openxmlformats.org/officeDocument/2006/relationships/package" Target="../embeddings/Microsoft_Word___42.docx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54.emf"/><Relationship Id="rId4" Type="http://schemas.openxmlformats.org/officeDocument/2006/relationships/package" Target="../embeddings/Microsoft_Word___43.docx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55.emf"/><Relationship Id="rId4" Type="http://schemas.openxmlformats.org/officeDocument/2006/relationships/package" Target="../embeddings/Microsoft_Word___44.docx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__45.docx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447999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概率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43988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图文框 6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324008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00783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59268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知识网络</a:t>
            </a:r>
            <a:endParaRPr lang="zh-CN" altLang="en-US" sz="2400" dirty="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511296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要点梳理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97" y="503783"/>
            <a:ext cx="1584176" cy="432048"/>
          </a:xfrm>
          <a:prstGeom prst="round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/>
              <a:t>知识网络</a:t>
            </a:r>
            <a:endParaRPr lang="zh-CN" altLang="en-US" sz="2400" dirty="0"/>
          </a:p>
        </p:txBody>
      </p:sp>
      <p:pic>
        <p:nvPicPr>
          <p:cNvPr id="4" name="21C115.eps" descr="id:214749150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24733" y="680479"/>
            <a:ext cx="5904656" cy="568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397" y="503783"/>
            <a:ext cx="1584176" cy="432048"/>
          </a:xfrm>
          <a:prstGeom prst="roundRect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要点梳理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随机现象、随机试验、样本点、样本空间、随机事件、基本事件、必然事件、不可能事件的含义及符号表示是什么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766493"/>
              </p:ext>
            </p:extLst>
          </p:nvPr>
        </p:nvGraphicFramePr>
        <p:xfrm>
          <a:off x="-156108" y="2573680"/>
          <a:ext cx="11843815" cy="4194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文档" r:id="rId4" imgW="3884512" imgH="1377033" progId="Word.Document.12">
                  <p:embed/>
                </p:oleObj>
              </mc:Choice>
              <mc:Fallback>
                <p:oleObj name="文档" r:id="rId4" imgW="3884512" imgH="13770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56108" y="2573680"/>
                        <a:ext cx="11843815" cy="4194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448852" y="4075094"/>
            <a:ext cx="123471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150053" y="4670801"/>
            <a:ext cx="123471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355971" y="5325389"/>
            <a:ext cx="102042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310421"/>
              </p:ext>
            </p:extLst>
          </p:nvPr>
        </p:nvGraphicFramePr>
        <p:xfrm>
          <a:off x="402051" y="657631"/>
          <a:ext cx="10913385" cy="6344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文档" r:id="rId4" imgW="3935975" imgH="2288168" progId="Word.Document.12">
                  <p:embed/>
                </p:oleObj>
              </mc:Choice>
              <mc:Fallback>
                <p:oleObj name="文档" r:id="rId4" imgW="3935975" imgH="22881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2051" y="657631"/>
                        <a:ext cx="10913385" cy="6344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024733" y="2076123"/>
            <a:ext cx="1494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777261" y="1777333"/>
            <a:ext cx="50405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84547" y="2662945"/>
            <a:ext cx="112246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859196" y="2662945"/>
            <a:ext cx="50405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447838" y="3527041"/>
            <a:ext cx="84332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878504" y="4485644"/>
            <a:ext cx="112246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558417" y="5173545"/>
            <a:ext cx="47603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887217" y="5173126"/>
            <a:ext cx="47603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00837" y="5800485"/>
            <a:ext cx="183532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705471" y="5814711"/>
            <a:ext cx="183532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52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56447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事件的关系和运算与对应的概率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性质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611495"/>
              </p:ext>
            </p:extLst>
          </p:nvPr>
        </p:nvGraphicFramePr>
        <p:xfrm>
          <a:off x="246983" y="1195930"/>
          <a:ext cx="11058670" cy="5798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文档" r:id="rId4" imgW="3988373" imgH="2091228" progId="Word.Document.12">
                  <p:embed/>
                </p:oleObj>
              </mc:Choice>
              <mc:Fallback>
                <p:oleObj name="文档" r:id="rId4" imgW="3988373" imgH="20912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983" y="1195930"/>
                        <a:ext cx="11058670" cy="5798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921277" y="2646198"/>
            <a:ext cx="295580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852146" y="3723962"/>
            <a:ext cx="70649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129189" y="4608239"/>
            <a:ext cx="3528392" cy="403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865798" y="5218010"/>
            <a:ext cx="70649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831232" y="5772558"/>
            <a:ext cx="1538317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42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4773399"/>
              </p:ext>
            </p:extLst>
          </p:nvPr>
        </p:nvGraphicFramePr>
        <p:xfrm>
          <a:off x="237151" y="998007"/>
          <a:ext cx="11058670" cy="5275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文档" r:id="rId4" imgW="3988373" imgH="1902554" progId="Word.Document.12">
                  <p:embed/>
                </p:oleObj>
              </mc:Choice>
              <mc:Fallback>
                <p:oleObj name="文档" r:id="rId4" imgW="3988373" imgH="19025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151" y="998007"/>
                        <a:ext cx="11058670" cy="5275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592685" y="2785445"/>
            <a:ext cx="1494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78271" y="2750170"/>
            <a:ext cx="32513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19139" y="3056716"/>
            <a:ext cx="174229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596261" y="4464223"/>
            <a:ext cx="1494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683063" y="4147495"/>
            <a:ext cx="16684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811529" y="4701763"/>
            <a:ext cx="32513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566236" y="4729661"/>
            <a:ext cx="32513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622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920704"/>
            <a:ext cx="16062934" cy="2399503"/>
            <a:chOff x="361950" y="1704680"/>
            <a:chExt cx="16062934" cy="239950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704680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古典概型的两个特征是什么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对应的概率公式是什么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古典概型的两个特征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有限性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等可能性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古典概型的概率公式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分别表示事件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和样本空间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包含的样本点个数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8160043"/>
                </p:ext>
              </p:extLst>
            </p:nvPr>
          </p:nvGraphicFramePr>
          <p:xfrm>
            <a:off x="4752925" y="2839283"/>
            <a:ext cx="11671959" cy="790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name="文档" r:id="rId4" imgW="3826872" imgH="259112" progId="Word.Document.12">
                    <p:embed/>
                  </p:oleObj>
                </mc:Choice>
                <mc:Fallback>
                  <p:oleObj name="文档" r:id="rId4" imgW="3826872" imgH="2591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52925" y="2839283"/>
                          <a:ext cx="11671959" cy="7902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4731409" y="256994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726638" y="303403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363163" y="2592320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358617" y="3056418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6753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频率与概率的区别与联系有哪些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频率随着试验次数的变化而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变化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概率却是一个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是客观存在的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与试验次数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无关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在实际应用中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只要试验的次数足够多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频率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就可以近似地当作随机事件的概率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概率是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频率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的稳定值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频率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是概率的近似值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概率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反映了随机事件发生的可能性的大小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概率越接近于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此事件发生的可能性就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越大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概率越接近于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此事件发生的可能性就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越小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33045" y="137863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828455" y="184273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221607" y="137863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217017" y="184273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38111" y="197621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233521" y="244031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861567" y="255996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856977" y="302406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171395" y="372262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166805" y="418672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703321" y="371848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698731" y="418258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947259" y="432020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942669" y="478430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536901" y="490591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532311" y="537001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902233" y="546180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897643" y="592589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21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675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随机试验所有可能的结果是明确的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并且不止一个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水能载舟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亦能覆舟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是一个随机现象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对立事件一定是互斥事件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积事件与并事件类似于集合的交与并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表示三个事件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至少有两个发生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对于任意事件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19341" y="262778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993285" y="3231660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905053" y="381654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918312" y="440336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152814" y="4979037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713365" y="555510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190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89679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抛掷一枚骰子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出现的点数小于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如果三个事件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两两独立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概率从数量上刻画了一个随机事件发生的可能性的大小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用随机模拟方法只能估计古典概型的概率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53125" y="181107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297541" y="2974002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69549" y="417619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929389" y="475225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022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00783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259268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/>
              <a:t>专题整合</a:t>
            </a:r>
          </a:p>
        </p:txBody>
      </p:sp>
      <p:sp>
        <p:nvSpPr>
          <p:cNvPr id="7" name="圆角矩形 6">
            <a:hlinkClick r:id="rId3" action="ppaction://hlinksldjump"/>
          </p:cNvPr>
          <p:cNvSpPr/>
          <p:nvPr/>
        </p:nvSpPr>
        <p:spPr>
          <a:xfrm>
            <a:off x="5112965" y="4392215"/>
            <a:ext cx="1584176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/>
              <a:t>高考体验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805282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专题一</a:t>
            </a:r>
            <a:r>
              <a:rPr lang="zh-CN" altLang="zh-CN" i="1" dirty="0"/>
              <a:t>　</a:t>
            </a:r>
            <a:r>
              <a:rPr lang="zh-CN" altLang="zh-CN" dirty="0"/>
              <a:t>互斥事件与对立事件的概率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511895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甲、乙两人参加普法知识竞赛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个不同的题目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其中选择题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个、判断题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甲、乙两人各抽一题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甲、乙两人中有一人抽到选择题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另一人抽到判断题的概率是多少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甲、乙两人中至少有一人抽到选择题的概率是多少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用列举法把所有可能的基本结果列举出来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考虑互斥事件及对立事件的概率公式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8198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个选择题记为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个判断题记为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则试验的样本空间包含的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样本点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甲抽到选择题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乙抽到判断题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甲抽到判断题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乙抽到选择题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甲、乙两人中有一人抽到选择题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另一人抽到判断题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0222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289674"/>
              </p:ext>
            </p:extLst>
          </p:nvPr>
        </p:nvGraphicFramePr>
        <p:xfrm>
          <a:off x="504453" y="1295871"/>
          <a:ext cx="11671959" cy="3624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文档" r:id="rId4" imgW="3826872" imgH="1188467" progId="Word.Document.12">
                  <p:embed/>
                </p:oleObj>
              </mc:Choice>
              <mc:Fallback>
                <p:oleObj name="文档" r:id="rId4" imgW="3826872" imgH="1188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95871"/>
                        <a:ext cx="11671959" cy="3624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47542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890485"/>
              </p:ext>
            </p:extLst>
          </p:nvPr>
        </p:nvGraphicFramePr>
        <p:xfrm>
          <a:off x="430213" y="1512888"/>
          <a:ext cx="11677650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文档" r:id="rId4" imgW="3837724" imgH="1161770" progId="Word.Document.12">
                  <p:embed/>
                </p:oleObj>
              </mc:Choice>
              <mc:Fallback>
                <p:oleObj name="文档" r:id="rId4" imgW="3837724" imgH="11617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512888"/>
                        <a:ext cx="11677650" cy="352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87543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16421" y="773066"/>
            <a:ext cx="20674615" cy="5429509"/>
            <a:chOff x="352118" y="690311"/>
            <a:chExt cx="20674615" cy="5429509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690311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262067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互斥事件与对立事件的概率计算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-25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两两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 P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仿宋" panose="02010609060101010101" pitchFamily="49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+P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0259355"/>
                </p:ext>
              </p:extLst>
            </p:nvPr>
          </p:nvGraphicFramePr>
          <p:xfrm>
            <a:off x="352118" y="3110843"/>
            <a:ext cx="11671959" cy="569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4" name="文档" r:id="rId5" imgW="3826872" imgH="186877" progId="Word.Document.12">
                    <p:embed/>
                  </p:oleObj>
                </mc:Choice>
                <mc:Fallback>
                  <p:oleObj name="文档" r:id="rId5" imgW="3826872" imgH="186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2118" y="3110843"/>
                          <a:ext cx="11671959" cy="569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663763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求复杂事件的概率常用的两种方法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直接法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将所求事件转化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成</a:t>
              </a:r>
              <a:r>
                <a:rPr lang="zh-CN" altLang="en-US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两两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互斥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的事件的和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间接法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先求其对立事件的概率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然后再应用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公式</a:t>
              </a:r>
              <a:endParaRPr lang="en-US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5969935"/>
                </p:ext>
              </p:extLst>
            </p:nvPr>
          </p:nvGraphicFramePr>
          <p:xfrm>
            <a:off x="9354774" y="4847593"/>
            <a:ext cx="11671959" cy="542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5" name="文档" r:id="rId8" imgW="3826872" imgH="177893" progId="Word.Document.12">
                    <p:embed/>
                  </p:oleObj>
                </mc:Choice>
                <mc:Fallback>
                  <p:oleObj name="文档" r:id="rId8" imgW="3826872" imgH="17789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354774" y="4847593"/>
                          <a:ext cx="11671959" cy="542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42531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0178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某服务电话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打进的电话响第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声时被接的概率是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响第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声时被接的概率是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响第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声时被接的概率是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响第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声时被接的概率是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打进的电话在响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声之前被接的概率是多少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打进的电话响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声而不被接的概率是多少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7818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4566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电话响第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声时被接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那么事件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两两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互斥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打进的电话在响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声之前被接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根据互斥事件概率加法公式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打进的电话响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声而不被接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打进的电话在响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声之前被接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互为对立事件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根据对立事件的概率公式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04803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66746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专题二</a:t>
            </a:r>
            <a:r>
              <a:rPr lang="zh-CN" altLang="zh-CN" i="1" dirty="0"/>
              <a:t>　</a:t>
            </a:r>
            <a:r>
              <a:rPr lang="zh-CN" altLang="zh-CN" dirty="0"/>
              <a:t>古典概型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13191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有四张背面相同的纸牌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A,B,C,D,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其正面分别画有四个不同的几何图形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小华将这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张纸牌背面朝上洗匀后摸出一张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放回洗匀后再摸出一张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用画树状图法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或列表法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纸牌用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A,B,C,D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求摸出的两张纸牌的牌面图形都是中心对称图形的概率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G2TRA50.eps" descr="id:214750287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520677" y="2880047"/>
            <a:ext cx="5688632" cy="18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39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1151855"/>
            <a:ext cx="10807700" cy="2339448"/>
            <a:chOff x="361950" y="1151855"/>
            <a:chExt cx="10807700" cy="233944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151855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树状图如图所示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NMG2TRA51.eps" descr="id:2147502885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800597" y="1727919"/>
              <a:ext cx="7488832" cy="1073818"/>
            </a:xfrm>
            <a:prstGeom prst="rect">
              <a:avLst/>
            </a:prstGeom>
          </p:spPr>
        </p:pic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808039"/>
              <a:ext cx="2071401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列表如下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: </a:t>
              </a:r>
              <a:endParaRPr lang="zh-CN" altLang="en-US" dirty="0"/>
            </a:p>
          </p:txBody>
        </p:sp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64779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本题旨在考查对古典概型的理解及运用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287712"/>
              </p:ext>
            </p:extLst>
          </p:nvPr>
        </p:nvGraphicFramePr>
        <p:xfrm>
          <a:off x="145696" y="3393935"/>
          <a:ext cx="10798633" cy="359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文档" r:id="rId5" imgW="3894589" imgH="1294822" progId="Word.Document.12">
                  <p:embed/>
                </p:oleObj>
              </mc:Choice>
              <mc:Fallback>
                <p:oleObj name="文档" r:id="rId5" imgW="3894589" imgH="12948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5696" y="3393935"/>
                        <a:ext cx="10798633" cy="359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51766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2231975"/>
            <a:ext cx="21117151" cy="1903965"/>
            <a:chOff x="361950" y="1556928"/>
            <a:chExt cx="21117151" cy="190396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A,B,C,D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四张纸牌中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牌面图形是中心对称图形的是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B,C,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摸出的两张纸牌的牌面图形都是中心对称图形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(B,B),(B,C),(C,B),(C,C),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故所求概率是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9307560"/>
                </p:ext>
              </p:extLst>
            </p:nvPr>
          </p:nvGraphicFramePr>
          <p:xfrm>
            <a:off x="9807142" y="2664023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7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807142" y="2664023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734998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744927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316683"/>
            <a:ext cx="553709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求解古典概型概率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四步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lang="en-US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NMG2TRA52.eps" descr="id:214750290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1800597" y="1999947"/>
            <a:ext cx="8064896" cy="41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370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655911"/>
            <a:ext cx="17006264" cy="2428135"/>
            <a:chOff x="361950" y="1892072"/>
            <a:chExt cx="17006264" cy="242813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920704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在应用古典概型的概率公式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关键是分清事件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包含的样本点个数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有时需用列举法把样本点一一列举出来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但列举时必须按某一顺序做到不重复、不遗漏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855532"/>
                </p:ext>
              </p:extLst>
            </p:nvPr>
          </p:nvGraphicFramePr>
          <p:xfrm>
            <a:off x="5696255" y="1892072"/>
            <a:ext cx="11671959" cy="790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1" name="文档" r:id="rId4" imgW="3826872" imgH="259112" progId="Word.Document.12">
                    <p:embed/>
                  </p:oleObj>
                </mc:Choice>
                <mc:Fallback>
                  <p:oleObj name="文档" r:id="rId4" imgW="3826872" imgH="2591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96255" y="1892072"/>
                          <a:ext cx="11671959" cy="7902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653276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14906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甲、乙两人玩一种游戏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每次由甲、乙各出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根手指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若和为偶数算甲赢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否则算乙赢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现连玩三次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甲至少赢一次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乙至少赢两次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是否为互斥事件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这种游戏规则公平吗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9310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76792"/>
            <a:ext cx="11781782" cy="3920049"/>
            <a:chOff x="361950" y="719807"/>
            <a:chExt cx="11781782" cy="392004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1980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试验的样本空间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{1,2,3,4,5}},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且每个样本点发生的可能性相等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{(1,5),(2,4),(3,3),(4,2),(5,1)},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9213794"/>
                </p:ext>
              </p:extLst>
            </p:nvPr>
          </p:nvGraphicFramePr>
          <p:xfrm>
            <a:off x="471773" y="2549850"/>
            <a:ext cx="11671959" cy="813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6" name="文档" r:id="rId4" imgW="3826872" imgH="266659" progId="Word.Document.12">
                    <p:embed/>
                  </p:oleObj>
                </mc:Choice>
                <mc:Fallback>
                  <p:oleObj name="文档" r:id="rId4" imgW="3826872" imgH="26665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1773" y="2549850"/>
                          <a:ext cx="11671959" cy="8133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365661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不是互斥事件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可以同时发生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甲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赢一次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乙赢两次时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同时发生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25885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295871"/>
            <a:ext cx="11732622" cy="3302527"/>
            <a:chOff x="361950" y="1556928"/>
            <a:chExt cx="11732622" cy="330252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这种游戏规则不公平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知和为偶数的样本点有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(1,1),(1,3),(1,5),(2,2),(2,4),(3,1),(3,3),(3,5),(4,2),(4,4),(5,1),(5,3),(5,5),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7543224"/>
                </p:ext>
              </p:extLst>
            </p:nvPr>
          </p:nvGraphicFramePr>
          <p:xfrm>
            <a:off x="422613" y="3371650"/>
            <a:ext cx="11671959" cy="804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9" name="文档" r:id="rId4" imgW="3826872" imgH="263784" progId="Word.Document.12">
                    <p:embed/>
                  </p:oleObj>
                </mc:Choice>
                <mc:Fallback>
                  <p:oleObj name="文档" r:id="rId4" imgW="3826872" imgH="2637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2613" y="3371650"/>
                          <a:ext cx="11671959" cy="8045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4176191"/>
              <a:ext cx="4921540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所以这种游戏规则不公平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158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79092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专题三</a:t>
            </a:r>
            <a:r>
              <a:rPr lang="zh-CN" altLang="zh-CN" i="1" dirty="0"/>
              <a:t>　</a:t>
            </a:r>
            <a:r>
              <a:rPr lang="zh-CN" altLang="zh-CN" dirty="0"/>
              <a:t>独立事件的概率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-862252" y="1472901"/>
            <a:ext cx="12031902" cy="3046988"/>
            <a:chOff x="-862252" y="1401781"/>
            <a:chExt cx="12031902" cy="304698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40178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甲、乙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人独立地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破译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同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个密码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他们能译出密码的概率分别为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人都译出密码的概率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人都译不出密码的概率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至多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人译出密码的概率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5317150"/>
                </p:ext>
              </p:extLst>
            </p:nvPr>
          </p:nvGraphicFramePr>
          <p:xfrm>
            <a:off x="-862252" y="1969181"/>
            <a:ext cx="7972105" cy="652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8" name="文档" r:id="rId4" imgW="3826872" imgH="313019" progId="Word.Document.12">
                    <p:embed/>
                  </p:oleObj>
                </mc:Choice>
                <mc:Fallback>
                  <p:oleObj name="文档" r:id="rId4" imgW="3826872" imgH="3130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862252" y="1969181"/>
                          <a:ext cx="7972105" cy="6520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1387890"/>
                </p:ext>
              </p:extLst>
            </p:nvPr>
          </p:nvGraphicFramePr>
          <p:xfrm>
            <a:off x="-80324" y="1975861"/>
            <a:ext cx="7972105" cy="649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9" name="文档" r:id="rId7" imgW="3826872" imgH="311941" progId="Word.Document.12">
                    <p:embed/>
                  </p:oleObj>
                </mc:Choice>
                <mc:Fallback>
                  <p:oleObj name="文档" r:id="rId7" imgW="3826872" imgH="311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80324" y="1975861"/>
                          <a:ext cx="7972105" cy="6498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444951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分析事件的独立性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利用相互独立事件的概率公式直接或间接求解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6505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89615"/>
            <a:ext cx="11742454" cy="4850432"/>
            <a:chOff x="361950" y="837927"/>
            <a:chExt cx="11742454" cy="485043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37927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甲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独立地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译出密码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乙独立地译出密码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为相互独立事件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3987538"/>
                </p:ext>
              </p:extLst>
            </p:nvPr>
          </p:nvGraphicFramePr>
          <p:xfrm>
            <a:off x="432445" y="2065728"/>
            <a:ext cx="11671959" cy="3622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" name="文档" r:id="rId4" imgW="3826872" imgH="1187748" progId="Word.Document.12">
                    <p:embed/>
                  </p:oleObj>
                </mc:Choice>
                <mc:Fallback>
                  <p:oleObj name="文档" r:id="rId4" imgW="3826872" imgH="11877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065728"/>
                          <a:ext cx="11671959" cy="36226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107546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871935"/>
            <a:ext cx="11742454" cy="2007546"/>
            <a:chOff x="361950" y="2147859"/>
            <a:chExt cx="11742454" cy="200754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14785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(3)“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至多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人译出密码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的对立事件为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都译出密码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所以至多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人译出密码的概率为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277575"/>
                </p:ext>
              </p:extLst>
            </p:nvPr>
          </p:nvGraphicFramePr>
          <p:xfrm>
            <a:off x="432445" y="3358535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1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358535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676736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007839"/>
            <a:ext cx="10807700" cy="4162953"/>
            <a:chOff x="361950" y="940139"/>
            <a:chExt cx="10807700" cy="4162953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21727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相互独立事件概率的求解方法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应用相互独立事件同时发生的概率的乘法公式求概率的解题步骤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确定各事件是相互独立的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确定各事件会同时发生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先求每个事件发生的概率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再求其积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7601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5591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解决这类问题的关键是将事件看作若干事件相互独立的情形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还要注意互斥事件的拆分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以及对立事件概率的求法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即三个公式的联用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互斥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4102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373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某公司为了解用户对其产品的满意度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两地区分别随机调查了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个用户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得到用户对产品的满意度评分如下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地区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地区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93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79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根据用户满意度评分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将用户的满意度从低到高分为三个等级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17208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626084"/>
              </p:ext>
            </p:extLst>
          </p:nvPr>
        </p:nvGraphicFramePr>
        <p:xfrm>
          <a:off x="360437" y="1367879"/>
          <a:ext cx="10768100" cy="1937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文档" r:id="rId4" imgW="3883577" imgH="698633" progId="Word.Document.12">
                  <p:embed/>
                </p:oleObj>
              </mc:Choice>
              <mc:Fallback>
                <p:oleObj name="文档" r:id="rId4" imgW="3883577" imgH="6986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67879"/>
                        <a:ext cx="10768100" cy="1937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72765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地区用户的满意度等级高于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地区用户的满意度等级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假设两地区用户的评价结果相互独立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根据所给数据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以事件发生的频率作为相应事件发生的概率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2361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15694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地区用户的满意度等级为满意或非常满意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地区用户的满意度等级为非常满意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地区用户的满意度等级为不满意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:“B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地区用户的满意度等级为满意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相互独立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互斥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C=C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672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95884"/>
              </p:ext>
            </p:extLst>
          </p:nvPr>
        </p:nvGraphicFramePr>
        <p:xfrm>
          <a:off x="360437" y="1799927"/>
          <a:ext cx="11671959" cy="2414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文档" r:id="rId4" imgW="3837724" imgH="793984" progId="Word.Document.12">
                  <p:embed/>
                </p:oleObj>
              </mc:Choice>
              <mc:Fallback>
                <p:oleObj name="文档" r:id="rId4" imgW="3837724" imgH="7939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799927"/>
                        <a:ext cx="11671959" cy="2414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10212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00695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专题四</a:t>
            </a:r>
            <a:r>
              <a:rPr lang="zh-CN" altLang="zh-CN" i="1" dirty="0"/>
              <a:t>　</a:t>
            </a:r>
            <a:r>
              <a:rPr lang="zh-CN" altLang="zh-CN" dirty="0"/>
              <a:t>用频率估计概率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72791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某射击运动员在相同条件下进行射击训练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结果如下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465248"/>
              </p:ext>
            </p:extLst>
          </p:nvPr>
        </p:nvGraphicFramePr>
        <p:xfrm>
          <a:off x="382988" y="3021306"/>
          <a:ext cx="10770091" cy="252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文档" r:id="rId4" imgW="3884295" imgH="909948" progId="Word.Document.12">
                  <p:embed/>
                </p:oleObj>
              </mc:Choice>
              <mc:Fallback>
                <p:oleObj name="文档" r:id="rId4" imgW="3884295" imgH="9099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2988" y="3021306"/>
                        <a:ext cx="10770091" cy="2523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41263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该射击运动员射击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击中靶心的概率大约是多少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假设该射击运动员射击了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则击中靶心的次数大约是多少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假如该射击运动员射击了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次都击中靶心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次一定都击不中靶心吗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假如该射击运动员射击了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次击中靶心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次一定击中靶心吗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弄清频率与概率的含义及它们之间的关系是解题的关键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1422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随着射击次数的增加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击中靶心的频率在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附近波动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故概率约为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击中靶心的次数大约为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270(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由概率的意义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可知概率是个常数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不因试验次数的变化而变化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每次击中靶心的概率仍是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所以不一定击不中靶心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354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727919"/>
            <a:ext cx="10807700" cy="2400024"/>
            <a:chOff x="361950" y="1556407"/>
            <a:chExt cx="10807700" cy="2400024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56407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14785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在任何确定次数的随机试验中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一个随机事件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发生的频率具有随机性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随着试验次数的增大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频率偏离概率的幅度会缩小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4254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994823"/>
            <a:ext cx="10807700" cy="4372824"/>
            <a:chOff x="361950" y="647799"/>
            <a:chExt cx="10807700" cy="437282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下表是某种油菜籽在相同条件下的发芽试验结果表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请完成表格并回答问题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6189608"/>
                </p:ext>
              </p:extLst>
            </p:nvPr>
          </p:nvGraphicFramePr>
          <p:xfrm>
            <a:off x="399559" y="1919996"/>
            <a:ext cx="10770091" cy="2472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7" name="文档" r:id="rId4" imgW="3884295" imgH="891620" progId="Word.Document.12">
                    <p:embed/>
                  </p:oleObj>
                </mc:Choice>
                <mc:Fallback>
                  <p:oleObj name="文档" r:id="rId4" imgW="3884295" imgH="89162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9559" y="1919996"/>
                          <a:ext cx="10770091" cy="247221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80298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完成上面表格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估计该油菜籽发芽的概率是多少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78129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7668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从左到右依次填入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857,0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892,0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897,0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898,0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897,0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由于随着每批粒数的增加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每批种子发芽的频率稳定在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897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附近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所以估计该油菜籽发芽的概率为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897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644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200624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专题五</a:t>
            </a:r>
            <a:r>
              <a:rPr lang="zh-CN" altLang="zh-CN" i="1" dirty="0"/>
              <a:t>　</a:t>
            </a:r>
            <a:r>
              <a:rPr lang="zh-CN" altLang="zh-CN" dirty="0"/>
              <a:t>概率与统计的综合应用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92070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某班同学利用国庆节假期进行社会实践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[25,55]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岁的人群随机抽取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人进行了一次生活习惯是否符合低碳观念的调查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若生活习惯符合低碳观念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低碳族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否则称为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非低碳族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得到下表和各年龄段人数的频率分布直方图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2760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686240"/>
              </p:ext>
            </p:extLst>
          </p:nvPr>
        </p:nvGraphicFramePr>
        <p:xfrm>
          <a:off x="-107209" y="1007839"/>
          <a:ext cx="11844910" cy="5352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文档" r:id="rId4" imgW="3883577" imgH="1754849" progId="Word.Document.12">
                  <p:embed/>
                </p:oleObj>
              </mc:Choice>
              <mc:Fallback>
                <p:oleObj name="文档" r:id="rId4" imgW="3883577" imgH="1754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07209" y="1007839"/>
                        <a:ext cx="11844910" cy="5352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15987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MG2TRA53.eps" descr="id:214750296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744813" y="670262"/>
            <a:ext cx="4248472" cy="2821214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342783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补全频率分布直方图并求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从年龄在区间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[40,50)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低碳族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中采用样本量按比例分配的分层随机抽样法抽取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人参加户外低碳体验活动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其中随机选取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人作为领队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求选取的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名领队中恰有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人的年龄在区间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[40,45)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759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61950" y="575791"/>
            <a:ext cx="16096033" cy="5760640"/>
            <a:chOff x="361950" y="575791"/>
            <a:chExt cx="16096033" cy="5760640"/>
          </a:xfrm>
        </p:grpSpPr>
        <p:grpSp>
          <p:nvGrpSpPr>
            <p:cNvPr id="5" name="组合 4"/>
            <p:cNvGrpSpPr/>
            <p:nvPr/>
          </p:nvGrpSpPr>
          <p:grpSpPr>
            <a:xfrm>
              <a:off x="361950" y="575791"/>
              <a:ext cx="16096033" cy="1278357"/>
              <a:chOff x="361950" y="647799"/>
              <a:chExt cx="16096033" cy="1278357"/>
            </a:xfrm>
          </p:grpSpPr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61950" y="647799"/>
                <a:ext cx="10807700" cy="121764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第二组的频率为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(0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01)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3,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所以第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个小矩形的高为</a:t>
                </a:r>
                <a:r>
                  <a:rPr lang="en-US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             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补全频率直方图如下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: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7" name="对象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32425650"/>
                  </p:ext>
                </p:extLst>
              </p:nvPr>
            </p:nvGraphicFramePr>
            <p:xfrm>
              <a:off x="4752925" y="1198121"/>
              <a:ext cx="11705058" cy="7280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51" name="文档" r:id="rId4" imgW="3837724" imgH="238700" progId="Word.Document.12">
                      <p:embed/>
                    </p:oleObj>
                  </mc:Choice>
                  <mc:Fallback>
                    <p:oleObj name="文档" r:id="rId4" imgW="3837724" imgH="238700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752925" y="1198121"/>
                            <a:ext cx="11705058" cy="72803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6343655"/>
                </p:ext>
              </p:extLst>
            </p:nvPr>
          </p:nvGraphicFramePr>
          <p:xfrm>
            <a:off x="387350" y="1851615"/>
            <a:ext cx="11704638" cy="3367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2" name="文档" r:id="rId7" imgW="3837724" imgH="1109847" progId="Word.Document.12">
                    <p:embed/>
                  </p:oleObj>
                </mc:Choice>
                <mc:Fallback>
                  <p:oleObj name="文档" r:id="rId7" imgW="3837724" imgH="11098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87350" y="1851615"/>
                          <a:ext cx="11704638" cy="33670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361950" y="511879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第四组的频率为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第四组的人数为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000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7" name="NMG2TRA54.eps" descr="id:2147503325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6985173" y="2545891"/>
            <a:ext cx="4320480" cy="27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947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03783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[40,45)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岁年龄段的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低碳族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[45,50)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岁年龄段的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低碳族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的人数比为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所以采用样本量按比例分配的分层随机抽样法抽取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[40,45)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岁中抽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[45,50)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岁中抽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[40,45)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岁中抽取的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a,b,c,d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[45,50)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岁中抽取的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则随机选取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人作为领队对应的样本空间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人的年龄在区间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[40,45)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个样本点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d,n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100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2390416"/>
            <a:ext cx="12217433" cy="1281719"/>
            <a:chOff x="361950" y="2169788"/>
            <a:chExt cx="12217433" cy="128171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169788"/>
              <a:ext cx="10807700" cy="1195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所以选取的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名领队中恰有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人的年龄在区间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[40,45)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内的概率为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5451574"/>
                </p:ext>
              </p:extLst>
            </p:nvPr>
          </p:nvGraphicFramePr>
          <p:xfrm>
            <a:off x="874325" y="2723472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9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74325" y="2723472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22846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073694"/>
            <a:ext cx="10807700" cy="4162953"/>
            <a:chOff x="361950" y="940139"/>
            <a:chExt cx="10807700" cy="4162953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21727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概率与统计的综合应用的关注点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概率与统计相结合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所涉及的统计知识是基础知识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所涉及的概率往往是古典概型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虽然是综合题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但是难度不大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在解决问题时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要求对图表进行观察、分析、提炼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挖掘出图表所给予的有用信息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排除有关数据的干扰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进而抓住问题的实质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达到求解的目的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249671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2977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为加强中学生实践、创新和团队建设能力的培养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促进教育教学改革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市教育局举办了全市中学生创新知识竞赛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某中学举行了选拔赛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名学生参加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为了解成绩情况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名学生的成绩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得分均为整数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满分为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进行统计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请你根据尚未完成的频率分布表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解答下列问题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2782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870830"/>
              </p:ext>
            </p:extLst>
          </p:nvPr>
        </p:nvGraphicFramePr>
        <p:xfrm>
          <a:off x="-71611" y="1300762"/>
          <a:ext cx="11844910" cy="55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文档" r:id="rId4" imgW="3894589" imgH="1822342" progId="Word.Document.12">
                  <p:embed/>
                </p:oleObj>
              </mc:Choice>
              <mc:Fallback>
                <p:oleObj name="文档" r:id="rId4" imgW="3894589" imgH="18223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1611" y="1300762"/>
                        <a:ext cx="11844910" cy="55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完成频率分布表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直接写出结果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并画出频率分布直方图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8306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63267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若成绩在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90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分以上的学生获一等奖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试估计全校获一等奖的人数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现在从全校所有获一等奖的同学中随机抽取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名同学代表学校参加竞赛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某班共有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名同学荣获一等奖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求该班同学恰有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人参加竞赛的概率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76271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5054589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完成频率分布表如下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473867"/>
              </p:ext>
            </p:extLst>
          </p:nvPr>
        </p:nvGraphicFramePr>
        <p:xfrm>
          <a:off x="-215627" y="1561272"/>
          <a:ext cx="11844910" cy="441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文档" r:id="rId4" imgW="3894589" imgH="1452393" progId="Word.Document.12">
                  <p:embed/>
                </p:oleObj>
              </mc:Choice>
              <mc:Fallback>
                <p:oleObj name="文档" r:id="rId4" imgW="3894589" imgH="14523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215627" y="1561272"/>
                        <a:ext cx="11844910" cy="4415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49443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9639"/>
            <a:ext cx="402866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频率分布直方图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NMG2TRA55.eps" descr="id:21475029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96741" y="1377201"/>
            <a:ext cx="5112568" cy="477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549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47529"/>
            <a:ext cx="16917542" cy="5973558"/>
            <a:chOff x="361950" y="547529"/>
            <a:chExt cx="16917542" cy="597355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47529"/>
              <a:ext cx="10807700" cy="59735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在样本中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获一等奖的人数所占的比例为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04,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所以估计全校获一等奖的人数所占的比例为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04,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所以估计全校获一等奖的人数为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记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,B,C,D,E,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为该班获一等奖的同学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从全校所有获一等奖的同学中随机抽取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名同学代表学校参加竞赛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,D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,D),(A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,E),(B,C),(B,D),(B,E),(C,D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C,E),(D,E)},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该班同学中恰有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人参加竞赛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,D),(A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,B),(A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,C),(A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,D),(A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,E).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所以该班同学中恰有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人参加竞赛的概率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667469"/>
                </p:ext>
              </p:extLst>
            </p:nvPr>
          </p:nvGraphicFramePr>
          <p:xfrm>
            <a:off x="7633245" y="5811717"/>
            <a:ext cx="9646247" cy="658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0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633245" y="5811717"/>
                          <a:ext cx="9646247" cy="6585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923155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92599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考点一</a:t>
            </a:r>
            <a:r>
              <a:rPr lang="zh-CN" altLang="zh-CN" i="1" dirty="0"/>
              <a:t>　</a:t>
            </a:r>
            <a:r>
              <a:rPr lang="zh-CN" altLang="zh-CN" dirty="0"/>
              <a:t>概率的运算及性质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593735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(2020·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山东高考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某中学的学生积极参加体育锻炼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96%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的学生喜欢足球或游泳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,60%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的学生喜欢足球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,82%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的学生喜欢游泳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则该中学既喜欢足球又喜欢游泳的学生数占该校学生总数的比例是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A.62%	B.56%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C.46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%	D.42%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886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设既喜欢足球又喜欢游泳的学生比例数为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,82%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96%,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46%,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0ASD07.eps" descr="id:214750336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24733" y="2027763"/>
            <a:ext cx="5616624" cy="28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43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8922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(2019·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江苏高考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名男同学和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名女同学中任选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名同学参加志愿者服务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则选出的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名同学中至少有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名女同学的概率是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473247"/>
            <a:ext cx="14065743" cy="3086388"/>
            <a:chOff x="361950" y="2431822"/>
            <a:chExt cx="14065743" cy="308638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431822"/>
              <a:ext cx="10807700" cy="296850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已知男女同学共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名学生中任选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种选法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若选出的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人中恰有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名女生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种选法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若选出的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人都是女生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种选法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所以所求的概率为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7686066"/>
                </p:ext>
              </p:extLst>
            </p:nvPr>
          </p:nvGraphicFramePr>
          <p:xfrm>
            <a:off x="3816821" y="4793783"/>
            <a:ext cx="10610872" cy="724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6" name="文档" r:id="rId4" imgW="3826872" imgH="261269" progId="Word.Document.12">
                    <p:embed/>
                  </p:oleObj>
                </mc:Choice>
                <mc:Fallback>
                  <p:oleObj name="文档" r:id="rId4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16821" y="4793783"/>
                          <a:ext cx="10610872" cy="7244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53193"/>
              </p:ext>
            </p:extLst>
          </p:nvPr>
        </p:nvGraphicFramePr>
        <p:xfrm>
          <a:off x="432445" y="5493440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文档" r:id="rId7" imgW="3826872" imgH="263066" progId="Word.Document.12">
                  <p:embed/>
                </p:oleObj>
              </mc:Choice>
              <mc:Fallback>
                <p:oleObj name="文档" r:id="rId7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5493440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238210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9060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考点二</a:t>
            </a:r>
            <a:r>
              <a:rPr lang="zh-CN" altLang="zh-CN" i="1" dirty="0"/>
              <a:t>　</a:t>
            </a:r>
            <a:r>
              <a:rPr lang="zh-CN" altLang="zh-CN" dirty="0"/>
              <a:t>古典概型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1574071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(2021·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随机排成一行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不相邻的概率为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339459"/>
              </p:ext>
            </p:extLst>
          </p:nvPr>
        </p:nvGraphicFramePr>
        <p:xfrm>
          <a:off x="425782" y="2837467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文档" r:id="rId4" imgW="3826872" imgH="237909" progId="Word.Document.12">
                  <p:embed/>
                </p:oleObj>
              </mc:Choice>
              <mc:Fallback>
                <p:oleObj name="文档" r:id="rId4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2837467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651164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随机排成一行的总的排法为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不相邻的排法为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不相邻的概率为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817739"/>
              </p:ext>
            </p:extLst>
          </p:nvPr>
        </p:nvGraphicFramePr>
        <p:xfrm>
          <a:off x="9361437" y="4160817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文档" r:id="rId7" imgW="3826872" imgH="237909" progId="Word.Document.12">
                  <p:embed/>
                </p:oleObj>
              </mc:Choice>
              <mc:Fallback>
                <p:oleObj name="文档" r:id="rId7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61437" y="4160817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spect="1"/>
          </p:cNvSpPr>
          <p:nvPr/>
        </p:nvSpPr>
        <p:spPr>
          <a:xfrm>
            <a:off x="361950" y="4984674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835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2958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2020·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全国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为正方形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中任取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则取到的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点共线的概率为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66309"/>
              </p:ext>
            </p:extLst>
          </p:nvPr>
        </p:nvGraphicFramePr>
        <p:xfrm>
          <a:off x="442277" y="2544732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" name="文档" r:id="rId4" imgW="3837724" imgH="238700" progId="Word.Document.12">
                  <p:embed/>
                </p:oleObj>
              </mc:Choice>
              <mc:Fallback>
                <p:oleObj name="文档" r:id="rId4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2544732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361950" y="3359451"/>
            <a:ext cx="12423625" cy="1258620"/>
            <a:chOff x="361950" y="3606622"/>
            <a:chExt cx="12423625" cy="1258620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60662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由题意知一共有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种取法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时符合要求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endParaRPr lang="zh-CN" altLang="en-US" dirty="0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8058738"/>
                </p:ext>
              </p:extLst>
            </p:nvPr>
          </p:nvGraphicFramePr>
          <p:xfrm>
            <a:off x="1080517" y="4137207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89" name="文档" r:id="rId7" imgW="3837724" imgH="238700" progId="Word.Document.12">
                    <p:embed/>
                  </p:oleObj>
                </mc:Choice>
                <mc:Fallback>
                  <p:oleObj name="文档" r:id="rId7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80517" y="4137207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>
            <a:spLocks noChangeAspect="1"/>
          </p:cNvSpPr>
          <p:nvPr/>
        </p:nvSpPr>
        <p:spPr>
          <a:xfrm>
            <a:off x="361950" y="471706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11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556928"/>
            <a:ext cx="11807799" cy="2589767"/>
            <a:chOff x="361950" y="1556928"/>
            <a:chExt cx="11807799" cy="258976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56928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2019·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全国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Ⅱ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高考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生物实验室有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只兔子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其中只有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只测量过某项指标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若从这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只兔子中随机取出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只测量过该指标的概率为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9720107"/>
                </p:ext>
              </p:extLst>
            </p:nvPr>
          </p:nvGraphicFramePr>
          <p:xfrm>
            <a:off x="464691" y="3418660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1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4691" y="3418660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853422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2193286" y="1037034"/>
            <a:ext cx="13362936" cy="3581365"/>
            <a:chOff x="-2193286" y="1026874"/>
            <a:chExt cx="13362936" cy="3581365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026874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设测量过该指标的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只兔子为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剩余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则从这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只兔子中任取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只的所有取法有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a,b,B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b,A,B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其中恰有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只测量过该指标的取法有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a,c,A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a,c,B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b,c,A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b,c,B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所以恰有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只测量过该指标的概率为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4797897"/>
                </p:ext>
              </p:extLst>
            </p:nvPr>
          </p:nvGraphicFramePr>
          <p:xfrm>
            <a:off x="-2193286" y="3921763"/>
            <a:ext cx="7972105" cy="6528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1" name="文档" r:id="rId4" imgW="3826872" imgH="313379" progId="Word.Document.12">
                    <p:embed/>
                  </p:oleObj>
                </mc:Choice>
                <mc:Fallback>
                  <p:oleObj name="文档" r:id="rId4" imgW="3826872" imgH="3133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193286" y="3921763"/>
                          <a:ext cx="7972105" cy="6528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>
            <a:spLocks noChangeAspect="1"/>
          </p:cNvSpPr>
          <p:nvPr/>
        </p:nvSpPr>
        <p:spPr>
          <a:xfrm>
            <a:off x="423043" y="472722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61147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86382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考点三</a:t>
            </a:r>
            <a:r>
              <a:rPr lang="zh-CN" altLang="zh-CN" i="1" dirty="0"/>
              <a:t>　</a:t>
            </a:r>
            <a:r>
              <a:rPr lang="zh-CN" altLang="zh-CN" dirty="0"/>
              <a:t>独立事件的概率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494023"/>
            <a:ext cx="10807700" cy="41899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(2021·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全国新高考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个相同的球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分别标有数字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1,2,3,4,5,6,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从中有放回的随机取两次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每次取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甲表示事件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第一次取出的球的数字是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乙表示事件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第二次取出的球的数字是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丙表示事件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两次取出的球的数字之和是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丁表示事件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两次取出的球的数字之和是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7”,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甲与丙相互独立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甲与丁相互独立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乙与丙相互独立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丙与丁相互独立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199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436746"/>
              </p:ext>
            </p:extLst>
          </p:nvPr>
        </p:nvGraphicFramePr>
        <p:xfrm>
          <a:off x="432445" y="1151855"/>
          <a:ext cx="11671959" cy="3437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文档" r:id="rId4" imgW="3826872" imgH="1127013" progId="Word.Document.12">
                  <p:embed/>
                </p:oleObj>
              </mc:Choice>
              <mc:Fallback>
                <p:oleObj name="文档" r:id="rId4" imgW="3826872" imgH="11270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51855"/>
                        <a:ext cx="11671959" cy="3437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603780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827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08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(2023·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天津高考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甲、乙、丙三个盒子中装有一定数量的黑球和白球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其总数之比为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i="1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i="1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这三个盒子中黑球占总数的比例分别为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40%,25%,50%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现从三个盒子中各取一个球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取到的三个球都是黑球的概率为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将三个盒子中的球混合后任取一个球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是白球的概率为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5977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0211"/>
              </p:ext>
            </p:extLst>
          </p:nvPr>
        </p:nvGraphicFramePr>
        <p:xfrm>
          <a:off x="432445" y="618303"/>
          <a:ext cx="10610872" cy="5105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文档" r:id="rId4" imgW="3826872" imgH="1841459" progId="Word.Document.12">
                  <p:embed/>
                </p:oleObj>
              </mc:Choice>
              <mc:Fallback>
                <p:oleObj name="文档" r:id="rId4" imgW="3826872" imgH="18414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18303"/>
                        <a:ext cx="10610872" cy="5105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244807"/>
              </p:ext>
            </p:extLst>
          </p:nvPr>
        </p:nvGraphicFramePr>
        <p:xfrm>
          <a:off x="432445" y="5712311"/>
          <a:ext cx="10610872" cy="659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文档" r:id="rId7" imgW="3826872" imgH="237909" progId="Word.Document.12">
                  <p:embed/>
                </p:oleObj>
              </mc:Choice>
              <mc:Fallback>
                <p:oleObj name="文档" r:id="rId7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5712311"/>
                        <a:ext cx="10610872" cy="659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23586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0311"/>
            <a:ext cx="108077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(2023·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全国新高考</a:t>
            </a:r>
            <a:r>
              <a:rPr lang="zh-CN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Ⅱ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卷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在信道内传输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信号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信号的传输相互独立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考虑两种传输方案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单次传输和三次传输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单次传输是指每个信号只发送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三次传输是指每个信号重复发送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收到的信号需要译码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译码规则如下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单次传输时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收到的信号即为译码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三次传输时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收到的信号中出现次数多的即为译码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例如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若依次收到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则译码为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则下列说法正确的是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采用单次传输方案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若依次发送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则依次收到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)(1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采用三次传输方案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则依次收到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采用三次传输方案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则译码为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若发送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则采用三次传输方案译码为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的概率大于采用单次传输方案译码为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的概率</a:t>
            </a:r>
            <a:endParaRPr lang="zh-CN" altLang="zh-CN" sz="2800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6697141" y="5814171"/>
            <a:ext cx="1784463" cy="575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endParaRPr lang="zh-CN" altLang="zh-CN" sz="2800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3658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828209"/>
                <a:ext cx="10807700" cy="527253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发送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收到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;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发送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收到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再结合独立性可知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若依次发送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1,0,1,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则依次收到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1,0,1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采用三次传输方案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若发送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实际发送了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1,1,1,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因此依次收到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1,0,1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采用三次传输方案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若发送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译码为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的充要条件是至少接收到两个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因此译码为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不正确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若发送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采用三次传输方案译码为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 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)[1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)],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采用单次传输方案译码为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的概率为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正确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故选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ABD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828209"/>
                <a:ext cx="10807700" cy="5272534"/>
              </a:xfrm>
              <a:prstGeom prst="rect">
                <a:avLst/>
              </a:prstGeom>
              <a:blipFill rotWithShape="0">
                <a:blip r:embed="rId2"/>
                <a:stretch>
                  <a:fillRect l="-1128" t="-925" b="-1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2622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503783"/>
            <a:ext cx="12639649" cy="5973558"/>
            <a:chOff x="361950" y="503783"/>
            <a:chExt cx="12639649" cy="597355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03783"/>
              <a:ext cx="10807700" cy="59735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2020·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全国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Ⅰ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高考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甲、乙、丙三位同学进行羽毛球比赛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约定赛制如下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累计负两场者被淘汰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比赛前抽签决定首先比赛的两人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另一人轮空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每场比赛的胜者与轮空者进行下一场比赛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负者下一场轮空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直至有一人被淘汰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当一人被淘汰后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剩余的两人继续比赛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直至其中一人被淘汰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另一人最终获胜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比赛结束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经抽签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甲、乙首先比赛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丙轮空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设每场比赛双方获胜的概率都为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求甲连胜四场的概率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求需要进行第五场比赛的概率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求丙最终获胜的概率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415852"/>
                </p:ext>
              </p:extLst>
            </p:nvPr>
          </p:nvGraphicFramePr>
          <p:xfrm>
            <a:off x="1296541" y="4144823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14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96541" y="4144823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439055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110238"/>
              </p:ext>
            </p:extLst>
          </p:nvPr>
        </p:nvGraphicFramePr>
        <p:xfrm>
          <a:off x="432445" y="863823"/>
          <a:ext cx="11705058" cy="469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文档" r:id="rId4" imgW="3837724" imgH="1540012" progId="Word.Document.12">
                  <p:embed/>
                </p:oleObj>
              </mc:Choice>
              <mc:Fallback>
                <p:oleObj name="文档" r:id="rId4" imgW="3837724" imgH="15400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3823"/>
                        <a:ext cx="11705058" cy="4697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1252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094714"/>
              </p:ext>
            </p:extLst>
          </p:nvPr>
        </p:nvGraphicFramePr>
        <p:xfrm>
          <a:off x="288429" y="1223863"/>
          <a:ext cx="11705058" cy="3768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2" name="文档" r:id="rId4" imgW="3837724" imgH="1235688" progId="Word.Document.12">
                  <p:embed/>
                </p:oleObj>
              </mc:Choice>
              <mc:Fallback>
                <p:oleObj name="文档" r:id="rId4" imgW="3837724" imgH="12356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223863"/>
                        <a:ext cx="11705058" cy="3768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13217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考点四</a:t>
            </a:r>
            <a:r>
              <a:rPr lang="zh-CN" altLang="zh-CN" i="1" dirty="0"/>
              <a:t>　</a:t>
            </a:r>
            <a:r>
              <a:rPr lang="zh-CN" altLang="zh-CN" dirty="0"/>
              <a:t>频率估计概率与概率的意义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107209" y="1437086"/>
            <a:ext cx="11844910" cy="4539305"/>
            <a:chOff x="-107209" y="1348215"/>
            <a:chExt cx="11844910" cy="4539305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348215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2019·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全国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Ⅰ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高考节选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某商场为提高服务质量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随机调查了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名男顾客和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名女顾客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每位顾客对该商场的服务给出满意或不满意的评价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得到下面列联表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012885"/>
                </p:ext>
              </p:extLst>
            </p:nvPr>
          </p:nvGraphicFramePr>
          <p:xfrm>
            <a:off x="-107209" y="3168079"/>
            <a:ext cx="11844910" cy="2719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06" name="文档" r:id="rId4" imgW="3894589" imgH="893503" progId="Word.Document.12">
                    <p:embed/>
                  </p:oleObj>
                </mc:Choice>
                <mc:Fallback>
                  <p:oleObj name="文档" r:id="rId4" imgW="3894589" imgH="8935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07209" y="3168079"/>
                          <a:ext cx="11844910" cy="27194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5256311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分别估计男、女顾客对该商场服务满意的概率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5993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63735"/>
              </p:ext>
            </p:extLst>
          </p:nvPr>
        </p:nvGraphicFramePr>
        <p:xfrm>
          <a:off x="288429" y="1727919"/>
          <a:ext cx="11671959" cy="2820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文档" r:id="rId4" imgW="3826872" imgH="924683" progId="Word.Document.12">
                  <p:embed/>
                </p:oleObj>
              </mc:Choice>
              <mc:Fallback>
                <p:oleObj name="文档" r:id="rId4" imgW="3826872" imgH="9246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727919"/>
                        <a:ext cx="11671959" cy="2820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033647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122</TotalTime>
  <Words>4304</Words>
  <Application>Microsoft Office PowerPoint</Application>
  <PresentationFormat>自定义</PresentationFormat>
  <Paragraphs>213</Paragraphs>
  <Slides>76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91" baseType="lpstr">
      <vt:lpstr>NEU-BZ-S92</vt:lpstr>
      <vt:lpstr>方正书宋_GBK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33</cp:revision>
  <dcterms:created xsi:type="dcterms:W3CDTF">2020-09-12T05:36:12Z</dcterms:created>
  <dcterms:modified xsi:type="dcterms:W3CDTF">2025-09-04T07:32:29Z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