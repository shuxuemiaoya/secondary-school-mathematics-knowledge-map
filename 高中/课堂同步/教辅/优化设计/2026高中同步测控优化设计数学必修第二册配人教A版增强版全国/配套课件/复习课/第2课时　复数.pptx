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731" r:id="rId2"/>
    <p:sldId id="753" r:id="rId3"/>
    <p:sldId id="744" r:id="rId4"/>
    <p:sldId id="737" r:id="rId5"/>
    <p:sldId id="750" r:id="rId6"/>
    <p:sldId id="754" r:id="rId7"/>
    <p:sldId id="757" r:id="rId8"/>
    <p:sldId id="756" r:id="rId9"/>
    <p:sldId id="758" r:id="rId10"/>
    <p:sldId id="759" r:id="rId11"/>
    <p:sldId id="760" r:id="rId12"/>
    <p:sldId id="761" r:id="rId13"/>
    <p:sldId id="747" r:id="rId14"/>
    <p:sldId id="751" r:id="rId15"/>
    <p:sldId id="763" r:id="rId16"/>
    <p:sldId id="764" r:id="rId17"/>
    <p:sldId id="765" r:id="rId18"/>
    <p:sldId id="766" r:id="rId19"/>
    <p:sldId id="762" r:id="rId20"/>
    <p:sldId id="768" r:id="rId21"/>
    <p:sldId id="769" r:id="rId22"/>
    <p:sldId id="770" r:id="rId23"/>
    <p:sldId id="771" r:id="rId24"/>
    <p:sldId id="767" r:id="rId25"/>
    <p:sldId id="773" r:id="rId26"/>
    <p:sldId id="774" r:id="rId27"/>
    <p:sldId id="775" r:id="rId28"/>
    <p:sldId id="776" r:id="rId29"/>
    <p:sldId id="777" r:id="rId30"/>
    <p:sldId id="772" r:id="rId31"/>
    <p:sldId id="778" r:id="rId32"/>
    <p:sldId id="779" r:id="rId33"/>
    <p:sldId id="780" r:id="rId34"/>
    <p:sldId id="755" r:id="rId35"/>
    <p:sldId id="789" r:id="rId36"/>
    <p:sldId id="788" r:id="rId37"/>
    <p:sldId id="790" r:id="rId38"/>
    <p:sldId id="781" r:id="rId39"/>
    <p:sldId id="786" r:id="rId40"/>
    <p:sldId id="787" r:id="rId41"/>
    <p:sldId id="735" r:id="rId42"/>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180"/>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image" Target="../media/image24.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image" Target="../media/image43.emf"/><Relationship Id="rId4"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41</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4.xml"/><Relationship Id="rId1" Type="http://schemas.openxmlformats.org/officeDocument/2006/relationships/slideLayout" Target="../slideLayouts/slideLayout3.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7.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2.bin"/><Relationship Id="rId7" Type="http://schemas.openxmlformats.org/officeDocument/2006/relationships/package" Target="../embeddings/Microsoft_Word___3.docx"/><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package" Target="../embeddings/Microsoft_Word___6.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7.docx"/></Relationships>
</file>

<file path=ppt/slides/_rels/slide1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12.png"/><Relationship Id="rId7" Type="http://schemas.openxmlformats.org/officeDocument/2006/relationships/package" Target="../embeddings/Microsoft_Word___80.docx"/><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11.emf"/><Relationship Id="rId5" Type="http://schemas.openxmlformats.org/officeDocument/2006/relationships/package" Target="../embeddings/Microsoft_Word___8.docx"/><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1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5.emf"/><Relationship Id="rId4" Type="http://schemas.openxmlformats.org/officeDocument/2006/relationships/package" Target="../embeddings/Microsoft_Word___11.docx"/></Relationships>
</file>

<file path=ppt/slides/_rels/slide19.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2.bin"/><Relationship Id="rId7" Type="http://schemas.openxmlformats.org/officeDocument/2006/relationships/package" Target="../embeddings/Microsoft_Word___13.docx"/><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oleObject" Target="../embeddings/oleObject13.bin"/><Relationship Id="rId5" Type="http://schemas.openxmlformats.org/officeDocument/2006/relationships/image" Target="../media/image16.emf"/><Relationship Id="rId4" Type="http://schemas.openxmlformats.org/officeDocument/2006/relationships/package" Target="../embeddings/Microsoft_Word___12.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18.emf"/><Relationship Id="rId4" Type="http://schemas.openxmlformats.org/officeDocument/2006/relationships/package" Target="../embeddings/Microsoft_Word___14.docx"/></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19.emf"/><Relationship Id="rId4" Type="http://schemas.openxmlformats.org/officeDocument/2006/relationships/package" Target="../embeddings/Microsoft_Word___15.docx"/></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1.emf"/><Relationship Id="rId4" Type="http://schemas.openxmlformats.org/officeDocument/2006/relationships/package" Target="../embeddings/Microsoft_Word___17.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image" Target="../media/image23.jpeg"/><Relationship Id="rId5" Type="http://schemas.openxmlformats.org/officeDocument/2006/relationships/image" Target="../media/image22.emf"/><Relationship Id="rId4" Type="http://schemas.openxmlformats.org/officeDocument/2006/relationships/package" Target="../embeddings/Microsoft_Word___18.docx"/></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19.bin"/><Relationship Id="rId7" Type="http://schemas.openxmlformats.org/officeDocument/2006/relationships/package" Target="../embeddings/Microsoft_Word___20.docx"/><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20.bin"/><Relationship Id="rId5" Type="http://schemas.openxmlformats.org/officeDocument/2006/relationships/image" Target="../media/image24.emf"/><Relationship Id="rId4" Type="http://schemas.openxmlformats.org/officeDocument/2006/relationships/package" Target="../embeddings/Microsoft_Word___19.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1.bin"/><Relationship Id="rId7" Type="http://schemas.openxmlformats.org/officeDocument/2006/relationships/package" Target="../embeddings/Microsoft_Word___22.docx"/><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22.bin"/><Relationship Id="rId5" Type="http://schemas.openxmlformats.org/officeDocument/2006/relationships/image" Target="../media/image26.emf"/><Relationship Id="rId4" Type="http://schemas.openxmlformats.org/officeDocument/2006/relationships/package" Target="../embeddings/Microsoft_Word___21.docx"/><Relationship Id="rId9" Type="http://schemas.openxmlformats.org/officeDocument/2006/relationships/image" Target="../media/image28.jpe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image" Target="../media/image29.emf"/><Relationship Id="rId4" Type="http://schemas.openxmlformats.org/officeDocument/2006/relationships/package" Target="../embeddings/Microsoft_Word___23.docx"/></Relationships>
</file>

<file path=ppt/slides/_rels/slide31.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24.bin"/><Relationship Id="rId7" Type="http://schemas.openxmlformats.org/officeDocument/2006/relationships/package" Target="../embeddings/Microsoft_Word___25.docx"/><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oleObject" Target="../embeddings/oleObject25.bin"/><Relationship Id="rId5" Type="http://schemas.openxmlformats.org/officeDocument/2006/relationships/image" Target="../media/image30.emf"/><Relationship Id="rId4" Type="http://schemas.openxmlformats.org/officeDocument/2006/relationships/package" Target="../embeddings/Microsoft_Word___24.docx"/></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26.bin"/><Relationship Id="rId7" Type="http://schemas.openxmlformats.org/officeDocument/2006/relationships/package" Target="../embeddings/Microsoft_Word___27.docx"/><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oleObject" Target="../embeddings/oleObject27.bin"/><Relationship Id="rId11" Type="http://schemas.openxmlformats.org/officeDocument/2006/relationships/image" Target="../media/image34.emf"/><Relationship Id="rId5" Type="http://schemas.openxmlformats.org/officeDocument/2006/relationships/image" Target="../media/image32.emf"/><Relationship Id="rId10" Type="http://schemas.openxmlformats.org/officeDocument/2006/relationships/package" Target="../embeddings/Microsoft_Word___28.docx"/><Relationship Id="rId4" Type="http://schemas.openxmlformats.org/officeDocument/2006/relationships/package" Target="../embeddings/Microsoft_Word___26.docx"/><Relationship Id="rId9" Type="http://schemas.openxmlformats.org/officeDocument/2006/relationships/oleObject" Target="../embeddings/oleObject28.bin"/></Relationships>
</file>

<file path=ppt/slides/_rels/slide3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29.bin"/><Relationship Id="rId7" Type="http://schemas.openxmlformats.org/officeDocument/2006/relationships/package" Target="../embeddings/Microsoft_Word___30.docx"/><Relationship Id="rId2" Type="http://schemas.openxmlformats.org/officeDocument/2006/relationships/slideLayout" Target="../slideLayouts/slideLayout4.xml"/><Relationship Id="rId1" Type="http://schemas.openxmlformats.org/officeDocument/2006/relationships/vmlDrawing" Target="../drawings/vmlDrawing22.vml"/><Relationship Id="rId6" Type="http://schemas.openxmlformats.org/officeDocument/2006/relationships/oleObject" Target="../embeddings/oleObject30.bin"/><Relationship Id="rId5" Type="http://schemas.openxmlformats.org/officeDocument/2006/relationships/image" Target="../media/image35.emf"/><Relationship Id="rId4" Type="http://schemas.openxmlformats.org/officeDocument/2006/relationships/package" Target="../embeddings/Microsoft_Word___29.docx"/></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31.docx"/><Relationship Id="rId7" Type="http://schemas.openxmlformats.org/officeDocument/2006/relationships/image" Target="../media/image38.emf"/><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package" Target="../embeddings/Microsoft_Word___32.docx"/><Relationship Id="rId5" Type="http://schemas.openxmlformats.org/officeDocument/2006/relationships/oleObject" Target="../embeddings/oleObject31.bin"/><Relationship Id="rId4" Type="http://schemas.openxmlformats.org/officeDocument/2006/relationships/image" Target="../media/image37.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33.docx"/><Relationship Id="rId7" Type="http://schemas.openxmlformats.org/officeDocument/2006/relationships/image" Target="../media/image40.emf"/><Relationship Id="rId2" Type="http://schemas.openxmlformats.org/officeDocument/2006/relationships/slideLayout" Target="../slideLayouts/slideLayout4.xml"/><Relationship Id="rId1" Type="http://schemas.openxmlformats.org/officeDocument/2006/relationships/vmlDrawing" Target="../drawings/vmlDrawing24.vml"/><Relationship Id="rId6" Type="http://schemas.openxmlformats.org/officeDocument/2006/relationships/package" Target="../embeddings/Microsoft_Word___34.docx"/><Relationship Id="rId5" Type="http://schemas.openxmlformats.org/officeDocument/2006/relationships/oleObject" Target="../embeddings/oleObject32.bin"/><Relationship Id="rId4" Type="http://schemas.openxmlformats.org/officeDocument/2006/relationships/image" Target="../media/image39.emf"/></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25.vml"/><Relationship Id="rId5" Type="http://schemas.openxmlformats.org/officeDocument/2006/relationships/image" Target="../media/image42.emf"/><Relationship Id="rId4" Type="http://schemas.openxmlformats.org/officeDocument/2006/relationships/package" Target="../embeddings/Microsoft_Word___35.docx"/></Relationships>
</file>

<file path=ppt/slides/_rels/slide40.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package" Target="../embeddings/Microsoft_Word___39.docx"/><Relationship Id="rId3" Type="http://schemas.openxmlformats.org/officeDocument/2006/relationships/oleObject" Target="../embeddings/oleObject34.bin"/><Relationship Id="rId7" Type="http://schemas.openxmlformats.org/officeDocument/2006/relationships/package" Target="../embeddings/Microsoft_Word___37.docx"/><Relationship Id="rId12" Type="http://schemas.openxmlformats.org/officeDocument/2006/relationships/oleObject" Target="../embeddings/oleObject37.bin"/><Relationship Id="rId2" Type="http://schemas.openxmlformats.org/officeDocument/2006/relationships/slideLayout" Target="../slideLayouts/slideLayout4.xml"/><Relationship Id="rId1" Type="http://schemas.openxmlformats.org/officeDocument/2006/relationships/vmlDrawing" Target="../drawings/vmlDrawing26.vml"/><Relationship Id="rId6" Type="http://schemas.openxmlformats.org/officeDocument/2006/relationships/oleObject" Target="../embeddings/oleObject35.bin"/><Relationship Id="rId11" Type="http://schemas.openxmlformats.org/officeDocument/2006/relationships/image" Target="../media/image45.emf"/><Relationship Id="rId5" Type="http://schemas.openxmlformats.org/officeDocument/2006/relationships/image" Target="../media/image43.emf"/><Relationship Id="rId10" Type="http://schemas.openxmlformats.org/officeDocument/2006/relationships/package" Target="../embeddings/Microsoft_Word___38.docx"/><Relationship Id="rId4" Type="http://schemas.openxmlformats.org/officeDocument/2006/relationships/package" Target="../embeddings/Microsoft_Word___36.docx"/><Relationship Id="rId9" Type="http://schemas.openxmlformats.org/officeDocument/2006/relationships/oleObject" Target="../embeddings/oleObject36.bin"/><Relationship Id="rId14" Type="http://schemas.openxmlformats.org/officeDocument/2006/relationships/image" Target="../media/image46.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61950" y="2447999"/>
            <a:ext cx="10807700" cy="1094339"/>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第</a:t>
            </a:r>
            <a:r>
              <a:rPr lang="en-US" altLang="zh-CN" sz="6000" dirty="0">
                <a:solidFill>
                  <a:srgbClr val="002060"/>
                </a:solidFill>
                <a:ea typeface="宋体" panose="02010600030101010101" pitchFamily="2" charset="-122"/>
                <a:cs typeface="Times New Roman" panose="02020603050405020304" pitchFamily="18" charset="0"/>
              </a:rPr>
              <a:t>2</a:t>
            </a:r>
            <a:r>
              <a:rPr lang="zh-CN" altLang="zh-CN" sz="6000" dirty="0">
                <a:solidFill>
                  <a:srgbClr val="002060"/>
                </a:solidFill>
                <a:latin typeface="Arial" panose="020B0604020202020204" pitchFamily="34" charset="0"/>
                <a:cs typeface="Times New Roman" panose="02020603050405020304" pitchFamily="18" charset="0"/>
              </a:rPr>
              <a:t>课时</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复数</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图文框 3">
            <a:hlinkClick r:id="rId2" action="ppaction://hlinksldjump">
              <a:snd r:embed="rId3" name="chimes.wav"/>
            </a:hlinkClick>
          </p:cNvPr>
          <p:cNvSpPr/>
          <p:nvPr/>
        </p:nvSpPr>
        <p:spPr>
          <a:xfrm>
            <a:off x="1728589" y="143988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知识梳理</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构建体系</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7" name="图文框 6">
            <a:hlinkClick r:id="rId4" action="ppaction://hlinksldjump">
              <a:snd r:embed="rId3" name="chimes.wav"/>
            </a:hlinkClick>
          </p:cNvPr>
          <p:cNvSpPr/>
          <p:nvPr/>
        </p:nvSpPr>
        <p:spPr>
          <a:xfrm>
            <a:off x="1728589" y="324008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专题归纳</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en-US" sz="4400" dirty="0" smtClean="0">
                <a:solidFill>
                  <a:srgbClr val="0070C0"/>
                </a:solidFill>
                <a:latin typeface="华文新魏" panose="02010800040101010101" pitchFamily="2" charset="-122"/>
                <a:ea typeface="华文新魏" panose="02010800040101010101" pitchFamily="2" charset="-122"/>
              </a:rPr>
              <a:t>核心突破</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00783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en-US" sz="6600" dirty="0" smtClean="0">
                <a:solidFill>
                  <a:srgbClr val="0070C0"/>
                </a:solidFill>
                <a:latin typeface="华文新魏" panose="02010800040101010101" pitchFamily="2" charset="-122"/>
                <a:ea typeface="华文新魏" panose="02010800040101010101" pitchFamily="2" charset="-122"/>
              </a:rPr>
              <a:t>知识梳理</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构建体系</a:t>
            </a:r>
            <a:endParaRPr lang="zh-CN" altLang="zh-CN" sz="6600" dirty="0">
              <a:solidFill>
                <a:srgbClr val="0070C0"/>
              </a:solidFill>
              <a:latin typeface="华文新魏" panose="02010800040101010101" pitchFamily="2" charset="-122"/>
              <a:ea typeface="华文新魏" panose="02010800040101010101" pitchFamily="2" charset="-122"/>
            </a:endParaRPr>
          </a:p>
        </p:txBody>
      </p:sp>
      <p:sp>
        <p:nvSpPr>
          <p:cNvPr id="3" name="圆角矩形 2">
            <a:hlinkClick r:id="rId2" action="ppaction://hlinksldjump"/>
          </p:cNvPr>
          <p:cNvSpPr/>
          <p:nvPr/>
        </p:nvSpPr>
        <p:spPr>
          <a:xfrm>
            <a:off x="259268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知识网络</a:t>
            </a:r>
            <a:endParaRPr lang="zh-CN" altLang="en-US" sz="2400" dirty="0"/>
          </a:p>
        </p:txBody>
      </p:sp>
      <p:sp>
        <p:nvSpPr>
          <p:cNvPr id="4" name="圆角矩形 3">
            <a:hlinkClick r:id="rId3" action="ppaction://hlinksldjump"/>
          </p:cNvPr>
          <p:cNvSpPr/>
          <p:nvPr/>
        </p:nvSpPr>
        <p:spPr>
          <a:xfrm>
            <a:off x="511296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要点梳理</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97" y="503783"/>
            <a:ext cx="1584176" cy="432048"/>
          </a:xfrm>
          <a:prstGeom prst="round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smtClean="0"/>
              <a:t>知识网络</a:t>
            </a:r>
            <a:endParaRPr lang="zh-CN" altLang="en-US" sz="2400" dirty="0"/>
          </a:p>
        </p:txBody>
      </p:sp>
      <p:pic>
        <p:nvPicPr>
          <p:cNvPr id="4" name="21N67.eps" descr="id:2147490675;FounderCES"/>
          <p:cNvPicPr/>
          <p:nvPr/>
        </p:nvPicPr>
        <p:blipFill>
          <a:blip r:embed="rId2"/>
          <a:stretch>
            <a:fillRect/>
          </a:stretch>
        </p:blipFill>
        <p:spPr>
          <a:xfrm>
            <a:off x="3312765" y="689863"/>
            <a:ext cx="4824536" cy="5648673"/>
          </a:xfrm>
          <a:prstGeom prst="rect">
            <a:avLst/>
          </a:prstGeom>
        </p:spPr>
      </p:pic>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397" y="503783"/>
            <a:ext cx="1584176" cy="432048"/>
          </a:xfrm>
          <a:prstGeom prst="roundRect">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400" dirty="0"/>
              <a:t>要点梳理</a:t>
            </a:r>
          </a:p>
        </p:txBody>
      </p:sp>
      <p:sp>
        <p:nvSpPr>
          <p:cNvPr id="2" name="矩形 1"/>
          <p:cNvSpPr>
            <a:spLocks noChangeAspect="1"/>
          </p:cNvSpPr>
          <p:nvPr/>
        </p:nvSpPr>
        <p:spPr>
          <a:xfrm>
            <a:off x="361950" y="1002799"/>
            <a:ext cx="10807700" cy="626710"/>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rPr>
              <a:t>z=</a:t>
            </a:r>
            <a:r>
              <a:rPr lang="en-US" altLang="zh-CN" i="1" dirty="0" err="1">
                <a:solidFill>
                  <a:srgbClr val="000000"/>
                </a:solidFill>
                <a:ea typeface="宋体" panose="02010600030101010101" pitchFamily="2" charset="-122"/>
              </a:rPr>
              <a:t>a+b</a:t>
            </a:r>
            <a:r>
              <a:rPr lang="en-US" altLang="zh-CN" dirty="0" err="1">
                <a:solidFill>
                  <a:srgbClr val="000000"/>
                </a:solidFill>
                <a:ea typeface="宋体" panose="02010600030101010101" pitchFamily="2" charset="-122"/>
              </a:rPr>
              <a:t>i</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R)</a:t>
            </a:r>
            <a:r>
              <a:rPr lang="zh-CN" altLang="zh-CN" dirty="0">
                <a:solidFill>
                  <a:srgbClr val="000000"/>
                </a:solidFill>
                <a:ea typeface="宋体" panose="02010600030101010101" pitchFamily="2" charset="-122"/>
                <a:cs typeface="Times New Roman" panose="02020603050405020304" pitchFamily="18" charset="0"/>
              </a:rPr>
              <a:t>的有关概念有哪些</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13" name="对象 12"/>
          <p:cNvGraphicFramePr>
            <a:graphicFrameLocks noChangeAspect="1"/>
          </p:cNvGraphicFramePr>
          <p:nvPr>
            <p:extLst>
              <p:ext uri="{D42A27DB-BD31-4B8C-83A1-F6EECF244321}">
                <p14:modId xmlns:p14="http://schemas.microsoft.com/office/powerpoint/2010/main" val="3432643935"/>
              </p:ext>
            </p:extLst>
          </p:nvPr>
        </p:nvGraphicFramePr>
        <p:xfrm>
          <a:off x="-215627" y="1644318"/>
          <a:ext cx="12038765" cy="4764121"/>
        </p:xfrm>
        <a:graphic>
          <a:graphicData uri="http://schemas.openxmlformats.org/presentationml/2006/ole">
            <mc:AlternateContent xmlns:mc="http://schemas.openxmlformats.org/markup-compatibility/2006">
              <mc:Choice xmlns:v="urn:schemas-microsoft-com:vml" Requires="v">
                <p:oleObj spid="_x0000_s1039" name="文档" r:id="rId4" imgW="3947136" imgH="1562007" progId="Word.Document.12">
                  <p:embed/>
                </p:oleObj>
              </mc:Choice>
              <mc:Fallback>
                <p:oleObj name="文档" r:id="rId4" imgW="3947136" imgH="1562007" progId="Word.Document.12">
                  <p:embed/>
                  <p:pic>
                    <p:nvPicPr>
                      <p:cNvPr id="0" name=""/>
                      <p:cNvPicPr/>
                      <p:nvPr/>
                    </p:nvPicPr>
                    <p:blipFill>
                      <a:blip r:embed="rId5"/>
                      <a:stretch>
                        <a:fillRect/>
                      </a:stretch>
                    </p:blipFill>
                    <p:spPr>
                      <a:xfrm>
                        <a:off x="-215627" y="1644318"/>
                        <a:ext cx="12038765" cy="4764121"/>
                      </a:xfrm>
                      <a:prstGeom prst="rect">
                        <a:avLst/>
                      </a:prstGeom>
                    </p:spPr>
                  </p:pic>
                </p:oleObj>
              </mc:Fallback>
            </mc:AlternateContent>
          </a:graphicData>
        </a:graphic>
      </p:graphicFrame>
      <p:sp>
        <p:nvSpPr>
          <p:cNvPr id="14" name="矩形 13"/>
          <p:cNvSpPr/>
          <p:nvPr/>
        </p:nvSpPr>
        <p:spPr>
          <a:xfrm>
            <a:off x="2262724" y="1810087"/>
            <a:ext cx="30447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3080303" y="1810086"/>
            <a:ext cx="30447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p:nvSpPr>
        <p:spPr>
          <a:xfrm>
            <a:off x="2240863" y="2907063"/>
            <a:ext cx="2080013"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4004706" y="3466271"/>
            <a:ext cx="65266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nvSpPr>
        <p:spPr>
          <a:xfrm>
            <a:off x="7499389" y="3486590"/>
            <a:ext cx="65266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18"/>
          <p:cNvSpPr/>
          <p:nvPr/>
        </p:nvSpPr>
        <p:spPr>
          <a:xfrm>
            <a:off x="2782194" y="3979401"/>
            <a:ext cx="197073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4372565" y="5163999"/>
            <a:ext cx="652660"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xit" presetSubtype="10" fill="hold" grpId="0" nodeType="clickEffect">
                                  <p:stCondLst>
                                    <p:cond delay="0"/>
                                  </p:stCondLst>
                                  <p:childTnLst>
                                    <p:animEffect transition="out" filter="randombar(horizontal)">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15"/>
                                        </p:tgtEl>
                                      </p:cBhvr>
                                    </p:animEffect>
                                    <p:set>
                                      <p:cBhvr>
                                        <p:cTn id="18" dur="1" fill="hold">
                                          <p:stCondLst>
                                            <p:cond delay="499"/>
                                          </p:stCondLst>
                                        </p:cTn>
                                        <p:tgtEl>
                                          <p:spTgt spid="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4" presetClass="exit" presetSubtype="10" fill="hold" grpId="0" nodeType="clickEffect">
                                  <p:stCondLst>
                                    <p:cond delay="0"/>
                                  </p:stCondLst>
                                  <p:childTnLst>
                                    <p:animEffect transition="out" filter="randombar(horizontal)">
                                      <p:cBhvr>
                                        <p:cTn id="22" dur="500"/>
                                        <p:tgtEl>
                                          <p:spTgt spid="16"/>
                                        </p:tgtEl>
                                      </p:cBhvr>
                                    </p:animEffect>
                                    <p:set>
                                      <p:cBhvr>
                                        <p:cTn id="23" dur="1" fill="hold">
                                          <p:stCondLst>
                                            <p:cond delay="499"/>
                                          </p:stCondLst>
                                        </p:cTn>
                                        <p:tgtEl>
                                          <p:spTgt spid="1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4" presetClass="exit" presetSubtype="10" fill="hold" grpId="0" nodeType="clickEffect">
                                  <p:stCondLst>
                                    <p:cond delay="0"/>
                                  </p:stCondLst>
                                  <p:childTnLst>
                                    <p:animEffect transition="out" filter="randombar(horizontal)">
                                      <p:cBhvr>
                                        <p:cTn id="27" dur="500"/>
                                        <p:tgtEl>
                                          <p:spTgt spid="17"/>
                                        </p:tgtEl>
                                      </p:cBhvr>
                                    </p:animEffect>
                                    <p:set>
                                      <p:cBhvr>
                                        <p:cTn id="28" dur="1" fill="hold">
                                          <p:stCondLst>
                                            <p:cond delay="499"/>
                                          </p:stCondLst>
                                        </p:cTn>
                                        <p:tgtEl>
                                          <p:spTgt spid="1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grpId="0" nodeType="clickEffect">
                                  <p:stCondLst>
                                    <p:cond delay="0"/>
                                  </p:stCondLst>
                                  <p:childTnLst>
                                    <p:animEffect transition="out" filter="randombar(horizontal)">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4" presetClass="exit" presetSubtype="10" fill="hold" grpId="0" nodeType="clickEffect">
                                  <p:stCondLst>
                                    <p:cond delay="0"/>
                                  </p:stCondLst>
                                  <p:childTnLst>
                                    <p:animEffect transition="out" filter="randombar(horizontal)">
                                      <p:cBhvr>
                                        <p:cTn id="37" dur="500"/>
                                        <p:tgtEl>
                                          <p:spTgt spid="19"/>
                                        </p:tgtEl>
                                      </p:cBhvr>
                                    </p:animEffect>
                                    <p:set>
                                      <p:cBhvr>
                                        <p:cTn id="38" dur="1" fill="hold">
                                          <p:stCondLst>
                                            <p:cond delay="499"/>
                                          </p:stCondLst>
                                        </p:cTn>
                                        <p:tgtEl>
                                          <p:spTgt spid="1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4" presetClass="exit" presetSubtype="10" fill="hold" grpId="0" nodeType="clickEffect">
                                  <p:stCondLst>
                                    <p:cond delay="0"/>
                                  </p:stCondLst>
                                  <p:childTnLst>
                                    <p:animEffect transition="out" filter="randombar(horizontal)">
                                      <p:cBhvr>
                                        <p:cTn id="42" dur="500"/>
                                        <p:tgtEl>
                                          <p:spTgt spid="20"/>
                                        </p:tgtEl>
                                      </p:cBhvr>
                                    </p:animEffect>
                                    <p:set>
                                      <p:cBhvr>
                                        <p:cTn id="43"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5" grpId="0" animBg="1"/>
      <p:bldP spid="16" grpId="0" animBg="1"/>
      <p:bldP spid="17"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914623"/>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复数的几何意义有哪些</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1" name="组合 10"/>
          <p:cNvGrpSpPr/>
          <p:nvPr/>
        </p:nvGrpSpPr>
        <p:grpSpPr>
          <a:xfrm>
            <a:off x="361950" y="2249287"/>
            <a:ext cx="11742454" cy="2965496"/>
            <a:chOff x="361950" y="2074791"/>
            <a:chExt cx="11742454" cy="2965496"/>
          </a:xfrm>
        </p:grpSpPr>
        <p:graphicFrame>
          <p:nvGraphicFramePr>
            <p:cNvPr id="7" name="对象 6"/>
            <p:cNvGraphicFramePr>
              <a:graphicFrameLocks noChangeAspect="1"/>
            </p:cNvGraphicFramePr>
            <p:nvPr>
              <p:extLst>
                <p:ext uri="{D42A27DB-BD31-4B8C-83A1-F6EECF244321}">
                  <p14:modId xmlns:p14="http://schemas.microsoft.com/office/powerpoint/2010/main" val="2240333566"/>
                </p:ext>
              </p:extLst>
            </p:nvPr>
          </p:nvGraphicFramePr>
          <p:xfrm>
            <a:off x="361950" y="2074791"/>
            <a:ext cx="11671959" cy="869213"/>
          </p:xfrm>
          <a:graphic>
            <a:graphicData uri="http://schemas.openxmlformats.org/presentationml/2006/ole">
              <mc:AlternateContent xmlns:mc="http://schemas.openxmlformats.org/markup-compatibility/2006">
                <mc:Choice xmlns:v="urn:schemas-microsoft-com:vml" Requires="v">
                  <p:oleObj spid="_x0000_s2076" name="文档" r:id="rId4" imgW="3826872" imgH="284988" progId="Word.Document.12">
                    <p:embed/>
                  </p:oleObj>
                </mc:Choice>
                <mc:Fallback>
                  <p:oleObj name="文档" r:id="rId4" imgW="3826872" imgH="284988" progId="Word.Document.12">
                    <p:embed/>
                    <p:pic>
                      <p:nvPicPr>
                        <p:cNvPr id="0" name=""/>
                        <p:cNvPicPr/>
                        <p:nvPr/>
                      </p:nvPicPr>
                      <p:blipFill>
                        <a:blip r:embed="rId5"/>
                        <a:stretch>
                          <a:fillRect/>
                        </a:stretch>
                      </p:blipFill>
                      <p:spPr>
                        <a:xfrm>
                          <a:off x="361950" y="2074791"/>
                          <a:ext cx="11671959" cy="869213"/>
                        </a:xfrm>
                        <a:prstGeom prst="rect">
                          <a:avLst/>
                        </a:prstGeom>
                      </p:spPr>
                    </p:pic>
                  </p:oleObj>
                </mc:Fallback>
              </mc:AlternateContent>
            </a:graphicData>
          </a:graphic>
        </p:graphicFrame>
        <p:sp>
          <p:nvSpPr>
            <p:cNvPr id="8" name="矩形 7"/>
            <p:cNvSpPr>
              <a:spLocks noChangeAspect="1"/>
            </p:cNvSpPr>
            <p:nvPr/>
          </p:nvSpPr>
          <p:spPr>
            <a:xfrm>
              <a:off x="361950" y="2952055"/>
              <a:ext cx="492154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这是复数的一种几何意义</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158288528"/>
                </p:ext>
              </p:extLst>
            </p:nvPr>
          </p:nvGraphicFramePr>
          <p:xfrm>
            <a:off x="432445" y="3566024"/>
            <a:ext cx="11671959" cy="1474263"/>
          </p:xfrm>
          <a:graphic>
            <a:graphicData uri="http://schemas.openxmlformats.org/presentationml/2006/ole">
              <mc:AlternateContent xmlns:mc="http://schemas.openxmlformats.org/markup-compatibility/2006">
                <mc:Choice xmlns:v="urn:schemas-microsoft-com:vml" Requires="v">
                  <p:oleObj spid="_x0000_s2077" name="文档" r:id="rId7" imgW="3826872" imgH="483365" progId="Word.Document.12">
                    <p:embed/>
                  </p:oleObj>
                </mc:Choice>
                <mc:Fallback>
                  <p:oleObj name="文档" r:id="rId7" imgW="3826872" imgH="483365" progId="Word.Document.12">
                    <p:embed/>
                    <p:pic>
                      <p:nvPicPr>
                        <p:cNvPr id="0" name=""/>
                        <p:cNvPicPr/>
                        <p:nvPr/>
                      </p:nvPicPr>
                      <p:blipFill>
                        <a:blip r:embed="rId8"/>
                        <a:stretch>
                          <a:fillRect/>
                        </a:stretch>
                      </p:blipFill>
                      <p:spPr>
                        <a:xfrm>
                          <a:off x="432445" y="3566024"/>
                          <a:ext cx="11671959" cy="1474263"/>
                        </a:xfrm>
                        <a:prstGeom prst="rect">
                          <a:avLst/>
                        </a:prstGeom>
                      </p:spPr>
                    </p:pic>
                  </p:oleObj>
                </mc:Fallback>
              </mc:AlternateContent>
            </a:graphicData>
          </a:graphic>
        </p:graphicFrame>
      </p:grpSp>
    </p:spTree>
    <p:extLst>
      <p:ext uri="{BB962C8B-B14F-4D97-AF65-F5344CB8AC3E}">
        <p14:creationId xmlns:p14="http://schemas.microsoft.com/office/powerpoint/2010/main" val="392278105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a:spLocks noChangeAspect="1"/>
          </p:cNvSpPr>
          <p:nvPr/>
        </p:nvSpPr>
        <p:spPr>
          <a:xfrm>
            <a:off x="361950" y="647799"/>
            <a:ext cx="10807700" cy="1217641"/>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复数代数形式的四则运算法则是什么</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smtClean="0">
                <a:solidFill>
                  <a:srgbClr val="000000"/>
                </a:solidFill>
                <a:ea typeface="宋体" panose="02010600030101010101" pitchFamily="2" charset="-122"/>
              </a:rPr>
              <a:t>z</a:t>
            </a:r>
            <a:r>
              <a:rPr lang="en-US" altLang="zh-CN" baseline="-25000" dirty="0" smtClean="0">
                <a:solidFill>
                  <a:srgbClr val="000000"/>
                </a:solidFill>
                <a:ea typeface="宋体" panose="02010600030101010101" pitchFamily="2" charset="-122"/>
              </a:rPr>
              <a:t>1</a:t>
            </a:r>
            <a:r>
              <a:rPr lang="en-US" altLang="zh-CN" i="1" dirty="0" smtClean="0">
                <a:solidFill>
                  <a:srgbClr val="000000"/>
                </a:solidFill>
                <a:ea typeface="宋体" panose="02010600030101010101" pitchFamily="2" charset="-122"/>
              </a:rPr>
              <a:t>=a+b</a:t>
            </a:r>
            <a:r>
              <a:rPr lang="en-US" altLang="zh-CN" dirty="0" smtClean="0">
                <a:solidFill>
                  <a:srgbClr val="000000"/>
                </a:solidFill>
                <a:ea typeface="宋体" panose="02010600030101010101" pitchFamily="2" charset="-122"/>
              </a:rPr>
              <a:t>i,</a:t>
            </a:r>
            <a:r>
              <a:rPr lang="en-US" altLang="zh-CN" i="1" dirty="0" smtClean="0">
                <a:solidFill>
                  <a:srgbClr val="000000"/>
                </a:solidFill>
                <a:ea typeface="宋体" panose="02010600030101010101" pitchFamily="2" charset="-122"/>
              </a:rPr>
              <a:t>z</a:t>
            </a:r>
            <a:r>
              <a:rPr lang="en-US" altLang="zh-CN" baseline="-25000" dirty="0" smtClean="0">
                <a:solidFill>
                  <a:srgbClr val="000000"/>
                </a:solidFill>
                <a:ea typeface="宋体" panose="02010600030101010101" pitchFamily="2" charset="-122"/>
              </a:rPr>
              <a:t>2</a:t>
            </a:r>
            <a:r>
              <a:rPr lang="en-US" altLang="zh-CN" i="1" dirty="0" smtClean="0">
                <a:solidFill>
                  <a:srgbClr val="000000"/>
                </a:solidFill>
                <a:ea typeface="宋体" panose="02010600030101010101" pitchFamily="2" charset="-122"/>
              </a:rPr>
              <a:t>=</a:t>
            </a:r>
            <a:r>
              <a:rPr lang="en-US" altLang="zh-CN" i="1" dirty="0" err="1" smtClean="0">
                <a:solidFill>
                  <a:srgbClr val="000000"/>
                </a:solidFill>
                <a:ea typeface="宋体" panose="02010600030101010101" pitchFamily="2" charset="-122"/>
              </a:rPr>
              <a:t>c+d</a:t>
            </a:r>
            <a:r>
              <a:rPr lang="en-US" altLang="zh-CN" dirty="0" err="1" smtClean="0">
                <a:solidFill>
                  <a:srgbClr val="000000"/>
                </a:solidFill>
                <a:ea typeface="宋体" panose="02010600030101010101" pitchFamily="2" charset="-122"/>
              </a:rPr>
              <a:t>i</a:t>
            </a:r>
            <a:r>
              <a:rPr lang="en-US" altLang="zh-CN" dirty="0" smtClean="0">
                <a:solidFill>
                  <a:srgbClr val="000000"/>
                </a:solidFill>
                <a:ea typeface="宋体" panose="02010600030101010101" pitchFamily="2" charset="-122"/>
              </a:rPr>
              <a:t> (</a:t>
            </a:r>
            <a:r>
              <a:rPr lang="en-US" altLang="zh-CN" i="1" dirty="0" err="1">
                <a:solidFill>
                  <a:srgbClr val="000000"/>
                </a:solidFill>
                <a:ea typeface="宋体" panose="02010600030101010101" pitchFamily="2" charset="-122"/>
              </a:rPr>
              <a:t>a</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b</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c</a:t>
            </a:r>
            <a:r>
              <a:rPr lang="en-US" altLang="zh-CN" dirty="0" err="1">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d</a:t>
            </a:r>
            <a:r>
              <a:rPr lang="zh-CN" altLang="zh-CN"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R)</a:t>
            </a:r>
            <a:r>
              <a:rPr lang="zh-CN" altLang="zh-CN" dirty="0">
                <a:solidFill>
                  <a:srgbClr val="000000"/>
                </a:solidFill>
                <a:ea typeface="宋体" panose="02010600030101010101" pitchFamily="2" charset="-122"/>
                <a:cs typeface="Times New Roman" panose="02020603050405020304" pitchFamily="18" charset="0"/>
              </a:rPr>
              <a:t>是任意两个复数</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1831276972"/>
              </p:ext>
            </p:extLst>
          </p:nvPr>
        </p:nvGraphicFramePr>
        <p:xfrm>
          <a:off x="-431651" y="1865440"/>
          <a:ext cx="12038765" cy="3363040"/>
        </p:xfrm>
        <a:graphic>
          <a:graphicData uri="http://schemas.openxmlformats.org/presentationml/2006/ole">
            <mc:AlternateContent xmlns:mc="http://schemas.openxmlformats.org/markup-compatibility/2006">
              <mc:Choice xmlns:v="urn:schemas-microsoft-com:vml" Requires="v">
                <p:oleObj spid="_x0000_s3087" name="文档" r:id="rId4" imgW="3947136" imgH="1102636" progId="Word.Document.12">
                  <p:embed/>
                </p:oleObj>
              </mc:Choice>
              <mc:Fallback>
                <p:oleObj name="文档" r:id="rId4" imgW="3947136" imgH="1102636" progId="Word.Document.12">
                  <p:embed/>
                  <p:pic>
                    <p:nvPicPr>
                      <p:cNvPr id="0" name=""/>
                      <p:cNvPicPr/>
                      <p:nvPr/>
                    </p:nvPicPr>
                    <p:blipFill>
                      <a:blip r:embed="rId5"/>
                      <a:stretch>
                        <a:fillRect/>
                      </a:stretch>
                    </p:blipFill>
                    <p:spPr>
                      <a:xfrm>
                        <a:off x="-431651" y="1865440"/>
                        <a:ext cx="12038765" cy="3363040"/>
                      </a:xfrm>
                      <a:prstGeom prst="rect">
                        <a:avLst/>
                      </a:prstGeom>
                    </p:spPr>
                  </p:pic>
                </p:oleObj>
              </mc:Fallback>
            </mc:AlternateContent>
          </a:graphicData>
        </a:graphic>
      </p:graphicFrame>
      <p:sp>
        <p:nvSpPr>
          <p:cNvPr id="18" name="矩形 17"/>
          <p:cNvSpPr/>
          <p:nvPr/>
        </p:nvSpPr>
        <p:spPr>
          <a:xfrm>
            <a:off x="5065318" y="1984332"/>
            <a:ext cx="23027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5060773" y="2448430"/>
            <a:ext cx="2300138" cy="0"/>
          </a:xfrm>
          <a:prstGeom prst="line">
            <a:avLst/>
          </a:prstGeom>
        </p:spPr>
        <p:style>
          <a:lnRef idx="2">
            <a:schemeClr val="dk1"/>
          </a:lnRef>
          <a:fillRef idx="0">
            <a:schemeClr val="dk1"/>
          </a:fillRef>
          <a:effectRef idx="1">
            <a:schemeClr val="dk1"/>
          </a:effectRef>
          <a:fontRef idx="minor">
            <a:schemeClr val="tx1"/>
          </a:fontRef>
        </p:style>
      </p:cxnSp>
      <p:sp>
        <p:nvSpPr>
          <p:cNvPr id="20" name="矩形 19"/>
          <p:cNvSpPr/>
          <p:nvPr/>
        </p:nvSpPr>
        <p:spPr>
          <a:xfrm>
            <a:off x="4959117" y="2543140"/>
            <a:ext cx="23027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4954572" y="3007238"/>
            <a:ext cx="2300138"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4963673" y="3110668"/>
            <a:ext cx="302961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4959128" y="3574766"/>
            <a:ext cx="3026185" cy="0"/>
          </a:xfrm>
          <a:prstGeom prst="line">
            <a:avLst/>
          </a:prstGeom>
        </p:spPr>
        <p:style>
          <a:lnRef idx="2">
            <a:schemeClr val="dk1"/>
          </a:lnRef>
          <a:fillRef idx="0">
            <a:schemeClr val="dk1"/>
          </a:fillRef>
          <a:effectRef idx="1">
            <a:schemeClr val="dk1"/>
          </a:effectRef>
          <a:fontRef idx="minor">
            <a:schemeClr val="tx1"/>
          </a:fontRef>
        </p:style>
      </p:cxnSp>
      <p:sp>
        <p:nvSpPr>
          <p:cNvPr id="24" name="矩形 23"/>
          <p:cNvSpPr/>
          <p:nvPr/>
        </p:nvSpPr>
        <p:spPr>
          <a:xfrm>
            <a:off x="5234133" y="3692547"/>
            <a:ext cx="2268000" cy="716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5229588" y="4390637"/>
            <a:ext cx="2252545" cy="0"/>
          </a:xfrm>
          <a:prstGeom prst="line">
            <a:avLst/>
          </a:prstGeom>
        </p:spPr>
        <p:style>
          <a:lnRef idx="2">
            <a:schemeClr val="dk1"/>
          </a:lnRef>
          <a:fillRef idx="0">
            <a:schemeClr val="dk1"/>
          </a:fillRef>
          <a:effectRef idx="1">
            <a:schemeClr val="dk1"/>
          </a:effectRef>
          <a:fontRef idx="minor">
            <a:schemeClr val="tx1"/>
          </a:fontRef>
        </p:style>
      </p:cxnSp>
      <p:sp>
        <p:nvSpPr>
          <p:cNvPr id="27" name="矩形 26"/>
          <p:cNvSpPr>
            <a:spLocks noChangeAspect="1"/>
          </p:cNvSpPr>
          <p:nvPr/>
        </p:nvSpPr>
        <p:spPr>
          <a:xfrm>
            <a:off x="361950" y="4485347"/>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复数的代数表示与三角表示怎样转化</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=r</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err="1">
                <a:solidFill>
                  <a:srgbClr val="000000"/>
                </a:solidFill>
                <a:ea typeface="Microsoft Yi Baiti" panose="03000500000000000000" pitchFamily="66" charset="0"/>
                <a:cs typeface="Times New Roman" panose="02020603050405020304" pitchFamily="18" charset="0"/>
              </a:rPr>
              <a:t>θ</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其中</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是复数</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楷体" panose="02010609060101010101" pitchFamily="49" charset="-122"/>
                <a:cs typeface="Times New Roman" panose="02020603050405020304" pitchFamily="18" charset="0"/>
              </a:rPr>
              <a:t>的模</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zh-CN" altLang="zh-CN" dirty="0">
                <a:solidFill>
                  <a:srgbClr val="000000"/>
                </a:solidFill>
                <a:ea typeface="楷体" panose="02010609060101010101" pitchFamily="49" charset="-122"/>
                <a:cs typeface="Times New Roman" panose="02020603050405020304" pitchFamily="18" charset="0"/>
              </a:rPr>
              <a:t>是复数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楷体" panose="02010609060101010101" pitchFamily="49" charset="-122"/>
                <a:cs typeface="Times New Roman" panose="02020603050405020304" pitchFamily="18" charset="0"/>
              </a:rPr>
              <a:t>的辐角</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661555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20"/>
                                        </p:tgtEl>
                                      </p:cBhvr>
                                    </p:animEffect>
                                    <p:set>
                                      <p:cBhvr>
                                        <p:cTn id="12" dur="1" fill="hold">
                                          <p:stCondLst>
                                            <p:cond delay="499"/>
                                          </p:stCondLst>
                                        </p:cTn>
                                        <p:tgtEl>
                                          <p:spTgt spid="2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7">
                                            <p:txEl>
                                              <p:pRg st="1" end="1"/>
                                            </p:txEl>
                                          </p:spTgt>
                                        </p:tgtEl>
                                        <p:attrNameLst>
                                          <p:attrName>style.visibility</p:attrName>
                                        </p:attrNameLst>
                                      </p:cBhvr>
                                      <p:to>
                                        <p:strVal val="visible"/>
                                      </p:to>
                                    </p:set>
                                    <p:animEffect transition="in" filter="randombar(horizontal)">
                                      <p:cBhvr>
                                        <p:cTn id="27"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92069" y="637967"/>
            <a:ext cx="11303743" cy="1274195"/>
          </a:xfrm>
          <a:prstGeom prst="rect">
            <a:avLst/>
          </a:prstGeom>
        </p:spPr>
        <p:txBody>
          <a:bodyPr wrap="square">
            <a:spAutoFit/>
          </a:bodyPr>
          <a:lstStyle/>
          <a:p>
            <a:pPr>
              <a:lnSpc>
                <a:spcPct val="120000"/>
              </a:lnSpc>
            </a:pPr>
            <a:r>
              <a:rPr lang="en-US" altLang="zh-CN" i="1" baseline="30000"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5</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复数三角形式乘、除运算的运算法则及几何意义是怎样的</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rPr>
              <a:t>z</a:t>
            </a:r>
            <a:r>
              <a:rPr lang="en-US" altLang="zh-CN" baseline="-25000"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=r</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(cos </a:t>
            </a:r>
            <a:r>
              <a:rPr lang="en-US" altLang="zh-CN" i="1" dirty="0">
                <a:solidFill>
                  <a:srgbClr val="000000"/>
                </a:solidFill>
                <a:ea typeface="Microsoft Yi Baiti" panose="03000500000000000000" pitchFamily="66" charset="0"/>
              </a:rPr>
              <a:t>θ</a:t>
            </a:r>
            <a:r>
              <a:rPr lang="en-US" altLang="zh-CN" baseline="-25000"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isin </a:t>
            </a:r>
            <a:r>
              <a:rPr lang="en-US" altLang="zh-CN" i="1" dirty="0">
                <a:solidFill>
                  <a:srgbClr val="000000"/>
                </a:solidFill>
                <a:ea typeface="Microsoft Yi Baiti" panose="03000500000000000000" pitchFamily="66" charset="0"/>
              </a:rPr>
              <a:t>θ</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z</a:t>
            </a:r>
            <a:r>
              <a:rPr lang="en-US" altLang="zh-CN" baseline="-25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=r</a:t>
            </a:r>
            <a:r>
              <a:rPr lang="en-US" altLang="zh-CN" baseline="-25000" dirty="0">
                <a:solidFill>
                  <a:srgbClr val="000000"/>
                </a:solidFill>
                <a:ea typeface="宋体" panose="02010600030101010101" pitchFamily="2" charset="-122"/>
              </a:rPr>
              <a:t>2</a:t>
            </a:r>
            <a:r>
              <a:rPr lang="en-US" altLang="zh-CN" dirty="0">
                <a:solidFill>
                  <a:srgbClr val="000000"/>
                </a:solidFill>
                <a:ea typeface="宋体" panose="02010600030101010101" pitchFamily="2" charset="-122"/>
              </a:rPr>
              <a:t>(cos </a:t>
            </a:r>
            <a:r>
              <a:rPr lang="en-US" altLang="zh-CN" i="1" dirty="0">
                <a:solidFill>
                  <a:srgbClr val="000000"/>
                </a:solidFill>
                <a:ea typeface="Microsoft Yi Baiti" panose="03000500000000000000" pitchFamily="66" charset="0"/>
              </a:rPr>
              <a:t>θ</a:t>
            </a:r>
            <a:r>
              <a:rPr lang="en-US" altLang="zh-CN" baseline="-25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isin </a:t>
            </a:r>
            <a:r>
              <a:rPr lang="en-US" altLang="zh-CN" i="1" dirty="0">
                <a:solidFill>
                  <a:srgbClr val="000000"/>
                </a:solidFill>
                <a:ea typeface="Microsoft Yi Baiti" panose="03000500000000000000" pitchFamily="66" charset="0"/>
              </a:rPr>
              <a:t>θ</a:t>
            </a:r>
            <a:r>
              <a:rPr lang="en-US" altLang="zh-CN" baseline="-25000" dirty="0">
                <a:solidFill>
                  <a:srgbClr val="000000"/>
                </a:solidFill>
                <a:ea typeface="宋体" panose="02010600030101010101" pitchFamily="2" charset="-122"/>
              </a:rPr>
              <a:t>2</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rPr>
              <a:t>z</a:t>
            </a:r>
            <a:r>
              <a:rPr lang="en-US" altLang="zh-CN" baseline="-25000" dirty="0">
                <a:solidFill>
                  <a:srgbClr val="000000"/>
                </a:solidFill>
                <a:ea typeface="宋体" panose="02010600030101010101" pitchFamily="2" charset="-122"/>
              </a:rPr>
              <a:t>1</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z</a:t>
            </a:r>
            <a:r>
              <a:rPr lang="en-US" altLang="zh-CN" baseline="-25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请完成下表</a:t>
            </a:r>
            <a:r>
              <a:rPr lang="en-US" altLang="zh-CN" dirty="0">
                <a:solidFill>
                  <a:srgbClr val="000000"/>
                </a:solidFill>
                <a:ea typeface="宋体" panose="02010600030101010101" pitchFamily="2" charset="-122"/>
              </a:rPr>
              <a:t>:</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728348193"/>
              </p:ext>
            </p:extLst>
          </p:nvPr>
        </p:nvGraphicFramePr>
        <p:xfrm>
          <a:off x="134581" y="1912162"/>
          <a:ext cx="11427476" cy="4990501"/>
        </p:xfrm>
        <a:graphic>
          <a:graphicData uri="http://schemas.openxmlformats.org/presentationml/2006/ole">
            <mc:AlternateContent xmlns:mc="http://schemas.openxmlformats.org/markup-compatibility/2006">
              <mc:Choice xmlns:v="urn:schemas-microsoft-com:vml" Requires="v">
                <p:oleObj spid="_x0000_s4111" name="文档" r:id="rId4" imgW="4317844" imgH="1885803" progId="Word.Document.12">
                  <p:embed/>
                </p:oleObj>
              </mc:Choice>
              <mc:Fallback>
                <p:oleObj name="文档" r:id="rId4" imgW="4317844" imgH="1885803" progId="Word.Document.12">
                  <p:embed/>
                  <p:pic>
                    <p:nvPicPr>
                      <p:cNvPr id="0" name=""/>
                      <p:cNvPicPr/>
                      <p:nvPr/>
                    </p:nvPicPr>
                    <p:blipFill>
                      <a:blip r:embed="rId5"/>
                      <a:stretch>
                        <a:fillRect/>
                      </a:stretch>
                    </p:blipFill>
                    <p:spPr>
                      <a:xfrm>
                        <a:off x="134581" y="1912162"/>
                        <a:ext cx="11427476" cy="4990501"/>
                      </a:xfrm>
                      <a:prstGeom prst="rect">
                        <a:avLst/>
                      </a:prstGeom>
                    </p:spPr>
                  </p:pic>
                </p:oleObj>
              </mc:Fallback>
            </mc:AlternateContent>
          </a:graphicData>
        </a:graphic>
      </p:graphicFrame>
      <p:sp>
        <p:nvSpPr>
          <p:cNvPr id="4" name="矩形 3"/>
          <p:cNvSpPr/>
          <p:nvPr/>
        </p:nvSpPr>
        <p:spPr>
          <a:xfrm>
            <a:off x="1368549" y="3157444"/>
            <a:ext cx="424847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364003" y="3621542"/>
            <a:ext cx="4243666"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6433029" y="3269185"/>
            <a:ext cx="4248472" cy="5612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6428483" y="3831519"/>
            <a:ext cx="4243666"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2844422" y="4708268"/>
            <a:ext cx="325138"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2139121" y="5241300"/>
            <a:ext cx="1389668"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p:cNvSpPr/>
          <p:nvPr/>
        </p:nvSpPr>
        <p:spPr>
          <a:xfrm>
            <a:off x="7968020" y="4442830"/>
            <a:ext cx="63360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p:nvSpPr>
        <p:spPr>
          <a:xfrm>
            <a:off x="6498999" y="4974784"/>
            <a:ext cx="357652"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6863267" y="5500356"/>
            <a:ext cx="696963"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p:nvSpPr>
        <p:spPr>
          <a:xfrm>
            <a:off x="10409283" y="5502085"/>
            <a:ext cx="432759"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4950474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1" grpId="0" animBg="1"/>
      <p:bldP spid="13" grpId="0" animBg="1"/>
      <p:bldP spid="14" grpId="0" animBg="1"/>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592511725"/>
              </p:ext>
            </p:extLst>
          </p:nvPr>
        </p:nvGraphicFramePr>
        <p:xfrm>
          <a:off x="407342" y="711360"/>
          <a:ext cx="10682287" cy="6240463"/>
        </p:xfrm>
        <a:graphic>
          <a:graphicData uri="http://schemas.openxmlformats.org/presentationml/2006/ole">
            <mc:AlternateContent xmlns:mc="http://schemas.openxmlformats.org/markup-compatibility/2006">
              <mc:Choice xmlns:v="urn:schemas-microsoft-com:vml" Requires="v">
                <p:oleObj spid="_x0000_s5135" name="文档" r:id="rId4" imgW="5133761" imgH="3008270" progId="Word.Document.12">
                  <p:embed/>
                </p:oleObj>
              </mc:Choice>
              <mc:Fallback>
                <p:oleObj name="文档" r:id="rId4" imgW="5133761" imgH="3008270" progId="Word.Document.12">
                  <p:embed/>
                  <p:pic>
                    <p:nvPicPr>
                      <p:cNvPr id="0" name=""/>
                      <p:cNvPicPr/>
                      <p:nvPr/>
                    </p:nvPicPr>
                    <p:blipFill>
                      <a:blip r:embed="rId5"/>
                      <a:stretch>
                        <a:fillRect/>
                      </a:stretch>
                    </p:blipFill>
                    <p:spPr>
                      <a:xfrm>
                        <a:off x="407342" y="711360"/>
                        <a:ext cx="10682287" cy="6240463"/>
                      </a:xfrm>
                      <a:prstGeom prst="rect">
                        <a:avLst/>
                      </a:prstGeom>
                    </p:spPr>
                  </p:pic>
                </p:oleObj>
              </mc:Fallback>
            </mc:AlternateContent>
          </a:graphicData>
        </a:graphic>
      </p:graphicFrame>
      <p:sp>
        <p:nvSpPr>
          <p:cNvPr id="3" name="矩形 2"/>
          <p:cNvSpPr/>
          <p:nvPr/>
        </p:nvSpPr>
        <p:spPr>
          <a:xfrm>
            <a:off x="2490046" y="1631892"/>
            <a:ext cx="843325"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4378712" y="2070427"/>
            <a:ext cx="843325"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5516756" y="2481981"/>
            <a:ext cx="244281"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7366729" y="1646079"/>
            <a:ext cx="843325"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9278671" y="2084614"/>
            <a:ext cx="843325" cy="3162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6178505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464099" y="781703"/>
            <a:ext cx="15633749" cy="5410712"/>
            <a:chOff x="-4464099" y="719807"/>
            <a:chExt cx="15633749" cy="5410712"/>
          </a:xfrm>
        </p:grpSpPr>
        <p:sp>
          <p:nvSpPr>
            <p:cNvPr id="3" name="矩形 2"/>
            <p:cNvSpPr>
              <a:spLocks noChangeAspect="1"/>
            </p:cNvSpPr>
            <p:nvPr/>
          </p:nvSpPr>
          <p:spPr>
            <a:xfrm>
              <a:off x="361950" y="719807"/>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实数集</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是复数集</a:t>
              </a: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的真子集</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一定为纯虚数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对应</a:t>
              </a:r>
              <a:r>
                <a:rPr lang="zh-CN" altLang="zh-CN" dirty="0">
                  <a:solidFill>
                    <a:srgbClr val="000000"/>
                  </a:solidFill>
                  <a:ea typeface="宋体" panose="02010600030101010101" pitchFamily="2" charset="-122"/>
                  <a:cs typeface="Times New Roman" panose="02020603050405020304" pitchFamily="18" charset="0"/>
                </a:rPr>
                <a:t>点的坐标为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marL="66675" indent="-66675">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在复数集中</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是表示复数</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的点</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到原点</a:t>
              </a:r>
              <a:r>
                <a:rPr lang="en-US" altLang="zh-CN" i="1" dirty="0">
                  <a:solidFill>
                    <a:srgbClr val="000000"/>
                  </a:solidFill>
                  <a:ea typeface="宋体" panose="02010600030101010101" pitchFamily="2" charset="-122"/>
                  <a:cs typeface="Times New Roman" panose="02020603050405020304" pitchFamily="18" charset="0"/>
                </a:rPr>
                <a:t>O</a:t>
              </a:r>
              <a:r>
                <a:rPr lang="zh-CN" altLang="zh-CN" dirty="0">
                  <a:solidFill>
                    <a:srgbClr val="000000"/>
                  </a:solidFill>
                  <a:ea typeface="宋体" panose="02010600030101010101" pitchFamily="2" charset="-122"/>
                  <a:cs typeface="Times New Roman" panose="02020603050405020304" pitchFamily="18" charset="0"/>
                </a:rPr>
                <a:t>的距离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也是向量</a:t>
              </a:r>
              <a:r>
                <a:rPr lang="zh-CN" altLang="zh-CN" dirty="0">
                  <a:solidFill>
                    <a:srgbClr val="000000"/>
                  </a:solidFill>
                  <a:latin typeface="NEU-BZ-S92"/>
                  <a:ea typeface="Times New Roman" panose="02020603050405020304" pitchFamily="18" charset="0"/>
                  <a:cs typeface="Times New Roman" panose="02020603050405020304" pitchFamily="18" charset="0"/>
                </a:rPr>
                <a:t> </a:t>
              </a:r>
              <a:r>
                <a:rPr lang="en-US" altLang="zh-CN" dirty="0" smtClean="0">
                  <a:solidFill>
                    <a:srgbClr val="000000"/>
                  </a:solidFill>
                  <a:latin typeface="NEU-BZ-S92"/>
                  <a:ea typeface="Times New Roman" panose="02020603050405020304" pitchFamily="18"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模</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p>
            <a:p>
              <a:pPr marL="66675" indent="-66675">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若一个数的共轭复数是它本身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则这个数只能为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65382686"/>
                </p:ext>
              </p:extLst>
            </p:nvPr>
          </p:nvGraphicFramePr>
          <p:xfrm>
            <a:off x="-4464099" y="4844583"/>
            <a:ext cx="11671959" cy="549149"/>
          </p:xfrm>
          <a:graphic>
            <a:graphicData uri="http://schemas.openxmlformats.org/presentationml/2006/ole">
              <mc:AlternateContent xmlns:mc="http://schemas.openxmlformats.org/markup-compatibility/2006">
                <mc:Choice xmlns:v="urn:schemas-microsoft-com:vml" Requires="v">
                  <p:oleObj spid="_x0000_s6159" name="文档" r:id="rId4" imgW="3826872" imgH="180049" progId="Word.Document.12">
                    <p:embed/>
                  </p:oleObj>
                </mc:Choice>
                <mc:Fallback>
                  <p:oleObj name="文档" r:id="rId4" imgW="3826872" imgH="180049" progId="Word.Document.12">
                    <p:embed/>
                    <p:pic>
                      <p:nvPicPr>
                        <p:cNvPr id="0" name=""/>
                        <p:cNvPicPr/>
                        <p:nvPr/>
                      </p:nvPicPr>
                      <p:blipFill>
                        <a:blip r:embed="rId5"/>
                        <a:stretch>
                          <a:fillRect/>
                        </a:stretch>
                      </p:blipFill>
                      <p:spPr>
                        <a:xfrm>
                          <a:off x="-4464099" y="4844583"/>
                          <a:ext cx="11671959" cy="549149"/>
                        </a:xfrm>
                        <a:prstGeom prst="rect">
                          <a:avLst/>
                        </a:prstGeom>
                      </p:spPr>
                    </p:pic>
                  </p:oleObj>
                </mc:Fallback>
              </mc:AlternateContent>
            </a:graphicData>
          </a:graphic>
        </p:graphicFrame>
      </p:grpSp>
      <p:sp>
        <p:nvSpPr>
          <p:cNvPr id="6" name="矩形 5"/>
          <p:cNvSpPr/>
          <p:nvPr/>
        </p:nvSpPr>
        <p:spPr>
          <a:xfrm>
            <a:off x="6409109" y="267517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6480406" y="3254016"/>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8929389" y="3827302"/>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3024733" y="5011704"/>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9865493" y="5616351"/>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07430662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988175"/>
            <a:ext cx="11742454" cy="4340144"/>
            <a:chOff x="361950" y="1079847"/>
            <a:chExt cx="11742454" cy="4340144"/>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61950" y="1079847"/>
                  <a:ext cx="10807700" cy="300768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ffectLst/>
                      <a:ea typeface="宋体" panose="02010600030101010101" pitchFamily="2" charset="-122"/>
                      <a:cs typeface="Times New Roman" panose="02020603050405020304" pitchFamily="18" charset="0"/>
                    </a:rPr>
                    <a:t>因为在实数集中</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|a|</a:t>
                  </a:r>
                  <a:r>
                    <a:rPr lang="en-US" altLang="zh-CN" baseline="30000" dirty="0">
                      <a:solidFill>
                        <a:srgbClr val="000000"/>
                      </a:solidFill>
                      <a:effectLst/>
                      <a:ea typeface="宋体" panose="02010600030101010101" pitchFamily="2" charset="-122"/>
                      <a:cs typeface="Times New Roman" panose="02020603050405020304" pitchFamily="18" charset="0"/>
                    </a:rPr>
                    <a:t>2</a:t>
                  </a:r>
                  <a:r>
                    <a:rPr lang="en-US" altLang="zh-CN" i="1" dirty="0">
                      <a:solidFill>
                        <a:srgbClr val="000000"/>
                      </a:solidFill>
                      <a:effectLst/>
                      <a:ea typeface="宋体" panose="02010600030101010101" pitchFamily="2" charset="-122"/>
                      <a:cs typeface="Times New Roman" panose="02020603050405020304" pitchFamily="18" charset="0"/>
                    </a:rPr>
                    <a:t>=a</a:t>
                  </a:r>
                  <a:r>
                    <a:rPr lang="en-US" altLang="zh-CN" baseline="30000" dirty="0">
                      <a:solidFill>
                        <a:srgbClr val="000000"/>
                      </a:solidFill>
                      <a:effectLst/>
                      <a:ea typeface="宋体" panose="02010600030101010101" pitchFamily="2" charset="-122"/>
                      <a:cs typeface="Times New Roman" panose="02020603050405020304" pitchFamily="18" charset="0"/>
                    </a:rPr>
                    <a:t>2</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所以在复数集中</a:t>
                  </a:r>
                  <a:r>
                    <a:rPr lang="en-US" altLang="zh-CN" i="1" dirty="0">
                      <a:solidFill>
                        <a:srgbClr val="000000"/>
                      </a:solidFill>
                      <a:effectLst/>
                      <a:ea typeface="宋体" panose="02010600030101010101" pitchFamily="2" charset="-122"/>
                      <a:cs typeface="Times New Roman" panose="02020603050405020304" pitchFamily="18" charset="0"/>
                    </a:rPr>
                    <a:t>|z|</a:t>
                  </a:r>
                  <a:r>
                    <a:rPr lang="en-US" altLang="zh-CN" baseline="30000" dirty="0">
                      <a:solidFill>
                        <a:srgbClr val="000000"/>
                      </a:solidFill>
                      <a:effectLst/>
                      <a:ea typeface="宋体" panose="02010600030101010101" pitchFamily="2" charset="-122"/>
                      <a:cs typeface="Times New Roman" panose="02020603050405020304" pitchFamily="18" charset="0"/>
                    </a:rPr>
                    <a:t>2</a:t>
                  </a:r>
                  <a:r>
                    <a:rPr lang="en-US" altLang="zh-CN" i="1" dirty="0">
                      <a:solidFill>
                        <a:srgbClr val="000000"/>
                      </a:solidFill>
                      <a:effectLst/>
                      <a:ea typeface="宋体" panose="02010600030101010101" pitchFamily="2" charset="-122"/>
                      <a:cs typeface="Times New Roman" panose="02020603050405020304" pitchFamily="18" charset="0"/>
                    </a:rPr>
                    <a:t>=z</a:t>
                  </a:r>
                  <a:r>
                    <a:rPr lang="en-US" altLang="zh-CN" baseline="30000" dirty="0">
                      <a:solidFill>
                        <a:srgbClr val="000000"/>
                      </a:solidFill>
                      <a:effectLst/>
                      <a:ea typeface="宋体" panose="02010600030101010101" pitchFamily="2" charset="-122"/>
                      <a:cs typeface="Times New Roman" panose="02020603050405020304" pitchFamily="18" charset="0"/>
                    </a:rPr>
                    <a:t>2</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ffectLst/>
                      <a:ea typeface="宋体" panose="02010600030101010101" pitchFamily="2" charset="-122"/>
                      <a:cs typeface="Times New Roman" panose="02020603050405020304" pitchFamily="18" charset="0"/>
                    </a:rPr>
                    <a:t>(7)</a:t>
                  </a:r>
                  <a:r>
                    <a:rPr lang="zh-CN" altLang="zh-CN" dirty="0">
                      <a:solidFill>
                        <a:srgbClr val="000000"/>
                      </a:solidFill>
                      <a:effectLst/>
                      <a:ea typeface="宋体" panose="02010600030101010101" pitchFamily="2" charset="-122"/>
                      <a:cs typeface="Times New Roman" panose="02020603050405020304" pitchFamily="18" charset="0"/>
                    </a:rPr>
                    <a:t>复数</a:t>
                  </a:r>
                  <a:r>
                    <a:rPr lang="en-US" altLang="zh-CN" i="1" dirty="0">
                      <a:solidFill>
                        <a:srgbClr val="000000"/>
                      </a:solidFill>
                      <a:effectLst/>
                      <a:ea typeface="宋体" panose="02010600030101010101" pitchFamily="2" charset="-122"/>
                      <a:cs typeface="Times New Roman" panose="02020603050405020304" pitchFamily="18" charset="0"/>
                    </a:rPr>
                    <a:t>z</a:t>
                  </a:r>
                  <a:r>
                    <a:rPr lang="zh-CN" altLang="zh-CN" dirty="0">
                      <a:solidFill>
                        <a:srgbClr val="000000"/>
                      </a:solidFill>
                      <a:effectLst/>
                      <a:ea typeface="宋体" panose="02010600030101010101" pitchFamily="2" charset="-122"/>
                      <a:cs typeface="Times New Roman" panose="02020603050405020304" pitchFamily="18" charset="0"/>
                    </a:rPr>
                    <a:t>与它的共轭复数</a:t>
                  </a:r>
                  <a14:m>
                    <m:oMath xmlns:m="http://schemas.openxmlformats.org/officeDocument/2006/math">
                      <m:bar>
                        <m:barPr>
                          <m:pos m:val="top"/>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𝑧</m:t>
                          </m:r>
                        </m:e>
                      </m:bar>
                    </m:oMath>
                  </a14:m>
                  <a:r>
                    <a:rPr lang="zh-CN" altLang="zh-CN" dirty="0">
                      <a:solidFill>
                        <a:srgbClr val="000000"/>
                      </a:solidFill>
                      <a:effectLst/>
                      <a:ea typeface="宋体" panose="02010600030101010101" pitchFamily="2" charset="-122"/>
                      <a:cs typeface="Times New Roman" panose="02020603050405020304" pitchFamily="18" charset="0"/>
                    </a:rPr>
                    <a:t>的和</a:t>
                  </a:r>
                  <a:r>
                    <a:rPr lang="en-US" altLang="zh-CN" i="1" dirty="0">
                      <a:solidFill>
                        <a:srgbClr val="000000"/>
                      </a:solidFill>
                      <a:effectLst/>
                      <a:ea typeface="宋体" panose="02010600030101010101" pitchFamily="2" charset="-122"/>
                      <a:cs typeface="Times New Roman" panose="02020603050405020304" pitchFamily="18" charset="0"/>
                    </a:rPr>
                    <a:t>z+</a:t>
                  </a:r>
                  <a14:m>
                    <m:oMath xmlns:m="http://schemas.openxmlformats.org/officeDocument/2006/math">
                      <m:bar>
                        <m:barPr>
                          <m:pos m:val="top"/>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i="1">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𝑧</m:t>
                          </m:r>
                        </m:e>
                      </m:bar>
                    </m:oMath>
                  </a14:m>
                  <a:r>
                    <a:rPr lang="zh-CN" altLang="zh-CN" dirty="0">
                      <a:solidFill>
                        <a:srgbClr val="000000"/>
                      </a:solidFill>
                      <a:effectLst/>
                      <a:ea typeface="宋体" panose="02010600030101010101" pitchFamily="2" charset="-122"/>
                      <a:cs typeface="Times New Roman" panose="02020603050405020304" pitchFamily="18" charset="0"/>
                    </a:rPr>
                    <a:t>是一个实数</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ffectLst/>
                      <a:ea typeface="宋体" panose="02010600030101010101" pitchFamily="2" charset="-122"/>
                      <a:cs typeface="Times New Roman" panose="02020603050405020304" pitchFamily="18" charset="0"/>
                    </a:rPr>
                    <a:t>(8)</a:t>
                  </a:r>
                  <a:r>
                    <a:rPr lang="zh-CN" altLang="zh-CN" dirty="0">
                      <a:solidFill>
                        <a:srgbClr val="000000"/>
                      </a:solidFill>
                      <a:effectLst/>
                      <a:ea typeface="宋体" panose="02010600030101010101" pitchFamily="2" charset="-122"/>
                      <a:cs typeface="Times New Roman" panose="02020603050405020304" pitchFamily="18" charset="0"/>
                    </a:rPr>
                    <a:t>实系数一元二次方程在复数范围内一定有解</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baseline="30000"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(9)</a:t>
                  </a:r>
                  <a:r>
                    <a:rPr lang="zh-CN" altLang="zh-CN" dirty="0">
                      <a:solidFill>
                        <a:srgbClr val="000000"/>
                      </a:solidFill>
                      <a:effectLst/>
                      <a:ea typeface="宋体" panose="02010600030101010101" pitchFamily="2" charset="-122"/>
                      <a:cs typeface="Times New Roman" panose="02020603050405020304" pitchFamily="18" charset="0"/>
                    </a:rPr>
                    <a:t>复数</a:t>
                  </a:r>
                  <a:r>
                    <a:rPr lang="en-US" altLang="zh-CN" dirty="0">
                      <a:solidFill>
                        <a:srgbClr val="000000"/>
                      </a:solidFill>
                      <a:effectLst/>
                      <a:ea typeface="宋体" panose="02010600030101010101" pitchFamily="2" charset="-122"/>
                      <a:cs typeface="Times New Roman" panose="02020603050405020304" pitchFamily="18" charset="0"/>
                    </a:rPr>
                    <a:t>0</a:t>
                  </a:r>
                  <a:r>
                    <a:rPr lang="zh-CN" altLang="zh-CN" dirty="0">
                      <a:solidFill>
                        <a:srgbClr val="000000"/>
                      </a:solidFill>
                      <a:effectLst/>
                      <a:ea typeface="宋体" panose="02010600030101010101" pitchFamily="2" charset="-122"/>
                      <a:cs typeface="Times New Roman" panose="02020603050405020304" pitchFamily="18" charset="0"/>
                    </a:rPr>
                    <a:t>不能写成三角形式</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baseline="30000"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(10)</a:t>
                  </a:r>
                  <a:r>
                    <a:rPr lang="zh-CN" altLang="zh-CN" dirty="0">
                      <a:solidFill>
                        <a:srgbClr val="000000"/>
                      </a:solidFill>
                      <a:effectLst/>
                      <a:ea typeface="宋体" panose="02010600030101010101" pitchFamily="2" charset="-122"/>
                      <a:cs typeface="Times New Roman" panose="02020603050405020304" pitchFamily="18" charset="0"/>
                    </a:rPr>
                    <a:t>实数</a:t>
                  </a:r>
                  <a:r>
                    <a:rPr lang="en-US" altLang="zh-CN" i="1" dirty="0">
                      <a:solidFill>
                        <a:srgbClr val="000000"/>
                      </a:solidFill>
                      <a:effectLst/>
                      <a:ea typeface="宋体" panose="02010600030101010101" pitchFamily="2" charset="-122"/>
                      <a:cs typeface="Times New Roman" panose="02020603050405020304" pitchFamily="18" charset="0"/>
                    </a:rPr>
                    <a:t>a</a:t>
                  </a:r>
                  <a:r>
                    <a:rPr lang="zh-CN" altLang="zh-CN" dirty="0">
                      <a:solidFill>
                        <a:srgbClr val="000000"/>
                      </a:solidFill>
                      <a:effectLst/>
                      <a:ea typeface="宋体" panose="02010600030101010101" pitchFamily="2" charset="-122"/>
                      <a:cs typeface="Times New Roman" panose="02020603050405020304" pitchFamily="18" charset="0"/>
                    </a:rPr>
                    <a:t>写成三角形式为</a:t>
                  </a:r>
                  <a:r>
                    <a:rPr lang="en-US" altLang="zh-CN" i="1" dirty="0">
                      <a:solidFill>
                        <a:srgbClr val="000000"/>
                      </a:solidFill>
                      <a:effectLst/>
                      <a:ea typeface="宋体" panose="02010600030101010101" pitchFamily="2" charset="-122"/>
                      <a:cs typeface="Times New Roman" panose="02020603050405020304" pitchFamily="18" charset="0"/>
                    </a:rPr>
                    <a:t>a</a:t>
                  </a:r>
                  <a:r>
                    <a:rPr lang="en-US" altLang="zh-CN" dirty="0">
                      <a:solidFill>
                        <a:srgbClr val="000000"/>
                      </a:solidFill>
                      <a:effectLst/>
                      <a:ea typeface="宋体" panose="02010600030101010101" pitchFamily="2" charset="-122"/>
                      <a:cs typeface="Times New Roman" panose="02020603050405020304" pitchFamily="18" charset="0"/>
                    </a:rPr>
                    <a:t>(cos </a:t>
                  </a:r>
                  <a:r>
                    <a:rPr lang="en-US" altLang="zh-CN" i="1" dirty="0" err="1">
                      <a:solidFill>
                        <a:srgbClr val="000000"/>
                      </a:solidFill>
                      <a:effectLst/>
                      <a:ea typeface="Microsoft Yi Baiti" panose="03000500000000000000" pitchFamily="66" charset="0"/>
                      <a:cs typeface="Times New Roman" panose="02020603050405020304" pitchFamily="18" charset="0"/>
                    </a:rPr>
                    <a:t>θ</a:t>
                  </a:r>
                  <a:r>
                    <a:rPr lang="en-US" altLang="zh-CN" i="1" dirty="0" err="1">
                      <a:solidFill>
                        <a:srgbClr val="000000"/>
                      </a:solidFill>
                      <a:effectLst/>
                      <a:ea typeface="宋体" panose="02010600030101010101" pitchFamily="2" charset="-122"/>
                      <a:cs typeface="Times New Roman" panose="02020603050405020304" pitchFamily="18" charset="0"/>
                    </a:rPr>
                    <a:t>+</a:t>
                  </a:r>
                  <a:r>
                    <a:rPr lang="en-US" altLang="zh-CN" dirty="0" err="1">
                      <a:solidFill>
                        <a:srgbClr val="000000"/>
                      </a:solidFill>
                      <a:effectLst/>
                      <a:ea typeface="宋体" panose="02010600030101010101" pitchFamily="2" charset="-122"/>
                      <a:cs typeface="Times New Roman" panose="02020603050405020304" pitchFamily="18" charset="0"/>
                    </a:rPr>
                    <a:t>isin</a:t>
                  </a:r>
                  <a:r>
                    <a:rPr lang="en-US" altLang="zh-CN" dirty="0">
                      <a:solidFill>
                        <a:srgbClr val="000000"/>
                      </a:solidFill>
                      <a:effectLst/>
                      <a:ea typeface="宋体" panose="02010600030101010101" pitchFamily="2" charset="-122"/>
                      <a:cs typeface="Times New Roman" panose="02020603050405020304" pitchFamily="18" charset="0"/>
                    </a:rPr>
                    <a:t> </a:t>
                  </a:r>
                  <a:r>
                    <a:rPr lang="en-US" altLang="zh-CN" i="1" dirty="0">
                      <a:solidFill>
                        <a:srgbClr val="000000"/>
                      </a:solidFill>
                      <a:effectLst/>
                      <a:ea typeface="Microsoft Yi Baiti" panose="03000500000000000000" pitchFamily="66" charset="0"/>
                      <a:cs typeface="Times New Roman" panose="02020603050405020304" pitchFamily="18" charset="0"/>
                    </a:rPr>
                    <a:t>θ</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61950" y="1079847"/>
                  <a:ext cx="10807700" cy="3007683"/>
                </a:xfrm>
                <a:prstGeom prst="rect">
                  <a:avLst/>
                </a:prstGeom>
                <a:blipFill rotWithShape="0">
                  <a:blip r:embed="rId3"/>
                  <a:stretch>
                    <a:fillRect l="-1410" t="-2028" b="-60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对象 3"/>
                <p:cNvGraphicFramePr>
                  <a:graphicFrameLocks noChangeAspect="1"/>
                </p:cNvGraphicFramePr>
                <p:nvPr>
                  <p:extLst>
                    <p:ext uri="{D42A27DB-BD31-4B8C-83A1-F6EECF244321}">
                      <p14:modId xmlns:p14="http://schemas.microsoft.com/office/powerpoint/2010/main" val="1877632914"/>
                    </p:ext>
                  </p:extLst>
                </p:nvPr>
              </p:nvGraphicFramePr>
              <p:xfrm>
                <a:off x="432445" y="4109046"/>
                <a:ext cx="11671959" cy="1310945"/>
              </p:xfrm>
              <a:graphic>
                <a:graphicData uri="http://schemas.openxmlformats.org/presentationml/2006/ole">
                  <mc:AlternateContent>
                    <mc:Choice xmlns:v="urn:schemas-microsoft-com:vml" Requires="v">
                      <p:oleObj spid="_x0000_s7183" name="文档" r:id="rId5" imgW="3826872" imgH="429818" progId="Word.Document.12">
                        <p:embed/>
                      </p:oleObj>
                    </mc:Choice>
                    <mc:Fallback>
                      <p:oleObj name="文档" r:id="rId5" imgW="3826872" imgH="429818" progId="Word.Document.12">
                        <p:embed/>
                        <p:pic>
                          <p:nvPicPr>
                            <p:cNvPr id="0" name=""/>
                            <p:cNvPicPr/>
                            <p:nvPr/>
                          </p:nvPicPr>
                          <p:blipFill>
                            <a:blip r:embed="rId6"/>
                            <a:stretch>
                              <a:fillRect/>
                            </a:stretch>
                          </p:blipFill>
                          <p:spPr>
                            <a:xfrm>
                              <a:off x="432445" y="4109046"/>
                              <a:ext cx="11671959" cy="1310945"/>
                            </a:xfrm>
                            <a:prstGeom prst="rect">
                              <a:avLst/>
                            </a:prstGeom>
                          </p:spPr>
                        </p:pic>
                      </p:oleObj>
                    </mc:Fallback>
                  </mc:AlternateContent>
                </a:graphicData>
              </a:graphic>
            </p:graphicFrame>
          </mc:Choice>
          <mc:Fallback xmlns="">
            <p:graphicFrame>
              <p:nvGraphicFramePr>
                <p:cNvPr id="4" name="对象 3"/>
                <p:cNvGraphicFramePr>
                  <a:graphicFrameLocks noChangeAspect="1"/>
                </p:cNvGraphicFramePr>
                <p:nvPr>
                  <p:extLst>
                    <p:ext uri="{D42A27DB-BD31-4B8C-83A1-F6EECF244321}">
                      <p14:modId xmlns:p14="http://schemas.microsoft.com/office/powerpoint/2010/main" val="1877632914"/>
                    </p:ext>
                  </p:extLst>
                </p:nvPr>
              </p:nvGraphicFramePr>
              <p:xfrm>
                <a:off x="432445" y="4109046"/>
                <a:ext cx="11671959" cy="1310945"/>
              </p:xfrm>
              <a:graphic>
                <a:graphicData uri="http://schemas.openxmlformats.org/presentationml/2006/ole">
                  <mc:AlternateContent>
                    <mc:Choice xmlns:v="urn:schemas-microsoft-com:vml" Requires="v">
                      <p:oleObj spid="_x0000_s7172" name="文档" r:id="rId7" imgW="3826872" imgH="429818" progId="Word.Document.12">
                        <p:embed/>
                      </p:oleObj>
                    </mc:Choice>
                    <mc:Fallback>
                      <p:oleObj name="文档" r:id="rId7" imgW="3826872" imgH="429818" progId="Word.Document.12">
                        <p:embed/>
                        <p:pic>
                          <p:nvPicPr>
                            <p:cNvPr id="0" name=""/>
                            <p:cNvPicPr/>
                            <p:nvPr/>
                          </p:nvPicPr>
                          <p:blipFill>
                            <a:blip r:embed="rId8"/>
                            <a:stretch>
                              <a:fillRect/>
                            </a:stretch>
                          </p:blipFill>
                          <p:spPr>
                            <a:xfrm>
                              <a:off x="432445" y="4109046"/>
                              <a:ext cx="11671959" cy="1310945"/>
                            </a:xfrm>
                            <a:prstGeom prst="rect">
                              <a:avLst/>
                            </a:prstGeom>
                          </p:spPr>
                        </p:pic>
                      </p:oleObj>
                    </mc:Fallback>
                  </mc:AlternateContent>
                </a:graphicData>
              </a:graphic>
            </p:graphicFrame>
          </mc:Fallback>
        </mc:AlternateContent>
      </p:grpSp>
      <p:sp>
        <p:nvSpPr>
          <p:cNvPr id="5" name="矩形 4"/>
          <p:cNvSpPr/>
          <p:nvPr/>
        </p:nvSpPr>
        <p:spPr>
          <a:xfrm>
            <a:off x="9361437" y="1079847"/>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8928678" y="1727919"/>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9156872" y="2327403"/>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5726110" y="2880047"/>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8137301" y="3556497"/>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6553125" y="4763406"/>
            <a:ext cx="432759"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12777995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00783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专题归纳</a:t>
            </a:r>
            <a:r>
              <a:rPr lang="en-US" altLang="zh-CN" sz="6600" dirty="0" smtClean="0">
                <a:solidFill>
                  <a:srgbClr val="0070C0"/>
                </a:solidFill>
                <a:latin typeface="华文新魏" panose="02010800040101010101" pitchFamily="2" charset="-122"/>
                <a:ea typeface="华文新魏" panose="02010800040101010101" pitchFamily="2" charset="-122"/>
              </a:rPr>
              <a:t>·</a:t>
            </a:r>
            <a:r>
              <a:rPr lang="zh-CN" altLang="en-US" sz="6600" dirty="0" smtClean="0">
                <a:solidFill>
                  <a:srgbClr val="0070C0"/>
                </a:solidFill>
                <a:latin typeface="华文新魏" panose="02010800040101010101" pitchFamily="2" charset="-122"/>
                <a:ea typeface="华文新魏" panose="02010800040101010101" pitchFamily="2" charset="-122"/>
              </a:rPr>
              <a:t>核心突破</a:t>
            </a:r>
            <a:endParaRPr lang="zh-CN" altLang="zh-CN" sz="6600" dirty="0">
              <a:solidFill>
                <a:srgbClr val="0070C0"/>
              </a:solidFill>
              <a:latin typeface="华文新魏" panose="02010800040101010101" pitchFamily="2" charset="-122"/>
              <a:ea typeface="华文新魏" panose="02010800040101010101" pitchFamily="2" charset="-122"/>
            </a:endParaRPr>
          </a:p>
        </p:txBody>
      </p:sp>
      <p:sp>
        <p:nvSpPr>
          <p:cNvPr id="6" name="圆角矩形 5">
            <a:hlinkClick r:id="rId2" action="ppaction://hlinksldjump"/>
          </p:cNvPr>
          <p:cNvSpPr/>
          <p:nvPr/>
        </p:nvSpPr>
        <p:spPr>
          <a:xfrm>
            <a:off x="259268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a:t>专题整合</a:t>
            </a:r>
          </a:p>
        </p:txBody>
      </p:sp>
      <p:sp>
        <p:nvSpPr>
          <p:cNvPr id="7" name="圆角矩形 6">
            <a:hlinkClick r:id="rId3" action="ppaction://hlinksldjump"/>
          </p:cNvPr>
          <p:cNvSpPr/>
          <p:nvPr/>
        </p:nvSpPr>
        <p:spPr>
          <a:xfrm>
            <a:off x="5112965" y="4392215"/>
            <a:ext cx="1584176"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a:t>高考体验</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74012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专题一</a:t>
            </a:r>
            <a:r>
              <a:rPr lang="zh-CN" altLang="zh-CN" i="1" dirty="0"/>
              <a:t>　</a:t>
            </a:r>
            <a:r>
              <a:rPr lang="zh-CN" altLang="zh-CN" dirty="0"/>
              <a:t>复数的有关概念</a:t>
            </a:r>
          </a:p>
        </p:txBody>
      </p:sp>
      <p:sp>
        <p:nvSpPr>
          <p:cNvPr id="4" name="矩形 3"/>
          <p:cNvSpPr>
            <a:spLocks noChangeAspect="1"/>
          </p:cNvSpPr>
          <p:nvPr/>
        </p:nvSpPr>
        <p:spPr>
          <a:xfrm>
            <a:off x="361950" y="1551837"/>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设</a:t>
            </a:r>
            <a:r>
              <a:rPr lang="zh-CN" altLang="zh-CN" dirty="0" smtClean="0">
                <a:solidFill>
                  <a:srgbClr val="000000"/>
                </a:solidFill>
                <a:ea typeface="宋体" panose="02010600030101010101" pitchFamily="2" charset="-122"/>
                <a:cs typeface="Times New Roman" panose="02020603050405020304" pitchFamily="18" charset="0"/>
              </a:rPr>
              <a:t>复数</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b</a:t>
            </a:r>
            <a:r>
              <a:rPr lang="zh-CN" altLang="zh-CN"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R)</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取何值时</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的实部和虚部互为相反数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是纯虚数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是</a:t>
            </a:r>
            <a:r>
              <a:rPr lang="zh-CN" altLang="zh-CN" dirty="0" smtClean="0">
                <a:solidFill>
                  <a:srgbClr val="000000"/>
                </a:solidFill>
                <a:ea typeface="宋体" panose="02010600030101010101" pitchFamily="2" charset="-122"/>
                <a:cs typeface="Times New Roman" panose="02020603050405020304" pitchFamily="18" charset="0"/>
              </a:rPr>
              <a:t>实数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将复数化简为</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的形式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根据复数的分类列方程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求解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690231859"/>
              </p:ext>
            </p:extLst>
          </p:nvPr>
        </p:nvGraphicFramePr>
        <p:xfrm>
          <a:off x="3384773" y="1378626"/>
          <a:ext cx="11671959" cy="817696"/>
        </p:xfrm>
        <a:graphic>
          <a:graphicData uri="http://schemas.openxmlformats.org/presentationml/2006/ole">
            <mc:AlternateContent xmlns:mc="http://schemas.openxmlformats.org/markup-compatibility/2006">
              <mc:Choice xmlns:v="urn:schemas-microsoft-com:vml" Requires="v">
                <p:oleObj spid="_x0000_s8207" name="文档" r:id="rId4" imgW="3826872" imgH="268097" progId="Word.Document.12">
                  <p:embed/>
                </p:oleObj>
              </mc:Choice>
              <mc:Fallback>
                <p:oleObj name="文档" r:id="rId4" imgW="3826872" imgH="268097" progId="Word.Document.12">
                  <p:embed/>
                  <p:pic>
                    <p:nvPicPr>
                      <p:cNvPr id="0" name=""/>
                      <p:cNvPicPr/>
                      <p:nvPr/>
                    </p:nvPicPr>
                    <p:blipFill>
                      <a:blip r:embed="rId5"/>
                      <a:stretch>
                        <a:fillRect/>
                      </a:stretch>
                    </p:blipFill>
                    <p:spPr>
                      <a:xfrm>
                        <a:off x="3384773" y="1378626"/>
                        <a:ext cx="11671959" cy="817696"/>
                      </a:xfrm>
                      <a:prstGeom prst="rect">
                        <a:avLst/>
                      </a:prstGeom>
                    </p:spPr>
                  </p:pic>
                </p:oleObj>
              </mc:Fallback>
            </mc:AlternateContent>
          </a:graphicData>
        </a:graphic>
      </p:graphicFrame>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randombar(horizontal)">
                                      <p:cBhvr>
                                        <p:cTn id="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368588289"/>
              </p:ext>
            </p:extLst>
          </p:nvPr>
        </p:nvGraphicFramePr>
        <p:xfrm>
          <a:off x="360437" y="1017671"/>
          <a:ext cx="11671959" cy="4371272"/>
        </p:xfrm>
        <a:graphic>
          <a:graphicData uri="http://schemas.openxmlformats.org/presentationml/2006/ole">
            <mc:AlternateContent xmlns:mc="http://schemas.openxmlformats.org/markup-compatibility/2006">
              <mc:Choice xmlns:v="urn:schemas-microsoft-com:vml" Requires="v">
                <p:oleObj spid="_x0000_s9231" name="文档" r:id="rId4" imgW="3826872" imgH="1433204" progId="Word.Document.12">
                  <p:embed/>
                </p:oleObj>
              </mc:Choice>
              <mc:Fallback>
                <p:oleObj name="文档" r:id="rId4" imgW="3826872" imgH="1433204" progId="Word.Document.12">
                  <p:embed/>
                  <p:pic>
                    <p:nvPicPr>
                      <p:cNvPr id="0" name=""/>
                      <p:cNvPicPr/>
                      <p:nvPr/>
                    </p:nvPicPr>
                    <p:blipFill>
                      <a:blip r:embed="rId5"/>
                      <a:stretch>
                        <a:fillRect/>
                      </a:stretch>
                    </p:blipFill>
                    <p:spPr>
                      <a:xfrm>
                        <a:off x="360437" y="1017671"/>
                        <a:ext cx="11671959" cy="4371272"/>
                      </a:xfrm>
                      <a:prstGeom prst="rect">
                        <a:avLst/>
                      </a:prstGeom>
                    </p:spPr>
                  </p:pic>
                </p:oleObj>
              </mc:Fallback>
            </mc:AlternateContent>
          </a:graphicData>
        </a:graphic>
      </p:graphicFrame>
    </p:spTree>
    <p:extLst>
      <p:ext uri="{BB962C8B-B14F-4D97-AF65-F5344CB8AC3E}">
        <p14:creationId xmlns:p14="http://schemas.microsoft.com/office/powerpoint/2010/main" val="3233686638"/>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185659"/>
            <a:ext cx="10807700" cy="3596092"/>
            <a:chOff x="361950" y="940139"/>
            <a:chExt cx="10807700" cy="3596092"/>
          </a:xfrm>
        </p:grpSpPr>
        <p:pic>
          <p:nvPicPr>
            <p:cNvPr id="4"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45797"/>
              <a:ext cx="10807700" cy="299043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正确区分复数的实部和虚部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将复数进行计算或化简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化为</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仿宋" panose="02010609060101010101" pitchFamily="49" charset="-122"/>
                  <a:cs typeface="Times New Roman" panose="02020603050405020304" pitchFamily="18" charset="0"/>
                </a:rPr>
                <a:t>的形式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仿宋" panose="02010609060101010101" pitchFamily="49" charset="-122"/>
                  <a:cs typeface="Times New Roman" panose="02020603050405020304" pitchFamily="18" charset="0"/>
                </a:rPr>
                <a:t>分别叫作复数</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仿宋" panose="02010609060101010101" pitchFamily="49" charset="-122"/>
                  <a:cs typeface="Times New Roman" panose="02020603050405020304" pitchFamily="18" charset="0"/>
                </a:rPr>
                <a:t>的实部和虚部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非零实数的虚部是</a:t>
              </a:r>
              <a:r>
                <a:rPr lang="en-US" altLang="zh-CN" dirty="0">
                  <a:solidFill>
                    <a:srgbClr val="000000"/>
                  </a:solidFill>
                  <a:ea typeface="宋体" panose="02010600030101010101" pitchFamily="2" charset="-122"/>
                  <a:cs typeface="Times New Roman" panose="02020603050405020304" pitchFamily="18" charset="0"/>
                </a:rPr>
                <a:t>0,0</a:t>
              </a:r>
              <a:r>
                <a:rPr lang="zh-CN" altLang="zh-CN" dirty="0">
                  <a:solidFill>
                    <a:srgbClr val="000000"/>
                  </a:solidFill>
                  <a:ea typeface="仿宋" panose="02010609060101010101" pitchFamily="49" charset="-122"/>
                  <a:cs typeface="Times New Roman" panose="02020603050405020304" pitchFamily="18" charset="0"/>
                </a:rPr>
                <a:t>的实部和虚部都是</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纯虚数的实部为</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且虚部不为</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250138914"/>
      </p:ext>
    </p:extLst>
  </p:cSld>
  <p:clrMapOvr>
    <a:masterClrMapping/>
  </p:clrMapOvr>
  <p:transition spd="slow">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51855"/>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实数</a:t>
            </a:r>
            <a:r>
              <a:rPr lang="en-US" altLang="zh-CN" i="1" dirty="0">
                <a:solidFill>
                  <a:srgbClr val="000000"/>
                </a:solidFill>
                <a:ea typeface="宋体" panose="02010600030101010101" pitchFamily="2" charset="-122"/>
                <a:cs typeface="Times New Roman" panose="02020603050405020304" pitchFamily="18" charset="0"/>
              </a:rPr>
              <a:t>k</a:t>
            </a:r>
            <a:r>
              <a:rPr lang="zh-CN" altLang="zh-CN" dirty="0">
                <a:solidFill>
                  <a:srgbClr val="000000"/>
                </a:solidFill>
                <a:ea typeface="宋体" panose="02010600030101010101" pitchFamily="2" charset="-122"/>
                <a:cs typeface="Times New Roman" panose="02020603050405020304" pitchFamily="18" charset="0"/>
              </a:rPr>
              <a:t>分别为何值时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2(2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zh-CN" altLang="zh-CN" dirty="0">
                <a:solidFill>
                  <a:srgbClr val="000000"/>
                </a:solidFill>
                <a:ea typeface="宋体" panose="02010600030101010101" pitchFamily="2" charset="-122"/>
                <a:cs typeface="Times New Roman" panose="02020603050405020304" pitchFamily="18" charset="0"/>
              </a:rPr>
              <a:t>满足下列条件</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是实数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是虚数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是纯虚数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83874197"/>
      </p:ext>
    </p:extLst>
  </p:cSld>
  <p:clrMapOvr>
    <a:masterClrMapping/>
  </p:clrMapOvr>
  <p:transition spd="slow">
    <p:randomBar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050351"/>
            <a:ext cx="11722790" cy="4240770"/>
            <a:chOff x="361950" y="1079847"/>
            <a:chExt cx="11722790" cy="4240770"/>
          </a:xfrm>
        </p:grpSpPr>
        <p:sp>
          <p:nvSpPr>
            <p:cNvPr id="2" name="矩形 1"/>
            <p:cNvSpPr>
              <a:spLocks noChangeAspect="1"/>
            </p:cNvSpPr>
            <p:nvPr/>
          </p:nvSpPr>
          <p:spPr>
            <a:xfrm>
              <a:off x="361950" y="1079847"/>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5i)</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2(2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该复数为实数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k</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该复数为虚数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3805483"/>
                </p:ext>
              </p:extLst>
            </p:nvPr>
          </p:nvGraphicFramePr>
          <p:xfrm>
            <a:off x="412781" y="2916854"/>
            <a:ext cx="11671959" cy="2403763"/>
          </p:xfrm>
          <a:graphic>
            <a:graphicData uri="http://schemas.openxmlformats.org/presentationml/2006/ole">
              <mc:AlternateContent xmlns:mc="http://schemas.openxmlformats.org/markup-compatibility/2006">
                <mc:Choice xmlns:v="urn:schemas-microsoft-com:vml" Requires="v">
                  <p:oleObj spid="_x0000_s10255" name="文档" r:id="rId4" imgW="3826872" imgH="788119" progId="Word.Document.12">
                    <p:embed/>
                  </p:oleObj>
                </mc:Choice>
                <mc:Fallback>
                  <p:oleObj name="文档" r:id="rId4" imgW="3826872" imgH="788119" progId="Word.Document.12">
                    <p:embed/>
                    <p:pic>
                      <p:nvPicPr>
                        <p:cNvPr id="0" name=""/>
                        <p:cNvPicPr/>
                        <p:nvPr/>
                      </p:nvPicPr>
                      <p:blipFill>
                        <a:blip r:embed="rId5"/>
                        <a:stretch>
                          <a:fillRect/>
                        </a:stretch>
                      </p:blipFill>
                      <p:spPr>
                        <a:xfrm>
                          <a:off x="412781" y="2916854"/>
                          <a:ext cx="11671959" cy="2403763"/>
                        </a:xfrm>
                        <a:prstGeom prst="rect">
                          <a:avLst/>
                        </a:prstGeom>
                      </p:spPr>
                    </p:pic>
                  </p:oleObj>
                </mc:Fallback>
              </mc:AlternateContent>
            </a:graphicData>
          </a:graphic>
        </p:graphicFrame>
      </p:grpSp>
    </p:spTree>
    <p:extLst>
      <p:ext uri="{BB962C8B-B14F-4D97-AF65-F5344CB8AC3E}">
        <p14:creationId xmlns:p14="http://schemas.microsoft.com/office/powerpoint/2010/main" val="3268932574"/>
      </p:ext>
    </p:extLst>
  </p:cSld>
  <p:clrMapOvr>
    <a:masterClrMapping/>
  </p:clrMapOvr>
  <p:transition spd="slow">
    <p:randomBar dir="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专题二</a:t>
            </a:r>
            <a:r>
              <a:rPr lang="zh-CN" altLang="zh-CN" i="1" dirty="0"/>
              <a:t>　</a:t>
            </a:r>
            <a:r>
              <a:rPr lang="zh-CN" altLang="zh-CN" dirty="0"/>
              <a:t>复数代数形式的四则运算</a:t>
            </a:r>
          </a:p>
        </p:txBody>
      </p:sp>
      <p:grpSp>
        <p:nvGrpSpPr>
          <p:cNvPr id="3" name="组合 2"/>
          <p:cNvGrpSpPr/>
          <p:nvPr/>
        </p:nvGrpSpPr>
        <p:grpSpPr>
          <a:xfrm>
            <a:off x="361950" y="1439887"/>
            <a:ext cx="11732622" cy="2705983"/>
            <a:chOff x="361950" y="1377711"/>
            <a:chExt cx="11732622" cy="2705983"/>
          </a:xfrm>
        </p:grpSpPr>
        <p:graphicFrame>
          <p:nvGraphicFramePr>
            <p:cNvPr id="4" name="对象 3"/>
            <p:cNvGraphicFramePr>
              <a:graphicFrameLocks noChangeAspect="1"/>
            </p:cNvGraphicFramePr>
            <p:nvPr>
              <p:extLst>
                <p:ext uri="{D42A27DB-BD31-4B8C-83A1-F6EECF244321}">
                  <p14:modId xmlns:p14="http://schemas.microsoft.com/office/powerpoint/2010/main" val="3647362756"/>
                </p:ext>
              </p:extLst>
            </p:nvPr>
          </p:nvGraphicFramePr>
          <p:xfrm>
            <a:off x="422613" y="1377711"/>
            <a:ext cx="11671959" cy="810022"/>
          </p:xfrm>
          <a:graphic>
            <a:graphicData uri="http://schemas.openxmlformats.org/presentationml/2006/ole">
              <mc:AlternateContent xmlns:mc="http://schemas.openxmlformats.org/markup-compatibility/2006">
                <mc:Choice xmlns:v="urn:schemas-microsoft-com:vml" Requires="v">
                  <p:oleObj spid="_x0000_s11292" name="文档" r:id="rId4" imgW="3826872" imgH="265581" progId="Word.Document.12">
                    <p:embed/>
                  </p:oleObj>
                </mc:Choice>
                <mc:Fallback>
                  <p:oleObj name="文档" r:id="rId4" imgW="3826872" imgH="265581" progId="Word.Document.12">
                    <p:embed/>
                    <p:pic>
                      <p:nvPicPr>
                        <p:cNvPr id="0" name=""/>
                        <p:cNvPicPr/>
                        <p:nvPr/>
                      </p:nvPicPr>
                      <p:blipFill>
                        <a:blip r:embed="rId5"/>
                        <a:stretch>
                          <a:fillRect/>
                        </a:stretch>
                      </p:blipFill>
                      <p:spPr>
                        <a:xfrm>
                          <a:off x="422613" y="1377711"/>
                          <a:ext cx="11671959" cy="810022"/>
                        </a:xfrm>
                        <a:prstGeom prst="rect">
                          <a:avLst/>
                        </a:prstGeom>
                      </p:spPr>
                    </p:pic>
                  </p:oleObj>
                </mc:Fallback>
              </mc:AlternateContent>
            </a:graphicData>
          </a:graphic>
        </p:graphicFrame>
        <p:sp>
          <p:nvSpPr>
            <p:cNvPr id="5" name="矩形 4"/>
            <p:cNvSpPr>
              <a:spLocks noChangeAspect="1"/>
            </p:cNvSpPr>
            <p:nvPr/>
          </p:nvSpPr>
          <p:spPr>
            <a:xfrm>
              <a:off x="361950" y="2218568"/>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3i	</a:t>
              </a:r>
              <a:r>
                <a:rPr lang="en-US" altLang="zh-CN" dirty="0" smtClean="0">
                  <a:solidFill>
                    <a:srgbClr val="000000"/>
                  </a:solidFill>
                  <a:ea typeface="宋体" panose="02010600030101010101" pitchFamily="2" charset="-122"/>
                  <a:cs typeface="Times New Roman" panose="02020603050405020304" pitchFamily="18" charset="0"/>
                </a:rPr>
                <a:t>B.1</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3i</a:t>
              </a:r>
              <a:r>
                <a:rPr lang="en-US" altLang="zh-CN" dirty="0" smtClean="0">
                  <a:solidFill>
                    <a:srgbClr val="000000"/>
                  </a:solidFill>
                  <a:latin typeface="NEU-BZ-S92"/>
                  <a:ea typeface="方正书宋_GBK" panose="03000509000000000000" pitchFamily="65"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I	D.3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x+y</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则复数</a:t>
              </a:r>
              <a:r>
                <a:rPr lang="en-US" altLang="zh-CN" i="1" dirty="0" err="1">
                  <a:solidFill>
                    <a:srgbClr val="000000"/>
                  </a:solidFill>
                  <a:ea typeface="宋体" panose="02010600030101010101" pitchFamily="2" charset="-122"/>
                  <a:cs typeface="Times New Roman" panose="02020603050405020304" pitchFamily="18" charset="0"/>
                </a:rPr>
                <a:t>x+y</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的模是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A.2	</a:t>
              </a:r>
              <a:r>
                <a:rPr lang="en-US" altLang="zh-CN" dirty="0" smtClean="0">
                  <a:solidFill>
                    <a:srgbClr val="000000"/>
                  </a:solidFill>
                  <a:ea typeface="宋体" panose="02010600030101010101" pitchFamily="2" charset="-122"/>
                  <a:cs typeface="Times New Roman" panose="02020603050405020304" pitchFamily="18" charset="0"/>
                </a:rPr>
                <a:t>	B.3</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C.4</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D.5</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2479187992"/>
              </p:ext>
            </p:extLst>
          </p:nvPr>
        </p:nvGraphicFramePr>
        <p:xfrm>
          <a:off x="361950" y="4114015"/>
          <a:ext cx="11671959" cy="2046431"/>
        </p:xfrm>
        <a:graphic>
          <a:graphicData uri="http://schemas.openxmlformats.org/presentationml/2006/ole">
            <mc:AlternateContent xmlns:mc="http://schemas.openxmlformats.org/markup-compatibility/2006">
              <mc:Choice xmlns:v="urn:schemas-microsoft-com:vml" Requires="v">
                <p:oleObj spid="_x0000_s11293" name="文档" r:id="rId7" imgW="3826872" imgH="670961" progId="Word.Document.12">
                  <p:embed/>
                </p:oleObj>
              </mc:Choice>
              <mc:Fallback>
                <p:oleObj name="文档" r:id="rId7" imgW="3826872" imgH="670961" progId="Word.Document.12">
                  <p:embed/>
                  <p:pic>
                    <p:nvPicPr>
                      <p:cNvPr id="0" name=""/>
                      <p:cNvPicPr/>
                      <p:nvPr/>
                    </p:nvPicPr>
                    <p:blipFill>
                      <a:blip r:embed="rId8"/>
                      <a:stretch>
                        <a:fillRect/>
                      </a:stretch>
                    </p:blipFill>
                    <p:spPr>
                      <a:xfrm>
                        <a:off x="361950" y="4114015"/>
                        <a:ext cx="11671959" cy="2046431"/>
                      </a:xfrm>
                      <a:prstGeom prst="rect">
                        <a:avLst/>
                      </a:prstGeom>
                    </p:spPr>
                  </p:pic>
                </p:oleObj>
              </mc:Fallback>
            </mc:AlternateContent>
          </a:graphicData>
        </a:graphic>
      </p:graphicFrame>
    </p:spTree>
    <p:extLst>
      <p:ext uri="{BB962C8B-B14F-4D97-AF65-F5344CB8AC3E}">
        <p14:creationId xmlns:p14="http://schemas.microsoft.com/office/powerpoint/2010/main" val="31845561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2358754944"/>
              </p:ext>
            </p:extLst>
          </p:nvPr>
        </p:nvGraphicFramePr>
        <p:xfrm>
          <a:off x="288429" y="546295"/>
          <a:ext cx="11671959" cy="5407095"/>
        </p:xfrm>
        <a:graphic>
          <a:graphicData uri="http://schemas.openxmlformats.org/presentationml/2006/ole">
            <mc:AlternateContent xmlns:mc="http://schemas.openxmlformats.org/markup-compatibility/2006">
              <mc:Choice xmlns:v="urn:schemas-microsoft-com:vml" Requires="v">
                <p:oleObj spid="_x0000_s12303" name="文档" r:id="rId4" imgW="3826872" imgH="1772818" progId="Word.Document.12">
                  <p:embed/>
                </p:oleObj>
              </mc:Choice>
              <mc:Fallback>
                <p:oleObj name="文档" r:id="rId4" imgW="3826872" imgH="1772818" progId="Word.Document.12">
                  <p:embed/>
                  <p:pic>
                    <p:nvPicPr>
                      <p:cNvPr id="0" name=""/>
                      <p:cNvPicPr/>
                      <p:nvPr/>
                    </p:nvPicPr>
                    <p:blipFill>
                      <a:blip r:embed="rId5"/>
                      <a:stretch>
                        <a:fillRect/>
                      </a:stretch>
                    </p:blipFill>
                    <p:spPr>
                      <a:xfrm>
                        <a:off x="288429" y="546295"/>
                        <a:ext cx="11671959" cy="5407095"/>
                      </a:xfrm>
                      <a:prstGeom prst="rect">
                        <a:avLst/>
                      </a:prstGeom>
                    </p:spPr>
                  </p:pic>
                </p:oleObj>
              </mc:Fallback>
            </mc:AlternateContent>
          </a:graphicData>
        </a:graphic>
      </p:graphicFrame>
      <p:sp>
        <p:nvSpPr>
          <p:cNvPr id="8" name="矩形 7"/>
          <p:cNvSpPr>
            <a:spLocks noChangeAspect="1"/>
          </p:cNvSpPr>
          <p:nvPr/>
        </p:nvSpPr>
        <p:spPr>
          <a:xfrm>
            <a:off x="196757" y="5768038"/>
            <a:ext cx="3185487"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(1)B</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0726050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616646"/>
            <a:ext cx="10807700" cy="2472083"/>
            <a:chOff x="361950" y="1616646"/>
            <a:chExt cx="10807700" cy="2472083"/>
          </a:xfrm>
        </p:grpSpPr>
        <p:pic>
          <p:nvPicPr>
            <p:cNvPr id="4" name="反思感悟H.eps" descr="id:2147490797;FounderCES"/>
            <p:cNvPicPr/>
            <p:nvPr/>
          </p:nvPicPr>
          <p:blipFill>
            <a:blip r:embed="rId2"/>
            <a:stretch>
              <a:fillRect/>
            </a:stretch>
          </p:blipFill>
          <p:spPr>
            <a:xfrm>
              <a:off x="361950" y="1616646"/>
              <a:ext cx="2259558" cy="531552"/>
            </a:xfrm>
            <a:prstGeom prst="rect">
              <a:avLst/>
            </a:prstGeom>
          </p:spPr>
        </p:pic>
        <p:sp>
          <p:nvSpPr>
            <p:cNvPr id="2" name="矩形 1"/>
            <p:cNvSpPr>
              <a:spLocks noChangeAspect="1"/>
            </p:cNvSpPr>
            <p:nvPr/>
          </p:nvSpPr>
          <p:spPr>
            <a:xfrm>
              <a:off x="361950" y="222360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复数加、减、乘、除运算的实质是实数的加减乘除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加减法是对应实、虚部相加减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而乘法类比多项式乘法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除法类比分式</a:t>
              </a:r>
              <a:r>
                <a:rPr lang="zh-CN" altLang="zh-CN" dirty="0" smtClean="0">
                  <a:solidFill>
                    <a:srgbClr val="000000"/>
                  </a:solidFill>
                  <a:ea typeface="仿宋" panose="02010609060101010101" pitchFamily="49" charset="-122"/>
                  <a:cs typeface="Times New Roman" panose="02020603050405020304" pitchFamily="18" charset="0"/>
                </a:rPr>
                <a:t>的分母</a:t>
              </a:r>
              <a:r>
                <a:rPr lang="zh-CN" altLang="zh-CN" dirty="0">
                  <a:solidFill>
                    <a:srgbClr val="000000"/>
                  </a:solidFill>
                  <a:ea typeface="仿宋" panose="02010609060101010101" pitchFamily="49" charset="-122"/>
                  <a:cs typeface="Times New Roman" panose="02020603050405020304" pitchFamily="18" charset="0"/>
                </a:rPr>
                <a:t>有理化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注意</a:t>
              </a:r>
              <a:r>
                <a:rPr lang="en-US" altLang="zh-CN" dirty="0">
                  <a:solidFill>
                    <a:srgbClr val="000000"/>
                  </a:solidFill>
                  <a:ea typeface="宋体" panose="02010600030101010101" pitchFamily="2" charset="-122"/>
                  <a:cs typeface="Times New Roman" panose="02020603050405020304" pitchFamily="18" charset="0"/>
                </a:rPr>
                <a:t>i</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40601371"/>
      </p:ext>
    </p:extLst>
  </p:cSld>
  <p:clrMapOvr>
    <a:masterClrMapping/>
  </p:clrMapOvr>
  <p:transition spd="slow">
    <p:randomBar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2184458751"/>
              </p:ext>
            </p:extLst>
          </p:nvPr>
        </p:nvGraphicFramePr>
        <p:xfrm>
          <a:off x="504453" y="1028537"/>
          <a:ext cx="11671959" cy="4011750"/>
        </p:xfrm>
        <a:graphic>
          <a:graphicData uri="http://schemas.openxmlformats.org/presentationml/2006/ole">
            <mc:AlternateContent xmlns:mc="http://schemas.openxmlformats.org/markup-compatibility/2006">
              <mc:Choice xmlns:v="urn:schemas-microsoft-com:vml" Requires="v">
                <p:oleObj spid="_x0000_s13327" name="文档" r:id="rId4" imgW="3826872" imgH="1315328" progId="Word.Document.12">
                  <p:embed/>
                </p:oleObj>
              </mc:Choice>
              <mc:Fallback>
                <p:oleObj name="文档" r:id="rId4" imgW="3826872" imgH="1315328" progId="Word.Document.12">
                  <p:embed/>
                  <p:pic>
                    <p:nvPicPr>
                      <p:cNvPr id="0" name=""/>
                      <p:cNvPicPr/>
                      <p:nvPr/>
                    </p:nvPicPr>
                    <p:blipFill>
                      <a:blip r:embed="rId5"/>
                      <a:stretch>
                        <a:fillRect/>
                      </a:stretch>
                    </p:blipFill>
                    <p:spPr>
                      <a:xfrm>
                        <a:off x="504453" y="1028537"/>
                        <a:ext cx="11671959" cy="4011750"/>
                      </a:xfrm>
                      <a:prstGeom prst="rect">
                        <a:avLst/>
                      </a:prstGeom>
                    </p:spPr>
                  </p:pic>
                </p:oleObj>
              </mc:Fallback>
            </mc:AlternateContent>
          </a:graphicData>
        </a:graphic>
      </p:graphicFrame>
    </p:spTree>
    <p:extLst>
      <p:ext uri="{BB962C8B-B14F-4D97-AF65-F5344CB8AC3E}">
        <p14:creationId xmlns:p14="http://schemas.microsoft.com/office/powerpoint/2010/main" val="2604621714"/>
      </p:ext>
    </p:extLst>
  </p:cSld>
  <p:clrMapOvr>
    <a:masterClrMapping/>
  </p:clrMapOvr>
  <p:transition spd="slow">
    <p:randomBar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73986411"/>
              </p:ext>
            </p:extLst>
          </p:nvPr>
        </p:nvGraphicFramePr>
        <p:xfrm>
          <a:off x="504453" y="948983"/>
          <a:ext cx="11671959" cy="3696072"/>
        </p:xfrm>
        <a:graphic>
          <a:graphicData uri="http://schemas.openxmlformats.org/presentationml/2006/ole">
            <mc:AlternateContent xmlns:mc="http://schemas.openxmlformats.org/markup-compatibility/2006">
              <mc:Choice xmlns:v="urn:schemas-microsoft-com:vml" Requires="v">
                <p:oleObj spid="_x0000_s14351" name="文档" r:id="rId4" imgW="3826872" imgH="1211827" progId="Word.Document.12">
                  <p:embed/>
                </p:oleObj>
              </mc:Choice>
              <mc:Fallback>
                <p:oleObj name="文档" r:id="rId4" imgW="3826872" imgH="1211827" progId="Word.Document.12">
                  <p:embed/>
                  <p:pic>
                    <p:nvPicPr>
                      <p:cNvPr id="0" name=""/>
                      <p:cNvPicPr/>
                      <p:nvPr/>
                    </p:nvPicPr>
                    <p:blipFill>
                      <a:blip r:embed="rId5"/>
                      <a:stretch>
                        <a:fillRect/>
                      </a:stretch>
                    </p:blipFill>
                    <p:spPr>
                      <a:xfrm>
                        <a:off x="504453" y="948983"/>
                        <a:ext cx="11671959" cy="3696072"/>
                      </a:xfrm>
                      <a:prstGeom prst="rect">
                        <a:avLst/>
                      </a:prstGeom>
                    </p:spPr>
                  </p:pic>
                </p:oleObj>
              </mc:Fallback>
            </mc:AlternateContent>
          </a:graphicData>
        </a:graphic>
      </p:graphicFrame>
      <p:sp>
        <p:nvSpPr>
          <p:cNvPr id="3" name="矩形 2"/>
          <p:cNvSpPr>
            <a:spLocks noChangeAspect="1"/>
          </p:cNvSpPr>
          <p:nvPr/>
        </p:nvSpPr>
        <p:spPr>
          <a:xfrm>
            <a:off x="370269" y="4654887"/>
            <a:ext cx="3185487"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404197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121403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专题三</a:t>
            </a:r>
            <a:r>
              <a:rPr lang="zh-CN" altLang="zh-CN" i="1" dirty="0"/>
              <a:t>　</a:t>
            </a:r>
            <a:r>
              <a:rPr lang="zh-CN" altLang="zh-CN" dirty="0"/>
              <a:t>复数的几何意义</a:t>
            </a:r>
          </a:p>
        </p:txBody>
      </p:sp>
      <p:grpSp>
        <p:nvGrpSpPr>
          <p:cNvPr id="11" name="组合 10"/>
          <p:cNvGrpSpPr/>
          <p:nvPr/>
        </p:nvGrpSpPr>
        <p:grpSpPr>
          <a:xfrm>
            <a:off x="361950" y="1985471"/>
            <a:ext cx="14334742" cy="1217641"/>
            <a:chOff x="361950" y="2147859"/>
            <a:chExt cx="14334742" cy="1217641"/>
          </a:xfrm>
        </p:grpSpPr>
        <p:sp>
          <p:nvSpPr>
            <p:cNvPr id="9" name="矩形 8"/>
            <p:cNvSpPr>
              <a:spLocks noChangeAspect="1"/>
            </p:cNvSpPr>
            <p:nvPr/>
          </p:nvSpPr>
          <p:spPr>
            <a:xfrm>
              <a:off x="361950" y="2147859"/>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满足</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109873701"/>
                </p:ext>
              </p:extLst>
            </p:nvPr>
          </p:nvGraphicFramePr>
          <p:xfrm>
            <a:off x="3024733" y="2232235"/>
            <a:ext cx="11671959" cy="544764"/>
          </p:xfrm>
          <a:graphic>
            <a:graphicData uri="http://schemas.openxmlformats.org/presentationml/2006/ole">
              <mc:AlternateContent xmlns:mc="http://schemas.openxmlformats.org/markup-compatibility/2006">
                <mc:Choice xmlns:v="urn:schemas-microsoft-com:vml" Requires="v">
                  <p:oleObj spid="_x0000_s15375" name="文档" r:id="rId4" imgW="3826872" imgH="178611" progId="Word.Document.12">
                    <p:embed/>
                  </p:oleObj>
                </mc:Choice>
                <mc:Fallback>
                  <p:oleObj name="文档" r:id="rId4" imgW="3826872" imgH="178611" progId="Word.Document.12">
                    <p:embed/>
                    <p:pic>
                      <p:nvPicPr>
                        <p:cNvPr id="0" name=""/>
                        <p:cNvPicPr/>
                        <p:nvPr/>
                      </p:nvPicPr>
                      <p:blipFill>
                        <a:blip r:embed="rId5"/>
                        <a:stretch>
                          <a:fillRect/>
                        </a:stretch>
                      </p:blipFill>
                      <p:spPr>
                        <a:xfrm>
                          <a:off x="3024733" y="2232235"/>
                          <a:ext cx="11671959" cy="544764"/>
                        </a:xfrm>
                        <a:prstGeom prst="rect">
                          <a:avLst/>
                        </a:prstGeom>
                      </p:spPr>
                    </p:pic>
                  </p:oleObj>
                </mc:Fallback>
              </mc:AlternateContent>
            </a:graphicData>
          </a:graphic>
        </p:graphicFrame>
      </p:grpSp>
      <p:sp>
        <p:nvSpPr>
          <p:cNvPr id="12" name="矩形 11"/>
          <p:cNvSpPr>
            <a:spLocks noChangeAspect="1"/>
          </p:cNvSpPr>
          <p:nvPr/>
        </p:nvSpPr>
        <p:spPr>
          <a:xfrm>
            <a:off x="361950" y="3246582"/>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根据复数加、减法的几何意义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作出适合题意的图形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利用平行四边形的性质联系余弦定理解题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185116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274564792"/>
              </p:ext>
            </p:extLst>
          </p:nvPr>
        </p:nvGraphicFramePr>
        <p:xfrm>
          <a:off x="344488" y="709613"/>
          <a:ext cx="11650662" cy="5562600"/>
        </p:xfrm>
        <a:graphic>
          <a:graphicData uri="http://schemas.openxmlformats.org/presentationml/2006/ole">
            <mc:AlternateContent xmlns:mc="http://schemas.openxmlformats.org/markup-compatibility/2006">
              <mc:Choice xmlns:v="urn:schemas-microsoft-com:vml" Requires="v">
                <p:oleObj spid="_x0000_s16399" name="文档" r:id="rId4" imgW="3944779" imgH="1876319" progId="Word.Document.12">
                  <p:embed/>
                </p:oleObj>
              </mc:Choice>
              <mc:Fallback>
                <p:oleObj name="文档" r:id="rId4" imgW="3944779" imgH="1876319" progId="Word.Document.12">
                  <p:embed/>
                  <p:pic>
                    <p:nvPicPr>
                      <p:cNvPr id="0" name=""/>
                      <p:cNvPicPr/>
                      <p:nvPr/>
                    </p:nvPicPr>
                    <p:blipFill>
                      <a:blip r:embed="rId5"/>
                      <a:stretch>
                        <a:fillRect/>
                      </a:stretch>
                    </p:blipFill>
                    <p:spPr>
                      <a:xfrm>
                        <a:off x="344488" y="709613"/>
                        <a:ext cx="11650662" cy="5562600"/>
                      </a:xfrm>
                      <a:prstGeom prst="rect">
                        <a:avLst/>
                      </a:prstGeom>
                    </p:spPr>
                  </p:pic>
                </p:oleObj>
              </mc:Fallback>
            </mc:AlternateContent>
          </a:graphicData>
        </a:graphic>
      </p:graphicFrame>
      <p:pic>
        <p:nvPicPr>
          <p:cNvPr id="8" name="EMG2TRA23.eps" descr="id:2147502128;FounderCES"/>
          <p:cNvPicPr/>
          <p:nvPr/>
        </p:nvPicPr>
        <p:blipFill>
          <a:blip r:embed="rId6"/>
          <a:stretch>
            <a:fillRect/>
          </a:stretch>
        </p:blipFill>
        <p:spPr>
          <a:xfrm>
            <a:off x="8425333" y="2015951"/>
            <a:ext cx="2880320" cy="2843045"/>
          </a:xfrm>
          <a:prstGeom prst="rect">
            <a:avLst/>
          </a:prstGeom>
        </p:spPr>
      </p:pic>
    </p:spTree>
    <p:extLst>
      <p:ext uri="{BB962C8B-B14F-4D97-AF65-F5344CB8AC3E}">
        <p14:creationId xmlns:p14="http://schemas.microsoft.com/office/powerpoint/2010/main" val="3780500811"/>
      </p:ext>
    </p:extLst>
  </p:cSld>
  <p:clrMapOvr>
    <a:masterClrMapping/>
  </p:clrMapOvr>
  <p:transition spd="slow">
    <p:randomBa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667463"/>
            <a:ext cx="10807700" cy="5803152"/>
            <a:chOff x="361950" y="667463"/>
            <a:chExt cx="10807700" cy="5803152"/>
          </a:xfrm>
        </p:grpSpPr>
        <p:pic>
          <p:nvPicPr>
            <p:cNvPr id="4" name="反思感悟H.eps" descr="id:2147490797;FounderCES"/>
            <p:cNvPicPr/>
            <p:nvPr/>
          </p:nvPicPr>
          <p:blipFill>
            <a:blip r:embed="rId2"/>
            <a:stretch>
              <a:fillRect/>
            </a:stretch>
          </p:blipFill>
          <p:spPr>
            <a:xfrm>
              <a:off x="361950" y="667463"/>
              <a:ext cx="2259558" cy="531552"/>
            </a:xfrm>
            <a:prstGeom prst="rect">
              <a:avLst/>
            </a:prstGeom>
          </p:spPr>
        </p:pic>
        <p:sp>
          <p:nvSpPr>
            <p:cNvPr id="2" name="矩形 1"/>
            <p:cNvSpPr>
              <a:spLocks noChangeAspect="1"/>
            </p:cNvSpPr>
            <p:nvPr/>
          </p:nvSpPr>
          <p:spPr>
            <a:xfrm>
              <a:off x="361950" y="1116457"/>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利用复数的几何意义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复数加、减法的几何意义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复数模的定义等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可以将复数和图形统一起来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这为我们利用数形结合思想解题提供了可能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复数的几何意义包括三个方面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复数的表示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点和向量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、复数的模的几何意义及复数的运算的几何意义</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复数的几何意义体现了用几何图形的方法研究代数问题的数学思想方法</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复数的加、减法的几何意义实质上是平行四边形法则和三角形法则</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由减法的几何意义知</a:t>
              </a:r>
              <a:r>
                <a:rPr lang="en-US" altLang="zh-CN" i="1" dirty="0">
                  <a:solidFill>
                    <a:srgbClr val="000000"/>
                  </a:solidFill>
                  <a:ea typeface="宋体" panose="02010600030101010101" pitchFamily="2" charset="-122"/>
                  <a:cs typeface="Times New Roman" panose="02020603050405020304" pitchFamily="18" charset="0"/>
                </a:rPr>
                <a:t>|z-z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表示复平面内与</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分别对应的两点</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之间的距离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96694053"/>
      </p:ext>
    </p:extLst>
  </p:cSld>
  <p:clrMapOvr>
    <a:masterClrMapping/>
  </p:clrMapOvr>
  <p:transition spd="slow">
    <p:randomBa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997229"/>
            <a:ext cx="10807700" cy="1893141"/>
            <a:chOff x="361950" y="937982"/>
            <a:chExt cx="10807700" cy="1893141"/>
          </a:xfrm>
        </p:grpSpPr>
        <p:sp>
          <p:nvSpPr>
            <p:cNvPr id="6" name="矩形 5"/>
            <p:cNvSpPr>
              <a:spLocks noChangeAspect="1"/>
            </p:cNvSpPr>
            <p:nvPr/>
          </p:nvSpPr>
          <p:spPr>
            <a:xfrm>
              <a:off x="361950" y="965997"/>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在复平面内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对应</a:t>
              </a:r>
              <a:r>
                <a:rPr lang="zh-CN" altLang="zh-CN" dirty="0">
                  <a:solidFill>
                    <a:srgbClr val="000000"/>
                  </a:solidFill>
                  <a:ea typeface="宋体" panose="02010600030101010101" pitchFamily="2" charset="-122"/>
                  <a:cs typeface="Times New Roman" panose="02020603050405020304" pitchFamily="18" charset="0"/>
                </a:rPr>
                <a:t>的点在</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第一象限</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第二象限</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第三象限</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第四象限</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608517428"/>
                </p:ext>
              </p:extLst>
            </p:nvPr>
          </p:nvGraphicFramePr>
          <p:xfrm>
            <a:off x="6265093" y="937982"/>
            <a:ext cx="1516062" cy="720725"/>
          </p:xfrm>
          <a:graphic>
            <a:graphicData uri="http://schemas.openxmlformats.org/presentationml/2006/ole">
              <mc:AlternateContent xmlns:mc="http://schemas.openxmlformats.org/markup-compatibility/2006">
                <mc:Choice xmlns:v="urn:schemas-microsoft-com:vml" Requires="v">
                  <p:oleObj spid="_x0000_s17434" name="文档" r:id="rId4" imgW="735172" imgH="347879" progId="Word.Document.12">
                    <p:embed/>
                  </p:oleObj>
                </mc:Choice>
                <mc:Fallback>
                  <p:oleObj name="文档" r:id="rId4" imgW="735172" imgH="347879" progId="Word.Document.12">
                    <p:embed/>
                    <p:pic>
                      <p:nvPicPr>
                        <p:cNvPr id="0" name=""/>
                        <p:cNvPicPr/>
                        <p:nvPr/>
                      </p:nvPicPr>
                      <p:blipFill>
                        <a:blip r:embed="rId5"/>
                        <a:stretch>
                          <a:fillRect/>
                        </a:stretch>
                      </p:blipFill>
                      <p:spPr>
                        <a:xfrm>
                          <a:off x="6265093" y="937982"/>
                          <a:ext cx="1516062" cy="720725"/>
                        </a:xfrm>
                        <a:prstGeom prst="rect">
                          <a:avLst/>
                        </a:prstGeom>
                      </p:spPr>
                    </p:pic>
                  </p:oleObj>
                </mc:Fallback>
              </mc:AlternateContent>
            </a:graphicData>
          </a:graphic>
        </p:graphicFrame>
      </p:grpSp>
      <p:graphicFrame>
        <p:nvGraphicFramePr>
          <p:cNvPr id="9" name="对象 8"/>
          <p:cNvGraphicFramePr>
            <a:graphicFrameLocks noChangeAspect="1"/>
          </p:cNvGraphicFramePr>
          <p:nvPr>
            <p:extLst>
              <p:ext uri="{D42A27DB-BD31-4B8C-83A1-F6EECF244321}">
                <p14:modId xmlns:p14="http://schemas.microsoft.com/office/powerpoint/2010/main" val="2128567340"/>
              </p:ext>
            </p:extLst>
          </p:nvPr>
        </p:nvGraphicFramePr>
        <p:xfrm>
          <a:off x="381614" y="2855506"/>
          <a:ext cx="11671959" cy="1982857"/>
        </p:xfrm>
        <a:graphic>
          <a:graphicData uri="http://schemas.openxmlformats.org/presentationml/2006/ole">
            <mc:AlternateContent xmlns:mc="http://schemas.openxmlformats.org/markup-compatibility/2006">
              <mc:Choice xmlns:v="urn:schemas-microsoft-com:vml" Requires="v">
                <p:oleObj spid="_x0000_s17435" name="文档" r:id="rId7" imgW="3837724" imgH="652279" progId="Word.Document.12">
                  <p:embed/>
                </p:oleObj>
              </mc:Choice>
              <mc:Fallback>
                <p:oleObj name="文档" r:id="rId7" imgW="3837724" imgH="652279" progId="Word.Document.12">
                  <p:embed/>
                  <p:pic>
                    <p:nvPicPr>
                      <p:cNvPr id="0" name=""/>
                      <p:cNvPicPr/>
                      <p:nvPr/>
                    </p:nvPicPr>
                    <p:blipFill>
                      <a:blip r:embed="rId8"/>
                      <a:stretch>
                        <a:fillRect/>
                      </a:stretch>
                    </p:blipFill>
                    <p:spPr>
                      <a:xfrm>
                        <a:off x="381614" y="2855506"/>
                        <a:ext cx="11671959" cy="1982857"/>
                      </a:xfrm>
                      <a:prstGeom prst="rect">
                        <a:avLst/>
                      </a:prstGeom>
                    </p:spPr>
                  </p:pic>
                </p:oleObj>
              </mc:Fallback>
            </mc:AlternateContent>
          </a:graphicData>
        </a:graphic>
      </p:graphicFrame>
      <p:sp>
        <p:nvSpPr>
          <p:cNvPr id="10" name="矩形 9"/>
          <p:cNvSpPr>
            <a:spLocks noChangeAspect="1"/>
          </p:cNvSpPr>
          <p:nvPr/>
        </p:nvSpPr>
        <p:spPr>
          <a:xfrm>
            <a:off x="351035" y="4789071"/>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949254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935571"/>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已知复数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|z-z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的最大值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19585586"/>
      </p:ext>
    </p:extLst>
  </p:cSld>
  <p:clrMapOvr>
    <a:masterClrMapping/>
  </p:clrMapOvr>
  <p:transition spd="slow">
    <p:randomBar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342390650"/>
              </p:ext>
            </p:extLst>
          </p:nvPr>
        </p:nvGraphicFramePr>
        <p:xfrm>
          <a:off x="494621" y="615119"/>
          <a:ext cx="11661775" cy="1065212"/>
        </p:xfrm>
        <a:graphic>
          <a:graphicData uri="http://schemas.openxmlformats.org/presentationml/2006/ole">
            <mc:AlternateContent xmlns:mc="http://schemas.openxmlformats.org/markup-compatibility/2006">
              <mc:Choice xmlns:v="urn:schemas-microsoft-com:vml" Requires="v">
                <p:oleObj spid="_x0000_s18458" name="文档" r:id="rId4" imgW="3826872" imgH="351114" progId="Word.Document.12">
                  <p:embed/>
                </p:oleObj>
              </mc:Choice>
              <mc:Fallback>
                <p:oleObj name="文档" r:id="rId4" imgW="3826872" imgH="351114" progId="Word.Document.12">
                  <p:embed/>
                  <p:pic>
                    <p:nvPicPr>
                      <p:cNvPr id="0" name=""/>
                      <p:cNvPicPr/>
                      <p:nvPr/>
                    </p:nvPicPr>
                    <p:blipFill>
                      <a:blip r:embed="rId5"/>
                      <a:stretch>
                        <a:fillRect/>
                      </a:stretch>
                    </p:blipFill>
                    <p:spPr>
                      <a:xfrm>
                        <a:off x="494621" y="615119"/>
                        <a:ext cx="11661775" cy="1065212"/>
                      </a:xfrm>
                      <a:prstGeom prst="rect">
                        <a:avLst/>
                      </a:prstGeom>
                    </p:spPr>
                  </p:pic>
                </p:oleObj>
              </mc:Fallback>
            </mc:AlternateContent>
          </a:graphicData>
        </a:graphic>
      </p:graphicFrame>
      <p:sp>
        <p:nvSpPr>
          <p:cNvPr id="5" name="矩形 4"/>
          <p:cNvSpPr>
            <a:spLocks noChangeAspect="1"/>
          </p:cNvSpPr>
          <p:nvPr/>
        </p:nvSpPr>
        <p:spPr>
          <a:xfrm>
            <a:off x="361950" y="1514738"/>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楷体" panose="02010609060101010101" pitchFamily="49"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可知</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楷体" panose="02010609060101010101" pitchFamily="49" charset="-122"/>
                <a:cs typeface="Times New Roman" panose="02020603050405020304" pitchFamily="18" charset="0"/>
              </a:rPr>
              <a:t>在复平面内对应的点的轨迹是半径为</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圆心为</a:t>
            </a:r>
            <a:r>
              <a:rPr lang="en-US" altLang="zh-CN" i="1" dirty="0">
                <a:solidFill>
                  <a:srgbClr val="000000"/>
                </a:solidFill>
                <a:ea typeface="宋体" panose="02010600030101010101" pitchFamily="2" charset="-122"/>
                <a:cs typeface="Times New Roman" panose="02020603050405020304" pitchFamily="18" charset="0"/>
              </a:rPr>
              <a:t>O</a:t>
            </a:r>
            <a:r>
              <a:rPr lang="en-US" altLang="zh-CN" dirty="0">
                <a:solidFill>
                  <a:srgbClr val="000000"/>
                </a:solidFill>
                <a:ea typeface="宋体" panose="02010600030101010101" pitchFamily="2" charset="-122"/>
                <a:cs typeface="Times New Roman" panose="02020603050405020304" pitchFamily="18" charset="0"/>
              </a:rPr>
              <a:t>(0,0)</a:t>
            </a:r>
            <a:r>
              <a:rPr lang="zh-CN" altLang="zh-CN" dirty="0">
                <a:solidFill>
                  <a:srgbClr val="000000"/>
                </a:solidFill>
                <a:ea typeface="楷体" panose="02010609060101010101" pitchFamily="49" charset="-122"/>
                <a:cs typeface="Times New Roman" panose="02020603050405020304" pitchFamily="18" charset="0"/>
              </a:rPr>
              <a:t>的圆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而</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在复平面内的对应点为</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en-US" dirty="0" smtClean="0">
                <a:solidFill>
                  <a:srgbClr val="000000"/>
                </a:solidFill>
                <a:ea typeface="楷体" panose="02010609060101010101" pitchFamily="49" charset="-122"/>
                <a:cs typeface="Times New Roman" panose="02020603050405020304" pitchFamily="18" charset="0"/>
              </a:rPr>
              <a:t>故</a:t>
            </a:r>
            <a:r>
              <a:rPr lang="en-US" altLang="zh-CN" i="1" dirty="0" smtClean="0">
                <a:solidFill>
                  <a:srgbClr val="000000"/>
                </a:solidFill>
                <a:ea typeface="宋体" panose="02010600030101010101" pitchFamily="2" charset="-122"/>
                <a:cs typeface="Times New Roman" panose="02020603050405020304" pitchFamily="18" charset="0"/>
              </a:rPr>
              <a:t>|z-z</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的最大值可以看成是点</a:t>
            </a:r>
            <a:r>
              <a:rPr lang="en-US" altLang="zh-CN" i="1" dirty="0" smtClean="0">
                <a:solidFill>
                  <a:srgbClr val="000000"/>
                </a:solidFill>
                <a:ea typeface="宋体" panose="02010600030101010101" pitchFamily="2" charset="-122"/>
                <a:cs typeface="Times New Roman" panose="02020603050405020304" pitchFamily="18" charset="0"/>
              </a:rPr>
              <a:t>Z</a:t>
            </a:r>
            <a:r>
              <a:rPr lang="en-US" altLang="zh-CN" baseline="-25000" dirty="0" smtClean="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ea typeface="楷体" panose="02010609060101010101" pitchFamily="49" charset="-122"/>
                <a:cs typeface="Times New Roman" panose="02020603050405020304" pitchFamily="18" charset="0"/>
              </a:rPr>
              <a:t>到圆上的点的距离的最大值</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设</a:t>
            </a:r>
            <a:r>
              <a:rPr lang="zh-CN" altLang="zh-CN" dirty="0">
                <a:solidFill>
                  <a:srgbClr val="000000"/>
                </a:solidFill>
                <a:ea typeface="楷体" panose="02010609060101010101" pitchFamily="49" charset="-122"/>
                <a:cs typeface="Times New Roman" panose="02020603050405020304" pitchFamily="18" charset="0"/>
              </a:rPr>
              <a:t>圆的半径为</a:t>
            </a:r>
            <a:r>
              <a:rPr lang="en-US" altLang="zh-CN" i="1" dirty="0">
                <a:solidFill>
                  <a:srgbClr val="000000"/>
                </a:solidFill>
                <a:ea typeface="宋体" panose="02010600030101010101" pitchFamily="2" charset="-122"/>
                <a:cs typeface="Times New Roman" panose="02020603050405020304" pitchFamily="18" charset="0"/>
              </a:rPr>
              <a:t>r</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813116371"/>
              </p:ext>
            </p:extLst>
          </p:nvPr>
        </p:nvGraphicFramePr>
        <p:xfrm>
          <a:off x="416558" y="5074433"/>
          <a:ext cx="11671959" cy="641223"/>
        </p:xfrm>
        <a:graphic>
          <a:graphicData uri="http://schemas.openxmlformats.org/presentationml/2006/ole">
            <mc:AlternateContent xmlns:mc="http://schemas.openxmlformats.org/markup-compatibility/2006">
              <mc:Choice xmlns:v="urn:schemas-microsoft-com:vml" Requires="v">
                <p:oleObj spid="_x0000_s18459" name="文档" r:id="rId7" imgW="3826872" imgH="210237" progId="Word.Document.12">
                  <p:embed/>
                </p:oleObj>
              </mc:Choice>
              <mc:Fallback>
                <p:oleObj name="文档" r:id="rId7" imgW="3826872" imgH="210237" progId="Word.Document.12">
                  <p:embed/>
                  <p:pic>
                    <p:nvPicPr>
                      <p:cNvPr id="0" name=""/>
                      <p:cNvPicPr/>
                      <p:nvPr/>
                    </p:nvPicPr>
                    <p:blipFill>
                      <a:blip r:embed="rId8"/>
                      <a:stretch>
                        <a:fillRect/>
                      </a:stretch>
                    </p:blipFill>
                    <p:spPr>
                      <a:xfrm>
                        <a:off x="416558" y="5074433"/>
                        <a:ext cx="11671959" cy="641223"/>
                      </a:xfrm>
                      <a:prstGeom prst="rect">
                        <a:avLst/>
                      </a:prstGeom>
                    </p:spPr>
                  </p:pic>
                </p:oleObj>
              </mc:Fallback>
            </mc:AlternateContent>
          </a:graphicData>
        </a:graphic>
      </p:graphicFrame>
      <p:pic>
        <p:nvPicPr>
          <p:cNvPr id="7" name="EMG2TRA24.eps" descr="id:2147502142;FounderCES"/>
          <p:cNvPicPr/>
          <p:nvPr/>
        </p:nvPicPr>
        <p:blipFill>
          <a:blip r:embed="rId9"/>
          <a:stretch>
            <a:fillRect/>
          </a:stretch>
        </p:blipFill>
        <p:spPr>
          <a:xfrm>
            <a:off x="6913165" y="3838424"/>
            <a:ext cx="2808312" cy="2488175"/>
          </a:xfrm>
          <a:prstGeom prst="rect">
            <a:avLst/>
          </a:prstGeom>
        </p:spPr>
      </p:pic>
    </p:spTree>
    <p:extLst>
      <p:ext uri="{BB962C8B-B14F-4D97-AF65-F5344CB8AC3E}">
        <p14:creationId xmlns:p14="http://schemas.microsoft.com/office/powerpoint/2010/main" val="3966817326"/>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135804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i="1" baseline="30000" dirty="0"/>
              <a:t>*</a:t>
            </a:r>
            <a:r>
              <a:rPr lang="zh-CN" altLang="zh-CN" dirty="0"/>
              <a:t>专题四</a:t>
            </a:r>
            <a:r>
              <a:rPr lang="zh-CN" altLang="zh-CN" i="1" dirty="0"/>
              <a:t>　</a:t>
            </a:r>
            <a:r>
              <a:rPr lang="zh-CN" altLang="zh-CN" dirty="0"/>
              <a:t>复数三角形式的乘除运算</a:t>
            </a:r>
          </a:p>
        </p:txBody>
      </p:sp>
      <p:graphicFrame>
        <p:nvGraphicFramePr>
          <p:cNvPr id="3" name="对象 2"/>
          <p:cNvGraphicFramePr>
            <a:graphicFrameLocks noChangeAspect="1"/>
          </p:cNvGraphicFramePr>
          <p:nvPr>
            <p:extLst>
              <p:ext uri="{D42A27DB-BD31-4B8C-83A1-F6EECF244321}">
                <p14:modId xmlns:p14="http://schemas.microsoft.com/office/powerpoint/2010/main" val="1121036138"/>
              </p:ext>
            </p:extLst>
          </p:nvPr>
        </p:nvGraphicFramePr>
        <p:xfrm>
          <a:off x="226253" y="2182617"/>
          <a:ext cx="11671959" cy="1705542"/>
        </p:xfrm>
        <a:graphic>
          <a:graphicData uri="http://schemas.openxmlformats.org/presentationml/2006/ole">
            <mc:AlternateContent xmlns:mc="http://schemas.openxmlformats.org/markup-compatibility/2006">
              <mc:Choice xmlns:v="urn:schemas-microsoft-com:vml" Requires="v">
                <p:oleObj spid="_x0000_s19470" name="文档" r:id="rId4" imgW="3826872" imgH="559194" progId="Word.Document.12">
                  <p:embed/>
                </p:oleObj>
              </mc:Choice>
              <mc:Fallback>
                <p:oleObj name="文档" r:id="rId4" imgW="3826872" imgH="559194" progId="Word.Document.12">
                  <p:embed/>
                  <p:pic>
                    <p:nvPicPr>
                      <p:cNvPr id="0" name=""/>
                      <p:cNvPicPr/>
                      <p:nvPr/>
                    </p:nvPicPr>
                    <p:blipFill>
                      <a:blip r:embed="rId5"/>
                      <a:stretch>
                        <a:fillRect/>
                      </a:stretch>
                    </p:blipFill>
                    <p:spPr>
                      <a:xfrm>
                        <a:off x="226253" y="2182617"/>
                        <a:ext cx="11671959" cy="1705542"/>
                      </a:xfrm>
                      <a:prstGeom prst="rect">
                        <a:avLst/>
                      </a:prstGeom>
                    </p:spPr>
                  </p:pic>
                </p:oleObj>
              </mc:Fallback>
            </mc:AlternateContent>
          </a:graphicData>
        </a:graphic>
      </p:graphicFrame>
    </p:spTree>
    <p:extLst>
      <p:ext uri="{BB962C8B-B14F-4D97-AF65-F5344CB8AC3E}">
        <p14:creationId xmlns:p14="http://schemas.microsoft.com/office/powerpoint/2010/main" val="649639005"/>
      </p:ext>
    </p:extLst>
  </p:cSld>
  <p:clrMapOvr>
    <a:masterClrMapping/>
  </p:clrMapOvr>
  <p:transition spd="slow">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383494253"/>
              </p:ext>
            </p:extLst>
          </p:nvPr>
        </p:nvGraphicFramePr>
        <p:xfrm>
          <a:off x="425782" y="647799"/>
          <a:ext cx="11671959" cy="4923713"/>
        </p:xfrm>
        <a:graphic>
          <a:graphicData uri="http://schemas.openxmlformats.org/presentationml/2006/ole">
            <mc:AlternateContent xmlns:mc="http://schemas.openxmlformats.org/markup-compatibility/2006">
              <mc:Choice xmlns:v="urn:schemas-microsoft-com:vml" Requires="v">
                <p:oleObj spid="_x0000_s20506" name="文档" r:id="rId4" imgW="3826872" imgH="1614332" progId="Word.Document.12">
                  <p:embed/>
                </p:oleObj>
              </mc:Choice>
              <mc:Fallback>
                <p:oleObj name="文档" r:id="rId4" imgW="3826872" imgH="1614332" progId="Word.Document.12">
                  <p:embed/>
                  <p:pic>
                    <p:nvPicPr>
                      <p:cNvPr id="0" name=""/>
                      <p:cNvPicPr/>
                      <p:nvPr/>
                    </p:nvPicPr>
                    <p:blipFill>
                      <a:blip r:embed="rId5"/>
                      <a:stretch>
                        <a:fillRect/>
                      </a:stretch>
                    </p:blipFill>
                    <p:spPr>
                      <a:xfrm>
                        <a:off x="425782" y="647799"/>
                        <a:ext cx="11671959" cy="492371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215318212"/>
              </p:ext>
            </p:extLst>
          </p:nvPr>
        </p:nvGraphicFramePr>
        <p:xfrm>
          <a:off x="340773" y="5551848"/>
          <a:ext cx="11671959" cy="867020"/>
        </p:xfrm>
        <a:graphic>
          <a:graphicData uri="http://schemas.openxmlformats.org/presentationml/2006/ole">
            <mc:AlternateContent xmlns:mc="http://schemas.openxmlformats.org/markup-compatibility/2006">
              <mc:Choice xmlns:v="urn:schemas-microsoft-com:vml" Requires="v">
                <p:oleObj spid="_x0000_s20507" name="文档" r:id="rId7" imgW="3826872" imgH="284269" progId="Word.Document.12">
                  <p:embed/>
                </p:oleObj>
              </mc:Choice>
              <mc:Fallback>
                <p:oleObj name="文档" r:id="rId7" imgW="3826872" imgH="284269" progId="Word.Document.12">
                  <p:embed/>
                  <p:pic>
                    <p:nvPicPr>
                      <p:cNvPr id="0" name=""/>
                      <p:cNvPicPr/>
                      <p:nvPr/>
                    </p:nvPicPr>
                    <p:blipFill>
                      <a:blip r:embed="rId8"/>
                      <a:stretch>
                        <a:fillRect/>
                      </a:stretch>
                    </p:blipFill>
                    <p:spPr>
                      <a:xfrm>
                        <a:off x="340773" y="5551848"/>
                        <a:ext cx="11671959" cy="867020"/>
                      </a:xfrm>
                      <a:prstGeom prst="rect">
                        <a:avLst/>
                      </a:prstGeom>
                    </p:spPr>
                  </p:pic>
                </p:oleObj>
              </mc:Fallback>
            </mc:AlternateContent>
          </a:graphicData>
        </a:graphic>
      </p:graphicFrame>
    </p:spTree>
    <p:extLst>
      <p:ext uri="{BB962C8B-B14F-4D97-AF65-F5344CB8AC3E}">
        <p14:creationId xmlns:p14="http://schemas.microsoft.com/office/powerpoint/2010/main" val="91336393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698486"/>
            <a:ext cx="10807700" cy="2405697"/>
            <a:chOff x="361950" y="940139"/>
            <a:chExt cx="10807700" cy="2405697"/>
          </a:xfrm>
        </p:grpSpPr>
        <p:pic>
          <p:nvPicPr>
            <p:cNvPr id="6"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37264"/>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复数三角形式的乘除运算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先把类似于三角形式的复数化为三角形式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再利用三角形式的乘除运算法则计算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结果往往化为代数形式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641461732"/>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442086710"/>
              </p:ext>
            </p:extLst>
          </p:nvPr>
        </p:nvGraphicFramePr>
        <p:xfrm>
          <a:off x="432445" y="1440707"/>
          <a:ext cx="11671959" cy="838521"/>
        </p:xfrm>
        <a:graphic>
          <a:graphicData uri="http://schemas.openxmlformats.org/presentationml/2006/ole">
            <mc:AlternateContent xmlns:mc="http://schemas.openxmlformats.org/markup-compatibility/2006">
              <mc:Choice xmlns:v="urn:schemas-microsoft-com:vml" Requires="v">
                <p:oleObj spid="_x0000_s21542" name="文档" r:id="rId4" imgW="3826872" imgH="274925" progId="Word.Document.12">
                  <p:embed/>
                </p:oleObj>
              </mc:Choice>
              <mc:Fallback>
                <p:oleObj name="文档" r:id="rId4" imgW="3826872" imgH="274925" progId="Word.Document.12">
                  <p:embed/>
                  <p:pic>
                    <p:nvPicPr>
                      <p:cNvPr id="0" name=""/>
                      <p:cNvPicPr/>
                      <p:nvPr/>
                    </p:nvPicPr>
                    <p:blipFill>
                      <a:blip r:embed="rId5"/>
                      <a:stretch>
                        <a:fillRect/>
                      </a:stretch>
                    </p:blipFill>
                    <p:spPr>
                      <a:xfrm>
                        <a:off x="432445" y="1440707"/>
                        <a:ext cx="11671959" cy="838521"/>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983201159"/>
              </p:ext>
            </p:extLst>
          </p:nvPr>
        </p:nvGraphicFramePr>
        <p:xfrm>
          <a:off x="432444" y="2326723"/>
          <a:ext cx="11671959" cy="1104875"/>
        </p:xfrm>
        <a:graphic>
          <a:graphicData uri="http://schemas.openxmlformats.org/presentationml/2006/ole">
            <mc:AlternateContent xmlns:mc="http://schemas.openxmlformats.org/markup-compatibility/2006">
              <mc:Choice xmlns:v="urn:schemas-microsoft-com:vml" Requires="v">
                <p:oleObj spid="_x0000_s21543" name="文档" r:id="rId7" imgW="3826872" imgH="362254" progId="Word.Document.12">
                  <p:embed/>
                </p:oleObj>
              </mc:Choice>
              <mc:Fallback>
                <p:oleObj name="文档" r:id="rId7" imgW="3826872" imgH="362254" progId="Word.Document.12">
                  <p:embed/>
                  <p:pic>
                    <p:nvPicPr>
                      <p:cNvPr id="0" name=""/>
                      <p:cNvPicPr/>
                      <p:nvPr/>
                    </p:nvPicPr>
                    <p:blipFill>
                      <a:blip r:embed="rId8"/>
                      <a:stretch>
                        <a:fillRect/>
                      </a:stretch>
                    </p:blipFill>
                    <p:spPr>
                      <a:xfrm>
                        <a:off x="432444" y="2326723"/>
                        <a:ext cx="11671959" cy="110487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397515090"/>
              </p:ext>
            </p:extLst>
          </p:nvPr>
        </p:nvGraphicFramePr>
        <p:xfrm>
          <a:off x="432443" y="3503606"/>
          <a:ext cx="11671959" cy="816601"/>
        </p:xfrm>
        <a:graphic>
          <a:graphicData uri="http://schemas.openxmlformats.org/presentationml/2006/ole">
            <mc:AlternateContent xmlns:mc="http://schemas.openxmlformats.org/markup-compatibility/2006">
              <mc:Choice xmlns:v="urn:schemas-microsoft-com:vml" Requires="v">
                <p:oleObj spid="_x0000_s21544" name="文档" r:id="rId10" imgW="3826872" imgH="267738" progId="Word.Document.12">
                  <p:embed/>
                </p:oleObj>
              </mc:Choice>
              <mc:Fallback>
                <p:oleObj name="文档" r:id="rId10" imgW="3826872" imgH="267738" progId="Word.Document.12">
                  <p:embed/>
                  <p:pic>
                    <p:nvPicPr>
                      <p:cNvPr id="0" name=""/>
                      <p:cNvPicPr/>
                      <p:nvPr/>
                    </p:nvPicPr>
                    <p:blipFill>
                      <a:blip r:embed="rId11"/>
                      <a:stretch>
                        <a:fillRect/>
                      </a:stretch>
                    </p:blipFill>
                    <p:spPr>
                      <a:xfrm>
                        <a:off x="432443" y="3503606"/>
                        <a:ext cx="11671959" cy="816601"/>
                      </a:xfrm>
                      <a:prstGeom prst="rect">
                        <a:avLst/>
                      </a:prstGeom>
                    </p:spPr>
                  </p:pic>
                </p:oleObj>
              </mc:Fallback>
            </mc:AlternateContent>
          </a:graphicData>
        </a:graphic>
      </p:graphicFrame>
    </p:spTree>
    <p:extLst>
      <p:ext uri="{BB962C8B-B14F-4D97-AF65-F5344CB8AC3E}">
        <p14:creationId xmlns:p14="http://schemas.microsoft.com/office/powerpoint/2010/main" val="330512493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96851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考点一</a:t>
            </a:r>
            <a:r>
              <a:rPr lang="zh-CN" altLang="zh-CN" i="1" dirty="0"/>
              <a:t>　</a:t>
            </a:r>
            <a:r>
              <a:rPr lang="zh-CN" altLang="zh-CN" dirty="0"/>
              <a:t>复数的四则运算</a:t>
            </a:r>
          </a:p>
        </p:txBody>
      </p:sp>
      <p:graphicFrame>
        <p:nvGraphicFramePr>
          <p:cNvPr id="4" name="对象 3"/>
          <p:cNvGraphicFramePr>
            <a:graphicFrameLocks noChangeAspect="1"/>
          </p:cNvGraphicFramePr>
          <p:nvPr>
            <p:extLst>
              <p:ext uri="{D42A27DB-BD31-4B8C-83A1-F6EECF244321}">
                <p14:modId xmlns:p14="http://schemas.microsoft.com/office/powerpoint/2010/main" val="57411976"/>
              </p:ext>
            </p:extLst>
          </p:nvPr>
        </p:nvGraphicFramePr>
        <p:xfrm>
          <a:off x="432445" y="1908751"/>
          <a:ext cx="11671959" cy="1460014"/>
        </p:xfrm>
        <a:graphic>
          <a:graphicData uri="http://schemas.openxmlformats.org/presentationml/2006/ole">
            <mc:AlternateContent xmlns:mc="http://schemas.openxmlformats.org/markup-compatibility/2006">
              <mc:Choice xmlns:v="urn:schemas-microsoft-com:vml" Requires="v">
                <p:oleObj spid="_x0000_s22554" name="文档" r:id="rId4" imgW="3826872" imgH="478693" progId="Word.Document.12">
                  <p:embed/>
                </p:oleObj>
              </mc:Choice>
              <mc:Fallback>
                <p:oleObj name="文档" r:id="rId4" imgW="3826872" imgH="478693" progId="Word.Document.12">
                  <p:embed/>
                  <p:pic>
                    <p:nvPicPr>
                      <p:cNvPr id="0" name=""/>
                      <p:cNvPicPr/>
                      <p:nvPr/>
                    </p:nvPicPr>
                    <p:blipFill>
                      <a:blip r:embed="rId5"/>
                      <a:stretch>
                        <a:fillRect/>
                      </a:stretch>
                    </p:blipFill>
                    <p:spPr>
                      <a:xfrm>
                        <a:off x="432445" y="1908751"/>
                        <a:ext cx="11671959" cy="146001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544999351"/>
              </p:ext>
            </p:extLst>
          </p:nvPr>
        </p:nvGraphicFramePr>
        <p:xfrm>
          <a:off x="432445" y="3447682"/>
          <a:ext cx="11671959" cy="1053357"/>
        </p:xfrm>
        <a:graphic>
          <a:graphicData uri="http://schemas.openxmlformats.org/presentationml/2006/ole">
            <mc:AlternateContent xmlns:mc="http://schemas.openxmlformats.org/markup-compatibility/2006">
              <mc:Choice xmlns:v="urn:schemas-microsoft-com:vml" Requires="v">
                <p:oleObj spid="_x0000_s22555" name="文档" r:id="rId7" imgW="3826872" imgH="345363" progId="Word.Document.12">
                  <p:embed/>
                </p:oleObj>
              </mc:Choice>
              <mc:Fallback>
                <p:oleObj name="文档" r:id="rId7" imgW="3826872" imgH="345363" progId="Word.Document.12">
                  <p:embed/>
                  <p:pic>
                    <p:nvPicPr>
                      <p:cNvPr id="0" name=""/>
                      <p:cNvPicPr/>
                      <p:nvPr/>
                    </p:nvPicPr>
                    <p:blipFill>
                      <a:blip r:embed="rId8"/>
                      <a:stretch>
                        <a:fillRect/>
                      </a:stretch>
                    </p:blipFill>
                    <p:spPr>
                      <a:xfrm>
                        <a:off x="432445" y="3447682"/>
                        <a:ext cx="11671959" cy="1053357"/>
                      </a:xfrm>
                      <a:prstGeom prst="rect">
                        <a:avLst/>
                      </a:prstGeom>
                    </p:spPr>
                  </p:pic>
                </p:oleObj>
              </mc:Fallback>
            </mc:AlternateContent>
          </a:graphicData>
        </a:graphic>
      </p:graphicFrame>
      <p:sp>
        <p:nvSpPr>
          <p:cNvPr id="9" name="矩形 8"/>
          <p:cNvSpPr>
            <a:spLocks noChangeAspect="1"/>
          </p:cNvSpPr>
          <p:nvPr/>
        </p:nvSpPr>
        <p:spPr>
          <a:xfrm>
            <a:off x="361950" y="4501039"/>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4031888606"/>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2262087892"/>
              </p:ext>
            </p:extLst>
          </p:nvPr>
        </p:nvGraphicFramePr>
        <p:xfrm>
          <a:off x="432445" y="902591"/>
          <a:ext cx="11671959" cy="1460014"/>
        </p:xfrm>
        <a:graphic>
          <a:graphicData uri="http://schemas.openxmlformats.org/presentationml/2006/ole">
            <mc:AlternateContent xmlns:mc="http://schemas.openxmlformats.org/markup-compatibility/2006">
              <mc:Choice xmlns:v="urn:schemas-microsoft-com:vml" Requires="v">
                <p:oleObj spid="_x0000_s29704" name="文档" r:id="rId3" imgW="3826872" imgH="478693" progId="Word.Document.12">
                  <p:embed/>
                </p:oleObj>
              </mc:Choice>
              <mc:Fallback>
                <p:oleObj name="文档" r:id="rId3" imgW="3826872" imgH="478693" progId="Word.Document.12">
                  <p:embed/>
                  <p:pic>
                    <p:nvPicPr>
                      <p:cNvPr id="0" name=""/>
                      <p:cNvPicPr/>
                      <p:nvPr/>
                    </p:nvPicPr>
                    <p:blipFill>
                      <a:blip r:embed="rId4"/>
                      <a:stretch>
                        <a:fillRect/>
                      </a:stretch>
                    </p:blipFill>
                    <p:spPr>
                      <a:xfrm>
                        <a:off x="432445" y="902591"/>
                        <a:ext cx="11671959" cy="1460014"/>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96215393"/>
              </p:ext>
            </p:extLst>
          </p:nvPr>
        </p:nvGraphicFramePr>
        <p:xfrm>
          <a:off x="432445" y="2414759"/>
          <a:ext cx="11671959" cy="2632848"/>
        </p:xfrm>
        <a:graphic>
          <a:graphicData uri="http://schemas.openxmlformats.org/presentationml/2006/ole">
            <mc:AlternateContent xmlns:mc="http://schemas.openxmlformats.org/markup-compatibility/2006">
              <mc:Choice xmlns:v="urn:schemas-microsoft-com:vml" Requires="v">
                <p:oleObj spid="_x0000_s29705" name="文档" r:id="rId6" imgW="3826872" imgH="863229" progId="Word.Document.12">
                  <p:embed/>
                </p:oleObj>
              </mc:Choice>
              <mc:Fallback>
                <p:oleObj name="文档" r:id="rId6" imgW="3826872" imgH="863229" progId="Word.Document.12">
                  <p:embed/>
                  <p:pic>
                    <p:nvPicPr>
                      <p:cNvPr id="0" name=""/>
                      <p:cNvPicPr/>
                      <p:nvPr/>
                    </p:nvPicPr>
                    <p:blipFill>
                      <a:blip r:embed="rId7"/>
                      <a:stretch>
                        <a:fillRect/>
                      </a:stretch>
                    </p:blipFill>
                    <p:spPr>
                      <a:xfrm>
                        <a:off x="432445" y="2414759"/>
                        <a:ext cx="11671959" cy="2632848"/>
                      </a:xfrm>
                      <a:prstGeom prst="rect">
                        <a:avLst/>
                      </a:prstGeom>
                    </p:spPr>
                  </p:pic>
                </p:oleObj>
              </mc:Fallback>
            </mc:AlternateContent>
          </a:graphicData>
        </a:graphic>
      </p:graphicFrame>
      <p:sp>
        <p:nvSpPr>
          <p:cNvPr id="8" name="矩形 7"/>
          <p:cNvSpPr>
            <a:spLocks noChangeAspect="1"/>
          </p:cNvSpPr>
          <p:nvPr/>
        </p:nvSpPr>
        <p:spPr>
          <a:xfrm>
            <a:off x="361950" y="5047607"/>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80684848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3331086083"/>
              </p:ext>
            </p:extLst>
          </p:nvPr>
        </p:nvGraphicFramePr>
        <p:xfrm>
          <a:off x="474523" y="771070"/>
          <a:ext cx="11705058" cy="1064560"/>
        </p:xfrm>
        <a:graphic>
          <a:graphicData uri="http://schemas.openxmlformats.org/presentationml/2006/ole">
            <mc:AlternateContent xmlns:mc="http://schemas.openxmlformats.org/markup-compatibility/2006">
              <mc:Choice xmlns:v="urn:schemas-microsoft-com:vml" Requires="v">
                <p:oleObj spid="_x0000_s30728" name="文档" r:id="rId3" imgW="3826872" imgH="348957" progId="Word.Document.12">
                  <p:embed/>
                </p:oleObj>
              </mc:Choice>
              <mc:Fallback>
                <p:oleObj name="文档" r:id="rId3" imgW="3826872" imgH="348957" progId="Word.Document.12">
                  <p:embed/>
                  <p:pic>
                    <p:nvPicPr>
                      <p:cNvPr id="0" name=""/>
                      <p:cNvPicPr/>
                      <p:nvPr/>
                    </p:nvPicPr>
                    <p:blipFill>
                      <a:blip r:embed="rId4"/>
                      <a:stretch>
                        <a:fillRect/>
                      </a:stretch>
                    </p:blipFill>
                    <p:spPr>
                      <a:xfrm>
                        <a:off x="474523" y="771070"/>
                        <a:ext cx="11705058" cy="106456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56887736"/>
              </p:ext>
            </p:extLst>
          </p:nvPr>
        </p:nvGraphicFramePr>
        <p:xfrm>
          <a:off x="430213" y="1891599"/>
          <a:ext cx="11661775" cy="979487"/>
        </p:xfrm>
        <a:graphic>
          <a:graphicData uri="http://schemas.openxmlformats.org/presentationml/2006/ole">
            <mc:AlternateContent xmlns:mc="http://schemas.openxmlformats.org/markup-compatibility/2006">
              <mc:Choice xmlns:v="urn:schemas-microsoft-com:vml" Requires="v">
                <p:oleObj spid="_x0000_s30729" name="文档" r:id="rId6" imgW="3826872" imgH="325238" progId="Word.Document.12">
                  <p:embed/>
                </p:oleObj>
              </mc:Choice>
              <mc:Fallback>
                <p:oleObj name="文档" r:id="rId6" imgW="3826872" imgH="325238" progId="Word.Document.12">
                  <p:embed/>
                  <p:pic>
                    <p:nvPicPr>
                      <p:cNvPr id="0" name=""/>
                      <p:cNvPicPr/>
                      <p:nvPr/>
                    </p:nvPicPr>
                    <p:blipFill>
                      <a:blip r:embed="rId7"/>
                      <a:stretch>
                        <a:fillRect/>
                      </a:stretch>
                    </p:blipFill>
                    <p:spPr>
                      <a:xfrm>
                        <a:off x="430213" y="1891599"/>
                        <a:ext cx="11661775" cy="979487"/>
                      </a:xfrm>
                      <a:prstGeom prst="rect">
                        <a:avLst/>
                      </a:prstGeom>
                    </p:spPr>
                  </p:pic>
                </p:oleObj>
              </mc:Fallback>
            </mc:AlternateContent>
          </a:graphicData>
        </a:graphic>
      </p:graphicFrame>
      <p:sp>
        <p:nvSpPr>
          <p:cNvPr id="8" name="矩形 7"/>
          <p:cNvSpPr>
            <a:spLocks noChangeAspect="1"/>
          </p:cNvSpPr>
          <p:nvPr/>
        </p:nvSpPr>
        <p:spPr>
          <a:xfrm>
            <a:off x="361950" y="2928742"/>
            <a:ext cx="154401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9" name="矩形 8"/>
          <p:cNvSpPr>
            <a:spLocks noChangeAspect="1"/>
          </p:cNvSpPr>
          <p:nvPr/>
        </p:nvSpPr>
        <p:spPr>
          <a:xfrm>
            <a:off x="361950" y="3612006"/>
            <a:ext cx="10807700" cy="245605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4</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2020·</a:t>
            </a:r>
            <a:r>
              <a:rPr lang="zh-CN" altLang="zh-CN" dirty="0">
                <a:solidFill>
                  <a:srgbClr val="000000"/>
                </a:solidFill>
                <a:latin typeface="+mn-lt"/>
                <a:ea typeface="楷体" panose="02010609060101010101" pitchFamily="49" charset="-122"/>
                <a:cs typeface="Times New Roman" panose="02020603050405020304" pitchFamily="18" charset="0"/>
              </a:rPr>
              <a:t>全国</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i)</a:t>
            </a:r>
            <a:r>
              <a:rPr lang="en-US" altLang="zh-CN" baseline="30000"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4	</a:t>
            </a:r>
            <a:r>
              <a:rPr lang="en-US" altLang="zh-CN" dirty="0" smtClean="0">
                <a:solidFill>
                  <a:srgbClr val="000000"/>
                </a:solidFill>
                <a:latin typeface="+mn-lt"/>
                <a:ea typeface="宋体" panose="02010600030101010101" pitchFamily="2" charset="-122"/>
                <a:cs typeface="Times New Roman" panose="02020603050405020304" pitchFamily="18" charset="0"/>
              </a:rPr>
              <a:t>	B.4</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C</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4i	</a:t>
            </a:r>
            <a:r>
              <a:rPr lang="en-US" altLang="zh-CN" dirty="0" smtClean="0">
                <a:solidFill>
                  <a:srgbClr val="000000"/>
                </a:solidFill>
                <a:latin typeface="+mn-lt"/>
                <a:ea typeface="宋体" panose="02010600030101010101" pitchFamily="2" charset="-122"/>
                <a:cs typeface="Times New Roman" panose="02020603050405020304" pitchFamily="18" charset="0"/>
              </a:rPr>
              <a:t>	D.4i</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i)</a:t>
            </a:r>
            <a:r>
              <a:rPr lang="en-US" altLang="zh-CN" baseline="30000"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i)</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2i)</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9963870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a:spLocks noChangeAspect="1"/>
              </p:cNvSpPr>
              <p:nvPr/>
            </p:nvSpPr>
            <p:spPr>
              <a:xfrm>
                <a:off x="361950" y="1439887"/>
                <a:ext cx="10807700" cy="259199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(2024·</a:t>
                </a:r>
                <a:r>
                  <a:rPr lang="zh-CN" altLang="zh-CN" dirty="0">
                    <a:solidFill>
                      <a:srgbClr val="000000"/>
                    </a:solidFill>
                    <a:effectLst/>
                    <a:ea typeface="楷体" panose="02010609060101010101" pitchFamily="49" charset="-122"/>
                    <a:cs typeface="Times New Roman" panose="02020603050405020304" pitchFamily="18" charset="0"/>
                  </a:rPr>
                  <a:t>天津高考</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已知</a:t>
                </a:r>
                <a:r>
                  <a:rPr lang="en-US" altLang="zh-CN" dirty="0" err="1">
                    <a:solidFill>
                      <a:srgbClr val="000000"/>
                    </a:solidFill>
                    <a:effectLst/>
                    <a:ea typeface="宋体" panose="02010600030101010101" pitchFamily="2" charset="-122"/>
                    <a:cs typeface="Times New Roman" panose="02020603050405020304" pitchFamily="18" charset="0"/>
                  </a:rPr>
                  <a:t>i</a:t>
                </a:r>
                <a:r>
                  <a:rPr lang="zh-CN" altLang="zh-CN" dirty="0">
                    <a:solidFill>
                      <a:srgbClr val="000000"/>
                    </a:solidFill>
                    <a:effectLst/>
                    <a:ea typeface="宋体" panose="02010600030101010101" pitchFamily="2" charset="-122"/>
                    <a:cs typeface="Times New Roman" panose="02020603050405020304" pitchFamily="18" charset="0"/>
                  </a:rPr>
                  <a:t>是虚数单位</a:t>
                </a:r>
                <a:r>
                  <a:rPr lang="en-US" altLang="zh-CN" dirty="0">
                    <a:solidFill>
                      <a:srgbClr val="000000"/>
                    </a:solidFill>
                    <a:effectLst/>
                    <a:ea typeface="宋体" panose="02010600030101010101" pitchFamily="2" charset="-122"/>
                    <a:cs typeface="Times New Roman" panose="02020603050405020304" pitchFamily="18" charset="0"/>
                  </a:rPr>
                  <a:t>,</a:t>
                </a:r>
                <a:r>
                  <a:rPr lang="zh-CN" altLang="zh-CN" dirty="0">
                    <a:solidFill>
                      <a:srgbClr val="000000"/>
                    </a:solidFill>
                    <a:effectLst/>
                    <a:ea typeface="宋体" panose="02010600030101010101" pitchFamily="2" charset="-122"/>
                    <a:cs typeface="Times New Roman" panose="02020603050405020304" pitchFamily="18" charset="0"/>
                  </a:rPr>
                  <a:t>复数</a:t>
                </a:r>
                <a:r>
                  <a:rPr lang="en-US" altLang="zh-CN" dirty="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err="1">
                    <a:solidFill>
                      <a:srgbClr val="000000"/>
                    </a:solidFill>
                    <a:effectLst/>
                    <a:ea typeface="宋体" panose="02010600030101010101" pitchFamily="2" charset="-122"/>
                    <a:cs typeface="Times New Roman" panose="02020603050405020304" pitchFamily="18" charset="0"/>
                  </a:rPr>
                  <a:t>i</a:t>
                </a:r>
                <a:r>
                  <a:rPr lang="en-US" altLang="zh-CN" dirty="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2i</a:t>
                </a:r>
                <a:r>
                  <a:rPr lang="en-US" altLang="zh-CN" dirty="0" smtClean="0">
                    <a:solidFill>
                      <a:srgbClr val="000000"/>
                    </a:solidFill>
                    <a:effectLst/>
                    <a:ea typeface="宋体" panose="02010600030101010101" pitchFamily="2" charset="-122"/>
                    <a:cs typeface="Times New Roman" panose="02020603050405020304" pitchFamily="18" charset="0"/>
                  </a:rPr>
                  <a:t>)</a:t>
                </a:r>
                <a:r>
                  <a:rPr lang="en-US" altLang="zh-CN" i="1" dirty="0" smtClean="0">
                    <a:solidFill>
                      <a:srgbClr val="000000"/>
                    </a:solidFill>
                    <a:effectLs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i="1" dirty="0">
                    <a:solidFill>
                      <a:srgbClr val="000000"/>
                    </a:solidFill>
                    <a:effectLst/>
                    <a:latin typeface="宋体" panose="02010600030101010101" pitchFamily="2" charset="-122"/>
                    <a:ea typeface="NEU-BZ-S92" panose="02020503000000020003" pitchFamily="18" charset="-122"/>
                    <a:cs typeface="Times New Roman" panose="02020603050405020304" pitchFamily="18" charset="0"/>
                  </a:rPr>
                  <a:t>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cs typeface="Times New Roman" panose="02020603050405020304" pitchFamily="18" charset="0"/>
                  </a:rPr>
                  <a:t>解析</a:t>
                </a:r>
                <a:r>
                  <a:rPr lang="en-US" altLang="zh-CN" dirty="0">
                    <a:cs typeface="Times New Roman" panose="02020603050405020304" pitchFamily="18" charset="0"/>
                  </a:rPr>
                  <a:t>:</a:t>
                </a:r>
                <a:r>
                  <a:rPr lang="en-US" altLang="zh-CN" dirty="0" smtClean="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err="1">
                    <a:solidFill>
                      <a:srgbClr val="000000"/>
                    </a:solidFill>
                    <a:effectLst/>
                    <a:ea typeface="宋体" panose="02010600030101010101" pitchFamily="2" charset="-122"/>
                    <a:cs typeface="Times New Roman" panose="02020603050405020304" pitchFamily="18" charset="0"/>
                  </a:rPr>
                  <a:t>i</a:t>
                </a:r>
                <a:r>
                  <a:rPr lang="en-US" altLang="zh-CN" dirty="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2i)</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5</a:t>
                </a:r>
                <a:r>
                  <a:rPr lang="en-US" altLang="zh-CN" i="1" dirty="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dirty="0">
                    <a:solidFill>
                      <a:srgbClr val="000000"/>
                    </a:solidFill>
                    <a:effectLst/>
                    <a:ea typeface="宋体" panose="02010600030101010101" pitchFamily="2" charset="-122"/>
                    <a:cs typeface="Times New Roman" panose="02020603050405020304" pitchFamily="18" charset="0"/>
                  </a:rPr>
                  <a:t>i</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dirty="0">
                    <a:solidFill>
                      <a:srgbClr val="000000"/>
                    </a:solidFill>
                    <a:effectLst/>
                    <a:ea typeface="宋体" panose="02010600030101010101" pitchFamily="2" charset="-122"/>
                    <a:cs typeface="Times New Roman" panose="02020603050405020304" pitchFamily="18" charset="0"/>
                  </a:rPr>
                  <a:t>i</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2</a:t>
                </a:r>
                <a:r>
                  <a:rPr lang="en-US" altLang="zh-CN" i="1" dirty="0">
                    <a:solidFill>
                      <a:srgbClr val="000000"/>
                    </a:solidFill>
                    <a:effectLst/>
                    <a:ea typeface="宋体" panose="02010600030101010101" pitchFamily="2" charset="-122"/>
                    <a:cs typeface="Times New Roman" panose="02020603050405020304" pitchFamily="18" charset="0"/>
                  </a:rPr>
                  <a:t>=</a:t>
                </a:r>
                <a:r>
                  <a:rPr lang="en-US" altLang="zh-CN" dirty="0">
                    <a:solidFill>
                      <a:srgbClr val="000000"/>
                    </a:solidFill>
                    <a:effectLst/>
                    <a:ea typeface="宋体" panose="02010600030101010101" pitchFamily="2" charset="-122"/>
                    <a:cs typeface="Times New Roman" panose="02020603050405020304" pitchFamily="18" charset="0"/>
                  </a:rPr>
                  <a:t>7</a:t>
                </a:r>
                <a:r>
                  <a:rPr lang="en-US" altLang="zh-CN" i="1" dirty="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dirty="0" err="1">
                    <a:solidFill>
                      <a:srgbClr val="000000"/>
                    </a:solidFill>
                    <a:effectLst/>
                    <a:ea typeface="宋体" panose="02010600030101010101" pitchFamily="2" charset="-122"/>
                    <a:cs typeface="Times New Roman" panose="02020603050405020304" pitchFamily="18" charset="0"/>
                  </a:rPr>
                  <a:t>i</a:t>
                </a:r>
                <a:r>
                  <a:rPr lang="en-US" altLang="zh-CN" i="1" dirty="0">
                    <a:solidFill>
                      <a:srgbClr val="000000"/>
                    </a:solidFill>
                    <a:effectLst/>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cs typeface="Times New Roman" panose="02020603050405020304" pitchFamily="18" charset="0"/>
                  </a:rPr>
                  <a:t>答案</a:t>
                </a:r>
                <a:r>
                  <a:rPr lang="en-US" altLang="zh-CN" dirty="0" smtClean="0">
                    <a:cs typeface="Times New Roman" panose="02020603050405020304" pitchFamily="18" charset="0"/>
                  </a:rPr>
                  <a:t>:</a:t>
                </a:r>
                <a:r>
                  <a:rPr lang="en-US" altLang="zh-CN" dirty="0" smtClean="0">
                    <a:solidFill>
                      <a:srgbClr val="000000"/>
                    </a:solidFill>
                    <a:effectLst/>
                    <a:ea typeface="宋体" panose="02010600030101010101" pitchFamily="2" charset="-122"/>
                    <a:cs typeface="Times New Roman" panose="02020603050405020304" pitchFamily="18" charset="0"/>
                  </a:rPr>
                  <a:t>7</a:t>
                </a:r>
                <a:r>
                  <a:rPr lang="en-US" altLang="zh-CN" i="1" dirty="0" smtClean="0">
                    <a:solidFill>
                      <a:srgbClr val="000000"/>
                    </a:solidFill>
                    <a:effectLst/>
                    <a:ea typeface="宋体" panose="02010600030101010101" pitchFamily="2" charset="-122"/>
                    <a:cs typeface="Times New Roman" panose="02020603050405020304" pitchFamily="18" charset="0"/>
                  </a:rPr>
                  <a:t>-</a:t>
                </a:r>
                <a14:m>
                  <m:oMath xmlns:m="http://schemas.openxmlformats.org/officeDocument/2006/math">
                    <m:rad>
                      <m:radPr>
                        <m:degHide m:val="on"/>
                        <m:ctrlPr>
                          <a:rPr lang="zh-CN" altLang="zh-CN"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oMath>
                </a14:m>
                <a:r>
                  <a:rPr lang="en-US" altLang="zh-CN" dirty="0" err="1">
                    <a:solidFill>
                      <a:srgbClr val="000000"/>
                    </a:solidFill>
                    <a:effectLst/>
                    <a:ea typeface="宋体" panose="02010600030101010101" pitchFamily="2" charset="-122"/>
                    <a:cs typeface="Times New Roman" panose="02020603050405020304" pitchFamily="18" charset="0"/>
                  </a:rPr>
                  <a:t>i</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61950" y="1439887"/>
                <a:ext cx="10807700" cy="2591992"/>
              </a:xfrm>
              <a:prstGeom prst="rect">
                <a:avLst/>
              </a:prstGeom>
              <a:blipFill rotWithShape="0">
                <a:blip r:embed="rId2"/>
                <a:stretch>
                  <a:fillRect l="-1410" t="-471" b="-61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994076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239655" y="86799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考点二</a:t>
            </a:r>
            <a:r>
              <a:rPr lang="zh-CN" altLang="zh-CN" i="1" dirty="0"/>
              <a:t>　</a:t>
            </a:r>
            <a:r>
              <a:rPr lang="zh-CN" altLang="zh-CN" dirty="0"/>
              <a:t>复数的几何意义</a:t>
            </a:r>
          </a:p>
        </p:txBody>
      </p:sp>
      <p:sp>
        <p:nvSpPr>
          <p:cNvPr id="4" name="矩形 3"/>
          <p:cNvSpPr>
            <a:spLocks noChangeAspect="1"/>
          </p:cNvSpPr>
          <p:nvPr/>
        </p:nvSpPr>
        <p:spPr>
          <a:xfrm>
            <a:off x="361950" y="1565640"/>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6</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(2023</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新</a:t>
            </a:r>
            <a:r>
              <a:rPr lang="zh-CN" altLang="zh-CN" dirty="0">
                <a:solidFill>
                  <a:srgbClr val="000000"/>
                </a:solidFill>
                <a:latin typeface="+mn-lt"/>
                <a:ea typeface="楷体" panose="02010609060101010101" pitchFamily="49" charset="-122"/>
                <a:cs typeface="Times New Roman" panose="02020603050405020304" pitchFamily="18" charset="0"/>
              </a:rPr>
              <a:t>高考</a:t>
            </a:r>
            <a:r>
              <a:rPr lang="zh-CN" altLang="zh-CN" i="1" dirty="0">
                <a:solidFill>
                  <a:srgbClr val="000000"/>
                </a:solidFill>
                <a:latin typeface="+mn-lt"/>
                <a:ea typeface="宋体" panose="02010600030101010101" pitchFamily="2" charset="-122"/>
                <a:cs typeface="宋体" panose="02010600030101010101" pitchFamily="2" charset="-122"/>
              </a:rPr>
              <a:t>Ⅱ</a:t>
            </a:r>
            <a:r>
              <a:rPr lang="zh-CN" altLang="zh-CN" dirty="0">
                <a:solidFill>
                  <a:srgbClr val="000000"/>
                </a:solidFill>
                <a:latin typeface="+mn-lt"/>
                <a:ea typeface="楷体" panose="02010609060101010101" pitchFamily="49" charset="-122"/>
                <a:cs typeface="Times New Roman" panose="02020603050405020304" pitchFamily="18" charset="0"/>
              </a:rPr>
              <a:t>卷</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在复平面内</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3i)(3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i)</a:t>
            </a:r>
            <a:r>
              <a:rPr lang="zh-CN" altLang="zh-CN" dirty="0">
                <a:solidFill>
                  <a:srgbClr val="000000"/>
                </a:solidFill>
                <a:latin typeface="+mn-lt"/>
                <a:ea typeface="宋体" panose="02010600030101010101" pitchFamily="2" charset="-122"/>
                <a:cs typeface="Times New Roman" panose="02020603050405020304" pitchFamily="18" charset="0"/>
              </a:rPr>
              <a:t>对应的点</a:t>
            </a:r>
            <a:r>
              <a:rPr lang="zh-CN" altLang="zh-CN" dirty="0" smtClean="0">
                <a:solidFill>
                  <a:srgbClr val="000000"/>
                </a:solidFill>
                <a:latin typeface="+mn-lt"/>
                <a:ea typeface="宋体" panose="02010600030101010101" pitchFamily="2" charset="-122"/>
                <a:cs typeface="Times New Roman" panose="02020603050405020304" pitchFamily="18" charset="0"/>
              </a:rPr>
              <a:t>位于</a:t>
            </a:r>
            <a:endParaRPr lang="en-US" altLang="zh-CN" smtClean="0">
              <a:solidFill>
                <a:srgbClr val="000000"/>
              </a:solidFill>
              <a:latin typeface="+mn-lt"/>
              <a:ea typeface="宋体" panose="02010600030101010101" pitchFamily="2" charset="-122"/>
              <a:cs typeface="Times New Roman" panose="02020603050405020304" pitchFamily="18" charset="0"/>
            </a:endParaRPr>
          </a:p>
          <a:p>
            <a:pPr algn="r">
              <a:lnSpc>
                <a:spcPct val="120000"/>
              </a:lnSpc>
              <a:spcAft>
                <a:spcPts val="0"/>
              </a:spcAft>
              <a:tabLst>
                <a:tab pos="1188085" algn="l"/>
                <a:tab pos="2163445" algn="l"/>
                <a:tab pos="3142615" algn="l"/>
                <a:tab pos="4190365" algn="l"/>
              </a:tabLst>
            </a:pPr>
            <a:r>
              <a:rPr lang="en-US" altLang="zh-CN" smtClean="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第一象限</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第二象限</a:t>
            </a:r>
            <a:r>
              <a:rPr lang="en-US" altLang="zh-CN" dirty="0">
                <a:solidFill>
                  <a:srgbClr val="000000"/>
                </a:solidFill>
                <a:latin typeface="+mn-lt"/>
                <a:ea typeface="宋体" panose="02010600030101010101" pitchFamily="2" charset="-122"/>
                <a:cs typeface="Times New Roman" panose="02020603050405020304" pitchFamily="18" charset="0"/>
              </a:rPr>
              <a:t>	</a:t>
            </a:r>
            <a:endParaRPr lang="en-US" altLang="zh-CN" dirty="0" smtClean="0">
              <a:solidFill>
                <a:srgbClr val="000000"/>
              </a:solidFill>
              <a:latin typeface="+mn-lt"/>
              <a:ea typeface="宋体" panose="02010600030101010101" pitchFamily="2"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第三象限</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D</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第四象限</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3i)(3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i)</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i</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9i</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6</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8i</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i="1" dirty="0" smtClean="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复数在复平面内对应的点位于第一象限</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故选</a:t>
            </a: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73524712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randombar(horizontal)">
                                      <p:cBhvr>
                                        <p:cTn id="7" dur="500"/>
                                        <p:tgtEl>
                                          <p:spTgt spid="4">
                                            <p:txEl>
                                              <p:pRg st="4" end="4"/>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0" dur="500"/>
                                        <p:tgtEl>
                                          <p:spTgt spid="4">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Effect transition="in" filter="randombar(horizontal)">
                                      <p:cBhvr>
                                        <p:cTn id="15"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58744"/>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2019·</a:t>
            </a:r>
            <a:r>
              <a:rPr lang="zh-CN" altLang="zh-CN" dirty="0">
                <a:solidFill>
                  <a:srgbClr val="000000"/>
                </a:solidFill>
                <a:ea typeface="楷体" panose="02010609060101010101" pitchFamily="49" charset="-122"/>
                <a:cs typeface="Times New Roman" panose="02020603050405020304" pitchFamily="18" charset="0"/>
              </a:rPr>
              <a:t>全国</a:t>
            </a:r>
            <a:r>
              <a:rPr lang="zh-CN" altLang="zh-CN" i="1" dirty="0">
                <a:solidFill>
                  <a:srgbClr val="000000"/>
                </a:solidFill>
                <a:latin typeface="NEU-BZ-S92"/>
                <a:ea typeface="宋体" panose="02010600030101010101" pitchFamily="2" charset="-122"/>
                <a:cs typeface="宋体" panose="02010600030101010101" pitchFamily="2" charset="-122"/>
              </a:rPr>
              <a:t>Ⅰ</a:t>
            </a:r>
            <a:r>
              <a:rPr lang="zh-CN" altLang="zh-CN" dirty="0">
                <a:solidFill>
                  <a:srgbClr val="000000"/>
                </a:solidFill>
                <a:ea typeface="楷体" panose="02010609060101010101" pitchFamily="49" charset="-122"/>
                <a:cs typeface="Times New Roman" panose="02020603050405020304" pitchFamily="18" charset="0"/>
              </a:rPr>
              <a:t>高考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设复数</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满足</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在复平面内对应的点为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i="1" dirty="0" smtClean="0">
                <a:solidFill>
                  <a:srgbClr val="000000"/>
                </a:solidFill>
                <a:ea typeface="宋体" panose="02010600030101010101" pitchFamily="2" charset="-122"/>
                <a:cs typeface="Times New Roman" panose="02020603050405020304" pitchFamily="18" charset="0"/>
              </a:rPr>
              <a:t>x</a:t>
            </a:r>
            <a:r>
              <a:rPr lang="en-US" altLang="zh-CN" baseline="30000"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851647069"/>
              </p:ext>
            </p:extLst>
          </p:nvPr>
        </p:nvGraphicFramePr>
        <p:xfrm>
          <a:off x="361950" y="3171086"/>
          <a:ext cx="11671959" cy="2887145"/>
        </p:xfrm>
        <a:graphic>
          <a:graphicData uri="http://schemas.openxmlformats.org/presentationml/2006/ole">
            <mc:AlternateContent xmlns:mc="http://schemas.openxmlformats.org/markup-compatibility/2006">
              <mc:Choice xmlns:v="urn:schemas-microsoft-com:vml" Requires="v">
                <p:oleObj spid="_x0000_s27662" name="文档" r:id="rId4" imgW="3826872" imgH="946605" progId="Word.Document.12">
                  <p:embed/>
                </p:oleObj>
              </mc:Choice>
              <mc:Fallback>
                <p:oleObj name="文档" r:id="rId4" imgW="3826872" imgH="946605" progId="Word.Document.12">
                  <p:embed/>
                  <p:pic>
                    <p:nvPicPr>
                      <p:cNvPr id="0" name=""/>
                      <p:cNvPicPr/>
                      <p:nvPr/>
                    </p:nvPicPr>
                    <p:blipFill>
                      <a:blip r:embed="rId5"/>
                      <a:stretch>
                        <a:fillRect/>
                      </a:stretch>
                    </p:blipFill>
                    <p:spPr>
                      <a:xfrm>
                        <a:off x="361950" y="3171086"/>
                        <a:ext cx="11671959" cy="2887145"/>
                      </a:xfrm>
                      <a:prstGeom prst="rect">
                        <a:avLst/>
                      </a:prstGeom>
                    </p:spPr>
                  </p:pic>
                </p:oleObj>
              </mc:Fallback>
            </mc:AlternateContent>
          </a:graphicData>
        </a:graphic>
      </p:graphicFrame>
      <p:sp>
        <p:nvSpPr>
          <p:cNvPr id="4" name="矩形 3"/>
          <p:cNvSpPr>
            <a:spLocks noChangeAspect="1"/>
          </p:cNvSpPr>
          <p:nvPr/>
        </p:nvSpPr>
        <p:spPr>
          <a:xfrm>
            <a:off x="6197929" y="5417479"/>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5795141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79507261"/>
              </p:ext>
            </p:extLst>
          </p:nvPr>
        </p:nvGraphicFramePr>
        <p:xfrm>
          <a:off x="360437" y="614688"/>
          <a:ext cx="11705058" cy="1090954"/>
        </p:xfrm>
        <a:graphic>
          <a:graphicData uri="http://schemas.openxmlformats.org/presentationml/2006/ole">
            <mc:AlternateContent xmlns:mc="http://schemas.openxmlformats.org/markup-compatibility/2006">
              <mc:Choice xmlns:v="urn:schemas-microsoft-com:vml" Requires="v">
                <p:oleObj spid="_x0000_s28702" name="文档" r:id="rId4" imgW="3837724" imgH="357690" progId="Word.Document.12">
                  <p:embed/>
                </p:oleObj>
              </mc:Choice>
              <mc:Fallback>
                <p:oleObj name="文档" r:id="rId4" imgW="3837724" imgH="357690" progId="Word.Document.12">
                  <p:embed/>
                  <p:pic>
                    <p:nvPicPr>
                      <p:cNvPr id="0" name=""/>
                      <p:cNvPicPr/>
                      <p:nvPr/>
                    </p:nvPicPr>
                    <p:blipFill>
                      <a:blip r:embed="rId5"/>
                      <a:stretch>
                        <a:fillRect/>
                      </a:stretch>
                    </p:blipFill>
                    <p:spPr>
                      <a:xfrm>
                        <a:off x="360437" y="614688"/>
                        <a:ext cx="11705058" cy="1090954"/>
                      </a:xfrm>
                      <a:prstGeom prst="rect">
                        <a:avLst/>
                      </a:prstGeom>
                    </p:spPr>
                  </p:pic>
                </p:oleObj>
              </mc:Fallback>
            </mc:AlternateContent>
          </a:graphicData>
        </a:graphic>
      </p:graphicFrame>
      <p:grpSp>
        <p:nvGrpSpPr>
          <p:cNvPr id="10" name="组合 9"/>
          <p:cNvGrpSpPr/>
          <p:nvPr/>
        </p:nvGrpSpPr>
        <p:grpSpPr>
          <a:xfrm>
            <a:off x="360437" y="1685407"/>
            <a:ext cx="11777066" cy="4649995"/>
            <a:chOff x="360437" y="1685407"/>
            <a:chExt cx="11777066" cy="4649995"/>
          </a:xfrm>
        </p:grpSpPr>
        <p:sp>
          <p:nvSpPr>
            <p:cNvPr id="6" name="矩形 5"/>
            <p:cNvSpPr>
              <a:spLocks noChangeAspect="1"/>
            </p:cNvSpPr>
            <p:nvPr/>
          </p:nvSpPr>
          <p:spPr>
            <a:xfrm>
              <a:off x="361950" y="1685407"/>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=a+b</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c+d</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smtClean="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579031422"/>
                </p:ext>
              </p:extLst>
            </p:nvPr>
          </p:nvGraphicFramePr>
          <p:xfrm>
            <a:off x="432445" y="2947411"/>
            <a:ext cx="11705058" cy="561972"/>
          </p:xfrm>
          <a:graphic>
            <a:graphicData uri="http://schemas.openxmlformats.org/presentationml/2006/ole">
              <mc:AlternateContent xmlns:mc="http://schemas.openxmlformats.org/markup-compatibility/2006">
                <mc:Choice xmlns:v="urn:schemas-microsoft-com:vml" Requires="v">
                  <p:oleObj spid="_x0000_s28703" name="文档" r:id="rId7" imgW="3837724" imgH="184253" progId="Word.Document.12">
                    <p:embed/>
                  </p:oleObj>
                </mc:Choice>
                <mc:Fallback>
                  <p:oleObj name="文档" r:id="rId7" imgW="3837724" imgH="184253" progId="Word.Document.12">
                    <p:embed/>
                    <p:pic>
                      <p:nvPicPr>
                        <p:cNvPr id="0" name=""/>
                        <p:cNvPicPr/>
                        <p:nvPr/>
                      </p:nvPicPr>
                      <p:blipFill>
                        <a:blip r:embed="rId8"/>
                        <a:stretch>
                          <a:fillRect/>
                        </a:stretch>
                      </p:blipFill>
                      <p:spPr>
                        <a:xfrm>
                          <a:off x="432445" y="2947411"/>
                          <a:ext cx="11705058" cy="561972"/>
                        </a:xfrm>
                        <a:prstGeom prst="rect">
                          <a:avLst/>
                        </a:prstGeom>
                      </p:spPr>
                    </p:pic>
                  </p:oleObj>
                </mc:Fallback>
              </mc:AlternateContent>
            </a:graphicData>
          </a:graphic>
        </p:graphicFrame>
        <p:sp>
          <p:nvSpPr>
            <p:cNvPr id="8" name="矩形 7"/>
            <p:cNvSpPr>
              <a:spLocks noChangeAspect="1"/>
            </p:cNvSpPr>
            <p:nvPr/>
          </p:nvSpPr>
          <p:spPr>
            <a:xfrm>
              <a:off x="361950" y="3522823"/>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b+d</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bd=</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bd=</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bd=-</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b-d</a:t>
              </a:r>
              <a:r>
                <a:rPr lang="en-US" altLang="zh-CN"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+c</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+d</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ac-</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bd=</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077338149"/>
                </p:ext>
              </p:extLst>
            </p:nvPr>
          </p:nvGraphicFramePr>
          <p:xfrm>
            <a:off x="360437" y="5341227"/>
            <a:ext cx="11705058" cy="994175"/>
          </p:xfrm>
          <a:graphic>
            <a:graphicData uri="http://schemas.openxmlformats.org/presentationml/2006/ole">
              <mc:AlternateContent xmlns:mc="http://schemas.openxmlformats.org/markup-compatibility/2006">
                <mc:Choice xmlns:v="urn:schemas-microsoft-com:vml" Requires="v">
                  <p:oleObj spid="_x0000_s28704" name="文档" r:id="rId10" imgW="3837724" imgH="325959" progId="Word.Document.12">
                    <p:embed/>
                  </p:oleObj>
                </mc:Choice>
                <mc:Fallback>
                  <p:oleObj name="文档" r:id="rId10" imgW="3837724" imgH="325959" progId="Word.Document.12">
                    <p:embed/>
                    <p:pic>
                      <p:nvPicPr>
                        <p:cNvPr id="0" name=""/>
                        <p:cNvPicPr/>
                        <p:nvPr/>
                      </p:nvPicPr>
                      <p:blipFill>
                        <a:blip r:embed="rId11"/>
                        <a:stretch>
                          <a:fillRect/>
                        </a:stretch>
                      </p:blipFill>
                      <p:spPr>
                        <a:xfrm>
                          <a:off x="360437" y="5341227"/>
                          <a:ext cx="11705058" cy="994175"/>
                        </a:xfrm>
                        <a:prstGeom prst="rect">
                          <a:avLst/>
                        </a:prstGeom>
                      </p:spPr>
                    </p:pic>
                  </p:oleObj>
                </mc:Fallback>
              </mc:AlternateContent>
            </a:graphicData>
          </a:graphic>
        </p:graphicFrame>
      </p:grpSp>
      <p:graphicFrame>
        <p:nvGraphicFramePr>
          <p:cNvPr id="11" name="对象 10"/>
          <p:cNvGraphicFramePr>
            <a:graphicFrameLocks noChangeAspect="1"/>
          </p:cNvGraphicFramePr>
          <p:nvPr>
            <p:extLst>
              <p:ext uri="{D42A27DB-BD31-4B8C-83A1-F6EECF244321}">
                <p14:modId xmlns:p14="http://schemas.microsoft.com/office/powerpoint/2010/main" val="3537544244"/>
              </p:ext>
            </p:extLst>
          </p:nvPr>
        </p:nvGraphicFramePr>
        <p:xfrm>
          <a:off x="7633245" y="5620283"/>
          <a:ext cx="11705058" cy="561972"/>
        </p:xfrm>
        <a:graphic>
          <a:graphicData uri="http://schemas.openxmlformats.org/presentationml/2006/ole">
            <mc:AlternateContent xmlns:mc="http://schemas.openxmlformats.org/markup-compatibility/2006">
              <mc:Choice xmlns:v="urn:schemas-microsoft-com:vml" Requires="v">
                <p:oleObj spid="_x0000_s28705" name="文档" r:id="rId13" imgW="3837724" imgH="184253" progId="Word.Document.12">
                  <p:embed/>
                </p:oleObj>
              </mc:Choice>
              <mc:Fallback>
                <p:oleObj name="文档" r:id="rId13" imgW="3837724" imgH="184253" progId="Word.Document.12">
                  <p:embed/>
                  <p:pic>
                    <p:nvPicPr>
                      <p:cNvPr id="0" name=""/>
                      <p:cNvPicPr/>
                      <p:nvPr/>
                    </p:nvPicPr>
                    <p:blipFill>
                      <a:blip r:embed="rId14"/>
                      <a:stretch>
                        <a:fillRect/>
                      </a:stretch>
                    </p:blipFill>
                    <p:spPr>
                      <a:xfrm>
                        <a:off x="7633245" y="5620283"/>
                        <a:ext cx="11705058" cy="561972"/>
                      </a:xfrm>
                      <a:prstGeom prst="rect">
                        <a:avLst/>
                      </a:prstGeom>
                    </p:spPr>
                  </p:pic>
                </p:oleObj>
              </mc:Fallback>
            </mc:AlternateContent>
          </a:graphicData>
        </a:graphic>
      </p:graphicFrame>
    </p:spTree>
    <p:extLst>
      <p:ext uri="{BB962C8B-B14F-4D97-AF65-F5344CB8AC3E}">
        <p14:creationId xmlns:p14="http://schemas.microsoft.com/office/powerpoint/2010/main" val="408535312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131</TotalTime>
  <Words>1106</Words>
  <Application>Microsoft Office PowerPoint</Application>
  <PresentationFormat>自定义</PresentationFormat>
  <Paragraphs>104</Paragraphs>
  <Slides>41</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7" baseType="lpstr">
      <vt:lpstr>NEU-BZ-S92</vt:lpstr>
      <vt:lpstr>方正书宋_GBK</vt:lpstr>
      <vt:lpstr>仿宋</vt:lpstr>
      <vt:lpstr>黑体</vt:lpstr>
      <vt:lpstr>华文新魏</vt:lpstr>
      <vt:lpstr>楷体</vt:lpstr>
      <vt:lpstr>隶书</vt:lpstr>
      <vt:lpstr>宋体</vt:lpstr>
      <vt:lpstr>Arial</vt:lpstr>
      <vt:lpstr>Calibri</vt:lpstr>
      <vt:lpstr>Cambria Math</vt:lpstr>
      <vt:lpstr>Microsoft Yi Baiti</vt:lpstr>
      <vt:lpstr>Times New Roman</vt:lpstr>
      <vt:lpstr>专业教辅课件Q:251490010</vt:lpstr>
      <vt:lpstr>文档</vt:lpstr>
      <vt:lpstr>Microsoft Word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30</cp:revision>
  <dcterms:created xsi:type="dcterms:W3CDTF">2020-09-12T05:36:12Z</dcterms:created>
  <dcterms:modified xsi:type="dcterms:W3CDTF">2025-09-04T07:10:01Z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