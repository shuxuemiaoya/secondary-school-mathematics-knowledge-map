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3"/>
  </p:notesMasterIdLst>
  <p:sldIdLst>
    <p:sldId id="731" r:id="rId2"/>
    <p:sldId id="753" r:id="rId3"/>
    <p:sldId id="744" r:id="rId4"/>
    <p:sldId id="737" r:id="rId5"/>
    <p:sldId id="750" r:id="rId6"/>
    <p:sldId id="754" r:id="rId7"/>
    <p:sldId id="756" r:id="rId8"/>
    <p:sldId id="757" r:id="rId9"/>
    <p:sldId id="758" r:id="rId10"/>
    <p:sldId id="759" r:id="rId11"/>
    <p:sldId id="760" r:id="rId12"/>
    <p:sldId id="747" r:id="rId13"/>
    <p:sldId id="751" r:id="rId14"/>
    <p:sldId id="764" r:id="rId15"/>
    <p:sldId id="765" r:id="rId16"/>
    <p:sldId id="766" r:id="rId17"/>
    <p:sldId id="767" r:id="rId18"/>
    <p:sldId id="768" r:id="rId19"/>
    <p:sldId id="769" r:id="rId20"/>
    <p:sldId id="763" r:id="rId21"/>
    <p:sldId id="771" r:id="rId22"/>
    <p:sldId id="772" r:id="rId23"/>
    <p:sldId id="773" r:id="rId24"/>
    <p:sldId id="774" r:id="rId25"/>
    <p:sldId id="775" r:id="rId26"/>
    <p:sldId id="776" r:id="rId27"/>
    <p:sldId id="770" r:id="rId28"/>
    <p:sldId id="778" r:id="rId29"/>
    <p:sldId id="779" r:id="rId30"/>
    <p:sldId id="780" r:id="rId31"/>
    <p:sldId id="781" r:id="rId32"/>
    <p:sldId id="782" r:id="rId33"/>
    <p:sldId id="783" r:id="rId34"/>
    <p:sldId id="755" r:id="rId35"/>
    <p:sldId id="809" r:id="rId36"/>
    <p:sldId id="785" r:id="rId37"/>
    <p:sldId id="786" r:id="rId38"/>
    <p:sldId id="787" r:id="rId39"/>
    <p:sldId id="789" r:id="rId40"/>
    <p:sldId id="790" r:id="rId41"/>
    <p:sldId id="810" r:id="rId42"/>
    <p:sldId id="784" r:id="rId43"/>
    <p:sldId id="801" r:id="rId44"/>
    <p:sldId id="792" r:id="rId45"/>
    <p:sldId id="802" r:id="rId46"/>
    <p:sldId id="793" r:id="rId47"/>
    <p:sldId id="794" r:id="rId48"/>
    <p:sldId id="807" r:id="rId49"/>
    <p:sldId id="808" r:id="rId50"/>
    <p:sldId id="795" r:id="rId51"/>
    <p:sldId id="796" r:id="rId52"/>
    <p:sldId id="811" r:id="rId53"/>
    <p:sldId id="797" r:id="rId54"/>
    <p:sldId id="798" r:id="rId55"/>
    <p:sldId id="799" r:id="rId56"/>
    <p:sldId id="803" r:id="rId57"/>
    <p:sldId id="800" r:id="rId58"/>
    <p:sldId id="804" r:id="rId59"/>
    <p:sldId id="805" r:id="rId60"/>
    <p:sldId id="806" r:id="rId61"/>
    <p:sldId id="735" r:id="rId62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180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61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3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Relationship Id="rId4" Type="http://schemas.openxmlformats.org/officeDocument/2006/relationships/slide" Target="slide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5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2.jpeg"/><Relationship Id="rId4" Type="http://schemas.openxmlformats.org/officeDocument/2006/relationships/image" Target="../media/image1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4.jpeg"/><Relationship Id="rId4" Type="http://schemas.openxmlformats.org/officeDocument/2006/relationships/image" Target="../media/image13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5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7.jpeg"/><Relationship Id="rId4" Type="http://schemas.openxmlformats.org/officeDocument/2006/relationships/image" Target="../media/image16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8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0.jpeg"/><Relationship Id="rId4" Type="http://schemas.openxmlformats.org/officeDocument/2006/relationships/image" Target="../media/image19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1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3.jpeg"/><Relationship Id="rId4" Type="http://schemas.openxmlformats.org/officeDocument/2006/relationships/image" Target="../media/image22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5.jpeg"/><Relationship Id="rId4" Type="http://schemas.openxmlformats.org/officeDocument/2006/relationships/image" Target="../media/image24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30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32.jpeg"/><Relationship Id="rId4" Type="http://schemas.openxmlformats.org/officeDocument/2006/relationships/image" Target="../media/image31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6.docx"/><Relationship Id="rId7" Type="http://schemas.openxmlformats.org/officeDocument/2006/relationships/image" Target="../media/image35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4.emf"/><Relationship Id="rId5" Type="http://schemas.openxmlformats.org/officeDocument/2006/relationships/package" Target="../embeddings/Microsoft_Word___17.docx"/><Relationship Id="rId4" Type="http://schemas.openxmlformats.org/officeDocument/2006/relationships/image" Target="../media/image33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8.docx"/><Relationship Id="rId7" Type="http://schemas.openxmlformats.org/officeDocument/2006/relationships/image" Target="../media/image37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package" Target="../embeddings/Microsoft_Word___19.docx"/><Relationship Id="rId5" Type="http://schemas.openxmlformats.org/officeDocument/2006/relationships/image" Target="../media/image38.jpeg"/><Relationship Id="rId4" Type="http://schemas.openxmlformats.org/officeDocument/2006/relationships/image" Target="../media/image36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46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48.jpeg"/><Relationship Id="rId4" Type="http://schemas.openxmlformats.org/officeDocument/2006/relationships/image" Target="../media/image47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49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50.e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57.e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60.emf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2447999"/>
            <a:ext cx="10807700" cy="10943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立体几何初步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143988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知识梳理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构建体系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图文框 6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324008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专题归纳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核心突破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00783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知识梳理</a:t>
            </a:r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构建体系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592685" y="4392215"/>
            <a:ext cx="1584176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/>
              <a:t>知识网络</a:t>
            </a:r>
            <a:endParaRPr lang="zh-CN" altLang="en-US" sz="2400" dirty="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5112965" y="4392215"/>
            <a:ext cx="1584176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/>
              <a:t>要点梳理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97" y="503783"/>
            <a:ext cx="1584176" cy="432048"/>
          </a:xfrm>
          <a:prstGeom prst="roundRect">
            <a:avLst/>
          </a:prstGeom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/>
              <a:t>知识网络</a:t>
            </a:r>
            <a:endParaRPr lang="zh-CN" altLang="en-US" sz="2400" dirty="0"/>
          </a:p>
        </p:txBody>
      </p:sp>
      <p:pic>
        <p:nvPicPr>
          <p:cNvPr id="4" name="21N116.eps" descr="id:214749081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2592685" y="670985"/>
            <a:ext cx="5904656" cy="568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397" y="503783"/>
            <a:ext cx="1584176" cy="432048"/>
          </a:xfrm>
          <a:prstGeom prst="roundRect">
            <a:avLst/>
          </a:prstGeom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要点梳理</a:t>
            </a:r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361950" y="791815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简单几何体的表面积与体积有哪些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请完成下表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endParaRPr lang="zh-CN" alt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2998056"/>
              </p:ext>
            </p:extLst>
          </p:nvPr>
        </p:nvGraphicFramePr>
        <p:xfrm>
          <a:off x="502914" y="1397375"/>
          <a:ext cx="10226675" cy="560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4" name="文档" r:id="rId3" imgW="4066627" imgH="2230151" progId="Word.Document.12">
                  <p:embed/>
                </p:oleObj>
              </mc:Choice>
              <mc:Fallback>
                <p:oleObj name="文档" r:id="rId3" imgW="4066627" imgH="22301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2914" y="1397375"/>
                        <a:ext cx="10226675" cy="5602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2491181" y="2375991"/>
            <a:ext cx="1459824" cy="3687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2486591" y="2745863"/>
            <a:ext cx="14581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7469565" y="1946973"/>
            <a:ext cx="504056" cy="3687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7464975" y="2316845"/>
            <a:ext cx="50348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7514487" y="2844183"/>
            <a:ext cx="661734" cy="5486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7509862" y="3393935"/>
            <a:ext cx="66098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7349837" y="5295639"/>
            <a:ext cx="821009" cy="5486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7345213" y="5845391"/>
            <a:ext cx="8200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5" grpId="0" animBg="1"/>
      <p:bldP spid="18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61950" y="64779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空间中的平行关系有哪些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怎样判断这些平行关系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请完成下表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endParaRPr lang="zh-CN" alt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7850590"/>
              </p:ext>
            </p:extLst>
          </p:nvPr>
        </p:nvGraphicFramePr>
        <p:xfrm>
          <a:off x="-176712" y="1862103"/>
          <a:ext cx="12038765" cy="5149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8" name="文档" r:id="rId3" imgW="3947136" imgH="1688208" progId="Word.Document.12">
                  <p:embed/>
                </p:oleObj>
              </mc:Choice>
              <mc:Fallback>
                <p:oleObj name="文档" r:id="rId3" imgW="3947136" imgH="16882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176712" y="1862103"/>
                        <a:ext cx="12038765" cy="51490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7345213" y="2569167"/>
            <a:ext cx="792088" cy="3687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019573" y="3115086"/>
            <a:ext cx="792088" cy="3687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803317" y="4167470"/>
            <a:ext cx="792088" cy="3687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28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107150"/>
              </p:ext>
            </p:extLst>
          </p:nvPr>
        </p:nvGraphicFramePr>
        <p:xfrm>
          <a:off x="-157048" y="1439887"/>
          <a:ext cx="12038765" cy="4131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2" name="文档" r:id="rId3" imgW="3947136" imgH="1354677" progId="Word.Document.12">
                  <p:embed/>
                </p:oleObj>
              </mc:Choice>
              <mc:Fallback>
                <p:oleObj name="文档" r:id="rId3" imgW="3947136" imgH="1354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157048" y="1439887"/>
                        <a:ext cx="12038765" cy="4131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8209309" y="2683687"/>
            <a:ext cx="810000" cy="3687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728101" y="3221534"/>
            <a:ext cx="792088" cy="3687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019309" y="3781506"/>
            <a:ext cx="828000" cy="3687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56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61950" y="736134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空间中的垂直关系有哪些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怎样判断这些垂直关系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请完成下表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endParaRPr lang="zh-CN" alt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292020"/>
              </p:ext>
            </p:extLst>
          </p:nvPr>
        </p:nvGraphicFramePr>
        <p:xfrm>
          <a:off x="361321" y="1957621"/>
          <a:ext cx="10944332" cy="475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6" name="文档" r:id="rId3" imgW="3947136" imgH="1713809" progId="Word.Document.12">
                  <p:embed/>
                </p:oleObj>
              </mc:Choice>
              <mc:Fallback>
                <p:oleObj name="文档" r:id="rId3" imgW="3947136" imgH="17138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1321" y="1957621"/>
                        <a:ext cx="10944332" cy="4751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7449810" y="2588831"/>
            <a:ext cx="1080000" cy="3687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335381" y="3532473"/>
            <a:ext cx="1080000" cy="3687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147108" y="4051839"/>
            <a:ext cx="670595" cy="3687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891280" y="4536231"/>
            <a:ext cx="737655" cy="3687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545013" y="4998886"/>
            <a:ext cx="737655" cy="3687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136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361950" y="523447"/>
            <a:ext cx="10807700" cy="609282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内的无数条直线都垂直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内的一条直线垂直于平面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内的无数条直线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棱柱即是两个底面全等且其余各面都是矩形的多面体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444298" y="2363513"/>
            <a:ext cx="491825" cy="4908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728589" y="3559507"/>
            <a:ext cx="491825" cy="4908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345213" y="4104183"/>
            <a:ext cx="491825" cy="4908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211029" y="4713146"/>
            <a:ext cx="491825" cy="4908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0369549" y="5832375"/>
            <a:ext cx="491825" cy="4908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821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242898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(6)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通过圆台侧面上一点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有无数条母线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(7)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过圆锥的高的三等分点作平行于底面的截面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它们把圆锥的侧面分成的三部分的面积之比为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(8)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棱柱的所有的侧面都是长方形或正方形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(9)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棱柱的侧面的个数与底面的边数相等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(10)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足球的表面无法展成平面图形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561237" y="1361450"/>
            <a:ext cx="491825" cy="4908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353325" y="2500343"/>
            <a:ext cx="491825" cy="4908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291149" y="3096071"/>
            <a:ext cx="491825" cy="4908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807149" y="3672135"/>
            <a:ext cx="491825" cy="4908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781380" y="4248199"/>
            <a:ext cx="491825" cy="4908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758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00783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专题归纳</a:t>
            </a:r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核心突破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圆角矩形 5">
            <a:hlinkClick r:id="rId2" action="ppaction://hlinksldjump"/>
          </p:cNvPr>
          <p:cNvSpPr/>
          <p:nvPr/>
        </p:nvSpPr>
        <p:spPr>
          <a:xfrm>
            <a:off x="2592685" y="4392215"/>
            <a:ext cx="1584176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/>
              <a:t>专题整合</a:t>
            </a:r>
          </a:p>
        </p:txBody>
      </p:sp>
      <p:sp>
        <p:nvSpPr>
          <p:cNvPr id="7" name="圆角矩形 6">
            <a:hlinkClick r:id="rId3" action="ppaction://hlinksldjump"/>
          </p:cNvPr>
          <p:cNvSpPr/>
          <p:nvPr/>
        </p:nvSpPr>
        <p:spPr>
          <a:xfrm>
            <a:off x="5112965" y="4392215"/>
            <a:ext cx="1584176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/>
              <a:t>高考体验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1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专题一</a:t>
            </a:r>
            <a:r>
              <a:rPr lang="zh-CN" altLang="zh-CN" i="1" dirty="0"/>
              <a:t>　</a:t>
            </a:r>
            <a:r>
              <a:rPr lang="zh-CN" altLang="zh-CN" dirty="0"/>
              <a:t>平行、垂直关系的证明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61950" y="1386914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在四棱锥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P-ABCD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底面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底面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PCD.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EMG2TRA143.eps" descr="id:2147502219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5891922" y="2592015"/>
            <a:ext cx="3541523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16167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底面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垂直于这两个平面的交线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底面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AB=DE.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ABED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为平行四边形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⊄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70549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42375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而且四边形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ABED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为平行四边形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底面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AD=A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分别是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EF=E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BEF.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PCD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PCD.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25265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031811"/>
            <a:ext cx="10807700" cy="4172156"/>
            <a:chOff x="361950" y="940139"/>
            <a:chExt cx="10807700" cy="4172156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530930"/>
              <a:ext cx="10807700" cy="35813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垂直、平行关系证明中应用转化与化归思想的常见类型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证明线面、面面平行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需转化为证明线线平行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证明线面垂直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需转化为证明线线垂直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证明线线垂直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需转化为证明线面垂直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证明面面垂直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需转化为证明线面垂直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进而转化为证明线线垂直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97851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99863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 smtClean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上是否存在一点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并证明你的结论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EMG2TRA144.eps" descr="id:2147502233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6913165" y="1366377"/>
            <a:ext cx="3528392" cy="342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27904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93847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为正方体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5878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91483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证明如下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68789"/>
              </p:ext>
            </p:extLst>
          </p:nvPr>
        </p:nvGraphicFramePr>
        <p:xfrm>
          <a:off x="361950" y="2394515"/>
          <a:ext cx="11671959" cy="2209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文档" r:id="rId3" imgW="3826872" imgH="724509" progId="Word.Document.12">
                  <p:embed/>
                </p:oleObj>
              </mc:Choice>
              <mc:Fallback>
                <p:oleObj name="文档" r:id="rId3" imgW="3826872" imgH="7245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1950" y="2394515"/>
                        <a:ext cx="11671959" cy="22097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61950" y="4513817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EF=B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OEF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为平行四边形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OE.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⊄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OE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8" name="EMG2TRA145.eps" descr="id:2147502240;FounderCES"/>
          <p:cNvPicPr/>
          <p:nvPr/>
        </p:nvPicPr>
        <p:blipFill>
          <a:blip r:embed="rId5"/>
          <a:stretch>
            <a:fillRect/>
          </a:stretch>
        </p:blipFill>
        <p:spPr>
          <a:xfrm>
            <a:off x="6913165" y="1275612"/>
            <a:ext cx="3672408" cy="356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9538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1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专题二</a:t>
            </a:r>
            <a:r>
              <a:rPr lang="zh-CN" altLang="zh-CN" i="1" dirty="0"/>
              <a:t>　</a:t>
            </a:r>
            <a:r>
              <a:rPr lang="zh-CN" altLang="zh-CN" dirty="0"/>
              <a:t>求点</a:t>
            </a:r>
            <a:r>
              <a:rPr lang="zh-CN" altLang="zh-CN" dirty="0" smtClean="0"/>
              <a:t>到</a:t>
            </a:r>
            <a:r>
              <a:rPr lang="zh-CN" altLang="en-US" dirty="0" smtClean="0"/>
              <a:t>平</a:t>
            </a:r>
            <a:r>
              <a:rPr lang="zh-CN" altLang="zh-CN" dirty="0" smtClean="0"/>
              <a:t>面的</a:t>
            </a:r>
            <a:r>
              <a:rPr lang="zh-CN" altLang="zh-CN" dirty="0"/>
              <a:t>距离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3357938"/>
              </p:ext>
            </p:extLst>
          </p:nvPr>
        </p:nvGraphicFramePr>
        <p:xfrm>
          <a:off x="288429" y="1439887"/>
          <a:ext cx="11671959" cy="1925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文档" r:id="rId3" imgW="3837724" imgH="633529" progId="Word.Document.12">
                  <p:embed/>
                </p:oleObj>
              </mc:Choice>
              <mc:Fallback>
                <p:oleObj name="文档" r:id="rId3" imgW="3837724" imgH="6335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8429" y="1439887"/>
                        <a:ext cx="11671959" cy="19258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216421" y="4758750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到平面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FED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的距离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EMG2TRA146.eps" descr="id:2147502247;FounderCES"/>
          <p:cNvPicPr/>
          <p:nvPr/>
        </p:nvPicPr>
        <p:blipFill>
          <a:blip r:embed="rId5"/>
          <a:stretch>
            <a:fillRect/>
          </a:stretch>
        </p:blipFill>
        <p:spPr>
          <a:xfrm>
            <a:off x="6985173" y="2724586"/>
            <a:ext cx="3384376" cy="320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91186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-4073579" y="1314906"/>
            <a:ext cx="15243229" cy="3637919"/>
            <a:chOff x="-4073579" y="1170890"/>
            <a:chExt cx="15243229" cy="3637919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1170890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证明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FC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BED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BE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⊂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BED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EB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FC.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  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的中点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为直径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的中点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EB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BC.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∩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BC=C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EB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FBD.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FD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⊂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FBD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EB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FD.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3450940"/>
                </p:ext>
              </p:extLst>
            </p:nvPr>
          </p:nvGraphicFramePr>
          <p:xfrm>
            <a:off x="-4073579" y="2340224"/>
            <a:ext cx="11671959" cy="566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文档" r:id="rId3" imgW="3826872" imgH="185799" progId="Word.Document.12">
                    <p:embed/>
                  </p:oleObj>
                </mc:Choice>
                <mc:Fallback>
                  <p:oleObj name="文档" r:id="rId3" imgW="3826872" imgH="18579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-4073579" y="2340224"/>
                          <a:ext cx="11671959" cy="5666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1404323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30592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内过点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CH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FCH.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5246507"/>
              </p:ext>
            </p:extLst>
          </p:nvPr>
        </p:nvGraphicFramePr>
        <p:xfrm>
          <a:off x="361950" y="1948233"/>
          <a:ext cx="11671959" cy="4018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文档" r:id="rId3" imgW="3826872" imgH="1317484" progId="Word.Document.12">
                  <p:embed/>
                </p:oleObj>
              </mc:Choice>
              <mc:Fallback>
                <p:oleObj name="文档" r:id="rId3" imgW="3826872" imgH="13174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1950" y="1948233"/>
                        <a:ext cx="11671959" cy="40183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EMG2TRA147.eps" descr="id:2147502254;FounderCES"/>
          <p:cNvPicPr/>
          <p:nvPr/>
        </p:nvPicPr>
        <p:blipFill>
          <a:blip r:embed="rId5"/>
          <a:stretch>
            <a:fillRect/>
          </a:stretch>
        </p:blipFill>
        <p:spPr>
          <a:xfrm>
            <a:off x="6697141" y="2015951"/>
            <a:ext cx="3896445" cy="368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39320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570453"/>
              </p:ext>
            </p:extLst>
          </p:nvPr>
        </p:nvGraphicFramePr>
        <p:xfrm>
          <a:off x="281766" y="844159"/>
          <a:ext cx="11671959" cy="5045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文档" r:id="rId3" imgW="3837724" imgH="1656838" progId="Word.Document.12">
                  <p:embed/>
                </p:oleObj>
              </mc:Choice>
              <mc:Fallback>
                <p:oleObj name="文档" r:id="rId3" imgW="3837724" imgH="16568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1766" y="844159"/>
                        <a:ext cx="11671959" cy="50453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153773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688654"/>
            <a:ext cx="10807700" cy="2472083"/>
            <a:chOff x="361950" y="1544638"/>
            <a:chExt cx="10807700" cy="2472083"/>
          </a:xfrm>
        </p:grpSpPr>
        <p:pic>
          <p:nvPicPr>
            <p:cNvPr id="3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544638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2151595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求点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到</a:t>
              </a:r>
              <a:r>
                <a:rPr lang="zh-CN" altLang="en-US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平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面的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距离的关键是确定过点与平面垂直的线段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可通过外形进行转化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转化为易于求解的点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等体积法也是求点到平面的距离的常用方法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842573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241420"/>
              </p:ext>
            </p:extLst>
          </p:nvPr>
        </p:nvGraphicFramePr>
        <p:xfrm>
          <a:off x="425782" y="729639"/>
          <a:ext cx="11671959" cy="1890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name="文档" r:id="rId3" imgW="3826872" imgH="619929" progId="Word.Document.12">
                  <p:embed/>
                </p:oleObj>
              </mc:Choice>
              <mc:Fallback>
                <p:oleObj name="文档" r:id="rId3" imgW="3826872" imgH="6199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5782" y="729639"/>
                        <a:ext cx="11671959" cy="18907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61950" y="2553909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是直角三角形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分别取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PE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SA.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PEF.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EMG2TRA148.eps" descr="id:2147502268;FounderCES"/>
          <p:cNvPicPr/>
          <p:nvPr/>
        </p:nvPicPr>
        <p:blipFill>
          <a:blip r:embed="rId5"/>
          <a:stretch>
            <a:fillRect/>
          </a:stretch>
        </p:blipFill>
        <p:spPr>
          <a:xfrm>
            <a:off x="7921277" y="3180083"/>
            <a:ext cx="2448272" cy="302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18322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647170"/>
            <a:ext cx="11725959" cy="5784509"/>
            <a:chOff x="361950" y="647170"/>
            <a:chExt cx="11725959" cy="5784509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647170"/>
              <a:ext cx="10807700" cy="29904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PE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⊂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PEF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PE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易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证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SAC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≌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SBC.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的中点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PA=PB.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而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的中点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PE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∩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AC=A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PE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从而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PE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的长就是点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到平面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的距离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7716750"/>
                </p:ext>
              </p:extLst>
            </p:nvPr>
          </p:nvGraphicFramePr>
          <p:xfrm>
            <a:off x="415950" y="3608108"/>
            <a:ext cx="11671959" cy="28235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8" name="文档" r:id="rId3" imgW="3826872" imgH="925761" progId="Word.Document.12">
                    <p:embed/>
                  </p:oleObj>
                </mc:Choice>
                <mc:Fallback>
                  <p:oleObj name="文档" r:id="rId3" imgW="3826872" imgH="92576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5950" y="3608108"/>
                          <a:ext cx="11671959" cy="282357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8955070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1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专题三</a:t>
            </a:r>
            <a:r>
              <a:rPr lang="zh-CN" altLang="zh-CN" i="1" dirty="0"/>
              <a:t>　</a:t>
            </a:r>
            <a:r>
              <a:rPr lang="zh-CN" altLang="zh-CN" dirty="0"/>
              <a:t>折叠问题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361950" y="1424322"/>
            <a:ext cx="19437150" cy="4819781"/>
            <a:chOff x="361950" y="1367879"/>
            <a:chExt cx="19437150" cy="4819781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367879"/>
              <a:ext cx="10807700" cy="481978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在平行四边形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ABCM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AB=AC=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ACM=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为折痕将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ACM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折起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使点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到达点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的位置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DA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证明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ACD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为线段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AD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上一点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为线段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上一点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求三棱锥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Q-ABP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的体积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1105440"/>
                </p:ext>
              </p:extLst>
            </p:nvPr>
          </p:nvGraphicFramePr>
          <p:xfrm>
            <a:off x="8127141" y="4824263"/>
            <a:ext cx="11671959" cy="7256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2" name="文档" r:id="rId3" imgW="3826872" imgH="237909" progId="Word.Document.12">
                    <p:embed/>
                  </p:oleObj>
                </mc:Choice>
                <mc:Fallback>
                  <p:oleObj name="文档" r:id="rId3" imgW="3826872" imgH="23790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127141" y="4824263"/>
                          <a:ext cx="11671959" cy="7256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7" name="EMG2TRA149.eps" descr="id:2147502275;FounderCES"/>
          <p:cNvPicPr/>
          <p:nvPr/>
        </p:nvPicPr>
        <p:blipFill>
          <a:blip r:embed="rId5"/>
          <a:stretch>
            <a:fillRect/>
          </a:stretch>
        </p:blipFill>
        <p:spPr>
          <a:xfrm>
            <a:off x="6641241" y="2664023"/>
            <a:ext cx="3512284" cy="213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74791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89243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由已知可得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BAC=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AD=A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7182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139855"/>
              </p:ext>
            </p:extLst>
          </p:nvPr>
        </p:nvGraphicFramePr>
        <p:xfrm>
          <a:off x="576461" y="945663"/>
          <a:ext cx="11671959" cy="4872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" name="文档" r:id="rId3" imgW="3837724" imgH="1599507" progId="Word.Document.12">
                  <p:embed/>
                </p:oleObj>
              </mc:Choice>
              <mc:Fallback>
                <p:oleObj name="文档" r:id="rId3" imgW="3837724" imgH="159950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6461" y="945663"/>
                        <a:ext cx="11671959" cy="48721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EMG2TRA150.eps" descr="id:2147502282;FounderCES"/>
          <p:cNvPicPr/>
          <p:nvPr/>
        </p:nvPicPr>
        <p:blipFill>
          <a:blip r:embed="rId5"/>
          <a:stretch>
            <a:fillRect/>
          </a:stretch>
        </p:blipFill>
        <p:spPr>
          <a:xfrm>
            <a:off x="7057181" y="1799927"/>
            <a:ext cx="4104456" cy="2436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34957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930307"/>
            <a:ext cx="10807700" cy="4758052"/>
            <a:chOff x="361950" y="940139"/>
            <a:chExt cx="10807700" cy="4758052"/>
          </a:xfrm>
        </p:grpSpPr>
        <p:pic>
          <p:nvPicPr>
            <p:cNvPr id="4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525895"/>
              <a:ext cx="10807700" cy="417229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解决折叠问题的策略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抓住折叠前后的变量与不变量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一般情况下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在折线同侧的量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折叠前后不变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跨过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折线的量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折叠前后可能会发生变化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这是解决这类问题的关键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在解题时仔细审视从平面图形到立体图形的几何特征的变化情况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注意相应的点、直线、平面间的位置关系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线段的长度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角度的变化情况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167066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96568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在矩形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折起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到点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的位置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 smtClean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 smtClean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如果二面角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A-DE-C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是直二面角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AB=AC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AB=AC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BCDE.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EMG2TRA152.eps" descr="id:2147502296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024733" y="1911801"/>
            <a:ext cx="4608512" cy="284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32351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54519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过点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DE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AD=AE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DE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MN=M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AMN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AN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AB=AC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EMG2TRA151.eps" descr="id:2147502303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129189" y="1785298"/>
            <a:ext cx="4032448" cy="249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10327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72151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AN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AB=AC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AN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DE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AM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AN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=N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AM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AM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DE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AD=AE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AM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DE.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DE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BCDE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内的相交直线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AM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BCDE.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AM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BCDE.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79491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1"/>
          <p:cNvSpPr/>
          <p:nvPr/>
        </p:nvSpPr>
        <p:spPr>
          <a:xfrm>
            <a:off x="808363" y="1027503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考点一</a:t>
            </a:r>
            <a:r>
              <a:rPr lang="zh-CN" altLang="zh-CN" i="1" dirty="0"/>
              <a:t>　</a:t>
            </a:r>
            <a:r>
              <a:rPr lang="zh-CN" altLang="zh-CN" dirty="0"/>
              <a:t>空间几何体的表面积和体积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>
                <a:spLocks noChangeAspect="1"/>
              </p:cNvSpPr>
              <p:nvPr/>
            </p:nvSpPr>
            <p:spPr>
              <a:xfrm>
                <a:off x="361950" y="1767576"/>
                <a:ext cx="10807700" cy="197656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(2024·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新高考</a:t>
                </a:r>
                <a:r>
                  <a:rPr lang="zh-CN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rPr>
                  <a:t>Ⅰ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卷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已知圆柱和圆锥的底面半径相等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侧面积相等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且它们的高均为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则圆锥的体积为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　　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 smtClean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A.2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π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	B.3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π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	C.6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π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	D.9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zh-CN" dirty="0" smtClean="0">
                    <a:solidFill>
                      <a:srgbClr val="000000"/>
                    </a:solidFill>
                    <a:effectLst/>
                    <a:latin typeface="+mn-lt"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π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1767576"/>
                <a:ext cx="10807700" cy="1976567"/>
              </a:xfrm>
              <a:prstGeom prst="rect">
                <a:avLst/>
              </a:prstGeom>
              <a:blipFill rotWithShape="0">
                <a:blip r:embed="rId2"/>
                <a:stretch>
                  <a:fillRect l="-1410" t="-3086" r="-1410" b="-58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188860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>
                <a:spLocks noChangeAspect="1"/>
              </p:cNvSpPr>
              <p:nvPr/>
            </p:nvSpPr>
            <p:spPr>
              <a:xfrm>
                <a:off x="361950" y="618303"/>
                <a:ext cx="10807700" cy="586173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cs typeface="Times New Roman" panose="02020603050405020304" pitchFamily="18" charset="0"/>
                  </a:rPr>
                  <a:t>解析</a:t>
                </a:r>
                <a:r>
                  <a:rPr lang="en-US" altLang="zh-CN" dirty="0">
                    <a:cs typeface="Times New Roman" panose="02020603050405020304" pitchFamily="18" charset="0"/>
                  </a:rPr>
                  <a:t>:</a:t>
                </a:r>
                <a:r>
                  <a:rPr lang="zh-CN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∵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圆柱和圆锥的底面半径相等</a:t>
                </a:r>
                <a:r>
                  <a:rPr lang="en-US" altLang="zh-CN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i="1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∴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可设圆柱和圆锥的底面半径为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r.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又圆柱和圆锥的高均为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zh-CN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i="1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∴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圆柱的侧面积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π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·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圆锥的侧面积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π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·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zh-CN">
                            <a:solidFill>
                              <a:srgbClr val="000000"/>
                            </a:solidFill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rad>
                        <m:sSup>
                          <m:sSupPr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altLang="zh-CN">
                                <a:solidFill>
                                  <a:srgbClr val="000000"/>
                                </a:solidFill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π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·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+3</m:t>
                        </m:r>
                      </m:e>
                    </m:rad>
                  </m:oMath>
                </a14:m>
                <a:r>
                  <a:rPr lang="en-US" altLang="zh-CN" i="1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 smtClean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又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圆柱的侧面积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和圆锥的侧面积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相等</a:t>
                </a:r>
                <a:r>
                  <a:rPr lang="en-US" altLang="zh-CN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i="1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∴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π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·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π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·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+3</m:t>
                        </m:r>
                      </m:e>
                    </m:rad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∴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baseline="300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9</a:t>
                </a:r>
                <a:r>
                  <a:rPr lang="en-US" altLang="zh-CN" i="1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i="1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宋体" panose="02010600030101010101" pitchFamily="2" charset="-122"/>
                  </a:rPr>
                  <a:t>∴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圆锥的体积为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·</a:t>
                </a:r>
                <a:r>
                  <a:rPr lang="en-US" altLang="zh-CN" dirty="0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π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baseline="300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·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·</a:t>
                </a:r>
                <a:r>
                  <a:rPr lang="en-US" altLang="zh-CN" dirty="0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π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·9·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π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cs typeface="Times New Roman" panose="02020603050405020304" pitchFamily="18" charset="0"/>
                  </a:rPr>
                  <a:t>答案</a:t>
                </a:r>
                <a:r>
                  <a:rPr lang="en-US" altLang="zh-CN" dirty="0">
                    <a:cs typeface="Times New Roman" panose="02020603050405020304" pitchFamily="18" charset="0"/>
                  </a:rPr>
                  <a:t>: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endParaRPr lang="zh-CN" altLang="zh-CN" dirty="0">
                  <a:solidFill>
                    <a:srgbClr val="000000"/>
                  </a:solidFill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618303"/>
                <a:ext cx="10807700" cy="5861733"/>
              </a:xfrm>
              <a:prstGeom prst="rect">
                <a:avLst/>
              </a:prstGeom>
              <a:blipFill rotWithShape="0">
                <a:blip r:embed="rId2"/>
                <a:stretch>
                  <a:fillRect l="-1410" t="-1040" r="-1466" b="-1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267146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6829788"/>
              </p:ext>
            </p:extLst>
          </p:nvPr>
        </p:nvGraphicFramePr>
        <p:xfrm>
          <a:off x="432445" y="1439887"/>
          <a:ext cx="10610872" cy="2642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" name="文档" r:id="rId3" imgW="3826872" imgH="953074" progId="Word.Document.12">
                  <p:embed/>
                </p:oleObj>
              </mc:Choice>
              <mc:Fallback>
                <p:oleObj name="文档" r:id="rId3" imgW="3826872" imgH="9530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2445" y="1439887"/>
                        <a:ext cx="10610872" cy="26426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390809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975926"/>
              </p:ext>
            </p:extLst>
          </p:nvPr>
        </p:nvGraphicFramePr>
        <p:xfrm>
          <a:off x="432445" y="742540"/>
          <a:ext cx="11671959" cy="5459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6" name="文档" r:id="rId3" imgW="3826872" imgH="1790068" progId="Word.Document.12">
                  <p:embed/>
                </p:oleObj>
              </mc:Choice>
              <mc:Fallback>
                <p:oleObj name="文档" r:id="rId3" imgW="3826872" imgH="17900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2445" y="742540"/>
                        <a:ext cx="11671959" cy="54597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24Z02.eps" descr="id:2147490976;FounderCES"/>
          <p:cNvPicPr/>
          <p:nvPr/>
        </p:nvPicPr>
        <p:blipFill>
          <a:blip r:embed="rId5"/>
          <a:stretch>
            <a:fillRect/>
          </a:stretch>
        </p:blipFill>
        <p:spPr>
          <a:xfrm>
            <a:off x="8209309" y="1943943"/>
            <a:ext cx="2520280" cy="3236032"/>
          </a:xfrm>
          <a:prstGeom prst="rect">
            <a:avLst/>
          </a:prstGeom>
        </p:spPr>
      </p:pic>
      <p:sp>
        <p:nvSpPr>
          <p:cNvPr id="5" name="矩形 4"/>
          <p:cNvSpPr>
            <a:spLocks noChangeAspect="1"/>
          </p:cNvSpPr>
          <p:nvPr/>
        </p:nvSpPr>
        <p:spPr>
          <a:xfrm>
            <a:off x="9289429" y="5388807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39219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16799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(2021·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全国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高考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是半径为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的球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的球面上的三个点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AC=BC=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则三棱锥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O-ABC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的体积为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905817"/>
              </p:ext>
            </p:extLst>
          </p:nvPr>
        </p:nvGraphicFramePr>
        <p:xfrm>
          <a:off x="395391" y="1790994"/>
          <a:ext cx="11671959" cy="789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6" name="文档" r:id="rId3" imgW="3826872" imgH="258753" progId="Word.Document.12">
                  <p:embed/>
                </p:oleObj>
              </mc:Choice>
              <mc:Fallback>
                <p:oleObj name="文档" r:id="rId3" imgW="3826872" imgH="2587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5391" y="1790994"/>
                        <a:ext cx="11671959" cy="7891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3804036"/>
              </p:ext>
            </p:extLst>
          </p:nvPr>
        </p:nvGraphicFramePr>
        <p:xfrm>
          <a:off x="370269" y="2710509"/>
          <a:ext cx="11671959" cy="3625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7" name="文档" r:id="rId5" imgW="3826872" imgH="1188827" progId="Word.Document.12">
                  <p:embed/>
                </p:oleObj>
              </mc:Choice>
              <mc:Fallback>
                <p:oleObj name="文档" r:id="rId5" imgW="3826872" imgH="118882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0269" y="2710509"/>
                        <a:ext cx="11671959" cy="36259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22T35.eps" descr="id:2147537191;FounderCES"/>
          <p:cNvPicPr/>
          <p:nvPr/>
        </p:nvPicPr>
        <p:blipFill>
          <a:blip r:embed="rId7"/>
          <a:stretch>
            <a:fillRect/>
          </a:stretch>
        </p:blipFill>
        <p:spPr>
          <a:xfrm>
            <a:off x="8361338" y="2907820"/>
            <a:ext cx="2808312" cy="2132467"/>
          </a:xfrm>
          <a:prstGeom prst="rect">
            <a:avLst/>
          </a:prstGeom>
        </p:spPr>
      </p:pic>
      <p:sp>
        <p:nvSpPr>
          <p:cNvPr id="5" name="矩形 4"/>
          <p:cNvSpPr>
            <a:spLocks noChangeAspect="1"/>
          </p:cNvSpPr>
          <p:nvPr/>
        </p:nvSpPr>
        <p:spPr>
          <a:xfrm>
            <a:off x="9217421" y="5618170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32429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66811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(2020·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全国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Ⅲ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高考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已知圆锥的底面半径为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母线长为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则该圆锥内半径最大的球的体积为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8400158"/>
              </p:ext>
            </p:extLst>
          </p:nvPr>
        </p:nvGraphicFramePr>
        <p:xfrm>
          <a:off x="464691" y="1885760"/>
          <a:ext cx="11705058" cy="4393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8" name="文档" r:id="rId3" imgW="3837724" imgH="1440494" progId="Word.Document.12">
                  <p:embed/>
                </p:oleObj>
              </mc:Choice>
              <mc:Fallback>
                <p:oleObj name="文档" r:id="rId3" imgW="3837724" imgH="14404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4691" y="1885760"/>
                        <a:ext cx="11705058" cy="43935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21C99.eps" descr="id:2147502688;FounderCES"/>
          <p:cNvPicPr/>
          <p:nvPr/>
        </p:nvPicPr>
        <p:blipFill>
          <a:blip r:embed="rId5"/>
          <a:stretch>
            <a:fillRect/>
          </a:stretch>
        </p:blipFill>
        <p:spPr>
          <a:xfrm>
            <a:off x="9505453" y="3983824"/>
            <a:ext cx="1800200" cy="2196736"/>
          </a:xfrm>
          <a:prstGeom prst="rect">
            <a:avLst/>
          </a:prstGeom>
        </p:spPr>
      </p:pic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091510"/>
              </p:ext>
            </p:extLst>
          </p:nvPr>
        </p:nvGraphicFramePr>
        <p:xfrm>
          <a:off x="7849269" y="5434794"/>
          <a:ext cx="11705058" cy="795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9" name="文档" r:id="rId6" imgW="3837724" imgH="260695" progId="Word.Document.12">
                  <p:embed/>
                </p:oleObj>
              </mc:Choice>
              <mc:Fallback>
                <p:oleObj name="文档" r:id="rId6" imgW="3837724" imgH="26069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849269" y="5434794"/>
                        <a:ext cx="11705058" cy="795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923050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61950" y="791815"/>
                <a:ext cx="10807700" cy="490583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5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(2024·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天津高考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一个五面体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ABC-DEF.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已知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AD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rPr>
                  <a:t>∥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BE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rPr>
                  <a:t>∥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CF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且两两之间的距离为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1,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并已知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AD=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1,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BE=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2,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CF=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3,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则该五面体的体积为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　　</a:t>
                </a:r>
                <a:r>
                  <a:rPr lang="en-US" altLang="zh-CN" dirty="0" smtClean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endPara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endParaRPr lang="zh-CN" altLang="zh-CN" dirty="0">
                  <a:solidFill>
                    <a:srgbClr val="000000"/>
                  </a:solidFill>
                  <a:effectLst/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effectLst/>
                                <a:latin typeface="+mn-lt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effectLst/>
                                <a:latin typeface="+mn-lt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	</a:t>
                </a:r>
                <a:r>
                  <a:rPr lang="en-US" altLang="zh-CN" dirty="0" smtClean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	B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effectLst/>
                                <a:latin typeface="+mn-lt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effectLst/>
                                <a:latin typeface="+mn-lt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i="1">
                        <a:solidFill>
                          <a:srgbClr val="000000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CN" altLang="zh-CN" dirty="0">
                  <a:solidFill>
                    <a:srgbClr val="000000"/>
                  </a:solidFill>
                  <a:effectLst/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C.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effectLst/>
                                <a:latin typeface="+mn-lt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effectLst/>
                                <a:latin typeface="+mn-lt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	</a:t>
                </a:r>
                <a:r>
                  <a:rPr lang="en-US" altLang="zh-CN" dirty="0" smtClean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	D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effectLst/>
                                <a:latin typeface="+mn-lt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effectLst/>
                                <a:latin typeface="+mn-lt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i="1">
                        <a:solidFill>
                          <a:srgbClr val="000000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CN" altLang="zh-CN" dirty="0">
                  <a:solidFill>
                    <a:srgbClr val="000000"/>
                  </a:solidFill>
                  <a:effectLst/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791815"/>
                <a:ext cx="10807700" cy="4905830"/>
              </a:xfrm>
              <a:prstGeom prst="rect">
                <a:avLst/>
              </a:prstGeom>
              <a:blipFill rotWithShape="0">
                <a:blip r:embed="rId2"/>
                <a:stretch>
                  <a:fillRect l="-1410" t="-1242" r="-508" b="-7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25T17.eps" descr="id:2147536709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6049069" y="2087959"/>
            <a:ext cx="2338551" cy="341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37363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>
                <a:spLocks noChangeAspect="1"/>
              </p:cNvSpPr>
              <p:nvPr/>
            </p:nvSpPr>
            <p:spPr>
              <a:xfrm>
                <a:off x="361950" y="647799"/>
                <a:ext cx="10807700" cy="553568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解析</a:t>
                </a:r>
                <a:r>
                  <a:rPr lang="en-US" altLang="zh-CN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如图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用一个和五面体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ABC-DEF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完全相同的五面体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HIJ-LMN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与五面体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ABC-DEF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拼在一起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其中顶点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L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分别与顶点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F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重合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NEU-BZ-S92" panose="02020503000000020003" pitchFamily="18" charset="-122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由题意可知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拼成的组合体是一个三棱柱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NEU-BZ-S92" panose="02020503000000020003" pitchFamily="18" charset="-122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该三棱柱的直截面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与侧棱垂直的截面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是边长为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的等边三角形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其面积为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×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baseline="300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三棱柱的侧棱长为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4,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i="1" baseline="-250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ABC-DEF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i="1" baseline="-250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ABC-HIJ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×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故选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NEU-BZ-S92" panose="02020503000000020003" pitchFamily="18" charset="-122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答案</a:t>
                </a:r>
                <a:r>
                  <a:rPr lang="en-US" altLang="zh-CN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: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NEU-BZ-S92" panose="02020503000000020003" pitchFamily="18" charset="-122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647799"/>
                <a:ext cx="10807700" cy="5535683"/>
              </a:xfrm>
              <a:prstGeom prst="rect">
                <a:avLst/>
              </a:prstGeom>
              <a:blipFill rotWithShape="0">
                <a:blip r:embed="rId2"/>
                <a:stretch>
                  <a:fillRect l="-1410" t="-1101" r="-1297" b="-13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25T18.eps" descr="id:2147536716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9145413" y="4411369"/>
            <a:ext cx="1053465" cy="163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9063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1"/>
          <p:cNvSpPr/>
          <p:nvPr/>
        </p:nvSpPr>
        <p:spPr>
          <a:xfrm>
            <a:off x="808363" y="1006438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考点二</a:t>
            </a:r>
            <a:r>
              <a:rPr lang="zh-CN" altLang="zh-CN" i="1" dirty="0"/>
              <a:t>　</a:t>
            </a:r>
            <a:r>
              <a:rPr lang="zh-CN" altLang="zh-CN" dirty="0"/>
              <a:t>空间中点、直线、平面之间的位置关系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1655911"/>
            <a:ext cx="10807700" cy="359899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(2024·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天津高考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为两条不同的直线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为一个平面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则下列结论中正确的是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相交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79174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42852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平行或异面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平行或异面或相交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过直线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作平面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使得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=s.</a:t>
            </a:r>
            <a:endParaRPr lang="zh-CN" altLang="zh-CN" dirty="0">
              <a:solidFill>
                <a:srgbClr val="000000"/>
              </a:solidFill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NEU-BZ-S92" panose="02020503000000020003" pitchFamily="18" charset="-12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000000"/>
                </a:solidFill>
                <a:ea typeface="NEU-BZ-S92" panose="02020503000000020003" pitchFamily="18" charset="-12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相交或异面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pic>
        <p:nvPicPr>
          <p:cNvPr id="7" name="25T16.eps" descr="id:2147536723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5905053" y="2654191"/>
            <a:ext cx="2448272" cy="171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72734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29359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(2021·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浙江高考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已知正方体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分别是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 smtClean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垂直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BDD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相交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异面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BDD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pic>
        <p:nvPicPr>
          <p:cNvPr id="7" name="22T27.eps" descr="id:2147537219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6337101" y="1408224"/>
            <a:ext cx="2448272" cy="227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4862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48478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经过点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⊄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易知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不垂直于平面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BDD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不垂直于平面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BDD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在正方体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又四边形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为正方形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AB=A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与直线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垂直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易知直线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与直线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异面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8569349" y="5770199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pic>
        <p:nvPicPr>
          <p:cNvPr id="6" name="22T28.eps" descr="id:2147537226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993285" y="3529478"/>
            <a:ext cx="2437041" cy="224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00258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39887"/>
            <a:ext cx="10807700" cy="18262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(2023·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全国乙高考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为等腰直角三角形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为斜边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为等边三角形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若二面角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C-AB-D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NEU-BZ-S92" panose="02020503000000020003" pitchFamily="18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所成角的正切值为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6209936"/>
              </p:ext>
            </p:extLst>
          </p:nvPr>
        </p:nvGraphicFramePr>
        <p:xfrm>
          <a:off x="432445" y="3267614"/>
          <a:ext cx="11671959" cy="792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8" name="文档" r:id="rId3" imgW="3826872" imgH="259831" progId="Word.Document.12">
                  <p:embed/>
                </p:oleObj>
              </mc:Choice>
              <mc:Fallback>
                <p:oleObj name="文档" r:id="rId3" imgW="3826872" imgH="2598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2445" y="3267614"/>
                        <a:ext cx="11671959" cy="792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971810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47799"/>
            <a:ext cx="10807700" cy="182703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方法一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中点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OD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由题可知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DOC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为二面角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C-AB-D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的平面角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DOC=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150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1581629"/>
              </p:ext>
            </p:extLst>
          </p:nvPr>
        </p:nvGraphicFramePr>
        <p:xfrm>
          <a:off x="406749" y="3050103"/>
          <a:ext cx="10610872" cy="3286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2" name="文档" r:id="rId3" imgW="3826872" imgH="1185233" progId="Word.Document.12">
                  <p:embed/>
                </p:oleObj>
              </mc:Choice>
              <mc:Fallback>
                <p:oleObj name="文档" r:id="rId3" imgW="3826872" imgH="11852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6749" y="3050103"/>
                        <a:ext cx="10610872" cy="32863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24Z03.eps" descr="id:2147491018;FounderCES"/>
          <p:cNvPicPr/>
          <p:nvPr/>
        </p:nvPicPr>
        <p:blipFill>
          <a:blip r:embed="rId5"/>
          <a:stretch>
            <a:fillRect/>
          </a:stretch>
        </p:blipFill>
        <p:spPr>
          <a:xfrm>
            <a:off x="7489229" y="1941393"/>
            <a:ext cx="2376264" cy="278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41521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0950442"/>
              </p:ext>
            </p:extLst>
          </p:nvPr>
        </p:nvGraphicFramePr>
        <p:xfrm>
          <a:off x="360437" y="1151855"/>
          <a:ext cx="11671959" cy="397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6" name="文档" r:id="rId3" imgW="3826872" imgH="1302750" progId="Word.Document.12">
                  <p:embed/>
                </p:oleObj>
              </mc:Choice>
              <mc:Fallback>
                <p:oleObj name="文档" r:id="rId3" imgW="3826872" imgH="13027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0437" y="1151855"/>
                        <a:ext cx="11671959" cy="3973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420210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03783"/>
            <a:ext cx="10807700" cy="18262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方法二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OD.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为原点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所在直线分别为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点作平面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的垂线为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轴建立空间直角坐标系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164282"/>
              </p:ext>
            </p:extLst>
          </p:nvPr>
        </p:nvGraphicFramePr>
        <p:xfrm>
          <a:off x="432445" y="2241807"/>
          <a:ext cx="10610872" cy="4107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0" name="文档" r:id="rId3" imgW="3826872" imgH="1481361" progId="Word.Document.12">
                  <p:embed/>
                </p:oleObj>
              </mc:Choice>
              <mc:Fallback>
                <p:oleObj name="文档" r:id="rId3" imgW="3826872" imgH="148136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2445" y="2241807"/>
                        <a:ext cx="10610872" cy="41074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5977061" y="5770199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43498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>
                <a:spLocks noChangeAspect="1"/>
              </p:cNvSpPr>
              <p:nvPr/>
            </p:nvSpPr>
            <p:spPr>
              <a:xfrm>
                <a:off x="361950" y="1583903"/>
                <a:ext cx="10807700" cy="239642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9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(2024·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新高考</a:t>
                </a:r>
                <a:r>
                  <a:rPr lang="zh-CN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rPr>
                  <a:t>Ⅱ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卷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已知正三棱台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ABC-A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的体积为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52</m:t>
                        </m:r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dirty="0" smtClean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i="1" dirty="0" smtClean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AB=</a:t>
                </a:r>
                <a:r>
                  <a:rPr lang="en-US" altLang="zh-CN" dirty="0" smtClean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6,</a:t>
                </a:r>
                <a:r>
                  <a:rPr lang="en-US" altLang="zh-CN" i="1" dirty="0" smtClean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aseline="-25000" dirty="0" smtClean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 smtClean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baseline="-25000" dirty="0" smtClean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 smtClean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 smtClean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则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与平面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ABC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所成角的正切值为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　　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	</a:t>
                </a:r>
                <a:r>
                  <a:rPr lang="en-US" altLang="zh-CN" dirty="0" smtClean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	B.1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	</a:t>
                </a:r>
                <a:r>
                  <a:rPr lang="en-US" altLang="zh-CN" dirty="0" smtClean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	C.2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	</a:t>
                </a:r>
                <a:r>
                  <a:rPr lang="en-US" altLang="zh-CN" dirty="0" smtClean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	D.3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1583903"/>
                <a:ext cx="10807700" cy="2396425"/>
              </a:xfrm>
              <a:prstGeom prst="rect">
                <a:avLst/>
              </a:prstGeom>
              <a:blipFill rotWithShape="0">
                <a:blip r:embed="rId2"/>
                <a:stretch>
                  <a:fillRect l="-1410" b="-12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039339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28079"/>
            <a:ext cx="10807700" cy="18262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方法一</a:t>
            </a:r>
            <a:r>
              <a:rPr lang="en-US" altLang="zh-CN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设棱台的高为</a:t>
            </a:r>
            <a:r>
              <a:rPr lang="en-US" altLang="zh-CN" i="1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三条侧棱延长后相交于一点</a:t>
            </a:r>
            <a:r>
              <a:rPr lang="en-US" altLang="zh-CN" i="1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S.</a:t>
            </a:r>
            <a:r>
              <a:rPr lang="zh-CN" altLang="zh-CN" dirty="0">
                <a:solidFill>
                  <a:srgbClr val="000000"/>
                </a:solidFill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正三角形</a:t>
            </a:r>
            <a:r>
              <a:rPr lang="en-US" altLang="zh-CN" i="1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与正三角形</a:t>
            </a:r>
            <a:r>
              <a:rPr lang="en-US" altLang="zh-CN" i="1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的中心分别是点</a:t>
            </a:r>
            <a:r>
              <a:rPr lang="en-US" altLang="zh-CN" i="1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baseline="-25000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AO</a:t>
            </a:r>
            <a:r>
              <a:rPr lang="en-US" altLang="zh-CN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SO</a:t>
            </a:r>
            <a:r>
              <a:rPr lang="en-US" altLang="zh-CN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易知点</a:t>
            </a:r>
            <a:r>
              <a:rPr lang="en-US" altLang="zh-CN" i="1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baseline="-25000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SO</a:t>
            </a:r>
            <a:r>
              <a:rPr lang="zh-CN" altLang="zh-CN" dirty="0">
                <a:solidFill>
                  <a:srgbClr val="000000"/>
                </a:solidFill>
                <a:effectLst/>
                <a:ea typeface="楷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en-US" altLang="zh-CN" i="1" dirty="0" smtClean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pic>
        <p:nvPicPr>
          <p:cNvPr id="4" name="25T19.eps" descr="id:2147536744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528789" y="2582183"/>
            <a:ext cx="3888432" cy="327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2681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>
                <a:spLocks noChangeAspect="1"/>
              </p:cNvSpPr>
              <p:nvPr/>
            </p:nvSpPr>
            <p:spPr>
              <a:xfrm>
                <a:off x="361950" y="513615"/>
                <a:ext cx="10807700" cy="587199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由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AB=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可知三棱锥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S-A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的高为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SO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h</a:t>
                </a:r>
                <a:r>
                  <a:rPr lang="en-US" altLang="zh-CN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 smtClean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三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棱锥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S-ABC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的高为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SO=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h.</a:t>
                </a:r>
                <a:endParaRPr lang="zh-CN" altLang="zh-CN" dirty="0">
                  <a:solidFill>
                    <a:srgbClr val="000000"/>
                  </a:solidFill>
                  <a:latin typeface="NEU-BZ-S92" panose="02020503000000020003" pitchFamily="18" charset="-122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因为在正三棱台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ABC-A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中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△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ABC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△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均为正三角形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AB=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6,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S</a:t>
                </a:r>
                <a:r>
                  <a:rPr lang="zh-CN" altLang="zh-CN" baseline="-25000" dirty="0">
                    <a:solidFill>
                      <a:srgbClr val="000000"/>
                    </a:solidFill>
                    <a:latin typeface="NEU-BZ-S92" panose="02020503000000020003" pitchFamily="18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△</a:t>
                </a:r>
                <a:r>
                  <a:rPr lang="en-US" altLang="zh-CN" i="1" baseline="-250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ABC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9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  <m:r>
                      <a:rPr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△</m:t>
                        </m:r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zh-CN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 smtClean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×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9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h-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h=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52</m:t>
                        </m:r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解得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h=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endParaRPr lang="zh-CN" altLang="zh-CN" dirty="0">
                  <a:solidFill>
                    <a:srgbClr val="000000"/>
                  </a:solidFill>
                  <a:latin typeface="NEU-BZ-S92" panose="02020503000000020003" pitchFamily="18" charset="-122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由等边三角形性质易知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OA=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SO=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h=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zh-CN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 smtClean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所求正切值为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故选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latin typeface="NEU-BZ-S92" panose="02020503000000020003" pitchFamily="18" charset="-122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513615"/>
                <a:ext cx="10807700" cy="5871992"/>
              </a:xfrm>
              <a:prstGeom prst="rect">
                <a:avLst/>
              </a:prstGeom>
              <a:blipFill rotWithShape="0">
                <a:blip r:embed="rId2"/>
                <a:stretch>
                  <a:fillRect l="-14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921232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>
                <a:spLocks noChangeAspect="1"/>
              </p:cNvSpPr>
              <p:nvPr/>
            </p:nvSpPr>
            <p:spPr>
              <a:xfrm>
                <a:off x="361950" y="668937"/>
                <a:ext cx="10807700" cy="550381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方法二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设棱台的高为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h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正三角形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ABC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与正三角形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的中心分别是点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O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O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连接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OO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O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AO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作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H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NEU-BZ-S92" panose="02020503000000020003" pitchFamily="18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⊥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AO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H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为垂足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NEU-BZ-S92" panose="02020503000000020003" pitchFamily="18" charset="-122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由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S</a:t>
                </a:r>
                <a:r>
                  <a:rPr lang="zh-CN" altLang="zh-CN" baseline="-250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上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×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baseline="300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S</a:t>
                </a:r>
                <a:r>
                  <a:rPr lang="zh-CN" altLang="zh-CN" baseline="-250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下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×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6</a:t>
                </a:r>
                <a:r>
                  <a:rPr lang="en-US" altLang="zh-CN" baseline="300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9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V=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S</a:t>
                </a:r>
                <a:r>
                  <a:rPr lang="zh-CN" altLang="zh-CN" baseline="-250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上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+S</a:t>
                </a:r>
                <a:r>
                  <a:rPr lang="zh-CN" altLang="zh-CN" baseline="-250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下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>
                                <a:solidFill>
                                  <a:srgbClr val="000000"/>
                                </a:solidFill>
                                <a:effectLst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上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>
                                <a:solidFill>
                                  <a:srgbClr val="000000"/>
                                </a:solidFill>
                                <a:effectLst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下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h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可得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h=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dirty="0" smtClean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 smtClean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aseline="-250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与平面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ABC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所成角为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dirty="0" smtClean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 smtClean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tan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𝐴𝐻</m:t>
                        </m:r>
                      </m:den>
                    </m:f>
                    <m:r>
                      <a:rPr lang="en-US" altLang="zh-CN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h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𝐴𝑂</m:t>
                        </m:r>
                        <m:r>
                          <m:rPr>
                            <m:nor/>
                          </m:rPr>
                          <a:rPr lang="en-US" altLang="zh-CN" i="1">
                            <a:solidFill>
                              <a:srgbClr val="000000"/>
                            </a:solidFill>
                            <a:effectLst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zh-CN" altLang="zh-CN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nor/>
                          </m:rPr>
                          <a:rPr lang="en-US" altLang="zh-CN" i="1">
                            <a:solidFill>
                              <a:srgbClr val="000000"/>
                            </a:solidFill>
                            <a:effectLst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zh-CN" altLang="zh-CN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故选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NEU-BZ-S92" panose="02020503000000020003" pitchFamily="18" charset="-122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668937"/>
                <a:ext cx="10807700" cy="5503814"/>
              </a:xfrm>
              <a:prstGeom prst="rect">
                <a:avLst/>
              </a:prstGeom>
              <a:blipFill rotWithShape="0">
                <a:blip r:embed="rId2"/>
                <a:stretch>
                  <a:fillRect l="-1410" t="-1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25T20.eps" descr="id:2147536751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8353325" y="3261225"/>
            <a:ext cx="2232248" cy="246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3569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98598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(2021·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全国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Ⅰ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高考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四棱锥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P-ABCD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的底面是矩形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底面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AM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i="1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i="1" dirty="0" smtClean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i="1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i="1" dirty="0" smtClean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PAM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PBD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PD=DC=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求四棱锥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P-ABCD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的体积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pic>
        <p:nvPicPr>
          <p:cNvPr id="7" name="22T30.eps" descr="id:214753724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816821" y="1942713"/>
            <a:ext cx="288032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01887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671346"/>
            <a:ext cx="10807700" cy="300890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AM.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PD=P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PBD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PBD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PBD.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PAM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PAM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PBD.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25437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336206"/>
              </p:ext>
            </p:extLst>
          </p:nvPr>
        </p:nvGraphicFramePr>
        <p:xfrm>
          <a:off x="432445" y="771039"/>
          <a:ext cx="11671959" cy="5431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3" name="文档" r:id="rId3" imgW="3826872" imgH="1780724" progId="Word.Document.12">
                  <p:embed/>
                </p:oleObj>
              </mc:Choice>
              <mc:Fallback>
                <p:oleObj name="文档" r:id="rId3" imgW="3826872" imgH="178072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2445" y="771039"/>
                        <a:ext cx="11671959" cy="54312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991114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52207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2021</a:t>
            </a:r>
            <a:r>
              <a:rPr lang="en-US" altLang="zh-CN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zh-CN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新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高考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Ⅰ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卷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在三棱锥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A-BCD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AB=AD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i="1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i="1" dirty="0" smtClean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是边长为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的等边三角形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在棱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DE=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且二面角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E-BC-D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的大小为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求三棱锥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A-BCD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的体积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pic>
        <p:nvPicPr>
          <p:cNvPr id="7" name="22T31.eps" descr="id:2147537254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5112965" y="2048351"/>
            <a:ext cx="3024336" cy="21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85710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60183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AB=AD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BD.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BCD=BD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ABD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BCD.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CD.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15371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33279"/>
            <a:ext cx="10807700" cy="59692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过点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作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于点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过点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作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于点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EM.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BCD.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是边长为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的等边三角形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OB=OD=OC=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BCD=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EMN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是二面角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E-BC-D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的一个平面角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EMN=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EMN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是等腰直角三角形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DE=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ND=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ON.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pic>
        <p:nvPicPr>
          <p:cNvPr id="4" name="22T32.eps" descr="id:2147537261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057181" y="2375991"/>
            <a:ext cx="3096344" cy="218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4008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8888407"/>
              </p:ext>
            </p:extLst>
          </p:nvPr>
        </p:nvGraphicFramePr>
        <p:xfrm>
          <a:off x="432445" y="1727919"/>
          <a:ext cx="11671959" cy="2507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7" name="文档" r:id="rId3" imgW="3826872" imgH="822260" progId="Word.Document.12">
                  <p:embed/>
                </p:oleObj>
              </mc:Choice>
              <mc:Fallback>
                <p:oleObj name="文档" r:id="rId3" imgW="3826872" imgH="8222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2445" y="1727919"/>
                        <a:ext cx="11671959" cy="25078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418498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104</TotalTime>
  <Words>2751</Words>
  <Application>Microsoft Office PowerPoint</Application>
  <PresentationFormat>自定义</PresentationFormat>
  <Paragraphs>244</Paragraphs>
  <Slides>61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6" baseType="lpstr">
      <vt:lpstr>NEU-BZ-S92</vt:lpstr>
      <vt:lpstr>方正书宋_GBK</vt:lpstr>
      <vt:lpstr>仿宋</vt:lpstr>
      <vt:lpstr>黑体</vt:lpstr>
      <vt:lpstr>华文新魏</vt:lpstr>
      <vt:lpstr>楷体</vt:lpstr>
      <vt:lpstr>隶书</vt:lpstr>
      <vt:lpstr>宋体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35</cp:revision>
  <dcterms:created xsi:type="dcterms:W3CDTF">2020-09-12T05:36:12Z</dcterms:created>
  <dcterms:modified xsi:type="dcterms:W3CDTF">2025-09-04T07:24:56Z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