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731" r:id="rId2"/>
    <p:sldId id="753" r:id="rId3"/>
    <p:sldId id="744" r:id="rId4"/>
    <p:sldId id="737" r:id="rId5"/>
    <p:sldId id="750" r:id="rId6"/>
    <p:sldId id="754" r:id="rId7"/>
    <p:sldId id="756" r:id="rId8"/>
    <p:sldId id="757" r:id="rId9"/>
    <p:sldId id="758" r:id="rId10"/>
    <p:sldId id="759" r:id="rId11"/>
    <p:sldId id="823" r:id="rId12"/>
    <p:sldId id="760" r:id="rId13"/>
    <p:sldId id="761" r:id="rId14"/>
    <p:sldId id="762" r:id="rId15"/>
    <p:sldId id="763" r:id="rId16"/>
    <p:sldId id="764" r:id="rId17"/>
    <p:sldId id="765" r:id="rId18"/>
    <p:sldId id="766" r:id="rId19"/>
    <p:sldId id="767" r:id="rId20"/>
    <p:sldId id="769" r:id="rId21"/>
    <p:sldId id="768" r:id="rId22"/>
    <p:sldId id="770" r:id="rId23"/>
    <p:sldId id="771" r:id="rId24"/>
    <p:sldId id="747" r:id="rId25"/>
    <p:sldId id="751" r:id="rId26"/>
    <p:sldId id="773" r:id="rId27"/>
    <p:sldId id="774" r:id="rId28"/>
    <p:sldId id="775" r:id="rId29"/>
    <p:sldId id="776" r:id="rId30"/>
    <p:sldId id="777" r:id="rId31"/>
    <p:sldId id="772" r:id="rId32"/>
    <p:sldId id="780" r:id="rId33"/>
    <p:sldId id="781" r:id="rId34"/>
    <p:sldId id="824" r:id="rId35"/>
    <p:sldId id="783" r:id="rId36"/>
    <p:sldId id="784" r:id="rId37"/>
    <p:sldId id="785" r:id="rId38"/>
    <p:sldId id="786" r:id="rId39"/>
    <p:sldId id="787" r:id="rId40"/>
    <p:sldId id="788" r:id="rId41"/>
    <p:sldId id="779" r:id="rId42"/>
    <p:sldId id="790" r:id="rId43"/>
    <p:sldId id="791" r:id="rId44"/>
    <p:sldId id="792" r:id="rId45"/>
    <p:sldId id="793" r:id="rId46"/>
    <p:sldId id="794" r:id="rId47"/>
    <p:sldId id="795" r:id="rId48"/>
    <p:sldId id="796" r:id="rId49"/>
    <p:sldId id="825" r:id="rId50"/>
    <p:sldId id="797" r:id="rId51"/>
    <p:sldId id="755" r:id="rId52"/>
    <p:sldId id="836" r:id="rId53"/>
    <p:sldId id="837" r:id="rId54"/>
    <p:sldId id="835" r:id="rId55"/>
    <p:sldId id="826" r:id="rId56"/>
    <p:sldId id="798" r:id="rId57"/>
    <p:sldId id="801" r:id="rId58"/>
    <p:sldId id="802" r:id="rId59"/>
    <p:sldId id="803" r:id="rId60"/>
    <p:sldId id="804" r:id="rId61"/>
    <p:sldId id="828" r:id="rId62"/>
    <p:sldId id="805" r:id="rId63"/>
    <p:sldId id="808" r:id="rId64"/>
    <p:sldId id="838" r:id="rId65"/>
    <p:sldId id="839" r:id="rId66"/>
    <p:sldId id="840" r:id="rId67"/>
    <p:sldId id="810" r:id="rId68"/>
    <p:sldId id="811" r:id="rId69"/>
    <p:sldId id="829" r:id="rId70"/>
    <p:sldId id="830" r:id="rId71"/>
    <p:sldId id="831" r:id="rId72"/>
    <p:sldId id="832" r:id="rId73"/>
    <p:sldId id="833" r:id="rId74"/>
    <p:sldId id="834" r:id="rId75"/>
    <p:sldId id="812" r:id="rId76"/>
    <p:sldId id="813" r:id="rId77"/>
    <p:sldId id="814" r:id="rId78"/>
    <p:sldId id="735" r:id="rId79"/>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180"/>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78</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3.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4.xml"/><Relationship Id="rId1" Type="http://schemas.openxmlformats.org/officeDocument/2006/relationships/slideLayout" Target="../slideLayouts/slideLayout3.xml"/><Relationship Id="rId4" Type="http://schemas.openxmlformats.org/officeDocument/2006/relationships/slide" Target="slide24.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package" Target="../embeddings/Microsoft_Word___7.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4.emf"/><Relationship Id="rId4" Type="http://schemas.openxmlformats.org/officeDocument/2006/relationships/package" Target="../embeddings/Microsoft_Word___11.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15.emf"/><Relationship Id="rId4" Type="http://schemas.openxmlformats.org/officeDocument/2006/relationships/package" Target="../embeddings/Microsoft_Word___12.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16.emf"/><Relationship Id="rId4" Type="http://schemas.openxmlformats.org/officeDocument/2006/relationships/package" Target="../embeddings/Microsoft_Word___13.docx"/></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slide" Target="slide2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4.bin"/><Relationship Id="rId7" Type="http://schemas.openxmlformats.org/officeDocument/2006/relationships/package" Target="../embeddings/Microsoft_Word___15.docx"/><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oleObject" Target="../embeddings/oleObject15.bin"/><Relationship Id="rId5" Type="http://schemas.openxmlformats.org/officeDocument/2006/relationships/image" Target="../media/image17.emf"/><Relationship Id="rId4" Type="http://schemas.openxmlformats.org/officeDocument/2006/relationships/package" Target="../embeddings/Microsoft_Word___14.docx"/></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6.bin"/><Relationship Id="rId7" Type="http://schemas.openxmlformats.org/officeDocument/2006/relationships/package" Target="../embeddings/Microsoft_Word___17.docx"/><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17.bin"/><Relationship Id="rId5" Type="http://schemas.openxmlformats.org/officeDocument/2006/relationships/image" Target="../media/image20.emf"/><Relationship Id="rId4" Type="http://schemas.openxmlformats.org/officeDocument/2006/relationships/package" Target="../embeddings/Microsoft_Word___16.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22.emf"/><Relationship Id="rId4" Type="http://schemas.openxmlformats.org/officeDocument/2006/relationships/package" Target="../embeddings/Microsoft_Word___18.docx"/></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image" Target="../media/image24.jpeg"/><Relationship Id="rId5" Type="http://schemas.openxmlformats.org/officeDocument/2006/relationships/image" Target="../media/image23.emf"/><Relationship Id="rId4" Type="http://schemas.openxmlformats.org/officeDocument/2006/relationships/package" Target="../embeddings/Microsoft_Word___19.docx"/></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18.vml"/><Relationship Id="rId5" Type="http://schemas.openxmlformats.org/officeDocument/2006/relationships/image" Target="../media/image25.emf"/><Relationship Id="rId4" Type="http://schemas.openxmlformats.org/officeDocument/2006/relationships/package" Target="../embeddings/Microsoft_Word___20.docx"/></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image" Target="../media/image26.emf"/><Relationship Id="rId4" Type="http://schemas.openxmlformats.org/officeDocument/2006/relationships/package" Target="../embeddings/Microsoft_Word___21.docx"/></Relationships>
</file>

<file path=ppt/slides/_rels/slide3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20.vml"/><Relationship Id="rId5" Type="http://schemas.openxmlformats.org/officeDocument/2006/relationships/image" Target="../media/image28.emf"/><Relationship Id="rId4" Type="http://schemas.openxmlformats.org/officeDocument/2006/relationships/package" Target="../embeddings/Microsoft_Word___22.docx"/></Relationships>
</file>

<file path=ppt/slides/_rels/slide3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21.vml"/><Relationship Id="rId5" Type="http://schemas.openxmlformats.org/officeDocument/2006/relationships/image" Target="../media/image30.emf"/><Relationship Id="rId4" Type="http://schemas.openxmlformats.org/officeDocument/2006/relationships/package" Target="../embeddings/Microsoft_Word___23.docx"/></Relationships>
</file>

<file path=ppt/slides/_rels/slide4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xml"/><Relationship Id="rId1" Type="http://schemas.openxmlformats.org/officeDocument/2006/relationships/vmlDrawing" Target="../drawings/vmlDrawing22.vml"/><Relationship Id="rId5" Type="http://schemas.openxmlformats.org/officeDocument/2006/relationships/image" Target="../media/image32.emf"/><Relationship Id="rId4" Type="http://schemas.openxmlformats.org/officeDocument/2006/relationships/package" Target="../embeddings/Microsoft_Word___24.docx"/></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25.bin"/><Relationship Id="rId7" Type="http://schemas.openxmlformats.org/officeDocument/2006/relationships/package" Target="../embeddings/Microsoft_Word___26.docx"/><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oleObject" Target="../embeddings/oleObject26.bin"/><Relationship Id="rId5" Type="http://schemas.openxmlformats.org/officeDocument/2006/relationships/image" Target="../media/image33.emf"/><Relationship Id="rId4" Type="http://schemas.openxmlformats.org/officeDocument/2006/relationships/package" Target="../embeddings/Microsoft_Word___25.docx"/></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4.xml"/><Relationship Id="rId1" Type="http://schemas.openxmlformats.org/officeDocument/2006/relationships/vmlDrawing" Target="../drawings/vmlDrawing24.vml"/><Relationship Id="rId5" Type="http://schemas.openxmlformats.org/officeDocument/2006/relationships/image" Target="../media/image35.emf"/><Relationship Id="rId4" Type="http://schemas.openxmlformats.org/officeDocument/2006/relationships/package" Target="../embeddings/Microsoft_Word___27.docx"/></Relationships>
</file>

<file path=ppt/slides/_rels/slide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4.xml"/><Relationship Id="rId1" Type="http://schemas.openxmlformats.org/officeDocument/2006/relationships/vmlDrawing" Target="../drawings/vmlDrawing25.vml"/><Relationship Id="rId5" Type="http://schemas.openxmlformats.org/officeDocument/2006/relationships/image" Target="../media/image37.emf"/><Relationship Id="rId4" Type="http://schemas.openxmlformats.org/officeDocument/2006/relationships/package" Target="../embeddings/Microsoft_Word___28.docx"/></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4.xml"/><Relationship Id="rId1" Type="http://schemas.openxmlformats.org/officeDocument/2006/relationships/vmlDrawing" Target="../drawings/vmlDrawing26.vml"/><Relationship Id="rId5" Type="http://schemas.openxmlformats.org/officeDocument/2006/relationships/image" Target="../media/image42.emf"/><Relationship Id="rId4" Type="http://schemas.openxmlformats.org/officeDocument/2006/relationships/package" Target="../embeddings/Microsoft_Word___29.docx"/></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4.xml"/><Relationship Id="rId1" Type="http://schemas.openxmlformats.org/officeDocument/2006/relationships/vmlDrawing" Target="../drawings/vmlDrawing27.vml"/><Relationship Id="rId5" Type="http://schemas.openxmlformats.org/officeDocument/2006/relationships/image" Target="../media/image43.emf"/><Relationship Id="rId4" Type="http://schemas.openxmlformats.org/officeDocument/2006/relationships/package" Target="../embeddings/Microsoft_Word___30.docx"/></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4.xml"/><Relationship Id="rId1" Type="http://schemas.openxmlformats.org/officeDocument/2006/relationships/vmlDrawing" Target="../drawings/vmlDrawing28.vml"/><Relationship Id="rId5" Type="http://schemas.openxmlformats.org/officeDocument/2006/relationships/image" Target="../media/image44.emf"/><Relationship Id="rId4" Type="http://schemas.openxmlformats.org/officeDocument/2006/relationships/package" Target="../embeddings/Microsoft_Word___31.docx"/></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4.xml"/><Relationship Id="rId1" Type="http://schemas.openxmlformats.org/officeDocument/2006/relationships/vmlDrawing" Target="../drawings/vmlDrawing29.vml"/><Relationship Id="rId5" Type="http://schemas.openxmlformats.org/officeDocument/2006/relationships/image" Target="../media/image47.emf"/><Relationship Id="rId4" Type="http://schemas.openxmlformats.org/officeDocument/2006/relationships/package" Target="../embeddings/Microsoft_Word___32.docx"/></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oleObject" Target="../embeddings/oleObject33.bin"/><Relationship Id="rId7" Type="http://schemas.openxmlformats.org/officeDocument/2006/relationships/package" Target="../embeddings/Microsoft_Word___34.docx"/><Relationship Id="rId2" Type="http://schemas.openxmlformats.org/officeDocument/2006/relationships/slideLayout" Target="../slideLayouts/slideLayout4.xml"/><Relationship Id="rId1" Type="http://schemas.openxmlformats.org/officeDocument/2006/relationships/vmlDrawing" Target="../drawings/vmlDrawing30.vml"/><Relationship Id="rId6" Type="http://schemas.openxmlformats.org/officeDocument/2006/relationships/oleObject" Target="../embeddings/oleObject34.bin"/><Relationship Id="rId5" Type="http://schemas.openxmlformats.org/officeDocument/2006/relationships/image" Target="../media/image48.emf"/><Relationship Id="rId4" Type="http://schemas.openxmlformats.org/officeDocument/2006/relationships/package" Target="../embeddings/Microsoft_Word___33.docx"/></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oleObject" Target="../embeddings/oleObject35.bin"/><Relationship Id="rId7" Type="http://schemas.openxmlformats.org/officeDocument/2006/relationships/package" Target="../embeddings/Microsoft_Word___36.docx"/><Relationship Id="rId2" Type="http://schemas.openxmlformats.org/officeDocument/2006/relationships/slideLayout" Target="../slideLayouts/slideLayout4.xml"/><Relationship Id="rId1" Type="http://schemas.openxmlformats.org/officeDocument/2006/relationships/vmlDrawing" Target="../drawings/vmlDrawing31.vml"/><Relationship Id="rId6" Type="http://schemas.openxmlformats.org/officeDocument/2006/relationships/oleObject" Target="../embeddings/oleObject36.bin"/><Relationship Id="rId5" Type="http://schemas.openxmlformats.org/officeDocument/2006/relationships/image" Target="../media/image50.emf"/><Relationship Id="rId4" Type="http://schemas.openxmlformats.org/officeDocument/2006/relationships/package" Target="../embeddings/Microsoft_Word___35.docx"/></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4.xml"/><Relationship Id="rId1" Type="http://schemas.openxmlformats.org/officeDocument/2006/relationships/vmlDrawing" Target="../drawings/vmlDrawing32.vml"/><Relationship Id="rId5" Type="http://schemas.openxmlformats.org/officeDocument/2006/relationships/image" Target="../media/image52.emf"/><Relationship Id="rId4" Type="http://schemas.openxmlformats.org/officeDocument/2006/relationships/package" Target="../embeddings/Microsoft_Word___37.docx"/></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4.xml"/><Relationship Id="rId1" Type="http://schemas.openxmlformats.org/officeDocument/2006/relationships/vmlDrawing" Target="../drawings/vmlDrawing33.vml"/><Relationship Id="rId5" Type="http://schemas.openxmlformats.org/officeDocument/2006/relationships/image" Target="../media/image53.emf"/><Relationship Id="rId4" Type="http://schemas.openxmlformats.org/officeDocument/2006/relationships/package" Target="../embeddings/Microsoft_Word___38.docx"/></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4.xml"/><Relationship Id="rId1" Type="http://schemas.openxmlformats.org/officeDocument/2006/relationships/vmlDrawing" Target="../drawings/vmlDrawing34.vml"/><Relationship Id="rId5" Type="http://schemas.openxmlformats.org/officeDocument/2006/relationships/image" Target="../media/image54.emf"/><Relationship Id="rId4" Type="http://schemas.openxmlformats.org/officeDocument/2006/relationships/package" Target="../embeddings/Microsoft_Word___39.docx"/></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4.xml"/><Relationship Id="rId1" Type="http://schemas.openxmlformats.org/officeDocument/2006/relationships/vmlDrawing" Target="../drawings/vmlDrawing35.vml"/><Relationship Id="rId5" Type="http://schemas.openxmlformats.org/officeDocument/2006/relationships/image" Target="../media/image55.emf"/><Relationship Id="rId4" Type="http://schemas.openxmlformats.org/officeDocument/2006/relationships/package" Target="../embeddings/Microsoft_Word___40.docx"/></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61950" y="2447999"/>
            <a:ext cx="10807700" cy="1094339"/>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sz="6000" dirty="0">
                <a:solidFill>
                  <a:srgbClr val="002060"/>
                </a:solidFill>
                <a:latin typeface="Arial" panose="020B0604020202020204" pitchFamily="34" charset="0"/>
                <a:cs typeface="Times New Roman" panose="02020603050405020304" pitchFamily="18" charset="0"/>
              </a:rPr>
              <a:t>第</a:t>
            </a:r>
            <a:r>
              <a:rPr lang="en-US" altLang="zh-CN" sz="6000" dirty="0">
                <a:solidFill>
                  <a:srgbClr val="002060"/>
                </a:solidFill>
                <a:ea typeface="宋体" panose="02010600030101010101" pitchFamily="2" charset="-122"/>
                <a:cs typeface="Times New Roman" panose="02020603050405020304" pitchFamily="18" charset="0"/>
              </a:rPr>
              <a:t>4</a:t>
            </a:r>
            <a:r>
              <a:rPr lang="zh-CN" altLang="zh-CN" sz="6000" dirty="0">
                <a:solidFill>
                  <a:srgbClr val="002060"/>
                </a:solidFill>
                <a:latin typeface="Arial" panose="020B0604020202020204" pitchFamily="34" charset="0"/>
                <a:cs typeface="Times New Roman" panose="02020603050405020304" pitchFamily="18" charset="0"/>
              </a:rPr>
              <a:t>课时</a:t>
            </a:r>
            <a:r>
              <a:rPr lang="zh-CN" altLang="zh-CN" sz="6000"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统计</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文框 3">
            <a:hlinkClick r:id="rId2" action="ppaction://hlinksldjump">
              <a:snd r:embed="rId3" name="chimes.wav"/>
            </a:hlinkClick>
          </p:cNvPr>
          <p:cNvSpPr/>
          <p:nvPr/>
        </p:nvSpPr>
        <p:spPr>
          <a:xfrm>
            <a:off x="1728589" y="143988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知识梳理</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构建体系</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7" name="图文框 6">
            <a:hlinkClick r:id="rId4" action="ppaction://hlinksldjump">
              <a:snd r:embed="rId3" name="chimes.wav"/>
            </a:hlinkClick>
          </p:cNvPr>
          <p:cNvSpPr/>
          <p:nvPr/>
        </p:nvSpPr>
        <p:spPr>
          <a:xfrm>
            <a:off x="1728589" y="324008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专题归纳</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核心突破</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00783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en-US" sz="6600" dirty="0" smtClean="0">
                <a:solidFill>
                  <a:srgbClr val="0070C0"/>
                </a:solidFill>
                <a:latin typeface="华文新魏" panose="02010800040101010101" pitchFamily="2" charset="-122"/>
                <a:ea typeface="华文新魏" panose="02010800040101010101" pitchFamily="2" charset="-122"/>
              </a:rPr>
              <a:t>知识梳理</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构建体系</a:t>
            </a:r>
            <a:endParaRPr lang="zh-CN" altLang="zh-CN" sz="6600" dirty="0">
              <a:solidFill>
                <a:srgbClr val="0070C0"/>
              </a:solidFill>
              <a:latin typeface="华文新魏" panose="02010800040101010101" pitchFamily="2" charset="-122"/>
              <a:ea typeface="华文新魏" panose="02010800040101010101" pitchFamily="2" charset="-122"/>
            </a:endParaRPr>
          </a:p>
        </p:txBody>
      </p:sp>
      <p:sp>
        <p:nvSpPr>
          <p:cNvPr id="3" name="圆角矩形 2">
            <a:hlinkClick r:id="rId2" action="ppaction://hlinksldjump"/>
          </p:cNvPr>
          <p:cNvSpPr/>
          <p:nvPr/>
        </p:nvSpPr>
        <p:spPr>
          <a:xfrm>
            <a:off x="259268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知识网络</a:t>
            </a:r>
            <a:endParaRPr lang="zh-CN" altLang="en-US" sz="2400" dirty="0"/>
          </a:p>
        </p:txBody>
      </p:sp>
      <p:sp>
        <p:nvSpPr>
          <p:cNvPr id="4" name="圆角矩形 3">
            <a:hlinkClick r:id="rId3" action="ppaction://hlinksldjump"/>
          </p:cNvPr>
          <p:cNvSpPr/>
          <p:nvPr/>
        </p:nvSpPr>
        <p:spPr>
          <a:xfrm>
            <a:off x="511296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要点梳理</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97" y="503783"/>
            <a:ext cx="1584176" cy="432048"/>
          </a:xfrm>
          <a:prstGeom prst="round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知识网络</a:t>
            </a:r>
            <a:endParaRPr lang="zh-CN" altLang="en-US" sz="2400" dirty="0"/>
          </a:p>
        </p:txBody>
      </p:sp>
      <p:pic>
        <p:nvPicPr>
          <p:cNvPr id="4" name="21C109.eps" descr="id:2147491165;FounderCES"/>
          <p:cNvPicPr/>
          <p:nvPr/>
        </p:nvPicPr>
        <p:blipFill>
          <a:blip r:embed="rId2"/>
          <a:stretch>
            <a:fillRect/>
          </a:stretch>
        </p:blipFill>
        <p:spPr>
          <a:xfrm>
            <a:off x="3938587" y="709975"/>
            <a:ext cx="3262610" cy="5603277"/>
          </a:xfrm>
          <a:prstGeom prst="rect">
            <a:avLst/>
          </a:prstGeom>
        </p:spPr>
      </p:pic>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397" y="503783"/>
            <a:ext cx="1584176" cy="432048"/>
          </a:xfrm>
          <a:prstGeom prst="round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a:t>要点梳理</a:t>
            </a:r>
          </a:p>
        </p:txBody>
      </p:sp>
      <p:sp>
        <p:nvSpPr>
          <p:cNvPr id="2" name="矩形 1"/>
          <p:cNvSpPr>
            <a:spLocks noChangeAspect="1"/>
          </p:cNvSpPr>
          <p:nvPr/>
        </p:nvSpPr>
        <p:spPr>
          <a:xfrm>
            <a:off x="361950" y="628135"/>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总体、个体、变量、样本、样本量的含义是什么</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255887373"/>
              </p:ext>
            </p:extLst>
          </p:nvPr>
        </p:nvGraphicFramePr>
        <p:xfrm>
          <a:off x="-156655" y="1832776"/>
          <a:ext cx="11844910" cy="4916039"/>
        </p:xfrm>
        <a:graphic>
          <a:graphicData uri="http://schemas.openxmlformats.org/presentationml/2006/ole">
            <mc:AlternateContent xmlns:mc="http://schemas.openxmlformats.org/markup-compatibility/2006">
              <mc:Choice xmlns:v="urn:schemas-microsoft-com:vml" Requires="v">
                <p:oleObj spid="_x0000_s1047" name="文档" r:id="rId4" imgW="3894589" imgH="1613930" progId="Word.Document.12">
                  <p:embed/>
                </p:oleObj>
              </mc:Choice>
              <mc:Fallback>
                <p:oleObj name="文档" r:id="rId4" imgW="3894589" imgH="1613930" progId="Word.Document.12">
                  <p:embed/>
                  <p:pic>
                    <p:nvPicPr>
                      <p:cNvPr id="0" name=""/>
                      <p:cNvPicPr/>
                      <p:nvPr/>
                    </p:nvPicPr>
                    <p:blipFill>
                      <a:blip r:embed="rId5"/>
                      <a:stretch>
                        <a:fillRect/>
                      </a:stretch>
                    </p:blipFill>
                    <p:spPr>
                      <a:xfrm>
                        <a:off x="-156655" y="1832776"/>
                        <a:ext cx="11844910" cy="4916039"/>
                      </a:xfrm>
                      <a:prstGeom prst="rect">
                        <a:avLst/>
                      </a:prstGeom>
                    </p:spPr>
                  </p:pic>
                </p:oleObj>
              </mc:Fallback>
            </mc:AlternateContent>
          </a:graphicData>
        </a:graphic>
      </p:graphicFrame>
      <p:sp>
        <p:nvSpPr>
          <p:cNvPr id="5" name="矩形 4"/>
          <p:cNvSpPr/>
          <p:nvPr/>
        </p:nvSpPr>
        <p:spPr>
          <a:xfrm>
            <a:off x="3752879" y="2721466"/>
            <a:ext cx="164340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7014149" y="3361509"/>
            <a:ext cx="164340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4944100" y="4022561"/>
            <a:ext cx="88894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8213076" y="4668259"/>
            <a:ext cx="88894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6193085" y="5305725"/>
            <a:ext cx="129614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xit" presetSubtype="10" fill="hold" grpId="0" nodeType="clickEffect">
                                  <p:stCondLst>
                                    <p:cond delay="0"/>
                                  </p:stCondLst>
                                  <p:childTnLst>
                                    <p:animEffect transition="out" filter="randombar(horizontal)">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4" presetClass="exit" presetSubtype="10" fill="hold" grpId="0" nodeType="clickEffect">
                                  <p:stCondLst>
                                    <p:cond delay="0"/>
                                  </p:stCondLst>
                                  <p:childTnLst>
                                    <p:animEffect transition="out" filter="randombar(horizontal)">
                                      <p:cBhvr>
                                        <p:cTn id="22" dur="500"/>
                                        <p:tgtEl>
                                          <p:spTgt spid="7"/>
                                        </p:tgtEl>
                                      </p:cBhvr>
                                    </p:animEffect>
                                    <p:set>
                                      <p:cBhvr>
                                        <p:cTn id="23" dur="1" fill="hold">
                                          <p:stCondLst>
                                            <p:cond delay="499"/>
                                          </p:stCondLst>
                                        </p:cTn>
                                        <p:tgtEl>
                                          <p:spTgt spid="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4" presetClass="exit" presetSubtype="10" fill="hold" grpId="0" nodeType="clickEffect">
                                  <p:stCondLst>
                                    <p:cond delay="0"/>
                                  </p:stCondLst>
                                  <p:childTnLst>
                                    <p:animEffect transition="out" filter="randombar(horizontal)">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4" presetClass="exit" presetSubtype="10" fill="hold" grpId="0" nodeType="clickEffect">
                                  <p:stCondLst>
                                    <p:cond delay="0"/>
                                  </p:stCondLst>
                                  <p:childTnLst>
                                    <p:animEffect transition="out" filter="randombar(horizontal)">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667463"/>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简单随机抽样的方法有哪些</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具体操作过程是什么</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570691559"/>
              </p:ext>
            </p:extLst>
          </p:nvPr>
        </p:nvGraphicFramePr>
        <p:xfrm>
          <a:off x="-143619" y="1839393"/>
          <a:ext cx="12002534" cy="5158279"/>
        </p:xfrm>
        <a:graphic>
          <a:graphicData uri="http://schemas.openxmlformats.org/presentationml/2006/ole">
            <mc:AlternateContent xmlns:mc="http://schemas.openxmlformats.org/markup-compatibility/2006">
              <mc:Choice xmlns:v="urn:schemas-microsoft-com:vml" Requires="v">
                <p:oleObj spid="_x0000_s2071" name="文档" r:id="rId4" imgW="3935257" imgH="1691239" progId="Word.Document.12">
                  <p:embed/>
                </p:oleObj>
              </mc:Choice>
              <mc:Fallback>
                <p:oleObj name="文档" r:id="rId4" imgW="3935257" imgH="1691239" progId="Word.Document.12">
                  <p:embed/>
                  <p:pic>
                    <p:nvPicPr>
                      <p:cNvPr id="0" name=""/>
                      <p:cNvPicPr/>
                      <p:nvPr/>
                    </p:nvPicPr>
                    <p:blipFill>
                      <a:blip r:embed="rId5"/>
                      <a:stretch>
                        <a:fillRect/>
                      </a:stretch>
                    </p:blipFill>
                    <p:spPr>
                      <a:xfrm>
                        <a:off x="-143619" y="1839393"/>
                        <a:ext cx="12002534" cy="5158279"/>
                      </a:xfrm>
                      <a:prstGeom prst="rect">
                        <a:avLst/>
                      </a:prstGeom>
                    </p:spPr>
                  </p:pic>
                </p:oleObj>
              </mc:Fallback>
            </mc:AlternateContent>
          </a:graphicData>
        </a:graphic>
      </p:graphicFrame>
      <p:sp>
        <p:nvSpPr>
          <p:cNvPr id="4" name="矩形 3"/>
          <p:cNvSpPr/>
          <p:nvPr/>
        </p:nvSpPr>
        <p:spPr>
          <a:xfrm>
            <a:off x="5726959" y="2630671"/>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6121046" y="3844049"/>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1939701" y="4440048"/>
            <a:ext cx="1122466"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3208483" y="5051045"/>
            <a:ext cx="1184402"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8389827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16519338"/>
              </p:ext>
            </p:extLst>
          </p:nvPr>
        </p:nvGraphicFramePr>
        <p:xfrm>
          <a:off x="-163283" y="1079847"/>
          <a:ext cx="12004724" cy="4553226"/>
        </p:xfrm>
        <a:graphic>
          <a:graphicData uri="http://schemas.openxmlformats.org/presentationml/2006/ole">
            <mc:AlternateContent xmlns:mc="http://schemas.openxmlformats.org/markup-compatibility/2006">
              <mc:Choice xmlns:v="urn:schemas-microsoft-com:vml" Requires="v">
                <p:oleObj spid="_x0000_s3095" name="文档" r:id="rId4" imgW="3947136" imgH="1696862" progId="Word.Document.12">
                  <p:embed/>
                </p:oleObj>
              </mc:Choice>
              <mc:Fallback>
                <p:oleObj name="文档" r:id="rId4" imgW="3947136" imgH="1696862" progId="Word.Document.12">
                  <p:embed/>
                  <p:pic>
                    <p:nvPicPr>
                      <p:cNvPr id="0" name=""/>
                      <p:cNvPicPr/>
                      <p:nvPr/>
                    </p:nvPicPr>
                    <p:blipFill>
                      <a:blip r:embed="rId5"/>
                      <a:stretch>
                        <a:fillRect/>
                      </a:stretch>
                    </p:blipFill>
                    <p:spPr>
                      <a:xfrm>
                        <a:off x="-163283" y="1079847"/>
                        <a:ext cx="12004724" cy="4553226"/>
                      </a:xfrm>
                      <a:prstGeom prst="rect">
                        <a:avLst/>
                      </a:prstGeom>
                    </p:spPr>
                  </p:pic>
                </p:oleObj>
              </mc:Fallback>
            </mc:AlternateContent>
          </a:graphicData>
        </a:graphic>
      </p:graphicFrame>
      <p:sp>
        <p:nvSpPr>
          <p:cNvPr id="3" name="矩形 2"/>
          <p:cNvSpPr/>
          <p:nvPr/>
        </p:nvSpPr>
        <p:spPr>
          <a:xfrm>
            <a:off x="5668643" y="1737751"/>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3550711" y="3331759"/>
            <a:ext cx="1224136"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2705353" y="3855733"/>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49462074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1198512"/>
            <a:ext cx="11847561" cy="3697759"/>
            <a:chOff x="361950" y="1126504"/>
            <a:chExt cx="11847561" cy="3697759"/>
          </a:xfrm>
        </p:grpSpPr>
        <p:sp>
          <p:nvSpPr>
            <p:cNvPr id="3" name="矩形 2"/>
            <p:cNvSpPr>
              <a:spLocks noChangeAspect="1"/>
            </p:cNvSpPr>
            <p:nvPr/>
          </p:nvSpPr>
          <p:spPr>
            <a:xfrm>
              <a:off x="361950" y="1126504"/>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在样本量按比例分配的分层随机抽样中怎样确定抽样比</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怎样用样本平均数估计总体平均数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在分层随机抽样中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如果层数为</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层和第</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层包含的个体数分别为</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抽取的样本量分别为</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n.</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在样本量按比例分配的分层随机抽样中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抽样比为</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79550052"/>
                </p:ext>
              </p:extLst>
            </p:nvPr>
          </p:nvGraphicFramePr>
          <p:xfrm>
            <a:off x="504453" y="4113823"/>
            <a:ext cx="11705058" cy="710440"/>
          </p:xfrm>
          <a:graphic>
            <a:graphicData uri="http://schemas.openxmlformats.org/presentationml/2006/ole">
              <mc:AlternateContent xmlns:mc="http://schemas.openxmlformats.org/markup-compatibility/2006">
                <mc:Choice xmlns:v="urn:schemas-microsoft-com:vml" Requires="v">
                  <p:oleObj spid="_x0000_s4119" name="文档" r:id="rId4" imgW="3837724" imgH="232931" progId="Word.Document.12">
                    <p:embed/>
                  </p:oleObj>
                </mc:Choice>
                <mc:Fallback>
                  <p:oleObj name="文档" r:id="rId4" imgW="3837724" imgH="232931" progId="Word.Document.12">
                    <p:embed/>
                    <p:pic>
                      <p:nvPicPr>
                        <p:cNvPr id="0" name=""/>
                        <p:cNvPicPr/>
                        <p:nvPr/>
                      </p:nvPicPr>
                      <p:blipFill>
                        <a:blip r:embed="rId5"/>
                        <a:stretch>
                          <a:fillRect/>
                        </a:stretch>
                      </p:blipFill>
                      <p:spPr>
                        <a:xfrm>
                          <a:off x="504453" y="4113823"/>
                          <a:ext cx="11705058" cy="710440"/>
                        </a:xfrm>
                        <a:prstGeom prst="rect">
                          <a:avLst/>
                        </a:prstGeom>
                      </p:spPr>
                    </p:pic>
                  </p:oleObj>
                </mc:Fallback>
              </mc:AlternateContent>
            </a:graphicData>
          </a:graphic>
        </p:graphicFrame>
      </p:grpSp>
    </p:spTree>
    <p:extLst>
      <p:ext uri="{BB962C8B-B14F-4D97-AF65-F5344CB8AC3E}">
        <p14:creationId xmlns:p14="http://schemas.microsoft.com/office/powerpoint/2010/main" val="167731813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879778085"/>
              </p:ext>
            </p:extLst>
          </p:nvPr>
        </p:nvGraphicFramePr>
        <p:xfrm>
          <a:off x="376659" y="1080279"/>
          <a:ext cx="10640962" cy="4248040"/>
        </p:xfrm>
        <a:graphic>
          <a:graphicData uri="http://schemas.openxmlformats.org/presentationml/2006/ole">
            <mc:AlternateContent xmlns:mc="http://schemas.openxmlformats.org/markup-compatibility/2006">
              <mc:Choice xmlns:v="urn:schemas-microsoft-com:vml" Requires="v">
                <p:oleObj spid="_x0000_s5143" name="文档" r:id="rId4" imgW="3837724" imgH="1532080" progId="Word.Document.12">
                  <p:embed/>
                </p:oleObj>
              </mc:Choice>
              <mc:Fallback>
                <p:oleObj name="文档" r:id="rId4" imgW="3837724" imgH="1532080" progId="Word.Document.12">
                  <p:embed/>
                  <p:pic>
                    <p:nvPicPr>
                      <p:cNvPr id="0" name=""/>
                      <p:cNvPicPr/>
                      <p:nvPr/>
                    </p:nvPicPr>
                    <p:blipFill>
                      <a:blip r:embed="rId5"/>
                      <a:stretch>
                        <a:fillRect/>
                      </a:stretch>
                    </p:blipFill>
                    <p:spPr>
                      <a:xfrm>
                        <a:off x="376659" y="1080279"/>
                        <a:ext cx="10640962" cy="4248040"/>
                      </a:xfrm>
                      <a:prstGeom prst="rect">
                        <a:avLst/>
                      </a:prstGeom>
                    </p:spPr>
                  </p:pic>
                </p:oleObj>
              </mc:Fallback>
            </mc:AlternateContent>
          </a:graphicData>
        </a:graphic>
      </p:graphicFrame>
    </p:spTree>
    <p:extLst>
      <p:ext uri="{BB962C8B-B14F-4D97-AF65-F5344CB8AC3E}">
        <p14:creationId xmlns:p14="http://schemas.microsoft.com/office/powerpoint/2010/main" val="269489624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955091064"/>
              </p:ext>
            </p:extLst>
          </p:nvPr>
        </p:nvGraphicFramePr>
        <p:xfrm>
          <a:off x="660400" y="1727919"/>
          <a:ext cx="11705058" cy="2858253"/>
        </p:xfrm>
        <a:graphic>
          <a:graphicData uri="http://schemas.openxmlformats.org/presentationml/2006/ole">
            <mc:AlternateContent xmlns:mc="http://schemas.openxmlformats.org/markup-compatibility/2006">
              <mc:Choice xmlns:v="urn:schemas-microsoft-com:vml" Requires="v">
                <p:oleObj spid="_x0000_s37903" name="文档" r:id="rId4" imgW="3837724" imgH="937132" progId="Word.Document.12">
                  <p:embed/>
                </p:oleObj>
              </mc:Choice>
              <mc:Fallback>
                <p:oleObj name="文档" r:id="rId4" imgW="3837724" imgH="937132" progId="Word.Document.12">
                  <p:embed/>
                  <p:pic>
                    <p:nvPicPr>
                      <p:cNvPr id="0" name=""/>
                      <p:cNvPicPr/>
                      <p:nvPr/>
                    </p:nvPicPr>
                    <p:blipFill>
                      <a:blip r:embed="rId5"/>
                      <a:stretch>
                        <a:fillRect/>
                      </a:stretch>
                    </p:blipFill>
                    <p:spPr>
                      <a:xfrm>
                        <a:off x="660400" y="1727919"/>
                        <a:ext cx="11705058" cy="2858253"/>
                      </a:xfrm>
                      <a:prstGeom prst="rect">
                        <a:avLst/>
                      </a:prstGeom>
                    </p:spPr>
                  </p:pic>
                </p:oleObj>
              </mc:Fallback>
            </mc:AlternateContent>
          </a:graphicData>
        </a:graphic>
      </p:graphicFrame>
    </p:spTree>
    <p:extLst>
      <p:ext uri="{BB962C8B-B14F-4D97-AF65-F5344CB8AC3E}">
        <p14:creationId xmlns:p14="http://schemas.microsoft.com/office/powerpoint/2010/main" val="109899346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933585175"/>
              </p:ext>
            </p:extLst>
          </p:nvPr>
        </p:nvGraphicFramePr>
        <p:xfrm>
          <a:off x="638637" y="1117747"/>
          <a:ext cx="11671959" cy="4066556"/>
        </p:xfrm>
        <a:graphic>
          <a:graphicData uri="http://schemas.openxmlformats.org/presentationml/2006/ole">
            <mc:AlternateContent xmlns:mc="http://schemas.openxmlformats.org/markup-compatibility/2006">
              <mc:Choice xmlns:v="urn:schemas-microsoft-com:vml" Requires="v">
                <p:oleObj spid="_x0000_s6167" name="文档" r:id="rId4" imgW="3826872" imgH="1333297" progId="Word.Document.12">
                  <p:embed/>
                </p:oleObj>
              </mc:Choice>
              <mc:Fallback>
                <p:oleObj name="文档" r:id="rId4" imgW="3826872" imgH="1333297" progId="Word.Document.12">
                  <p:embed/>
                  <p:pic>
                    <p:nvPicPr>
                      <p:cNvPr id="0" name=""/>
                      <p:cNvPicPr/>
                      <p:nvPr/>
                    </p:nvPicPr>
                    <p:blipFill>
                      <a:blip r:embed="rId5"/>
                      <a:stretch>
                        <a:fillRect/>
                      </a:stretch>
                    </p:blipFill>
                    <p:spPr>
                      <a:xfrm>
                        <a:off x="638637" y="1117747"/>
                        <a:ext cx="11671959" cy="4066556"/>
                      </a:xfrm>
                      <a:prstGeom prst="rect">
                        <a:avLst/>
                      </a:prstGeom>
                    </p:spPr>
                  </p:pic>
                </p:oleObj>
              </mc:Fallback>
            </mc:AlternateContent>
          </a:graphicData>
        </a:graphic>
      </p:graphicFrame>
      <p:sp>
        <p:nvSpPr>
          <p:cNvPr id="4" name="矩形 3"/>
          <p:cNvSpPr/>
          <p:nvPr/>
        </p:nvSpPr>
        <p:spPr>
          <a:xfrm>
            <a:off x="638637" y="3024063"/>
            <a:ext cx="2674128" cy="7404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634091" y="3765659"/>
            <a:ext cx="2671103"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1038411" y="4370699"/>
            <a:ext cx="3487732" cy="7404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033865" y="5112295"/>
            <a:ext cx="348378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744662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62265" y="811479"/>
            <a:ext cx="11770131" cy="5169122"/>
            <a:chOff x="262265" y="801647"/>
            <a:chExt cx="11770131" cy="5169122"/>
          </a:xfrm>
        </p:grpSpPr>
        <p:graphicFrame>
          <p:nvGraphicFramePr>
            <p:cNvPr id="2" name="对象 1"/>
            <p:cNvGraphicFramePr>
              <a:graphicFrameLocks noChangeAspect="1"/>
            </p:cNvGraphicFramePr>
            <p:nvPr>
              <p:extLst>
                <p:ext uri="{D42A27DB-BD31-4B8C-83A1-F6EECF244321}">
                  <p14:modId xmlns:p14="http://schemas.microsoft.com/office/powerpoint/2010/main" val="2420345265"/>
                </p:ext>
              </p:extLst>
            </p:nvPr>
          </p:nvGraphicFramePr>
          <p:xfrm>
            <a:off x="360437" y="801647"/>
            <a:ext cx="11671959" cy="3350797"/>
          </p:xfrm>
          <a:graphic>
            <a:graphicData uri="http://schemas.openxmlformats.org/presentationml/2006/ole">
              <mc:AlternateContent xmlns:mc="http://schemas.openxmlformats.org/markup-compatibility/2006">
                <mc:Choice xmlns:v="urn:schemas-microsoft-com:vml" Requires="v">
                  <p:oleObj spid="_x0000_s7191" name="文档" r:id="rId4" imgW="3826872" imgH="1098622" progId="Word.Document.12">
                    <p:embed/>
                  </p:oleObj>
                </mc:Choice>
                <mc:Fallback>
                  <p:oleObj name="文档" r:id="rId4" imgW="3826872" imgH="1098622" progId="Word.Document.12">
                    <p:embed/>
                    <p:pic>
                      <p:nvPicPr>
                        <p:cNvPr id="0" name=""/>
                        <p:cNvPicPr/>
                        <p:nvPr/>
                      </p:nvPicPr>
                      <p:blipFill>
                        <a:blip r:embed="rId5"/>
                        <a:stretch>
                          <a:fillRect/>
                        </a:stretch>
                      </p:blipFill>
                      <p:spPr>
                        <a:xfrm>
                          <a:off x="360437" y="801647"/>
                          <a:ext cx="11671959" cy="3350797"/>
                        </a:xfrm>
                        <a:prstGeom prst="rect">
                          <a:avLst/>
                        </a:prstGeom>
                      </p:spPr>
                    </p:pic>
                  </p:oleObj>
                </mc:Fallback>
              </mc:AlternateContent>
            </a:graphicData>
          </a:graphic>
        </p:graphicFrame>
        <p:sp>
          <p:nvSpPr>
            <p:cNvPr id="4" name="矩形 3"/>
            <p:cNvSpPr>
              <a:spLocks noChangeAspect="1"/>
            </p:cNvSpPr>
            <p:nvPr/>
          </p:nvSpPr>
          <p:spPr>
            <a:xfrm>
              <a:off x="262265" y="410564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特征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各小长方形的面积表示相应各组的</a:t>
              </a:r>
              <a:r>
                <a:rPr lang="zh-CN" altLang="zh-CN" dirty="0">
                  <a:ea typeface="宋体" panose="02010600030101010101" pitchFamily="2" charset="-122"/>
                  <a:cs typeface="Times New Roman" panose="02020603050405020304" pitchFamily="18" charset="0"/>
                </a:rPr>
                <a:t>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频率分布直方图以</a:t>
              </a:r>
              <a:r>
                <a:rPr lang="zh-CN" altLang="zh-CN" dirty="0">
                  <a:ea typeface="宋体" panose="02010600030101010101" pitchFamily="2" charset="-122"/>
                  <a:cs typeface="Times New Roman" panose="02020603050405020304" pitchFamily="18" charset="0"/>
                </a:rPr>
                <a:t>面积</a:t>
              </a:r>
              <a:r>
                <a:rPr lang="zh-CN" altLang="zh-CN" dirty="0">
                  <a:solidFill>
                    <a:srgbClr val="000000"/>
                  </a:solidFill>
                  <a:ea typeface="宋体" panose="02010600030101010101" pitchFamily="2" charset="-122"/>
                  <a:cs typeface="Times New Roman" panose="02020603050405020304" pitchFamily="18" charset="0"/>
                </a:rPr>
                <a:t>的形式反映数据落在各个小组的频率的大小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各小长方形的面积的总和</a:t>
              </a:r>
              <a:r>
                <a:rPr lang="zh-CN" altLang="zh-CN" dirty="0" smtClean="0">
                  <a:solidFill>
                    <a:srgbClr val="000000"/>
                  </a:solidFill>
                  <a:ea typeface="宋体" panose="02010600030101010101" pitchFamily="2" charset="-122"/>
                  <a:cs typeface="Times New Roman" panose="02020603050405020304" pitchFamily="18" charset="0"/>
                </a:rPr>
                <a:t>等于</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smtClean="0">
                  <a:ea typeface="宋体" panose="02010600030101010101" pitchFamily="2" charset="-122"/>
                  <a:cs typeface="Times New Roman" panose="02020603050405020304" pitchFamily="18" charset="0"/>
                </a:rPr>
                <a:t>1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6" name="矩形 5"/>
          <p:cNvSpPr/>
          <p:nvPr/>
        </p:nvSpPr>
        <p:spPr>
          <a:xfrm>
            <a:off x="3443449" y="1472161"/>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5584747" y="1461403"/>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6816094" y="1472161"/>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9357889" y="1472161"/>
            <a:ext cx="77760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1152525" y="2303983"/>
            <a:ext cx="165618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7889003" y="4162276"/>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7884413" y="4626374"/>
            <a:ext cx="776265"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1595331" y="474807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1590741" y="5212175"/>
            <a:ext cx="776265"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5264737" y="5348882"/>
            <a:ext cx="32958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5259893" y="5812980"/>
            <a:ext cx="32921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5507188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85804"/>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百分位数的定义及计算步骤是什么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定义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一组数据的第</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百分位数是这样一个值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它使得这组数据中至少</a:t>
            </a:r>
            <a:r>
              <a:rPr lang="zh-CN" altLang="zh-CN" dirty="0" smtClean="0">
                <a:solidFill>
                  <a:srgbClr val="000000"/>
                </a:solidFill>
                <a:ea typeface="宋体" panose="02010600030101010101" pitchFamily="2" charset="-122"/>
                <a:cs typeface="Times New Roman" panose="02020603050405020304" pitchFamily="18" charset="0"/>
              </a:rPr>
              <a:t>有</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smtClean="0">
                <a:ea typeface="宋体" panose="02010600030101010101" pitchFamily="2" charset="-122"/>
                <a:cs typeface="Times New Roman" panose="02020603050405020304" pitchFamily="18" charset="0"/>
              </a:rPr>
              <a:t>p</a:t>
            </a:r>
            <a:r>
              <a:rPr lang="en-US" altLang="zh-CN" dirty="0" smtClean="0">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数据小于或等于这个值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且至少有</a:t>
            </a:r>
            <a:r>
              <a:rPr lang="en-US" altLang="zh-CN" dirty="0">
                <a:ea typeface="宋体" panose="02010600030101010101" pitchFamily="2" charset="-122"/>
                <a:cs typeface="Times New Roman" panose="02020603050405020304" pitchFamily="18" charset="0"/>
              </a:rPr>
              <a:t>(100</a:t>
            </a:r>
            <a:r>
              <a:rPr lang="en-US" altLang="zh-CN" i="1" dirty="0">
                <a:ea typeface="宋体" panose="02010600030101010101" pitchFamily="2" charset="-122"/>
                <a:cs typeface="Times New Roman" panose="02020603050405020304" pitchFamily="18" charset="0"/>
              </a:rPr>
              <a:t>-p</a:t>
            </a:r>
            <a:r>
              <a:rPr lang="en-US" altLang="zh-CN" dirty="0">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的数据大于或等于这个值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计算第</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百分位数的步骤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按从</a:t>
            </a:r>
            <a:r>
              <a:rPr lang="zh-CN" altLang="zh-CN" dirty="0">
                <a:ea typeface="宋体" panose="02010600030101010101" pitchFamily="2" charset="-122"/>
                <a:cs typeface="Times New Roman" panose="02020603050405020304" pitchFamily="18" charset="0"/>
              </a:rPr>
              <a:t>小</a:t>
            </a:r>
            <a:r>
              <a:rPr lang="zh-CN" altLang="zh-CN" dirty="0">
                <a:solidFill>
                  <a:srgbClr val="000000"/>
                </a:solidFill>
                <a:ea typeface="宋体" panose="02010600030101010101" pitchFamily="2" charset="-122"/>
                <a:cs typeface="Times New Roman" panose="02020603050405020304" pitchFamily="18" charset="0"/>
              </a:rPr>
              <a:t>到</a:t>
            </a:r>
            <a:r>
              <a:rPr lang="zh-CN" altLang="zh-CN" dirty="0">
                <a:ea typeface="宋体" panose="02010600030101010101" pitchFamily="2" charset="-122"/>
                <a:cs typeface="Times New Roman" panose="02020603050405020304" pitchFamily="18" charset="0"/>
              </a:rPr>
              <a:t>大</a:t>
            </a:r>
            <a:r>
              <a:rPr lang="zh-CN" altLang="zh-CN" dirty="0">
                <a:solidFill>
                  <a:srgbClr val="000000"/>
                </a:solidFill>
                <a:ea typeface="宋体" panose="02010600030101010101" pitchFamily="2" charset="-122"/>
                <a:cs typeface="Times New Roman" panose="02020603050405020304" pitchFamily="18" charset="0"/>
              </a:rPr>
              <a:t>排列原始数据</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计算</a:t>
            </a:r>
            <a:r>
              <a:rPr lang="en-US" altLang="zh-CN" i="1" dirty="0" err="1">
                <a:solidFill>
                  <a:srgbClr val="000000"/>
                </a:solidFill>
                <a:ea typeface="宋体" panose="02010600030101010101" pitchFamily="2" charset="-122"/>
                <a:cs typeface="Times New Roman" panose="02020603050405020304" pitchFamily="18" charset="0"/>
              </a:rPr>
              <a:t>i</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i="1" dirty="0" err="1" smtClean="0">
                <a:ea typeface="宋体" panose="02010600030101010101" pitchFamily="2" charset="-122"/>
                <a:cs typeface="Times New Roman" panose="02020603050405020304" pitchFamily="18" charset="0"/>
              </a:rPr>
              <a:t>n×p</a:t>
            </a:r>
            <a:r>
              <a:rPr lang="en-US" altLang="zh-CN" dirty="0" smtClean="0">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不是整数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而大于</a:t>
            </a:r>
            <a:r>
              <a:rPr lang="en-US" altLang="zh-CN" i="1"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的比邻整数为</a:t>
            </a:r>
            <a:r>
              <a:rPr lang="en-US" altLang="zh-CN" i="1" dirty="0">
                <a:solidFill>
                  <a:srgbClr val="000000"/>
                </a:solidFill>
                <a:ea typeface="宋体" panose="02010600030101010101" pitchFamily="2" charset="-122"/>
                <a:cs typeface="Times New Roman" panose="02020603050405020304" pitchFamily="18" charset="0"/>
              </a:rPr>
              <a:t>j</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则第</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百分位数为</a:t>
            </a:r>
            <a:r>
              <a:rPr lang="zh-CN" altLang="zh-CN" dirty="0">
                <a:ea typeface="宋体" panose="02010600030101010101" pitchFamily="2" charset="-122"/>
                <a:cs typeface="Times New Roman" panose="02020603050405020304" pitchFamily="18" charset="0"/>
              </a:rPr>
              <a:t>第</a:t>
            </a:r>
            <a:r>
              <a:rPr lang="en-US" altLang="zh-CN" i="1" dirty="0">
                <a:ea typeface="宋体" panose="02010600030101010101" pitchFamily="2" charset="-122"/>
                <a:cs typeface="Times New Roman" panose="02020603050405020304" pitchFamily="18" charset="0"/>
              </a:rPr>
              <a:t>j</a:t>
            </a:r>
            <a:r>
              <a:rPr lang="zh-CN" altLang="zh-CN" dirty="0">
                <a:ea typeface="宋体" panose="02010600030101010101" pitchFamily="2" charset="-122"/>
                <a:cs typeface="Times New Roman" panose="02020603050405020304" pitchFamily="18" charset="0"/>
              </a:rPr>
              <a:t>项</a:t>
            </a:r>
            <a:r>
              <a:rPr lang="zh-CN" altLang="zh-CN" dirty="0">
                <a:solidFill>
                  <a:srgbClr val="000000"/>
                </a:solidFill>
                <a:ea typeface="宋体" panose="02010600030101010101" pitchFamily="2" charset="-122"/>
                <a:cs typeface="Times New Roman" panose="02020603050405020304" pitchFamily="18" charset="0"/>
              </a:rPr>
              <a:t>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是整数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则第</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百分位数为第</a:t>
            </a:r>
            <a:r>
              <a:rPr lang="en-US" altLang="zh-CN" i="1"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项与第</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项数据的</a:t>
            </a:r>
            <a:r>
              <a:rPr lang="zh-CN" altLang="zh-CN" dirty="0">
                <a:ea typeface="宋体" panose="02010600030101010101" pitchFamily="2" charset="-122"/>
                <a:cs typeface="Times New Roman" panose="02020603050405020304" pitchFamily="18" charset="0"/>
              </a:rPr>
              <a:t>平均数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4123071" y="2160191"/>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118481" y="2624289"/>
            <a:ext cx="776265"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887074" y="2746789"/>
            <a:ext cx="1593869"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882986" y="3210887"/>
            <a:ext cx="1592066"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7288788" y="3301337"/>
            <a:ext cx="36254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7283963" y="3765435"/>
            <a:ext cx="362133"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8094269" y="3301337"/>
            <a:ext cx="36254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8089444" y="3765435"/>
            <a:ext cx="362133"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2803004" y="3919081"/>
            <a:ext cx="131724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2798760" y="4383179"/>
            <a:ext cx="1315757"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4130850" y="4496497"/>
            <a:ext cx="8996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4126369" y="4960595"/>
            <a:ext cx="898680" cy="0"/>
          </a:xfrm>
          <a:prstGeom prst="line">
            <a:avLst/>
          </a:prstGeom>
        </p:spPr>
        <p:style>
          <a:lnRef idx="2">
            <a:schemeClr val="dk1"/>
          </a:lnRef>
          <a:fillRef idx="0">
            <a:schemeClr val="dk1"/>
          </a:fillRef>
          <a:effectRef idx="1">
            <a:schemeClr val="dk1"/>
          </a:effectRef>
          <a:fontRef idx="minor">
            <a:schemeClr val="tx1"/>
          </a:fontRef>
        </p:style>
      </p:cxnSp>
      <p:sp>
        <p:nvSpPr>
          <p:cNvPr id="18" name="矩形 17"/>
          <p:cNvSpPr/>
          <p:nvPr/>
        </p:nvSpPr>
        <p:spPr>
          <a:xfrm>
            <a:off x="4634748" y="5029943"/>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4629977" y="5494041"/>
            <a:ext cx="119694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8160657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8"/>
                                        </p:tgtEl>
                                      </p:cBhvr>
                                    </p:animEffect>
                                    <p:set>
                                      <p:cBhvr>
                                        <p:cTn id="3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0" grpId="0" animBg="1"/>
      <p:bldP spid="12" grpId="0" animBg="1"/>
      <p:bldP spid="14" grpId="0" animBg="1"/>
      <p:bldP spid="16"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617805"/>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四分位数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常用的分位数有第</a:t>
            </a:r>
            <a:r>
              <a:rPr lang="en-US" altLang="zh-CN" dirty="0">
                <a:ea typeface="宋体" panose="02010600030101010101" pitchFamily="2" charset="-122"/>
                <a:cs typeface="Times New Roman" panose="02020603050405020304" pitchFamily="18" charset="0"/>
              </a:rPr>
              <a:t>25</a:t>
            </a:r>
            <a:r>
              <a:rPr lang="zh-CN" altLang="zh-CN" dirty="0">
                <a:solidFill>
                  <a:srgbClr val="000000"/>
                </a:solidFill>
                <a:ea typeface="宋体" panose="02010600030101010101" pitchFamily="2" charset="-122"/>
                <a:cs typeface="Times New Roman" panose="02020603050405020304" pitchFamily="18" charset="0"/>
              </a:rPr>
              <a:t>百分位数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ea typeface="宋体" panose="02010600030101010101" pitchFamily="2" charset="-122"/>
                <a:cs typeface="Times New Roman" panose="02020603050405020304" pitchFamily="18" charset="0"/>
              </a:rPr>
              <a:t>50</a:t>
            </a:r>
            <a:r>
              <a:rPr lang="zh-CN" altLang="zh-CN" dirty="0">
                <a:solidFill>
                  <a:srgbClr val="000000"/>
                </a:solidFill>
                <a:ea typeface="宋体" panose="02010600030101010101" pitchFamily="2" charset="-122"/>
                <a:cs typeface="Times New Roman" panose="02020603050405020304" pitchFamily="18" charset="0"/>
              </a:rPr>
              <a:t>百分位数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ea typeface="宋体" panose="02010600030101010101" pitchFamily="2" charset="-122"/>
                <a:cs typeface="Times New Roman" panose="02020603050405020304" pitchFamily="18" charset="0"/>
              </a:rPr>
              <a:t>75</a:t>
            </a:r>
            <a:r>
              <a:rPr lang="zh-CN" altLang="zh-CN" dirty="0">
                <a:solidFill>
                  <a:srgbClr val="000000"/>
                </a:solidFill>
                <a:ea typeface="宋体" panose="02010600030101010101" pitchFamily="2" charset="-122"/>
                <a:cs typeface="Times New Roman" panose="02020603050405020304" pitchFamily="18" charset="0"/>
              </a:rPr>
              <a:t>百分位数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这三个分位数把一组由小到大排列后的数据分成</a:t>
            </a:r>
            <a:r>
              <a:rPr lang="zh-CN" altLang="zh-CN" dirty="0">
                <a:ea typeface="宋体" panose="02010600030101010101" pitchFamily="2" charset="-122"/>
                <a:cs typeface="Times New Roman" panose="02020603050405020304" pitchFamily="18" charset="0"/>
              </a:rPr>
              <a:t>四等</a:t>
            </a:r>
            <a:r>
              <a:rPr lang="zh-CN" altLang="zh-CN" dirty="0">
                <a:solidFill>
                  <a:srgbClr val="000000"/>
                </a:solidFill>
                <a:ea typeface="宋体" panose="02010600030101010101" pitchFamily="2" charset="-122"/>
                <a:cs typeface="Times New Roman" panose="02020603050405020304" pitchFamily="18" charset="0"/>
              </a:rPr>
              <a:t>份</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因此称为四分位数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其中第</a:t>
            </a:r>
            <a:r>
              <a:rPr lang="en-US" altLang="zh-CN" dirty="0">
                <a:ea typeface="宋体" panose="02010600030101010101" pitchFamily="2" charset="-122"/>
                <a:cs typeface="Times New Roman" panose="02020603050405020304" pitchFamily="18" charset="0"/>
              </a:rPr>
              <a:t>25</a:t>
            </a:r>
            <a:r>
              <a:rPr lang="zh-CN" altLang="zh-CN" dirty="0">
                <a:solidFill>
                  <a:srgbClr val="000000"/>
                </a:solidFill>
                <a:ea typeface="宋体" panose="02010600030101010101" pitchFamily="2" charset="-122"/>
                <a:cs typeface="Times New Roman" panose="02020603050405020304" pitchFamily="18" charset="0"/>
              </a:rPr>
              <a:t>百分位数也称为第一四分位数或下四分位数等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ea typeface="宋体" panose="02010600030101010101" pitchFamily="2" charset="-122"/>
                <a:cs typeface="Times New Roman" panose="02020603050405020304" pitchFamily="18" charset="0"/>
              </a:rPr>
              <a:t>75</a:t>
            </a:r>
            <a:r>
              <a:rPr lang="zh-CN" altLang="zh-CN" dirty="0">
                <a:solidFill>
                  <a:srgbClr val="000000"/>
                </a:solidFill>
                <a:ea typeface="宋体" panose="02010600030101010101" pitchFamily="2" charset="-122"/>
                <a:cs typeface="Times New Roman" panose="02020603050405020304" pitchFamily="18" charset="0"/>
              </a:rPr>
              <a:t>百分位数也称为第三四分位数或上四分位数等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5963970" y="1671595"/>
            <a:ext cx="39879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5959166" y="2135693"/>
            <a:ext cx="398346" cy="0"/>
          </a:xfrm>
          <a:prstGeom prst="line">
            <a:avLst/>
          </a:prstGeom>
        </p:spPr>
        <p:style>
          <a:lnRef idx="2">
            <a:schemeClr val="dk1"/>
          </a:lnRef>
          <a:fillRef idx="0">
            <a:schemeClr val="dk1"/>
          </a:fillRef>
          <a:effectRef idx="1">
            <a:schemeClr val="dk1"/>
          </a:effectRef>
          <a:fontRef idx="minor">
            <a:schemeClr val="tx1"/>
          </a:fontRef>
        </p:style>
      </p:cxnSp>
      <p:sp>
        <p:nvSpPr>
          <p:cNvPr id="5" name="矩形 4"/>
          <p:cNvSpPr/>
          <p:nvPr/>
        </p:nvSpPr>
        <p:spPr>
          <a:xfrm>
            <a:off x="8497341" y="1671595"/>
            <a:ext cx="39879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8492537" y="2135693"/>
            <a:ext cx="398346"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472179" y="2253491"/>
            <a:ext cx="39879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67375" y="2717589"/>
            <a:ext cx="398346"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890953" y="2858531"/>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886363" y="3322629"/>
            <a:ext cx="776265"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6769149" y="2837015"/>
            <a:ext cx="39879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6764345" y="3301113"/>
            <a:ext cx="398346"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5440731" y="3434595"/>
            <a:ext cx="39879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5435927" y="3898693"/>
            <a:ext cx="39834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214597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1"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77295"/>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6</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刻画总体集中趋势的常用统计量有哪些</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它们各自的特征是什么</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87771026"/>
              </p:ext>
            </p:extLst>
          </p:nvPr>
        </p:nvGraphicFramePr>
        <p:xfrm>
          <a:off x="360437" y="1906317"/>
          <a:ext cx="10875962" cy="4819650"/>
        </p:xfrm>
        <a:graphic>
          <a:graphicData uri="http://schemas.openxmlformats.org/presentationml/2006/ole">
            <mc:AlternateContent xmlns:mc="http://schemas.openxmlformats.org/markup-compatibility/2006">
              <mc:Choice xmlns:v="urn:schemas-microsoft-com:vml" Requires="v">
                <p:oleObj spid="_x0000_s8215" name="文档" r:id="rId4" imgW="4777557" imgH="2108478" progId="Word.Document.12">
                  <p:embed/>
                </p:oleObj>
              </mc:Choice>
              <mc:Fallback>
                <p:oleObj name="文档" r:id="rId4" imgW="4777557" imgH="2108478" progId="Word.Document.12">
                  <p:embed/>
                  <p:pic>
                    <p:nvPicPr>
                      <p:cNvPr id="0" name=""/>
                      <p:cNvPicPr/>
                      <p:nvPr/>
                    </p:nvPicPr>
                    <p:blipFill>
                      <a:blip r:embed="rId5"/>
                      <a:stretch>
                        <a:fillRect/>
                      </a:stretch>
                    </p:blipFill>
                    <p:spPr>
                      <a:xfrm>
                        <a:off x="360437" y="1906317"/>
                        <a:ext cx="10875962" cy="4819650"/>
                      </a:xfrm>
                      <a:prstGeom prst="rect">
                        <a:avLst/>
                      </a:prstGeom>
                    </p:spPr>
                  </p:pic>
                </p:oleObj>
              </mc:Fallback>
            </mc:AlternateContent>
          </a:graphicData>
        </a:graphic>
      </p:graphicFrame>
      <p:sp>
        <p:nvSpPr>
          <p:cNvPr id="5" name="矩形 4"/>
          <p:cNvSpPr/>
          <p:nvPr/>
        </p:nvSpPr>
        <p:spPr>
          <a:xfrm>
            <a:off x="2405637" y="5040287"/>
            <a:ext cx="835120" cy="679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401047" y="5720633"/>
            <a:ext cx="834175"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5603854" y="2995087"/>
            <a:ext cx="690182" cy="679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5599182" y="3675433"/>
            <a:ext cx="689401"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8542639" y="2923861"/>
            <a:ext cx="900000"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8554811" y="3816151"/>
            <a:ext cx="900000"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6736875" y="5184303"/>
            <a:ext cx="900000"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0802766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51859510"/>
              </p:ext>
            </p:extLst>
          </p:nvPr>
        </p:nvGraphicFramePr>
        <p:xfrm>
          <a:off x="124749" y="821311"/>
          <a:ext cx="11283950" cy="5830888"/>
        </p:xfrm>
        <a:graphic>
          <a:graphicData uri="http://schemas.openxmlformats.org/presentationml/2006/ole">
            <mc:AlternateContent xmlns:mc="http://schemas.openxmlformats.org/markup-compatibility/2006">
              <mc:Choice xmlns:v="urn:schemas-microsoft-com:vml" Requires="v">
                <p:oleObj spid="_x0000_s9239" name="文档" r:id="rId4" imgW="4469070" imgH="2310809" progId="Word.Document.12">
                  <p:embed/>
                </p:oleObj>
              </mc:Choice>
              <mc:Fallback>
                <p:oleObj name="文档" r:id="rId4" imgW="4469070" imgH="2310809" progId="Word.Document.12">
                  <p:embed/>
                  <p:pic>
                    <p:nvPicPr>
                      <p:cNvPr id="0" name=""/>
                      <p:cNvPicPr/>
                      <p:nvPr/>
                    </p:nvPicPr>
                    <p:blipFill>
                      <a:blip r:embed="rId5"/>
                      <a:stretch>
                        <a:fillRect/>
                      </a:stretch>
                    </p:blipFill>
                    <p:spPr>
                      <a:xfrm>
                        <a:off x="124749" y="821311"/>
                        <a:ext cx="11283950" cy="5830888"/>
                      </a:xfrm>
                      <a:prstGeom prst="rect">
                        <a:avLst/>
                      </a:prstGeom>
                    </p:spPr>
                  </p:pic>
                </p:oleObj>
              </mc:Fallback>
            </mc:AlternateContent>
          </a:graphicData>
        </a:graphic>
      </p:graphicFrame>
      <p:sp>
        <p:nvSpPr>
          <p:cNvPr id="3" name="矩形 2"/>
          <p:cNvSpPr/>
          <p:nvPr/>
        </p:nvSpPr>
        <p:spPr>
          <a:xfrm>
            <a:off x="2016621" y="4657653"/>
            <a:ext cx="69696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3816821" y="5410007"/>
            <a:ext cx="1008112"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5539154" y="4915059"/>
            <a:ext cx="69696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7400604" y="2907945"/>
            <a:ext cx="69696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8141021" y="5410007"/>
            <a:ext cx="1004392"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49577936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48589354"/>
              </p:ext>
            </p:extLst>
          </p:nvPr>
        </p:nvGraphicFramePr>
        <p:xfrm>
          <a:off x="206589" y="670285"/>
          <a:ext cx="11209337" cy="6337300"/>
        </p:xfrm>
        <a:graphic>
          <a:graphicData uri="http://schemas.openxmlformats.org/presentationml/2006/ole">
            <mc:AlternateContent xmlns:mc="http://schemas.openxmlformats.org/markup-compatibility/2006">
              <mc:Choice xmlns:v="urn:schemas-microsoft-com:vml" Requires="v">
                <p:oleObj spid="_x0000_s10264" name="文档" r:id="rId4" imgW="4067010" imgH="2298949" progId="Word.Document.12">
                  <p:embed/>
                </p:oleObj>
              </mc:Choice>
              <mc:Fallback>
                <p:oleObj name="文档" r:id="rId4" imgW="4067010" imgH="2298949" progId="Word.Document.12">
                  <p:embed/>
                  <p:pic>
                    <p:nvPicPr>
                      <p:cNvPr id="0" name=""/>
                      <p:cNvPicPr/>
                      <p:nvPr/>
                    </p:nvPicPr>
                    <p:blipFill>
                      <a:blip r:embed="rId5"/>
                      <a:stretch>
                        <a:fillRect/>
                      </a:stretch>
                    </p:blipFill>
                    <p:spPr>
                      <a:xfrm>
                        <a:off x="206589" y="670285"/>
                        <a:ext cx="11209337" cy="6337300"/>
                      </a:xfrm>
                      <a:prstGeom prst="rect">
                        <a:avLst/>
                      </a:prstGeom>
                    </p:spPr>
                  </p:pic>
                </p:oleObj>
              </mc:Fallback>
            </mc:AlternateContent>
          </a:graphicData>
        </a:graphic>
      </p:graphicFrame>
      <p:sp>
        <p:nvSpPr>
          <p:cNvPr id="4" name="矩形 3"/>
          <p:cNvSpPr/>
          <p:nvPr/>
        </p:nvSpPr>
        <p:spPr>
          <a:xfrm>
            <a:off x="1269166" y="4352481"/>
            <a:ext cx="69696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4104853" y="4352481"/>
            <a:ext cx="69696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6985173" y="2447999"/>
            <a:ext cx="69696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8465067" y="5184303"/>
            <a:ext cx="183247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25678821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91420"/>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刻画总体离散程度的参数有哪些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它们各自的特征是什么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803016454"/>
              </p:ext>
            </p:extLst>
          </p:nvPr>
        </p:nvGraphicFramePr>
        <p:xfrm>
          <a:off x="-173161" y="2009061"/>
          <a:ext cx="12002534" cy="4553226"/>
        </p:xfrm>
        <a:graphic>
          <a:graphicData uri="http://schemas.openxmlformats.org/presentationml/2006/ole">
            <mc:AlternateContent xmlns:mc="http://schemas.openxmlformats.org/markup-compatibility/2006">
              <mc:Choice xmlns:v="urn:schemas-microsoft-com:vml" Requires="v">
                <p:oleObj spid="_x0000_s11287" name="文档" r:id="rId4" imgW="3935257" imgH="1492861" progId="Word.Document.12">
                  <p:embed/>
                </p:oleObj>
              </mc:Choice>
              <mc:Fallback>
                <p:oleObj name="文档" r:id="rId4" imgW="3935257" imgH="1492861" progId="Word.Document.12">
                  <p:embed/>
                  <p:pic>
                    <p:nvPicPr>
                      <p:cNvPr id="0" name=""/>
                      <p:cNvPicPr/>
                      <p:nvPr/>
                    </p:nvPicPr>
                    <p:blipFill>
                      <a:blip r:embed="rId5"/>
                      <a:stretch>
                        <a:fillRect/>
                      </a:stretch>
                    </p:blipFill>
                    <p:spPr>
                      <a:xfrm>
                        <a:off x="-173161" y="2009061"/>
                        <a:ext cx="12002534" cy="4553226"/>
                      </a:xfrm>
                      <a:prstGeom prst="rect">
                        <a:avLst/>
                      </a:prstGeom>
                    </p:spPr>
                  </p:pic>
                </p:oleObj>
              </mc:Fallback>
            </mc:AlternateContent>
          </a:graphicData>
        </a:graphic>
      </p:graphicFrame>
      <p:sp>
        <p:nvSpPr>
          <p:cNvPr id="5" name="矩形 4"/>
          <p:cNvSpPr/>
          <p:nvPr/>
        </p:nvSpPr>
        <p:spPr>
          <a:xfrm>
            <a:off x="4126369" y="4306423"/>
            <a:ext cx="4327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5060196" y="3405619"/>
            <a:ext cx="164340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5926569" y="4010659"/>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7027760" y="4010659"/>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7118431" y="5222959"/>
            <a:ext cx="123489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8191626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154434109"/>
              </p:ext>
            </p:extLst>
          </p:nvPr>
        </p:nvGraphicFramePr>
        <p:xfrm>
          <a:off x="288429" y="706650"/>
          <a:ext cx="11283951" cy="6196013"/>
        </p:xfrm>
        <a:graphic>
          <a:graphicData uri="http://schemas.openxmlformats.org/presentationml/2006/ole">
            <mc:AlternateContent xmlns:mc="http://schemas.openxmlformats.org/markup-compatibility/2006">
              <mc:Choice xmlns:v="urn:schemas-microsoft-com:vml" Requires="v">
                <p:oleObj spid="_x0000_s12311" name="文档" r:id="rId4" imgW="4077784" imgH="2252507" progId="Word.Document.12">
                  <p:embed/>
                </p:oleObj>
              </mc:Choice>
              <mc:Fallback>
                <p:oleObj name="文档" r:id="rId4" imgW="4077784" imgH="2252507" progId="Word.Document.12">
                  <p:embed/>
                  <p:pic>
                    <p:nvPicPr>
                      <p:cNvPr id="0" name=""/>
                      <p:cNvPicPr/>
                      <p:nvPr/>
                    </p:nvPicPr>
                    <p:blipFill>
                      <a:blip r:embed="rId5"/>
                      <a:stretch>
                        <a:fillRect/>
                      </a:stretch>
                    </p:blipFill>
                    <p:spPr>
                      <a:xfrm>
                        <a:off x="288429" y="706650"/>
                        <a:ext cx="11283951" cy="6196013"/>
                      </a:xfrm>
                      <a:prstGeom prst="rect">
                        <a:avLst/>
                      </a:prstGeom>
                    </p:spPr>
                  </p:pic>
                </p:oleObj>
              </mc:Fallback>
            </mc:AlternateContent>
          </a:graphicData>
        </a:graphic>
      </p:graphicFrame>
      <p:sp>
        <p:nvSpPr>
          <p:cNvPr id="4" name="矩形 3"/>
          <p:cNvSpPr/>
          <p:nvPr/>
        </p:nvSpPr>
        <p:spPr>
          <a:xfrm>
            <a:off x="9361437" y="1870857"/>
            <a:ext cx="69696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7894308" y="2972493"/>
            <a:ext cx="325138"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8632045" y="3516283"/>
            <a:ext cx="325138"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7489229" y="5155327"/>
            <a:ext cx="1123152"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8442184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709975"/>
            <a:ext cx="10807700" cy="551914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检测一批种子的发芽率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可以用全面调查</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用简单随机抽样抽取样本时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一般都得先对所有个体编号</a:t>
            </a:r>
            <a:r>
              <a:rPr lang="en-US" altLang="zh-CN" i="1" dirty="0" smtClean="0">
                <a:solidFill>
                  <a:srgbClr val="000000"/>
                </a:solidFill>
                <a:ea typeface="宋体" panose="02010600030101010101" pitchFamily="2" charset="-122"/>
                <a:cs typeface="Times New Roman" panose="02020603050405020304" pitchFamily="18" charset="0"/>
              </a:rPr>
              <a:t>.</a:t>
            </a: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在简单随机抽样中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我们常用样本平均数去估计总体平均数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分层随机抽样都是分两层</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8425333" y="262428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10297541" y="3755294"/>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1296541" y="4907422"/>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5833045" y="5544343"/>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89302322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749303"/>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在比例分配的分层随机抽样中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我们可以用样本平均数估计总体平均数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通过频率分布表和频率分布直方图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可以知道数据落在各个小组的比例大小</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宋体" panose="02010600030101010101" pitchFamily="2" charset="-122"/>
                <a:cs typeface="Times New Roman" panose="02020603050405020304" pitchFamily="18" charset="0"/>
              </a:rPr>
              <a:t>频率分布直方图中分组越多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越容易看出总体数据的分布特点</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宋体" panose="02010600030101010101" pitchFamily="2" charset="-122"/>
                <a:cs typeface="Times New Roman" panose="02020603050405020304" pitchFamily="18" charset="0"/>
              </a:rPr>
              <a:t>若一组数据有</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个数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则第</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百分位数是</a:t>
            </a:r>
            <a:r>
              <a:rPr lang="en-US" altLang="zh-CN" dirty="0">
                <a:solidFill>
                  <a:srgbClr val="000000"/>
                </a:solidFill>
                <a:ea typeface="宋体" panose="02010600030101010101" pitchFamily="2" charset="-122"/>
                <a:cs typeface="Times New Roman" panose="02020603050405020304" pitchFamily="18" charset="0"/>
              </a:rPr>
              <a:t>36</a:t>
            </a:r>
            <a:r>
              <a:rPr lang="zh-CN" altLang="zh-CN" dirty="0">
                <a:solidFill>
                  <a:srgbClr val="000000"/>
                </a:solidFill>
                <a:ea typeface="宋体" panose="02010600030101010101" pitchFamily="2" charset="-122"/>
                <a:cs typeface="Times New Roman" panose="02020603050405020304" pitchFamily="18" charset="0"/>
              </a:rPr>
              <a:t>个数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对一个单峰的频率分布直方图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如果直方图在右边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拖尾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那么平均数大于中位数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3312765" y="149037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4104853" y="2675174"/>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1717831" y="3827302"/>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9649469" y="4402973"/>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4968238" y="5544343"/>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93471146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375991"/>
            <a:ext cx="10807700" cy="123489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方差刻画数据的集中趋势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平均数刻画数据的离散程度</a:t>
            </a:r>
            <a:r>
              <a:rPr lang="en-US" altLang="zh-CN" i="1" dirty="0" smtClean="0">
                <a:solidFill>
                  <a:srgbClr val="000000"/>
                </a:solidFill>
                <a:ea typeface="宋体" panose="02010600030101010101" pitchFamily="2" charset="-122"/>
                <a:cs typeface="Times New Roman" panose="02020603050405020304" pitchFamily="18" charset="0"/>
              </a:rPr>
              <a:t>.</a:t>
            </a: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10329815" y="3135805"/>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9163418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00783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专题归纳</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核心突破</a:t>
            </a:r>
            <a:endParaRPr lang="zh-CN" altLang="zh-CN" sz="6600" dirty="0">
              <a:solidFill>
                <a:srgbClr val="0070C0"/>
              </a:solidFill>
              <a:latin typeface="华文新魏" panose="02010800040101010101" pitchFamily="2" charset="-122"/>
              <a:ea typeface="华文新魏" panose="02010800040101010101" pitchFamily="2" charset="-122"/>
            </a:endParaRPr>
          </a:p>
        </p:txBody>
      </p:sp>
      <p:sp>
        <p:nvSpPr>
          <p:cNvPr id="6" name="圆角矩形 5">
            <a:hlinkClick r:id="rId2" action="ppaction://hlinksldjump"/>
          </p:cNvPr>
          <p:cNvSpPr/>
          <p:nvPr/>
        </p:nvSpPr>
        <p:spPr>
          <a:xfrm>
            <a:off x="259268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a:t>专题整合</a:t>
            </a:r>
          </a:p>
        </p:txBody>
      </p:sp>
      <p:sp>
        <p:nvSpPr>
          <p:cNvPr id="7" name="圆角矩形 6">
            <a:hlinkClick r:id="rId3" action="ppaction://hlinksldjump"/>
          </p:cNvPr>
          <p:cNvSpPr/>
          <p:nvPr/>
        </p:nvSpPr>
        <p:spPr>
          <a:xfrm>
            <a:off x="511296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a:t>高考体验</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762319"/>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专题一</a:t>
            </a:r>
            <a:r>
              <a:rPr lang="zh-CN" altLang="zh-CN" i="1" dirty="0"/>
              <a:t>　</a:t>
            </a:r>
            <a:r>
              <a:rPr lang="zh-CN" altLang="zh-CN" dirty="0"/>
              <a:t>随机抽样</a:t>
            </a:r>
          </a:p>
        </p:txBody>
      </p:sp>
      <p:sp>
        <p:nvSpPr>
          <p:cNvPr id="3" name="矩形 2"/>
          <p:cNvSpPr>
            <a:spLocks noChangeAspect="1"/>
          </p:cNvSpPr>
          <p:nvPr/>
        </p:nvSpPr>
        <p:spPr>
          <a:xfrm>
            <a:off x="361950" y="1595801"/>
            <a:ext cx="10807700" cy="1217641"/>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某单位有</a:t>
            </a:r>
            <a:r>
              <a:rPr lang="en-US" altLang="zh-CN" dirty="0">
                <a:solidFill>
                  <a:srgbClr val="000000"/>
                </a:solidFill>
                <a:ea typeface="宋体" panose="02010600030101010101" pitchFamily="2" charset="-122"/>
              </a:rPr>
              <a:t>2 000</a:t>
            </a:r>
            <a:r>
              <a:rPr lang="zh-CN" altLang="zh-CN" dirty="0">
                <a:solidFill>
                  <a:srgbClr val="000000"/>
                </a:solidFill>
                <a:ea typeface="宋体" panose="02010600030101010101" pitchFamily="2" charset="-122"/>
                <a:cs typeface="Times New Roman" panose="02020603050405020304" pitchFamily="18" charset="0"/>
              </a:rPr>
              <a:t>名职工</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在管理、技术开发、营销、生产各部门中</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职工年龄分布如下表所示</a:t>
            </a:r>
            <a:r>
              <a:rPr lang="en-US" altLang="zh-CN" i="1" dirty="0">
                <a:solidFill>
                  <a:srgbClr val="000000"/>
                </a:solidFill>
                <a:ea typeface="宋体" panose="02010600030101010101" pitchFamily="2" charset="-122"/>
              </a:rPr>
              <a:t>.</a:t>
            </a:r>
            <a:endParaRPr lang="zh-CN" altLang="en-US" dirty="0"/>
          </a:p>
        </p:txBody>
      </p:sp>
      <p:graphicFrame>
        <p:nvGraphicFramePr>
          <p:cNvPr id="5" name="表格 4"/>
          <p:cNvGraphicFramePr>
            <a:graphicFrameLocks noGrp="1" noChangeAspect="1"/>
          </p:cNvGraphicFramePr>
          <p:nvPr>
            <p:extLst>
              <p:ext uri="{D42A27DB-BD31-4B8C-83A1-F6EECF244321}">
                <p14:modId xmlns:p14="http://schemas.microsoft.com/office/powerpoint/2010/main" val="3702881301"/>
              </p:ext>
            </p:extLst>
          </p:nvPr>
        </p:nvGraphicFramePr>
        <p:xfrm>
          <a:off x="361951" y="2817911"/>
          <a:ext cx="10807698" cy="2438400"/>
        </p:xfrm>
        <a:graphic>
          <a:graphicData uri="http://schemas.openxmlformats.org/drawingml/2006/table">
            <a:tbl>
              <a:tblPr firstRow="1" firstCol="1" bandRow="1"/>
              <a:tblGrid>
                <a:gridCol w="1801283"/>
                <a:gridCol w="1801283"/>
                <a:gridCol w="2156560"/>
                <a:gridCol w="1656184"/>
                <a:gridCol w="1591105"/>
                <a:gridCol w="1801283"/>
              </a:tblGrid>
              <a:tr h="0">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年龄分段</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管理</a:t>
                      </a:r>
                      <a:r>
                        <a:rPr lang="en-US" sz="3200" b="1"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人</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技术开发</a:t>
                      </a:r>
                      <a:r>
                        <a:rPr lang="en-US" sz="3200" b="1"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人</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营销</a:t>
                      </a:r>
                      <a:r>
                        <a:rPr lang="en-US" sz="3200" b="1"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人</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生产</a:t>
                      </a:r>
                      <a:r>
                        <a:rPr lang="en-US" sz="3200" b="1"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人</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老年</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中年</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青年</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280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720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1 200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320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480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1 040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2 000</a:t>
                      </a:r>
                      <a:endParaRPr lang="zh-CN" sz="3200" b="1"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78343"/>
            <a:ext cx="10807700" cy="476322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若要抽取</a:t>
            </a:r>
            <a:r>
              <a:rPr lang="en-US" altLang="zh-CN" dirty="0">
                <a:solidFill>
                  <a:srgbClr val="000000"/>
                </a:solidFill>
                <a:ea typeface="宋体" panose="02010600030101010101" pitchFamily="2" charset="-122"/>
                <a:cs typeface="Times New Roman" panose="02020603050405020304" pitchFamily="18" charset="0"/>
              </a:rPr>
              <a:t>40</a:t>
            </a:r>
            <a:r>
              <a:rPr lang="zh-CN" altLang="zh-CN" dirty="0">
                <a:solidFill>
                  <a:srgbClr val="000000"/>
                </a:solidFill>
                <a:ea typeface="宋体" panose="02010600030101010101" pitchFamily="2" charset="-122"/>
                <a:cs typeface="Times New Roman" panose="02020603050405020304" pitchFamily="18" charset="0"/>
              </a:rPr>
              <a:t>人调查身体状况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则应怎样抽样</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若要召开一个</a:t>
            </a:r>
            <a:r>
              <a:rPr lang="en-US" altLang="zh-CN" dirty="0">
                <a:solidFill>
                  <a:srgbClr val="000000"/>
                </a:solidFill>
                <a:ea typeface="宋体" panose="02010600030101010101" pitchFamily="2" charset="-122"/>
                <a:cs typeface="Times New Roman" panose="02020603050405020304" pitchFamily="18" charset="0"/>
              </a:rPr>
              <a:t>25</a:t>
            </a:r>
            <a:r>
              <a:rPr lang="zh-CN" altLang="zh-CN" dirty="0">
                <a:solidFill>
                  <a:srgbClr val="000000"/>
                </a:solidFill>
                <a:ea typeface="宋体" panose="02010600030101010101" pitchFamily="2" charset="-122"/>
                <a:cs typeface="Times New Roman" panose="02020603050405020304" pitchFamily="18" charset="0"/>
              </a:rPr>
              <a:t>人的讨论单位发展和薪金调整方面的座谈会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则应怎样抽选出席人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若要抽取</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人进行关于北京</a:t>
            </a:r>
            <a:r>
              <a:rPr lang="en-US" altLang="zh-CN" dirty="0">
                <a:solidFill>
                  <a:srgbClr val="000000"/>
                </a:solidFill>
                <a:ea typeface="宋体" panose="02010600030101010101" pitchFamily="2" charset="-122"/>
                <a:cs typeface="Times New Roman" panose="02020603050405020304" pitchFamily="18" charset="0"/>
              </a:rPr>
              <a:t>2022</a:t>
            </a:r>
            <a:r>
              <a:rPr lang="zh-CN" altLang="zh-CN" dirty="0">
                <a:solidFill>
                  <a:srgbClr val="000000"/>
                </a:solidFill>
                <a:ea typeface="宋体" panose="02010600030101010101" pitchFamily="2" charset="-122"/>
                <a:cs typeface="Times New Roman" panose="02020603050405020304" pitchFamily="18" charset="0"/>
              </a:rPr>
              <a:t>年冬奥会的调查问卷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则应怎样抽样</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身体状况与年龄有关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考虑分层随机抽样</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座谈会与各部门有关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考虑分层随机抽样</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冬奥会是大众体育盛会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调查一个单位人员对其情况的了解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可用简单随机抽样</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5702029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61950" y="1007839"/>
            <a:ext cx="17752217" cy="4172296"/>
            <a:chOff x="361950" y="791815"/>
            <a:chExt cx="17752217" cy="4172296"/>
          </a:xfrm>
        </p:grpSpPr>
        <p:sp>
          <p:nvSpPr>
            <p:cNvPr id="10" name="矩形 9"/>
            <p:cNvSpPr>
              <a:spLocks noChangeAspect="1"/>
            </p:cNvSpPr>
            <p:nvPr/>
          </p:nvSpPr>
          <p:spPr>
            <a:xfrm>
              <a:off x="361950" y="791815"/>
              <a:ext cx="10807700" cy="417229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按老年、中年、青年分层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用比例分配的分层随机抽样方法抽取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抽样比为</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故从老年、中年、青年职工中分别抽取</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12</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24</a:t>
              </a:r>
              <a:r>
                <a:rPr lang="zh-CN" altLang="zh-CN" dirty="0">
                  <a:solidFill>
                    <a:srgbClr val="000000"/>
                  </a:solidFill>
                  <a:ea typeface="楷体" panose="02010609060101010101" pitchFamily="49" charset="-122"/>
                  <a:cs typeface="Times New Roman" panose="02020603050405020304" pitchFamily="18" charset="0"/>
                </a:rPr>
                <a:t>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按管理、技术开发、营销、生产部门分层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用比例分配的分层随机抽样方法抽取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抽样比为</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故从管理、技术开发、营销、生产部门分别抽取</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13</a:t>
              </a:r>
              <a:r>
                <a:rPr lang="zh-CN" altLang="zh-CN" dirty="0">
                  <a:solidFill>
                    <a:srgbClr val="000000"/>
                  </a:solidFill>
                  <a:ea typeface="楷体" panose="02010609060101010101" pitchFamily="49" charset="-122"/>
                  <a:cs typeface="Times New Roman" panose="02020603050405020304" pitchFamily="18" charset="0"/>
                </a:rPr>
                <a:t>人</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1005358067"/>
                </p:ext>
              </p:extLst>
            </p:nvPr>
          </p:nvGraphicFramePr>
          <p:xfrm>
            <a:off x="3888829" y="1295871"/>
            <a:ext cx="11705058" cy="728035"/>
          </p:xfrm>
          <a:graphic>
            <a:graphicData uri="http://schemas.openxmlformats.org/presentationml/2006/ole">
              <mc:AlternateContent xmlns:mc="http://schemas.openxmlformats.org/markup-compatibility/2006">
                <mc:Choice xmlns:v="urn:schemas-microsoft-com:vml" Requires="v">
                  <p:oleObj spid="_x0000_s14378" name="文档" r:id="rId4" imgW="3837724" imgH="238700" progId="Word.Document.12">
                    <p:embed/>
                  </p:oleObj>
                </mc:Choice>
                <mc:Fallback>
                  <p:oleObj name="文档" r:id="rId4" imgW="3837724" imgH="238700" progId="Word.Document.12">
                    <p:embed/>
                    <p:pic>
                      <p:nvPicPr>
                        <p:cNvPr id="0" name=""/>
                        <p:cNvPicPr/>
                        <p:nvPr/>
                      </p:nvPicPr>
                      <p:blipFill>
                        <a:blip r:embed="rId5"/>
                        <a:stretch>
                          <a:fillRect/>
                        </a:stretch>
                      </p:blipFill>
                      <p:spPr>
                        <a:xfrm>
                          <a:off x="3888829" y="1295871"/>
                          <a:ext cx="11705058" cy="72803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587714368"/>
                </p:ext>
              </p:extLst>
            </p:nvPr>
          </p:nvGraphicFramePr>
          <p:xfrm>
            <a:off x="6409109" y="3052640"/>
            <a:ext cx="11705058" cy="736834"/>
          </p:xfrm>
          <a:graphic>
            <a:graphicData uri="http://schemas.openxmlformats.org/presentationml/2006/ole">
              <mc:AlternateContent xmlns:mc="http://schemas.openxmlformats.org/markup-compatibility/2006">
                <mc:Choice xmlns:v="urn:schemas-microsoft-com:vml" Requires="v">
                  <p:oleObj spid="_x0000_s14379" name="文档" r:id="rId7" imgW="3837724" imgH="241585" progId="Word.Document.12">
                    <p:embed/>
                  </p:oleObj>
                </mc:Choice>
                <mc:Fallback>
                  <p:oleObj name="文档" r:id="rId7" imgW="3837724" imgH="241585" progId="Word.Document.12">
                    <p:embed/>
                    <p:pic>
                      <p:nvPicPr>
                        <p:cNvPr id="0" name=""/>
                        <p:cNvPicPr/>
                        <p:nvPr/>
                      </p:nvPicPr>
                      <p:blipFill>
                        <a:blip r:embed="rId8"/>
                        <a:stretch>
                          <a:fillRect/>
                        </a:stretch>
                      </p:blipFill>
                      <p:spPr>
                        <a:xfrm>
                          <a:off x="6409109" y="3052640"/>
                          <a:ext cx="11705058" cy="736834"/>
                        </a:xfrm>
                        <a:prstGeom prst="rect">
                          <a:avLst/>
                        </a:prstGeom>
                      </p:spPr>
                    </p:pic>
                  </p:oleObj>
                </mc:Fallback>
              </mc:AlternateContent>
            </a:graphicData>
          </a:graphic>
        </p:graphicFrame>
      </p:grpSp>
    </p:spTree>
    <p:extLst>
      <p:ext uri="{BB962C8B-B14F-4D97-AF65-F5344CB8AC3E}">
        <p14:creationId xmlns:p14="http://schemas.microsoft.com/office/powerpoint/2010/main" val="1299677811"/>
      </p:ext>
    </p:extLst>
  </p:cSld>
  <p:clrMapOvr>
    <a:masterClrMapping/>
  </p:clrMapOvr>
  <p:transition spd="slow">
    <p:randomBa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367879"/>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用随机数法</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对该单位全部</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名职工随机编号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号码是</a:t>
            </a:r>
            <a:r>
              <a:rPr lang="en-US" altLang="zh-CN" dirty="0">
                <a:solidFill>
                  <a:srgbClr val="000000"/>
                </a:solidFill>
                <a:ea typeface="宋体" panose="02010600030101010101" pitchFamily="2" charset="-122"/>
                <a:cs typeface="Times New Roman" panose="02020603050405020304" pitchFamily="18" charset="0"/>
              </a:rPr>
              <a:t>1,2,3,</a:t>
            </a:r>
            <a:r>
              <a:rPr lang="en-US" altLang="zh-CN" dirty="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利用随机数工具产生</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范围内的不同的整数随机数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把产生的随机数作为抽中的编号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与编号对应的</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名职工就是要抽取的样本</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38483197"/>
      </p:ext>
    </p:extLst>
  </p:cSld>
  <p:clrMapOvr>
    <a:masterClrMapping/>
  </p:clrMapOvr>
  <p:transition spd="slow">
    <p:randomBa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61950" y="1156163"/>
            <a:ext cx="10807700" cy="3596092"/>
            <a:chOff x="361950" y="940139"/>
            <a:chExt cx="10807700" cy="3596092"/>
          </a:xfrm>
        </p:grpSpPr>
        <p:pic>
          <p:nvPicPr>
            <p:cNvPr id="3"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45797"/>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研究统计问题的基本思想方法就是从总体中抽取样本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用样本估计总体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因此选择适当的抽样方法抽取具有代表性的样本对整个统计问题起着至关重要的作用</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本题审题的关键有两点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一是对图表中的人员分类情况和数据要审视清楚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二是对样本的功能要审视准确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854516662"/>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503783"/>
            <a:ext cx="10837346" cy="4165172"/>
            <a:chOff x="361950" y="729639"/>
            <a:chExt cx="10837346" cy="4165172"/>
          </a:xfrm>
        </p:grpSpPr>
        <p:sp>
          <p:nvSpPr>
            <p:cNvPr id="5" name="矩形 4"/>
            <p:cNvSpPr>
              <a:spLocks noChangeAspect="1"/>
            </p:cNvSpPr>
            <p:nvPr/>
          </p:nvSpPr>
          <p:spPr>
            <a:xfrm>
              <a:off x="361950" y="729639"/>
              <a:ext cx="10807700" cy="127419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某网站就观众对某年春晚小品类节目的喜爱程度进行网上调查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其中持各种态度的人数如下表所示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094101899"/>
                </p:ext>
              </p:extLst>
            </p:nvPr>
          </p:nvGraphicFramePr>
          <p:xfrm>
            <a:off x="431196" y="1906615"/>
            <a:ext cx="10768100" cy="1937119"/>
          </p:xfrm>
          <a:graphic>
            <a:graphicData uri="http://schemas.openxmlformats.org/presentationml/2006/ole">
              <mc:AlternateContent xmlns:mc="http://schemas.openxmlformats.org/markup-compatibility/2006">
                <mc:Choice xmlns:v="urn:schemas-microsoft-com:vml" Requires="v">
                  <p:oleObj spid="_x0000_s15394" name="文档" r:id="rId4" imgW="3883577" imgH="698633" progId="Word.Document.12">
                    <p:embed/>
                  </p:oleObj>
                </mc:Choice>
                <mc:Fallback>
                  <p:oleObj name="文档" r:id="rId4" imgW="3883577" imgH="698633" progId="Word.Document.12">
                    <p:embed/>
                    <p:pic>
                      <p:nvPicPr>
                        <p:cNvPr id="0" name=""/>
                        <p:cNvPicPr/>
                        <p:nvPr/>
                      </p:nvPicPr>
                      <p:blipFill>
                        <a:blip r:embed="rId5"/>
                        <a:stretch>
                          <a:fillRect/>
                        </a:stretch>
                      </p:blipFill>
                      <p:spPr>
                        <a:xfrm>
                          <a:off x="431196" y="1906615"/>
                          <a:ext cx="10768100" cy="1937119"/>
                        </a:xfrm>
                        <a:prstGeom prst="rect">
                          <a:avLst/>
                        </a:prstGeom>
                      </p:spPr>
                    </p:pic>
                  </p:oleObj>
                </mc:Fallback>
              </mc:AlternateContent>
            </a:graphicData>
          </a:graphic>
        </p:graphicFrame>
        <p:sp>
          <p:nvSpPr>
            <p:cNvPr id="7" name="矩形 6"/>
            <p:cNvSpPr>
              <a:spLocks noChangeAspect="1"/>
            </p:cNvSpPr>
            <p:nvPr/>
          </p:nvSpPr>
          <p:spPr>
            <a:xfrm>
              <a:off x="361950" y="3086239"/>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现用样本量比例分配的分层随机抽样的方法从所有参与网上调查的观众中抽取了一个容量为</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的样本</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若从不喜欢小品类节目的观众中抽取的人数为</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的值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graphicFrame>
        <p:nvGraphicFramePr>
          <p:cNvPr id="9" name="对象 8"/>
          <p:cNvGraphicFramePr>
            <a:graphicFrameLocks noChangeAspect="1"/>
          </p:cNvGraphicFramePr>
          <p:nvPr>
            <p:extLst>
              <p:ext uri="{D42A27DB-BD31-4B8C-83A1-F6EECF244321}">
                <p14:modId xmlns:p14="http://schemas.microsoft.com/office/powerpoint/2010/main" val="4237898037"/>
              </p:ext>
            </p:extLst>
          </p:nvPr>
        </p:nvGraphicFramePr>
        <p:xfrm>
          <a:off x="361950" y="4610022"/>
          <a:ext cx="11666538" cy="1912937"/>
        </p:xfrm>
        <a:graphic>
          <a:graphicData uri="http://schemas.openxmlformats.org/presentationml/2006/ole">
            <mc:AlternateContent xmlns:mc="http://schemas.openxmlformats.org/markup-compatibility/2006">
              <mc:Choice xmlns:v="urn:schemas-microsoft-com:vml" Requires="v">
                <p:oleObj spid="_x0000_s15395" name="文档" r:id="rId7" imgW="3837724" imgH="631005" progId="Word.Document.12">
                  <p:embed/>
                </p:oleObj>
              </mc:Choice>
              <mc:Fallback>
                <p:oleObj name="文档" r:id="rId7" imgW="3837724" imgH="631005" progId="Word.Document.12">
                  <p:embed/>
                  <p:pic>
                    <p:nvPicPr>
                      <p:cNvPr id="0" name=""/>
                      <p:cNvPicPr/>
                      <p:nvPr/>
                    </p:nvPicPr>
                    <p:blipFill>
                      <a:blip r:embed="rId8"/>
                      <a:stretch>
                        <a:fillRect/>
                      </a:stretch>
                    </p:blipFill>
                    <p:spPr>
                      <a:xfrm>
                        <a:off x="361950" y="4610022"/>
                        <a:ext cx="11666538" cy="1912937"/>
                      </a:xfrm>
                      <a:prstGeom prst="rect">
                        <a:avLst/>
                      </a:prstGeom>
                    </p:spPr>
                  </p:pic>
                </p:oleObj>
              </mc:Fallback>
            </mc:AlternateContent>
          </a:graphicData>
        </a:graphic>
      </p:graphicFrame>
    </p:spTree>
    <p:extLst>
      <p:ext uri="{BB962C8B-B14F-4D97-AF65-F5344CB8AC3E}">
        <p14:creationId xmlns:p14="http://schemas.microsoft.com/office/powerpoint/2010/main" val="228831642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专题二</a:t>
            </a:r>
            <a:r>
              <a:rPr lang="zh-CN" altLang="zh-CN" i="1" dirty="0"/>
              <a:t>　</a:t>
            </a:r>
            <a:r>
              <a:rPr lang="zh-CN" altLang="zh-CN" dirty="0"/>
              <a:t>总体取值规律与百分位数的估计</a:t>
            </a:r>
          </a:p>
        </p:txBody>
      </p:sp>
      <p:sp>
        <p:nvSpPr>
          <p:cNvPr id="3" name="矩形 2"/>
          <p:cNvSpPr>
            <a:spLocks noChangeAspect="1"/>
          </p:cNvSpPr>
          <p:nvPr/>
        </p:nvSpPr>
        <p:spPr>
          <a:xfrm>
            <a:off x="361950" y="1593365"/>
            <a:ext cx="4174951" cy="4228850"/>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某中学高一女生共有</a:t>
            </a:r>
            <a:r>
              <a:rPr lang="en-US" altLang="zh-CN" dirty="0">
                <a:solidFill>
                  <a:srgbClr val="000000"/>
                </a:solidFill>
                <a:ea typeface="宋体" panose="02010600030101010101" pitchFamily="2" charset="-122"/>
                <a:cs typeface="Times New Roman" panose="02020603050405020304" pitchFamily="18" charset="0"/>
              </a:rPr>
              <a:t>450</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为了解高一女生的身高情况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随机抽取部分高一女生测量身高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:cm),</a:t>
            </a:r>
            <a:r>
              <a:rPr lang="zh-CN" altLang="zh-CN" dirty="0">
                <a:solidFill>
                  <a:srgbClr val="000000"/>
                </a:solidFill>
                <a:ea typeface="宋体" panose="02010600030101010101" pitchFamily="2" charset="-122"/>
                <a:cs typeface="Times New Roman" panose="02020603050405020304" pitchFamily="18" charset="0"/>
              </a:rPr>
              <a:t>所得数据整理后列出频率分布如下表所示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978678084"/>
              </p:ext>
            </p:extLst>
          </p:nvPr>
        </p:nvGraphicFramePr>
        <p:xfrm>
          <a:off x="1909015" y="1372296"/>
          <a:ext cx="11844910" cy="5584663"/>
        </p:xfrm>
        <a:graphic>
          <a:graphicData uri="http://schemas.openxmlformats.org/presentationml/2006/ole">
            <mc:AlternateContent xmlns:mc="http://schemas.openxmlformats.org/markup-compatibility/2006">
              <mc:Choice xmlns:v="urn:schemas-microsoft-com:vml" Requires="v">
                <p:oleObj spid="_x0000_s17430" name="文档" r:id="rId4" imgW="3883577" imgH="1831037" progId="Word.Document.12">
                  <p:embed/>
                </p:oleObj>
              </mc:Choice>
              <mc:Fallback>
                <p:oleObj name="文档" r:id="rId4" imgW="3883577" imgH="1831037" progId="Word.Document.12">
                  <p:embed/>
                  <p:pic>
                    <p:nvPicPr>
                      <p:cNvPr id="0" name=""/>
                      <p:cNvPicPr/>
                      <p:nvPr/>
                    </p:nvPicPr>
                    <p:blipFill>
                      <a:blip r:embed="rId5"/>
                      <a:stretch>
                        <a:fillRect/>
                      </a:stretch>
                    </p:blipFill>
                    <p:spPr>
                      <a:xfrm>
                        <a:off x="1909015" y="1372296"/>
                        <a:ext cx="11844910" cy="5584663"/>
                      </a:xfrm>
                      <a:prstGeom prst="rect">
                        <a:avLst/>
                      </a:prstGeom>
                    </p:spPr>
                  </p:pic>
                </p:oleObj>
              </mc:Fallback>
            </mc:AlternateContent>
          </a:graphicData>
        </a:graphic>
      </p:graphicFrame>
    </p:spTree>
    <p:extLst>
      <p:ext uri="{BB962C8B-B14F-4D97-AF65-F5344CB8AC3E}">
        <p14:creationId xmlns:p14="http://schemas.microsoft.com/office/powerpoint/2010/main" val="1520063988"/>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905468"/>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求出表中字母</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n</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所对应的数值</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画出频率分布直方图</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估计该校高一女生身高在</a:t>
            </a:r>
            <a:r>
              <a:rPr lang="en-US" altLang="zh-CN" dirty="0">
                <a:solidFill>
                  <a:srgbClr val="000000"/>
                </a:solidFill>
                <a:ea typeface="宋体" panose="02010600030101010101" pitchFamily="2" charset="-122"/>
                <a:cs typeface="Times New Roman" panose="02020603050405020304" pitchFamily="18" charset="0"/>
              </a:rPr>
              <a:t>149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 cm</a:t>
            </a:r>
            <a:r>
              <a:rPr lang="zh-CN" altLang="zh-CN" dirty="0">
                <a:solidFill>
                  <a:srgbClr val="000000"/>
                </a:solidFill>
                <a:ea typeface="宋体" panose="02010600030101010101" pitchFamily="2" charset="-122"/>
                <a:cs typeface="Times New Roman" panose="02020603050405020304" pitchFamily="18" charset="0"/>
              </a:rPr>
              <a:t>范围内有多少人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估计该校高一女生身高的第</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百分位数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利用频率分布表的特征求出</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n</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根据画频率分布直方图的步骤画出频率分布直方图</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利用样本所占的比例估计总体的分布</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利用样本的百分位数估计总体的百分位数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2439586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randombar(horizontal)">
                                      <p:cBhvr>
                                        <p:cTn id="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637180289"/>
              </p:ext>
            </p:extLst>
          </p:nvPr>
        </p:nvGraphicFramePr>
        <p:xfrm>
          <a:off x="504453" y="691087"/>
          <a:ext cx="11705058" cy="729136"/>
        </p:xfrm>
        <a:graphic>
          <a:graphicData uri="http://schemas.openxmlformats.org/presentationml/2006/ole">
            <mc:AlternateContent xmlns:mc="http://schemas.openxmlformats.org/markup-compatibility/2006">
              <mc:Choice xmlns:v="urn:schemas-microsoft-com:vml" Requires="v">
                <p:oleObj spid="_x0000_s18454" name="文档" r:id="rId4" imgW="3837724" imgH="239061" progId="Word.Document.12">
                  <p:embed/>
                </p:oleObj>
              </mc:Choice>
              <mc:Fallback>
                <p:oleObj name="文档" r:id="rId4" imgW="3837724" imgH="239061" progId="Word.Document.12">
                  <p:embed/>
                  <p:pic>
                    <p:nvPicPr>
                      <p:cNvPr id="0" name=""/>
                      <p:cNvPicPr/>
                      <p:nvPr/>
                    </p:nvPicPr>
                    <p:blipFill>
                      <a:blip r:embed="rId5"/>
                      <a:stretch>
                        <a:fillRect/>
                      </a:stretch>
                    </p:blipFill>
                    <p:spPr>
                      <a:xfrm>
                        <a:off x="504453" y="691087"/>
                        <a:ext cx="11705058" cy="729136"/>
                      </a:xfrm>
                      <a:prstGeom prst="rect">
                        <a:avLst/>
                      </a:prstGeom>
                    </p:spPr>
                  </p:pic>
                </p:oleObj>
              </mc:Fallback>
            </mc:AlternateContent>
          </a:graphicData>
        </a:graphic>
      </p:graphicFrame>
      <p:sp>
        <p:nvSpPr>
          <p:cNvPr id="5" name="矩形 4"/>
          <p:cNvSpPr>
            <a:spLocks noChangeAspect="1"/>
          </p:cNvSpPr>
          <p:nvPr/>
        </p:nvSpPr>
        <p:spPr>
          <a:xfrm>
            <a:off x="361950" y="1358047"/>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数据落在</a:t>
            </a:r>
            <a:r>
              <a:rPr lang="en-US" altLang="zh-CN" dirty="0">
                <a:solidFill>
                  <a:srgbClr val="000000"/>
                </a:solidFill>
                <a:ea typeface="宋体" panose="02010600030101010101" pitchFamily="2" charset="-122"/>
                <a:cs typeface="Times New Roman" panose="02020603050405020304" pitchFamily="18" charset="0"/>
              </a:rPr>
              <a:t>165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范围内的频数</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频率为</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08,</a:t>
            </a:r>
            <a:r>
              <a:rPr lang="zh-CN" altLang="zh-CN" dirty="0">
                <a:solidFill>
                  <a:srgbClr val="000000"/>
                </a:solidFill>
                <a:ea typeface="楷体" panose="02010609060101010101" pitchFamily="49" charset="-122"/>
                <a:cs typeface="Times New Roman" panose="02020603050405020304" pitchFamily="18" charset="0"/>
              </a:rPr>
              <a:t>总频率</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频率分布直方图如下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21C118.eps" descr="id:2147502933;FounderCES"/>
          <p:cNvPicPr/>
          <p:nvPr/>
        </p:nvPicPr>
        <p:blipFill>
          <a:blip r:embed="rId6"/>
          <a:stretch>
            <a:fillRect/>
          </a:stretch>
        </p:blipFill>
        <p:spPr>
          <a:xfrm>
            <a:off x="3456781" y="3158247"/>
            <a:ext cx="3816424" cy="3163477"/>
          </a:xfrm>
          <a:prstGeom prst="rect">
            <a:avLst/>
          </a:prstGeom>
        </p:spPr>
      </p:pic>
    </p:spTree>
    <p:extLst>
      <p:ext uri="{BB962C8B-B14F-4D97-AF65-F5344CB8AC3E}">
        <p14:creationId xmlns:p14="http://schemas.microsoft.com/office/powerpoint/2010/main" val="3505823412"/>
      </p:ext>
    </p:extLst>
  </p:cSld>
  <p:clrMapOvr>
    <a:masterClrMapping/>
  </p:clrMapOvr>
  <p:transition spd="slow">
    <p:randomBa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801367"/>
            <a:ext cx="12207601" cy="5410712"/>
            <a:chOff x="361950" y="719807"/>
            <a:chExt cx="12207601" cy="5410712"/>
          </a:xfrm>
        </p:grpSpPr>
        <p:sp>
          <p:nvSpPr>
            <p:cNvPr id="3" name="矩形 2"/>
            <p:cNvSpPr>
              <a:spLocks noChangeAspect="1"/>
            </p:cNvSpPr>
            <p:nvPr/>
          </p:nvSpPr>
          <p:spPr>
            <a:xfrm>
              <a:off x="361950" y="719807"/>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估计该校高一女生身高在</a:t>
              </a:r>
              <a:r>
                <a:rPr lang="en-US" altLang="zh-CN" dirty="0">
                  <a:solidFill>
                    <a:srgbClr val="000000"/>
                  </a:solidFill>
                  <a:ea typeface="宋体" panose="02010600030101010101" pitchFamily="2" charset="-122"/>
                  <a:cs typeface="Times New Roman" panose="02020603050405020304" pitchFamily="18" charset="0"/>
                </a:rPr>
                <a:t>149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cm</a:t>
              </a:r>
              <a:r>
                <a:rPr lang="zh-CN" altLang="zh-CN" dirty="0">
                  <a:solidFill>
                    <a:srgbClr val="000000"/>
                  </a:solidFill>
                  <a:ea typeface="楷体" panose="02010609060101010101" pitchFamily="49" charset="-122"/>
                  <a:cs typeface="Times New Roman" panose="02020603050405020304" pitchFamily="18" charset="0"/>
                </a:rPr>
                <a:t>范围内的比例为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76,</a:t>
              </a:r>
              <a:r>
                <a:rPr lang="zh-CN" altLang="zh-CN" dirty="0">
                  <a:solidFill>
                    <a:srgbClr val="000000"/>
                  </a:solidFill>
                  <a:ea typeface="楷体" panose="02010609060101010101" pitchFamily="49" charset="-122"/>
                  <a:cs typeface="Times New Roman" panose="02020603050405020304" pitchFamily="18" charset="0"/>
                </a:rPr>
                <a:t>所以估计该校高一女生身高在此范围内的人数为</a:t>
              </a:r>
              <a:r>
                <a:rPr lang="en-US" altLang="zh-CN" dirty="0">
                  <a:solidFill>
                    <a:srgbClr val="000000"/>
                  </a:solidFill>
                  <a:ea typeface="宋体" panose="02010600030101010101" pitchFamily="2" charset="-122"/>
                  <a:cs typeface="Times New Roman" panose="02020603050405020304" pitchFamily="18" charset="0"/>
                </a:rPr>
                <a:t>450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342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由频率分布表知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前四组的频率之和为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76,</a:t>
              </a:r>
              <a:r>
                <a:rPr lang="zh-CN" altLang="zh-CN" dirty="0">
                  <a:solidFill>
                    <a:srgbClr val="000000"/>
                  </a:solidFill>
                  <a:ea typeface="楷体" panose="02010609060101010101" pitchFamily="49" charset="-122"/>
                  <a:cs typeface="Times New Roman" panose="02020603050405020304" pitchFamily="18" charset="0"/>
                </a:rPr>
                <a:t>前五组的频率之和为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92,</a:t>
              </a:r>
              <a:r>
                <a:rPr lang="zh-CN" altLang="zh-CN" dirty="0">
                  <a:solidFill>
                    <a:srgbClr val="000000"/>
                  </a:solidFill>
                  <a:ea typeface="楷体" panose="02010609060101010101" pitchFamily="49" charset="-122"/>
                  <a:cs typeface="Times New Roman" panose="02020603050405020304" pitchFamily="18" charset="0"/>
                </a:rPr>
                <a:t>所以样本数据的第</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楷体" panose="02010609060101010101" pitchFamily="49" charset="-122"/>
                  <a:cs typeface="Times New Roman" panose="02020603050405020304" pitchFamily="18" charset="0"/>
                </a:rPr>
                <a:t>百分位数一定在第五组</a:t>
              </a:r>
              <a:r>
                <a:rPr lang="en-US" altLang="zh-CN" dirty="0">
                  <a:solidFill>
                    <a:srgbClr val="000000"/>
                  </a:solidFill>
                  <a:ea typeface="宋体" panose="02010600030101010101" pitchFamily="2" charset="-122"/>
                  <a:cs typeface="Times New Roman" panose="02020603050405020304" pitchFamily="18" charset="0"/>
                </a:rPr>
                <a:t>[161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5,165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估计该校高一女生身高的第</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楷体" panose="02010609060101010101" pitchFamily="49" charset="-122"/>
                  <a:cs typeface="Times New Roman" panose="02020603050405020304" pitchFamily="18" charset="0"/>
                </a:rPr>
                <a:t>百分位数为</a:t>
              </a:r>
              <a:r>
                <a:rPr lang="en-US" altLang="zh-CN" dirty="0" smtClean="0">
                  <a:solidFill>
                    <a:srgbClr val="000000"/>
                  </a:solidFill>
                  <a:ea typeface="宋体" panose="02010600030101010101" pitchFamily="2" charset="-122"/>
                  <a:cs typeface="Times New Roman" panose="02020603050405020304" pitchFamily="18" charset="0"/>
                </a:rPr>
                <a:t>162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5</a:t>
              </a:r>
              <a:r>
                <a:rPr lang="en-US" altLang="zh-CN" i="1" dirty="0" smtClean="0">
                  <a:solidFill>
                    <a:srgbClr val="000000"/>
                  </a:solidFill>
                  <a:ea typeface="宋体" panose="02010600030101010101" pitchFamily="2" charset="-122"/>
                  <a:cs typeface="Times New Roman" panose="02020603050405020304" pitchFamily="18" charset="0"/>
                </a:rPr>
                <a:t>.v</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43673746"/>
                </p:ext>
              </p:extLst>
            </p:nvPr>
          </p:nvGraphicFramePr>
          <p:xfrm>
            <a:off x="864493" y="4719575"/>
            <a:ext cx="11705058" cy="908394"/>
          </p:xfrm>
          <a:graphic>
            <a:graphicData uri="http://schemas.openxmlformats.org/presentationml/2006/ole">
              <mc:AlternateContent xmlns:mc="http://schemas.openxmlformats.org/markup-compatibility/2006">
                <mc:Choice xmlns:v="urn:schemas-microsoft-com:vml" Requires="v">
                  <p:oleObj spid="_x0000_s38924" name="文档" r:id="rId4" imgW="3837724" imgH="297834" progId="Word.Document.12">
                    <p:embed/>
                  </p:oleObj>
                </mc:Choice>
                <mc:Fallback>
                  <p:oleObj name="文档" r:id="rId4" imgW="3837724" imgH="297834" progId="Word.Document.12">
                    <p:embed/>
                    <p:pic>
                      <p:nvPicPr>
                        <p:cNvPr id="0" name=""/>
                        <p:cNvPicPr/>
                        <p:nvPr/>
                      </p:nvPicPr>
                      <p:blipFill>
                        <a:blip r:embed="rId5"/>
                        <a:stretch>
                          <a:fillRect/>
                        </a:stretch>
                      </p:blipFill>
                      <p:spPr>
                        <a:xfrm>
                          <a:off x="864493" y="4719575"/>
                          <a:ext cx="11705058" cy="908394"/>
                        </a:xfrm>
                        <a:prstGeom prst="rect">
                          <a:avLst/>
                        </a:prstGeom>
                      </p:spPr>
                    </p:pic>
                  </p:oleObj>
                </mc:Fallback>
              </mc:AlternateContent>
            </a:graphicData>
          </a:graphic>
        </p:graphicFrame>
      </p:grpSp>
    </p:spTree>
    <p:extLst>
      <p:ext uri="{BB962C8B-B14F-4D97-AF65-F5344CB8AC3E}">
        <p14:creationId xmlns:p14="http://schemas.microsoft.com/office/powerpoint/2010/main" val="3301927919"/>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785167"/>
            <a:ext cx="10807700" cy="5315576"/>
            <a:chOff x="361950" y="670647"/>
            <a:chExt cx="10807700" cy="5315576"/>
          </a:xfrm>
        </p:grpSpPr>
        <p:sp>
          <p:nvSpPr>
            <p:cNvPr id="5" name="矩形 4"/>
            <p:cNvSpPr>
              <a:spLocks noChangeAspect="1"/>
            </p:cNvSpPr>
            <p:nvPr/>
          </p:nvSpPr>
          <p:spPr>
            <a:xfrm>
              <a:off x="361950" y="1222996"/>
              <a:ext cx="10807700" cy="476322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与频率分布直方图有关问题的常见类型及解题策略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已知频率分布直方图中的部分数据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求其他数据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可根据频率分布直方图中的数据和频率之和等于</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求出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已知频率分布直方图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求某种范围内的数据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可利用图形及某范围结合求解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已知频率分布直方图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估计总体的第</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仿宋" panose="02010609060101010101" pitchFamily="49" charset="-122"/>
                  <a:cs typeface="Times New Roman" panose="02020603050405020304" pitchFamily="18" charset="0"/>
                </a:rPr>
                <a:t>百分位数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可利用累计频率估计第</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仿宋" panose="02010609060101010101" pitchFamily="49" charset="-122"/>
                  <a:cs typeface="Times New Roman" panose="02020603050405020304" pitchFamily="18" charset="0"/>
                </a:rPr>
                <a:t>百分位数所在的小组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再把本组数据看成均匀分布计算</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6" name="反思感悟H.eps" descr="id:2147490797;FounderCES"/>
            <p:cNvPicPr/>
            <p:nvPr/>
          </p:nvPicPr>
          <p:blipFill>
            <a:blip r:embed="rId2"/>
            <a:stretch>
              <a:fillRect/>
            </a:stretch>
          </p:blipFill>
          <p:spPr>
            <a:xfrm>
              <a:off x="361950" y="670647"/>
              <a:ext cx="2259558" cy="531552"/>
            </a:xfrm>
            <a:prstGeom prst="rect">
              <a:avLst/>
            </a:prstGeom>
          </p:spPr>
        </p:pic>
      </p:grpSp>
    </p:spTree>
    <p:extLst>
      <p:ext uri="{BB962C8B-B14F-4D97-AF65-F5344CB8AC3E}">
        <p14:creationId xmlns:p14="http://schemas.microsoft.com/office/powerpoint/2010/main" val="1243678377"/>
      </p:ext>
    </p:extLst>
  </p:cSld>
  <p:clrMapOvr>
    <a:masterClrMapping/>
  </p:clrMapOvr>
  <p:transition spd="slow">
    <p:randomBar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721990" y="940586"/>
            <a:ext cx="4030935" cy="4819781"/>
          </a:xfrm>
          <a:prstGeom prst="rect">
            <a:avLst/>
          </a:prstGeom>
        </p:spPr>
        <p:txBody>
          <a:bodyPr wrap="square">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某校高三年级有</a:t>
            </a:r>
            <a:r>
              <a:rPr lang="en-US" altLang="zh-CN" dirty="0">
                <a:solidFill>
                  <a:srgbClr val="000000"/>
                </a:solidFill>
                <a:ea typeface="宋体" panose="02010600030101010101" pitchFamily="2" charset="-122"/>
              </a:rPr>
              <a:t>500</a:t>
            </a:r>
            <a:r>
              <a:rPr lang="zh-CN" altLang="zh-CN" dirty="0">
                <a:solidFill>
                  <a:srgbClr val="000000"/>
                </a:solidFill>
                <a:ea typeface="宋体" panose="02010600030101010101" pitchFamily="2" charset="-122"/>
                <a:cs typeface="Times New Roman" panose="02020603050405020304" pitchFamily="18" charset="0"/>
              </a:rPr>
              <a:t>名学生</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为了了解数学学科的学习情况</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现从中随机抽取若干名学生在一次测试中的数学成绩</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满分为</a:t>
            </a:r>
            <a:r>
              <a:rPr lang="en-US" altLang="zh-CN" dirty="0">
                <a:solidFill>
                  <a:srgbClr val="000000"/>
                </a:solidFill>
                <a:ea typeface="宋体" panose="02010600030101010101" pitchFamily="2" charset="-122"/>
              </a:rPr>
              <a:t>150</a:t>
            </a:r>
            <a:r>
              <a:rPr lang="zh-CN" altLang="zh-CN" dirty="0">
                <a:solidFill>
                  <a:srgbClr val="000000"/>
                </a:solidFill>
                <a:ea typeface="宋体" panose="02010600030101010101" pitchFamily="2" charset="-122"/>
                <a:cs typeface="Times New Roman" panose="02020603050405020304" pitchFamily="18" charset="0"/>
              </a:rPr>
              <a:t>分</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制成</a:t>
            </a:r>
            <a:r>
              <a:rPr lang="zh-CN" altLang="zh-CN" dirty="0" smtClean="0">
                <a:solidFill>
                  <a:srgbClr val="000000"/>
                </a:solidFill>
                <a:ea typeface="宋体" panose="02010600030101010101" pitchFamily="2" charset="-122"/>
                <a:cs typeface="Times New Roman" panose="02020603050405020304" pitchFamily="18" charset="0"/>
              </a:rPr>
              <a:t>如</a:t>
            </a:r>
            <a:r>
              <a:rPr lang="zh-CN" altLang="en-US" dirty="0" smtClean="0">
                <a:solidFill>
                  <a:srgbClr val="000000"/>
                </a:solidFill>
                <a:ea typeface="宋体" panose="02010600030101010101" pitchFamily="2" charset="-122"/>
                <a:cs typeface="Times New Roman" panose="02020603050405020304" pitchFamily="18" charset="0"/>
              </a:rPr>
              <a:t>右</a:t>
            </a:r>
            <a:r>
              <a:rPr lang="zh-CN" altLang="zh-CN" dirty="0" smtClean="0">
                <a:solidFill>
                  <a:srgbClr val="000000"/>
                </a:solidFill>
                <a:ea typeface="宋体" panose="02010600030101010101" pitchFamily="2" charset="-122"/>
                <a:cs typeface="Times New Roman" panose="02020603050405020304" pitchFamily="18" charset="0"/>
              </a:rPr>
              <a:t>频率</a:t>
            </a:r>
            <a:r>
              <a:rPr lang="zh-CN" altLang="zh-CN" dirty="0">
                <a:solidFill>
                  <a:srgbClr val="000000"/>
                </a:solidFill>
                <a:ea typeface="宋体" panose="02010600030101010101" pitchFamily="2" charset="-122"/>
                <a:cs typeface="Times New Roman" panose="02020603050405020304" pitchFamily="18" charset="0"/>
              </a:rPr>
              <a:t>分布表</a:t>
            </a:r>
            <a:r>
              <a:rPr lang="en-US" altLang="zh-CN"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830236546"/>
              </p:ext>
            </p:extLst>
          </p:nvPr>
        </p:nvGraphicFramePr>
        <p:xfrm>
          <a:off x="3024733" y="673800"/>
          <a:ext cx="9789182" cy="6290383"/>
        </p:xfrm>
        <a:graphic>
          <a:graphicData uri="http://schemas.openxmlformats.org/presentationml/2006/ole">
            <mc:AlternateContent xmlns:mc="http://schemas.openxmlformats.org/markup-compatibility/2006">
              <mc:Choice xmlns:v="urn:schemas-microsoft-com:vml" Requires="v">
                <p:oleObj spid="_x0000_s20502" name="文档" r:id="rId4" imgW="3883577" imgH="2495529" progId="Word.Document.12">
                  <p:embed/>
                </p:oleObj>
              </mc:Choice>
              <mc:Fallback>
                <p:oleObj name="文档" r:id="rId4" imgW="3883577" imgH="2495529" progId="Word.Document.12">
                  <p:embed/>
                  <p:pic>
                    <p:nvPicPr>
                      <p:cNvPr id="0" name=""/>
                      <p:cNvPicPr/>
                      <p:nvPr/>
                    </p:nvPicPr>
                    <p:blipFill>
                      <a:blip r:embed="rId5"/>
                      <a:stretch>
                        <a:fillRect/>
                      </a:stretch>
                    </p:blipFill>
                    <p:spPr>
                      <a:xfrm>
                        <a:off x="3024733" y="673800"/>
                        <a:ext cx="9789182" cy="6290383"/>
                      </a:xfrm>
                      <a:prstGeom prst="rect">
                        <a:avLst/>
                      </a:prstGeom>
                    </p:spPr>
                  </p:pic>
                </p:oleObj>
              </mc:Fallback>
            </mc:AlternateContent>
          </a:graphicData>
        </a:graphic>
      </p:graphicFrame>
    </p:spTree>
    <p:extLst>
      <p:ext uri="{BB962C8B-B14F-4D97-AF65-F5344CB8AC3E}">
        <p14:creationId xmlns:p14="http://schemas.microsoft.com/office/powerpoint/2010/main" val="3644332942"/>
      </p:ext>
    </p:extLst>
  </p:cSld>
  <p:clrMapOvr>
    <a:masterClrMapping/>
  </p:clrMapOvr>
  <p:transition spd="slow">
    <p:randomBa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47799"/>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表格中</a:t>
            </a:r>
            <a:r>
              <a:rPr lang="zh-CN" altLang="zh-CN" dirty="0">
                <a:solidFill>
                  <a:srgbClr val="000000"/>
                </a:solidFill>
                <a:latin typeface="NEU-BZ-S92"/>
                <a:ea typeface="宋体" panose="02010600030101010101" pitchFamily="2" charset="-122"/>
                <a:cs typeface="宋体" panose="02010600030101010101" pitchFamily="2" charset="-122"/>
              </a:rPr>
              <a:t>①②③④</a:t>
            </a:r>
            <a:r>
              <a:rPr lang="zh-CN" altLang="zh-CN" dirty="0">
                <a:solidFill>
                  <a:srgbClr val="000000"/>
                </a:solidFill>
                <a:ea typeface="宋体" panose="02010600030101010101" pitchFamily="2" charset="-122"/>
                <a:cs typeface="Times New Roman" panose="02020603050405020304" pitchFamily="18" charset="0"/>
              </a:rPr>
              <a:t>处的数值分别为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在图中画出样本数据的频率分布直方图</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根据题中信息估计总体数学成绩的</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分位数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精确到</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pic>
        <p:nvPicPr>
          <p:cNvPr id="5" name="NMG2TRA02.eps" descr="id:2147502593;FounderCES"/>
          <p:cNvPicPr/>
          <p:nvPr/>
        </p:nvPicPr>
        <p:blipFill>
          <a:blip r:embed="rId2"/>
          <a:stretch>
            <a:fillRect/>
          </a:stretch>
        </p:blipFill>
        <p:spPr>
          <a:xfrm>
            <a:off x="3600797" y="3033895"/>
            <a:ext cx="3024336" cy="3290077"/>
          </a:xfrm>
          <a:prstGeom prst="rect">
            <a:avLst/>
          </a:prstGeom>
        </p:spPr>
      </p:pic>
    </p:spTree>
    <p:extLst>
      <p:ext uri="{BB962C8B-B14F-4D97-AF65-F5344CB8AC3E}">
        <p14:creationId xmlns:p14="http://schemas.microsoft.com/office/powerpoint/2010/main" val="4078171505"/>
      </p:ext>
    </p:extLst>
  </p:cSld>
  <p:clrMapOvr>
    <a:masterClrMapping/>
  </p:clrMapOvr>
  <p:transition spd="slow">
    <p:randomBar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88429" y="1472567"/>
            <a:ext cx="11743967" cy="2847640"/>
            <a:chOff x="288429" y="1328551"/>
            <a:chExt cx="11743967" cy="2847640"/>
          </a:xfrm>
        </p:grpSpPr>
        <p:graphicFrame>
          <p:nvGraphicFramePr>
            <p:cNvPr id="2" name="对象 1"/>
            <p:cNvGraphicFramePr>
              <a:graphicFrameLocks noChangeAspect="1"/>
            </p:cNvGraphicFramePr>
            <p:nvPr>
              <p:extLst>
                <p:ext uri="{D42A27DB-BD31-4B8C-83A1-F6EECF244321}">
                  <p14:modId xmlns:p14="http://schemas.microsoft.com/office/powerpoint/2010/main" val="1714897384"/>
                </p:ext>
              </p:extLst>
            </p:nvPr>
          </p:nvGraphicFramePr>
          <p:xfrm>
            <a:off x="360437" y="1328551"/>
            <a:ext cx="11671959" cy="1609085"/>
          </p:xfrm>
          <a:graphic>
            <a:graphicData uri="http://schemas.openxmlformats.org/presentationml/2006/ole">
              <mc:AlternateContent xmlns:mc="http://schemas.openxmlformats.org/markup-compatibility/2006">
                <mc:Choice xmlns:v="urn:schemas-microsoft-com:vml" Requires="v">
                  <p:oleObj spid="_x0000_s21526" name="文档" r:id="rId4" imgW="3826872" imgH="527569" progId="Word.Document.12">
                    <p:embed/>
                  </p:oleObj>
                </mc:Choice>
                <mc:Fallback>
                  <p:oleObj name="文档" r:id="rId4" imgW="3826872" imgH="527569" progId="Word.Document.12">
                    <p:embed/>
                    <p:pic>
                      <p:nvPicPr>
                        <p:cNvPr id="0" name=""/>
                        <p:cNvPicPr/>
                        <p:nvPr/>
                      </p:nvPicPr>
                      <p:blipFill>
                        <a:blip r:embed="rId5"/>
                        <a:stretch>
                          <a:fillRect/>
                        </a:stretch>
                      </p:blipFill>
                      <p:spPr>
                        <a:xfrm>
                          <a:off x="360437" y="1328551"/>
                          <a:ext cx="11671959" cy="1609085"/>
                        </a:xfrm>
                        <a:prstGeom prst="rect">
                          <a:avLst/>
                        </a:prstGeom>
                      </p:spPr>
                    </p:pic>
                  </p:oleObj>
                </mc:Fallback>
              </mc:AlternateContent>
            </a:graphicData>
          </a:graphic>
        </p:graphicFrame>
        <p:sp>
          <p:nvSpPr>
            <p:cNvPr id="4" name="矩形 3"/>
            <p:cNvSpPr>
              <a:spLocks noChangeAspect="1"/>
            </p:cNvSpPr>
            <p:nvPr/>
          </p:nvSpPr>
          <p:spPr>
            <a:xfrm>
              <a:off x="288429" y="2958550"/>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处应填</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275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处应填</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104118663"/>
      </p:ext>
    </p:extLst>
  </p:cSld>
  <p:clrMapOvr>
    <a:masterClrMapping/>
  </p:clrMapOvr>
  <p:transition spd="slow">
    <p:randomBar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82934"/>
            <a:ext cx="5399235" cy="626710"/>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频率分布直方图如图所示</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NMG2TRA03.eps" descr="id:2147502600;FounderCES"/>
          <p:cNvPicPr/>
          <p:nvPr/>
        </p:nvPicPr>
        <p:blipFill>
          <a:blip r:embed="rId2"/>
          <a:stretch>
            <a:fillRect/>
          </a:stretch>
        </p:blipFill>
        <p:spPr>
          <a:xfrm>
            <a:off x="3240757" y="1319476"/>
            <a:ext cx="4536504" cy="4935115"/>
          </a:xfrm>
          <a:prstGeom prst="rect">
            <a:avLst/>
          </a:prstGeom>
        </p:spPr>
      </p:pic>
    </p:spTree>
    <p:extLst>
      <p:ext uri="{BB962C8B-B14F-4D97-AF65-F5344CB8AC3E}">
        <p14:creationId xmlns:p14="http://schemas.microsoft.com/office/powerpoint/2010/main" val="459896202"/>
      </p:ext>
    </p:extLst>
  </p:cSld>
  <p:clrMapOvr>
    <a:masterClrMapping/>
  </p:clrMapOvr>
  <p:transition spd="slow">
    <p:randomBar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223863"/>
            <a:ext cx="11113415" cy="3637919"/>
            <a:chOff x="361950" y="1367879"/>
            <a:chExt cx="11113415" cy="3637919"/>
          </a:xfrm>
        </p:grpSpPr>
        <p:sp>
          <p:nvSpPr>
            <p:cNvPr id="4" name="矩形 3"/>
            <p:cNvSpPr>
              <a:spLocks noChangeAspect="1"/>
            </p:cNvSpPr>
            <p:nvPr/>
          </p:nvSpPr>
          <p:spPr>
            <a:xfrm>
              <a:off x="361950" y="1367879"/>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由频率分布表知</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前</a:t>
              </a:r>
              <a:r>
                <a:rPr lang="zh-CN" altLang="zh-CN" dirty="0">
                  <a:solidFill>
                    <a:srgbClr val="000000"/>
                  </a:solidFill>
                  <a:ea typeface="楷体" panose="02010609060101010101" pitchFamily="49" charset="-122"/>
                  <a:cs typeface="Times New Roman" panose="02020603050405020304" pitchFamily="18" charset="0"/>
                </a:rPr>
                <a:t>四组的频率之和为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575</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前</a:t>
              </a:r>
              <a:r>
                <a:rPr lang="zh-CN" altLang="zh-CN" dirty="0">
                  <a:solidFill>
                    <a:srgbClr val="000000"/>
                  </a:solidFill>
                  <a:ea typeface="楷体" panose="02010609060101010101" pitchFamily="49" charset="-122"/>
                  <a:cs typeface="Times New Roman" panose="02020603050405020304" pitchFamily="18" charset="0"/>
                </a:rPr>
                <a:t>五组的频率之和为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575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275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850</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所以</a:t>
              </a:r>
              <a:r>
                <a:rPr lang="zh-CN" altLang="zh-CN" dirty="0">
                  <a:solidFill>
                    <a:srgbClr val="000000"/>
                  </a:solidFill>
                  <a:ea typeface="楷体" panose="02010609060101010101" pitchFamily="49" charset="-122"/>
                  <a:cs typeface="Times New Roman" panose="02020603050405020304" pitchFamily="18" charset="0"/>
                </a:rPr>
                <a:t>样本数据的</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楷体" panose="02010609060101010101" pitchFamily="49" charset="-122"/>
                  <a:cs typeface="Times New Roman" panose="02020603050405020304" pitchFamily="18" charset="0"/>
                </a:rPr>
                <a:t>分位数在第五组</a:t>
              </a:r>
              <a:r>
                <a:rPr lang="en-US" altLang="zh-CN" dirty="0">
                  <a:solidFill>
                    <a:srgbClr val="000000"/>
                  </a:solidFill>
                  <a:ea typeface="宋体" panose="02010600030101010101" pitchFamily="2" charset="-122"/>
                  <a:cs typeface="Times New Roman" panose="02020603050405020304" pitchFamily="18" charset="0"/>
                </a:rPr>
                <a:t>[125,135)</a:t>
              </a:r>
              <a:r>
                <a:rPr lang="zh-CN" altLang="zh-CN" dirty="0">
                  <a:solidFill>
                    <a:srgbClr val="000000"/>
                  </a:solidFill>
                  <a:ea typeface="楷体" panose="02010609060101010101" pitchFamily="49" charset="-122"/>
                  <a:cs typeface="Times New Roman" panose="02020603050405020304" pitchFamily="18" charset="0"/>
                </a:rPr>
                <a:t>内</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估计</a:t>
              </a:r>
              <a:r>
                <a:rPr lang="zh-CN" altLang="zh-CN" dirty="0">
                  <a:solidFill>
                    <a:srgbClr val="000000"/>
                  </a:solidFill>
                  <a:ea typeface="楷体" panose="02010609060101010101" pitchFamily="49" charset="-122"/>
                  <a:cs typeface="Times New Roman" panose="02020603050405020304" pitchFamily="18" charset="0"/>
                </a:rPr>
                <a:t>总体数学成绩的</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楷体" panose="02010609060101010101" pitchFamily="49" charset="-122"/>
                  <a:cs typeface="Times New Roman" panose="02020603050405020304" pitchFamily="18" charset="0"/>
                </a:rPr>
                <a:t>分位数约为</a:t>
              </a:r>
              <a:r>
                <a:rPr lang="en-US" altLang="zh-CN" dirty="0">
                  <a:solidFill>
                    <a:srgbClr val="000000"/>
                  </a:solidFill>
                  <a:ea typeface="宋体" panose="02010600030101010101" pitchFamily="2" charset="-122"/>
                  <a:cs typeface="Times New Roman" panose="02020603050405020304" pitchFamily="18" charset="0"/>
                </a:rPr>
                <a:t>125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139941832"/>
                </p:ext>
              </p:extLst>
            </p:nvPr>
          </p:nvGraphicFramePr>
          <p:xfrm>
            <a:off x="864493" y="3632807"/>
            <a:ext cx="10610872" cy="823075"/>
          </p:xfrm>
          <a:graphic>
            <a:graphicData uri="http://schemas.openxmlformats.org/presentationml/2006/ole">
              <mc:AlternateContent xmlns:mc="http://schemas.openxmlformats.org/markup-compatibility/2006">
                <mc:Choice xmlns:v="urn:schemas-microsoft-com:vml" Requires="v">
                  <p:oleObj spid="_x0000_s22550" name="文档" r:id="rId4" imgW="3826872" imgH="296847" progId="Word.Document.12">
                    <p:embed/>
                  </p:oleObj>
                </mc:Choice>
                <mc:Fallback>
                  <p:oleObj name="文档" r:id="rId4" imgW="3826872" imgH="296847" progId="Word.Document.12">
                    <p:embed/>
                    <p:pic>
                      <p:nvPicPr>
                        <p:cNvPr id="0" name=""/>
                        <p:cNvPicPr/>
                        <p:nvPr/>
                      </p:nvPicPr>
                      <p:blipFill>
                        <a:blip r:embed="rId5"/>
                        <a:stretch>
                          <a:fillRect/>
                        </a:stretch>
                      </p:blipFill>
                      <p:spPr>
                        <a:xfrm>
                          <a:off x="864493" y="3632807"/>
                          <a:ext cx="10610872" cy="823075"/>
                        </a:xfrm>
                        <a:prstGeom prst="rect">
                          <a:avLst/>
                        </a:prstGeom>
                      </p:spPr>
                    </p:pic>
                  </p:oleObj>
                </mc:Fallback>
              </mc:AlternateContent>
            </a:graphicData>
          </a:graphic>
        </p:graphicFrame>
      </p:grpSp>
    </p:spTree>
    <p:extLst>
      <p:ext uri="{BB962C8B-B14F-4D97-AF65-F5344CB8AC3E}">
        <p14:creationId xmlns:p14="http://schemas.microsoft.com/office/powerpoint/2010/main" val="291617590"/>
      </p:ext>
    </p:extLst>
  </p:cSld>
  <p:clrMapOvr>
    <a:masterClrMapping/>
  </p:clrMapOvr>
  <p:transition spd="slow">
    <p:randomBar dir="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专题三</a:t>
            </a:r>
            <a:r>
              <a:rPr lang="zh-CN" altLang="zh-CN" i="1" dirty="0"/>
              <a:t>　</a:t>
            </a:r>
            <a:r>
              <a:rPr lang="zh-CN" altLang="zh-CN" dirty="0"/>
              <a:t>总体集中趋势与离散程度的估计</a:t>
            </a:r>
          </a:p>
        </p:txBody>
      </p:sp>
      <p:sp>
        <p:nvSpPr>
          <p:cNvPr id="3" name="矩形 2"/>
          <p:cNvSpPr>
            <a:spLocks noChangeAspect="1"/>
          </p:cNvSpPr>
          <p:nvPr/>
        </p:nvSpPr>
        <p:spPr>
          <a:xfrm>
            <a:off x="361950" y="1367879"/>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甲、乙两名运动员在相同的条件下各射靶</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每次射靶成绩</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4" name="NMG2TRA04.eps" descr="id:2147502607;FounderCES"/>
          <p:cNvPicPr/>
          <p:nvPr/>
        </p:nvPicPr>
        <p:blipFill>
          <a:blip r:embed="rId2"/>
          <a:stretch>
            <a:fillRect/>
          </a:stretch>
        </p:blipFill>
        <p:spPr>
          <a:xfrm>
            <a:off x="3312765" y="2592015"/>
            <a:ext cx="4464496" cy="3569453"/>
          </a:xfrm>
          <a:prstGeom prst="rect">
            <a:avLst/>
          </a:prstGeom>
        </p:spPr>
      </p:pic>
    </p:spTree>
    <p:extLst>
      <p:ext uri="{BB962C8B-B14F-4D97-AF65-F5344CB8AC3E}">
        <p14:creationId xmlns:p14="http://schemas.microsoft.com/office/powerpoint/2010/main" val="3139521779"/>
      </p:ext>
    </p:extLst>
  </p:cSld>
  <p:clrMapOvr>
    <a:masterClrMapping/>
  </p:clrMapOvr>
  <p:transition spd="slow">
    <p:randomBar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83741" y="558313"/>
            <a:ext cx="11160125" cy="5850126"/>
            <a:chOff x="183741" y="558313"/>
            <a:chExt cx="11160125" cy="5850126"/>
          </a:xfrm>
        </p:grpSpPr>
        <p:sp>
          <p:nvSpPr>
            <p:cNvPr id="5" name="矩形 4"/>
            <p:cNvSpPr>
              <a:spLocks noChangeAspect="1"/>
            </p:cNvSpPr>
            <p:nvPr/>
          </p:nvSpPr>
          <p:spPr>
            <a:xfrm>
              <a:off x="183742" y="558313"/>
              <a:ext cx="2515432" cy="683264"/>
            </a:xfrm>
            <a:prstGeom prst="rect">
              <a:avLst/>
            </a:prstGeom>
          </p:spPr>
          <p:txBody>
            <a:bodyPr wrap="none">
              <a:spAutoFit/>
            </a:bodyPr>
            <a:lstStyle/>
            <a:p>
              <a:pPr>
                <a:lnSpc>
                  <a:spcPct val="120000"/>
                </a:lnSpc>
              </a:pP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填写下表</a:t>
              </a:r>
              <a:r>
                <a:rPr lang="en-US" altLang="zh-CN" i="1" dirty="0" smtClean="0">
                  <a:solidFill>
                    <a:srgbClr val="000000"/>
                  </a:solidFill>
                  <a:ea typeface="宋体" panose="02010600030101010101" pitchFamily="2" charset="-122"/>
                </a:rPr>
                <a:t>. </a:t>
              </a:r>
              <a:endParaRPr lang="zh-CN" altLang="en-US" dirty="0"/>
            </a:p>
          </p:txBody>
        </p:sp>
        <p:sp>
          <p:nvSpPr>
            <p:cNvPr id="7" name="矩形 6"/>
            <p:cNvSpPr>
              <a:spLocks noChangeAspect="1"/>
            </p:cNvSpPr>
            <p:nvPr/>
          </p:nvSpPr>
          <p:spPr>
            <a:xfrm>
              <a:off x="183741" y="3361451"/>
              <a:ext cx="11160125" cy="3046988"/>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请从以下四个不同的角度对这次测试进行分析</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从平均数和方差分析偏离程度</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从平均数和中位数分析谁的成绩好些</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从平均数和命中</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环及以上的次数分析谁的成绩好些</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宋体" panose="02010600030101010101" pitchFamily="2" charset="-122"/>
                  <a:cs typeface="宋体" panose="02010600030101010101" pitchFamily="2" charset="-122"/>
                </a:rPr>
                <a:t>④</a:t>
              </a:r>
              <a:r>
                <a:rPr lang="zh-CN" altLang="zh-CN" dirty="0">
                  <a:solidFill>
                    <a:srgbClr val="000000"/>
                  </a:solidFill>
                  <a:ea typeface="宋体" panose="02010600030101010101" pitchFamily="2" charset="-122"/>
                  <a:cs typeface="Times New Roman" panose="02020603050405020304" pitchFamily="18" charset="0"/>
                </a:rPr>
                <a:t>从折线图上两人射击命中环数及走势分析谁更有潜力</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aphicFrame>
        <p:nvGraphicFramePr>
          <p:cNvPr id="2" name="对象 1"/>
          <p:cNvGraphicFramePr>
            <a:graphicFrameLocks noChangeAspect="1"/>
          </p:cNvGraphicFramePr>
          <p:nvPr>
            <p:extLst>
              <p:ext uri="{D42A27DB-BD31-4B8C-83A1-F6EECF244321}">
                <p14:modId xmlns:p14="http://schemas.microsoft.com/office/powerpoint/2010/main" val="1407402205"/>
              </p:ext>
            </p:extLst>
          </p:nvPr>
        </p:nvGraphicFramePr>
        <p:xfrm>
          <a:off x="-133787" y="1174578"/>
          <a:ext cx="12038765" cy="2909941"/>
        </p:xfrm>
        <a:graphic>
          <a:graphicData uri="http://schemas.openxmlformats.org/presentationml/2006/ole">
            <mc:AlternateContent xmlns:mc="http://schemas.openxmlformats.org/markup-compatibility/2006">
              <mc:Choice xmlns:v="urn:schemas-microsoft-com:vml" Requires="v">
                <p:oleObj spid="_x0000_s23573" name="文档" r:id="rId4" imgW="3947136" imgH="954079" progId="Word.Document.12">
                  <p:embed/>
                </p:oleObj>
              </mc:Choice>
              <mc:Fallback>
                <p:oleObj name="文档" r:id="rId4" imgW="3947136" imgH="954079" progId="Word.Document.12">
                  <p:embed/>
                  <p:pic>
                    <p:nvPicPr>
                      <p:cNvPr id="0" name=""/>
                      <p:cNvPicPr/>
                      <p:nvPr/>
                    </p:nvPicPr>
                    <p:blipFill>
                      <a:blip r:embed="rId5"/>
                      <a:stretch>
                        <a:fillRect/>
                      </a:stretch>
                    </p:blipFill>
                    <p:spPr>
                      <a:xfrm>
                        <a:off x="-133787" y="1174578"/>
                        <a:ext cx="12038765" cy="2909941"/>
                      </a:xfrm>
                      <a:prstGeom prst="rect">
                        <a:avLst/>
                      </a:prstGeom>
                    </p:spPr>
                  </p:pic>
                </p:oleObj>
              </mc:Fallback>
            </mc:AlternateContent>
          </a:graphicData>
        </a:graphic>
      </p:graphicFrame>
    </p:spTree>
    <p:extLst>
      <p:ext uri="{BB962C8B-B14F-4D97-AF65-F5344CB8AC3E}">
        <p14:creationId xmlns:p14="http://schemas.microsoft.com/office/powerpoint/2010/main" val="3537415949"/>
      </p:ext>
    </p:extLst>
  </p:cSld>
  <p:clrMapOvr>
    <a:masterClrMapping/>
  </p:clrMapOvr>
  <p:transition spd="slow">
    <p:randomBar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73789"/>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由上图可知甲、乙射靶</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次命中的环数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根据中位数、平均数、方差的定义及计算公式可分别求得甲、乙两人的中位数、平均数及方差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通过比较它们的大小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可以分析出甲、乙两人成绩的偏离程度、集中趋势、成绩的好坏及有无潜力等问题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02138950"/>
      </p:ext>
    </p:extLst>
  </p:cSld>
  <p:clrMapOvr>
    <a:masterClrMapping/>
  </p:clrMapOvr>
  <p:transition spd="slow">
    <p:randomBar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914476433"/>
              </p:ext>
            </p:extLst>
          </p:nvPr>
        </p:nvGraphicFramePr>
        <p:xfrm>
          <a:off x="432445" y="619388"/>
          <a:ext cx="11671959" cy="2836723"/>
        </p:xfrm>
        <a:graphic>
          <a:graphicData uri="http://schemas.openxmlformats.org/presentationml/2006/ole">
            <mc:AlternateContent xmlns:mc="http://schemas.openxmlformats.org/markup-compatibility/2006">
              <mc:Choice xmlns:v="urn:schemas-microsoft-com:vml" Requires="v">
                <p:oleObj spid="_x0000_s24616" name="文档" r:id="rId4" imgW="3826872" imgH="930073" progId="Word.Document.12">
                  <p:embed/>
                </p:oleObj>
              </mc:Choice>
              <mc:Fallback>
                <p:oleObj name="文档" r:id="rId4" imgW="3826872" imgH="930073" progId="Word.Document.12">
                  <p:embed/>
                  <p:pic>
                    <p:nvPicPr>
                      <p:cNvPr id="0" name=""/>
                      <p:cNvPicPr/>
                      <p:nvPr/>
                    </p:nvPicPr>
                    <p:blipFill>
                      <a:blip r:embed="rId5"/>
                      <a:stretch>
                        <a:fillRect/>
                      </a:stretch>
                    </p:blipFill>
                    <p:spPr>
                      <a:xfrm>
                        <a:off x="432445" y="619388"/>
                        <a:ext cx="11671959" cy="2836723"/>
                      </a:xfrm>
                      <a:prstGeom prst="rect">
                        <a:avLst/>
                      </a:prstGeom>
                    </p:spPr>
                  </p:pic>
                </p:oleObj>
              </mc:Fallback>
            </mc:AlternateContent>
          </a:graphicData>
        </a:graphic>
      </p:graphicFrame>
      <p:sp>
        <p:nvSpPr>
          <p:cNvPr id="4" name="矩形 3"/>
          <p:cNvSpPr>
            <a:spLocks noChangeAspect="1"/>
          </p:cNvSpPr>
          <p:nvPr/>
        </p:nvSpPr>
        <p:spPr>
          <a:xfrm>
            <a:off x="361950" y="3292431"/>
            <a:ext cx="10807700" cy="1217641"/>
          </a:xfrm>
          <a:prstGeom prst="rect">
            <a:avLst/>
          </a:prstGeom>
        </p:spPr>
        <p:txBody>
          <a:bodyPr>
            <a:spAutoFit/>
          </a:bodyPr>
          <a:lstStyle/>
          <a:p>
            <a:pPr>
              <a:lnSpc>
                <a:spcPct val="120000"/>
              </a:lnSpc>
            </a:pPr>
            <a:r>
              <a:rPr lang="zh-CN" altLang="zh-CN" dirty="0">
                <a:solidFill>
                  <a:srgbClr val="000000"/>
                </a:solidFill>
                <a:ea typeface="楷体" panose="02010609060101010101" pitchFamily="49" charset="-122"/>
                <a:cs typeface="Times New Roman" panose="02020603050405020304" pitchFamily="18" charset="0"/>
              </a:rPr>
              <a:t>甲的射靶环数按从小到大的顺序排列为</a:t>
            </a:r>
            <a:r>
              <a:rPr lang="en-US" altLang="zh-CN" dirty="0">
                <a:solidFill>
                  <a:srgbClr val="000000"/>
                </a:solidFill>
                <a:ea typeface="宋体" panose="02010600030101010101" pitchFamily="2" charset="-122"/>
              </a:rPr>
              <a:t>5,6,6,7,7,7,7,8,8,9</a:t>
            </a:r>
            <a:r>
              <a:rPr lang="en-US" altLang="zh-CN" dirty="0" smtClean="0">
                <a:solidFill>
                  <a:srgbClr val="000000"/>
                </a:solidFill>
                <a:ea typeface="宋体" panose="02010600030101010101" pitchFamily="2" charset="-122"/>
              </a:rPr>
              <a:t>,</a:t>
            </a:r>
          </a:p>
          <a:p>
            <a:pPr>
              <a:lnSpc>
                <a:spcPct val="120000"/>
              </a:lnSpc>
            </a:pPr>
            <a:r>
              <a:rPr lang="zh-CN" altLang="zh-CN" dirty="0" smtClean="0">
                <a:solidFill>
                  <a:srgbClr val="000000"/>
                </a:solidFill>
                <a:ea typeface="楷体" panose="02010609060101010101" pitchFamily="49" charset="-122"/>
                <a:cs typeface="Times New Roman" panose="02020603050405020304" pitchFamily="18" charset="0"/>
              </a:rPr>
              <a:t>所以</a:t>
            </a:r>
            <a:r>
              <a:rPr lang="zh-CN" altLang="zh-CN" dirty="0">
                <a:solidFill>
                  <a:srgbClr val="000000"/>
                </a:solidFill>
                <a:ea typeface="楷体" panose="02010609060101010101" pitchFamily="49" charset="-122"/>
                <a:cs typeface="Times New Roman" panose="02020603050405020304" pitchFamily="18" charset="0"/>
              </a:rPr>
              <a:t>中位数为</a:t>
            </a:r>
            <a:r>
              <a:rPr lang="en-US" altLang="zh-CN" dirty="0">
                <a:solidFill>
                  <a:srgbClr val="000000"/>
                </a:solidFill>
                <a:ea typeface="宋体" panose="02010600030101010101" pitchFamily="2" charset="-122"/>
              </a:rPr>
              <a:t>7</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于是填充后的表格如下表所示</a:t>
            </a:r>
            <a:r>
              <a:rPr lang="en-US" altLang="zh-CN" i="1" dirty="0">
                <a:solidFill>
                  <a:srgbClr val="000000"/>
                </a:solidFill>
                <a:ea typeface="宋体" panose="02010600030101010101" pitchFamily="2" charset="-122"/>
              </a:rPr>
              <a:t>.</a:t>
            </a:r>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3495991824"/>
              </p:ext>
            </p:extLst>
          </p:nvPr>
        </p:nvGraphicFramePr>
        <p:xfrm>
          <a:off x="-163616" y="4460327"/>
          <a:ext cx="11878496" cy="2547024"/>
        </p:xfrm>
        <a:graphic>
          <a:graphicData uri="http://schemas.openxmlformats.org/presentationml/2006/ole">
            <mc:AlternateContent xmlns:mc="http://schemas.openxmlformats.org/markup-compatibility/2006">
              <mc:Choice xmlns:v="urn:schemas-microsoft-com:vml" Requires="v">
                <p:oleObj spid="_x0000_s24617" name="文档" r:id="rId7" imgW="3894589" imgH="835090" progId="Word.Document.12">
                  <p:embed/>
                </p:oleObj>
              </mc:Choice>
              <mc:Fallback>
                <p:oleObj name="文档" r:id="rId7" imgW="3894589" imgH="835090" progId="Word.Document.12">
                  <p:embed/>
                  <p:pic>
                    <p:nvPicPr>
                      <p:cNvPr id="0" name=""/>
                      <p:cNvPicPr/>
                      <p:nvPr/>
                    </p:nvPicPr>
                    <p:blipFill>
                      <a:blip r:embed="rId8"/>
                      <a:stretch>
                        <a:fillRect/>
                      </a:stretch>
                    </p:blipFill>
                    <p:spPr>
                      <a:xfrm>
                        <a:off x="-163616" y="4460327"/>
                        <a:ext cx="11878496" cy="2547024"/>
                      </a:xfrm>
                      <a:prstGeom prst="rect">
                        <a:avLst/>
                      </a:prstGeom>
                    </p:spPr>
                  </p:pic>
                </p:oleObj>
              </mc:Fallback>
            </mc:AlternateContent>
          </a:graphicData>
        </a:graphic>
      </p:graphicFrame>
    </p:spTree>
    <p:extLst>
      <p:ext uri="{BB962C8B-B14F-4D97-AF65-F5344CB8AC3E}">
        <p14:creationId xmlns:p14="http://schemas.microsoft.com/office/powerpoint/2010/main" val="2719241742"/>
      </p:ext>
    </p:extLst>
  </p:cSld>
  <p:clrMapOvr>
    <a:masterClrMapping/>
  </p:clrMapOvr>
  <p:transition spd="slow">
    <p:randomBar dir="ver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905468"/>
            <a:ext cx="12337551" cy="4819781"/>
            <a:chOff x="361950" y="853124"/>
            <a:chExt cx="12337551" cy="4819781"/>
          </a:xfrm>
        </p:grpSpPr>
        <p:sp>
          <p:nvSpPr>
            <p:cNvPr id="6" name="矩形 5"/>
            <p:cNvSpPr>
              <a:spLocks noChangeAspect="1"/>
            </p:cNvSpPr>
            <p:nvPr/>
          </p:nvSpPr>
          <p:spPr>
            <a:xfrm>
              <a:off x="361950" y="853124"/>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甲、乙的平均数相同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均为</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smtClean="0">
                  <a:solidFill>
                    <a:srgbClr val="000000"/>
                  </a:solidFill>
                  <a:ea typeface="楷体" panose="02010609060101010101" pitchFamily="49" charset="-122"/>
                  <a:cs typeface="Times New Roman" panose="02020603050405020304" pitchFamily="18" charset="0"/>
                </a:rPr>
                <a:t>但</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说明甲偏离平均数的程度小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而乙偏离平均数的程度大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甲、乙平均水平相同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而乙的中位数比甲大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可见乙射靶环数的优秀次数比甲多</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甲、乙平均水平相同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而乙命中</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环及以上的次数比甲多</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可见乙的射靶成绩比甲好</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宋体" panose="02010600030101010101" pitchFamily="2" charset="-122"/>
                  <a:cs typeface="宋体" panose="02010600030101010101" pitchFamily="2" charset="-122"/>
                </a:rPr>
                <a:t>④</a:t>
              </a:r>
              <a:r>
                <a:rPr lang="zh-CN" altLang="zh-CN" dirty="0">
                  <a:solidFill>
                    <a:srgbClr val="000000"/>
                  </a:solidFill>
                  <a:ea typeface="楷体" panose="02010609060101010101" pitchFamily="49" charset="-122"/>
                  <a:cs typeface="Times New Roman" panose="02020603050405020304" pitchFamily="18" charset="0"/>
                </a:rPr>
                <a:t>从折线图上看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乙的成绩呈上升趋势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而甲的成绩在平均线上下波动不大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说明乙的状态在提升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有潜力可挖</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233481180"/>
                </p:ext>
              </p:extLst>
            </p:nvPr>
          </p:nvGraphicFramePr>
          <p:xfrm>
            <a:off x="2088629" y="853124"/>
            <a:ext cx="10610872" cy="627770"/>
          </p:xfrm>
          <a:graphic>
            <a:graphicData uri="http://schemas.openxmlformats.org/presentationml/2006/ole">
              <mc:AlternateContent xmlns:mc="http://schemas.openxmlformats.org/markup-compatibility/2006">
                <mc:Choice xmlns:v="urn:schemas-microsoft-com:vml" Requires="v">
                  <p:oleObj spid="_x0000_s25621" name="文档" r:id="rId4" imgW="3826872" imgH="226409" progId="Word.Document.12">
                    <p:embed/>
                  </p:oleObj>
                </mc:Choice>
                <mc:Fallback>
                  <p:oleObj name="文档" r:id="rId4" imgW="3826872" imgH="226409" progId="Word.Document.12">
                    <p:embed/>
                    <p:pic>
                      <p:nvPicPr>
                        <p:cNvPr id="0" name=""/>
                        <p:cNvPicPr/>
                        <p:nvPr/>
                      </p:nvPicPr>
                      <p:blipFill>
                        <a:blip r:embed="rId5"/>
                        <a:stretch>
                          <a:fillRect/>
                        </a:stretch>
                      </p:blipFill>
                      <p:spPr>
                        <a:xfrm>
                          <a:off x="2088629" y="853124"/>
                          <a:ext cx="10610872" cy="627770"/>
                        </a:xfrm>
                        <a:prstGeom prst="rect">
                          <a:avLst/>
                        </a:prstGeom>
                      </p:spPr>
                    </p:pic>
                  </p:oleObj>
                </mc:Fallback>
              </mc:AlternateContent>
            </a:graphicData>
          </a:graphic>
        </p:graphicFrame>
      </p:grpSp>
    </p:spTree>
    <p:extLst>
      <p:ext uri="{BB962C8B-B14F-4D97-AF65-F5344CB8AC3E}">
        <p14:creationId xmlns:p14="http://schemas.microsoft.com/office/powerpoint/2010/main" val="1004390740"/>
      </p:ext>
    </p:extLst>
  </p:cSld>
  <p:clrMapOvr>
    <a:masterClrMapping/>
  </p:clrMapOvr>
  <p:transition spd="slow">
    <p:randomBar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670647"/>
            <a:ext cx="10807700" cy="5792854"/>
            <a:chOff x="361950" y="670647"/>
            <a:chExt cx="10807700" cy="5792854"/>
          </a:xfrm>
        </p:grpSpPr>
        <p:pic>
          <p:nvPicPr>
            <p:cNvPr id="5" name="反思感悟H.eps" descr="id:2147490797;FounderCES"/>
            <p:cNvPicPr/>
            <p:nvPr/>
          </p:nvPicPr>
          <p:blipFill>
            <a:blip r:embed="rId2"/>
            <a:stretch>
              <a:fillRect/>
            </a:stretch>
          </p:blipFill>
          <p:spPr>
            <a:xfrm>
              <a:off x="361950" y="670647"/>
              <a:ext cx="2259558" cy="531552"/>
            </a:xfrm>
            <a:prstGeom prst="rect">
              <a:avLst/>
            </a:prstGeom>
          </p:spPr>
        </p:pic>
        <p:sp>
          <p:nvSpPr>
            <p:cNvPr id="2" name="矩形 1"/>
            <p:cNvSpPr>
              <a:spLocks noChangeAspect="1"/>
            </p:cNvSpPr>
            <p:nvPr/>
          </p:nvSpPr>
          <p:spPr>
            <a:xfrm>
              <a:off x="361950" y="1109343"/>
              <a:ext cx="10807700" cy="535415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本例由图转化成数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由数填表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由表读数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体现了转化与化归思想</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平均数、中位数和众数从不同角度刻画了数据的集中趋势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极差、方差和标准差刻画了数据的离散程度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一组数据的方差或标准差越大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说明这组数据的离散程度越大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在实际问题中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仅靠平均数不能完全反映问题还要研究标准差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平均数和标准差一起能反映数据取值的更多信息</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通过样本数据落在以平均数为中心、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倍或</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倍标准差的范围内的个数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估计总体数据的分布规律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646364756"/>
      </p:ext>
    </p:extLst>
  </p:cSld>
  <p:clrMapOvr>
    <a:masterClrMapping/>
  </p:clrMapOvr>
  <p:transition spd="slow">
    <p:randomBar dir="vert"/>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540980"/>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从高三年级抽出</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宋体" panose="02010600030101010101" pitchFamily="2" charset="-122"/>
                <a:cs typeface="Times New Roman" panose="02020603050405020304" pitchFamily="18" charset="0"/>
              </a:rPr>
              <a:t>名学生参加数学竞赛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由成绩得到频率分布直方图如图所示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由于一些数据丢失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试利用频率分布直方图估计</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这</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宋体" panose="02010600030101010101" pitchFamily="2" charset="-122"/>
                <a:cs typeface="Times New Roman" panose="02020603050405020304" pitchFamily="18" charset="0"/>
              </a:rPr>
              <a:t>名学生成绩的众数与中位数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除不尽的精确到</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这</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宋体" panose="02010600030101010101" pitchFamily="2" charset="-122"/>
                <a:cs typeface="Times New Roman" panose="02020603050405020304" pitchFamily="18" charset="0"/>
              </a:rPr>
              <a:t>名学生的平均成绩</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NMG2TRA05.eps" descr="id:2147502637;FounderCES"/>
          <p:cNvPicPr/>
          <p:nvPr/>
        </p:nvPicPr>
        <p:blipFill>
          <a:blip r:embed="rId2"/>
          <a:stretch>
            <a:fillRect/>
          </a:stretch>
        </p:blipFill>
        <p:spPr>
          <a:xfrm>
            <a:off x="3096741" y="1727918"/>
            <a:ext cx="5112568" cy="2961881"/>
          </a:xfrm>
          <a:prstGeom prst="rect">
            <a:avLst/>
          </a:prstGeom>
        </p:spPr>
      </p:pic>
    </p:spTree>
    <p:extLst>
      <p:ext uri="{BB962C8B-B14F-4D97-AF65-F5344CB8AC3E}">
        <p14:creationId xmlns:p14="http://schemas.microsoft.com/office/powerpoint/2010/main" val="58244718"/>
      </p:ext>
    </p:extLst>
  </p:cSld>
  <p:clrMapOvr>
    <a:masterClrMapping/>
  </p:clrMapOvr>
  <p:transition spd="slow">
    <p:randomBar dir="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575791"/>
            <a:ext cx="13863785" cy="5945089"/>
            <a:chOff x="361950" y="575791"/>
            <a:chExt cx="13863785" cy="5945089"/>
          </a:xfrm>
        </p:grpSpPr>
        <p:sp>
          <p:nvSpPr>
            <p:cNvPr id="3" name="矩形 2"/>
            <p:cNvSpPr>
              <a:spLocks noChangeAspect="1"/>
            </p:cNvSpPr>
            <p:nvPr/>
          </p:nvSpPr>
          <p:spPr>
            <a:xfrm>
              <a:off x="361950" y="575791"/>
              <a:ext cx="10807700" cy="594508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在频率分布直方图中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最高矩形的高是</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03,</a:t>
              </a:r>
              <a:r>
                <a:rPr lang="zh-CN" altLang="zh-CN" dirty="0">
                  <a:solidFill>
                    <a:srgbClr val="000000"/>
                  </a:solidFill>
                  <a:ea typeface="楷体" panose="02010609060101010101" pitchFamily="49" charset="-122"/>
                  <a:cs typeface="Times New Roman" panose="02020603050405020304" pitchFamily="18" charset="0"/>
                </a:rPr>
                <a:t>其底边中点的横坐标是</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故估计这</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楷体" panose="02010609060101010101" pitchFamily="49" charset="-122"/>
                  <a:cs typeface="Times New Roman" panose="02020603050405020304" pitchFamily="18" charset="0"/>
                </a:rPr>
                <a:t>名学生成绩的众数为</a:t>
              </a:r>
              <a:r>
                <a:rPr lang="en-US" altLang="zh-CN" dirty="0">
                  <a:solidFill>
                    <a:srgbClr val="000000"/>
                  </a:solidFill>
                  <a:ea typeface="宋体" panose="02010600030101010101" pitchFamily="2" charset="-122"/>
                  <a:cs typeface="Times New Roman" panose="02020603050405020304" pitchFamily="18" charset="0"/>
                </a:rPr>
                <a:t>75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在频率分布直方图中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中位数左边和右边的直方图的面积相等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都等于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从左向右数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前三个小矩形面积的和为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第四个小矩形面积为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则前四个小矩形面积的和为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所以</a:t>
              </a:r>
              <a:r>
                <a:rPr lang="zh-CN" altLang="zh-CN" dirty="0">
                  <a:solidFill>
                    <a:srgbClr val="000000"/>
                  </a:solidFill>
                  <a:ea typeface="楷体" panose="02010609060101010101" pitchFamily="49" charset="-122"/>
                  <a:cs typeface="Times New Roman" panose="02020603050405020304" pitchFamily="18" charset="0"/>
                </a:rPr>
                <a:t>中位数位于第四分组内</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设中位数为</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70)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≈76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故估计这</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楷体" panose="02010609060101010101" pitchFamily="49" charset="-122"/>
                  <a:cs typeface="Times New Roman" panose="02020603050405020304" pitchFamily="18" charset="0"/>
                </a:rPr>
                <a:t>名学生成绩的中位数为</a:t>
              </a:r>
              <a:r>
                <a:rPr lang="en-US" altLang="zh-CN" dirty="0">
                  <a:solidFill>
                    <a:srgbClr val="000000"/>
                  </a:solidFill>
                  <a:ea typeface="宋体" panose="02010600030101010101" pitchFamily="2" charset="-122"/>
                  <a:cs typeface="Times New Roman" panose="02020603050405020304" pitchFamily="18" charset="0"/>
                </a:rPr>
                <a:t>76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994600843"/>
                </p:ext>
              </p:extLst>
            </p:nvPr>
          </p:nvGraphicFramePr>
          <p:xfrm>
            <a:off x="2520677" y="1141695"/>
            <a:ext cx="11705058" cy="725836"/>
          </p:xfrm>
          <a:graphic>
            <a:graphicData uri="http://schemas.openxmlformats.org/presentationml/2006/ole">
              <mc:AlternateContent xmlns:mc="http://schemas.openxmlformats.org/markup-compatibility/2006">
                <mc:Choice xmlns:v="urn:schemas-microsoft-com:vml" Requires="v">
                  <p:oleObj spid="_x0000_s39947" name="文档" r:id="rId4" imgW="3837724" imgH="237979" progId="Word.Document.12">
                    <p:embed/>
                  </p:oleObj>
                </mc:Choice>
                <mc:Fallback>
                  <p:oleObj name="文档" r:id="rId4" imgW="3837724" imgH="237979" progId="Word.Document.12">
                    <p:embed/>
                    <p:pic>
                      <p:nvPicPr>
                        <p:cNvPr id="0" name=""/>
                        <p:cNvPicPr/>
                        <p:nvPr/>
                      </p:nvPicPr>
                      <p:blipFill>
                        <a:blip r:embed="rId5"/>
                        <a:stretch>
                          <a:fillRect/>
                        </a:stretch>
                      </p:blipFill>
                      <p:spPr>
                        <a:xfrm>
                          <a:off x="2520677" y="1141695"/>
                          <a:ext cx="11705058" cy="725836"/>
                        </a:xfrm>
                        <a:prstGeom prst="rect">
                          <a:avLst/>
                        </a:prstGeom>
                      </p:spPr>
                    </p:pic>
                  </p:oleObj>
                </mc:Fallback>
              </mc:AlternateContent>
            </a:graphicData>
          </a:graphic>
        </p:graphicFrame>
      </p:grpSp>
    </p:spTree>
    <p:extLst>
      <p:ext uri="{BB962C8B-B14F-4D97-AF65-F5344CB8AC3E}">
        <p14:creationId xmlns:p14="http://schemas.microsoft.com/office/powerpoint/2010/main" val="2048833348"/>
      </p:ext>
    </p:extLst>
  </p:cSld>
  <p:clrMapOvr>
    <a:masterClrMapping/>
  </p:clrMapOvr>
  <p:transition spd="slow">
    <p:randomBar dir="ver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73789"/>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取每个小矩形底边中点的横坐标乘以小矩形的面积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求和</a:t>
            </a:r>
            <a:r>
              <a:rPr lang="zh-CN" altLang="zh-CN" dirty="0" smtClean="0">
                <a:solidFill>
                  <a:srgbClr val="000000"/>
                </a:solidFill>
                <a:ea typeface="楷体" panose="02010609060101010101" pitchFamily="49" charset="-122"/>
                <a:cs typeface="Times New Roman" panose="02020603050405020304" pitchFamily="18" charset="0"/>
              </a:rPr>
              <a:t>为</a:t>
            </a:r>
            <a:r>
              <a:rPr lang="en-US" altLang="zh-CN" dirty="0" smtClean="0">
                <a:solidFill>
                  <a:srgbClr val="000000"/>
                </a:solidFill>
                <a:ea typeface="宋体" panose="02010600030101010101" pitchFamily="2" charset="-122"/>
                <a:cs typeface="Times New Roman" panose="02020603050405020304" pitchFamily="18" charset="0"/>
              </a:rPr>
              <a:t>45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004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55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006</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65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75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85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024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95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016</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76</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ea typeface="楷体" panose="02010609060101010101" pitchFamily="49" charset="-122"/>
                <a:cs typeface="Times New Roman" panose="02020603050405020304" pitchFamily="18" charset="0"/>
              </a:rPr>
              <a:t>估计这</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楷体" panose="02010609060101010101" pitchFamily="49" charset="-122"/>
                <a:cs typeface="Times New Roman" panose="02020603050405020304" pitchFamily="18" charset="0"/>
              </a:rPr>
              <a:t>名学生的平均成绩为</a:t>
            </a:r>
            <a:r>
              <a:rPr lang="en-US" altLang="zh-CN" dirty="0">
                <a:solidFill>
                  <a:srgbClr val="000000"/>
                </a:solidFill>
                <a:ea typeface="宋体" panose="02010600030101010101" pitchFamily="2" charset="-122"/>
                <a:cs typeface="Times New Roman" panose="02020603050405020304" pitchFamily="18" charset="0"/>
              </a:rPr>
              <a:t>76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26668826"/>
      </p:ext>
    </p:extLst>
  </p:cSld>
  <p:clrMapOvr>
    <a:masterClrMapping/>
  </p:clrMapOvr>
  <p:transition spd="slow">
    <p:randomBar dir="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729639"/>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设中位数在第四个小矩形内的底边长为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高为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03,</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故中位数约为</a:t>
            </a:r>
            <a:r>
              <a:rPr lang="en-US" altLang="zh-CN" dirty="0">
                <a:solidFill>
                  <a:srgbClr val="000000"/>
                </a:solidFill>
                <a:ea typeface="宋体" panose="02010600030101010101" pitchFamily="2" charset="-122"/>
                <a:cs typeface="Times New Roman" panose="02020603050405020304" pitchFamily="18" charset="0"/>
              </a:rPr>
              <a:t>70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样本平均值应是频率分布直方图的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重心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即所有数据的平均值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取每个小矩形底边的中点值乘以每个小矩形的面积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求和即可</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因此平均成绩为</a:t>
            </a:r>
            <a:r>
              <a:rPr lang="en-US" altLang="zh-CN" dirty="0">
                <a:solidFill>
                  <a:srgbClr val="000000"/>
                </a:solidFill>
                <a:ea typeface="宋体" panose="02010600030101010101" pitchFamily="2" charset="-122"/>
                <a:cs typeface="Times New Roman" panose="02020603050405020304" pitchFamily="18" charset="0"/>
              </a:rPr>
              <a:t>45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016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10)≈74</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23566618"/>
      </p:ext>
    </p:extLst>
  </p:cSld>
  <p:clrMapOvr>
    <a:masterClrMapping/>
  </p:clrMapOvr>
  <p:transition spd="slow">
    <p:randomBar dir="ver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69031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考点一</a:t>
            </a:r>
            <a:r>
              <a:rPr lang="zh-CN" altLang="zh-CN" i="1" dirty="0"/>
              <a:t>　</a:t>
            </a:r>
            <a:r>
              <a:rPr lang="zh-CN" altLang="zh-CN" dirty="0"/>
              <a:t>总体取值规律与百分位数的估计</a:t>
            </a:r>
          </a:p>
        </p:txBody>
      </p:sp>
      <p:sp>
        <p:nvSpPr>
          <p:cNvPr id="3" name="矩形 2"/>
          <p:cNvSpPr>
            <a:spLocks noChangeAspect="1"/>
          </p:cNvSpPr>
          <p:nvPr/>
        </p:nvSpPr>
        <p:spPr>
          <a:xfrm>
            <a:off x="361950" y="1295871"/>
            <a:ext cx="10807700" cy="186512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(2021·</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Ⅱ</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为了解某地农村经济情况</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对该地农户家庭年收入进行抽样调查</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将农户家庭年收入的调查数据整理得到如下频率分布直方图</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pic>
        <p:nvPicPr>
          <p:cNvPr id="7" name="22T36.eps" descr="id:2147537567;FounderCES"/>
          <p:cNvPicPr/>
          <p:nvPr/>
        </p:nvPicPr>
        <p:blipFill>
          <a:blip r:embed="rId2"/>
          <a:stretch>
            <a:fillRect/>
          </a:stretch>
        </p:blipFill>
        <p:spPr>
          <a:xfrm>
            <a:off x="2160637" y="3086239"/>
            <a:ext cx="6984776" cy="3231603"/>
          </a:xfrm>
          <a:prstGeom prst="rect">
            <a:avLst/>
          </a:prstGeom>
        </p:spPr>
      </p:pic>
    </p:spTree>
    <p:extLst>
      <p:ext uri="{BB962C8B-B14F-4D97-AF65-F5344CB8AC3E}">
        <p14:creationId xmlns:p14="http://schemas.microsoft.com/office/powerpoint/2010/main" val="4031888606"/>
      </p:ext>
    </p:extLst>
  </p:cSld>
  <p:clrMapOvr>
    <a:masterClrMapping/>
  </p:clrMapOvr>
  <p:transition spd="slow">
    <p:randomBar dir="ver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095877"/>
            <a:ext cx="10807700" cy="418993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根据此频率分布直方图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下面结论中不正确的是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该地农户家庭年收入低于</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万元的农户比率估计为</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该地农户家庭年收入不低于</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万元的农户比率估计为</a:t>
            </a:r>
            <a:r>
              <a:rPr lang="en-US" altLang="zh-CN" dirty="0">
                <a:solidFill>
                  <a:srgbClr val="000000"/>
                </a:solidFill>
                <a:ea typeface="宋体" panose="02010600030101010101" pitchFamily="2" charset="-122"/>
                <a:cs typeface="Times New Roman" panose="02020603050405020304" pitchFamily="18" charset="0"/>
              </a:rPr>
              <a:t>10%</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估计该地农户家庭年收入的平均值不超过</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万元</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估计该地有一半以上的农户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其家庭年收入介于</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万元至</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万元之间</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924088794"/>
      </p:ext>
    </p:extLst>
  </p:cSld>
  <p:clrMapOvr>
    <a:masterClrMapping/>
  </p:clrMapOvr>
  <p:transition spd="slow">
    <p:randomBar dir="vert"/>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56127"/>
            <a:ext cx="10807700" cy="596272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该</a:t>
            </a:r>
            <a:r>
              <a:rPr lang="zh-CN" altLang="zh-CN" dirty="0">
                <a:solidFill>
                  <a:srgbClr val="000000"/>
                </a:solidFill>
                <a:ea typeface="楷体" panose="02010609060101010101" pitchFamily="49" charset="-122"/>
                <a:cs typeface="Times New Roman" panose="02020603050405020304" pitchFamily="18" charset="0"/>
              </a:rPr>
              <a:t>地农户家庭年收入低于</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万元的农户比率估计为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该地农户家庭年收入不低于</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万元的农户比率估计为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10%,B</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估计该地农户家庭年收入的平均值为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68,C</a:t>
            </a:r>
            <a:r>
              <a:rPr lang="zh-CN" altLang="zh-CN" dirty="0">
                <a:solidFill>
                  <a:srgbClr val="000000"/>
                </a:solidFill>
                <a:ea typeface="楷体" panose="02010609060101010101" pitchFamily="49" charset="-122"/>
                <a:cs typeface="Times New Roman" panose="02020603050405020304" pitchFamily="18" charset="0"/>
              </a:rPr>
              <a:t>不正确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估计该地农户家庭年收入介于</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万元至</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万元之间的比率为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64%,D</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答案</a:t>
            </a:r>
            <a:r>
              <a:rPr lang="en-US" altLang="zh-CN" dirty="0" smtClean="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31968595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719807"/>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2020·</a:t>
            </a:r>
            <a:r>
              <a:rPr lang="zh-CN" altLang="zh-CN" dirty="0">
                <a:solidFill>
                  <a:srgbClr val="000000"/>
                </a:solidFill>
                <a:ea typeface="楷体" panose="02010609060101010101" pitchFamily="49" charset="-122"/>
                <a:cs typeface="Times New Roman" panose="02020603050405020304" pitchFamily="18" charset="0"/>
              </a:rPr>
              <a:t>天津高考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从一批零件中抽取</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测量其直径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smtClean="0">
                <a:solidFill>
                  <a:srgbClr val="000000"/>
                </a:solidFill>
                <a:ea typeface="宋体" panose="02010600030101010101" pitchFamily="2" charset="-122"/>
                <a:cs typeface="Times New Roman" panose="02020603050405020304" pitchFamily="18" charset="0"/>
              </a:rPr>
              <a:t>: mm</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将所得数据分为</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组</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31,5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33),[5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33,5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35</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45,5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47),[5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47,5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49],</a:t>
            </a:r>
            <a:r>
              <a:rPr lang="zh-CN" altLang="zh-CN" dirty="0">
                <a:solidFill>
                  <a:srgbClr val="000000"/>
                </a:solidFill>
                <a:ea typeface="宋体" panose="02010600030101010101" pitchFamily="2" charset="-122"/>
                <a:cs typeface="Times New Roman" panose="02020603050405020304" pitchFamily="18" charset="0"/>
              </a:rPr>
              <a:t>并整理得到如下频率分布直方图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则在被抽取的零件中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直径落在区间</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43,5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47)</a:t>
            </a:r>
            <a:r>
              <a:rPr lang="zh-CN" altLang="zh-CN" dirty="0">
                <a:solidFill>
                  <a:srgbClr val="000000"/>
                </a:solidFill>
                <a:ea typeface="宋体" panose="02010600030101010101" pitchFamily="2" charset="-122"/>
                <a:cs typeface="Times New Roman" panose="02020603050405020304" pitchFamily="18" charset="0"/>
              </a:rPr>
              <a:t>内的个数为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 </a:t>
            </a:r>
            <a:r>
              <a:rPr lang="zh-CN" altLang="zh-CN" i="1"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A.10	</a:t>
            </a:r>
            <a:r>
              <a:rPr lang="en-US" altLang="zh-CN" dirty="0" smtClean="0">
                <a:solidFill>
                  <a:srgbClr val="000000"/>
                </a:solidFill>
                <a:ea typeface="宋体" panose="02010600030101010101" pitchFamily="2" charset="-122"/>
                <a:cs typeface="Times New Roman" panose="02020603050405020304" pitchFamily="18" charset="0"/>
              </a:rPr>
              <a:t>	B.18</a:t>
            </a: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C.20</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D.36</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6" name="21C114.eps" descr="id:2147503013;FounderCES"/>
          <p:cNvPicPr/>
          <p:nvPr/>
        </p:nvPicPr>
        <p:blipFill>
          <a:blip r:embed="rId2"/>
          <a:stretch>
            <a:fillRect/>
          </a:stretch>
        </p:blipFill>
        <p:spPr>
          <a:xfrm>
            <a:off x="4896941" y="3168079"/>
            <a:ext cx="4752528" cy="2874220"/>
          </a:xfrm>
          <a:prstGeom prst="rect">
            <a:avLst/>
          </a:prstGeom>
        </p:spPr>
      </p:pic>
    </p:spTree>
    <p:extLst>
      <p:ext uri="{BB962C8B-B14F-4D97-AF65-F5344CB8AC3E}">
        <p14:creationId xmlns:p14="http://schemas.microsoft.com/office/powerpoint/2010/main" val="1938522326"/>
      </p:ext>
    </p:extLst>
  </p:cSld>
  <p:clrMapOvr>
    <a:masterClrMapping/>
  </p:clrMapOvr>
  <p:transition spd="slow">
    <p:randomBar dir="vert"/>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2023033"/>
            <a:ext cx="10807700" cy="186512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在区间</a:t>
            </a:r>
            <a:r>
              <a:rPr lang="en-US" altLang="zh-CN" dirty="0">
                <a:solidFill>
                  <a:srgbClr val="000000"/>
                </a:solidFill>
                <a:latin typeface="+mn-lt"/>
                <a:ea typeface="宋体" panose="02010600030101010101" pitchFamily="2" charset="-122"/>
                <a:cs typeface="Times New Roman" panose="02020603050405020304" pitchFamily="18" charset="0"/>
              </a:rPr>
              <a:t>[5</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43,5</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47</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en-US" dirty="0">
                <a:solidFill>
                  <a:srgbClr val="000000"/>
                </a:solidFill>
                <a:ea typeface="楷体" panose="02010609060101010101" pitchFamily="49" charset="-122"/>
                <a:cs typeface="Times New Roman" panose="02020603050405020304" pitchFamily="18" charset="0"/>
              </a:rPr>
              <a:t>内</a:t>
            </a:r>
            <a:r>
              <a:rPr lang="zh-CN" altLang="zh-CN" dirty="0" smtClean="0">
                <a:solidFill>
                  <a:srgbClr val="000000"/>
                </a:solidFill>
                <a:latin typeface="+mn-lt"/>
                <a:ea typeface="楷体" panose="02010609060101010101" pitchFamily="49" charset="-122"/>
                <a:cs typeface="Times New Roman" panose="02020603050405020304" pitchFamily="18" charset="0"/>
              </a:rPr>
              <a:t>的频率</a:t>
            </a:r>
            <a:r>
              <a:rPr lang="zh-CN" altLang="zh-CN" dirty="0">
                <a:solidFill>
                  <a:srgbClr val="000000"/>
                </a:solidFill>
                <a:latin typeface="+mn-lt"/>
                <a:ea typeface="楷体" panose="02010609060101010101" pitchFamily="49" charset="-122"/>
                <a:cs typeface="Times New Roman" panose="02020603050405020304" pitchFamily="18" charset="0"/>
              </a:rPr>
              <a:t>为</a:t>
            </a:r>
            <a:r>
              <a:rPr lang="en-US" altLang="zh-CN" dirty="0">
                <a:solidFill>
                  <a:srgbClr val="000000"/>
                </a:solidFill>
                <a:latin typeface="+mn-lt"/>
                <a:ea typeface="宋体" panose="02010600030101010101" pitchFamily="2" charset="-122"/>
                <a:cs typeface="Times New Roman" panose="02020603050405020304" pitchFamily="18" charset="0"/>
              </a:rPr>
              <a:t>(6</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25</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5</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00)</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225</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i="1" dirty="0" smtClean="0">
                <a:solidFill>
                  <a:srgbClr val="000000"/>
                </a:solidFill>
                <a:latin typeface="+mn-lt"/>
                <a:ea typeface="宋体" panose="02010600030101010101" pitchFamily="2" charset="-122"/>
                <a:cs typeface="宋体" panose="02010600030101010101" pitchFamily="2" charset="-122"/>
              </a:rPr>
              <a:t>∴</a:t>
            </a:r>
            <a:r>
              <a:rPr lang="en-US" altLang="zh-CN" dirty="0" smtClean="0">
                <a:solidFill>
                  <a:srgbClr val="000000"/>
                </a:solidFill>
                <a:latin typeface="+mn-lt"/>
                <a:ea typeface="宋体" panose="02010600030101010101" pitchFamily="2" charset="-122"/>
                <a:cs typeface="Times New Roman" panose="02020603050405020304" pitchFamily="18" charset="0"/>
              </a:rPr>
              <a:t>0</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225</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80</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18</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故选</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7640801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72151"/>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(2018·</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Ⅰ</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某地区经过一年的新农村建设</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农村的经济收入增加了一倍</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实现翻番</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为更好地了解该地区农村的经济收入变化情况</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统计了该地区新农村建设前后农村的经济收入构成比例</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得到如下饼图</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pSp>
        <p:nvGrpSpPr>
          <p:cNvPr id="9" name="组合 8"/>
          <p:cNvGrpSpPr/>
          <p:nvPr/>
        </p:nvGrpSpPr>
        <p:grpSpPr>
          <a:xfrm>
            <a:off x="627757" y="3155186"/>
            <a:ext cx="10101832" cy="2883381"/>
            <a:chOff x="576461" y="3669074"/>
            <a:chExt cx="10101832" cy="2883381"/>
          </a:xfrm>
        </p:grpSpPr>
        <p:pic>
          <p:nvPicPr>
            <p:cNvPr id="4" name="NMG2TRA06.eps" descr="id:2147502651;FounderCES"/>
            <p:cNvPicPr/>
            <p:nvPr/>
          </p:nvPicPr>
          <p:blipFill>
            <a:blip r:embed="rId2"/>
            <a:stretch>
              <a:fillRect/>
            </a:stretch>
          </p:blipFill>
          <p:spPr>
            <a:xfrm>
              <a:off x="648469" y="3669074"/>
              <a:ext cx="4896544" cy="2306366"/>
            </a:xfrm>
            <a:prstGeom prst="rect">
              <a:avLst/>
            </a:prstGeom>
          </p:spPr>
        </p:pic>
        <p:pic>
          <p:nvPicPr>
            <p:cNvPr id="5" name="NMG2TRA07.eps" descr="id:2147502658;FounderCES"/>
            <p:cNvPicPr/>
            <p:nvPr/>
          </p:nvPicPr>
          <p:blipFill>
            <a:blip r:embed="rId3"/>
            <a:stretch>
              <a:fillRect/>
            </a:stretch>
          </p:blipFill>
          <p:spPr>
            <a:xfrm>
              <a:off x="5905053" y="3669074"/>
              <a:ext cx="4614291" cy="2306366"/>
            </a:xfrm>
            <a:prstGeom prst="rect">
              <a:avLst/>
            </a:prstGeom>
          </p:spPr>
        </p:pic>
        <p:sp>
          <p:nvSpPr>
            <p:cNvPr id="6" name="矩形 5"/>
            <p:cNvSpPr>
              <a:spLocks noChangeAspect="1"/>
            </p:cNvSpPr>
            <p:nvPr/>
          </p:nvSpPr>
          <p:spPr>
            <a:xfrm>
              <a:off x="576461" y="5869191"/>
              <a:ext cx="4818948" cy="683264"/>
            </a:xfrm>
            <a:prstGeom prst="rect">
              <a:avLst/>
            </a:prstGeom>
          </p:spPr>
          <p:txBody>
            <a:bodyPr wrap="none">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建设前经济收入构成</a:t>
              </a:r>
              <a:r>
                <a:rPr lang="zh-CN" altLang="zh-CN" dirty="0" smtClean="0">
                  <a:solidFill>
                    <a:srgbClr val="000000"/>
                  </a:solidFill>
                  <a:ea typeface="楷体" panose="02010609060101010101" pitchFamily="49" charset="-122"/>
                  <a:cs typeface="Times New Roman" panose="02020603050405020304" pitchFamily="18" charset="0"/>
                </a:rPr>
                <a:t>比例</a:t>
              </a:r>
              <a:r>
                <a:rPr lang="en-US" altLang="zh-CN" dirty="0" smtClean="0">
                  <a:solidFill>
                    <a:srgbClr val="000000"/>
                  </a:solidFill>
                  <a:ea typeface="楷体" panose="02010609060101010101" pitchFamily="49"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7" name="矩形 6"/>
            <p:cNvSpPr>
              <a:spLocks noChangeAspect="1"/>
            </p:cNvSpPr>
            <p:nvPr/>
          </p:nvSpPr>
          <p:spPr>
            <a:xfrm>
              <a:off x="5961937" y="5869191"/>
              <a:ext cx="4716356" cy="604781"/>
            </a:xfrm>
            <a:prstGeom prst="rect">
              <a:avLst/>
            </a:prstGeom>
          </p:spPr>
          <p:txBody>
            <a:bodyPr wrap="none">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建设后经济收入构成比例</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411966708"/>
      </p:ext>
    </p:extLst>
  </p:cSld>
  <p:clrMapOvr>
    <a:masterClrMapping/>
  </p:clrMapOvr>
  <p:transition spd="slow">
    <p:randomBar dir="vert"/>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a:spLocks noChangeAspect="1"/>
          </p:cNvSpPr>
          <p:nvPr/>
        </p:nvSpPr>
        <p:spPr>
          <a:xfrm>
            <a:off x="361950" y="1223863"/>
            <a:ext cx="10807700" cy="355943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则下面结论中不正确的是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新农村建设后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种植收入减少</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新农村建设后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其他收入增加了一倍以上</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新农村建设后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养殖收入增加了一倍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新农村建设后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养殖收入与第三产业收入的总和超过了经济收入的一半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86216365"/>
      </p:ext>
    </p:extLst>
  </p:cSld>
  <p:clrMapOvr>
    <a:masterClrMapping/>
  </p:clrMapOvr>
  <p:transition spd="slow">
    <p:randomBar dir="ver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a:spLocks noChangeAspect="1"/>
          </p:cNvSpPr>
          <p:nvPr/>
        </p:nvSpPr>
        <p:spPr>
          <a:xfrm>
            <a:off x="361950" y="1161687"/>
            <a:ext cx="10807700" cy="355943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设建设前经济收入为</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则建设后经济收入为</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建设前种植收入为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建设后种植收入为</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74,</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不正确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建设前的其他收入为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04,</a:t>
            </a:r>
            <a:r>
              <a:rPr lang="zh-CN" altLang="zh-CN" dirty="0">
                <a:solidFill>
                  <a:srgbClr val="000000"/>
                </a:solidFill>
                <a:ea typeface="楷体" panose="02010609060101010101" pitchFamily="49" charset="-122"/>
                <a:cs typeface="Times New Roman" panose="02020603050405020304" pitchFamily="18" charset="0"/>
              </a:rPr>
              <a:t>养殖收入为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建设后其他收入为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养殖收入为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B,C</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建设后养殖收入与第三产业收入的总和所占比例为</a:t>
            </a:r>
            <a:r>
              <a:rPr lang="en-US" altLang="zh-CN" dirty="0">
                <a:solidFill>
                  <a:srgbClr val="000000"/>
                </a:solidFill>
                <a:ea typeface="宋体" panose="02010600030101010101" pitchFamily="2" charset="-122"/>
                <a:cs typeface="Times New Roman" panose="02020603050405020304" pitchFamily="18" charset="0"/>
              </a:rPr>
              <a:t>58%,</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5544412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randombar(horizontal)">
                                      <p:cBhvr>
                                        <p:cTn id="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69031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考点二</a:t>
            </a:r>
            <a:r>
              <a:rPr lang="zh-CN" altLang="zh-CN" i="1" dirty="0"/>
              <a:t>　</a:t>
            </a:r>
            <a:r>
              <a:rPr lang="zh-CN" altLang="zh-CN" dirty="0"/>
              <a:t>总体集中趋势与离散程度的估计</a:t>
            </a:r>
          </a:p>
        </p:txBody>
      </p:sp>
      <p:sp>
        <p:nvSpPr>
          <p:cNvPr id="4" name="矩形 3"/>
          <p:cNvSpPr>
            <a:spLocks noChangeAspect="1"/>
          </p:cNvSpPr>
          <p:nvPr/>
        </p:nvSpPr>
        <p:spPr>
          <a:xfrm>
            <a:off x="361950" y="1502063"/>
            <a:ext cx="10807700" cy="418993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(2021</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楷体" panose="02010609060101010101" pitchFamily="49" charset="-122"/>
                <a:cs typeface="Times New Roman" panose="02020603050405020304" pitchFamily="18" charset="0"/>
              </a:rPr>
              <a:t>新</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zh-CN" altLang="zh-CN" i="1" dirty="0">
                <a:solidFill>
                  <a:srgbClr val="000000"/>
                </a:solidFill>
                <a:latin typeface="+mn-lt"/>
                <a:ea typeface="宋体" panose="02010600030101010101" pitchFamily="2" charset="-122"/>
                <a:cs typeface="宋体" panose="02010600030101010101" pitchFamily="2" charset="-122"/>
              </a:rPr>
              <a:t>Ⅰ</a:t>
            </a:r>
            <a:r>
              <a:rPr lang="zh-CN" altLang="zh-CN" dirty="0">
                <a:solidFill>
                  <a:srgbClr val="000000"/>
                </a:solidFill>
                <a:latin typeface="+mn-lt"/>
                <a:ea typeface="楷体" panose="02010609060101010101" pitchFamily="49" charset="-122"/>
                <a:cs typeface="Times New Roman" panose="02020603050405020304" pitchFamily="18" charset="0"/>
              </a:rPr>
              <a:t>卷</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多选题</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有一组样本数据</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25000" dirty="0">
                <a:solidFill>
                  <a:srgbClr val="000000"/>
                </a:solidFill>
                <a:latin typeface="+mn-lt"/>
                <a:ea typeface="宋体" panose="02010600030101010101" pitchFamily="2" charset="-122"/>
                <a:cs typeface="Times New Roman" panose="02020603050405020304" pitchFamily="18" charset="0"/>
              </a:rPr>
              <a:t>1</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25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NEU-BZ-S92" panose="02020503000000020003" pitchFamily="18"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a:t>
            </a:r>
            <a:r>
              <a:rPr lang="en-US" altLang="zh-CN" i="1" baseline="-25000" dirty="0" err="1">
                <a:solidFill>
                  <a:srgbClr val="000000"/>
                </a:solidFill>
                <a:latin typeface="+mn-lt"/>
                <a:ea typeface="宋体" panose="02010600030101010101" pitchFamily="2" charset="-122"/>
                <a:cs typeface="Times New Roman" panose="02020603050405020304" pitchFamily="18" charset="0"/>
              </a:rPr>
              <a:t>n</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由这组数据得到新样本数据</a:t>
            </a:r>
            <a:r>
              <a:rPr lang="en-US" altLang="zh-CN" i="1" dirty="0">
                <a:solidFill>
                  <a:srgbClr val="000000"/>
                </a:solidFill>
                <a:latin typeface="+mn-lt"/>
                <a:ea typeface="宋体" panose="02010600030101010101" pitchFamily="2" charset="-122"/>
                <a:cs typeface="Times New Roman" panose="02020603050405020304" pitchFamily="18" charset="0"/>
              </a:rPr>
              <a:t>y</a:t>
            </a:r>
            <a:r>
              <a:rPr lang="en-US" altLang="zh-CN" baseline="-25000" dirty="0">
                <a:solidFill>
                  <a:srgbClr val="000000"/>
                </a:solidFill>
                <a:latin typeface="+mn-lt"/>
                <a:ea typeface="宋体" panose="02010600030101010101" pitchFamily="2" charset="-122"/>
                <a:cs typeface="Times New Roman" panose="02020603050405020304" pitchFamily="18" charset="0"/>
              </a:rPr>
              <a:t>1</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y</a:t>
            </a:r>
            <a:r>
              <a:rPr lang="en-US" altLang="zh-CN" baseline="-25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NEU-BZ-S92" panose="02020503000000020003" pitchFamily="18"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y</a:t>
            </a:r>
            <a:r>
              <a:rPr lang="en-US" altLang="zh-CN" i="1" baseline="-25000" dirty="0" err="1">
                <a:solidFill>
                  <a:srgbClr val="000000"/>
                </a:solidFill>
                <a:latin typeface="+mn-lt"/>
                <a:ea typeface="宋体" panose="02010600030101010101" pitchFamily="2" charset="-122"/>
                <a:cs typeface="Times New Roman" panose="02020603050405020304" pitchFamily="18" charset="0"/>
              </a:rPr>
              <a:t>n</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其中</a:t>
            </a:r>
            <a:r>
              <a:rPr lang="en-US" altLang="zh-CN" i="1" dirty="0" err="1">
                <a:solidFill>
                  <a:srgbClr val="000000"/>
                </a:solidFill>
                <a:latin typeface="+mn-lt"/>
                <a:ea typeface="宋体" panose="02010600030101010101" pitchFamily="2" charset="-122"/>
                <a:cs typeface="Times New Roman" panose="02020603050405020304" pitchFamily="18" charset="0"/>
              </a:rPr>
              <a:t>y</a:t>
            </a:r>
            <a:r>
              <a:rPr lang="en-US" altLang="zh-CN" i="1" baseline="-25000" dirty="0" err="1">
                <a:solidFill>
                  <a:srgbClr val="000000"/>
                </a:solidFill>
                <a:latin typeface="+mn-lt"/>
                <a:ea typeface="宋体" panose="02010600030101010101" pitchFamily="2" charset="-122"/>
                <a:cs typeface="Times New Roman" panose="02020603050405020304" pitchFamily="18" charset="0"/>
              </a:rPr>
              <a:t>i</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a:t>
            </a:r>
            <a:r>
              <a:rPr lang="en-US" altLang="zh-CN" i="1" baseline="-25000" dirty="0" err="1">
                <a:solidFill>
                  <a:srgbClr val="000000"/>
                </a:solidFill>
                <a:latin typeface="+mn-lt"/>
                <a:ea typeface="宋体" panose="02010600030101010101" pitchFamily="2" charset="-122"/>
                <a:cs typeface="Times New Roman" panose="02020603050405020304" pitchFamily="18" charset="0"/>
              </a:rPr>
              <a:t>i</a:t>
            </a:r>
            <a:r>
              <a:rPr lang="en-US" altLang="zh-CN" i="1" dirty="0" err="1">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i</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1,2,</a:t>
            </a:r>
            <a:r>
              <a:rPr lang="en-US" altLang="zh-CN" dirty="0">
                <a:solidFill>
                  <a:srgbClr val="000000"/>
                </a:solidFill>
                <a:latin typeface="+mn-lt"/>
                <a:ea typeface="NEU-BZ-S92" panose="02020503000000020003" pitchFamily="18"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n</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为非零常数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两组样本数据的样本平均数相同</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两组样本数据的样本中位数相同</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两组样本数据的样本标准差相同</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D.</a:t>
            </a:r>
            <a:r>
              <a:rPr lang="zh-CN" altLang="zh-CN" dirty="0">
                <a:solidFill>
                  <a:srgbClr val="000000"/>
                </a:solidFill>
                <a:latin typeface="+mn-lt"/>
                <a:ea typeface="宋体" panose="02010600030101010101" pitchFamily="2" charset="-122"/>
                <a:cs typeface="Times New Roman" panose="02020603050405020304" pitchFamily="18" charset="0"/>
              </a:rPr>
              <a:t>两组样本数据的样本极差相同</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261419574"/>
      </p:ext>
    </p:extLst>
  </p:cSld>
  <p:clrMapOvr>
    <a:masterClrMapping/>
  </p:clrMapOvr>
  <p:transition spd="slow">
    <p:randomBar dir="vert"/>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865513960"/>
              </p:ext>
            </p:extLst>
          </p:nvPr>
        </p:nvGraphicFramePr>
        <p:xfrm>
          <a:off x="497790" y="1223863"/>
          <a:ext cx="11671959" cy="2895914"/>
        </p:xfrm>
        <a:graphic>
          <a:graphicData uri="http://schemas.openxmlformats.org/presentationml/2006/ole">
            <mc:AlternateContent xmlns:mc="http://schemas.openxmlformats.org/markup-compatibility/2006">
              <mc:Choice xmlns:v="urn:schemas-microsoft-com:vml" Requires="v">
                <p:oleObj spid="_x0000_s27667" name="文档" r:id="rId4" imgW="3826872" imgH="949480" progId="Word.Document.12">
                  <p:embed/>
                </p:oleObj>
              </mc:Choice>
              <mc:Fallback>
                <p:oleObj name="文档" r:id="rId4" imgW="3826872" imgH="949480" progId="Word.Document.12">
                  <p:embed/>
                  <p:pic>
                    <p:nvPicPr>
                      <p:cNvPr id="0" name=""/>
                      <p:cNvPicPr/>
                      <p:nvPr/>
                    </p:nvPicPr>
                    <p:blipFill>
                      <a:blip r:embed="rId5"/>
                      <a:stretch>
                        <a:fillRect/>
                      </a:stretch>
                    </p:blipFill>
                    <p:spPr>
                      <a:xfrm>
                        <a:off x="497790" y="1223863"/>
                        <a:ext cx="11671959" cy="2895914"/>
                      </a:xfrm>
                      <a:prstGeom prst="rect">
                        <a:avLst/>
                      </a:prstGeom>
                    </p:spPr>
                  </p:pic>
                </p:oleObj>
              </mc:Fallback>
            </mc:AlternateContent>
          </a:graphicData>
        </a:graphic>
      </p:graphicFrame>
      <p:sp>
        <p:nvSpPr>
          <p:cNvPr id="4" name="矩形 3"/>
          <p:cNvSpPr>
            <a:spLocks noChangeAspect="1"/>
          </p:cNvSpPr>
          <p:nvPr/>
        </p:nvSpPr>
        <p:spPr>
          <a:xfrm>
            <a:off x="325791" y="4149273"/>
            <a:ext cx="1840568"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CD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17805121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26889"/>
            <a:ext cx="10807700" cy="186512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(2020·</a:t>
            </a:r>
            <a:r>
              <a:rPr lang="zh-CN" altLang="zh-CN" dirty="0">
                <a:solidFill>
                  <a:srgbClr val="000000"/>
                </a:solidFill>
                <a:ea typeface="楷体" panose="02010609060101010101" pitchFamily="49" charset="-122"/>
                <a:cs typeface="Times New Roman" panose="02020603050405020304" pitchFamily="18" charset="0"/>
              </a:rPr>
              <a:t>全国</a:t>
            </a:r>
            <a:r>
              <a:rPr lang="zh-CN" altLang="zh-CN" i="1" dirty="0">
                <a:solidFill>
                  <a:srgbClr val="000000"/>
                </a:solidFill>
                <a:latin typeface="NEU-BZ-S92"/>
                <a:ea typeface="宋体" panose="02010600030101010101" pitchFamily="2" charset="-122"/>
                <a:cs typeface="宋体" panose="02010600030101010101" pitchFamily="2" charset="-122"/>
              </a:rPr>
              <a:t>Ⅲ</a:t>
            </a:r>
            <a:r>
              <a:rPr lang="zh-CN" altLang="zh-CN" dirty="0">
                <a:solidFill>
                  <a:srgbClr val="000000"/>
                </a:solidFill>
                <a:ea typeface="楷体" panose="02010609060101010101" pitchFamily="49" charset="-122"/>
                <a:cs typeface="Times New Roman" panose="02020603050405020304" pitchFamily="18" charset="0"/>
              </a:rPr>
              <a:t>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设一组样本数据</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baseline="-25000" dirty="0" err="1">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的方差为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01,</a:t>
            </a:r>
            <a:r>
              <a:rPr lang="zh-CN" altLang="zh-CN" dirty="0">
                <a:solidFill>
                  <a:srgbClr val="000000"/>
                </a:solidFill>
                <a:ea typeface="宋体" panose="02010600030101010101" pitchFamily="2" charset="-122"/>
                <a:cs typeface="Times New Roman" panose="02020603050405020304" pitchFamily="18" charset="0"/>
              </a:rPr>
              <a:t>则数据</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x</a:t>
            </a:r>
            <a:r>
              <a:rPr lang="en-US" altLang="zh-CN" i="1" baseline="-25000"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的方差为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01	</a:t>
            </a:r>
            <a:r>
              <a:rPr lang="en-US" altLang="zh-CN" dirty="0" smtClean="0">
                <a:solidFill>
                  <a:srgbClr val="000000"/>
                </a:solidFill>
                <a:ea typeface="宋体" panose="02010600030101010101" pitchFamily="2" charset="-122"/>
                <a:cs typeface="Times New Roman" panose="02020603050405020304" pitchFamily="18" charset="0"/>
              </a:rPr>
              <a:t>	B.0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C.1</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D.10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422816722"/>
              </p:ext>
            </p:extLst>
          </p:nvPr>
        </p:nvGraphicFramePr>
        <p:xfrm>
          <a:off x="432434" y="2529839"/>
          <a:ext cx="10647363" cy="2932113"/>
        </p:xfrm>
        <a:graphic>
          <a:graphicData uri="http://schemas.openxmlformats.org/presentationml/2006/ole">
            <mc:AlternateContent xmlns:mc="http://schemas.openxmlformats.org/markup-compatibility/2006">
              <mc:Choice xmlns:v="urn:schemas-microsoft-com:vml" Requires="v">
                <p:oleObj spid="_x0000_s41995" name="文档" r:id="rId4" imgW="3837724" imgH="1063694" progId="Word.Document.12">
                  <p:embed/>
                </p:oleObj>
              </mc:Choice>
              <mc:Fallback>
                <p:oleObj name="文档" r:id="rId4" imgW="3837724" imgH="1063694" progId="Word.Document.12">
                  <p:embed/>
                  <p:pic>
                    <p:nvPicPr>
                      <p:cNvPr id="0" name=""/>
                      <p:cNvPicPr/>
                      <p:nvPr/>
                    </p:nvPicPr>
                    <p:blipFill>
                      <a:blip r:embed="rId5"/>
                      <a:stretch>
                        <a:fillRect/>
                      </a:stretch>
                    </p:blipFill>
                    <p:spPr>
                      <a:xfrm>
                        <a:off x="432434" y="2529839"/>
                        <a:ext cx="10647363" cy="2932113"/>
                      </a:xfrm>
                      <a:prstGeom prst="rect">
                        <a:avLst/>
                      </a:prstGeom>
                    </p:spPr>
                  </p:pic>
                </p:oleObj>
              </mc:Fallback>
            </mc:AlternateContent>
          </a:graphicData>
        </a:graphic>
      </p:graphicFrame>
      <p:sp>
        <p:nvSpPr>
          <p:cNvPr id="6" name="矩形 5"/>
          <p:cNvSpPr>
            <a:spLocks noChangeAspect="1"/>
          </p:cNvSpPr>
          <p:nvPr/>
        </p:nvSpPr>
        <p:spPr>
          <a:xfrm>
            <a:off x="361950" y="5472335"/>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0854385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842959"/>
            <a:ext cx="13752015" cy="3046988"/>
            <a:chOff x="361950" y="719807"/>
            <a:chExt cx="13752015" cy="3046988"/>
          </a:xfrm>
        </p:grpSpPr>
        <p:sp>
          <p:nvSpPr>
            <p:cNvPr id="4" name="矩形 3"/>
            <p:cNvSpPr>
              <a:spLocks noChangeAspect="1"/>
            </p:cNvSpPr>
            <p:nvPr/>
          </p:nvSpPr>
          <p:spPr>
            <a:xfrm>
              <a:off x="361950" y="719807"/>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(2020·</a:t>
              </a:r>
              <a:r>
                <a:rPr lang="zh-CN" altLang="zh-CN" dirty="0">
                  <a:solidFill>
                    <a:srgbClr val="000000"/>
                  </a:solidFill>
                  <a:ea typeface="楷体" panose="02010609060101010101" pitchFamily="49" charset="-122"/>
                  <a:cs typeface="Times New Roman" panose="02020603050405020304" pitchFamily="18" charset="0"/>
                </a:rPr>
                <a:t>全国</a:t>
              </a:r>
              <a:r>
                <a:rPr lang="zh-CN" altLang="zh-CN" i="1" dirty="0">
                  <a:solidFill>
                    <a:srgbClr val="000000"/>
                  </a:solidFill>
                  <a:latin typeface="NEU-BZ-S92"/>
                  <a:ea typeface="宋体" panose="02010600030101010101" pitchFamily="2" charset="-122"/>
                  <a:cs typeface="宋体" panose="02010600030101010101" pitchFamily="2" charset="-122"/>
                </a:rPr>
                <a:t>Ⅲ</a:t>
              </a:r>
              <a:r>
                <a:rPr lang="zh-CN" altLang="zh-CN" dirty="0">
                  <a:solidFill>
                    <a:srgbClr val="000000"/>
                  </a:solidFill>
                  <a:ea typeface="楷体" panose="02010609060101010101" pitchFamily="49" charset="-122"/>
                  <a:cs typeface="Times New Roman" panose="02020603050405020304" pitchFamily="18" charset="0"/>
                </a:rPr>
                <a:t>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在一组样本数据中</a:t>
              </a:r>
              <a:r>
                <a:rPr lang="en-US" altLang="zh-CN" dirty="0">
                  <a:solidFill>
                    <a:srgbClr val="000000"/>
                  </a:solidFill>
                  <a:ea typeface="宋体" panose="02010600030101010101" pitchFamily="2" charset="-122"/>
                  <a:cs typeface="Times New Roman" panose="02020603050405020304" pitchFamily="18" charset="0"/>
                </a:rPr>
                <a:t>,1,2,3,4</a:t>
              </a:r>
              <a:r>
                <a:rPr lang="zh-CN" altLang="zh-CN" dirty="0">
                  <a:solidFill>
                    <a:srgbClr val="000000"/>
                  </a:solidFill>
                  <a:ea typeface="宋体" panose="02010600030101010101" pitchFamily="2" charset="-122"/>
                  <a:cs typeface="Times New Roman" panose="02020603050405020304" pitchFamily="18" charset="0"/>
                </a:rPr>
                <a:t>出现的频率分别为</a:t>
              </a:r>
              <a:r>
                <a:rPr lang="en-US" altLang="zh-CN" i="1" dirty="0">
                  <a:solidFill>
                    <a:srgbClr val="000000"/>
                  </a:solidFill>
                  <a:ea typeface="宋体" panose="02010600030101010101" pitchFamily="2" charset="-122"/>
                  <a:cs typeface="Times New Roman" panose="02020603050405020304" pitchFamily="18" charset="0"/>
                </a:rPr>
                <a:t>p</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p</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p</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p</a:t>
              </a:r>
              <a:r>
                <a:rPr lang="en-US" altLang="zh-CN" baseline="-25000" dirty="0">
                  <a:solidFill>
                    <a:srgbClr val="000000"/>
                  </a:solidFill>
                  <a:ea typeface="宋体" panose="02010600030101010101" pitchFamily="2" charset="-122"/>
                  <a:cs typeface="Times New Roman" panose="02020603050405020304" pitchFamily="18" charset="0"/>
                </a:rPr>
                <a:t>4</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则下面四种情形中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对应样本的标准差最大的一组是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B.</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D.</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baseline="-25000"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36215998"/>
                </p:ext>
              </p:extLst>
            </p:nvPr>
          </p:nvGraphicFramePr>
          <p:xfrm>
            <a:off x="3473003" y="1151855"/>
            <a:ext cx="10640962" cy="884799"/>
          </p:xfrm>
          <a:graphic>
            <a:graphicData uri="http://schemas.openxmlformats.org/presentationml/2006/ole">
              <mc:AlternateContent xmlns:mc="http://schemas.openxmlformats.org/markup-compatibility/2006">
                <mc:Choice xmlns:v="urn:schemas-microsoft-com:vml" Requires="v">
                  <p:oleObj spid="_x0000_s43019" name="文档" r:id="rId4" imgW="3837724" imgH="319108" progId="Word.Document.12">
                    <p:embed/>
                  </p:oleObj>
                </mc:Choice>
                <mc:Fallback>
                  <p:oleObj name="文档" r:id="rId4" imgW="3837724" imgH="319108" progId="Word.Document.12">
                    <p:embed/>
                    <p:pic>
                      <p:nvPicPr>
                        <p:cNvPr id="0" name=""/>
                        <p:cNvPicPr/>
                        <p:nvPr/>
                      </p:nvPicPr>
                      <p:blipFill>
                        <a:blip r:embed="rId5"/>
                        <a:stretch>
                          <a:fillRect/>
                        </a:stretch>
                      </p:blipFill>
                      <p:spPr>
                        <a:xfrm>
                          <a:off x="3473003" y="1151855"/>
                          <a:ext cx="10640962" cy="884799"/>
                        </a:xfrm>
                        <a:prstGeom prst="rect">
                          <a:avLst/>
                        </a:prstGeom>
                      </p:spPr>
                    </p:pic>
                  </p:oleObj>
                </mc:Fallback>
              </mc:AlternateContent>
            </a:graphicData>
          </a:graphic>
        </p:graphicFrame>
      </p:grpSp>
      <p:sp>
        <p:nvSpPr>
          <p:cNvPr id="8" name="矩形 7"/>
          <p:cNvSpPr>
            <a:spLocks noChangeAspect="1"/>
          </p:cNvSpPr>
          <p:nvPr/>
        </p:nvSpPr>
        <p:spPr>
          <a:xfrm>
            <a:off x="361950" y="3889947"/>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四个选项的数据都具有对称性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平均数均为</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其中</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选项的数据中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极端值最多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数据波动程度最大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483322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randombar(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randombar(horizontal)">
                                      <p:cBhvr>
                                        <p:cTn id="1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07839"/>
            <a:ext cx="10807700" cy="1808572"/>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7</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(2024·</a:t>
            </a:r>
            <a:r>
              <a:rPr lang="zh-CN" altLang="zh-CN" dirty="0">
                <a:solidFill>
                  <a:srgbClr val="000000"/>
                </a:solidFill>
                <a:ea typeface="楷体" panose="02010609060101010101" pitchFamily="49" charset="-122"/>
                <a:cs typeface="Times New Roman" panose="02020603050405020304" pitchFamily="18" charset="0"/>
              </a:rPr>
              <a:t>新高考</a:t>
            </a:r>
            <a:r>
              <a:rPr lang="zh-CN" altLang="zh-CN" i="1" dirty="0">
                <a:solidFill>
                  <a:srgbClr val="000000"/>
                </a:solidFill>
                <a:ea typeface="宋体" panose="02010600030101010101" pitchFamily="2" charset="-122"/>
                <a:cs typeface="宋体" panose="02010600030101010101" pitchFamily="2" charset="-122"/>
              </a:rPr>
              <a:t>Ⅱ</a:t>
            </a:r>
            <a:r>
              <a:rPr lang="zh-CN" altLang="zh-CN" dirty="0">
                <a:solidFill>
                  <a:srgbClr val="000000"/>
                </a:solidFill>
                <a:ea typeface="楷体" panose="02010609060101010101" pitchFamily="49" charset="-122"/>
                <a:cs typeface="Times New Roman" panose="02020603050405020304" pitchFamily="18" charset="0"/>
              </a:rPr>
              <a:t>卷</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某农业研究部门在面积相等的</a:t>
            </a:r>
            <a:r>
              <a:rPr lang="en-US" altLang="zh-CN" dirty="0">
                <a:solidFill>
                  <a:srgbClr val="000000"/>
                </a:solidFill>
                <a:ea typeface="宋体" panose="02010600030101010101" pitchFamily="2" charset="-122"/>
              </a:rPr>
              <a:t>100</a:t>
            </a:r>
            <a:r>
              <a:rPr lang="zh-CN" altLang="zh-CN" dirty="0">
                <a:solidFill>
                  <a:srgbClr val="000000"/>
                </a:solidFill>
                <a:ea typeface="宋体" panose="02010600030101010101" pitchFamily="2" charset="-122"/>
                <a:cs typeface="Times New Roman" panose="02020603050405020304" pitchFamily="18" charset="0"/>
              </a:rPr>
              <a:t>块稻田上种植一种新型水稻</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得到各块稻田的亩产量</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:kg)</a:t>
            </a:r>
            <a:r>
              <a:rPr lang="zh-CN" altLang="zh-CN" dirty="0">
                <a:solidFill>
                  <a:srgbClr val="000000"/>
                </a:solidFill>
                <a:ea typeface="宋体" panose="02010600030101010101" pitchFamily="2" charset="-122"/>
                <a:cs typeface="Times New Roman" panose="02020603050405020304" pitchFamily="18" charset="0"/>
              </a:rPr>
              <a:t>并整理下表</a:t>
            </a:r>
            <a:r>
              <a:rPr lang="en-US" altLang="zh-CN" dirty="0">
                <a:solidFill>
                  <a:srgbClr val="000000"/>
                </a:solidFill>
                <a:ea typeface="宋体" panose="02010600030101010101" pitchFamily="2" charset="-122"/>
              </a:rPr>
              <a:t>:</a:t>
            </a:r>
            <a:endParaRPr lang="zh-CN" altLang="en-US" dirty="0"/>
          </a:p>
        </p:txBody>
      </p:sp>
      <p:graphicFrame>
        <p:nvGraphicFramePr>
          <p:cNvPr id="3" name="表格 2"/>
          <p:cNvGraphicFramePr>
            <a:graphicFrameLocks noGrp="1" noChangeAspect="1"/>
          </p:cNvGraphicFramePr>
          <p:nvPr>
            <p:extLst>
              <p:ext uri="{D42A27DB-BD31-4B8C-83A1-F6EECF244321}">
                <p14:modId xmlns:p14="http://schemas.microsoft.com/office/powerpoint/2010/main" val="946561847"/>
              </p:ext>
            </p:extLst>
          </p:nvPr>
        </p:nvGraphicFramePr>
        <p:xfrm>
          <a:off x="361950" y="2838453"/>
          <a:ext cx="10807699" cy="1463040"/>
        </p:xfrm>
        <a:graphic>
          <a:graphicData uri="http://schemas.openxmlformats.org/drawingml/2006/table">
            <a:tbl>
              <a:tblPr firstRow="1" firstCol="1" bandRow="1"/>
              <a:tblGrid>
                <a:gridCol w="1543957"/>
                <a:gridCol w="1543957"/>
                <a:gridCol w="1543957"/>
                <a:gridCol w="1543957"/>
                <a:gridCol w="1543957"/>
                <a:gridCol w="1543957"/>
                <a:gridCol w="1543957"/>
              </a:tblGrid>
              <a:tr h="0">
                <a:tc>
                  <a:txBody>
                    <a:bodyPr/>
                    <a:lstStyle/>
                    <a:p>
                      <a:pPr>
                        <a:spcAft>
                          <a:spcPts val="0"/>
                        </a:spcAft>
                        <a:tabLst>
                          <a:tab pos="1188085" algn="l"/>
                          <a:tab pos="2163445" algn="l"/>
                          <a:tab pos="3142615" algn="l"/>
                          <a:tab pos="4190365" algn="l"/>
                        </a:tabLst>
                      </a:pPr>
                      <a:r>
                        <a:rPr lang="zh-CN" sz="32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亩产量</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900,</a:t>
                      </a:r>
                      <a:endParaRPr lang="zh-CN" sz="3200" dirty="0" smtClean="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950,</a:t>
                      </a:r>
                      <a:endParaRPr lang="zh-CN" sz="3200" dirty="0" smtClean="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1 000)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000,</a:t>
                      </a:r>
                      <a:endParaRPr lang="zh-CN" sz="3200" dirty="0" smtClean="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1 050)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050,</a:t>
                      </a:r>
                      <a:endParaRPr lang="zh-CN" sz="3200" dirty="0" smtClean="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1 100)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3200" dirty="0" smtClean="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1 150)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lang="zh-CN" sz="3200" dirty="0" smtClean="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1 200)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生产数</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63989385"/>
      </p:ext>
    </p:extLst>
  </p:cSld>
  <p:clrMapOvr>
    <a:masterClrMapping/>
  </p:clrMapOvr>
  <p:transition spd="slow">
    <p:randomBar dir="ver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079847"/>
            <a:ext cx="10807700" cy="359899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据表中数据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结论中正确的是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A.100</a:t>
            </a:r>
            <a:r>
              <a:rPr lang="zh-CN" altLang="zh-CN" dirty="0">
                <a:solidFill>
                  <a:srgbClr val="000000"/>
                </a:solidFill>
                <a:ea typeface="宋体" panose="02010600030101010101" pitchFamily="2" charset="-122"/>
                <a:cs typeface="Times New Roman" panose="02020603050405020304" pitchFamily="18" charset="0"/>
              </a:rPr>
              <a:t>块稻田亩产量中位数小于</a:t>
            </a:r>
            <a:r>
              <a:rPr lang="en-US" altLang="zh-CN" dirty="0">
                <a:solidFill>
                  <a:srgbClr val="000000"/>
                </a:solidFill>
                <a:ea typeface="宋体" panose="02010600030101010101" pitchFamily="2" charset="-122"/>
                <a:cs typeface="Times New Roman" panose="02020603050405020304" pitchFamily="18" charset="0"/>
              </a:rPr>
              <a:t>1 050 kg</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B.100</a:t>
            </a:r>
            <a:r>
              <a:rPr lang="zh-CN" altLang="zh-CN" dirty="0">
                <a:solidFill>
                  <a:srgbClr val="000000"/>
                </a:solidFill>
                <a:ea typeface="宋体" panose="02010600030101010101" pitchFamily="2" charset="-122"/>
                <a:cs typeface="Times New Roman" panose="02020603050405020304" pitchFamily="18" charset="0"/>
              </a:rPr>
              <a:t>块稻田中的亩产量低于</a:t>
            </a:r>
            <a:r>
              <a:rPr lang="en-US" altLang="zh-CN" dirty="0">
                <a:solidFill>
                  <a:srgbClr val="000000"/>
                </a:solidFill>
                <a:ea typeface="宋体" panose="02010600030101010101" pitchFamily="2" charset="-122"/>
                <a:cs typeface="Times New Roman" panose="02020603050405020304" pitchFamily="18" charset="0"/>
              </a:rPr>
              <a:t>1 100 kg</a:t>
            </a:r>
            <a:r>
              <a:rPr lang="zh-CN" altLang="zh-CN" dirty="0">
                <a:solidFill>
                  <a:srgbClr val="000000"/>
                </a:solidFill>
                <a:ea typeface="宋体" panose="02010600030101010101" pitchFamily="2" charset="-122"/>
                <a:cs typeface="Times New Roman" panose="02020603050405020304" pitchFamily="18" charset="0"/>
              </a:rPr>
              <a:t>的稻田所占比例超过</a:t>
            </a:r>
            <a:r>
              <a:rPr lang="en-US" altLang="zh-CN" dirty="0">
                <a:solidFill>
                  <a:srgbClr val="000000"/>
                </a:solidFill>
                <a:ea typeface="宋体" panose="02010600030101010101" pitchFamily="2" charset="-122"/>
                <a:cs typeface="Times New Roman" panose="02020603050405020304" pitchFamily="18" charset="0"/>
              </a:rPr>
              <a:t>80%</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C.100</a:t>
            </a:r>
            <a:r>
              <a:rPr lang="zh-CN" altLang="zh-CN" dirty="0">
                <a:solidFill>
                  <a:srgbClr val="000000"/>
                </a:solidFill>
                <a:ea typeface="宋体" panose="02010600030101010101" pitchFamily="2" charset="-122"/>
                <a:cs typeface="Times New Roman" panose="02020603050405020304" pitchFamily="18" charset="0"/>
              </a:rPr>
              <a:t>块稻田亩产量的极差介于</a:t>
            </a:r>
            <a:r>
              <a:rPr lang="en-US" altLang="zh-CN" dirty="0">
                <a:solidFill>
                  <a:srgbClr val="000000"/>
                </a:solidFill>
                <a:ea typeface="宋体" panose="02010600030101010101" pitchFamily="2" charset="-122"/>
                <a:cs typeface="Times New Roman" panose="02020603050405020304" pitchFamily="18" charset="0"/>
              </a:rPr>
              <a:t>200 kg</a:t>
            </a:r>
            <a:r>
              <a:rPr lang="zh-CN" altLang="zh-CN" dirty="0">
                <a:solidFill>
                  <a:srgbClr val="000000"/>
                </a:solidFill>
                <a:ea typeface="宋体" panose="02010600030101010101" pitchFamily="2" charset="-122"/>
                <a:cs typeface="Times New Roman" panose="02020603050405020304" pitchFamily="18" charset="0"/>
              </a:rPr>
              <a:t>至</a:t>
            </a:r>
            <a:r>
              <a:rPr lang="en-US" altLang="zh-CN" dirty="0">
                <a:solidFill>
                  <a:srgbClr val="000000"/>
                </a:solidFill>
                <a:ea typeface="宋体" panose="02010600030101010101" pitchFamily="2" charset="-122"/>
                <a:cs typeface="Times New Roman" panose="02020603050405020304" pitchFamily="18" charset="0"/>
              </a:rPr>
              <a:t>300 kg</a:t>
            </a:r>
            <a:r>
              <a:rPr lang="zh-CN" altLang="zh-CN" dirty="0">
                <a:solidFill>
                  <a:srgbClr val="000000"/>
                </a:solidFill>
                <a:ea typeface="宋体" panose="02010600030101010101" pitchFamily="2" charset="-122"/>
                <a:cs typeface="Times New Roman" panose="02020603050405020304" pitchFamily="18" charset="0"/>
              </a:rPr>
              <a:t>之间</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D.100</a:t>
            </a:r>
            <a:r>
              <a:rPr lang="zh-CN" altLang="zh-CN" dirty="0">
                <a:solidFill>
                  <a:srgbClr val="000000"/>
                </a:solidFill>
                <a:ea typeface="宋体" panose="02010600030101010101" pitchFamily="2" charset="-122"/>
                <a:cs typeface="Times New Roman" panose="02020603050405020304" pitchFamily="18" charset="0"/>
              </a:rPr>
              <a:t>块稻田亩产量的平均值介于</a:t>
            </a:r>
            <a:r>
              <a:rPr lang="en-US" altLang="zh-CN" dirty="0">
                <a:solidFill>
                  <a:srgbClr val="000000"/>
                </a:solidFill>
                <a:ea typeface="宋体" panose="02010600030101010101" pitchFamily="2" charset="-122"/>
                <a:cs typeface="Times New Roman" panose="02020603050405020304" pitchFamily="18" charset="0"/>
              </a:rPr>
              <a:t>900 kg</a:t>
            </a:r>
            <a:r>
              <a:rPr lang="zh-CN" altLang="zh-CN" dirty="0">
                <a:solidFill>
                  <a:srgbClr val="000000"/>
                </a:solidFill>
                <a:ea typeface="宋体" panose="02010600030101010101" pitchFamily="2" charset="-122"/>
                <a:cs typeface="Times New Roman" panose="02020603050405020304" pitchFamily="18" charset="0"/>
              </a:rPr>
              <a:t>至</a:t>
            </a:r>
            <a:r>
              <a:rPr lang="en-US" altLang="zh-CN" dirty="0">
                <a:solidFill>
                  <a:srgbClr val="000000"/>
                </a:solidFill>
                <a:ea typeface="宋体" panose="02010600030101010101" pitchFamily="2" charset="-122"/>
                <a:cs typeface="Times New Roman" panose="02020603050405020304" pitchFamily="18" charset="0"/>
              </a:rPr>
              <a:t>1 000 kg</a:t>
            </a:r>
            <a:r>
              <a:rPr lang="zh-CN" altLang="zh-CN" dirty="0">
                <a:solidFill>
                  <a:srgbClr val="000000"/>
                </a:solidFill>
                <a:ea typeface="宋体" panose="02010600030101010101" pitchFamily="2" charset="-122"/>
                <a:cs typeface="Times New Roman" panose="02020603050405020304" pitchFamily="18" charset="0"/>
              </a:rPr>
              <a:t>之间</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413234007"/>
      </p:ext>
    </p:extLst>
  </p:cSld>
  <p:clrMapOvr>
    <a:masterClrMapping/>
  </p:clrMapOvr>
  <p:transition spd="slow">
    <p:randomBar dir="vert"/>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61950" y="863823"/>
                <a:ext cx="10807700" cy="443839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ffectLst/>
                    <a:ea typeface="楷体" panose="02010609060101010101" pitchFamily="49" charset="-122"/>
                    <a:cs typeface="Times New Roman" panose="02020603050405020304" pitchFamily="18" charset="0"/>
                  </a:rPr>
                  <a:t>由</a:t>
                </a:r>
                <a:r>
                  <a:rPr lang="en-US" altLang="zh-CN" dirty="0">
                    <a:solidFill>
                      <a:srgbClr val="000000"/>
                    </a:solidFill>
                    <a:effectLst/>
                    <a:ea typeface="宋体" panose="02010600030101010101" pitchFamily="2" charset="-122"/>
                    <a:cs typeface="Times New Roman" panose="02020603050405020304" pitchFamily="18" charset="0"/>
                  </a:rPr>
                  <a:t>6</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12</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18</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36</a:t>
                </a:r>
                <a:r>
                  <a:rPr lang="en-US" altLang="zh-CN" i="1" dirty="0">
                    <a:solidFill>
                      <a:srgbClr val="000000"/>
                    </a:solidFill>
                    <a:effectLst/>
                    <a:ea typeface="宋体" panose="02010600030101010101" pitchFamily="2" charset="-122"/>
                    <a:cs typeface="Times New Roman" panose="02020603050405020304" pitchFamily="18" charset="0"/>
                  </a:rPr>
                  <a:t>&lt;</a:t>
                </a:r>
                <a:r>
                  <a:rPr lang="en-US" altLang="zh-CN" dirty="0">
                    <a:solidFill>
                      <a:srgbClr val="000000"/>
                    </a:solidFill>
                    <a:effectLst/>
                    <a:ea typeface="宋体" panose="02010600030101010101" pitchFamily="2" charset="-122"/>
                    <a:cs typeface="Times New Roman" panose="02020603050405020304" pitchFamily="18" charset="0"/>
                  </a:rPr>
                  <a:t>50,6</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12</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18</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30</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66</a:t>
                </a:r>
                <a:r>
                  <a:rPr lang="en-US" altLang="zh-CN" i="1" dirty="0">
                    <a:solidFill>
                      <a:srgbClr val="000000"/>
                    </a:solidFill>
                    <a:effectLst/>
                    <a:ea typeface="宋体" panose="02010600030101010101" pitchFamily="2" charset="-122"/>
                    <a:cs typeface="Times New Roman" panose="02020603050405020304" pitchFamily="18" charset="0"/>
                  </a:rPr>
                  <a:t>&gt;</a:t>
                </a:r>
                <a:r>
                  <a:rPr lang="en-US" altLang="zh-CN" dirty="0">
                    <a:solidFill>
                      <a:srgbClr val="000000"/>
                    </a:solidFill>
                    <a:effectLst/>
                    <a:ea typeface="宋体" panose="02010600030101010101" pitchFamily="2" charset="-122"/>
                    <a:cs typeface="Times New Roman" panose="02020603050405020304" pitchFamily="18" charset="0"/>
                  </a:rPr>
                  <a:t>50</a:t>
                </a:r>
                <a:r>
                  <a:rPr lang="en-US" altLang="zh-CN" dirty="0" smtClean="0">
                    <a:solidFill>
                      <a:srgbClr val="000000"/>
                    </a:solidFill>
                    <a:effectLs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ffectLst/>
                    <a:ea typeface="楷体" panose="02010609060101010101" pitchFamily="49" charset="-122"/>
                    <a:cs typeface="Times New Roman" panose="02020603050405020304" pitchFamily="18" charset="0"/>
                  </a:rPr>
                  <a:t>得</a:t>
                </a:r>
                <a:r>
                  <a:rPr lang="zh-CN" altLang="zh-CN" dirty="0">
                    <a:solidFill>
                      <a:srgbClr val="000000"/>
                    </a:solidFill>
                    <a:effectLst/>
                    <a:ea typeface="楷体" panose="02010609060101010101" pitchFamily="49" charset="-122"/>
                    <a:cs typeface="Times New Roman" panose="02020603050405020304" pitchFamily="18" charset="0"/>
                  </a:rPr>
                  <a:t>中位数在</a:t>
                </a:r>
                <a:r>
                  <a:rPr lang="en-US" altLang="zh-CN" dirty="0">
                    <a:solidFill>
                      <a:srgbClr val="000000"/>
                    </a:solidFill>
                    <a:effectLst/>
                    <a:ea typeface="宋体" panose="02010600030101010101" pitchFamily="2" charset="-122"/>
                    <a:cs typeface="Times New Roman" panose="02020603050405020304" pitchFamily="18" charset="0"/>
                  </a:rPr>
                  <a:t>[1</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050,1</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100)</a:t>
                </a:r>
                <a:r>
                  <a:rPr lang="zh-CN" altLang="zh-CN" dirty="0">
                    <a:solidFill>
                      <a:srgbClr val="000000"/>
                    </a:solidFill>
                    <a:effectLst/>
                    <a:ea typeface="楷体" panose="02010609060101010101" pitchFamily="49" charset="-122"/>
                    <a:cs typeface="Times New Roman" panose="02020603050405020304" pitchFamily="18" charset="0"/>
                  </a:rPr>
                  <a:t>范围内</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楷体" panose="02010609060101010101" pitchFamily="49" charset="-122"/>
                    <a:cs typeface="Times New Roman" panose="02020603050405020304" pitchFamily="18" charset="0"/>
                  </a:rPr>
                  <a:t>故</a:t>
                </a:r>
                <a:r>
                  <a:rPr lang="en-US" altLang="zh-CN" dirty="0">
                    <a:solidFill>
                      <a:srgbClr val="000000"/>
                    </a:solidFill>
                    <a:effectLst/>
                    <a:ea typeface="宋体" panose="02010600030101010101" pitchFamily="2" charset="-122"/>
                    <a:cs typeface="Times New Roman" panose="02020603050405020304" pitchFamily="18" charset="0"/>
                  </a:rPr>
                  <a:t>A</a:t>
                </a:r>
                <a:r>
                  <a:rPr lang="zh-CN" altLang="zh-CN" dirty="0">
                    <a:solidFill>
                      <a:srgbClr val="000000"/>
                    </a:solidFill>
                    <a:effectLst/>
                    <a:ea typeface="楷体" panose="02010609060101010101" pitchFamily="49" charset="-122"/>
                    <a:cs typeface="Times New Roman" panose="02020603050405020304" pitchFamily="18" charset="0"/>
                  </a:rPr>
                  <a:t>错误</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ea typeface="楷体" panose="02010609060101010101" pitchFamily="49" charset="-122"/>
                    <a:cs typeface="Times New Roman" panose="02020603050405020304" pitchFamily="18" charset="0"/>
                  </a:rPr>
                  <a:t>亩产量低于</a:t>
                </a:r>
                <a:r>
                  <a:rPr lang="en-US" altLang="zh-CN" dirty="0">
                    <a:solidFill>
                      <a:srgbClr val="000000"/>
                    </a:solidFill>
                    <a:effectLst/>
                    <a:ea typeface="宋体" panose="02010600030101010101" pitchFamily="2" charset="-122"/>
                    <a:cs typeface="Times New Roman" panose="02020603050405020304" pitchFamily="18" charset="0"/>
                  </a:rPr>
                  <a:t>1</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100</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kg</a:t>
                </a:r>
                <a:r>
                  <a:rPr lang="zh-CN" altLang="zh-CN" dirty="0">
                    <a:solidFill>
                      <a:srgbClr val="000000"/>
                    </a:solidFill>
                    <a:effectLst/>
                    <a:ea typeface="楷体" panose="02010609060101010101" pitchFamily="49" charset="-122"/>
                    <a:cs typeface="Times New Roman" panose="02020603050405020304" pitchFamily="18" charset="0"/>
                  </a:rPr>
                  <a:t>的稻田生产数为</a:t>
                </a:r>
                <a:r>
                  <a:rPr lang="en-US" altLang="zh-CN" dirty="0">
                    <a:solidFill>
                      <a:srgbClr val="000000"/>
                    </a:solidFill>
                    <a:effectLst/>
                    <a:ea typeface="宋体" panose="02010600030101010101" pitchFamily="2" charset="-122"/>
                    <a:cs typeface="Times New Roman" panose="02020603050405020304" pitchFamily="18" charset="0"/>
                  </a:rPr>
                  <a:t>6</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12</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18</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30</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66,</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66</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100</m:t>
                        </m:r>
                      </m:den>
                    </m:f>
                  </m:oMath>
                </a14:m>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66%</a:t>
                </a:r>
                <a:r>
                  <a:rPr lang="en-US" altLang="zh-CN" i="1" dirty="0">
                    <a:solidFill>
                      <a:srgbClr val="000000"/>
                    </a:solidFill>
                    <a:effectLst/>
                    <a:ea typeface="宋体" panose="02010600030101010101" pitchFamily="2" charset="-122"/>
                    <a:cs typeface="Times New Roman" panose="02020603050405020304" pitchFamily="18" charset="0"/>
                  </a:rPr>
                  <a:t>&lt;</a:t>
                </a:r>
                <a:r>
                  <a:rPr lang="en-US" altLang="zh-CN" dirty="0">
                    <a:solidFill>
                      <a:srgbClr val="000000"/>
                    </a:solidFill>
                    <a:effectLst/>
                    <a:ea typeface="宋体" panose="02010600030101010101" pitchFamily="2" charset="-122"/>
                    <a:cs typeface="Times New Roman" panose="02020603050405020304" pitchFamily="18" charset="0"/>
                  </a:rPr>
                  <a:t>80%,</a:t>
                </a:r>
                <a:r>
                  <a:rPr lang="zh-CN" altLang="zh-CN" dirty="0">
                    <a:solidFill>
                      <a:srgbClr val="000000"/>
                    </a:solidFill>
                    <a:effectLst/>
                    <a:ea typeface="楷体" panose="02010609060101010101" pitchFamily="49" charset="-122"/>
                    <a:cs typeface="Times New Roman" panose="02020603050405020304" pitchFamily="18" charset="0"/>
                  </a:rPr>
                  <a:t>故</a:t>
                </a:r>
                <a:r>
                  <a:rPr lang="en-US" altLang="zh-CN" dirty="0">
                    <a:solidFill>
                      <a:srgbClr val="000000"/>
                    </a:solidFill>
                    <a:effectLst/>
                    <a:ea typeface="宋体" panose="02010600030101010101" pitchFamily="2" charset="-122"/>
                    <a:cs typeface="Times New Roman" panose="02020603050405020304" pitchFamily="18" charset="0"/>
                  </a:rPr>
                  <a:t>B</a:t>
                </a:r>
                <a:r>
                  <a:rPr lang="zh-CN" altLang="zh-CN" dirty="0">
                    <a:solidFill>
                      <a:srgbClr val="000000"/>
                    </a:solidFill>
                    <a:effectLst/>
                    <a:ea typeface="楷体" panose="02010609060101010101" pitchFamily="49" charset="-122"/>
                    <a:cs typeface="Times New Roman" panose="02020603050405020304" pitchFamily="18" charset="0"/>
                  </a:rPr>
                  <a:t>错误</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ea typeface="楷体" panose="02010609060101010101" pitchFamily="49" charset="-122"/>
                    <a:cs typeface="Times New Roman" panose="02020603050405020304" pitchFamily="18" charset="0"/>
                  </a:rPr>
                  <a:t>亩产量最大值在</a:t>
                </a:r>
                <a:r>
                  <a:rPr lang="en-US" altLang="zh-CN" dirty="0">
                    <a:solidFill>
                      <a:srgbClr val="000000"/>
                    </a:solidFill>
                    <a:effectLst/>
                    <a:ea typeface="宋体" panose="02010600030101010101" pitchFamily="2" charset="-122"/>
                    <a:cs typeface="Times New Roman" panose="02020603050405020304" pitchFamily="18" charset="0"/>
                  </a:rPr>
                  <a:t>[1</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150,1</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200)</a:t>
                </a:r>
                <a:r>
                  <a:rPr lang="zh-CN" altLang="zh-CN" dirty="0">
                    <a:solidFill>
                      <a:srgbClr val="000000"/>
                    </a:solidFill>
                    <a:effectLst/>
                    <a:ea typeface="楷体" panose="02010609060101010101" pitchFamily="49" charset="-122"/>
                    <a:cs typeface="Times New Roman" panose="02020603050405020304" pitchFamily="18" charset="0"/>
                  </a:rPr>
                  <a:t>范围内</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楷体" panose="02010609060101010101" pitchFamily="49" charset="-122"/>
                    <a:cs typeface="Times New Roman" panose="02020603050405020304" pitchFamily="18" charset="0"/>
                  </a:rPr>
                  <a:t>最小值在</a:t>
                </a:r>
                <a:r>
                  <a:rPr lang="en-US" altLang="zh-CN" dirty="0">
                    <a:solidFill>
                      <a:srgbClr val="000000"/>
                    </a:solidFill>
                    <a:effectLst/>
                    <a:ea typeface="宋体" panose="02010600030101010101" pitchFamily="2" charset="-122"/>
                    <a:cs typeface="Times New Roman" panose="02020603050405020304" pitchFamily="18" charset="0"/>
                  </a:rPr>
                  <a:t>[900,950)</a:t>
                </a:r>
                <a:r>
                  <a:rPr lang="zh-CN" altLang="zh-CN" dirty="0">
                    <a:solidFill>
                      <a:srgbClr val="000000"/>
                    </a:solidFill>
                    <a:effectLst/>
                    <a:ea typeface="楷体" panose="02010609060101010101" pitchFamily="49" charset="-122"/>
                    <a:cs typeface="Times New Roman" panose="02020603050405020304" pitchFamily="18" charset="0"/>
                  </a:rPr>
                  <a:t>范围内</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楷体" panose="02010609060101010101" pitchFamily="49" charset="-122"/>
                    <a:cs typeface="Times New Roman" panose="02020603050405020304" pitchFamily="18" charset="0"/>
                  </a:rPr>
                  <a:t>故极差在</a:t>
                </a:r>
                <a:r>
                  <a:rPr lang="en-US" altLang="zh-CN" dirty="0">
                    <a:solidFill>
                      <a:srgbClr val="000000"/>
                    </a:solidFill>
                    <a:effectLst/>
                    <a:ea typeface="宋体" panose="02010600030101010101" pitchFamily="2" charset="-122"/>
                    <a:cs typeface="Times New Roman" panose="02020603050405020304" pitchFamily="18" charset="0"/>
                  </a:rPr>
                  <a:t>(1</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150</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950,1</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200</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900)</a:t>
                </a:r>
                <a:r>
                  <a:rPr lang="zh-CN" altLang="zh-CN" dirty="0">
                    <a:solidFill>
                      <a:srgbClr val="000000"/>
                    </a:solidFill>
                    <a:effectLst/>
                    <a:ea typeface="楷体" panose="02010609060101010101" pitchFamily="49" charset="-122"/>
                    <a:cs typeface="Times New Roman" panose="02020603050405020304" pitchFamily="18" charset="0"/>
                  </a:rPr>
                  <a:t>范围内</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楷体" panose="02010609060101010101" pitchFamily="49" charset="-122"/>
                    <a:cs typeface="Times New Roman" panose="02020603050405020304" pitchFamily="18" charset="0"/>
                  </a:rPr>
                  <a:t>即</a:t>
                </a:r>
                <a:r>
                  <a:rPr lang="en-US" altLang="zh-CN" dirty="0">
                    <a:solidFill>
                      <a:srgbClr val="000000"/>
                    </a:solidFill>
                    <a:effectLst/>
                    <a:ea typeface="宋体" panose="02010600030101010101" pitchFamily="2" charset="-122"/>
                    <a:cs typeface="Times New Roman" panose="02020603050405020304" pitchFamily="18" charset="0"/>
                  </a:rPr>
                  <a:t>200</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kg</a:t>
                </a:r>
                <a:r>
                  <a:rPr lang="zh-CN" altLang="zh-CN" dirty="0">
                    <a:solidFill>
                      <a:srgbClr val="000000"/>
                    </a:solidFill>
                    <a:effectLst/>
                    <a:ea typeface="楷体" panose="02010609060101010101" pitchFamily="49" charset="-122"/>
                    <a:cs typeface="Times New Roman" panose="02020603050405020304" pitchFamily="18" charset="0"/>
                  </a:rPr>
                  <a:t>至</a:t>
                </a:r>
                <a:r>
                  <a:rPr lang="en-US" altLang="zh-CN" dirty="0">
                    <a:solidFill>
                      <a:srgbClr val="000000"/>
                    </a:solidFill>
                    <a:effectLst/>
                    <a:ea typeface="宋体" panose="02010600030101010101" pitchFamily="2" charset="-122"/>
                    <a:cs typeface="Times New Roman" panose="02020603050405020304" pitchFamily="18" charset="0"/>
                  </a:rPr>
                  <a:t>300</a:t>
                </a:r>
                <a:r>
                  <a:rPr lang="en-US" altLang="zh-CN" dirty="0">
                    <a:solidFill>
                      <a:srgbClr val="000000"/>
                    </a:solidFill>
                    <a:effectLst/>
                    <a:ea typeface="楷体" panose="02010609060101010101" pitchFamily="49"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kg</a:t>
                </a:r>
                <a:r>
                  <a:rPr lang="zh-CN" altLang="zh-CN" dirty="0">
                    <a:solidFill>
                      <a:srgbClr val="000000"/>
                    </a:solidFill>
                    <a:effectLst/>
                    <a:ea typeface="楷体" panose="02010609060101010101" pitchFamily="49" charset="-122"/>
                    <a:cs typeface="Times New Roman" panose="02020603050405020304" pitchFamily="18" charset="0"/>
                  </a:rPr>
                  <a:t>之间</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楷体" panose="02010609060101010101" pitchFamily="49" charset="-122"/>
                    <a:cs typeface="Times New Roman" panose="02020603050405020304" pitchFamily="18" charset="0"/>
                  </a:rPr>
                  <a:t>故</a:t>
                </a:r>
                <a:r>
                  <a:rPr lang="en-US" altLang="zh-CN" dirty="0">
                    <a:solidFill>
                      <a:srgbClr val="000000"/>
                    </a:solidFill>
                    <a:effectLst/>
                    <a:ea typeface="宋体" panose="02010600030101010101" pitchFamily="2" charset="-122"/>
                    <a:cs typeface="Times New Roman" panose="02020603050405020304" pitchFamily="18" charset="0"/>
                  </a:rPr>
                  <a:t>C</a:t>
                </a:r>
                <a:r>
                  <a:rPr lang="zh-CN" altLang="zh-CN" dirty="0">
                    <a:solidFill>
                      <a:srgbClr val="000000"/>
                    </a:solidFill>
                    <a:effectLst/>
                    <a:ea typeface="楷体" panose="02010609060101010101" pitchFamily="49" charset="-122"/>
                    <a:cs typeface="Times New Roman" panose="02020603050405020304" pitchFamily="18" charset="0"/>
                  </a:rPr>
                  <a:t>正确</a:t>
                </a:r>
                <a:r>
                  <a:rPr lang="en-US" altLang="zh-CN" dirty="0" smtClean="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61950" y="863823"/>
                <a:ext cx="10807700" cy="4438395"/>
              </a:xfrm>
              <a:prstGeom prst="rect">
                <a:avLst/>
              </a:prstGeom>
              <a:blipFill rotWithShape="0">
                <a:blip r:embed="rId2"/>
                <a:stretch>
                  <a:fillRect l="-1410" t="-1374" b="-31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0555444"/>
      </p:ext>
    </p:extLst>
  </p:cSld>
  <p:clrMapOvr>
    <a:masterClrMapping/>
  </p:clrMapOvr>
  <p:transition spd="slow">
    <p:randomBar dir="vert"/>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61950" y="1367879"/>
                <a:ext cx="10807700" cy="291406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取各区间中点估算平均值</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925</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6</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100</m:t>
                        </m:r>
                      </m:den>
                    </m:f>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975</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12</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100</m:t>
                        </m:r>
                      </m:den>
                    </m:f>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025</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18</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100</m:t>
                        </m:r>
                      </m:den>
                    </m:f>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075</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30</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100</m:t>
                        </m:r>
                      </m:den>
                    </m:f>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125</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24</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100</m:t>
                        </m:r>
                      </m:den>
                    </m:f>
                  </m:oMath>
                </a14:m>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175</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10</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100</m:t>
                        </m:r>
                      </m:den>
                    </m:f>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067,</a:t>
                </a:r>
                <a:r>
                  <a:rPr lang="zh-CN" altLang="zh-CN" dirty="0">
                    <a:solidFill>
                      <a:srgbClr val="000000"/>
                    </a:solidFill>
                    <a:ea typeface="楷体" panose="02010609060101010101" pitchFamily="49" charset="-122"/>
                    <a:cs typeface="Times New Roman" panose="02020603050405020304" pitchFamily="18" charset="0"/>
                  </a:rPr>
                  <a:t>大于</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kg,</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61950" y="1367879"/>
                <a:ext cx="10807700" cy="2914067"/>
              </a:xfrm>
              <a:prstGeom prst="rect">
                <a:avLst/>
              </a:prstGeom>
              <a:blipFill rotWithShape="0">
                <a:blip r:embed="rId2"/>
                <a:stretch>
                  <a:fillRect l="-1410" t="-2092" b="-54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8445264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19807"/>
            <a:ext cx="10807700" cy="1865126"/>
          </a:xfrm>
          <a:prstGeom prst="rect">
            <a:avLst/>
          </a:prstGeom>
        </p:spPr>
        <p:txBody>
          <a:bodyPr>
            <a:spAutoFit/>
          </a:bodyPr>
          <a:lstStyle/>
          <a:p>
            <a:pPr>
              <a:lnSpc>
                <a:spcPct val="120000"/>
              </a:lnSpc>
            </a:pPr>
            <a:r>
              <a:rPr lang="en-US" altLang="zh-CN" dirty="0" smtClean="0">
                <a:solidFill>
                  <a:srgbClr val="000000"/>
                </a:solidFill>
                <a:ea typeface="宋体" panose="02010600030101010101" pitchFamily="2" charset="-122"/>
              </a:rPr>
              <a:t>8</a:t>
            </a:r>
            <a:r>
              <a:rPr lang="en-US" altLang="zh-CN" i="1" dirty="0" smtClean="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2020·</a:t>
            </a:r>
            <a:r>
              <a:rPr lang="zh-CN" altLang="zh-CN" dirty="0">
                <a:solidFill>
                  <a:srgbClr val="000000"/>
                </a:solidFill>
                <a:ea typeface="楷体" panose="02010609060101010101" pitchFamily="49" charset="-122"/>
                <a:cs typeface="Times New Roman" panose="02020603050405020304" pitchFamily="18" charset="0"/>
              </a:rPr>
              <a:t>全国</a:t>
            </a:r>
            <a:r>
              <a:rPr lang="zh-CN" altLang="zh-CN" i="1" dirty="0">
                <a:solidFill>
                  <a:srgbClr val="000000"/>
                </a:solidFill>
                <a:ea typeface="宋体" panose="02010600030101010101" pitchFamily="2" charset="-122"/>
                <a:cs typeface="宋体" panose="02010600030101010101" pitchFamily="2" charset="-122"/>
              </a:rPr>
              <a:t>Ⅲ</a:t>
            </a:r>
            <a:r>
              <a:rPr lang="zh-CN" altLang="zh-CN" dirty="0">
                <a:solidFill>
                  <a:srgbClr val="000000"/>
                </a:solidFill>
                <a:ea typeface="楷体" panose="02010609060101010101" pitchFamily="49" charset="-122"/>
                <a:cs typeface="Times New Roman" panose="02020603050405020304" pitchFamily="18" charset="0"/>
              </a:rPr>
              <a:t>高考节选</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某学生兴趣小组随机调查了某市</a:t>
            </a:r>
            <a:r>
              <a:rPr lang="en-US" altLang="zh-CN" dirty="0">
                <a:solidFill>
                  <a:srgbClr val="000000"/>
                </a:solidFill>
                <a:ea typeface="宋体" panose="02010600030101010101" pitchFamily="2" charset="-122"/>
              </a:rPr>
              <a:t>100</a:t>
            </a:r>
            <a:r>
              <a:rPr lang="zh-CN" altLang="zh-CN" dirty="0">
                <a:solidFill>
                  <a:srgbClr val="000000"/>
                </a:solidFill>
                <a:ea typeface="宋体" panose="02010600030101010101" pitchFamily="2" charset="-122"/>
                <a:cs typeface="Times New Roman" panose="02020603050405020304" pitchFamily="18" charset="0"/>
              </a:rPr>
              <a:t>天中每天的空气质量等级和当天到某公园锻炼的人次</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整理数据</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天</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得到下表</a:t>
            </a:r>
            <a:r>
              <a:rPr lang="en-US" altLang="zh-CN" dirty="0">
                <a:solidFill>
                  <a:srgbClr val="000000"/>
                </a:solidFill>
                <a:ea typeface="宋体" panose="02010600030101010101" pitchFamily="2" charset="-122"/>
              </a:rPr>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2413487701"/>
              </p:ext>
            </p:extLst>
          </p:nvPr>
        </p:nvGraphicFramePr>
        <p:xfrm>
          <a:off x="-71611" y="2570796"/>
          <a:ext cx="11878496" cy="4187851"/>
        </p:xfrm>
        <a:graphic>
          <a:graphicData uri="http://schemas.openxmlformats.org/presentationml/2006/ole">
            <mc:AlternateContent xmlns:mc="http://schemas.openxmlformats.org/markup-compatibility/2006">
              <mc:Choice xmlns:v="urn:schemas-microsoft-com:vml" Requires="v">
                <p:oleObj spid="_x0000_s44043" name="文档" r:id="rId4" imgW="3894589" imgH="1373066" progId="Word.Document.12">
                  <p:embed/>
                </p:oleObj>
              </mc:Choice>
              <mc:Fallback>
                <p:oleObj name="文档" r:id="rId4" imgW="3894589" imgH="1373066" progId="Word.Document.12">
                  <p:embed/>
                  <p:pic>
                    <p:nvPicPr>
                      <p:cNvPr id="0" name=""/>
                      <p:cNvPicPr/>
                      <p:nvPr/>
                    </p:nvPicPr>
                    <p:blipFill>
                      <a:blip r:embed="rId5"/>
                      <a:stretch>
                        <a:fillRect/>
                      </a:stretch>
                    </p:blipFill>
                    <p:spPr>
                      <a:xfrm>
                        <a:off x="-71611" y="2570796"/>
                        <a:ext cx="11878496" cy="4187851"/>
                      </a:xfrm>
                      <a:prstGeom prst="rect">
                        <a:avLst/>
                      </a:prstGeom>
                    </p:spPr>
                  </p:pic>
                </p:oleObj>
              </mc:Fallback>
            </mc:AlternateContent>
          </a:graphicData>
        </a:graphic>
      </p:graphicFrame>
    </p:spTree>
    <p:extLst>
      <p:ext uri="{BB962C8B-B14F-4D97-AF65-F5344CB8AC3E}">
        <p14:creationId xmlns:p14="http://schemas.microsoft.com/office/powerpoint/2010/main" val="3984309317"/>
      </p:ext>
    </p:extLst>
  </p:cSld>
  <p:clrMapOvr>
    <a:masterClrMapping/>
  </p:clrMapOvr>
  <p:transition spd="slow">
    <p:randomBar dir="vert"/>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871935"/>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分别估计该市一天的空气质量等级为</a:t>
            </a:r>
            <a:r>
              <a:rPr lang="en-US" altLang="zh-CN" dirty="0">
                <a:solidFill>
                  <a:srgbClr val="000000"/>
                </a:solidFill>
                <a:ea typeface="宋体" panose="02010600030101010101" pitchFamily="2" charset="-122"/>
                <a:cs typeface="Times New Roman" panose="02020603050405020304" pitchFamily="18" charset="0"/>
              </a:rPr>
              <a:t>1,2,3,4</a:t>
            </a:r>
            <a:r>
              <a:rPr lang="zh-CN" altLang="zh-CN" dirty="0">
                <a:solidFill>
                  <a:srgbClr val="000000"/>
                </a:solidFill>
                <a:ea typeface="宋体" panose="02010600030101010101" pitchFamily="2" charset="-122"/>
                <a:cs typeface="Times New Roman" panose="02020603050405020304" pitchFamily="18" charset="0"/>
              </a:rPr>
              <a:t>的概率</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求一天中到该公园锻炼的平均人次的估计值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同一组中的数据用该组区间的中点值为代表</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89240787"/>
      </p:ext>
    </p:extLst>
  </p:cSld>
  <p:clrMapOvr>
    <a:masterClrMapping/>
  </p:clrMapOvr>
  <p:transition spd="slow">
    <p:randomBar dir="vert"/>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49126" y="1079847"/>
            <a:ext cx="11878496" cy="3930504"/>
            <a:chOff x="349126" y="863823"/>
            <a:chExt cx="11878496" cy="3930504"/>
          </a:xfrm>
        </p:grpSpPr>
        <p:sp>
          <p:nvSpPr>
            <p:cNvPr id="3" name="矩形 2"/>
            <p:cNvSpPr>
              <a:spLocks noChangeAspect="1"/>
            </p:cNvSpPr>
            <p:nvPr/>
          </p:nvSpPr>
          <p:spPr>
            <a:xfrm>
              <a:off x="361950" y="863823"/>
              <a:ext cx="10807700" cy="1217641"/>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rPr>
                <a:t>(1)</a:t>
              </a:r>
              <a:r>
                <a:rPr lang="zh-CN" altLang="zh-CN" dirty="0">
                  <a:solidFill>
                    <a:srgbClr val="000000"/>
                  </a:solidFill>
                  <a:ea typeface="楷体" panose="02010609060101010101" pitchFamily="49" charset="-122"/>
                  <a:cs typeface="Times New Roman" panose="02020603050405020304" pitchFamily="18" charset="0"/>
                </a:rPr>
                <a:t>由所给数据</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该市一天的空气质量等级为</a:t>
              </a:r>
              <a:r>
                <a:rPr lang="en-US" altLang="zh-CN" dirty="0">
                  <a:solidFill>
                    <a:srgbClr val="000000"/>
                  </a:solidFill>
                  <a:ea typeface="宋体" panose="02010600030101010101" pitchFamily="2" charset="-122"/>
                </a:rPr>
                <a:t>1,2,3,4</a:t>
              </a:r>
              <a:r>
                <a:rPr lang="zh-CN" altLang="zh-CN" dirty="0">
                  <a:solidFill>
                    <a:srgbClr val="000000"/>
                  </a:solidFill>
                  <a:ea typeface="楷体" panose="02010609060101010101" pitchFamily="49" charset="-122"/>
                  <a:cs typeface="Times New Roman" panose="02020603050405020304" pitchFamily="18" charset="0"/>
                </a:rPr>
                <a:t>的概率的估计值如下表</a:t>
              </a:r>
              <a:r>
                <a:rPr lang="en-US" altLang="zh-CN"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025761724"/>
                </p:ext>
              </p:extLst>
            </p:nvPr>
          </p:nvGraphicFramePr>
          <p:xfrm>
            <a:off x="349126" y="2076906"/>
            <a:ext cx="11878496" cy="1979554"/>
          </p:xfrm>
          <a:graphic>
            <a:graphicData uri="http://schemas.openxmlformats.org/presentationml/2006/ole">
              <mc:AlternateContent xmlns:mc="http://schemas.openxmlformats.org/markup-compatibility/2006">
                <mc:Choice xmlns:v="urn:schemas-microsoft-com:vml" Requires="v">
                  <p:oleObj spid="_x0000_s45076" name="文档" r:id="rId4" imgW="3894589" imgH="649034" progId="Word.Document.12">
                    <p:embed/>
                  </p:oleObj>
                </mc:Choice>
                <mc:Fallback>
                  <p:oleObj name="文档" r:id="rId4" imgW="3894589" imgH="649034" progId="Word.Document.12">
                    <p:embed/>
                    <p:pic>
                      <p:nvPicPr>
                        <p:cNvPr id="0" name=""/>
                        <p:cNvPicPr/>
                        <p:nvPr/>
                      </p:nvPicPr>
                      <p:blipFill>
                        <a:blip r:embed="rId5"/>
                        <a:stretch>
                          <a:fillRect/>
                        </a:stretch>
                      </p:blipFill>
                      <p:spPr>
                        <a:xfrm>
                          <a:off x="349126" y="2076906"/>
                          <a:ext cx="11878496" cy="1979554"/>
                        </a:xfrm>
                        <a:prstGeom prst="rect">
                          <a:avLst/>
                        </a:prstGeom>
                      </p:spPr>
                    </p:pic>
                  </p:oleObj>
                </mc:Fallback>
              </mc:AlternateContent>
            </a:graphicData>
          </a:graphic>
        </p:graphicFrame>
        <p:sp>
          <p:nvSpPr>
            <p:cNvPr id="5" name="矩形 4"/>
            <p:cNvSpPr>
              <a:spLocks noChangeAspect="1"/>
            </p:cNvSpPr>
            <p:nvPr/>
          </p:nvSpPr>
          <p:spPr>
            <a:xfrm>
              <a:off x="361950" y="3395633"/>
              <a:ext cx="10807700" cy="626710"/>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zh-CN" altLang="zh-CN" dirty="0">
                  <a:solidFill>
                    <a:srgbClr val="000000"/>
                  </a:solidFill>
                  <a:ea typeface="楷体" panose="02010609060101010101" pitchFamily="49" charset="-122"/>
                  <a:cs typeface="Times New Roman" panose="02020603050405020304" pitchFamily="18" charset="0"/>
                </a:rPr>
                <a:t>一天中到该公园锻炼的平均人次的估计值为</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1989984"/>
                </p:ext>
              </p:extLst>
            </p:nvPr>
          </p:nvGraphicFramePr>
          <p:xfrm>
            <a:off x="435845" y="4066292"/>
            <a:ext cx="11705058" cy="728035"/>
          </p:xfrm>
          <a:graphic>
            <a:graphicData uri="http://schemas.openxmlformats.org/presentationml/2006/ole">
              <mc:AlternateContent xmlns:mc="http://schemas.openxmlformats.org/markup-compatibility/2006">
                <mc:Choice xmlns:v="urn:schemas-microsoft-com:vml" Requires="v">
                  <p:oleObj spid="_x0000_s45077" name="文档" r:id="rId7" imgW="3837724" imgH="238700" progId="Word.Document.12">
                    <p:embed/>
                  </p:oleObj>
                </mc:Choice>
                <mc:Fallback>
                  <p:oleObj name="文档" r:id="rId7" imgW="3837724" imgH="238700" progId="Word.Document.12">
                    <p:embed/>
                    <p:pic>
                      <p:nvPicPr>
                        <p:cNvPr id="0" name=""/>
                        <p:cNvPicPr/>
                        <p:nvPr/>
                      </p:nvPicPr>
                      <p:blipFill>
                        <a:blip r:embed="rId8"/>
                        <a:stretch>
                          <a:fillRect/>
                        </a:stretch>
                      </p:blipFill>
                      <p:spPr>
                        <a:xfrm>
                          <a:off x="435845" y="4066292"/>
                          <a:ext cx="11705058" cy="728035"/>
                        </a:xfrm>
                        <a:prstGeom prst="rect">
                          <a:avLst/>
                        </a:prstGeom>
                      </p:spPr>
                    </p:pic>
                  </p:oleObj>
                </mc:Fallback>
              </mc:AlternateContent>
            </a:graphicData>
          </a:graphic>
        </p:graphicFrame>
      </p:grpSp>
    </p:spTree>
    <p:extLst>
      <p:ext uri="{BB962C8B-B14F-4D97-AF65-F5344CB8AC3E}">
        <p14:creationId xmlns:p14="http://schemas.microsoft.com/office/powerpoint/2010/main" val="642507097"/>
      </p:ext>
    </p:extLst>
  </p:cSld>
  <p:clrMapOvr>
    <a:masterClrMapping/>
  </p:clrMapOvr>
  <p:transition spd="slow">
    <p:randomBar dir="vert"/>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53124"/>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9</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2020·</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Ⅰ</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某厂承接了一项加工业务</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加工出来的产品</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单位</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按标准分为</a:t>
            </a:r>
            <a:r>
              <a:rPr lang="en-US" altLang="zh-CN" dirty="0">
                <a:solidFill>
                  <a:srgbClr val="000000"/>
                </a:solidFill>
                <a:latin typeface="+mn-lt"/>
                <a:ea typeface="宋体" panose="02010600030101010101" pitchFamily="2" charset="-122"/>
                <a:cs typeface="Times New Roman" panose="02020603050405020304" pitchFamily="18" charset="0"/>
              </a:rPr>
              <a:t>A,B,C,D</a:t>
            </a:r>
            <a:r>
              <a:rPr lang="zh-CN" altLang="zh-CN" dirty="0">
                <a:solidFill>
                  <a:srgbClr val="000000"/>
                </a:solidFill>
                <a:latin typeface="+mn-lt"/>
                <a:ea typeface="宋体" panose="02010600030101010101" pitchFamily="2" charset="-122"/>
                <a:cs typeface="Times New Roman" panose="02020603050405020304" pitchFamily="18" charset="0"/>
              </a:rPr>
              <a:t>四个等级</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加工业务约定</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对于</a:t>
            </a: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级品、</a:t>
            </a:r>
            <a:r>
              <a:rPr lang="en-US" altLang="zh-CN"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级品、</a:t>
            </a:r>
            <a:r>
              <a:rPr lang="en-US" altLang="zh-CN"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级品</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厂家每件分别收取加工费</a:t>
            </a:r>
            <a:r>
              <a:rPr lang="en-US" altLang="zh-CN" dirty="0">
                <a:solidFill>
                  <a:srgbClr val="000000"/>
                </a:solidFill>
                <a:latin typeface="+mn-lt"/>
                <a:ea typeface="宋体" panose="02010600030101010101" pitchFamily="2" charset="-122"/>
                <a:cs typeface="Times New Roman" panose="02020603050405020304" pitchFamily="18" charset="0"/>
              </a:rPr>
              <a:t>90</a:t>
            </a:r>
            <a:r>
              <a:rPr lang="zh-CN" altLang="zh-CN" dirty="0">
                <a:solidFill>
                  <a:srgbClr val="000000"/>
                </a:solidFill>
                <a:latin typeface="+mn-lt"/>
                <a:ea typeface="宋体" panose="02010600030101010101" pitchFamily="2" charset="-122"/>
                <a:cs typeface="Times New Roman" panose="02020603050405020304" pitchFamily="18" charset="0"/>
              </a:rPr>
              <a:t>元</a:t>
            </a:r>
            <a:r>
              <a:rPr lang="en-US" altLang="zh-CN" dirty="0" smtClean="0">
                <a:solidFill>
                  <a:srgbClr val="000000"/>
                </a:solidFill>
                <a:latin typeface="+mn-lt"/>
                <a:ea typeface="宋体" panose="02010600030101010101" pitchFamily="2" charset="-122"/>
                <a:cs typeface="Times New Roman" panose="02020603050405020304" pitchFamily="18" charset="0"/>
              </a:rPr>
              <a:t>, 50</a:t>
            </a:r>
            <a:r>
              <a:rPr lang="zh-CN" altLang="zh-CN" dirty="0">
                <a:solidFill>
                  <a:srgbClr val="000000"/>
                </a:solidFill>
                <a:latin typeface="+mn-lt"/>
                <a:ea typeface="宋体" panose="02010600030101010101" pitchFamily="2" charset="-122"/>
                <a:cs typeface="Times New Roman" panose="02020603050405020304" pitchFamily="18" charset="0"/>
              </a:rPr>
              <a:t>元</a:t>
            </a:r>
            <a:r>
              <a:rPr lang="en-US" altLang="zh-CN" dirty="0">
                <a:solidFill>
                  <a:srgbClr val="000000"/>
                </a:solidFill>
                <a:latin typeface="+mn-lt"/>
                <a:ea typeface="宋体" panose="02010600030101010101" pitchFamily="2" charset="-122"/>
                <a:cs typeface="Times New Roman" panose="02020603050405020304" pitchFamily="18" charset="0"/>
              </a:rPr>
              <a:t>,20</a:t>
            </a:r>
            <a:r>
              <a:rPr lang="zh-CN" altLang="zh-CN" dirty="0">
                <a:solidFill>
                  <a:srgbClr val="000000"/>
                </a:solidFill>
                <a:latin typeface="+mn-lt"/>
                <a:ea typeface="宋体" panose="02010600030101010101" pitchFamily="2" charset="-122"/>
                <a:cs typeface="Times New Roman" panose="02020603050405020304" pitchFamily="18" charset="0"/>
              </a:rPr>
              <a:t>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对于</a:t>
            </a:r>
            <a:r>
              <a:rPr lang="en-US" altLang="zh-CN" dirty="0">
                <a:solidFill>
                  <a:srgbClr val="000000"/>
                </a:solidFill>
                <a:latin typeface="+mn-lt"/>
                <a:ea typeface="宋体" panose="02010600030101010101" pitchFamily="2" charset="-122"/>
                <a:cs typeface="Times New Roman" panose="02020603050405020304" pitchFamily="18" charset="0"/>
              </a:rPr>
              <a:t>D</a:t>
            </a:r>
            <a:r>
              <a:rPr lang="zh-CN" altLang="zh-CN" dirty="0">
                <a:solidFill>
                  <a:srgbClr val="000000"/>
                </a:solidFill>
                <a:latin typeface="+mn-lt"/>
                <a:ea typeface="宋体" panose="02010600030101010101" pitchFamily="2" charset="-122"/>
                <a:cs typeface="Times New Roman" panose="02020603050405020304" pitchFamily="18" charset="0"/>
              </a:rPr>
              <a:t>级品</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厂家每件要赔偿原料损失费</a:t>
            </a:r>
            <a:r>
              <a:rPr lang="en-US" altLang="zh-CN" dirty="0">
                <a:solidFill>
                  <a:srgbClr val="000000"/>
                </a:solidFill>
                <a:latin typeface="+mn-lt"/>
                <a:ea typeface="宋体" panose="02010600030101010101" pitchFamily="2" charset="-122"/>
                <a:cs typeface="Times New Roman" panose="02020603050405020304" pitchFamily="18" charset="0"/>
              </a:rPr>
              <a:t>50</a:t>
            </a:r>
            <a:r>
              <a:rPr lang="zh-CN" altLang="zh-CN" dirty="0">
                <a:solidFill>
                  <a:srgbClr val="000000"/>
                </a:solidFill>
                <a:latin typeface="+mn-lt"/>
                <a:ea typeface="宋体" panose="02010600030101010101" pitchFamily="2" charset="-122"/>
                <a:cs typeface="Times New Roman" panose="02020603050405020304" pitchFamily="18" charset="0"/>
              </a:rPr>
              <a:t>元</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该厂有甲、乙两个分厂可承接加工业务</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甲分厂加工成本费为</a:t>
            </a:r>
            <a:r>
              <a:rPr lang="en-US" altLang="zh-CN" dirty="0">
                <a:solidFill>
                  <a:srgbClr val="000000"/>
                </a:solidFill>
                <a:latin typeface="+mn-lt"/>
                <a:ea typeface="宋体" panose="02010600030101010101" pitchFamily="2" charset="-122"/>
                <a:cs typeface="Times New Roman" panose="02020603050405020304" pitchFamily="18" charset="0"/>
              </a:rPr>
              <a:t>25</a:t>
            </a:r>
            <a:r>
              <a:rPr lang="zh-CN" altLang="zh-CN" dirty="0">
                <a:solidFill>
                  <a:srgbClr val="000000"/>
                </a:solidFill>
                <a:latin typeface="+mn-lt"/>
                <a:ea typeface="宋体" panose="02010600030101010101" pitchFamily="2" charset="-122"/>
                <a:cs typeface="Times New Roman" panose="02020603050405020304" pitchFamily="18" charset="0"/>
              </a:rPr>
              <a:t>元</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乙分厂加工成本费为</a:t>
            </a:r>
            <a:r>
              <a:rPr lang="en-US" altLang="zh-CN" dirty="0">
                <a:solidFill>
                  <a:srgbClr val="000000"/>
                </a:solidFill>
                <a:latin typeface="+mn-lt"/>
                <a:ea typeface="宋体" panose="02010600030101010101" pitchFamily="2" charset="-122"/>
                <a:cs typeface="Times New Roman" panose="02020603050405020304" pitchFamily="18" charset="0"/>
              </a:rPr>
              <a:t>20</a:t>
            </a:r>
            <a:r>
              <a:rPr lang="zh-CN" altLang="zh-CN" dirty="0">
                <a:solidFill>
                  <a:srgbClr val="000000"/>
                </a:solidFill>
                <a:latin typeface="+mn-lt"/>
                <a:ea typeface="宋体" panose="02010600030101010101" pitchFamily="2" charset="-122"/>
                <a:cs typeface="Times New Roman" panose="02020603050405020304" pitchFamily="18" charset="0"/>
              </a:rPr>
              <a:t>元</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件</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厂家为决定由哪个分厂承接加工业务</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在两个分厂各试加工了</a:t>
            </a:r>
            <a:r>
              <a:rPr lang="en-US" altLang="zh-CN" dirty="0">
                <a:solidFill>
                  <a:srgbClr val="000000"/>
                </a:solidFill>
                <a:latin typeface="+mn-lt"/>
                <a:ea typeface="宋体" panose="02010600030101010101" pitchFamily="2" charset="-122"/>
                <a:cs typeface="Times New Roman" panose="02020603050405020304" pitchFamily="18" charset="0"/>
              </a:rPr>
              <a:t>100</a:t>
            </a:r>
            <a:r>
              <a:rPr lang="zh-CN" altLang="zh-CN" dirty="0">
                <a:solidFill>
                  <a:srgbClr val="000000"/>
                </a:solidFill>
                <a:latin typeface="+mn-lt"/>
                <a:ea typeface="宋体" panose="02010600030101010101" pitchFamily="2" charset="-122"/>
                <a:cs typeface="Times New Roman" panose="02020603050405020304" pitchFamily="18" charset="0"/>
              </a:rPr>
              <a:t>件这种产品</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并统计了这些产品的等级</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整理如下</a:t>
            </a:r>
            <a:r>
              <a:rPr lang="en-US" altLang="zh-CN" dirty="0" smtClean="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91740145"/>
      </p:ext>
    </p:extLst>
  </p:cSld>
  <p:clrMapOvr>
    <a:masterClrMapping/>
  </p:clrMapOvr>
  <p:transition spd="slow">
    <p:randomBar dir="vert"/>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13615"/>
            <a:ext cx="10807700" cy="604781"/>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甲分厂产品等级的频数分布表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59995724"/>
              </p:ext>
            </p:extLst>
          </p:nvPr>
        </p:nvGraphicFramePr>
        <p:xfrm>
          <a:off x="144413" y="1089679"/>
          <a:ext cx="11878496" cy="1979554"/>
        </p:xfrm>
        <a:graphic>
          <a:graphicData uri="http://schemas.openxmlformats.org/presentationml/2006/ole">
            <mc:AlternateContent xmlns:mc="http://schemas.openxmlformats.org/markup-compatibility/2006">
              <mc:Choice xmlns:v="urn:schemas-microsoft-com:vml" Requires="v">
                <p:oleObj spid="_x0000_s46098" name="文档" r:id="rId4" imgW="3894589" imgH="649034" progId="Word.Document.12">
                  <p:embed/>
                </p:oleObj>
              </mc:Choice>
              <mc:Fallback>
                <p:oleObj name="文档" r:id="rId4" imgW="3894589" imgH="649034" progId="Word.Document.12">
                  <p:embed/>
                  <p:pic>
                    <p:nvPicPr>
                      <p:cNvPr id="0" name=""/>
                      <p:cNvPicPr/>
                      <p:nvPr/>
                    </p:nvPicPr>
                    <p:blipFill>
                      <a:blip r:embed="rId5"/>
                      <a:stretch>
                        <a:fillRect/>
                      </a:stretch>
                    </p:blipFill>
                    <p:spPr>
                      <a:xfrm>
                        <a:off x="144413" y="1089679"/>
                        <a:ext cx="11878496" cy="1979554"/>
                      </a:xfrm>
                      <a:prstGeom prst="rect">
                        <a:avLst/>
                      </a:prstGeom>
                    </p:spPr>
                  </p:pic>
                </p:oleObj>
              </mc:Fallback>
            </mc:AlternateContent>
          </a:graphicData>
        </a:graphic>
      </p:graphicFrame>
      <p:sp>
        <p:nvSpPr>
          <p:cNvPr id="4" name="矩形 3"/>
          <p:cNvSpPr>
            <a:spLocks noChangeAspect="1"/>
          </p:cNvSpPr>
          <p:nvPr/>
        </p:nvSpPr>
        <p:spPr>
          <a:xfrm>
            <a:off x="2944355" y="2331882"/>
            <a:ext cx="5642890" cy="683264"/>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乙分厂产品等级的频数分布</a:t>
            </a:r>
            <a:r>
              <a:rPr lang="zh-CN" altLang="zh-CN" dirty="0" smtClean="0">
                <a:solidFill>
                  <a:srgbClr val="000000"/>
                </a:solidFill>
                <a:ea typeface="宋体" panose="02010600030101010101" pitchFamily="2" charset="-122"/>
                <a:cs typeface="Times New Roman" panose="02020603050405020304" pitchFamily="18" charset="0"/>
              </a:rPr>
              <a:t>表</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18330827"/>
              </p:ext>
            </p:extLst>
          </p:nvPr>
        </p:nvGraphicFramePr>
        <p:xfrm>
          <a:off x="170061" y="2933306"/>
          <a:ext cx="11878496" cy="1979554"/>
        </p:xfrm>
        <a:graphic>
          <a:graphicData uri="http://schemas.openxmlformats.org/presentationml/2006/ole">
            <mc:AlternateContent xmlns:mc="http://schemas.openxmlformats.org/markup-compatibility/2006">
              <mc:Choice xmlns:v="urn:schemas-microsoft-com:vml" Requires="v">
                <p:oleObj spid="_x0000_s46099" name="文档" r:id="rId7" imgW="3894589" imgH="649034" progId="Word.Document.12">
                  <p:embed/>
                </p:oleObj>
              </mc:Choice>
              <mc:Fallback>
                <p:oleObj name="文档" r:id="rId7" imgW="3894589" imgH="649034" progId="Word.Document.12">
                  <p:embed/>
                  <p:pic>
                    <p:nvPicPr>
                      <p:cNvPr id="0" name=""/>
                      <p:cNvPicPr/>
                      <p:nvPr/>
                    </p:nvPicPr>
                    <p:blipFill>
                      <a:blip r:embed="rId8"/>
                      <a:stretch>
                        <a:fillRect/>
                      </a:stretch>
                    </p:blipFill>
                    <p:spPr>
                      <a:xfrm>
                        <a:off x="170061" y="2933306"/>
                        <a:ext cx="11878496" cy="1979554"/>
                      </a:xfrm>
                      <a:prstGeom prst="rect">
                        <a:avLst/>
                      </a:prstGeom>
                    </p:spPr>
                  </p:pic>
                </p:oleObj>
              </mc:Fallback>
            </mc:AlternateContent>
          </a:graphicData>
        </a:graphic>
      </p:graphicFrame>
      <p:sp>
        <p:nvSpPr>
          <p:cNvPr id="6" name="矩形 5"/>
          <p:cNvSpPr>
            <a:spLocks noChangeAspect="1"/>
          </p:cNvSpPr>
          <p:nvPr/>
        </p:nvSpPr>
        <p:spPr>
          <a:xfrm>
            <a:off x="361950" y="4090776"/>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分别估计甲、乙两分厂加工出来的一件产品为</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级品的概率</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分别求甲、乙两分厂加工出来的</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宋体" panose="02010600030101010101" pitchFamily="2" charset="-122"/>
                <a:cs typeface="Times New Roman" panose="02020603050405020304" pitchFamily="18" charset="0"/>
              </a:rPr>
              <a:t>件产品的平均利润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以平均利润为依据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厂家应选哪个分厂承接加工业务</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25377367"/>
      </p:ext>
    </p:extLst>
  </p:cSld>
  <p:clrMapOvr>
    <a:masterClrMapping/>
  </p:clrMapOvr>
  <p:transition spd="slow">
    <p:randomBar dir="vert"/>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1284760635"/>
              </p:ext>
            </p:extLst>
          </p:nvPr>
        </p:nvGraphicFramePr>
        <p:xfrm>
          <a:off x="432445" y="935831"/>
          <a:ext cx="11705058" cy="3040813"/>
        </p:xfrm>
        <a:graphic>
          <a:graphicData uri="http://schemas.openxmlformats.org/presentationml/2006/ole">
            <mc:AlternateContent xmlns:mc="http://schemas.openxmlformats.org/markup-compatibility/2006">
              <mc:Choice xmlns:v="urn:schemas-microsoft-com:vml" Requires="v">
                <p:oleObj spid="_x0000_s47114" name="文档" r:id="rId4" imgW="3837724" imgH="996988" progId="Word.Document.12">
                  <p:embed/>
                </p:oleObj>
              </mc:Choice>
              <mc:Fallback>
                <p:oleObj name="文档" r:id="rId4" imgW="3837724" imgH="996988" progId="Word.Document.12">
                  <p:embed/>
                  <p:pic>
                    <p:nvPicPr>
                      <p:cNvPr id="0" name=""/>
                      <p:cNvPicPr/>
                      <p:nvPr/>
                    </p:nvPicPr>
                    <p:blipFill>
                      <a:blip r:embed="rId5"/>
                      <a:stretch>
                        <a:fillRect/>
                      </a:stretch>
                    </p:blipFill>
                    <p:spPr>
                      <a:xfrm>
                        <a:off x="432445" y="935831"/>
                        <a:ext cx="11705058" cy="3040813"/>
                      </a:xfrm>
                      <a:prstGeom prst="rect">
                        <a:avLst/>
                      </a:prstGeom>
                    </p:spPr>
                  </p:pic>
                </p:oleObj>
              </mc:Fallback>
            </mc:AlternateContent>
          </a:graphicData>
        </a:graphic>
      </p:graphicFrame>
      <p:sp>
        <p:nvSpPr>
          <p:cNvPr id="8" name="矩形 7"/>
          <p:cNvSpPr>
            <a:spLocks noChangeAspect="1"/>
          </p:cNvSpPr>
          <p:nvPr/>
        </p:nvSpPr>
        <p:spPr>
          <a:xfrm>
            <a:off x="361950" y="4110678"/>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zh-CN" altLang="zh-CN" dirty="0">
                <a:solidFill>
                  <a:srgbClr val="000000"/>
                </a:solidFill>
                <a:ea typeface="楷体" panose="02010609060101010101" pitchFamily="49" charset="-122"/>
                <a:cs typeface="Times New Roman" panose="02020603050405020304" pitchFamily="18" charset="0"/>
              </a:rPr>
              <a:t>由数据知甲分厂加工出来的</a:t>
            </a:r>
            <a:r>
              <a:rPr lang="en-US" altLang="zh-CN" dirty="0">
                <a:solidFill>
                  <a:srgbClr val="000000"/>
                </a:solidFill>
                <a:ea typeface="宋体" panose="02010600030101010101" pitchFamily="2" charset="-122"/>
              </a:rPr>
              <a:t>100</a:t>
            </a:r>
            <a:r>
              <a:rPr lang="zh-CN" altLang="zh-CN" dirty="0">
                <a:solidFill>
                  <a:srgbClr val="000000"/>
                </a:solidFill>
                <a:ea typeface="楷体" panose="02010609060101010101" pitchFamily="49" charset="-122"/>
                <a:cs typeface="Times New Roman" panose="02020603050405020304" pitchFamily="18" charset="0"/>
              </a:rPr>
              <a:t>件产品利润的频数分布表为</a:t>
            </a:r>
            <a:endParaRPr lang="zh-CN" altLang="en-US" dirty="0"/>
          </a:p>
        </p:txBody>
      </p:sp>
    </p:spTree>
    <p:extLst>
      <p:ext uri="{BB962C8B-B14F-4D97-AF65-F5344CB8AC3E}">
        <p14:creationId xmlns:p14="http://schemas.microsoft.com/office/powerpoint/2010/main" val="2201838956"/>
      </p:ext>
    </p:extLst>
  </p:cSld>
  <p:clrMapOvr>
    <a:masterClrMapping/>
  </p:clrMapOvr>
  <p:transition spd="slow">
    <p:randomBar dir="vert"/>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4241285117"/>
              </p:ext>
            </p:extLst>
          </p:nvPr>
        </p:nvGraphicFramePr>
        <p:xfrm>
          <a:off x="360437" y="799658"/>
          <a:ext cx="10986394" cy="5320749"/>
        </p:xfrm>
        <a:graphic>
          <a:graphicData uri="http://schemas.openxmlformats.org/presentationml/2006/ole">
            <mc:AlternateContent xmlns:mc="http://schemas.openxmlformats.org/markup-compatibility/2006">
              <mc:Choice xmlns:v="urn:schemas-microsoft-com:vml" Requires="v">
                <p:oleObj spid="_x0000_s48138" name="文档" r:id="rId4" imgW="3894589" imgH="1886163" progId="Word.Document.12">
                  <p:embed/>
                </p:oleObj>
              </mc:Choice>
              <mc:Fallback>
                <p:oleObj name="文档" r:id="rId4" imgW="3894589" imgH="1886163" progId="Word.Document.12">
                  <p:embed/>
                  <p:pic>
                    <p:nvPicPr>
                      <p:cNvPr id="0" name=""/>
                      <p:cNvPicPr/>
                      <p:nvPr/>
                    </p:nvPicPr>
                    <p:blipFill>
                      <a:blip r:embed="rId5"/>
                      <a:stretch>
                        <a:fillRect/>
                      </a:stretch>
                    </p:blipFill>
                    <p:spPr>
                      <a:xfrm>
                        <a:off x="360437" y="799658"/>
                        <a:ext cx="10986394" cy="5320749"/>
                      </a:xfrm>
                      <a:prstGeom prst="rect">
                        <a:avLst/>
                      </a:prstGeom>
                    </p:spPr>
                  </p:pic>
                </p:oleObj>
              </mc:Fallback>
            </mc:AlternateContent>
          </a:graphicData>
        </a:graphic>
      </p:graphicFrame>
    </p:spTree>
    <p:extLst>
      <p:ext uri="{BB962C8B-B14F-4D97-AF65-F5344CB8AC3E}">
        <p14:creationId xmlns:p14="http://schemas.microsoft.com/office/powerpoint/2010/main" val="4275361990"/>
      </p:ext>
    </p:extLst>
  </p:cSld>
  <p:clrMapOvr>
    <a:masterClrMapping/>
  </p:clrMapOvr>
  <p:transition spd="slow">
    <p:randomBar dir="vert"/>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447999"/>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比较甲、乙两分厂加工的产品的平均利润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应选甲分厂承接加工业务</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63748618"/>
      </p:ext>
    </p:extLst>
  </p:cSld>
  <p:clrMapOvr>
    <a:masterClrMapping/>
  </p:clrMapOvr>
  <p:transition spd="slow">
    <p:randomBar dir="vert"/>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01647"/>
            <a:ext cx="10807700" cy="3637919"/>
          </a:xfrm>
          <a:prstGeom prst="rect">
            <a:avLst/>
          </a:prstGeom>
        </p:spPr>
        <p:txBody>
          <a:bodyPr>
            <a:spAutoFit/>
          </a:bodyPr>
          <a:lstStyle/>
          <a:p>
            <a:pPr>
              <a:lnSpc>
                <a:spcPct val="120000"/>
              </a:lnSpc>
            </a:pPr>
            <a:r>
              <a:rPr lang="en-US" altLang="zh-CN" dirty="0" smtClean="0">
                <a:solidFill>
                  <a:srgbClr val="000000"/>
                </a:solidFill>
                <a:ea typeface="宋体" panose="02010600030101010101" pitchFamily="2" charset="-122"/>
              </a:rPr>
              <a:t>10</a:t>
            </a:r>
            <a:r>
              <a:rPr lang="en-US" altLang="zh-CN" i="1" dirty="0" smtClean="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2023·</a:t>
            </a:r>
            <a:r>
              <a:rPr lang="zh-CN" altLang="zh-CN" dirty="0">
                <a:solidFill>
                  <a:srgbClr val="000000"/>
                </a:solidFill>
                <a:ea typeface="楷体" panose="02010609060101010101" pitchFamily="49" charset="-122"/>
                <a:cs typeface="Times New Roman" panose="02020603050405020304" pitchFamily="18" charset="0"/>
              </a:rPr>
              <a:t>全国乙高考</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某厂为比较甲、乙两种工艺对橡胶产品伸缩率的处理效应</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进行</a:t>
            </a:r>
            <a:r>
              <a:rPr lang="en-US" altLang="zh-CN" dirty="0">
                <a:solidFill>
                  <a:srgbClr val="000000"/>
                </a:solidFill>
                <a:ea typeface="宋体" panose="02010600030101010101" pitchFamily="2" charset="-122"/>
              </a:rPr>
              <a:t>10</a:t>
            </a:r>
            <a:r>
              <a:rPr lang="zh-CN" altLang="zh-CN" dirty="0">
                <a:solidFill>
                  <a:srgbClr val="000000"/>
                </a:solidFill>
                <a:ea typeface="宋体" panose="02010600030101010101" pitchFamily="2" charset="-122"/>
                <a:cs typeface="Times New Roman" panose="02020603050405020304" pitchFamily="18" charset="0"/>
              </a:rPr>
              <a:t>次配对试验</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每次配对试验选用材质相同的两个橡胶产品</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随机地选其中一个用甲工艺处理</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另一个用乙工艺处理</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测量处理后的橡胶产品的伸缩率</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甲、乙两种工艺处理后的橡胶产品的伸缩率分别记为</a:t>
            </a:r>
            <a:r>
              <a:rPr lang="en-US" altLang="zh-CN" i="1" dirty="0" err="1" smtClean="0">
                <a:solidFill>
                  <a:srgbClr val="000000"/>
                </a:solidFill>
                <a:ea typeface="宋体" panose="02010600030101010101" pitchFamily="2" charset="-122"/>
              </a:rPr>
              <a:t>x</a:t>
            </a:r>
            <a:r>
              <a:rPr lang="en-US" altLang="zh-CN" i="1" baseline="-25000" dirty="0" err="1" smtClean="0">
                <a:solidFill>
                  <a:srgbClr val="000000"/>
                </a:solidFill>
                <a:ea typeface="宋体" panose="02010600030101010101" pitchFamily="2" charset="-122"/>
              </a:rPr>
              <a:t>i</a:t>
            </a:r>
            <a:r>
              <a:rPr lang="en-US" altLang="zh-CN" dirty="0" err="1" smtClean="0">
                <a:solidFill>
                  <a:srgbClr val="000000"/>
                </a:solidFill>
                <a:ea typeface="宋体" panose="02010600030101010101" pitchFamily="2" charset="-122"/>
              </a:rPr>
              <a:t>,</a:t>
            </a:r>
            <a:r>
              <a:rPr lang="en-US" altLang="zh-CN" i="1" dirty="0" err="1" smtClean="0">
                <a:solidFill>
                  <a:srgbClr val="000000"/>
                </a:solidFill>
                <a:ea typeface="宋体" panose="02010600030101010101" pitchFamily="2" charset="-122"/>
              </a:rPr>
              <a:t>y</a:t>
            </a:r>
            <a:r>
              <a:rPr lang="en-US" altLang="zh-CN" i="1" baseline="-25000" dirty="0" err="1" smtClean="0">
                <a:solidFill>
                  <a:srgbClr val="000000"/>
                </a:solidFill>
                <a:ea typeface="宋体" panose="02010600030101010101" pitchFamily="2" charset="-122"/>
              </a:rPr>
              <a:t>i</a:t>
            </a:r>
            <a:r>
              <a:rPr lang="en-US" altLang="zh-CN" i="1" baseline="-25000" dirty="0" smtClean="0">
                <a:solidFill>
                  <a:srgbClr val="000000"/>
                </a:solidFill>
                <a:ea typeface="宋体" panose="02010600030101010101" pitchFamily="2" charset="-122"/>
              </a:rPr>
              <a:t> </a:t>
            </a:r>
            <a:r>
              <a:rPr lang="en-US" altLang="zh-CN" dirty="0" smtClean="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i</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1,2,</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,10)</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试验结果如下</a:t>
            </a:r>
            <a:r>
              <a:rPr lang="en-US" altLang="zh-CN" dirty="0">
                <a:solidFill>
                  <a:srgbClr val="000000"/>
                </a:solidFill>
                <a:ea typeface="宋体" panose="02010600030101010101" pitchFamily="2" charset="-122"/>
              </a:rPr>
              <a:t>:</a:t>
            </a:r>
            <a:endParaRPr lang="zh-CN" altLang="en-US" dirty="0"/>
          </a:p>
        </p:txBody>
      </p:sp>
      <p:graphicFrame>
        <p:nvGraphicFramePr>
          <p:cNvPr id="4" name="表格 3"/>
          <p:cNvGraphicFramePr>
            <a:graphicFrameLocks noGrp="1" noChangeAspect="1"/>
          </p:cNvGraphicFramePr>
          <p:nvPr>
            <p:extLst>
              <p:ext uri="{D42A27DB-BD31-4B8C-83A1-F6EECF244321}">
                <p14:modId xmlns:p14="http://schemas.microsoft.com/office/powerpoint/2010/main" val="3835985030"/>
              </p:ext>
            </p:extLst>
          </p:nvPr>
        </p:nvGraphicFramePr>
        <p:xfrm>
          <a:off x="361951" y="4379167"/>
          <a:ext cx="10807698" cy="1463040"/>
        </p:xfrm>
        <a:graphic>
          <a:graphicData uri="http://schemas.openxmlformats.org/drawingml/2006/table">
            <a:tbl>
              <a:tblPr firstRow="1" firstCol="1" bandRow="1"/>
              <a:tblGrid>
                <a:gridCol w="1870694"/>
                <a:gridCol w="1152128"/>
                <a:gridCol w="864096"/>
                <a:gridCol w="936104"/>
                <a:gridCol w="792088"/>
                <a:gridCol w="936104"/>
                <a:gridCol w="864096"/>
                <a:gridCol w="1008112"/>
                <a:gridCol w="864096"/>
                <a:gridCol w="792088"/>
                <a:gridCol w="728092"/>
              </a:tblGrid>
              <a:tr h="255280">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试验序号</a:t>
                      </a:r>
                      <a:r>
                        <a:rPr lang="en-US" sz="3200" b="1"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伸缩率</a:t>
                      </a:r>
                      <a:r>
                        <a:rPr lang="en-US" sz="3200" b="1"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3200" b="1"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545</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533</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551</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522</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575</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544</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541</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568</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596</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548</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b="1">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伸缩率</a:t>
                      </a:r>
                      <a:r>
                        <a:rPr lang="en-US" sz="3200" b="1"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3200" b="1"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536</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527</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543</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530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560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533</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522</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550</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576</a:t>
                      </a:r>
                      <a:endParaRPr lang="zh-CN" sz="3200" b="1">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b="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536</a:t>
                      </a:r>
                      <a:endParaRPr lang="zh-CN" sz="3200" b="1"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617856096"/>
      </p:ext>
    </p:extLst>
  </p:cSld>
  <p:clrMapOvr>
    <a:masterClrMapping/>
  </p:clrMapOvr>
  <p:transition spd="slow">
    <p:randomBar dir="vert"/>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56783005"/>
              </p:ext>
            </p:extLst>
          </p:nvPr>
        </p:nvGraphicFramePr>
        <p:xfrm>
          <a:off x="360437" y="1007839"/>
          <a:ext cx="10610872" cy="4480086"/>
        </p:xfrm>
        <a:graphic>
          <a:graphicData uri="http://schemas.openxmlformats.org/presentationml/2006/ole">
            <mc:AlternateContent xmlns:mc="http://schemas.openxmlformats.org/markup-compatibility/2006">
              <mc:Choice xmlns:v="urn:schemas-microsoft-com:vml" Requires="v">
                <p:oleObj spid="_x0000_s33823" name="文档" r:id="rId4" imgW="3826872" imgH="1615769" progId="Word.Document.12">
                  <p:embed/>
                </p:oleObj>
              </mc:Choice>
              <mc:Fallback>
                <p:oleObj name="文档" r:id="rId4" imgW="3826872" imgH="1615769" progId="Word.Document.12">
                  <p:embed/>
                  <p:pic>
                    <p:nvPicPr>
                      <p:cNvPr id="0" name=""/>
                      <p:cNvPicPr/>
                      <p:nvPr/>
                    </p:nvPicPr>
                    <p:blipFill>
                      <a:blip r:embed="rId5"/>
                      <a:stretch>
                        <a:fillRect/>
                      </a:stretch>
                    </p:blipFill>
                    <p:spPr>
                      <a:xfrm>
                        <a:off x="360437" y="1007839"/>
                        <a:ext cx="10610872" cy="4480086"/>
                      </a:xfrm>
                      <a:prstGeom prst="rect">
                        <a:avLst/>
                      </a:prstGeom>
                    </p:spPr>
                  </p:pic>
                </p:oleObj>
              </mc:Fallback>
            </mc:AlternateContent>
          </a:graphicData>
        </a:graphic>
      </p:graphicFrame>
    </p:spTree>
    <p:extLst>
      <p:ext uri="{BB962C8B-B14F-4D97-AF65-F5344CB8AC3E}">
        <p14:creationId xmlns:p14="http://schemas.microsoft.com/office/powerpoint/2010/main" val="4192622288"/>
      </p:ext>
    </p:extLst>
  </p:cSld>
  <p:clrMapOvr>
    <a:masterClrMapping/>
  </p:clrMapOvr>
  <p:transition spd="slow">
    <p:randomBar dir="vert"/>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28986742"/>
              </p:ext>
            </p:extLst>
          </p:nvPr>
        </p:nvGraphicFramePr>
        <p:xfrm>
          <a:off x="432445" y="823293"/>
          <a:ext cx="11671959" cy="5215274"/>
        </p:xfrm>
        <a:graphic>
          <a:graphicData uri="http://schemas.openxmlformats.org/presentationml/2006/ole">
            <mc:AlternateContent xmlns:mc="http://schemas.openxmlformats.org/markup-compatibility/2006">
              <mc:Choice xmlns:v="urn:schemas-microsoft-com:vml" Requires="v">
                <p:oleObj spid="_x0000_s34834" name="文档" r:id="rId4" imgW="3826872" imgH="1709926" progId="Word.Document.12">
                  <p:embed/>
                </p:oleObj>
              </mc:Choice>
              <mc:Fallback>
                <p:oleObj name="文档" r:id="rId4" imgW="3826872" imgH="1709926" progId="Word.Document.12">
                  <p:embed/>
                  <p:pic>
                    <p:nvPicPr>
                      <p:cNvPr id="0" name=""/>
                      <p:cNvPicPr/>
                      <p:nvPr/>
                    </p:nvPicPr>
                    <p:blipFill>
                      <a:blip r:embed="rId5"/>
                      <a:stretch>
                        <a:fillRect/>
                      </a:stretch>
                    </p:blipFill>
                    <p:spPr>
                      <a:xfrm>
                        <a:off x="432445" y="823293"/>
                        <a:ext cx="11671959" cy="5215274"/>
                      </a:xfrm>
                      <a:prstGeom prst="rect">
                        <a:avLst/>
                      </a:prstGeom>
                    </p:spPr>
                  </p:pic>
                </p:oleObj>
              </mc:Fallback>
            </mc:AlternateContent>
          </a:graphicData>
        </a:graphic>
      </p:graphicFrame>
    </p:spTree>
    <p:extLst>
      <p:ext uri="{BB962C8B-B14F-4D97-AF65-F5344CB8AC3E}">
        <p14:creationId xmlns:p14="http://schemas.microsoft.com/office/powerpoint/2010/main" val="2491162867"/>
      </p:ext>
    </p:extLst>
  </p:cSld>
  <p:clrMapOvr>
    <a:masterClrMapping/>
  </p:clrMapOvr>
  <p:transition spd="slow">
    <p:randomBar dir="vert"/>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142</TotalTime>
  <Words>3790</Words>
  <Application>Microsoft Office PowerPoint</Application>
  <PresentationFormat>自定义</PresentationFormat>
  <Paragraphs>278</Paragraphs>
  <Slides>78</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78</vt:i4>
      </vt:variant>
    </vt:vector>
  </HeadingPairs>
  <TitlesOfParts>
    <vt:vector size="92" baseType="lpstr">
      <vt:lpstr>NEU-BZ-S92</vt:lpstr>
      <vt:lpstr>方正书宋_GBK</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38</cp:revision>
  <dcterms:created xsi:type="dcterms:W3CDTF">2020-09-12T05:36:12Z</dcterms:created>
  <dcterms:modified xsi:type="dcterms:W3CDTF">2025-09-04T07:30:50Z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