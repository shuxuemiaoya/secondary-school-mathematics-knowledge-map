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9" r:id="rId10"/>
    <p:sldId id="760" r:id="rId11"/>
    <p:sldId id="761" r:id="rId12"/>
    <p:sldId id="762" r:id="rId13"/>
    <p:sldId id="763" r:id="rId14"/>
    <p:sldId id="764" r:id="rId15"/>
    <p:sldId id="765" r:id="rId16"/>
    <p:sldId id="737" r:id="rId17"/>
    <p:sldId id="750" r:id="rId18"/>
    <p:sldId id="767" r:id="rId19"/>
    <p:sldId id="768" r:id="rId20"/>
    <p:sldId id="769" r:id="rId21"/>
    <p:sldId id="770" r:id="rId22"/>
    <p:sldId id="754" r:id="rId23"/>
    <p:sldId id="771" r:id="rId24"/>
    <p:sldId id="772" r:id="rId25"/>
    <p:sldId id="773" r:id="rId26"/>
    <p:sldId id="774" r:id="rId27"/>
    <p:sldId id="775" r:id="rId28"/>
    <p:sldId id="776" r:id="rId29"/>
    <p:sldId id="777" r:id="rId30"/>
    <p:sldId id="755" r:id="rId31"/>
    <p:sldId id="778" r:id="rId32"/>
    <p:sldId id="780" r:id="rId33"/>
    <p:sldId id="781" r:id="rId34"/>
    <p:sldId id="782" r:id="rId35"/>
    <p:sldId id="747" r:id="rId36"/>
    <p:sldId id="751" r:id="rId37"/>
    <p:sldId id="783" r:id="rId38"/>
    <p:sldId id="784" r:id="rId39"/>
    <p:sldId id="785" r:id="rId40"/>
    <p:sldId id="748" r:id="rId41"/>
    <p:sldId id="752" r:id="rId42"/>
    <p:sldId id="786" r:id="rId43"/>
    <p:sldId id="787" r:id="rId44"/>
    <p:sldId id="788" r:id="rId45"/>
    <p:sldId id="735" r:id="rId46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84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45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0.xml"/><Relationship Id="rId5" Type="http://schemas.openxmlformats.org/officeDocument/2006/relationships/slide" Target="slide35.xml"/><Relationship Id="rId4" Type="http://schemas.openxmlformats.org/officeDocument/2006/relationships/slide" Target="slide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4" Type="http://schemas.openxmlformats.org/officeDocument/2006/relationships/slide" Target="slide3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Word___9.docx"/><Relationship Id="rId4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0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__11.docx"/><Relationship Id="rId4" Type="http://schemas.openxmlformats.org/officeDocument/2006/relationships/oleObject" Target="../embeddings/oleObject11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2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3.doc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9.jpeg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5.docx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6.docx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359657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事件的关系和运算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387541"/>
            <a:ext cx="10729192" cy="3456385"/>
            <a:chOff x="360437" y="1387541"/>
            <a:chExt cx="10729192" cy="345638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387541"/>
              <a:ext cx="10729192" cy="3456385"/>
              <a:chOff x="360437" y="1918784"/>
              <a:chExt cx="10729192" cy="2360758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918784"/>
                <a:ext cx="10729192" cy="236075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957081"/>
                <a:ext cx="0" cy="2262392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473789"/>
              <a:ext cx="8496944" cy="2990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了解随机事件的并、交与互斥、对立的含义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能结合实例进行随机事件的并、交运算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学会用集合的关系与运算探究事件的关系与运算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提升数学抽象、逻辑推理和数据分析素养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58352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事件的关系和运算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班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学生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数学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建模课分成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个小组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编号为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1,2,3,4,5),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采用合作学习的方式进行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课堂上教师会随机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选择</a:t>
            </a:r>
            <a:r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小组的成果进行展示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请写出这一试验的样本空间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{1,2,3,4,5}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13615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请用集合的形式表示下列事件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选择第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选择第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组或第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选择第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组或第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选择第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组或第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组或第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选择第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组或第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{1,3},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{4,5}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请用集合的关系和运算回答下列问题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有什么关系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与哪个集合相等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与哪个集合相等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有公共元素吗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⑤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用集合的形式怎样表示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包含于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E=C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没有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没有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G=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72011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5799"/>
            <a:ext cx="595035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285493"/>
              </p:ext>
            </p:extLst>
          </p:nvPr>
        </p:nvGraphicFramePr>
        <p:xfrm>
          <a:off x="216421" y="1549063"/>
          <a:ext cx="10767105" cy="4139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文档" r:id="rId4" imgW="3881046" imgH="1492861" progId="Word.Document.12">
                  <p:embed/>
                </p:oleObj>
              </mc:Choice>
              <mc:Fallback>
                <p:oleObj name="文档" r:id="rId4" imgW="3881046" imgH="14928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1549063"/>
                        <a:ext cx="10767105" cy="41392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548738" y="3332533"/>
            <a:ext cx="76665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143892" y="4422853"/>
            <a:ext cx="114998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050557" y="3321385"/>
            <a:ext cx="244281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7067939" y="3844049"/>
            <a:ext cx="244281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627578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117956"/>
              </p:ext>
            </p:extLst>
          </p:nvPr>
        </p:nvGraphicFramePr>
        <p:xfrm>
          <a:off x="355600" y="828675"/>
          <a:ext cx="10768013" cy="578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文档" r:id="rId4" imgW="3883577" imgH="2088353" progId="Word.Document.12">
                  <p:embed/>
                </p:oleObj>
              </mc:Choice>
              <mc:Fallback>
                <p:oleObj name="文档" r:id="rId4" imgW="3883577" imgH="20883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5600" y="828675"/>
                        <a:ext cx="10768013" cy="578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605044" y="2613531"/>
            <a:ext cx="69696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555771" y="3156243"/>
            <a:ext cx="69696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137127" y="3711929"/>
            <a:ext cx="69696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543976" y="3966012"/>
            <a:ext cx="69696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529476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516500"/>
              </p:ext>
            </p:extLst>
          </p:nvPr>
        </p:nvGraphicFramePr>
        <p:xfrm>
          <a:off x="394532" y="935831"/>
          <a:ext cx="10767105" cy="52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文档" r:id="rId4" imgW="3883218" imgH="1889975" progId="Word.Document.12">
                  <p:embed/>
                </p:oleObj>
              </mc:Choice>
              <mc:Fallback>
                <p:oleObj name="文档" r:id="rId4" imgW="3883218" imgH="18899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4532" y="935831"/>
                        <a:ext cx="10767105" cy="5240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758217" y="2714515"/>
            <a:ext cx="69696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58144" y="3267985"/>
            <a:ext cx="1134941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208483" y="3816151"/>
            <a:ext cx="1134941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633245" y="3783877"/>
            <a:ext cx="49145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150022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055710"/>
              </p:ext>
            </p:extLst>
          </p:nvPr>
        </p:nvGraphicFramePr>
        <p:xfrm>
          <a:off x="322524" y="1215038"/>
          <a:ext cx="10767105" cy="4689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文档" r:id="rId4" imgW="3883218" imgH="1691239" progId="Word.Document.12">
                  <p:embed/>
                </p:oleObj>
              </mc:Choice>
              <mc:Fallback>
                <p:oleObj name="文档" r:id="rId4" imgW="3883218" imgH="16912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2524" y="1215038"/>
                        <a:ext cx="10767105" cy="4689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333579" y="3005845"/>
            <a:ext cx="149400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300048" y="3548952"/>
            <a:ext cx="112246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351765" y="4072480"/>
            <a:ext cx="20188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993285" y="3505525"/>
            <a:ext cx="20188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32400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446980"/>
              </p:ext>
            </p:extLst>
          </p:nvPr>
        </p:nvGraphicFramePr>
        <p:xfrm>
          <a:off x="322263" y="677295"/>
          <a:ext cx="10769600" cy="527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文档" r:id="rId4" imgW="3883577" imgH="1904710" progId="Word.Document.12">
                  <p:embed/>
                </p:oleObj>
              </mc:Choice>
              <mc:Fallback>
                <p:oleObj name="文档" r:id="rId4" imgW="3883577" imgH="19047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2263" y="677295"/>
                        <a:ext cx="10769600" cy="527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5347157" y="2461906"/>
            <a:ext cx="149400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510778" y="3016454"/>
            <a:ext cx="32513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366431" y="3543104"/>
            <a:ext cx="166847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882257" y="4644740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3877667" y="5108838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015019" y="2983791"/>
            <a:ext cx="18353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8143125" y="3543104"/>
            <a:ext cx="32513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361950" y="526614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特别地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包含事件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也包含事件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A=B.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38705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27461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同时抛掷两枚硬币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观察它们落地时朝上的面的情况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朝上的面都是正面为事件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朝上的面至少有一枚是正面为事件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.M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.M=N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M&lt;N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抛掷一枚质地均匀的正方体骰子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朝上的点数是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朝上的点数是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朝上的点数是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用集合的形式表示事件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73486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151855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反面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反面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发生时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一定发生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{3,4},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{1,3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{1,3,4},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{3}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(1)A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(2){1,3,4}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{3}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0052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593939" y="527507"/>
            <a:ext cx="12763589" cy="6014788"/>
            <a:chOff x="-1593939" y="493951"/>
            <a:chExt cx="12763589" cy="601478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493951"/>
              <a:ext cx="10807700" cy="60147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任何一个随机事件都包含于样本空间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Ω.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至少有一个发生用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表示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发生包含两层意思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发生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不发生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不发生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发生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互斥的事件一定是对立事件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(5)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的对立事件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相当于集合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在全集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中的补集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∁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 algn="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7878724"/>
                </p:ext>
              </p:extLst>
            </p:nvPr>
          </p:nvGraphicFramePr>
          <p:xfrm>
            <a:off x="-1593939" y="5231453"/>
            <a:ext cx="11705058" cy="544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8" name="文档" r:id="rId4" imgW="3837724" imgH="178484" progId="Word.Document.12">
                    <p:embed/>
                  </p:oleObj>
                </mc:Choice>
                <mc:Fallback>
                  <p:oleObj name="文档" r:id="rId4" imgW="3837724" imgH="17848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1593939" y="5231453"/>
                          <a:ext cx="11705058" cy="5443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/>
          <p:cNvSpPr/>
          <p:nvPr/>
        </p:nvSpPr>
        <p:spPr>
          <a:xfrm>
            <a:off x="8209309" y="2406471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8568638" y="3004444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735990" y="4156572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6264382" y="4782735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0379709" y="5915534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739634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事件</a:t>
            </a:r>
            <a:r>
              <a:rPr lang="zh-CN" altLang="zh-CN" dirty="0"/>
              <a:t>的关系与运算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495511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根据集合间的包含、交、并、补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来判断事件间的关系和运算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1950" y="1375436"/>
            <a:ext cx="11745623" cy="3636893"/>
            <a:chOff x="361950" y="1345940"/>
            <a:chExt cx="11745623" cy="363689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345940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掷一枚骰子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观察它朝上的面的点数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1”,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点数为偶数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点数小于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3”,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点数大于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点数是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的倍数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用集合的形式分别写出试验的样本空间以及上述各事件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之间各有什么关系</a:t>
              </a:r>
              <a:r>
                <a:rPr lang="en-US" altLang="zh-CN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8526930"/>
                </p:ext>
              </p:extLst>
            </p:nvPr>
          </p:nvGraphicFramePr>
          <p:xfrm>
            <a:off x="435614" y="4333936"/>
            <a:ext cx="11671959" cy="6488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7" name="文档" r:id="rId4" imgW="3826872" imgH="212753" progId="Word.Document.12">
                    <p:embed/>
                  </p:oleObj>
                </mc:Choice>
                <mc:Fallback>
                  <p:oleObj name="文档" r:id="rId4" imgW="3826872" imgH="21275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5614" y="4333936"/>
                          <a:ext cx="11671959" cy="6488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044698"/>
            <a:ext cx="11722790" cy="4211613"/>
            <a:chOff x="361950" y="791815"/>
            <a:chExt cx="11722790" cy="4211613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791815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因为掷一枚骰子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落地时朝上面的点数有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1,2,3,4,5,6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个可能的基本结果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所以试验的样本空间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{1,2,3,4,5,6},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{1},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{2,4,6},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{1,2},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{3,4,5,6},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{3,6}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D=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D=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互为对立事件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9893387"/>
                </p:ext>
              </p:extLst>
            </p:nvPr>
          </p:nvGraphicFramePr>
          <p:xfrm>
            <a:off x="412781" y="4354531"/>
            <a:ext cx="11671959" cy="6488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1" name="文档" r:id="rId4" imgW="3837724" imgH="213460" progId="Word.Document.12">
                    <p:embed/>
                  </p:oleObj>
                </mc:Choice>
                <mc:Fallback>
                  <p:oleObj name="文档" r:id="rId4" imgW="3837724" imgH="21346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2781" y="4354531"/>
                          <a:ext cx="11671959" cy="6488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8866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38397" y="1367879"/>
            <a:ext cx="11671959" cy="3134548"/>
            <a:chOff x="338397" y="709975"/>
            <a:chExt cx="11671959" cy="3134548"/>
          </a:xfrm>
        </p:grpSpPr>
        <p:pic>
          <p:nvPicPr>
            <p:cNvPr id="5" name="反思感悟H.eps" descr="id:2147490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709975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308715"/>
              <a:ext cx="3203121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事件间的运算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9177717"/>
                </p:ext>
              </p:extLst>
            </p:nvPr>
          </p:nvGraphicFramePr>
          <p:xfrm>
            <a:off x="338397" y="1946066"/>
            <a:ext cx="11671959" cy="1898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5" name="文档" r:id="rId5" imgW="3826872" imgH="622445" progId="Word.Document.12">
                    <p:embed/>
                  </p:oleObj>
                </mc:Choice>
                <mc:Fallback>
                  <p:oleObj name="文档" r:id="rId5" imgW="3826872" imgH="62244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8397" y="1946066"/>
                          <a:ext cx="11671959" cy="189845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09192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43527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进行事件的运算时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一是要紧扣运算的定义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二是写出试验的样本空间及各事件的集合表示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利用集合间的运算判断事件间的运算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必要时可利用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图判断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提醒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在一些比较简单的题目中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可以根据集合间的关系来判断事件之间的关系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但对于比较复杂的题目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就得严格按照事件间的关系的定义来推理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17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549401"/>
            <a:ext cx="10807700" cy="59735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盒子里有大小和质地完全相同的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个红球、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现从中任取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取出的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个球中有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个红球、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取出的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个球中有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个红球、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个白球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取出的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个球中至少有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个红球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取出的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个球中既有红球又有白球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是什么样的运算关系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的交事件是什么事件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可能的结果有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个红球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个红球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可能的结果有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个红球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个红球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个红球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A=A.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56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72602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互斥事件</a:t>
            </a:r>
            <a:r>
              <a:rPr lang="zh-CN" altLang="zh-CN" dirty="0"/>
              <a:t>与对立事件的判断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450170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某县城有甲、乙两种报纸供居民订阅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只订甲报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至少订一种报纸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至多订一种报纸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一种报纸也不订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判断下列事件是不是互斥事件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再判断它们是不是对立事件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要紧紧抓住互斥与对立事件的定义来判断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或把事件用集合表示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利用集合的关系来判断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07839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概念法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至多订一种报纸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中包括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只订甲报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有可能同时发生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不是互斥事件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至少订一种报纸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一种报纸也不订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是不可能同时发生的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是互斥事件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由于在任何一次试验中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两者只能发生其中之一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而且也必然发生其中之一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是对立事件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49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35831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至少订一种报纸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中包括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只订甲报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只订乙报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 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订甲、乙两种报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至多订一种报纸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中包括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一种报纸也不订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只订甲报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只订乙报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也就是说事件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可能同时发生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不是互斥事件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只订甲报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一种报纸也不订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不可能同时发生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是互斥事件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但在一次试验中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有可能都不发生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不是对立事件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是互斥事件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但不是对立事件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65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46217"/>
            <a:ext cx="10807700" cy="59735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方法二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表示甲、乙两种报纸的订阅情况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用数组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表示可能的结果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表示订阅报纸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表示不订阅报纸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{(1,1),(1,0),(0,1),(0,0)}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{(1,0)},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{(1,1),(1,0),(0,1)},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{(1,0),(0,1),(0,0)},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{(0,0)}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{(1,0)},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不是互斥事件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是互斥事件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且还是对立事件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{(1,0),(0,1)},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不是互斥事件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是互斥事件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但不是对立事件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31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772151"/>
            <a:ext cx="10807700" cy="5348256"/>
            <a:chOff x="361950" y="729639"/>
            <a:chExt cx="10807700" cy="5348256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72963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314668"/>
              <a:ext cx="10807700" cy="476322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互斥事件与对立事件的判断方法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利用基本概念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互斥事件不可能同时发生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对立事件首先是互斥事件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且必有一个发生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利用集合的观点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设事件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所包含的样本点组成的集合表示分别是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互斥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为样本空间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也即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∁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∁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43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23847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特别提醒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对立事件是针对两个事件来说的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而互斥事件则可以是多个事件间的关系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18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19911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射击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手进行一次射击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命中的环数大于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命中的环数为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命中的环数小于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命中的环数为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6,7,8,9,10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判断下列各对事件是否为互斥事件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是否为对立事件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并说明理由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06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21839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试验的样本空间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{0,1,2,3,4,5,6,7,8,9,10},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{8,9,10},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{10},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{0,1,2,3,4,5},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{6,7,8,9,10}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不是互斥事件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理由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{10}≠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是互斥事件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但不是对立事件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理由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{0,1,2,3,4,5,8,9,10}≠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是互斥事件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也是对立事件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理由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71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821311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多</a:t>
            </a:r>
            <a:r>
              <a:rPr lang="zh-CN" altLang="zh-CN" dirty="0"/>
              <a:t>个事件运算的表示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449719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设一随机试验有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三个事件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的运算表示以下事件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至少有一个发生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同时发生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都不发生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仅有一个发生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按照事件的和、积、对立的定义表示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288429" y="585623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至少有一个发生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至少有一个发生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A+B+C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同时发生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同时发生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569712"/>
              </p:ext>
            </p:extLst>
          </p:nvPr>
        </p:nvGraphicFramePr>
        <p:xfrm>
          <a:off x="372621" y="2975294"/>
          <a:ext cx="10975543" cy="3335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文档" r:id="rId4" imgW="3837724" imgH="1166457" progId="Word.Document.12">
                  <p:embed/>
                </p:oleObj>
              </mc:Choice>
              <mc:Fallback>
                <p:oleObj name="文档" r:id="rId4" imgW="3837724" imgH="11664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2621" y="2975294"/>
                        <a:ext cx="10975543" cy="33359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195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1995507" y="1444195"/>
            <a:ext cx="13165157" cy="3092036"/>
            <a:chOff x="-1995507" y="1444195"/>
            <a:chExt cx="13165157" cy="3092036"/>
          </a:xfrm>
        </p:grpSpPr>
        <p:grpSp>
          <p:nvGrpSpPr>
            <p:cNvPr id="4" name="组合 3"/>
            <p:cNvGrpSpPr/>
            <p:nvPr/>
          </p:nvGrpSpPr>
          <p:grpSpPr>
            <a:xfrm>
              <a:off x="361950" y="1444195"/>
              <a:ext cx="10807700" cy="3092036"/>
              <a:chOff x="361950" y="940139"/>
              <a:chExt cx="10807700" cy="3092036"/>
            </a:xfrm>
          </p:grpSpPr>
          <p:pic>
            <p:nvPicPr>
              <p:cNvPr id="3" name="反思感悟H.eps" descr="id:2147490797;FounderCES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1950" y="940139"/>
                <a:ext cx="2259558" cy="531552"/>
              </a:xfrm>
              <a:prstGeom prst="rect">
                <a:avLst/>
              </a:prstGeom>
            </p:spPr>
          </p:pic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61950" y="1562973"/>
                <a:ext cx="10807700" cy="246920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表示多个事件的运算时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要紧扣运算的定义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常用的定义有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: (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1)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不发生</a:t>
                </a:r>
                <a:r>
                  <a:rPr lang="zh-CN" altLang="zh-CN" dirty="0" smtClean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用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dirty="0" smtClean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表示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;(2)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并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事件表示至少有一个发生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; (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3)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交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积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事件表示同时发生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出现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至少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”“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至多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”“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恰有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等名词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仿宋" panose="02010609060101010101" pitchFamily="49" charset="-122"/>
                    <a:cs typeface="Times New Roman" panose="02020603050405020304" pitchFamily="18" charset="0"/>
                  </a:rPr>
                  <a:t>注意分情况讨论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3134473"/>
                </p:ext>
              </p:extLst>
            </p:nvPr>
          </p:nvGraphicFramePr>
          <p:xfrm>
            <a:off x="-1995507" y="2728576"/>
            <a:ext cx="11671959" cy="542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0" name="文档" r:id="rId5" imgW="3826872" imgH="177893" progId="Word.Document.12">
                    <p:embed/>
                  </p:oleObj>
                </mc:Choice>
                <mc:Fallback>
                  <p:oleObj name="文档" r:id="rId5" imgW="3826872" imgH="17789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-1995507" y="2728576"/>
                          <a:ext cx="11671959" cy="5425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8782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1170890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甲、乙、丙三人各投一次篮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甲投中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乙投中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丙投中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表示下列事件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甲、乙投中但丙没投中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甲、乙、丙都投中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甲、乙、丙三人至少有一人投中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只有乙投中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7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39805"/>
              </p:ext>
            </p:extLst>
          </p:nvPr>
        </p:nvGraphicFramePr>
        <p:xfrm>
          <a:off x="452109" y="1006100"/>
          <a:ext cx="11671959" cy="437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文档" r:id="rId4" imgW="3826872" imgH="1434283" progId="Word.Document.12">
                  <p:embed/>
                </p:oleObj>
              </mc:Choice>
              <mc:Fallback>
                <p:oleObj name="文档" r:id="rId4" imgW="3826872" imgH="14342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2109" y="1006100"/>
                        <a:ext cx="11671959" cy="4374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346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817841"/>
            <a:ext cx="12393695" cy="3637919"/>
            <a:chOff x="361950" y="954866"/>
            <a:chExt cx="12393695" cy="3637919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954866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对立事件的概念模糊致错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从一批产品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随机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取出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三件产品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三件产品全是次品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的对立事件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　　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错解</a:t>
              </a:r>
              <a:r>
                <a:rPr lang="en-US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三件产品全是正品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三件产品全不是次品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5980099"/>
                </p:ext>
              </p:extLst>
            </p:nvPr>
          </p:nvGraphicFramePr>
          <p:xfrm>
            <a:off x="1083686" y="2198130"/>
            <a:ext cx="11671959" cy="542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4" name="文档" r:id="rId4" imgW="3826872" imgH="177893" progId="Word.Document.12">
                    <p:embed/>
                  </p:oleObj>
                </mc:Choice>
                <mc:Fallback>
                  <p:oleObj name="文档" r:id="rId4" imgW="3826872" imgH="17789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83686" y="2198130"/>
                          <a:ext cx="11671959" cy="5425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067884"/>
              </p:ext>
            </p:extLst>
          </p:nvPr>
        </p:nvGraphicFramePr>
        <p:xfrm>
          <a:off x="445319" y="4415959"/>
          <a:ext cx="10932342" cy="159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文档" r:id="rId7" imgW="3837724" imgH="559251" progId="Word.Document.12">
                  <p:embed/>
                </p:oleObj>
              </mc:Choice>
              <mc:Fallback>
                <p:oleObj name="文档" r:id="rId7" imgW="3837724" imgH="5592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5319" y="4415959"/>
                        <a:ext cx="10932342" cy="1593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73789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正解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从一批产品中取出三件产品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试验的所有可能结果有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三件正品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二件正品一件次品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一件正品二件次品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三件次品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三件产品全是次品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的对立事件是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三件产品不全是次品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三件产品不全是次品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三件产品中至少有一件正品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65712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1806" y="1451179"/>
            <a:ext cx="11671959" cy="3157060"/>
            <a:chOff x="648469" y="1379171"/>
            <a:chExt cx="11671959" cy="315706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0067380"/>
                </p:ext>
              </p:extLst>
            </p:nvPr>
          </p:nvGraphicFramePr>
          <p:xfrm>
            <a:off x="648469" y="2027243"/>
            <a:ext cx="11671959" cy="2508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2" name="文档" r:id="rId4" imgW="3826872" imgH="822619" progId="Word.Document.12">
                    <p:embed/>
                  </p:oleObj>
                </mc:Choice>
                <mc:Fallback>
                  <p:oleObj name="文档" r:id="rId4" imgW="3826872" imgH="82261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48469" y="2027243"/>
                          <a:ext cx="11671959" cy="25089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" name="防范措施H.eps" descr="id:2147490860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48469" y="1379171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90757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23863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一个人打靶时连续射击两次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至少有一次中靶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的对立事件是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i="1" u="sng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					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连续射击两次共有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种可能结果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第一次中靶第二次没中靶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第一次没中靶第二次中靶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两次都中靶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两次都没中靶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至少有一次中靶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的对立事件为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两次都没中靶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两次都没中靶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75798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3947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把红、蓝、黑、白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张纸牌随机分给甲、乙、丙、丁四人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每人分得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甲分得红牌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乙分得红牌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对立事件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互斥但不对立事件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必然事件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不可能事件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甲分得红牌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乙分得红牌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不能同时发生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所以它们是互斥事件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又因为甲、乙可能都分不到红牌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甲或乙分得红牌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事件可能不发生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所以它们不是对立事件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13615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对空中飞行的目标连续射击两次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每次发射一枚炮弹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两次都击中目标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两次都没击中目标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恰有一枚炮弹击中目标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至少有一枚炮弹击中目标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则下列关系正确的是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恰有一枚炮弹击中目标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指第一枚击中第二枚没击中或第一枚没击中第二枚击中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至少有一枚炮弹击中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包含两种情况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一种是恰有一枚炮弹击中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一种是两枚炮弹都击中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64519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39569"/>
            <a:ext cx="10807700" cy="59735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某小组有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名男生和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名女生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从中任选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名同学去参加演讲比赛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在下列选项中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互斥但不对立的两个事件是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名女生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都是女生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名女生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至多有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名女生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恰有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名女生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恰有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名女生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名男生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都是女生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中的两个事件之间是包含关系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故不符合要求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中的两个事件都包括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名女生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名男生的情况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故不互斥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中的两个事件符合要求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它们是互斥但不对立的两个事件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中的两个事件是对立事件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故不符合要求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08096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23863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件产品中有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件一级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品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件二级品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从中任取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件都是一级品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的对立事件是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件是二级品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61950" y="3106931"/>
            <a:ext cx="13882374" cy="1274195"/>
            <a:chOff x="361950" y="2808039"/>
            <a:chExt cx="13882374" cy="1274195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808039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一随机试验的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三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个事件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表示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的意义是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6504351"/>
                </p:ext>
              </p:extLst>
            </p:nvPr>
          </p:nvGraphicFramePr>
          <p:xfrm>
            <a:off x="2572365" y="2854830"/>
            <a:ext cx="11671959" cy="544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6" name="文档" r:id="rId4" imgW="3826872" imgH="178611" progId="Word.Document.12">
                    <p:embed/>
                  </p:oleObj>
                </mc:Choice>
                <mc:Fallback>
                  <p:oleObj name="文档" r:id="rId4" imgW="3826872" imgH="17861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572365" y="2854830"/>
                          <a:ext cx="11671959" cy="5447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361950" y="433222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三个事件中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只有事件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发生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66977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71</TotalTime>
  <Words>2713</Words>
  <Application>Microsoft Office PowerPoint</Application>
  <PresentationFormat>自定义</PresentationFormat>
  <Paragraphs>146</Paragraphs>
  <Slides>45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1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20</cp:revision>
  <dcterms:created xsi:type="dcterms:W3CDTF">2020-09-12T05:36:12Z</dcterms:created>
  <dcterms:modified xsi:type="dcterms:W3CDTF">2025-09-04T06:48:22Z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