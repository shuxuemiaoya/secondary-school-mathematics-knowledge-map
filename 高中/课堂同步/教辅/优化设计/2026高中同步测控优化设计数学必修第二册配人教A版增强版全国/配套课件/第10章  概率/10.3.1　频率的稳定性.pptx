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731" r:id="rId2"/>
    <p:sldId id="753" r:id="rId3"/>
    <p:sldId id="736" r:id="rId4"/>
    <p:sldId id="744" r:id="rId5"/>
    <p:sldId id="746" r:id="rId6"/>
    <p:sldId id="749" r:id="rId7"/>
    <p:sldId id="756" r:id="rId8"/>
    <p:sldId id="757" r:id="rId9"/>
    <p:sldId id="758" r:id="rId10"/>
    <p:sldId id="737" r:id="rId11"/>
    <p:sldId id="750" r:id="rId12"/>
    <p:sldId id="759" r:id="rId13"/>
    <p:sldId id="760" r:id="rId14"/>
    <p:sldId id="761" r:id="rId15"/>
    <p:sldId id="785" r:id="rId16"/>
    <p:sldId id="754" r:id="rId17"/>
    <p:sldId id="763" r:id="rId18"/>
    <p:sldId id="764" r:id="rId19"/>
    <p:sldId id="765" r:id="rId20"/>
    <p:sldId id="766" r:id="rId21"/>
    <p:sldId id="767" r:id="rId22"/>
    <p:sldId id="755" r:id="rId23"/>
    <p:sldId id="784" r:id="rId24"/>
    <p:sldId id="768" r:id="rId25"/>
    <p:sldId id="769" r:id="rId26"/>
    <p:sldId id="770" r:id="rId27"/>
    <p:sldId id="771" r:id="rId28"/>
    <p:sldId id="772" r:id="rId29"/>
    <p:sldId id="773" r:id="rId30"/>
    <p:sldId id="774" r:id="rId31"/>
    <p:sldId id="747" r:id="rId32"/>
    <p:sldId id="751" r:id="rId33"/>
    <p:sldId id="775" r:id="rId34"/>
    <p:sldId id="776" r:id="rId35"/>
    <p:sldId id="777" r:id="rId36"/>
    <p:sldId id="778" r:id="rId37"/>
    <p:sldId id="779" r:id="rId38"/>
    <p:sldId id="748" r:id="rId39"/>
    <p:sldId id="752" r:id="rId40"/>
    <p:sldId id="780" r:id="rId41"/>
    <p:sldId id="781" r:id="rId42"/>
    <p:sldId id="782" r:id="rId43"/>
    <p:sldId id="783" r:id="rId44"/>
    <p:sldId id="735" r:id="rId45"/>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44</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8.xml"/><Relationship Id="rId5" Type="http://schemas.openxmlformats.org/officeDocument/2006/relationships/slide" Target="slide31.xml"/><Relationship Id="rId4" Type="http://schemas.openxmlformats.org/officeDocument/2006/relationships/slide" Target="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1.xml"/><Relationship Id="rId1" Type="http://schemas.openxmlformats.org/officeDocument/2006/relationships/slideLayout" Target="../slideLayouts/slideLayout4.xml"/><Relationship Id="rId4" Type="http://schemas.openxmlformats.org/officeDocument/2006/relationships/slide" Target="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Word___3.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4.docx"/></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5.docx"/></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6.bin"/><Relationship Id="rId7" Type="http://schemas.openxmlformats.org/officeDocument/2006/relationships/package" Target="../embeddings/Microsoft_Word___7.docx"/><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11.emf"/><Relationship Id="rId4" Type="http://schemas.openxmlformats.org/officeDocument/2006/relationships/package" Target="../embeddings/Microsoft_Word___6.docx"/></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13.emf"/><Relationship Id="rId5" Type="http://schemas.openxmlformats.org/officeDocument/2006/relationships/package" Target="../embeddings/Microsoft_Word___8.docx"/><Relationship Id="rId4"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5.emf"/><Relationship Id="rId4" Type="http://schemas.openxmlformats.org/officeDocument/2006/relationships/package" Target="../embeddings/Microsoft_Word___9.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6.emf"/><Relationship Id="rId4" Type="http://schemas.openxmlformats.org/officeDocument/2006/relationships/package" Target="../embeddings/Microsoft_Word___10.doc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11.bin"/><Relationship Id="rId7" Type="http://schemas.openxmlformats.org/officeDocument/2006/relationships/package" Target="../embeddings/Microsoft_Word___12.docx"/><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18.emf"/><Relationship Id="rId4" Type="http://schemas.openxmlformats.org/officeDocument/2006/relationships/package" Target="../embeddings/Microsoft_Word___11.docx"/></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20.emf"/><Relationship Id="rId4" Type="http://schemas.openxmlformats.org/officeDocument/2006/relationships/package" Target="../embeddings/Microsoft_Word___13.docx"/></Relationships>
</file>

<file path=ppt/slides/_rels/slide43.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4.bin"/><Relationship Id="rId7" Type="http://schemas.openxmlformats.org/officeDocument/2006/relationships/package" Target="../embeddings/Microsoft_Word___15.docx"/><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15.bin"/><Relationship Id="rId5" Type="http://schemas.openxmlformats.org/officeDocument/2006/relationships/image" Target="../media/image21.emf"/><Relationship Id="rId4" Type="http://schemas.openxmlformats.org/officeDocument/2006/relationships/package" Target="../embeddings/Microsoft_Word___14.docx"/></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503673"/>
            <a:ext cx="10807700" cy="109645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10</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3</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1</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频率的稳定性</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675572"/>
            <a:ext cx="10729192" cy="2856517"/>
            <a:chOff x="360437" y="1675572"/>
            <a:chExt cx="10729192" cy="2856517"/>
          </a:xfrm>
        </p:grpSpPr>
        <p:grpSp>
          <p:nvGrpSpPr>
            <p:cNvPr id="13" name="组合 12"/>
            <p:cNvGrpSpPr/>
            <p:nvPr/>
          </p:nvGrpSpPr>
          <p:grpSpPr>
            <a:xfrm>
              <a:off x="360437" y="1675572"/>
              <a:ext cx="10729192" cy="2856517"/>
              <a:chOff x="360437" y="2115515"/>
              <a:chExt cx="10729192" cy="1951040"/>
            </a:xfrm>
          </p:grpSpPr>
          <p:sp>
            <p:nvSpPr>
              <p:cNvPr id="2" name="圆角矩形 1"/>
              <p:cNvSpPr/>
              <p:nvPr/>
            </p:nvSpPr>
            <p:spPr>
              <a:xfrm>
                <a:off x="360437" y="2115515"/>
                <a:ext cx="10729192" cy="19510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145278"/>
                <a:ext cx="0" cy="1869745"/>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799927"/>
              <a:ext cx="8496944" cy="2456057"/>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结合实例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会用频率估计概率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理解频率与概率的区别与联系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能用概率的意义解释生活中的事例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smtClean="0">
                  <a:solidFill>
                    <a:srgbClr val="000000"/>
                  </a:solidFill>
                  <a:ea typeface="宋体" panose="02010600030101010101" pitchFamily="2" charset="-122"/>
                </a:rPr>
                <a:t>.</a:t>
              </a:r>
              <a:r>
                <a:rPr lang="zh-CN" altLang="en-US" dirty="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数学</a:t>
              </a:r>
              <a:r>
                <a:rPr lang="zh-CN" altLang="zh-CN" dirty="0">
                  <a:solidFill>
                    <a:srgbClr val="000000"/>
                  </a:solidFill>
                  <a:ea typeface="楷体" panose="02010609060101010101" pitchFamily="49" charset="-122"/>
                  <a:cs typeface="Times New Roman" panose="02020603050405020304" pitchFamily="18" charset="0"/>
                </a:rPr>
                <a:t>抽象和数学运算等素养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36374"/>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频率的稳定性</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思考下列两个问题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抛掷一枚质地均匀的硬币</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正面</a:t>
            </a:r>
            <a:r>
              <a:rPr lang="zh-CN" altLang="en-US" dirty="0">
                <a:solidFill>
                  <a:srgbClr val="000000"/>
                </a:solidFill>
                <a:ea typeface="宋体" panose="02010600030101010101" pitchFamily="2" charset="-122"/>
                <a:cs typeface="Times New Roman" panose="02020603050405020304" pitchFamily="18" charset="0"/>
              </a:rPr>
              <a:t>朝</a:t>
            </a:r>
            <a:r>
              <a:rPr lang="zh-CN" altLang="zh-CN" dirty="0" smtClean="0">
                <a:solidFill>
                  <a:srgbClr val="000000"/>
                </a:solidFill>
                <a:ea typeface="宋体" panose="02010600030101010101" pitchFamily="2" charset="-122"/>
                <a:cs typeface="Times New Roman" panose="02020603050405020304" pitchFamily="18" charset="0"/>
              </a:rPr>
              <a:t>上</a:t>
            </a:r>
            <a:r>
              <a:rPr lang="zh-CN" altLang="zh-CN" dirty="0">
                <a:solidFill>
                  <a:srgbClr val="000000"/>
                </a:solidFill>
                <a:ea typeface="宋体" panose="02010600030101010101" pitchFamily="2" charset="-122"/>
                <a:cs typeface="Times New Roman" panose="02020603050405020304" pitchFamily="18" charset="0"/>
              </a:rPr>
              <a:t>出现了</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则在这</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次试验中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正面</a:t>
            </a:r>
            <a:r>
              <a:rPr lang="zh-CN" altLang="en-US" dirty="0" smtClean="0">
                <a:solidFill>
                  <a:srgbClr val="000000"/>
                </a:solidFill>
                <a:ea typeface="宋体" panose="02010600030101010101" pitchFamily="2" charset="-122"/>
                <a:cs typeface="Times New Roman" panose="02020603050405020304" pitchFamily="18" charset="0"/>
              </a:rPr>
              <a:t>朝</a:t>
            </a:r>
            <a:r>
              <a:rPr lang="zh-CN" altLang="zh-CN" dirty="0" smtClean="0">
                <a:solidFill>
                  <a:srgbClr val="000000"/>
                </a:solidFill>
                <a:ea typeface="宋体" panose="02010600030101010101" pitchFamily="2" charset="-122"/>
                <a:cs typeface="Times New Roman" panose="02020603050405020304" pitchFamily="18" charset="0"/>
              </a:rPr>
              <a:t>上</a:t>
            </a:r>
            <a:r>
              <a:rPr lang="zh-CN" altLang="zh-CN" dirty="0">
                <a:solidFill>
                  <a:srgbClr val="000000"/>
                </a:solidFill>
                <a:ea typeface="宋体" panose="02010600030101010101" pitchFamily="2" charset="-122"/>
                <a:cs typeface="Times New Roman" panose="02020603050405020304" pitchFamily="18" charset="0"/>
              </a:rPr>
              <a:t>的频数与频率分别是多少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691617799"/>
              </p:ext>
            </p:extLst>
          </p:nvPr>
        </p:nvGraphicFramePr>
        <p:xfrm>
          <a:off x="432445" y="3260185"/>
          <a:ext cx="11671959" cy="803446"/>
        </p:xfrm>
        <a:graphic>
          <a:graphicData uri="http://schemas.openxmlformats.org/presentationml/2006/ole">
            <mc:AlternateContent xmlns:mc="http://schemas.openxmlformats.org/markup-compatibility/2006">
              <mc:Choice xmlns:v="urn:schemas-microsoft-com:vml" Requires="v">
                <p:oleObj spid="_x0000_s1035" name="文档" r:id="rId4" imgW="3826872" imgH="263425" progId="Word.Document.12">
                  <p:embed/>
                </p:oleObj>
              </mc:Choice>
              <mc:Fallback>
                <p:oleObj name="文档" r:id="rId4" imgW="3826872" imgH="263425" progId="Word.Document.12">
                  <p:embed/>
                  <p:pic>
                    <p:nvPicPr>
                      <p:cNvPr id="0" name=""/>
                      <p:cNvPicPr/>
                      <p:nvPr/>
                    </p:nvPicPr>
                    <p:blipFill>
                      <a:blip r:embed="rId5"/>
                      <a:stretch>
                        <a:fillRect/>
                      </a:stretch>
                    </p:blipFill>
                    <p:spPr>
                      <a:xfrm>
                        <a:off x="432445" y="3260185"/>
                        <a:ext cx="11671959" cy="803446"/>
                      </a:xfrm>
                      <a:prstGeom prst="rect">
                        <a:avLst/>
                      </a:prstGeom>
                    </p:spPr>
                  </p:pic>
                </p:oleObj>
              </mc:Fallback>
            </mc:AlternateContent>
          </a:graphicData>
        </a:graphic>
      </p:graphicFrame>
      <p:sp>
        <p:nvSpPr>
          <p:cNvPr id="4" name="矩形 3"/>
          <p:cNvSpPr>
            <a:spLocks noChangeAspect="1"/>
          </p:cNvSpPr>
          <p:nvPr/>
        </p:nvSpPr>
        <p:spPr>
          <a:xfrm>
            <a:off x="361950" y="3947585"/>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如果抛掷</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,1 000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,10 000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r>
              <a:rPr lang="zh-CN" altLang="zh-CN" dirty="0" smtClean="0">
                <a:solidFill>
                  <a:srgbClr val="000000"/>
                </a:solidFill>
                <a:ea typeface="宋体" panose="02010600030101010101" pitchFamily="2" charset="-122"/>
                <a:cs typeface="Times New Roman" panose="02020603050405020304" pitchFamily="18" charset="0"/>
              </a:rPr>
              <a:t>正面</a:t>
            </a:r>
            <a:r>
              <a:rPr lang="zh-CN" altLang="en-US" dirty="0">
                <a:solidFill>
                  <a:srgbClr val="000000"/>
                </a:solidFill>
                <a:ea typeface="宋体" panose="02010600030101010101" pitchFamily="2" charset="-122"/>
                <a:cs typeface="Times New Roman" panose="02020603050405020304" pitchFamily="18" charset="0"/>
              </a:rPr>
              <a:t>朝</a:t>
            </a:r>
            <a:r>
              <a:rPr lang="zh-CN" altLang="zh-CN" dirty="0" smtClean="0">
                <a:solidFill>
                  <a:srgbClr val="000000"/>
                </a:solidFill>
                <a:ea typeface="宋体" panose="02010600030101010101" pitchFamily="2" charset="-122"/>
                <a:cs typeface="Times New Roman" panose="02020603050405020304" pitchFamily="18" charset="0"/>
              </a:rPr>
              <a:t>上</a:t>
            </a:r>
            <a:r>
              <a:rPr lang="zh-CN" altLang="zh-CN" dirty="0">
                <a:solidFill>
                  <a:srgbClr val="000000"/>
                </a:solidFill>
                <a:ea typeface="宋体" panose="02010600030101010101" pitchFamily="2" charset="-122"/>
                <a:cs typeface="Times New Roman" panose="02020603050405020304" pitchFamily="18" charset="0"/>
              </a:rPr>
              <a:t>的频率与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相比有什么变化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随着抛掷次数的增加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正面朝上的频率在</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附近波动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099469"/>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频率</a:t>
            </a:r>
            <a:r>
              <a:rPr lang="zh-CN" altLang="zh-CN" dirty="0">
                <a:solidFill>
                  <a:srgbClr val="000000"/>
                </a:solidFill>
                <a:ea typeface="宋体" panose="02010600030101010101" pitchFamily="2" charset="-122"/>
                <a:cs typeface="Times New Roman" panose="02020603050405020304" pitchFamily="18" charset="0"/>
              </a:rPr>
              <a:t>的稳定性</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在任何确定次数的随机试验中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一个随机事件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发生的频率具有</a:t>
            </a:r>
            <a:r>
              <a:rPr lang="zh-CN" altLang="zh-CN" dirty="0">
                <a:ea typeface="宋体" panose="02010600030101010101" pitchFamily="2" charset="-122"/>
                <a:cs typeface="Times New Roman" panose="02020603050405020304" pitchFamily="18" charset="0"/>
              </a:rPr>
              <a:t>随机</a:t>
            </a:r>
            <a:r>
              <a:rPr lang="zh-CN" altLang="zh-CN" dirty="0">
                <a:solidFill>
                  <a:srgbClr val="000000"/>
                </a:solidFill>
                <a:ea typeface="宋体" panose="02010600030101010101" pitchFamily="2" charset="-122"/>
                <a:cs typeface="Times New Roman" panose="02020603050405020304" pitchFamily="18" charset="0"/>
              </a:rPr>
              <a:t>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随着试验次数</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的增大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频率偏离概率的</a:t>
            </a:r>
            <a:r>
              <a:rPr lang="zh-CN" altLang="zh-CN" dirty="0">
                <a:ea typeface="宋体" panose="02010600030101010101" pitchFamily="2" charset="-122"/>
                <a:cs typeface="Times New Roman" panose="02020603050405020304" pitchFamily="18" charset="0"/>
              </a:rPr>
              <a:t>幅度</a:t>
            </a:r>
            <a:r>
              <a:rPr lang="zh-CN" altLang="zh-CN" dirty="0">
                <a:solidFill>
                  <a:srgbClr val="000000"/>
                </a:solidFill>
                <a:ea typeface="宋体" panose="02010600030101010101" pitchFamily="2" charset="-122"/>
                <a:cs typeface="Times New Roman" panose="02020603050405020304" pitchFamily="18" charset="0"/>
              </a:rPr>
              <a:t>会缩小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发生的频率</a:t>
            </a:r>
            <a:r>
              <a:rPr lang="en-US" altLang="zh-CN" i="1" dirty="0" err="1">
                <a:solidFill>
                  <a:srgbClr val="000000"/>
                </a:solidFill>
                <a:ea typeface="宋体" panose="02010600030101010101" pitchFamily="2" charset="-122"/>
                <a:cs typeface="Times New Roman" panose="02020603050405020304" pitchFamily="18" charset="0"/>
              </a:rPr>
              <a:t>f</a:t>
            </a:r>
            <a:r>
              <a:rPr lang="en-US" altLang="zh-CN" i="1" baseline="-25000" dirty="0" err="1">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会逐渐</a:t>
            </a:r>
            <a:r>
              <a:rPr lang="zh-CN" altLang="zh-CN" dirty="0">
                <a:ea typeface="宋体" panose="02010600030101010101" pitchFamily="2" charset="-122"/>
                <a:cs typeface="Times New Roman" panose="02020603050405020304" pitchFamily="18" charset="0"/>
              </a:rPr>
              <a:t>稳定</a:t>
            </a:r>
            <a:r>
              <a:rPr lang="zh-CN" altLang="zh-CN" dirty="0">
                <a:solidFill>
                  <a:srgbClr val="000000"/>
                </a:solidFill>
                <a:ea typeface="宋体" panose="02010600030101010101" pitchFamily="2" charset="-122"/>
                <a:cs typeface="Times New Roman" panose="02020603050405020304" pitchFamily="18" charset="0"/>
              </a:rPr>
              <a:t>于事件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发生的概率</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我们称频率的这个性质为频率的</a:t>
            </a:r>
            <a:r>
              <a:rPr lang="zh-CN" altLang="zh-CN" dirty="0">
                <a:ea typeface="宋体" panose="02010600030101010101" pitchFamily="2" charset="-122"/>
                <a:cs typeface="Times New Roman" panose="02020603050405020304" pitchFamily="18" charset="0"/>
              </a:rPr>
              <a:t>稳定性</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我们可以用</a:t>
            </a:r>
            <a:r>
              <a:rPr lang="zh-CN" altLang="zh-CN" dirty="0">
                <a:ea typeface="宋体" panose="02010600030101010101" pitchFamily="2" charset="-122"/>
                <a:cs typeface="Times New Roman" panose="02020603050405020304" pitchFamily="18" charset="0"/>
              </a:rPr>
              <a:t>频率</a:t>
            </a:r>
            <a:r>
              <a:rPr lang="en-US" altLang="zh-CN" i="1" dirty="0" err="1">
                <a:ea typeface="宋体" panose="02010600030101010101" pitchFamily="2" charset="-122"/>
                <a:cs typeface="Times New Roman" panose="02020603050405020304" pitchFamily="18" charset="0"/>
              </a:rPr>
              <a:t>f</a:t>
            </a:r>
            <a:r>
              <a:rPr lang="en-US" altLang="zh-CN" i="1" baseline="-25000" dirty="0" err="1">
                <a:ea typeface="宋体" panose="02010600030101010101" pitchFamily="2" charset="-122"/>
                <a:cs typeface="Times New Roman" panose="02020603050405020304" pitchFamily="18" charset="0"/>
              </a:rPr>
              <a:t>n</a:t>
            </a:r>
            <a:r>
              <a:rPr lang="en-US" altLang="zh-CN" dirty="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A</a:t>
            </a:r>
            <a:r>
              <a:rPr lang="en-US" altLang="zh-CN" dirty="0">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估计概率</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688855" y="231377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684265" y="2777871"/>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9105679" y="2900595"/>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101089" y="3364693"/>
            <a:ext cx="776265"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6563883" y="348434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6559293" y="3948441"/>
            <a:ext cx="776265"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7024907" y="4063481"/>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7020136" y="4527579"/>
            <a:ext cx="1196942"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850598" y="4700795"/>
            <a:ext cx="162069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845827" y="5164893"/>
            <a:ext cx="161885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1668887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2"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8736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某人</a:t>
            </a:r>
            <a:r>
              <a:rPr lang="zh-CN" altLang="zh-CN" dirty="0">
                <a:solidFill>
                  <a:srgbClr val="000000"/>
                </a:solidFill>
                <a:ea typeface="宋体" panose="02010600030101010101" pitchFamily="2" charset="-122"/>
                <a:cs typeface="Times New Roman" panose="02020603050405020304" pitchFamily="18" charset="0"/>
              </a:rPr>
              <a:t>将一枚硬币连续抛掷了</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正面朝上的情形出现了</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正面朝上的概率为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正面朝上的频率为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正面朝上的频率为</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正面朝上的频率接近于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62258692"/>
              </p:ext>
            </p:extLst>
          </p:nvPr>
        </p:nvGraphicFramePr>
        <p:xfrm>
          <a:off x="422613" y="4455020"/>
          <a:ext cx="11671959" cy="804541"/>
        </p:xfrm>
        <a:graphic>
          <a:graphicData uri="http://schemas.openxmlformats.org/presentationml/2006/ole">
            <mc:AlternateContent xmlns:mc="http://schemas.openxmlformats.org/markup-compatibility/2006">
              <mc:Choice xmlns:v="urn:schemas-microsoft-com:vml" Requires="v">
                <p:oleObj spid="_x0000_s2058" name="文档" r:id="rId4" imgW="3826872" imgH="263784" progId="Word.Document.12">
                  <p:embed/>
                </p:oleObj>
              </mc:Choice>
              <mc:Fallback>
                <p:oleObj name="文档" r:id="rId4" imgW="3826872" imgH="263784" progId="Word.Document.12">
                  <p:embed/>
                  <p:pic>
                    <p:nvPicPr>
                      <p:cNvPr id="0" name=""/>
                      <p:cNvPicPr/>
                      <p:nvPr/>
                    </p:nvPicPr>
                    <p:blipFill>
                      <a:blip r:embed="rId5"/>
                      <a:stretch>
                        <a:fillRect/>
                      </a:stretch>
                    </p:blipFill>
                    <p:spPr>
                      <a:xfrm>
                        <a:off x="422613" y="4455020"/>
                        <a:ext cx="11671959" cy="804541"/>
                      </a:xfrm>
                      <a:prstGeom prst="rect">
                        <a:avLst/>
                      </a:prstGeom>
                    </p:spPr>
                  </p:pic>
                </p:oleObj>
              </mc:Fallback>
            </mc:AlternateContent>
          </a:graphicData>
        </a:graphic>
      </p:graphicFrame>
      <p:sp>
        <p:nvSpPr>
          <p:cNvPr id="4" name="矩形 3"/>
          <p:cNvSpPr>
            <a:spLocks noChangeAspect="1"/>
          </p:cNvSpPr>
          <p:nvPr/>
        </p:nvSpPr>
        <p:spPr>
          <a:xfrm>
            <a:off x="337589" y="5238235"/>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8794577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536463"/>
            <a:ext cx="10807700" cy="596233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试验次数相同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频率就相同</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频率是随机的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在试验之前无法确定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大多会随着试验次数的改变而改变</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频率就是概率</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试验次数多的频率波动幅度一定比次数少的小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昨天没有下雨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而天气预报说昨天降水的概率为</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这说明天气预报是错误的</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905053" y="244799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3384773" y="3600127"/>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3793357" y="4176191"/>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9505453" y="482426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4536901" y="591553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83669458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频率</a:t>
            </a:r>
            <a:r>
              <a:rPr lang="zh-CN" altLang="zh-CN" dirty="0"/>
              <a:t>与概率的关系</a:t>
            </a:r>
          </a:p>
        </p:txBody>
      </p:sp>
      <p:sp>
        <p:nvSpPr>
          <p:cNvPr id="4" name="矩形 3"/>
          <p:cNvSpPr>
            <a:spLocks noChangeAspect="1"/>
          </p:cNvSpPr>
          <p:nvPr/>
        </p:nvSpPr>
        <p:spPr>
          <a:xfrm>
            <a:off x="361950" y="1727919"/>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一个人打靶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射击了</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宋体" panose="02010600030101010101" pitchFamily="2" charset="-122"/>
                <a:cs typeface="Times New Roman" panose="02020603050405020304" pitchFamily="18" charset="0"/>
              </a:rPr>
              <a:t>次中靶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因此这个人中靶的概率为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在条件不变的情况下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随机事件的概率不变</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随机事件的频率与概率一定不相等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任何事件的概率都是非负</a:t>
            </a:r>
            <a:r>
              <a:rPr lang="zh-CN" altLang="zh-CN" dirty="0" smtClean="0">
                <a:solidFill>
                  <a:srgbClr val="000000"/>
                </a:solidFill>
                <a:ea typeface="宋体" panose="02010600030101010101" pitchFamily="2" charset="-122"/>
                <a:cs typeface="Times New Roman" panose="02020603050405020304" pitchFamily="18" charset="0"/>
              </a:rPr>
              <a:t>的</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07973"/>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中靶的频率为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楷体" panose="02010609060101010101" pitchFamily="49" charset="-122"/>
                <a:cs typeface="Times New Roman" panose="02020603050405020304" pitchFamily="18" charset="0"/>
              </a:rPr>
              <a:t>不能说是概率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概率是一个稳定值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不随试验次数的变化而变化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在条件不变的情况下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概率不变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显然</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由概率的定义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BD</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2313278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655911"/>
            <a:ext cx="10807700" cy="2443964"/>
            <a:chOff x="361950" y="1732227"/>
            <a:chExt cx="10807700" cy="2443964"/>
          </a:xfrm>
        </p:grpSpPr>
        <p:pic>
          <p:nvPicPr>
            <p:cNvPr id="3" name="反思感悟H.eps" descr="id:2147490797;FounderCES"/>
            <p:cNvPicPr/>
            <p:nvPr/>
          </p:nvPicPr>
          <p:blipFill>
            <a:blip r:embed="rId2"/>
            <a:stretch>
              <a:fillRect/>
            </a:stretch>
          </p:blipFill>
          <p:spPr>
            <a:xfrm>
              <a:off x="361950" y="1732227"/>
              <a:ext cx="2259558" cy="531552"/>
            </a:xfrm>
            <a:prstGeom prst="rect">
              <a:avLst/>
            </a:prstGeom>
          </p:spPr>
        </p:pic>
        <p:sp>
          <p:nvSpPr>
            <p:cNvPr id="4" name="矩形 3"/>
            <p:cNvSpPr>
              <a:spLocks noChangeAspect="1"/>
            </p:cNvSpPr>
            <p:nvPr/>
          </p:nvSpPr>
          <p:spPr>
            <a:xfrm>
              <a:off x="361950" y="2367619"/>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频率是事件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发生的次数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仿宋" panose="02010609060101010101" pitchFamily="49" charset="-122"/>
                  <a:cs typeface="Times New Roman" panose="02020603050405020304" pitchFamily="18" charset="0"/>
                </a:rPr>
                <a:t>与试验总次数</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仿宋" panose="02010609060101010101" pitchFamily="49" charset="-122"/>
                  <a:cs typeface="Times New Roman" panose="02020603050405020304" pitchFamily="18" charset="0"/>
                </a:rPr>
                <a:t>的比值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利用此公式可求出它的频率</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仿宋" panose="02010609060101010101" pitchFamily="49" charset="-122"/>
                  <a:cs typeface="Times New Roman" panose="02020603050405020304" pitchFamily="18" charset="0"/>
                </a:rPr>
                <a:t>很大时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频率会稳定于事件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发生的概率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67723508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a:spLocks noChangeAspect="1"/>
              </p:cNvSpPr>
              <p:nvPr/>
            </p:nvSpPr>
            <p:spPr>
              <a:xfrm>
                <a:off x="361950" y="758168"/>
                <a:ext cx="10807700" cy="529023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ffectLst/>
                    <a:latin typeface="Arial" panose="020B0604020202020204" pitchFamily="34" charset="0"/>
                    <a:cs typeface="Times New Roman" panose="02020603050405020304" pitchFamily="18" charset="0"/>
                  </a:rPr>
                  <a:t>】</a:t>
                </a:r>
                <a:r>
                  <a:rPr lang="zh-CN" altLang="zh-CN" dirty="0">
                    <a:solidFill>
                      <a:srgbClr val="000000"/>
                    </a:solidFill>
                    <a:effectLst/>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ffectLst/>
                    <a:ea typeface="宋体" panose="02010600030101010101" pitchFamily="2" charset="-122"/>
                    <a:cs typeface="Times New Roman" panose="02020603050405020304" pitchFamily="18" charset="0"/>
                  </a:rPr>
                  <a:t>下列四个命题中真命题是</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i="1" dirty="0">
                    <a:solidFill>
                      <a:srgbClr val="000000"/>
                    </a:solidFill>
                    <a:effectLst/>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A.</a:t>
                </a:r>
                <a:r>
                  <a:rPr lang="zh-CN" altLang="zh-CN" dirty="0">
                    <a:solidFill>
                      <a:srgbClr val="000000"/>
                    </a:solidFill>
                    <a:effectLst/>
                    <a:ea typeface="宋体" panose="02010600030101010101" pitchFamily="2" charset="-122"/>
                    <a:cs typeface="Times New Roman" panose="02020603050405020304" pitchFamily="18" charset="0"/>
                  </a:rPr>
                  <a:t>设有一批产品</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其次品率为</a:t>
                </a:r>
                <a:r>
                  <a:rPr lang="en-US" altLang="zh-CN" dirty="0">
                    <a:solidFill>
                      <a:srgbClr val="000000"/>
                    </a:solidFill>
                    <a:effectLst/>
                    <a:ea typeface="宋体" panose="02010600030101010101" pitchFamily="2" charset="-122"/>
                    <a:cs typeface="Times New Roman" panose="02020603050405020304" pitchFamily="18" charset="0"/>
                  </a:rPr>
                  <a:t>0</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05,</a:t>
                </a:r>
                <a:r>
                  <a:rPr lang="zh-CN" altLang="zh-CN" dirty="0">
                    <a:solidFill>
                      <a:srgbClr val="000000"/>
                    </a:solidFill>
                    <a:effectLst/>
                    <a:ea typeface="宋体" panose="02010600030101010101" pitchFamily="2" charset="-122"/>
                    <a:cs typeface="Times New Roman" panose="02020603050405020304" pitchFamily="18" charset="0"/>
                  </a:rPr>
                  <a:t>则从中任取</a:t>
                </a:r>
                <a:r>
                  <a:rPr lang="en-US" altLang="zh-CN" dirty="0">
                    <a:solidFill>
                      <a:srgbClr val="000000"/>
                    </a:solidFill>
                    <a:effectLst/>
                    <a:ea typeface="宋体" panose="02010600030101010101" pitchFamily="2" charset="-122"/>
                    <a:cs typeface="Times New Roman" panose="02020603050405020304" pitchFamily="18" charset="0"/>
                  </a:rPr>
                  <a:t>200</a:t>
                </a:r>
                <a:r>
                  <a:rPr lang="zh-CN" altLang="zh-CN" dirty="0">
                    <a:solidFill>
                      <a:srgbClr val="000000"/>
                    </a:solidFill>
                    <a:effectLst/>
                    <a:ea typeface="宋体" panose="02010600030101010101" pitchFamily="2" charset="-122"/>
                    <a:cs typeface="Times New Roman" panose="02020603050405020304" pitchFamily="18" charset="0"/>
                  </a:rPr>
                  <a:t>件</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必有</a:t>
                </a:r>
                <a:r>
                  <a:rPr lang="en-US" altLang="zh-CN" dirty="0">
                    <a:solidFill>
                      <a:srgbClr val="000000"/>
                    </a:solidFill>
                    <a:effectLst/>
                    <a:ea typeface="宋体" panose="02010600030101010101" pitchFamily="2" charset="-122"/>
                    <a:cs typeface="Times New Roman" panose="02020603050405020304" pitchFamily="18" charset="0"/>
                  </a:rPr>
                  <a:t>10</a:t>
                </a:r>
                <a:r>
                  <a:rPr lang="zh-CN" altLang="zh-CN" dirty="0">
                    <a:solidFill>
                      <a:srgbClr val="000000"/>
                    </a:solidFill>
                    <a:effectLst/>
                    <a:ea typeface="宋体" panose="02010600030101010101" pitchFamily="2" charset="-122"/>
                    <a:cs typeface="Times New Roman" panose="02020603050405020304" pitchFamily="18" charset="0"/>
                  </a:rPr>
                  <a:t>件是次品</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B.</a:t>
                </a:r>
                <a:r>
                  <a:rPr lang="zh-CN" altLang="zh-CN" dirty="0">
                    <a:solidFill>
                      <a:srgbClr val="000000"/>
                    </a:solidFill>
                    <a:effectLst/>
                    <a:ea typeface="宋体" panose="02010600030101010101" pitchFamily="2" charset="-122"/>
                    <a:cs typeface="Times New Roman" panose="02020603050405020304" pitchFamily="18" charset="0"/>
                  </a:rPr>
                  <a:t>做</a:t>
                </a:r>
                <a:r>
                  <a:rPr lang="en-US" altLang="zh-CN" dirty="0">
                    <a:solidFill>
                      <a:srgbClr val="000000"/>
                    </a:solidFill>
                    <a:effectLst/>
                    <a:ea typeface="宋体" panose="02010600030101010101" pitchFamily="2" charset="-122"/>
                    <a:cs typeface="Times New Roman" panose="02020603050405020304" pitchFamily="18" charset="0"/>
                  </a:rPr>
                  <a:t>100</a:t>
                </a:r>
                <a:r>
                  <a:rPr lang="zh-CN" altLang="zh-CN" dirty="0">
                    <a:solidFill>
                      <a:srgbClr val="000000"/>
                    </a:solidFill>
                    <a:effectLst/>
                    <a:ea typeface="宋体" panose="02010600030101010101" pitchFamily="2" charset="-122"/>
                    <a:cs typeface="Times New Roman" panose="02020603050405020304" pitchFamily="18" charset="0"/>
                  </a:rPr>
                  <a:t>次抛硬币的试验</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结果</a:t>
                </a:r>
                <a:r>
                  <a:rPr lang="en-US" altLang="zh-CN" dirty="0">
                    <a:solidFill>
                      <a:srgbClr val="000000"/>
                    </a:solidFill>
                    <a:effectLst/>
                    <a:ea typeface="宋体" panose="02010600030101010101" pitchFamily="2" charset="-122"/>
                    <a:cs typeface="Times New Roman" panose="02020603050405020304" pitchFamily="18" charset="0"/>
                  </a:rPr>
                  <a:t>51</a:t>
                </a:r>
                <a:r>
                  <a:rPr lang="zh-CN" altLang="zh-CN" dirty="0">
                    <a:solidFill>
                      <a:srgbClr val="000000"/>
                    </a:solidFill>
                    <a:effectLst/>
                    <a:ea typeface="宋体" panose="02010600030101010101" pitchFamily="2" charset="-122"/>
                    <a:cs typeface="Times New Roman" panose="02020603050405020304" pitchFamily="18" charset="0"/>
                  </a:rPr>
                  <a:t>次出现正面朝上</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因此</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出现正面朝上的概率是</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51</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100</m:t>
                        </m:r>
                      </m:den>
                    </m:f>
                  </m:oMath>
                </a14:m>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C.</a:t>
                </a:r>
                <a:r>
                  <a:rPr lang="zh-CN" altLang="zh-CN" dirty="0">
                    <a:solidFill>
                      <a:srgbClr val="000000"/>
                    </a:solidFill>
                    <a:effectLst/>
                    <a:ea typeface="宋体" panose="02010600030101010101" pitchFamily="2" charset="-122"/>
                    <a:cs typeface="Times New Roman" panose="02020603050405020304" pitchFamily="18" charset="0"/>
                  </a:rPr>
                  <a:t>随机事件发生的频率就是这个随机事件发生的概率</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D.</a:t>
                </a:r>
                <a:r>
                  <a:rPr lang="zh-CN" altLang="zh-CN" dirty="0">
                    <a:solidFill>
                      <a:srgbClr val="000000"/>
                    </a:solidFill>
                    <a:effectLst/>
                    <a:ea typeface="宋体" panose="02010600030101010101" pitchFamily="2" charset="-122"/>
                    <a:cs typeface="Times New Roman" panose="02020603050405020304" pitchFamily="18" charset="0"/>
                  </a:rPr>
                  <a:t>抛掷一枚质地均匀的骰子</a:t>
                </a:r>
                <a:r>
                  <a:rPr lang="en-US" altLang="zh-CN" dirty="0">
                    <a:solidFill>
                      <a:srgbClr val="000000"/>
                    </a:solidFill>
                    <a:effectLst/>
                    <a:ea typeface="宋体" panose="02010600030101010101" pitchFamily="2" charset="-122"/>
                    <a:cs typeface="Times New Roman" panose="02020603050405020304" pitchFamily="18" charset="0"/>
                  </a:rPr>
                  <a:t>100</a:t>
                </a:r>
                <a:r>
                  <a:rPr lang="zh-CN" altLang="zh-CN" dirty="0">
                    <a:solidFill>
                      <a:srgbClr val="000000"/>
                    </a:solidFill>
                    <a:effectLst/>
                    <a:ea typeface="宋体" panose="02010600030101010101" pitchFamily="2" charset="-122"/>
                    <a:cs typeface="Times New Roman" panose="02020603050405020304" pitchFamily="18" charset="0"/>
                  </a:rPr>
                  <a:t>次</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得点数是</a:t>
                </a:r>
                <a:r>
                  <a:rPr lang="en-US" altLang="zh-CN" dirty="0">
                    <a:solidFill>
                      <a:srgbClr val="000000"/>
                    </a:solidFill>
                    <a:effectLst/>
                    <a:ea typeface="宋体" panose="02010600030101010101" pitchFamily="2" charset="-122"/>
                    <a:cs typeface="Times New Roman" panose="02020603050405020304" pitchFamily="18" charset="0"/>
                  </a:rPr>
                  <a:t>1</a:t>
                </a:r>
                <a:r>
                  <a:rPr lang="zh-CN" altLang="zh-CN" dirty="0">
                    <a:solidFill>
                      <a:srgbClr val="000000"/>
                    </a:solidFill>
                    <a:effectLst/>
                    <a:ea typeface="宋体" panose="02010600030101010101" pitchFamily="2" charset="-122"/>
                    <a:cs typeface="Times New Roman" panose="02020603050405020304" pitchFamily="18" charset="0"/>
                  </a:rPr>
                  <a:t>的结果</a:t>
                </a:r>
                <a:r>
                  <a:rPr lang="en-US" altLang="zh-CN" dirty="0">
                    <a:solidFill>
                      <a:srgbClr val="000000"/>
                    </a:solidFill>
                    <a:effectLst/>
                    <a:ea typeface="宋体" panose="02010600030101010101" pitchFamily="2" charset="-122"/>
                    <a:cs typeface="Times New Roman" panose="02020603050405020304" pitchFamily="18" charset="0"/>
                  </a:rPr>
                  <a:t>18</a:t>
                </a:r>
                <a:r>
                  <a:rPr lang="zh-CN" altLang="zh-CN" dirty="0">
                    <a:solidFill>
                      <a:srgbClr val="000000"/>
                    </a:solidFill>
                    <a:effectLst/>
                    <a:ea typeface="宋体" panose="02010600030101010101" pitchFamily="2" charset="-122"/>
                    <a:cs typeface="Times New Roman" panose="02020603050405020304" pitchFamily="18" charset="0"/>
                  </a:rPr>
                  <a:t>次</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则出现</a:t>
                </a:r>
                <a:r>
                  <a:rPr lang="en-US" altLang="zh-CN" dirty="0">
                    <a:solidFill>
                      <a:srgbClr val="000000"/>
                    </a:solidFill>
                    <a:effectLst/>
                    <a:ea typeface="宋体" panose="02010600030101010101" pitchFamily="2" charset="-122"/>
                    <a:cs typeface="Times New Roman" panose="02020603050405020304" pitchFamily="18" charset="0"/>
                  </a:rPr>
                  <a:t>1</a:t>
                </a:r>
                <a:r>
                  <a:rPr lang="zh-CN" altLang="zh-CN" dirty="0">
                    <a:solidFill>
                      <a:srgbClr val="000000"/>
                    </a:solidFill>
                    <a:effectLst/>
                    <a:ea typeface="宋体" panose="02010600030101010101" pitchFamily="2" charset="-122"/>
                    <a:cs typeface="Times New Roman" panose="02020603050405020304" pitchFamily="18" charset="0"/>
                  </a:rPr>
                  <a:t>点的频率是</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9</m:t>
                        </m:r>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50</m:t>
                        </m:r>
                      </m:den>
                    </m:f>
                  </m:oMath>
                </a14:m>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61950" y="758168"/>
                <a:ext cx="10807700" cy="5290231"/>
              </a:xfrm>
              <a:prstGeom prst="rect">
                <a:avLst/>
              </a:prstGeom>
              <a:blipFill rotWithShape="0">
                <a:blip r:embed="rId2"/>
                <a:stretch>
                  <a:fillRect l="-1410" t="-1152" r="-1297" b="-5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8670267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943943"/>
            <a:ext cx="10807700" cy="1664686"/>
          </a:xfrm>
          <a:prstGeom prst="rect">
            <a:avLst/>
          </a:prstGeom>
        </p:spPr>
        <p:txBody>
          <a:bodyPr>
            <a:spAutoFit/>
          </a:bodyPr>
          <a:lstStyle/>
          <a:p>
            <a:pPr>
              <a:lnSpc>
                <a:spcPts val="42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从中任取</a:t>
            </a:r>
            <a:r>
              <a:rPr lang="en-US" altLang="zh-CN" dirty="0">
                <a:solidFill>
                  <a:srgbClr val="000000"/>
                </a:solidFill>
                <a:ea typeface="宋体" panose="02010600030101010101" pitchFamily="2" charset="-122"/>
                <a:cs typeface="Times New Roman" panose="02020603050405020304" pitchFamily="18" charset="0"/>
              </a:rPr>
              <a:t>200</a:t>
            </a:r>
            <a:r>
              <a:rPr lang="zh-CN" altLang="zh-CN" dirty="0">
                <a:solidFill>
                  <a:srgbClr val="000000"/>
                </a:solidFill>
                <a:ea typeface="楷体" panose="02010609060101010101" pitchFamily="49"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可能有</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件次品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并不是必有</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件次品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是假命题</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BC</a:t>
            </a:r>
            <a:r>
              <a:rPr lang="zh-CN" altLang="zh-CN" dirty="0">
                <a:solidFill>
                  <a:srgbClr val="000000"/>
                </a:solidFill>
                <a:ea typeface="楷体" panose="02010609060101010101" pitchFamily="49" charset="-122"/>
                <a:cs typeface="Times New Roman" panose="02020603050405020304" pitchFamily="18" charset="0"/>
              </a:rPr>
              <a:t>混淆了频率与概率的概念</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是真命题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52580410"/>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用</a:t>
            </a:r>
            <a:r>
              <a:rPr lang="zh-CN" altLang="zh-CN" dirty="0"/>
              <a:t>频率估计概率</a:t>
            </a:r>
          </a:p>
        </p:txBody>
      </p:sp>
      <p:sp>
        <p:nvSpPr>
          <p:cNvPr id="2" name="矩形 1"/>
          <p:cNvSpPr>
            <a:spLocks noChangeAspect="1"/>
          </p:cNvSpPr>
          <p:nvPr/>
        </p:nvSpPr>
        <p:spPr>
          <a:xfrm>
            <a:off x="361950" y="1464807"/>
            <a:ext cx="10807700" cy="123527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某射击队统计了平日训练中两名运动员击中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环的次数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如表中所示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091762893"/>
              </p:ext>
            </p:extLst>
          </p:nvPr>
        </p:nvGraphicFramePr>
        <p:xfrm>
          <a:off x="371017" y="2682448"/>
          <a:ext cx="10798633" cy="3716159"/>
        </p:xfrm>
        <a:graphic>
          <a:graphicData uri="http://schemas.openxmlformats.org/presentationml/2006/ole">
            <mc:AlternateContent xmlns:mc="http://schemas.openxmlformats.org/markup-compatibility/2006">
              <mc:Choice xmlns:v="urn:schemas-microsoft-com:vml" Requires="v">
                <p:oleObj spid="_x0000_s4106" name="文档" r:id="rId4" imgW="3894589" imgH="1340254" progId="Word.Document.12">
                  <p:embed/>
                </p:oleObj>
              </mc:Choice>
              <mc:Fallback>
                <p:oleObj name="文档" r:id="rId4" imgW="3894589" imgH="1340254" progId="Word.Document.12">
                  <p:embed/>
                  <p:pic>
                    <p:nvPicPr>
                      <p:cNvPr id="0" name=""/>
                      <p:cNvPicPr/>
                      <p:nvPr/>
                    </p:nvPicPr>
                    <p:blipFill>
                      <a:blip r:embed="rId5"/>
                      <a:stretch>
                        <a:fillRect/>
                      </a:stretch>
                    </p:blipFill>
                    <p:spPr>
                      <a:xfrm>
                        <a:off x="371017" y="2682448"/>
                        <a:ext cx="10798633" cy="3716159"/>
                      </a:xfrm>
                      <a:prstGeom prst="rect">
                        <a:avLst/>
                      </a:prstGeom>
                    </p:spPr>
                  </p:pic>
                </p:oleObj>
              </mc:Fallback>
            </mc:AlternateContent>
          </a:graphicData>
        </a:graphic>
      </p:graphicFrame>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079847"/>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分别计算出甲、乙两名运动员击中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环的频率并填入上表</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根据</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中的数据预测两名运动员在奥运会上击中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环的概率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环的</a:t>
            </a:r>
            <a:r>
              <a:rPr lang="zh-CN" altLang="zh-CN" dirty="0" smtClean="0">
                <a:solidFill>
                  <a:srgbClr val="000000"/>
                </a:solidFill>
                <a:ea typeface="楷体" panose="02010609060101010101" pitchFamily="49" charset="-122"/>
                <a:cs typeface="Times New Roman" panose="02020603050405020304" pitchFamily="18" charset="0"/>
              </a:rPr>
              <a:t>次数除</a:t>
            </a:r>
            <a:r>
              <a:rPr lang="zh-CN" altLang="zh-CN" dirty="0">
                <a:solidFill>
                  <a:srgbClr val="000000"/>
                </a:solidFill>
                <a:ea typeface="楷体" panose="02010609060101010101" pitchFamily="49" charset="-122"/>
                <a:cs typeface="Times New Roman" panose="02020603050405020304" pitchFamily="18" charset="0"/>
              </a:rPr>
              <a:t>以射击总次数</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楷体" panose="02010609060101010101" pitchFamily="49" charset="-122"/>
                <a:cs typeface="Times New Roman" panose="02020603050405020304" pitchFamily="18" charset="0"/>
              </a:rPr>
              <a:t>就是击中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环的频率</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随着射击次数的增加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环的频率就会稳定于某个常数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这个常数就是击中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环的概率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735234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7463"/>
            <a:ext cx="10807700" cy="626710"/>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rPr>
              <a:t>(1)</a:t>
            </a:r>
            <a:r>
              <a:rPr lang="zh-CN" altLang="zh-CN" dirty="0">
                <a:solidFill>
                  <a:srgbClr val="000000"/>
                </a:solidFill>
                <a:ea typeface="楷体" panose="02010609060101010101" pitchFamily="49" charset="-122"/>
                <a:cs typeface="Times New Roman" panose="02020603050405020304" pitchFamily="18" charset="0"/>
              </a:rPr>
              <a:t>两名运动员击中</a:t>
            </a:r>
            <a:r>
              <a:rPr lang="en-US" altLang="zh-CN" dirty="0">
                <a:solidFill>
                  <a:srgbClr val="000000"/>
                </a:solidFill>
                <a:ea typeface="宋体" panose="02010600030101010101" pitchFamily="2" charset="-122"/>
              </a:rPr>
              <a:t>10</a:t>
            </a:r>
            <a:r>
              <a:rPr lang="zh-CN" altLang="zh-CN" dirty="0">
                <a:solidFill>
                  <a:srgbClr val="000000"/>
                </a:solidFill>
                <a:ea typeface="楷体" panose="02010609060101010101" pitchFamily="49" charset="-122"/>
                <a:cs typeface="Times New Roman" panose="02020603050405020304" pitchFamily="18" charset="0"/>
              </a:rPr>
              <a:t>环的频率如下表</a:t>
            </a:r>
            <a:r>
              <a:rPr lang="en-US" altLang="zh-CN" dirty="0" smtClean="0">
                <a:solidFill>
                  <a:srgbClr val="000000"/>
                </a:solidFill>
                <a:ea typeface="宋体" panose="02010600030101010101" pitchFamily="2" charset="-122"/>
              </a:rPr>
              <a:t>: </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2381555"/>
              </p:ext>
            </p:extLst>
          </p:nvPr>
        </p:nvGraphicFramePr>
        <p:xfrm>
          <a:off x="361950" y="1304005"/>
          <a:ext cx="10800629" cy="3716159"/>
        </p:xfrm>
        <a:graphic>
          <a:graphicData uri="http://schemas.openxmlformats.org/presentationml/2006/ole">
            <mc:AlternateContent xmlns:mc="http://schemas.openxmlformats.org/markup-compatibility/2006">
              <mc:Choice xmlns:v="urn:schemas-microsoft-com:vml" Requires="v">
                <p:oleObj spid="_x0000_s5130" name="文档" r:id="rId4" imgW="3895309" imgH="1340254" progId="Word.Document.12">
                  <p:embed/>
                </p:oleObj>
              </mc:Choice>
              <mc:Fallback>
                <p:oleObj name="文档" r:id="rId4" imgW="3895309" imgH="1340254" progId="Word.Document.12">
                  <p:embed/>
                  <p:pic>
                    <p:nvPicPr>
                      <p:cNvPr id="0" name=""/>
                      <p:cNvPicPr/>
                      <p:nvPr/>
                    </p:nvPicPr>
                    <p:blipFill>
                      <a:blip r:embed="rId5"/>
                      <a:stretch>
                        <a:fillRect/>
                      </a:stretch>
                    </p:blipFill>
                    <p:spPr>
                      <a:xfrm>
                        <a:off x="361950" y="1304005"/>
                        <a:ext cx="10800629" cy="3716159"/>
                      </a:xfrm>
                      <a:prstGeom prst="rect">
                        <a:avLst/>
                      </a:prstGeom>
                    </p:spPr>
                  </p:pic>
                </p:oleObj>
              </mc:Fallback>
            </mc:AlternateContent>
          </a:graphicData>
        </a:graphic>
      </p:graphicFrame>
      <p:sp>
        <p:nvSpPr>
          <p:cNvPr id="6" name="矩形 5"/>
          <p:cNvSpPr>
            <a:spLocks noChangeAspect="1"/>
          </p:cNvSpPr>
          <p:nvPr/>
        </p:nvSpPr>
        <p:spPr>
          <a:xfrm>
            <a:off x="361950" y="4379199"/>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中的数据可知两名运动员击中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环的频率都集中在</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附近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所以预测两人在奥运会上击中</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环的概率均为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也就是说甲、乙两人的实力相当</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5558308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878788"/>
            <a:ext cx="10807700" cy="4799739"/>
            <a:chOff x="361950" y="940139"/>
            <a:chExt cx="10807700" cy="4799739"/>
          </a:xfrm>
        </p:grpSpPr>
        <p:pic>
          <p:nvPicPr>
            <p:cNvPr id="5" name="反思感悟H.eps" descr="id:2147490797;FounderCES"/>
            <p:cNvPicPr/>
            <p:nvPr/>
          </p:nvPicPr>
          <p:blipFill>
            <a:blip r:embed="rId2"/>
            <a:stretch>
              <a:fillRect/>
            </a:stretch>
          </p:blipFill>
          <p:spPr>
            <a:xfrm>
              <a:off x="361950" y="940139"/>
              <a:ext cx="2259558" cy="531552"/>
            </a:xfrm>
            <a:prstGeom prst="rect">
              <a:avLst/>
            </a:prstGeom>
          </p:spPr>
        </p:pic>
        <p:sp>
          <p:nvSpPr>
            <p:cNvPr id="6" name="矩形 5"/>
            <p:cNvSpPr>
              <a:spLocks noChangeAspect="1"/>
            </p:cNvSpPr>
            <p:nvPr/>
          </p:nvSpPr>
          <p:spPr>
            <a:xfrm>
              <a:off x="361950" y="1511028"/>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用频率估计概率</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随机事件在一次试验中是否发生虽然不能事先确定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但是在大量重复试验的情况下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它的发生呈现出一定的规律性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可以用事件发生的频率去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测量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因此可以通过计算事件发生的频率去估算概率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此类题目的解题方法是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先利用频率的计算公式依次计算出各个频率值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再根据频率的稳定性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用频率估计概率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17283361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945663"/>
            <a:ext cx="10807700" cy="4593058"/>
            <a:chOff x="361950" y="647799"/>
            <a:chExt cx="10807700" cy="4593058"/>
          </a:xfrm>
        </p:grpSpPr>
        <p:sp>
          <p:nvSpPr>
            <p:cNvPr id="2" name="矩形 1"/>
            <p:cNvSpPr>
              <a:spLocks noChangeAspect="1"/>
            </p:cNvSpPr>
            <p:nvPr/>
          </p:nvSpPr>
          <p:spPr>
            <a:xfrm>
              <a:off x="361950" y="647799"/>
              <a:ext cx="10807700" cy="1217641"/>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某质检员从一大批种子中抽取若干组种子</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在同一条件下进行发芽试验</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有关数据如下</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1175468080"/>
                </p:ext>
              </p:extLst>
            </p:nvPr>
          </p:nvGraphicFramePr>
          <p:xfrm>
            <a:off x="401550" y="1865440"/>
            <a:ext cx="10768100" cy="2712365"/>
          </p:xfrm>
          <a:graphic>
            <a:graphicData uri="http://schemas.openxmlformats.org/presentationml/2006/ole">
              <mc:AlternateContent xmlns:mc="http://schemas.openxmlformats.org/markup-compatibility/2006">
                <mc:Choice xmlns:v="urn:schemas-microsoft-com:vml" Requires="v">
                  <p:oleObj spid="_x0000_s6154" name="文档" r:id="rId4" imgW="3883577" imgH="978230" progId="Word.Document.12">
                    <p:embed/>
                  </p:oleObj>
                </mc:Choice>
                <mc:Fallback>
                  <p:oleObj name="文档" r:id="rId4" imgW="3883577" imgH="978230" progId="Word.Document.12">
                    <p:embed/>
                    <p:pic>
                      <p:nvPicPr>
                        <p:cNvPr id="0" name=""/>
                        <p:cNvPicPr/>
                        <p:nvPr/>
                      </p:nvPicPr>
                      <p:blipFill>
                        <a:blip r:embed="rId5"/>
                        <a:stretch>
                          <a:fillRect/>
                        </a:stretch>
                      </p:blipFill>
                      <p:spPr>
                        <a:xfrm>
                          <a:off x="401550" y="1865440"/>
                          <a:ext cx="10768100" cy="2712365"/>
                        </a:xfrm>
                        <a:prstGeom prst="rect">
                          <a:avLst/>
                        </a:prstGeom>
                      </p:spPr>
                    </p:pic>
                  </p:oleObj>
                </mc:Fallback>
              </mc:AlternateContent>
            </a:graphicData>
          </a:graphic>
        </p:graphicFrame>
        <p:sp>
          <p:nvSpPr>
            <p:cNvPr id="4" name="矩形 3"/>
            <p:cNvSpPr>
              <a:spLocks noChangeAspect="1"/>
            </p:cNvSpPr>
            <p:nvPr/>
          </p:nvSpPr>
          <p:spPr>
            <a:xfrm>
              <a:off x="361950" y="3966662"/>
              <a:ext cx="10807700" cy="1274195"/>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计算各组种子的发芽频率</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填入上表</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01);</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根据频率的稳定值</a:t>
              </a:r>
              <a:r>
                <a:rPr lang="zh-CN" altLang="zh-CN" dirty="0" smtClean="0">
                  <a:solidFill>
                    <a:srgbClr val="000000"/>
                  </a:solidFill>
                  <a:ea typeface="宋体" panose="02010600030101010101" pitchFamily="2" charset="-122"/>
                  <a:cs typeface="Times New Roman" panose="02020603050405020304" pitchFamily="18" charset="0"/>
                </a:rPr>
                <a:t>估计</a:t>
              </a:r>
              <a:r>
                <a:rPr lang="zh-CN" altLang="en-US" dirty="0" smtClean="0">
                  <a:solidFill>
                    <a:srgbClr val="000000"/>
                  </a:solidFill>
                  <a:ea typeface="宋体" panose="02010600030101010101" pitchFamily="2" charset="-122"/>
                  <a:cs typeface="Times New Roman" panose="02020603050405020304" pitchFamily="18" charset="0"/>
                </a:rPr>
                <a:t>这批</a:t>
              </a:r>
              <a:r>
                <a:rPr lang="zh-CN" altLang="zh-CN" dirty="0" smtClean="0">
                  <a:solidFill>
                    <a:srgbClr val="000000"/>
                  </a:solidFill>
                  <a:ea typeface="宋体" panose="02010600030101010101" pitchFamily="2" charset="-122"/>
                  <a:cs typeface="Times New Roman" panose="02020603050405020304" pitchFamily="18" charset="0"/>
                </a:rPr>
                <a:t>种子</a:t>
              </a:r>
              <a:r>
                <a:rPr lang="zh-CN" altLang="zh-CN" dirty="0">
                  <a:solidFill>
                    <a:srgbClr val="000000"/>
                  </a:solidFill>
                  <a:ea typeface="宋体" panose="02010600030101010101" pitchFamily="2" charset="-122"/>
                  <a:cs typeface="Times New Roman" panose="02020603050405020304" pitchFamily="18" charset="0"/>
                </a:rPr>
                <a:t>的发芽率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05744201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786520"/>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种子的发芽频率从左到右依次为</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96,0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86,0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89,0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91,0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90,0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知发芽频率逐渐稳定在</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因此</a:t>
            </a:r>
            <a:r>
              <a:rPr lang="zh-CN" altLang="zh-CN" dirty="0">
                <a:solidFill>
                  <a:srgbClr val="000000"/>
                </a:solidFill>
                <a:ea typeface="楷体" panose="02010609060101010101" pitchFamily="49" charset="-122"/>
                <a:cs typeface="Times New Roman" panose="02020603050405020304" pitchFamily="18" charset="0"/>
              </a:rPr>
              <a:t>可以</a:t>
            </a:r>
            <a:r>
              <a:rPr lang="zh-CN" altLang="zh-CN" dirty="0" smtClean="0">
                <a:solidFill>
                  <a:srgbClr val="000000"/>
                </a:solidFill>
                <a:ea typeface="楷体" panose="02010609060101010101" pitchFamily="49" charset="-122"/>
                <a:cs typeface="Times New Roman" panose="02020603050405020304" pitchFamily="18" charset="0"/>
              </a:rPr>
              <a:t>估计</a:t>
            </a:r>
            <a:r>
              <a:rPr lang="zh-CN" altLang="en-US" dirty="0" smtClean="0">
                <a:solidFill>
                  <a:srgbClr val="000000"/>
                </a:solidFill>
                <a:ea typeface="楷体" panose="02010609060101010101" pitchFamily="49" charset="-122"/>
                <a:cs typeface="Times New Roman" panose="02020603050405020304" pitchFamily="18" charset="0"/>
              </a:rPr>
              <a:t>这批</a:t>
            </a:r>
            <a:r>
              <a:rPr lang="zh-CN" altLang="zh-CN" dirty="0" smtClean="0">
                <a:solidFill>
                  <a:srgbClr val="000000"/>
                </a:solidFill>
                <a:ea typeface="楷体" panose="02010609060101010101" pitchFamily="49" charset="-122"/>
                <a:cs typeface="Times New Roman" panose="02020603050405020304" pitchFamily="18" charset="0"/>
              </a:rPr>
              <a:t>种子</a:t>
            </a:r>
            <a:r>
              <a:rPr lang="zh-CN" altLang="zh-CN" dirty="0">
                <a:solidFill>
                  <a:srgbClr val="000000"/>
                </a:solidFill>
                <a:ea typeface="楷体" panose="02010609060101010101" pitchFamily="49" charset="-122"/>
                <a:cs typeface="Times New Roman" panose="02020603050405020304" pitchFamily="18" charset="0"/>
              </a:rPr>
              <a:t>的发芽率为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3165711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1451974"/>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概率</a:t>
            </a:r>
            <a:r>
              <a:rPr lang="zh-CN" altLang="zh-CN" dirty="0"/>
              <a:t>的应用</a:t>
            </a:r>
          </a:p>
        </p:txBody>
      </p:sp>
      <p:sp>
        <p:nvSpPr>
          <p:cNvPr id="2" name="矩形 1"/>
          <p:cNvSpPr>
            <a:spLocks noChangeAspect="1"/>
          </p:cNvSpPr>
          <p:nvPr/>
        </p:nvSpPr>
        <p:spPr>
          <a:xfrm>
            <a:off x="361950" y="2087959"/>
            <a:ext cx="10807700" cy="241713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某校高一年级</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班、</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班准备联合举行晚会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组织者欲使晚会气氛热烈、有趣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策划以转盘游戏的方式串联整场晚会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每个节目开始时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两班各派一人先进行转盘游戏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胜者获得一件奖品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负者表演一个节目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3220423"/>
            <a:ext cx="10807700" cy="300806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班的文娱委员利用标有数字</a:t>
            </a:r>
            <a:r>
              <a:rPr lang="en-US" altLang="zh-CN" dirty="0">
                <a:solidFill>
                  <a:srgbClr val="000000"/>
                </a:solidFill>
                <a:ea typeface="宋体" panose="02010600030101010101" pitchFamily="2" charset="-122"/>
                <a:cs typeface="Times New Roman" panose="02020603050405020304" pitchFamily="18" charset="0"/>
              </a:rPr>
              <a:t>1,2,3</a:t>
            </a:r>
            <a:r>
              <a:rPr lang="zh-CN" altLang="zh-CN" dirty="0">
                <a:solidFill>
                  <a:srgbClr val="000000"/>
                </a:solidFill>
                <a:ea typeface="宋体" panose="02010600030101010101" pitchFamily="2" charset="-122"/>
                <a:cs typeface="Times New Roman" panose="02020603050405020304" pitchFamily="18" charset="0"/>
              </a:rPr>
              <a:t>的甲转盘和标有数字</a:t>
            </a:r>
            <a:r>
              <a:rPr lang="en-US" altLang="zh-CN" dirty="0">
                <a:solidFill>
                  <a:srgbClr val="000000"/>
                </a:solidFill>
                <a:ea typeface="宋体" panose="02010600030101010101" pitchFamily="2" charset="-122"/>
                <a:cs typeface="Times New Roman" panose="02020603050405020304" pitchFamily="18" charset="0"/>
              </a:rPr>
              <a:t>4,5,6,7</a:t>
            </a:r>
            <a:r>
              <a:rPr lang="zh-CN" altLang="zh-CN" dirty="0">
                <a:solidFill>
                  <a:srgbClr val="000000"/>
                </a:solidFill>
                <a:ea typeface="宋体" panose="02010600030101010101" pitchFamily="2" charset="-122"/>
                <a:cs typeface="Times New Roman" panose="02020603050405020304" pitchFamily="18" charset="0"/>
              </a:rPr>
              <a:t>的乙转盘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设计了一种游戏方案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两人分别转动甲转盘和乙转盘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转盘停止后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将两个指针指向的数字相加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若和为偶数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班获胜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否则</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班获胜</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该方案对双方是否公平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pic>
        <p:nvPicPr>
          <p:cNvPr id="7" name="21C98A.eps" descr="id:2147501915;FounderCES"/>
          <p:cNvPicPr/>
          <p:nvPr/>
        </p:nvPicPr>
        <p:blipFill>
          <a:blip r:embed="rId2"/>
          <a:stretch>
            <a:fillRect/>
          </a:stretch>
        </p:blipFill>
        <p:spPr>
          <a:xfrm>
            <a:off x="3024733" y="700143"/>
            <a:ext cx="4968552" cy="2520990"/>
          </a:xfrm>
          <a:prstGeom prst="rect">
            <a:avLst/>
          </a:prstGeom>
        </p:spPr>
      </p:pic>
    </p:spTree>
    <p:extLst>
      <p:ext uri="{BB962C8B-B14F-4D97-AF65-F5344CB8AC3E}">
        <p14:creationId xmlns:p14="http://schemas.microsoft.com/office/powerpoint/2010/main" val="346980055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310478"/>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判断游戏是否公平就要计算每个参与者取胜的概率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概率相等就公平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否则就不公平</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0881284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75791"/>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该方案是公平的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理由如下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solidFill>
                  <a:srgbClr val="000000"/>
                </a:solidFill>
                <a:ea typeface="楷体" panose="02010609060101010101" pitchFamily="49" charset="-122"/>
                <a:cs typeface="Times New Roman" panose="02020603050405020304" pitchFamily="18" charset="0"/>
              </a:rPr>
              <a:t>各种情况如表所示</a:t>
            </a:r>
            <a:r>
              <a:rPr lang="en-US" altLang="zh-CN" i="1"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62961938"/>
              </p:ext>
            </p:extLst>
          </p:nvPr>
        </p:nvGraphicFramePr>
        <p:xfrm>
          <a:off x="376238" y="3829050"/>
          <a:ext cx="11661775" cy="2603500"/>
        </p:xfrm>
        <a:graphic>
          <a:graphicData uri="http://schemas.openxmlformats.org/presentationml/2006/ole">
            <mc:AlternateContent xmlns:mc="http://schemas.openxmlformats.org/markup-compatibility/2006">
              <mc:Choice xmlns:v="urn:schemas-microsoft-com:vml" Requires="v">
                <p:oleObj spid="_x0000_s7186" name="文档" r:id="rId4" imgW="3826872" imgH="858557" progId="Word.Document.12">
                  <p:embed/>
                </p:oleObj>
              </mc:Choice>
              <mc:Fallback>
                <p:oleObj name="文档" r:id="rId4" imgW="3826872" imgH="858557" progId="Word.Document.12">
                  <p:embed/>
                  <p:pic>
                    <p:nvPicPr>
                      <p:cNvPr id="0" name=""/>
                      <p:cNvPicPr/>
                      <p:nvPr/>
                    </p:nvPicPr>
                    <p:blipFill>
                      <a:blip r:embed="rId5"/>
                      <a:stretch>
                        <a:fillRect/>
                      </a:stretch>
                    </p:blipFill>
                    <p:spPr>
                      <a:xfrm>
                        <a:off x="376238" y="3829050"/>
                        <a:ext cx="11661775" cy="26035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46736287"/>
              </p:ext>
            </p:extLst>
          </p:nvPr>
        </p:nvGraphicFramePr>
        <p:xfrm>
          <a:off x="1731156" y="1210649"/>
          <a:ext cx="10798633" cy="3128294"/>
        </p:xfrm>
        <a:graphic>
          <a:graphicData uri="http://schemas.openxmlformats.org/presentationml/2006/ole">
            <mc:AlternateContent xmlns:mc="http://schemas.openxmlformats.org/markup-compatibility/2006">
              <mc:Choice xmlns:v="urn:schemas-microsoft-com:vml" Requires="v">
                <p:oleObj spid="_x0000_s7187" name="文档" r:id="rId7" imgW="3894589" imgH="1128237" progId="Word.Document.12">
                  <p:embed/>
                </p:oleObj>
              </mc:Choice>
              <mc:Fallback>
                <p:oleObj name="文档" r:id="rId7" imgW="3894589" imgH="1128237" progId="Word.Document.12">
                  <p:embed/>
                  <p:pic>
                    <p:nvPicPr>
                      <p:cNvPr id="0" name=""/>
                      <p:cNvPicPr/>
                      <p:nvPr/>
                    </p:nvPicPr>
                    <p:blipFill>
                      <a:blip r:embed="rId8"/>
                      <a:stretch>
                        <a:fillRect/>
                      </a:stretch>
                    </p:blipFill>
                    <p:spPr>
                      <a:xfrm>
                        <a:off x="1731156" y="1210649"/>
                        <a:ext cx="10798633" cy="3128294"/>
                      </a:xfrm>
                      <a:prstGeom prst="rect">
                        <a:avLst/>
                      </a:prstGeom>
                    </p:spPr>
                  </p:pic>
                </p:oleObj>
              </mc:Fallback>
            </mc:AlternateContent>
          </a:graphicData>
        </a:graphic>
      </p:graphicFrame>
    </p:spTree>
    <p:extLst>
      <p:ext uri="{BB962C8B-B14F-4D97-AF65-F5344CB8AC3E}">
        <p14:creationId xmlns:p14="http://schemas.microsoft.com/office/powerpoint/2010/main" val="130526652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延伸探究H.eps" descr="id:2147490832;FounderCES"/>
          <p:cNvPicPr/>
          <p:nvPr/>
        </p:nvPicPr>
        <p:blipFill>
          <a:blip r:embed="rId3"/>
          <a:stretch>
            <a:fillRect/>
          </a:stretch>
        </p:blipFill>
        <p:spPr>
          <a:xfrm>
            <a:off x="4317062" y="887997"/>
            <a:ext cx="2524095" cy="460328"/>
          </a:xfrm>
          <a:prstGeom prst="rect">
            <a:avLst/>
          </a:prstGeom>
        </p:spPr>
      </p:pic>
      <p:sp>
        <p:nvSpPr>
          <p:cNvPr id="6" name="矩形 5"/>
          <p:cNvSpPr>
            <a:spLocks noChangeAspect="1"/>
          </p:cNvSpPr>
          <p:nvPr/>
        </p:nvSpPr>
        <p:spPr>
          <a:xfrm>
            <a:off x="361950" y="1393513"/>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在本例中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若把游戏规则改为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自由转动转盘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转盘停止后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两个指针指向的两个数字相乘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如果是偶数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班代表获胜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否则</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班代表获胜</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游戏规则公平吗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318120207"/>
              </p:ext>
            </p:extLst>
          </p:nvPr>
        </p:nvGraphicFramePr>
        <p:xfrm>
          <a:off x="484789" y="3227609"/>
          <a:ext cx="11671959" cy="2215230"/>
        </p:xfrm>
        <a:graphic>
          <a:graphicData uri="http://schemas.openxmlformats.org/presentationml/2006/ole">
            <mc:AlternateContent xmlns:mc="http://schemas.openxmlformats.org/markup-compatibility/2006">
              <mc:Choice xmlns:v="urn:schemas-microsoft-com:vml" Requires="v">
                <p:oleObj spid="_x0000_s8202" name="文档" r:id="rId5" imgW="3837724" imgH="728720" progId="Word.Document.12">
                  <p:embed/>
                </p:oleObj>
              </mc:Choice>
              <mc:Fallback>
                <p:oleObj name="文档" r:id="rId5" imgW="3837724" imgH="728720" progId="Word.Document.12">
                  <p:embed/>
                  <p:pic>
                    <p:nvPicPr>
                      <p:cNvPr id="0" name=""/>
                      <p:cNvPicPr/>
                      <p:nvPr/>
                    </p:nvPicPr>
                    <p:blipFill>
                      <a:blip r:embed="rId6"/>
                      <a:stretch>
                        <a:fillRect/>
                      </a:stretch>
                    </p:blipFill>
                    <p:spPr>
                      <a:xfrm>
                        <a:off x="484789" y="3227609"/>
                        <a:ext cx="11671959" cy="2215230"/>
                      </a:xfrm>
                      <a:prstGeom prst="rect">
                        <a:avLst/>
                      </a:prstGeom>
                    </p:spPr>
                  </p:pic>
                </p:oleObj>
              </mc:Fallback>
            </mc:AlternateContent>
          </a:graphicData>
        </a:graphic>
      </p:graphicFrame>
    </p:spTree>
    <p:extLst>
      <p:ext uri="{BB962C8B-B14F-4D97-AF65-F5344CB8AC3E}">
        <p14:creationId xmlns:p14="http://schemas.microsoft.com/office/powerpoint/2010/main" val="410639684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910643"/>
            <a:ext cx="10807700" cy="4767884"/>
            <a:chOff x="361950" y="910643"/>
            <a:chExt cx="10807700" cy="4767884"/>
          </a:xfrm>
        </p:grpSpPr>
        <p:pic>
          <p:nvPicPr>
            <p:cNvPr id="8" name="反思感悟H.eps" descr="id:2147490797;FounderCES"/>
            <p:cNvPicPr/>
            <p:nvPr/>
          </p:nvPicPr>
          <p:blipFill>
            <a:blip r:embed="rId2"/>
            <a:stretch>
              <a:fillRect/>
            </a:stretch>
          </p:blipFill>
          <p:spPr>
            <a:xfrm>
              <a:off x="361950" y="910643"/>
              <a:ext cx="2259558" cy="531552"/>
            </a:xfrm>
            <a:prstGeom prst="rect">
              <a:avLst/>
            </a:prstGeom>
          </p:spPr>
        </p:pic>
        <p:sp>
          <p:nvSpPr>
            <p:cNvPr id="2" name="矩形 1"/>
            <p:cNvSpPr>
              <a:spLocks noChangeAspect="1"/>
            </p:cNvSpPr>
            <p:nvPr/>
          </p:nvSpPr>
          <p:spPr>
            <a:xfrm>
              <a:off x="361950" y="1506231"/>
              <a:ext cx="10807700" cy="417229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游戏规则公平的判断标准</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在各类游戏中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如果每个参与者获胜的概率相等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那么游戏就是公平的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这就是说是否公平只要看每个参与者获胜的概率是否相等</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例如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在球类体育比赛中决定发球权的方法应该保证比赛双方先发球的概率相等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购买彩票的每个人中奖的概率应该是相等的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抽签决定某项事务时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任何一支签被抽到的概率也是相等的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只有这样才是公平的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6333393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17805"/>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mn-lt"/>
                <a:cs typeface="Times New Roman" panose="02020603050405020304" pitchFamily="18" charset="0"/>
              </a:rPr>
              <a:t>【变式训练</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cs typeface="Times New Roman" panose="02020603050405020304" pitchFamily="18" charset="0"/>
              </a:rPr>
              <a:t>】</a:t>
            </a:r>
            <a:r>
              <a:rPr lang="zh-CN" altLang="zh-CN" dirty="0">
                <a:solidFill>
                  <a:srgbClr val="000000"/>
                </a:solidFill>
                <a:latin typeface="+mn-lt"/>
                <a:ea typeface="Arial" panose="020B0604020202020204" pitchFamily="34" charset="0"/>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某中学高一年级有</a:t>
            </a:r>
            <a:r>
              <a:rPr lang="en-US" altLang="zh-CN" dirty="0">
                <a:solidFill>
                  <a:srgbClr val="000000"/>
                </a:solidFill>
                <a:latin typeface="+mn-lt"/>
                <a:ea typeface="宋体" panose="02010600030101010101" pitchFamily="2" charset="-122"/>
                <a:cs typeface="Times New Roman" panose="02020603050405020304" pitchFamily="18" charset="0"/>
              </a:rPr>
              <a:t>12</a:t>
            </a:r>
            <a:r>
              <a:rPr lang="zh-CN" altLang="zh-CN" dirty="0">
                <a:solidFill>
                  <a:srgbClr val="000000"/>
                </a:solidFill>
                <a:latin typeface="+mn-lt"/>
                <a:ea typeface="宋体" panose="02010600030101010101" pitchFamily="2" charset="-122"/>
                <a:cs typeface="Times New Roman" panose="02020603050405020304" pitchFamily="18" charset="0"/>
              </a:rPr>
              <a:t>个班</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要从中选出</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个班代表学校参加某项活动</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由于某种原因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一班必须参加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另外再从二班至十二班中选</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个班</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有人提议用如下的方法</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抛掷两枚质地均匀的骰子</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标记为</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宋体" panose="02010600030101010101" pitchFamily="2" charset="-122"/>
                <a:cs typeface="Times New Roman" panose="02020603050405020304" pitchFamily="18" charset="0"/>
              </a:rPr>
              <a:t>号和</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宋体" panose="02010600030101010101" pitchFamily="2" charset="-122"/>
                <a:cs typeface="Times New Roman" panose="02020603050405020304" pitchFamily="18" charset="0"/>
              </a:rPr>
              <a:t>号</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出现的点数之和是几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就选几班</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你认为这种方法公平吗</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12115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647799"/>
            <a:ext cx="10807700" cy="1217641"/>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不公平</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掷两枚骰子这一试验的样本空间包含</a:t>
            </a:r>
            <a:r>
              <a:rPr lang="en-US" altLang="zh-CN" dirty="0">
                <a:solidFill>
                  <a:srgbClr val="000000"/>
                </a:solidFill>
                <a:ea typeface="宋体" panose="02010600030101010101" pitchFamily="2" charset="-122"/>
              </a:rPr>
              <a:t>36</a:t>
            </a:r>
            <a:r>
              <a:rPr lang="zh-CN" altLang="zh-CN" dirty="0">
                <a:solidFill>
                  <a:srgbClr val="000000"/>
                </a:solidFill>
                <a:ea typeface="楷体" panose="02010609060101010101" pitchFamily="49" charset="-122"/>
                <a:cs typeface="Times New Roman" panose="02020603050405020304" pitchFamily="18" charset="0"/>
              </a:rPr>
              <a:t>个样本点</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所有可能出现的点数之和如下表</a:t>
            </a:r>
            <a:r>
              <a:rPr lang="en-US" altLang="zh-CN" dirty="0">
                <a:solidFill>
                  <a:srgbClr val="000000"/>
                </a:solidFill>
                <a:ea typeface="宋体" panose="02010600030101010101" pitchFamily="2" charset="-122"/>
              </a:rPr>
              <a:t>:</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1118633063"/>
              </p:ext>
            </p:extLst>
          </p:nvPr>
        </p:nvGraphicFramePr>
        <p:xfrm>
          <a:off x="317925" y="1876507"/>
          <a:ext cx="10798633" cy="4892893"/>
        </p:xfrm>
        <a:graphic>
          <a:graphicData uri="http://schemas.openxmlformats.org/presentationml/2006/ole">
            <mc:AlternateContent xmlns:mc="http://schemas.openxmlformats.org/markup-compatibility/2006">
              <mc:Choice xmlns:v="urn:schemas-microsoft-com:vml" Requires="v">
                <p:oleObj spid="_x0000_s9226" name="文档" r:id="rId4" imgW="3894589" imgH="1764650" progId="Word.Document.12">
                  <p:embed/>
                </p:oleObj>
              </mc:Choice>
              <mc:Fallback>
                <p:oleObj name="文档" r:id="rId4" imgW="3894589" imgH="1764650" progId="Word.Document.12">
                  <p:embed/>
                  <p:pic>
                    <p:nvPicPr>
                      <p:cNvPr id="0" name=""/>
                      <p:cNvPicPr/>
                      <p:nvPr/>
                    </p:nvPicPr>
                    <p:blipFill>
                      <a:blip r:embed="rId5"/>
                      <a:stretch>
                        <a:fillRect/>
                      </a:stretch>
                    </p:blipFill>
                    <p:spPr>
                      <a:xfrm>
                        <a:off x="317925" y="1876507"/>
                        <a:ext cx="10798633" cy="4892893"/>
                      </a:xfrm>
                      <a:prstGeom prst="rect">
                        <a:avLst/>
                      </a:prstGeom>
                    </p:spPr>
                  </p:pic>
                </p:oleObj>
              </mc:Fallback>
            </mc:AlternateContent>
          </a:graphicData>
        </a:graphic>
      </p:graphicFrame>
    </p:spTree>
    <p:extLst>
      <p:ext uri="{BB962C8B-B14F-4D97-AF65-F5344CB8AC3E}">
        <p14:creationId xmlns:p14="http://schemas.microsoft.com/office/powerpoint/2010/main" val="288125152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95455"/>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其中点数和为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点数和为</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楷体" panose="02010609060101010101" pitchFamily="49" charset="-122"/>
                <a:cs typeface="Times New Roman" panose="02020603050405020304" pitchFamily="18" charset="0"/>
              </a:rPr>
              <a:t>的有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个</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62690095"/>
              </p:ext>
            </p:extLst>
          </p:nvPr>
        </p:nvGraphicFramePr>
        <p:xfrm>
          <a:off x="445319" y="2971719"/>
          <a:ext cx="10640962" cy="3391234"/>
        </p:xfrm>
        <a:graphic>
          <a:graphicData uri="http://schemas.openxmlformats.org/presentationml/2006/ole">
            <mc:AlternateContent xmlns:mc="http://schemas.openxmlformats.org/markup-compatibility/2006">
              <mc:Choice xmlns:v="urn:schemas-microsoft-com:vml" Requires="v">
                <p:oleObj spid="_x0000_s10250" name="文档" r:id="rId4" imgW="3837724" imgH="1223068" progId="Word.Document.12">
                  <p:embed/>
                </p:oleObj>
              </mc:Choice>
              <mc:Fallback>
                <p:oleObj name="文档" r:id="rId4" imgW="3837724" imgH="1223068" progId="Word.Document.12">
                  <p:embed/>
                  <p:pic>
                    <p:nvPicPr>
                      <p:cNvPr id="0" name=""/>
                      <p:cNvPicPr/>
                      <p:nvPr/>
                    </p:nvPicPr>
                    <p:blipFill>
                      <a:blip r:embed="rId5"/>
                      <a:stretch>
                        <a:fillRect/>
                      </a:stretch>
                    </p:blipFill>
                    <p:spPr>
                      <a:xfrm>
                        <a:off x="445319" y="2971719"/>
                        <a:ext cx="10640962" cy="3391234"/>
                      </a:xfrm>
                      <a:prstGeom prst="rect">
                        <a:avLst/>
                      </a:prstGeom>
                    </p:spPr>
                  </p:pic>
                </p:oleObj>
              </mc:Fallback>
            </mc:AlternateContent>
          </a:graphicData>
        </a:graphic>
      </p:graphicFrame>
    </p:spTree>
    <p:extLst>
      <p:ext uri="{BB962C8B-B14F-4D97-AF65-F5344CB8AC3E}">
        <p14:creationId xmlns:p14="http://schemas.microsoft.com/office/powerpoint/2010/main" val="191141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50812"/>
            <a:ext cx="10807700" cy="6001643"/>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不理解概率的意义致错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【典例】</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已知某厂的产品合格率为</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现抽出</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件产品检查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则下列说法正确的是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合格产品少于</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smtClean="0">
                <a:solidFill>
                  <a:srgbClr val="000000"/>
                </a:solidFill>
                <a:ea typeface="宋体" panose="02010600030101010101" pitchFamily="2" charset="-122"/>
                <a:cs typeface="Times New Roman" panose="02020603050405020304" pitchFamily="18" charset="0"/>
              </a:rPr>
              <a:t>件</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合格产品多于</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件</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合格产品正好是</a:t>
            </a:r>
            <a:r>
              <a:rPr lang="en-US" altLang="zh-CN" dirty="0" smtClean="0">
                <a:solidFill>
                  <a:srgbClr val="000000"/>
                </a:solidFill>
                <a:ea typeface="宋体" panose="02010600030101010101" pitchFamily="2" charset="-122"/>
                <a:cs typeface="Times New Roman" panose="02020603050405020304" pitchFamily="18" charset="0"/>
              </a:rPr>
              <a:t>9</a:t>
            </a:r>
            <a:r>
              <a:rPr lang="zh-CN" altLang="zh-CN" dirty="0" smtClean="0">
                <a:solidFill>
                  <a:srgbClr val="000000"/>
                </a:solidFill>
                <a:ea typeface="宋体" panose="02010600030101010101" pitchFamily="2" charset="-122"/>
                <a:cs typeface="Times New Roman" panose="02020603050405020304" pitchFamily="18" charset="0"/>
              </a:rPr>
              <a:t>件</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合格产品可能是</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件</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产品的合格率是</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是指产品中有</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的产品是合格的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故抽出的</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件产品中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合格产品正好为</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故应选</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答案</a:t>
            </a:r>
            <a:r>
              <a:rPr lang="en-US" altLang="zh-CN" dirty="0">
                <a:solidFill>
                  <a:srgbClr val="000000"/>
                </a:solidFill>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a:t>
            </a: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15159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因不理解概率的意义而错选</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正解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合格产品可能为</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1122394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511895"/>
            <a:ext cx="10807700" cy="2967195"/>
            <a:chOff x="361950" y="1497028"/>
            <a:chExt cx="10807700" cy="2967195"/>
          </a:xfrm>
        </p:grpSpPr>
        <p:sp>
          <p:nvSpPr>
            <p:cNvPr id="3" name="矩形 2"/>
            <p:cNvSpPr>
              <a:spLocks noChangeAspect="1"/>
            </p:cNvSpPr>
            <p:nvPr/>
          </p:nvSpPr>
          <p:spPr>
            <a:xfrm>
              <a:off x="361950" y="2064720"/>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一个事件的概率是通过大量的重复试验得到的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其反映了该随机事件发生的可能性大小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因此在本题中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抽出</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仿宋" panose="02010609060101010101" pitchFamily="49" charset="-122"/>
                  <a:cs typeface="Times New Roman" panose="02020603050405020304" pitchFamily="18" charset="0"/>
                </a:rPr>
                <a:t>件产品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相当于做了</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仿宋" panose="02010609060101010101" pitchFamily="49" charset="-122"/>
                  <a:cs typeface="Times New Roman" panose="02020603050405020304" pitchFamily="18" charset="0"/>
                </a:rPr>
                <a:t>次试验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而每次试验结果可能是合格品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也可能是不合格品</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故只有</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仿宋" panose="02010609060101010101" pitchFamily="49" charset="-122"/>
                  <a:cs typeface="Times New Roman" panose="02020603050405020304" pitchFamily="18" charset="0"/>
                </a:rPr>
                <a:t>正确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防范措施H.eps" descr="id:2147490860;FounderCES"/>
            <p:cNvPicPr/>
            <p:nvPr/>
          </p:nvPicPr>
          <p:blipFill>
            <a:blip r:embed="rId2"/>
            <a:stretch>
              <a:fillRect/>
            </a:stretch>
          </p:blipFill>
          <p:spPr>
            <a:xfrm>
              <a:off x="361950" y="1497028"/>
              <a:ext cx="2259558" cy="531552"/>
            </a:xfrm>
            <a:prstGeom prst="rect">
              <a:avLst/>
            </a:prstGeom>
          </p:spPr>
        </p:pic>
      </p:grpSp>
    </p:spTree>
    <p:extLst>
      <p:ext uri="{BB962C8B-B14F-4D97-AF65-F5344CB8AC3E}">
        <p14:creationId xmlns:p14="http://schemas.microsoft.com/office/powerpoint/2010/main" val="3342902518"/>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35995"/>
            <a:ext cx="10807700" cy="594508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注意从三个方面理解概率的意义</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概率是随机事件发生可能性大小的度量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是随机事件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的本质属性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大量重复试验中随机事件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发生的频率是事件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发生的概率的近似值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由概率的定义我们可以知道随机事件</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在一次试验中发生与否是随机的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但随机中含有规律性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而概率就是其规律性在数量上的反映</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正确理解概率的意义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要清楚概率与频率的区别与联系</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对具体的问题要从全局和整体去看待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而不是局限于某一次试验或某一个具体的事件</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6704668"/>
      </p:ext>
    </p:extLst>
  </p:cSld>
  <p:clrMapOvr>
    <a:masterClrMapping/>
  </p:clrMapOvr>
  <p:transition spd="slow">
    <p:randomBar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17330"/>
            <a:ext cx="10807700" cy="478086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下列说法正确的是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由生物学知道生男生女的概率约为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一对夫妇先后生两个小孩</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则一定为一男一女</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一次摸奖活动中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中奖概率为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则摸</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张票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一定有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张中奖</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张票中有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张奖票</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人去摸</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谁先摸则谁摸到奖票的可能性大</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张票中有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张奖票</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人去摸</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无论谁先摸</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摸到奖票的概率都是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539620402"/>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07839"/>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一对夫妇生两小孩可能是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中奖概率为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是说中奖的可能性大小为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当摸</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张票时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可能都中奖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也可能中</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或者都不中奖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张票中有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张奖票</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人去摸</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每人摸到的可能性是相等的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即无论谁先摸</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摸到奖票的概率都是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不正确</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520950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91815"/>
            <a:ext cx="10807700" cy="535415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下列说法正确的是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任何事件的概率总在区间</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宋体" panose="02010600030101010101" pitchFamily="2" charset="-122"/>
                <a:cs typeface="Times New Roman" panose="02020603050405020304" pitchFamily="18" charset="0"/>
              </a:rPr>
              <a:t>内</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频率是客观存在的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与试验次数无关</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概率是随机的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在试验前不能确定</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随着试验次数的增加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频率一般会在概率附近波动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任何事件的概率总在区间</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楷体" panose="02010609060101010101" pitchFamily="49" charset="-122"/>
                <a:cs typeface="Times New Roman" panose="02020603050405020304" pitchFamily="18" charset="0"/>
              </a:rPr>
              <a:t>上</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概率是客观存在的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与试验次数无关</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频率是随机的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在试验前不能确定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都不正确</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说法正确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74183"/>
            <a:ext cx="10807700" cy="417229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一个保险推销员对人们说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人有可能得病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也有可能不得病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得病与不得病的概率各占</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他的说法</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不正确</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有时正确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有时不正确</a:t>
            </a:r>
            <a:r>
              <a:rPr lang="en-US" altLang="zh-CN" dirty="0">
                <a:solidFill>
                  <a:srgbClr val="000000"/>
                </a:solidFill>
                <a:ea typeface="宋体" panose="02010600030101010101" pitchFamily="2" charset="-122"/>
                <a:cs typeface="Times New Roman" panose="02020603050405020304" pitchFamily="18" charset="0"/>
              </a:rPr>
              <a:t>	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应由气候条件确定</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在大多数时候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人是不得病的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得病与不得病的概率不相等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2639171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834327"/>
            <a:ext cx="10807700" cy="3744416"/>
            <a:chOff x="361950" y="719807"/>
            <a:chExt cx="10807700" cy="3744416"/>
          </a:xfrm>
        </p:grpSpPr>
        <p:sp>
          <p:nvSpPr>
            <p:cNvPr id="2" name="矩形 1"/>
            <p:cNvSpPr>
              <a:spLocks noChangeAspect="1"/>
            </p:cNvSpPr>
            <p:nvPr/>
          </p:nvSpPr>
          <p:spPr>
            <a:xfrm>
              <a:off x="361950" y="719807"/>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从存放号码分别为</a:t>
              </a:r>
              <a:r>
                <a:rPr lang="en-US" altLang="zh-CN" dirty="0">
                  <a:solidFill>
                    <a:srgbClr val="000000"/>
                  </a:solidFill>
                  <a:ea typeface="宋体" panose="02010600030101010101" pitchFamily="2" charset="-122"/>
                </a:rPr>
                <a:t>1,2,</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,10</a:t>
              </a:r>
              <a:r>
                <a:rPr lang="zh-CN" altLang="zh-CN" dirty="0">
                  <a:solidFill>
                    <a:srgbClr val="000000"/>
                  </a:solidFill>
                  <a:ea typeface="宋体" panose="02010600030101010101" pitchFamily="2" charset="-122"/>
                  <a:cs typeface="Times New Roman" panose="02020603050405020304" pitchFamily="18" charset="0"/>
                </a:rPr>
                <a:t>的卡片的盒子中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有放回地取</a:t>
              </a:r>
              <a:r>
                <a:rPr lang="en-US" altLang="zh-CN" dirty="0">
                  <a:solidFill>
                    <a:srgbClr val="000000"/>
                  </a:solidFill>
                  <a:ea typeface="宋体" panose="02010600030101010101" pitchFamily="2" charset="-122"/>
                </a:rPr>
                <a:t>100</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每次取一张卡片并记下号码</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统计结果如下</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239292377"/>
                </p:ext>
              </p:extLst>
            </p:nvPr>
          </p:nvGraphicFramePr>
          <p:xfrm>
            <a:off x="361950" y="1937448"/>
            <a:ext cx="10770091" cy="1937119"/>
          </p:xfrm>
          <a:graphic>
            <a:graphicData uri="http://schemas.openxmlformats.org/presentationml/2006/ole">
              <mc:AlternateContent xmlns:mc="http://schemas.openxmlformats.org/markup-compatibility/2006">
                <mc:Choice xmlns:v="urn:schemas-microsoft-com:vml" Requires="v">
                  <p:oleObj spid="_x0000_s11280" name="文档" r:id="rId4" imgW="3884295" imgH="698633" progId="Word.Document.12">
                    <p:embed/>
                  </p:oleObj>
                </mc:Choice>
                <mc:Fallback>
                  <p:oleObj name="文档" r:id="rId4" imgW="3884295" imgH="698633" progId="Word.Document.12">
                    <p:embed/>
                    <p:pic>
                      <p:nvPicPr>
                        <p:cNvPr id="0" name=""/>
                        <p:cNvPicPr/>
                        <p:nvPr/>
                      </p:nvPicPr>
                      <p:blipFill>
                        <a:blip r:embed="rId5"/>
                        <a:stretch>
                          <a:fillRect/>
                        </a:stretch>
                      </p:blipFill>
                      <p:spPr>
                        <a:xfrm>
                          <a:off x="361950" y="1937448"/>
                          <a:ext cx="10770091" cy="1937119"/>
                        </a:xfrm>
                        <a:prstGeom prst="rect">
                          <a:avLst/>
                        </a:prstGeom>
                      </p:spPr>
                    </p:pic>
                  </p:oleObj>
                </mc:Fallback>
              </mc:AlternateContent>
            </a:graphicData>
          </a:graphic>
        </p:graphicFrame>
        <p:sp>
          <p:nvSpPr>
            <p:cNvPr id="5" name="矩形 4"/>
            <p:cNvSpPr>
              <a:spLocks noChangeAspect="1"/>
            </p:cNvSpPr>
            <p:nvPr/>
          </p:nvSpPr>
          <p:spPr>
            <a:xfrm>
              <a:off x="361950" y="3246582"/>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则取到号码为奇数的频率是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53	B.0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	</a:t>
              </a:r>
              <a:r>
                <a:rPr lang="en-US" altLang="zh-CN" dirty="0" smtClean="0">
                  <a:solidFill>
                    <a:srgbClr val="000000"/>
                  </a:solidFill>
                  <a:ea typeface="宋体" panose="02010600030101010101" pitchFamily="2" charset="-122"/>
                  <a:cs typeface="Times New Roman" panose="02020603050405020304" pitchFamily="18" charset="0"/>
                </a:rPr>
                <a:t>	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47</a:t>
              </a:r>
              <a:r>
                <a:rPr lang="en-US" altLang="zh-CN" dirty="0">
                  <a:solidFill>
                    <a:srgbClr val="000000"/>
                  </a:solidFill>
                  <a:ea typeface="宋体" panose="02010600030101010101" pitchFamily="2" charset="-122"/>
                  <a:cs typeface="Times New Roman" panose="02020603050405020304" pitchFamily="18" charset="0"/>
                </a:rPr>
                <a:t>	D.0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37</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1297939501"/>
              </p:ext>
            </p:extLst>
          </p:nvPr>
        </p:nvGraphicFramePr>
        <p:xfrm>
          <a:off x="412781" y="4598407"/>
          <a:ext cx="11671959" cy="804541"/>
        </p:xfrm>
        <a:graphic>
          <a:graphicData uri="http://schemas.openxmlformats.org/presentationml/2006/ole">
            <mc:AlternateContent xmlns:mc="http://schemas.openxmlformats.org/markup-compatibility/2006">
              <mc:Choice xmlns:v="urn:schemas-microsoft-com:vml" Requires="v">
                <p:oleObj spid="_x0000_s11281" name="文档" r:id="rId7" imgW="3826872" imgH="263784" progId="Word.Document.12">
                  <p:embed/>
                </p:oleObj>
              </mc:Choice>
              <mc:Fallback>
                <p:oleObj name="文档" r:id="rId7" imgW="3826872" imgH="263784" progId="Word.Document.12">
                  <p:embed/>
                  <p:pic>
                    <p:nvPicPr>
                      <p:cNvPr id="0" name=""/>
                      <p:cNvPicPr/>
                      <p:nvPr/>
                    </p:nvPicPr>
                    <p:blipFill>
                      <a:blip r:embed="rId8"/>
                      <a:stretch>
                        <a:fillRect/>
                      </a:stretch>
                    </p:blipFill>
                    <p:spPr>
                      <a:xfrm>
                        <a:off x="412781" y="4598407"/>
                        <a:ext cx="11671959" cy="804541"/>
                      </a:xfrm>
                      <a:prstGeom prst="rect">
                        <a:avLst/>
                      </a:prstGeom>
                    </p:spPr>
                  </p:pic>
                </p:oleObj>
              </mc:Fallback>
            </mc:AlternateContent>
          </a:graphicData>
        </a:graphic>
      </p:graphicFrame>
      <p:sp>
        <p:nvSpPr>
          <p:cNvPr id="7" name="矩形 6"/>
          <p:cNvSpPr>
            <a:spLocks noChangeAspect="1"/>
          </p:cNvSpPr>
          <p:nvPr/>
        </p:nvSpPr>
        <p:spPr>
          <a:xfrm>
            <a:off x="327757" y="5365135"/>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7170076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94479"/>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从某自动包装机包装的袋装白糖中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随机抽取</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测得各袋的质量数据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:g)</a:t>
            </a:r>
            <a:r>
              <a:rPr lang="zh-CN" altLang="zh-CN" dirty="0">
                <a:solidFill>
                  <a:srgbClr val="000000"/>
                </a:solidFill>
                <a:ea typeface="宋体" panose="02010600030101010101" pitchFamily="2" charset="-122"/>
                <a:cs typeface="Times New Roman" panose="02020603050405020304" pitchFamily="18" charset="0"/>
              </a:rPr>
              <a:t>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492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497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501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499</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根据用样本的频率分布估计总体分布的原理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该自动包装机包装的袋装白糖质量在</a:t>
            </a:r>
            <a:r>
              <a:rPr lang="en-US" altLang="zh-CN" dirty="0">
                <a:solidFill>
                  <a:srgbClr val="000000"/>
                </a:solidFill>
                <a:ea typeface="宋体" panose="02010600030101010101" pitchFamily="2" charset="-122"/>
                <a:cs typeface="Times New Roman" panose="02020603050405020304" pitchFamily="18" charset="0"/>
              </a:rPr>
              <a:t>497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 g</a:t>
            </a:r>
            <a:r>
              <a:rPr lang="zh-CN" altLang="zh-CN" dirty="0">
                <a:solidFill>
                  <a:srgbClr val="000000"/>
                </a:solidFill>
                <a:ea typeface="宋体" panose="02010600030101010101" pitchFamily="2" charset="-122"/>
                <a:cs typeface="Times New Roman" panose="02020603050405020304" pitchFamily="18" charset="0"/>
              </a:rPr>
              <a:t>之间的概率约为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2" name="组合 11"/>
          <p:cNvGrpSpPr/>
          <p:nvPr/>
        </p:nvGrpSpPr>
        <p:grpSpPr>
          <a:xfrm>
            <a:off x="361950" y="4291496"/>
            <a:ext cx="20723134" cy="1808572"/>
            <a:chOff x="361950" y="4197315"/>
            <a:chExt cx="20723134" cy="1808572"/>
          </a:xfrm>
        </p:grpSpPr>
        <p:sp>
          <p:nvSpPr>
            <p:cNvPr id="10" name="矩形 9"/>
            <p:cNvSpPr>
              <a:spLocks noChangeAspect="1"/>
            </p:cNvSpPr>
            <p:nvPr/>
          </p:nvSpPr>
          <p:spPr>
            <a:xfrm>
              <a:off x="361950" y="419731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样本中白糖质量在</a:t>
              </a:r>
              <a:r>
                <a:rPr lang="en-US" altLang="zh-CN" dirty="0">
                  <a:solidFill>
                    <a:srgbClr val="000000"/>
                  </a:solidFill>
                  <a:ea typeface="宋体" panose="02010600030101010101" pitchFamily="2" charset="-122"/>
                  <a:cs typeface="Times New Roman" panose="02020603050405020304" pitchFamily="18" charset="0"/>
                </a:rPr>
                <a:t>497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g</a:t>
              </a:r>
              <a:r>
                <a:rPr lang="zh-CN" altLang="zh-CN" dirty="0">
                  <a:solidFill>
                    <a:srgbClr val="000000"/>
                  </a:solidFill>
                  <a:ea typeface="楷体" panose="02010609060101010101" pitchFamily="49" charset="-122"/>
                  <a:cs typeface="Times New Roman" panose="02020603050405020304" pitchFamily="18" charset="0"/>
                </a:rPr>
                <a:t>之间的有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所以抽取的</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袋袋装白糖质量在</a:t>
              </a:r>
              <a:r>
                <a:rPr lang="en-US" altLang="zh-CN" dirty="0">
                  <a:solidFill>
                    <a:srgbClr val="000000"/>
                  </a:solidFill>
                  <a:ea typeface="宋体" panose="02010600030101010101" pitchFamily="2" charset="-122"/>
                  <a:cs typeface="Times New Roman" panose="02020603050405020304" pitchFamily="18" charset="0"/>
                </a:rPr>
                <a:t>497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g</a:t>
              </a:r>
              <a:r>
                <a:rPr lang="zh-CN" altLang="zh-CN" dirty="0">
                  <a:solidFill>
                    <a:srgbClr val="000000"/>
                  </a:solidFill>
                  <a:ea typeface="楷体" panose="02010609060101010101" pitchFamily="49" charset="-122"/>
                  <a:cs typeface="Times New Roman" panose="02020603050405020304" pitchFamily="18" charset="0"/>
                </a:rPr>
                <a:t>之间的频率为</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故估计概率为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051866493"/>
                </p:ext>
              </p:extLst>
            </p:nvPr>
          </p:nvGraphicFramePr>
          <p:xfrm>
            <a:off x="9413125" y="4732078"/>
            <a:ext cx="11671959" cy="733296"/>
          </p:xfrm>
          <a:graphic>
            <a:graphicData uri="http://schemas.openxmlformats.org/presentationml/2006/ole">
              <mc:AlternateContent xmlns:mc="http://schemas.openxmlformats.org/markup-compatibility/2006">
                <mc:Choice xmlns:v="urn:schemas-microsoft-com:vml" Requires="v">
                  <p:oleObj spid="_x0000_s12297" name="文档" r:id="rId4" imgW="3826872" imgH="240425" progId="Word.Document.12">
                    <p:embed/>
                  </p:oleObj>
                </mc:Choice>
                <mc:Fallback>
                  <p:oleObj name="文档" r:id="rId4" imgW="3826872" imgH="240425" progId="Word.Document.12">
                    <p:embed/>
                    <p:pic>
                      <p:nvPicPr>
                        <p:cNvPr id="0" name=""/>
                        <p:cNvPicPr/>
                        <p:nvPr/>
                      </p:nvPicPr>
                      <p:blipFill>
                        <a:blip r:embed="rId5"/>
                        <a:stretch>
                          <a:fillRect/>
                        </a:stretch>
                      </p:blipFill>
                      <p:spPr>
                        <a:xfrm>
                          <a:off x="9413125" y="4732078"/>
                          <a:ext cx="11671959" cy="733296"/>
                        </a:xfrm>
                        <a:prstGeom prst="rect">
                          <a:avLst/>
                        </a:prstGeom>
                      </p:spPr>
                    </p:pic>
                  </p:oleObj>
                </mc:Fallback>
              </mc:AlternateContent>
            </a:graphicData>
          </a:graphic>
        </p:graphicFrame>
      </p:grpSp>
      <p:sp>
        <p:nvSpPr>
          <p:cNvPr id="13" name="矩形 12"/>
          <p:cNvSpPr>
            <a:spLocks noChangeAspect="1"/>
          </p:cNvSpPr>
          <p:nvPr/>
        </p:nvSpPr>
        <p:spPr>
          <a:xfrm>
            <a:off x="5689029" y="5498991"/>
            <a:ext cx="1965603"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25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4411135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98639"/>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对某厂生产的某种产品进行简单随机抽样检查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数据如下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616388201"/>
              </p:ext>
            </p:extLst>
          </p:nvPr>
        </p:nvGraphicFramePr>
        <p:xfrm>
          <a:off x="-503659" y="1225349"/>
          <a:ext cx="11844910" cy="2130831"/>
        </p:xfrm>
        <a:graphic>
          <a:graphicData uri="http://schemas.openxmlformats.org/presentationml/2006/ole">
            <mc:AlternateContent xmlns:mc="http://schemas.openxmlformats.org/markup-compatibility/2006">
              <mc:Choice xmlns:v="urn:schemas-microsoft-com:vml" Requires="v">
                <p:oleObj spid="_x0000_s13328" name="文档" r:id="rId4" imgW="3883577" imgH="698633" progId="Word.Document.12">
                  <p:embed/>
                </p:oleObj>
              </mc:Choice>
              <mc:Fallback>
                <p:oleObj name="文档" r:id="rId4" imgW="3883577" imgH="698633" progId="Word.Document.12">
                  <p:embed/>
                  <p:pic>
                    <p:nvPicPr>
                      <p:cNvPr id="0" name=""/>
                      <p:cNvPicPr/>
                      <p:nvPr/>
                    </p:nvPicPr>
                    <p:blipFill>
                      <a:blip r:embed="rId5"/>
                      <a:stretch>
                        <a:fillRect/>
                      </a:stretch>
                    </p:blipFill>
                    <p:spPr>
                      <a:xfrm>
                        <a:off x="-503659" y="1225349"/>
                        <a:ext cx="11844910" cy="2130831"/>
                      </a:xfrm>
                      <a:prstGeom prst="rect">
                        <a:avLst/>
                      </a:prstGeom>
                    </p:spPr>
                  </p:pic>
                </p:oleObj>
              </mc:Fallback>
            </mc:AlternateContent>
          </a:graphicData>
        </a:graphic>
      </p:graphicFrame>
      <p:sp>
        <p:nvSpPr>
          <p:cNvPr id="5" name="矩形 4"/>
          <p:cNvSpPr>
            <a:spLocks noChangeAspect="1"/>
          </p:cNvSpPr>
          <p:nvPr/>
        </p:nvSpPr>
        <p:spPr>
          <a:xfrm>
            <a:off x="361950" y="2641022"/>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根据上表提供的数据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若要从该厂生产的此种产品中抽取</a:t>
            </a:r>
            <a:r>
              <a:rPr lang="en-US" altLang="zh-CN" dirty="0">
                <a:solidFill>
                  <a:srgbClr val="000000"/>
                </a:solidFill>
                <a:ea typeface="宋体" panose="02010600030101010101" pitchFamily="2" charset="-122"/>
                <a:cs typeface="Times New Roman" panose="02020603050405020304" pitchFamily="18" charset="0"/>
              </a:rPr>
              <a:t>950</a:t>
            </a:r>
            <a:r>
              <a:rPr lang="zh-CN" altLang="zh-CN" dirty="0">
                <a:solidFill>
                  <a:srgbClr val="000000"/>
                </a:solidFill>
                <a:ea typeface="宋体" panose="02010600030101010101" pitchFamily="2" charset="-122"/>
                <a:cs typeface="Times New Roman" panose="02020603050405020304" pitchFamily="18" charset="0"/>
              </a:rPr>
              <a:t>件合格产品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大约需要抽取多少件产品</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361950" y="3820795"/>
            <a:ext cx="11807799" cy="2590556"/>
            <a:chOff x="361950" y="3869955"/>
            <a:chExt cx="11807799" cy="2590556"/>
          </a:xfrm>
        </p:grpSpPr>
        <p:sp>
          <p:nvSpPr>
            <p:cNvPr id="6" name="矩形 5"/>
            <p:cNvSpPr>
              <a:spLocks noChangeAspect="1"/>
            </p:cNvSpPr>
            <p:nvPr/>
          </p:nvSpPr>
          <p:spPr>
            <a:xfrm>
              <a:off x="361950" y="386995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次抽查的合格频率分别为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94,0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96,0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953,</a:t>
              </a:r>
              <a:r>
                <a:rPr lang="zh-CN" altLang="zh-CN" dirty="0">
                  <a:solidFill>
                    <a:srgbClr val="000000"/>
                  </a:solidFill>
                  <a:ea typeface="楷体" panose="02010609060101010101" pitchFamily="49" charset="-122"/>
                  <a:cs typeface="Times New Roman" panose="02020603050405020304" pitchFamily="18" charset="0"/>
                </a:rPr>
                <a:t>根据频率的稳定性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估计产品合格的概率为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设若</a:t>
              </a:r>
              <a:r>
                <a:rPr lang="zh-CN" altLang="zh-CN" dirty="0">
                  <a:solidFill>
                    <a:srgbClr val="000000"/>
                  </a:solidFill>
                  <a:ea typeface="楷体" panose="02010609060101010101" pitchFamily="49" charset="-122"/>
                  <a:cs typeface="Times New Roman" panose="02020603050405020304" pitchFamily="18" charset="0"/>
                </a:rPr>
                <a:t>要抽到</a:t>
              </a:r>
              <a:r>
                <a:rPr lang="en-US" altLang="zh-CN" dirty="0">
                  <a:solidFill>
                    <a:srgbClr val="000000"/>
                  </a:solidFill>
                  <a:ea typeface="宋体" panose="02010600030101010101" pitchFamily="2" charset="-122"/>
                  <a:cs typeface="Times New Roman" panose="02020603050405020304" pitchFamily="18" charset="0"/>
                </a:rPr>
                <a:t>950</a:t>
              </a:r>
              <a:r>
                <a:rPr lang="zh-CN" altLang="zh-CN" dirty="0">
                  <a:solidFill>
                    <a:srgbClr val="000000"/>
                  </a:solidFill>
                  <a:ea typeface="楷体" panose="02010609060101010101" pitchFamily="49" charset="-122"/>
                  <a:cs typeface="Times New Roman" panose="02020603050405020304" pitchFamily="18" charset="0"/>
                </a:rPr>
                <a:t>件合格品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大约需抽</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楷体" panose="02010609060101010101" pitchFamily="49" charset="-122"/>
                  <a:cs typeface="Times New Roman" panose="02020603050405020304" pitchFamily="18" charset="0"/>
                </a:rPr>
                <a:t>件产品</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479455810"/>
                </p:ext>
              </p:extLst>
            </p:nvPr>
          </p:nvGraphicFramePr>
          <p:xfrm>
            <a:off x="497790" y="5647201"/>
            <a:ext cx="11671959" cy="813310"/>
          </p:xfrm>
          <a:graphic>
            <a:graphicData uri="http://schemas.openxmlformats.org/presentationml/2006/ole">
              <mc:AlternateContent xmlns:mc="http://schemas.openxmlformats.org/markup-compatibility/2006">
                <mc:Choice xmlns:v="urn:schemas-microsoft-com:vml" Requires="v">
                  <p:oleObj spid="_x0000_s13329" name="文档" r:id="rId7" imgW="3826872" imgH="266659" progId="Word.Document.12">
                    <p:embed/>
                  </p:oleObj>
                </mc:Choice>
                <mc:Fallback>
                  <p:oleObj name="文档" r:id="rId7" imgW="3826872" imgH="266659" progId="Word.Document.12">
                    <p:embed/>
                    <p:pic>
                      <p:nvPicPr>
                        <p:cNvPr id="0" name=""/>
                        <p:cNvPicPr/>
                        <p:nvPr/>
                      </p:nvPicPr>
                      <p:blipFill>
                        <a:blip r:embed="rId8"/>
                        <a:stretch>
                          <a:fillRect/>
                        </a:stretch>
                      </p:blipFill>
                      <p:spPr>
                        <a:xfrm>
                          <a:off x="497790" y="5647201"/>
                          <a:ext cx="11671959" cy="813310"/>
                        </a:xfrm>
                        <a:prstGeom prst="rect">
                          <a:avLst/>
                        </a:prstGeom>
                      </p:spPr>
                    </p:pic>
                  </p:oleObj>
                </mc:Fallback>
              </mc:AlternateContent>
            </a:graphicData>
          </a:graphic>
        </p:graphicFrame>
      </p:grpSp>
      <p:sp>
        <p:nvSpPr>
          <p:cNvPr id="9" name="矩形 8"/>
          <p:cNvSpPr>
            <a:spLocks noChangeAspect="1"/>
          </p:cNvSpPr>
          <p:nvPr/>
        </p:nvSpPr>
        <p:spPr>
          <a:xfrm>
            <a:off x="361950" y="2147859"/>
            <a:ext cx="10807700" cy="604781"/>
          </a:xfrm>
          <a:prstGeom prst="rect">
            <a:avLst/>
          </a:prstGeom>
        </p:spPr>
        <p:txBody>
          <a:bodyPr>
            <a:spAutoFit/>
          </a:bodyPr>
          <a:lstStyle/>
          <a:p>
            <a:pPr>
              <a:lnSpc>
                <a:spcPct val="120000"/>
              </a:lnSpc>
              <a:spcAft>
                <a:spcPts val="0"/>
              </a:spcAft>
              <a:tabLst>
                <a:tab pos="1188085" algn="l"/>
                <a:tab pos="2163445" algn="l"/>
                <a:tab pos="3142615" algn="l"/>
                <a:tab pos="4190365" algn="l"/>
              </a:tabLst>
            </a:pP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6583686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52</TotalTime>
  <Words>2242</Words>
  <Application>Microsoft Office PowerPoint</Application>
  <PresentationFormat>自定义</PresentationFormat>
  <Paragraphs>133</Paragraphs>
  <Slides>44</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60"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22</cp:revision>
  <dcterms:created xsi:type="dcterms:W3CDTF">2020-09-12T05:36:12Z</dcterms:created>
  <dcterms:modified xsi:type="dcterms:W3CDTF">2025-09-04T06:55:36Z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