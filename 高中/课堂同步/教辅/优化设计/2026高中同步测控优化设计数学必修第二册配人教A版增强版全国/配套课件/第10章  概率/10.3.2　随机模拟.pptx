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wav" ContentType="audio/x-wav"/>
  <Default Extension="docx" ContentType="application/vnd.openxmlformats-officedocument.wordprocessingml.document"/>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8"/>
  </p:notesMasterIdLst>
  <p:sldIdLst>
    <p:sldId id="731" r:id="rId2"/>
    <p:sldId id="753" r:id="rId3"/>
    <p:sldId id="736" r:id="rId4"/>
    <p:sldId id="744" r:id="rId5"/>
    <p:sldId id="746" r:id="rId6"/>
    <p:sldId id="749" r:id="rId7"/>
    <p:sldId id="756" r:id="rId8"/>
    <p:sldId id="757" r:id="rId9"/>
    <p:sldId id="758" r:id="rId10"/>
    <p:sldId id="759" r:id="rId11"/>
    <p:sldId id="737" r:id="rId12"/>
    <p:sldId id="750" r:id="rId13"/>
    <p:sldId id="761" r:id="rId14"/>
    <p:sldId id="760" r:id="rId15"/>
    <p:sldId id="762" r:id="rId16"/>
    <p:sldId id="754" r:id="rId17"/>
    <p:sldId id="763" r:id="rId18"/>
    <p:sldId id="764" r:id="rId19"/>
    <p:sldId id="765" r:id="rId20"/>
    <p:sldId id="766" r:id="rId21"/>
    <p:sldId id="767" r:id="rId22"/>
    <p:sldId id="768" r:id="rId23"/>
    <p:sldId id="769" r:id="rId24"/>
    <p:sldId id="747" r:id="rId25"/>
    <p:sldId id="751" r:id="rId26"/>
    <p:sldId id="770" r:id="rId27"/>
    <p:sldId id="771" r:id="rId28"/>
    <p:sldId id="772" r:id="rId29"/>
    <p:sldId id="773" r:id="rId30"/>
    <p:sldId id="774" r:id="rId31"/>
    <p:sldId id="748" r:id="rId32"/>
    <p:sldId id="752" r:id="rId33"/>
    <p:sldId id="775" r:id="rId34"/>
    <p:sldId id="776" r:id="rId35"/>
    <p:sldId id="777" r:id="rId36"/>
    <p:sldId id="735" r:id="rId37"/>
  </p:sldIdLst>
  <p:sldSz cx="11522075" cy="6480175"/>
  <p:notesSz cx="6858000" cy="9144000"/>
  <p:defaultTextStyle>
    <a:defPPr>
      <a:defRPr lang="zh-CN"/>
    </a:defPPr>
    <a:lvl1pPr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1pPr>
    <a:lvl2pPr marL="4572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2pPr>
    <a:lvl3pPr marL="9144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3pPr>
    <a:lvl4pPr marL="13716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4pPr>
    <a:lvl5pPr marL="18288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5pPr>
    <a:lvl6pPr marL="22860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6pPr>
    <a:lvl7pPr marL="27432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7pPr>
    <a:lvl8pPr marL="32004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8pPr>
    <a:lvl9pPr marL="36576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9pPr>
  </p:defaultTextStyle>
  <p:extLst>
    <p:ext uri="{EFAFB233-063F-42B5-8137-9DF3F51BA10A}">
      <p15:sldGuideLst xmlns:p15="http://schemas.microsoft.com/office/powerpoint/2012/main">
        <p15:guide id="1" orient="horz" pos="2059">
          <p15:clr>
            <a:srgbClr val="A4A3A4"/>
          </p15:clr>
        </p15:guide>
        <p15:guide id="2" pos="362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FF9933"/>
    <a:srgbClr val="FF3399"/>
    <a:srgbClr val="FF7C80"/>
    <a:srgbClr val="FFFFFF"/>
    <a:srgbClr val="C6A7DD"/>
    <a:srgbClr val="9E5ECE"/>
    <a:srgbClr val="D60093"/>
    <a:srgbClr val="934BC9"/>
    <a:srgbClr val="3399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591" autoAdjust="0"/>
  </p:normalViewPr>
  <p:slideViewPr>
    <p:cSldViewPr>
      <p:cViewPr varScale="1">
        <p:scale>
          <a:sx n="97" d="100"/>
          <a:sy n="97" d="100"/>
        </p:scale>
        <p:origin x="504" y="78"/>
      </p:cViewPr>
      <p:guideLst>
        <p:guide orient="horz" pos="2059"/>
        <p:guide pos="3629"/>
      </p:guideLst>
    </p:cSldViewPr>
  </p:slideViewPr>
  <p:outlineViewPr>
    <p:cViewPr>
      <p:scale>
        <a:sx n="33" d="100"/>
        <a:sy n="33" d="100"/>
      </p:scale>
      <p:origin x="0" y="0"/>
    </p:cViewPr>
  </p:outlineViewPr>
  <p:notesTextViewPr>
    <p:cViewPr>
      <p:scale>
        <a:sx n="3" d="2"/>
        <a:sy n="3" d="2"/>
      </p:scale>
      <p:origin x="0" y="0"/>
    </p:cViewPr>
  </p:notesTextViewPr>
  <p:sorterViewPr>
    <p:cViewPr>
      <p:scale>
        <a:sx n="130" d="100"/>
        <a:sy n="13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image" Target="../media/image8.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3.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buFontTx/>
              <a:buNone/>
              <a:defRPr sz="1200" b="0">
                <a:solidFill>
                  <a:schemeClr val="tx1"/>
                </a:solidFill>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buFontTx/>
              <a:buNone/>
              <a:defRPr sz="1200" b="0">
                <a:solidFill>
                  <a:schemeClr val="tx1"/>
                </a:solidFill>
                <a:latin typeface="+mn-lt"/>
                <a:ea typeface="+mn-ea"/>
              </a:defRPr>
            </a:lvl1pPr>
          </a:lstStyle>
          <a:p>
            <a:pPr>
              <a:defRPr/>
            </a:pPr>
            <a:endParaRPr lang="zh-CN" altLang="en-US"/>
          </a:p>
        </p:txBody>
      </p:sp>
      <p:sp>
        <p:nvSpPr>
          <p:cNvPr id="5124" name="幻灯片图像占位符 3"/>
          <p:cNvSpPr>
            <a:spLocks noGrp="1" noRot="1" noChangeAspect="1" noChangeArrowheads="1"/>
          </p:cNvSpPr>
          <p:nvPr>
            <p:ph type="sldImg" idx="4294967295"/>
          </p:nvPr>
        </p:nvSpPr>
        <p:spPr bwMode="auto">
          <a:xfrm>
            <a:off x="381000" y="685800"/>
            <a:ext cx="6096000" cy="3429000"/>
          </a:xfrm>
          <a:prstGeom prst="rect">
            <a:avLst/>
          </a:prstGeom>
          <a:noFill/>
          <a:ln w="12700">
            <a:solidFill>
              <a:srgbClr val="000000"/>
            </a:solidFill>
            <a:miter lim="800000"/>
          </a:ln>
          <a:extLst>
            <a:ext uri="{909E8E84-426E-40DD-AFC4-6F175D3DCCD1}">
              <a14:hiddenFill xmlns:a14="http://schemas.microsoft.com/office/drawing/2010/main">
                <a:solidFill>
                  <a:srgbClr val="FFFFFF"/>
                </a:solidFill>
              </a14:hiddenFill>
            </a:ext>
          </a:extLst>
        </p:spPr>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buFontTx/>
              <a:buNone/>
              <a:defRPr sz="1200" b="0">
                <a:solidFill>
                  <a:schemeClr val="tx1"/>
                </a:solidFill>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b="0" noProof="1" dirty="0">
                <a:ea typeface="黑体" panose="02010609060101010101" pitchFamily="49" charset="-122"/>
              </a:defRPr>
            </a:lvl1pPr>
          </a:lstStyle>
          <a:p>
            <a:fld id="{A64CA497-71E0-4184-919F-D45F39379D11}" type="slidenum">
              <a:rPr lang="zh-CN" altLang="en-US"/>
              <a:pPr/>
              <a:t>‹#›</a:t>
            </a:fld>
            <a:endParaRPr lang="zh-CN" altLang="en-US">
              <a:ea typeface="黑体" panose="02010609060101010101" pitchFamily="49" charset="-122"/>
            </a:endParaRPr>
          </a:p>
        </p:txBody>
      </p:sp>
    </p:spTree>
    <p:extLst>
      <p:ext uri="{BB962C8B-B14F-4D97-AF65-F5344CB8AC3E}">
        <p14:creationId xmlns:p14="http://schemas.microsoft.com/office/powerpoint/2010/main" val="1747822530"/>
      </p:ext>
    </p:extLst>
  </p:cSld>
  <p:clrMap bg1="lt1" tx1="dk1" bg2="lt2" tx2="dk2" accent1="accent1" accent2="accent2" accent3="accent3" accent4="accent4" accent5="accent5" accent6="accent6" hlink="hlink" folHlink="folHlink"/>
  <p:notesStyle>
    <a:lvl1pPr algn="l" rtl="0" fontAlgn="base">
      <a:spcBef>
        <a:spcPct val="0"/>
      </a:spcBef>
      <a:spcAft>
        <a:spcPct val="0"/>
      </a:spcAft>
      <a:defRPr sz="1200" kern="1200">
        <a:solidFill>
          <a:schemeClr val="tx1"/>
        </a:solidFill>
        <a:latin typeface="+mn-lt"/>
        <a:ea typeface="+mn-ea"/>
        <a:cs typeface="+mn-cs"/>
      </a:defRPr>
    </a:lvl1pPr>
    <a:lvl2pPr marL="457200" algn="l" rtl="0" fontAlgn="base">
      <a:spcBef>
        <a:spcPct val="0"/>
      </a:spcBef>
      <a:spcAft>
        <a:spcPct val="0"/>
      </a:spcAft>
      <a:defRPr sz="1200" kern="1200">
        <a:solidFill>
          <a:schemeClr val="tx1"/>
        </a:solidFill>
        <a:latin typeface="+mn-lt"/>
        <a:ea typeface="+mn-ea"/>
        <a:cs typeface="+mn-cs"/>
      </a:defRPr>
    </a:lvl2pPr>
    <a:lvl3pPr marL="914400" algn="l" rtl="0" fontAlgn="base">
      <a:spcBef>
        <a:spcPct val="0"/>
      </a:spcBef>
      <a:spcAft>
        <a:spcPct val="0"/>
      </a:spcAft>
      <a:defRPr sz="1200" kern="1200">
        <a:solidFill>
          <a:schemeClr val="tx1"/>
        </a:solidFill>
        <a:latin typeface="+mn-lt"/>
        <a:ea typeface="+mn-ea"/>
        <a:cs typeface="+mn-cs"/>
      </a:defRPr>
    </a:lvl3pPr>
    <a:lvl4pPr marL="1371600" algn="l" rtl="0" fontAlgn="base">
      <a:spcBef>
        <a:spcPct val="0"/>
      </a:spcBef>
      <a:spcAft>
        <a:spcPct val="0"/>
      </a:spcAft>
      <a:defRPr sz="1200" kern="1200">
        <a:solidFill>
          <a:schemeClr val="tx1"/>
        </a:solidFill>
        <a:latin typeface="+mn-lt"/>
        <a:ea typeface="+mn-ea"/>
        <a:cs typeface="+mn-cs"/>
      </a:defRPr>
    </a:lvl4pPr>
    <a:lvl5pPr marL="1828800" algn="l" rtl="0" fontAlgn="base">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64CA497-71E0-4184-919F-D45F39379D11}" type="slidenum">
              <a:rPr lang="zh-CN" altLang="en-US" smtClean="0"/>
              <a:pPr/>
              <a:t>36</a:t>
            </a:fld>
            <a:endParaRPr lang="zh-CN" altLang="en-US">
              <a:ea typeface="黑体" panose="02010609060101010101" pitchFamily="49" charset="-122"/>
            </a:endParaRPr>
          </a:p>
        </p:txBody>
      </p:sp>
    </p:spTree>
    <p:extLst>
      <p:ext uri="{BB962C8B-B14F-4D97-AF65-F5344CB8AC3E}">
        <p14:creationId xmlns:p14="http://schemas.microsoft.com/office/powerpoint/2010/main" val="85814764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1196167"/>
      </p:ext>
    </p:extLst>
  </p:cSld>
  <p:clrMapOvr>
    <a:masterClrMapping/>
  </p:clrMapOvr>
  <p:transition>
    <p:fade/>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pattFill prst="lgGrid">
          <a:fgClr>
            <a:schemeClr val="bg2">
              <a:lumMod val="90000"/>
            </a:schemeClr>
          </a:fgClr>
          <a:bgClr>
            <a:schemeClr val="bg1"/>
          </a:bgClr>
        </a:pattFill>
        <a:effectLst/>
      </p:bgPr>
    </p:bg>
    <p:spTree>
      <p:nvGrpSpPr>
        <p:cNvPr id="1" name=""/>
        <p:cNvGrpSpPr/>
        <p:nvPr/>
      </p:nvGrpSpPr>
      <p:grpSpPr>
        <a:xfrm>
          <a:off x="0" y="0"/>
          <a:ext cx="0" cy="0"/>
          <a:chOff x="0" y="0"/>
          <a:chExt cx="0" cy="0"/>
        </a:xfrm>
      </p:grpSpPr>
      <p:sp>
        <p:nvSpPr>
          <p:cNvPr id="8" name="云形标注 7"/>
          <p:cNvSpPr/>
          <p:nvPr userDrawn="1"/>
        </p:nvSpPr>
        <p:spPr>
          <a:xfrm>
            <a:off x="8868398" y="132726"/>
            <a:ext cx="2460413" cy="1360458"/>
          </a:xfrm>
          <a:prstGeom prst="cloudCallou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6600" dirty="0" smtClean="0">
                <a:solidFill>
                  <a:srgbClr val="FF0000"/>
                </a:solidFill>
              </a:rPr>
              <a:t>   </a:t>
            </a:r>
            <a:r>
              <a:rPr lang="zh-CN" altLang="en-US" sz="8800" dirty="0" smtClean="0">
                <a:solidFill>
                  <a:srgbClr val="FF0000"/>
                </a:solidFill>
              </a:rPr>
              <a:t>？</a:t>
            </a:r>
            <a:endParaRPr lang="zh-CN" altLang="en-US" dirty="0">
              <a:solidFill>
                <a:srgbClr val="FF0000"/>
              </a:solidFill>
            </a:endParaRPr>
          </a:p>
        </p:txBody>
      </p:sp>
    </p:spTree>
    <p:extLst>
      <p:ext uri="{BB962C8B-B14F-4D97-AF65-F5344CB8AC3E}">
        <p14:creationId xmlns:p14="http://schemas.microsoft.com/office/powerpoint/2010/main" val="33927165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2" presetClass="entr" presetSubtype="0" fill="hold" grpId="1" nodeType="afterEffect">
                                  <p:stCondLst>
                                    <p:cond delay="0"/>
                                  </p:stCondLst>
                                  <p:childTnLst>
                                    <p:set>
                                      <p:cBhvr>
                                        <p:cTn id="6" dur="1" fill="hold">
                                          <p:stCondLst>
                                            <p:cond delay="0"/>
                                          </p:stCondLst>
                                        </p:cTn>
                                        <p:tgtEl>
                                          <p:spTgt spid="8"/>
                                        </p:tgtEl>
                                        <p:attrNameLst>
                                          <p:attrName>style.visibility</p:attrName>
                                        </p:attrNameLst>
                                      </p:cBhvr>
                                      <p:to>
                                        <p:strVal val="visible"/>
                                      </p:to>
                                    </p:set>
                                    <p:animScale>
                                      <p:cBhvr>
                                        <p:cTn id="7" dur="1000" decel="50000" fill="hold">
                                          <p:stCondLst>
                                            <p:cond delay="0"/>
                                          </p:stCondLst>
                                        </p:cTn>
                                        <p:tgtEl>
                                          <p:spTgt spid="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8"/>
                                        </p:tgtEl>
                                        <p:attrNameLst>
                                          <p:attrName>ppt_x</p:attrName>
                                          <p:attrName>ppt_y</p:attrName>
                                        </p:attrNameLst>
                                      </p:cBhvr>
                                    </p:animMotion>
                                    <p:animEffect transition="in" filter="fade">
                                      <p:cBhvr>
                                        <p:cTn id="9"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1" animBg="1"/>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pattFill prst="pct5">
          <a:fgClr>
            <a:schemeClr val="bg2">
              <a:lumMod val="75000"/>
            </a:schemeClr>
          </a:fgClr>
          <a:bgClr>
            <a:schemeClr val="bg1"/>
          </a:bgClr>
        </a:patt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5108201"/>
      </p:ext>
    </p:extLst>
  </p:cSld>
  <p:clrMapOvr>
    <a:masterClrMapping/>
  </p:clrMapOvr>
  <p:transition>
    <p:fade/>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2469556"/>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1037021"/>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289420"/>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gradFill>
          <a:gsLst>
            <a:gs pos="61000">
              <a:schemeClr val="bg2">
                <a:lumMod val="90000"/>
              </a:schemeClr>
            </a:gs>
            <a:gs pos="100000">
              <a:schemeClr val="bg2">
                <a:lumMod val="50000"/>
              </a:schemeClr>
            </a:gs>
            <a:gs pos="0">
              <a:schemeClr val="bg2">
                <a:lumMod val="50000"/>
              </a:schemeClr>
            </a:gs>
            <a:gs pos="40000">
              <a:schemeClr val="bg2">
                <a:lumMod val="90000"/>
              </a:schemeClr>
            </a:gs>
          </a:gsLst>
          <a:lin ang="5400000" scaled="1"/>
        </a:gradFill>
        <a:effectLst/>
      </p:bgPr>
    </p:bg>
    <p:spTree>
      <p:nvGrpSpPr>
        <p:cNvPr id="1" name=""/>
        <p:cNvGrpSpPr/>
        <p:nvPr/>
      </p:nvGrpSpPr>
      <p:grpSpPr>
        <a:xfrm>
          <a:off x="0" y="0"/>
          <a:ext cx="0" cy="0"/>
          <a:chOff x="0" y="0"/>
          <a:chExt cx="0" cy="0"/>
        </a:xfrm>
      </p:grpSpPr>
      <p:sp>
        <p:nvSpPr>
          <p:cNvPr id="2" name="矩形 1"/>
          <p:cNvSpPr/>
          <p:nvPr userDrawn="1"/>
        </p:nvSpPr>
        <p:spPr>
          <a:xfrm>
            <a:off x="801617" y="1129203"/>
            <a:ext cx="10071988" cy="3046988"/>
          </a:xfrm>
          <a:prstGeom prst="rect">
            <a:avLst/>
          </a:prstGeom>
          <a:noFill/>
        </p:spPr>
        <p:txBody>
          <a:bodyPr wrap="none" lIns="91440" tIns="45720" rIns="91440" bIns="45720">
            <a:spAutoFit/>
          </a:bodyPr>
          <a:lstStyle/>
          <a:p>
            <a:r>
              <a:rPr lang="zh-CN" altLang="en-US"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rPr>
              <a:t>十年寒窗磨利剑，</a:t>
            </a:r>
            <a:endParaRPr lang="en-US" altLang="zh-CN"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endParaRPr>
          </a:p>
          <a:p>
            <a:r>
              <a:rPr lang="zh-CN" altLang="en-US"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rPr>
              <a:t>一朝折桂展宏图！</a:t>
            </a:r>
            <a:endParaRPr lang="en-US" altLang="zh-CN"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endParaRPr>
          </a:p>
        </p:txBody>
      </p:sp>
    </p:spTree>
    <p:extLst>
      <p:ext uri="{BB962C8B-B14F-4D97-AF65-F5344CB8AC3E}">
        <p14:creationId xmlns:p14="http://schemas.microsoft.com/office/powerpoint/2010/main" val="34260790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audio" Target="../media/audio1.wav"/><Relationship Id="rId5" Type="http://schemas.openxmlformats.org/officeDocument/2006/relationships/slideLayout" Target="../slideLayouts/slideLayout5.xml"/><Relationship Id="rId10" Type="http://schemas.openxmlformats.org/officeDocument/2006/relationships/slide" Target="../slides/slide4.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4" name="组合 3"/>
          <p:cNvGrpSpPr/>
          <p:nvPr userDrawn="1"/>
        </p:nvGrpSpPr>
        <p:grpSpPr>
          <a:xfrm>
            <a:off x="-1" y="36116"/>
            <a:ext cx="11522075" cy="611683"/>
            <a:chOff x="-1" y="36116"/>
            <a:chExt cx="11522075" cy="611683"/>
          </a:xfrm>
        </p:grpSpPr>
        <p:sp>
          <p:nvSpPr>
            <p:cNvPr id="7" name="矩形 6"/>
            <p:cNvSpPr/>
            <p:nvPr userDrawn="1"/>
          </p:nvSpPr>
          <p:spPr>
            <a:xfrm>
              <a:off x="-1" y="359767"/>
              <a:ext cx="11522075" cy="288032"/>
            </a:xfrm>
            <a:prstGeom prst="rect">
              <a:avLst/>
            </a:prstGeom>
            <a:gradFill flip="none" rotWithShape="1">
              <a:gsLst>
                <a:gs pos="65000">
                  <a:schemeClr val="bg2">
                    <a:lumMod val="90000"/>
                  </a:schemeClr>
                </a:gs>
                <a:gs pos="38000">
                  <a:schemeClr val="bg2">
                    <a:lumMod val="75000"/>
                  </a:schemeClr>
                </a:gs>
                <a:gs pos="1000">
                  <a:srgbClr val="0070C0"/>
                </a:gs>
                <a:gs pos="100000">
                  <a:schemeClr val="bg1"/>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288429" y="36116"/>
              <a:ext cx="576064" cy="576064"/>
            </a:xfrm>
            <a:prstGeom prst="rect">
              <a:avLst/>
            </a:prstGeom>
          </p:spPr>
        </p:pic>
      </p:grpSp>
      <p:sp>
        <p:nvSpPr>
          <p:cNvPr id="9" name="矩形 8"/>
          <p:cNvSpPr/>
          <p:nvPr userDrawn="1"/>
        </p:nvSpPr>
        <p:spPr>
          <a:xfrm>
            <a:off x="-9728" y="6404527"/>
            <a:ext cx="11522074" cy="72008"/>
          </a:xfrm>
          <a:prstGeom prst="rect">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2">
                    <a:lumMod val="50000"/>
                  </a:schemeClr>
                </a:solidFill>
              </a:ln>
              <a:solidFill>
                <a:schemeClr val="bg2">
                  <a:lumMod val="50000"/>
                </a:schemeClr>
              </a:solidFill>
            </a:endParaRPr>
          </a:p>
        </p:txBody>
      </p:sp>
      <p:sp>
        <p:nvSpPr>
          <p:cNvPr id="10" name="云形标注 9">
            <a:hlinkClick r:id="rId10" action="ppaction://hlinksldjump">
              <a:snd r:embed="rId11" name="camera.wav"/>
            </a:hlinkClick>
          </p:cNvPr>
          <p:cNvSpPr/>
          <p:nvPr userDrawn="1"/>
        </p:nvSpPr>
        <p:spPr>
          <a:xfrm>
            <a:off x="10441557" y="42551"/>
            <a:ext cx="864096" cy="432048"/>
          </a:xfrm>
          <a:prstGeom prst="cloudCallou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dirty="0" smtClean="0"/>
              <a:t>  </a:t>
            </a:r>
            <a:r>
              <a:rPr lang="zh-CN" altLang="en-US" dirty="0" smtClean="0">
                <a:solidFill>
                  <a:srgbClr val="FF0000"/>
                </a:solidFill>
              </a:rPr>
              <a:t>？</a:t>
            </a:r>
            <a:endParaRPr lang="zh-CN" altLang="en-US" dirty="0">
              <a:solidFill>
                <a:srgbClr val="FF0000"/>
              </a:solidFill>
            </a:endParaRPr>
          </a:p>
        </p:txBody>
      </p:sp>
    </p:spTree>
    <p:extLst>
      <p:ext uri="{BB962C8B-B14F-4D97-AF65-F5344CB8AC3E}">
        <p14:creationId xmlns:p14="http://schemas.microsoft.com/office/powerpoint/2010/main" val="1345586147"/>
      </p:ext>
    </p:extLst>
  </p:cSld>
  <p:clrMap bg1="lt1" tx1="dk1" bg2="lt2" tx2="dk2" accent1="accent1" accent2="accent2" accent3="accent3" accent4="accent4" accent5="accent5" accent6="accent6" hlink="hlink" folHlink="folHlink"/>
  <p:sldLayoutIdLst>
    <p:sldLayoutId id="2147483661" r:id="rId1"/>
    <p:sldLayoutId id="2147483695" r:id="rId2"/>
    <p:sldLayoutId id="2147483697" r:id="rId3"/>
    <p:sldLayoutId id="2147483690" r:id="rId4"/>
    <p:sldLayoutId id="2147483691" r:id="rId5"/>
    <p:sldLayoutId id="2147483692" r:id="rId6"/>
    <p:sldLayoutId id="2147483694" r:id="rId7"/>
  </p:sldLayoutIdLst>
  <p:timing>
    <p:tnLst>
      <p:par>
        <p:cTn id="1" dur="indefinite" restart="never" nodeType="tmRoot"/>
      </p:par>
    </p:tnLst>
  </p:timing>
  <p:txStyles>
    <p:titleStyle>
      <a:lvl1pPr algn="ctr" rtl="0" eaLnBrk="1" fontAlgn="base" hangingPunct="1">
        <a:spcBef>
          <a:spcPct val="0"/>
        </a:spcBef>
        <a:spcAft>
          <a:spcPct val="0"/>
        </a:spcAft>
        <a:defRPr sz="4158" kern="1200">
          <a:solidFill>
            <a:schemeClr val="tx1"/>
          </a:solidFill>
          <a:latin typeface="+mj-lt"/>
          <a:ea typeface="+mj-ea"/>
          <a:cs typeface="+mj-cs"/>
        </a:defRPr>
      </a:lvl1pPr>
      <a:lvl2pPr algn="ctr" rtl="0" eaLnBrk="1" fontAlgn="base" hangingPunct="1">
        <a:spcBef>
          <a:spcPct val="0"/>
        </a:spcBef>
        <a:spcAft>
          <a:spcPct val="0"/>
        </a:spcAft>
        <a:defRPr sz="4158">
          <a:solidFill>
            <a:schemeClr val="tx1"/>
          </a:solidFill>
          <a:latin typeface="Arial" charset="0"/>
          <a:ea typeface="黑体" pitchFamily="2" charset="-122"/>
        </a:defRPr>
      </a:lvl2pPr>
      <a:lvl3pPr algn="ctr" rtl="0" eaLnBrk="1" fontAlgn="base" hangingPunct="1">
        <a:spcBef>
          <a:spcPct val="0"/>
        </a:spcBef>
        <a:spcAft>
          <a:spcPct val="0"/>
        </a:spcAft>
        <a:defRPr sz="4158">
          <a:solidFill>
            <a:schemeClr val="tx1"/>
          </a:solidFill>
          <a:latin typeface="Arial" charset="0"/>
          <a:ea typeface="黑体" pitchFamily="2" charset="-122"/>
        </a:defRPr>
      </a:lvl3pPr>
      <a:lvl4pPr algn="ctr" rtl="0" eaLnBrk="1" fontAlgn="base" hangingPunct="1">
        <a:spcBef>
          <a:spcPct val="0"/>
        </a:spcBef>
        <a:spcAft>
          <a:spcPct val="0"/>
        </a:spcAft>
        <a:defRPr sz="4158">
          <a:solidFill>
            <a:schemeClr val="tx1"/>
          </a:solidFill>
          <a:latin typeface="Arial" charset="0"/>
          <a:ea typeface="黑体" pitchFamily="2" charset="-122"/>
        </a:defRPr>
      </a:lvl4pPr>
      <a:lvl5pPr algn="ctr" rtl="0" eaLnBrk="1" fontAlgn="base" hangingPunct="1">
        <a:spcBef>
          <a:spcPct val="0"/>
        </a:spcBef>
        <a:spcAft>
          <a:spcPct val="0"/>
        </a:spcAft>
        <a:defRPr sz="4158">
          <a:solidFill>
            <a:schemeClr val="tx1"/>
          </a:solidFill>
          <a:latin typeface="Arial" charset="0"/>
          <a:ea typeface="黑体" pitchFamily="2" charset="-122"/>
        </a:defRPr>
      </a:lvl5pPr>
      <a:lvl6pPr marL="432008" algn="ctr" rtl="0" eaLnBrk="1" fontAlgn="base" hangingPunct="1">
        <a:spcBef>
          <a:spcPct val="0"/>
        </a:spcBef>
        <a:spcAft>
          <a:spcPct val="0"/>
        </a:spcAft>
        <a:defRPr sz="4158">
          <a:solidFill>
            <a:schemeClr val="tx1"/>
          </a:solidFill>
          <a:latin typeface="Arial" charset="0"/>
          <a:ea typeface="黑体" pitchFamily="2" charset="-122"/>
        </a:defRPr>
      </a:lvl6pPr>
      <a:lvl7pPr marL="864017" algn="ctr" rtl="0" eaLnBrk="1" fontAlgn="base" hangingPunct="1">
        <a:spcBef>
          <a:spcPct val="0"/>
        </a:spcBef>
        <a:spcAft>
          <a:spcPct val="0"/>
        </a:spcAft>
        <a:defRPr sz="4158">
          <a:solidFill>
            <a:schemeClr val="tx1"/>
          </a:solidFill>
          <a:latin typeface="Arial" charset="0"/>
          <a:ea typeface="黑体" pitchFamily="2" charset="-122"/>
        </a:defRPr>
      </a:lvl7pPr>
      <a:lvl8pPr marL="1296025" algn="ctr" rtl="0" eaLnBrk="1" fontAlgn="base" hangingPunct="1">
        <a:spcBef>
          <a:spcPct val="0"/>
        </a:spcBef>
        <a:spcAft>
          <a:spcPct val="0"/>
        </a:spcAft>
        <a:defRPr sz="4158">
          <a:solidFill>
            <a:schemeClr val="tx1"/>
          </a:solidFill>
          <a:latin typeface="Arial" charset="0"/>
          <a:ea typeface="黑体" pitchFamily="2" charset="-122"/>
        </a:defRPr>
      </a:lvl8pPr>
      <a:lvl9pPr marL="1728033" algn="ctr" rtl="0" eaLnBrk="1" fontAlgn="base" hangingPunct="1">
        <a:spcBef>
          <a:spcPct val="0"/>
        </a:spcBef>
        <a:spcAft>
          <a:spcPct val="0"/>
        </a:spcAft>
        <a:defRPr sz="4158">
          <a:solidFill>
            <a:schemeClr val="tx1"/>
          </a:solidFill>
          <a:latin typeface="Arial" charset="0"/>
          <a:ea typeface="黑体" pitchFamily="2" charset="-122"/>
        </a:defRPr>
      </a:lvl9pPr>
    </p:titleStyle>
    <p:bodyStyle>
      <a:lvl1pPr marL="324006" indent="-324006" algn="l" rtl="0" eaLnBrk="1" fontAlgn="base" hangingPunct="1">
        <a:spcBef>
          <a:spcPct val="20000"/>
        </a:spcBef>
        <a:spcAft>
          <a:spcPct val="0"/>
        </a:spcAft>
        <a:buFont typeface="Arial" charset="0"/>
        <a:buChar char="•"/>
        <a:defRPr sz="3024" kern="1200">
          <a:solidFill>
            <a:schemeClr val="tx1"/>
          </a:solidFill>
          <a:latin typeface="+mn-lt"/>
          <a:ea typeface="+mn-ea"/>
          <a:cs typeface="+mn-cs"/>
        </a:defRPr>
      </a:lvl1pPr>
      <a:lvl2pPr marL="702013" indent="-270005" algn="l" rtl="0" eaLnBrk="1" fontAlgn="base" hangingPunct="1">
        <a:spcBef>
          <a:spcPct val="20000"/>
        </a:spcBef>
        <a:spcAft>
          <a:spcPct val="0"/>
        </a:spcAft>
        <a:buFont typeface="Arial" charset="0"/>
        <a:buChar char="–"/>
        <a:defRPr sz="2646" kern="1200">
          <a:solidFill>
            <a:schemeClr val="tx1"/>
          </a:solidFill>
          <a:latin typeface="+mn-lt"/>
          <a:ea typeface="+mn-ea"/>
          <a:cs typeface="+mn-cs"/>
        </a:defRPr>
      </a:lvl2pPr>
      <a:lvl3pPr marL="1080021" indent="-216004" algn="l" rtl="0" eaLnBrk="1" fontAlgn="base" hangingPunct="1">
        <a:spcBef>
          <a:spcPct val="20000"/>
        </a:spcBef>
        <a:spcAft>
          <a:spcPct val="0"/>
        </a:spcAft>
        <a:buFont typeface="Arial" charset="0"/>
        <a:buChar char="•"/>
        <a:defRPr sz="2268" kern="1200">
          <a:solidFill>
            <a:schemeClr val="tx1"/>
          </a:solidFill>
          <a:latin typeface="+mn-lt"/>
          <a:ea typeface="+mn-ea"/>
          <a:cs typeface="+mn-cs"/>
        </a:defRPr>
      </a:lvl3pPr>
      <a:lvl4pPr marL="1512029" indent="-216004" algn="l" rtl="0" eaLnBrk="1" fontAlgn="base" hangingPunct="1">
        <a:spcBef>
          <a:spcPct val="20000"/>
        </a:spcBef>
        <a:spcAft>
          <a:spcPct val="0"/>
        </a:spcAft>
        <a:buFont typeface="Arial" charset="0"/>
        <a:buChar char="–"/>
        <a:defRPr sz="1890" kern="1200">
          <a:solidFill>
            <a:schemeClr val="tx1"/>
          </a:solidFill>
          <a:latin typeface="+mn-lt"/>
          <a:ea typeface="+mn-ea"/>
          <a:cs typeface="+mn-cs"/>
        </a:defRPr>
      </a:lvl4pPr>
      <a:lvl5pPr marL="1944037" indent="-216004" algn="l" rtl="0" eaLnBrk="1" fontAlgn="base" hangingPunct="1">
        <a:spcBef>
          <a:spcPct val="20000"/>
        </a:spcBef>
        <a:spcAft>
          <a:spcPct val="0"/>
        </a:spcAft>
        <a:buFont typeface="Arial" charset="0"/>
        <a:buChar char="»"/>
        <a:defRPr sz="1890" kern="1200">
          <a:solidFill>
            <a:schemeClr val="tx1"/>
          </a:solidFill>
          <a:latin typeface="+mn-lt"/>
          <a:ea typeface="+mn-ea"/>
          <a:cs typeface="+mn-cs"/>
        </a:defRPr>
      </a:lvl5pPr>
      <a:lvl6pPr marL="2376046"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6pPr>
      <a:lvl7pPr marL="2808054"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7pPr>
      <a:lvl8pPr marL="3240062"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8pPr>
      <a:lvl9pPr marL="3672070"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9pPr>
    </p:bodyStyle>
    <p:otherStyle>
      <a:defPPr>
        <a:defRPr lang="zh-CN"/>
      </a:defPPr>
      <a:lvl1pPr marL="0" algn="l" defTabSz="864017" rtl="0" eaLnBrk="1" latinLnBrk="0" hangingPunct="1">
        <a:defRPr sz="1701" kern="1200">
          <a:solidFill>
            <a:schemeClr val="tx1"/>
          </a:solidFill>
          <a:latin typeface="+mn-lt"/>
          <a:ea typeface="+mn-ea"/>
          <a:cs typeface="+mn-cs"/>
        </a:defRPr>
      </a:lvl1pPr>
      <a:lvl2pPr marL="432008" algn="l" defTabSz="864017" rtl="0" eaLnBrk="1" latinLnBrk="0" hangingPunct="1">
        <a:defRPr sz="1701" kern="1200">
          <a:solidFill>
            <a:schemeClr val="tx1"/>
          </a:solidFill>
          <a:latin typeface="+mn-lt"/>
          <a:ea typeface="+mn-ea"/>
          <a:cs typeface="+mn-cs"/>
        </a:defRPr>
      </a:lvl2pPr>
      <a:lvl3pPr marL="864017" algn="l" defTabSz="864017" rtl="0" eaLnBrk="1" latinLnBrk="0" hangingPunct="1">
        <a:defRPr sz="1701" kern="1200">
          <a:solidFill>
            <a:schemeClr val="tx1"/>
          </a:solidFill>
          <a:latin typeface="+mn-lt"/>
          <a:ea typeface="+mn-ea"/>
          <a:cs typeface="+mn-cs"/>
        </a:defRPr>
      </a:lvl3pPr>
      <a:lvl4pPr marL="1296025" algn="l" defTabSz="864017" rtl="0" eaLnBrk="1" latinLnBrk="0" hangingPunct="1">
        <a:defRPr sz="1701" kern="1200">
          <a:solidFill>
            <a:schemeClr val="tx1"/>
          </a:solidFill>
          <a:latin typeface="+mn-lt"/>
          <a:ea typeface="+mn-ea"/>
          <a:cs typeface="+mn-cs"/>
        </a:defRPr>
      </a:lvl4pPr>
      <a:lvl5pPr marL="1728033" algn="l" defTabSz="864017" rtl="0" eaLnBrk="1" latinLnBrk="0" hangingPunct="1">
        <a:defRPr sz="1701" kern="1200">
          <a:solidFill>
            <a:schemeClr val="tx1"/>
          </a:solidFill>
          <a:latin typeface="+mn-lt"/>
          <a:ea typeface="+mn-ea"/>
          <a:cs typeface="+mn-cs"/>
        </a:defRPr>
      </a:lvl5pPr>
      <a:lvl6pPr marL="2160041" algn="l" defTabSz="864017" rtl="0" eaLnBrk="1" latinLnBrk="0" hangingPunct="1">
        <a:defRPr sz="1701" kern="1200">
          <a:solidFill>
            <a:schemeClr val="tx1"/>
          </a:solidFill>
          <a:latin typeface="+mn-lt"/>
          <a:ea typeface="+mn-ea"/>
          <a:cs typeface="+mn-cs"/>
        </a:defRPr>
      </a:lvl6pPr>
      <a:lvl7pPr marL="2592050" algn="l" defTabSz="864017" rtl="0" eaLnBrk="1" latinLnBrk="0" hangingPunct="1">
        <a:defRPr sz="1701" kern="1200">
          <a:solidFill>
            <a:schemeClr val="tx1"/>
          </a:solidFill>
          <a:latin typeface="+mn-lt"/>
          <a:ea typeface="+mn-ea"/>
          <a:cs typeface="+mn-cs"/>
        </a:defRPr>
      </a:lvl7pPr>
      <a:lvl8pPr marL="3024058" algn="l" defTabSz="864017" rtl="0" eaLnBrk="1" latinLnBrk="0" hangingPunct="1">
        <a:defRPr sz="1701" kern="1200">
          <a:solidFill>
            <a:schemeClr val="tx1"/>
          </a:solidFill>
          <a:latin typeface="+mn-lt"/>
          <a:ea typeface="+mn-ea"/>
          <a:cs typeface="+mn-cs"/>
        </a:defRPr>
      </a:lvl8pPr>
      <a:lvl9pPr marL="3456066" algn="l" defTabSz="864017" rtl="0" eaLnBrk="1" latinLnBrk="0" hangingPunct="1">
        <a:defRPr sz="170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slide" Target="slide5.xml"/><Relationship Id="rId1" Type="http://schemas.openxmlformats.org/officeDocument/2006/relationships/slideLayout" Target="../slideLayouts/slideLayout3.xml"/><Relationship Id="rId6" Type="http://schemas.openxmlformats.org/officeDocument/2006/relationships/slide" Target="slide31.xml"/><Relationship Id="rId5" Type="http://schemas.openxmlformats.org/officeDocument/2006/relationships/slide" Target="slide24.xml"/><Relationship Id="rId4" Type="http://schemas.openxmlformats.org/officeDocument/2006/relationships/slide" Target="slide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slide" Target="slide16.xml"/><Relationship Id="rId2" Type="http://schemas.openxmlformats.org/officeDocument/2006/relationships/slide" Target="slide12.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4.xml"/><Relationship Id="rId1" Type="http://schemas.openxmlformats.org/officeDocument/2006/relationships/vmlDrawing" Target="../drawings/vmlDrawing1.vml"/><Relationship Id="rId5" Type="http://schemas.openxmlformats.org/officeDocument/2006/relationships/image" Target="../media/image3.emf"/><Relationship Id="rId4" Type="http://schemas.openxmlformats.org/officeDocument/2006/relationships/package" Target="../embeddings/Microsoft_Word___1.docx"/></Relationships>
</file>

<file path=ppt/slides/_rels/slide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4.xml"/><Relationship Id="rId1" Type="http://schemas.openxmlformats.org/officeDocument/2006/relationships/vmlDrawing" Target="../drawings/vmlDrawing2.vml"/><Relationship Id="rId5" Type="http://schemas.openxmlformats.org/officeDocument/2006/relationships/image" Target="../media/image5.emf"/><Relationship Id="rId4" Type="http://schemas.openxmlformats.org/officeDocument/2006/relationships/package" Target="../embeddings/Microsoft_Word___2.docx"/></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4.xml"/><Relationship Id="rId1" Type="http://schemas.openxmlformats.org/officeDocument/2006/relationships/vmlDrawing" Target="../drawings/vmlDrawing3.vml"/><Relationship Id="rId5" Type="http://schemas.openxmlformats.org/officeDocument/2006/relationships/image" Target="../media/image6.emf"/><Relationship Id="rId4" Type="http://schemas.openxmlformats.org/officeDocument/2006/relationships/package" Target="../embeddings/Microsoft_Word___3.docx"/></Relationships>
</file>

<file path=ppt/slides/_rels/slide1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8" Type="http://schemas.openxmlformats.org/officeDocument/2006/relationships/image" Target="../media/image9.emf"/><Relationship Id="rId3" Type="http://schemas.openxmlformats.org/officeDocument/2006/relationships/oleObject" Target="../embeddings/oleObject4.bin"/><Relationship Id="rId7" Type="http://schemas.openxmlformats.org/officeDocument/2006/relationships/package" Target="../embeddings/Microsoft_Word___5.docx"/><Relationship Id="rId2" Type="http://schemas.openxmlformats.org/officeDocument/2006/relationships/slideLayout" Target="../slideLayouts/slideLayout4.xml"/><Relationship Id="rId1" Type="http://schemas.openxmlformats.org/officeDocument/2006/relationships/vmlDrawing" Target="../drawings/vmlDrawing4.vml"/><Relationship Id="rId6" Type="http://schemas.openxmlformats.org/officeDocument/2006/relationships/oleObject" Target="../embeddings/oleObject5.bin"/><Relationship Id="rId5" Type="http://schemas.openxmlformats.org/officeDocument/2006/relationships/image" Target="../media/image8.emf"/><Relationship Id="rId4" Type="http://schemas.openxmlformats.org/officeDocument/2006/relationships/package" Target="../embeddings/Microsoft_Word___4.docx"/></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4.xml"/><Relationship Id="rId1" Type="http://schemas.openxmlformats.org/officeDocument/2006/relationships/vmlDrawing" Target="../drawings/vmlDrawing5.vml"/><Relationship Id="rId5" Type="http://schemas.openxmlformats.org/officeDocument/2006/relationships/image" Target="../media/image10.emf"/><Relationship Id="rId4" Type="http://schemas.openxmlformats.org/officeDocument/2006/relationships/package" Target="../embeddings/Microsoft_Word___6.docx"/></Relationships>
</file>

<file path=ppt/slides/_rels/slide2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4.xml"/><Relationship Id="rId1" Type="http://schemas.openxmlformats.org/officeDocument/2006/relationships/vmlDrawing" Target="../drawings/vmlDrawing6.vml"/><Relationship Id="rId5" Type="http://schemas.openxmlformats.org/officeDocument/2006/relationships/image" Target="../media/image12.emf"/><Relationship Id="rId4" Type="http://schemas.openxmlformats.org/officeDocument/2006/relationships/package" Target="../embeddings/Microsoft_Word___7.docx"/></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4.xml"/><Relationship Id="rId1" Type="http://schemas.openxmlformats.org/officeDocument/2006/relationships/vmlDrawing" Target="../drawings/vmlDrawing7.vml"/><Relationship Id="rId5" Type="http://schemas.openxmlformats.org/officeDocument/2006/relationships/image" Target="../media/image13.emf"/><Relationship Id="rId4" Type="http://schemas.openxmlformats.org/officeDocument/2006/relationships/package" Target="../embeddings/Microsoft_Word___8.docx"/></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513369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pattFill prst="lgGrid">
          <a:fgClr>
            <a:schemeClr val="bg2"/>
          </a:fgClr>
          <a:bgClr>
            <a:schemeClr val="bg1"/>
          </a:bgClr>
        </a:pattFill>
        <a:effectLst/>
      </p:bgPr>
    </p:bg>
    <p:spTree>
      <p:nvGrpSpPr>
        <p:cNvPr id="1" name=""/>
        <p:cNvGrpSpPr/>
        <p:nvPr/>
      </p:nvGrpSpPr>
      <p:grpSpPr>
        <a:xfrm>
          <a:off x="0" y="0"/>
          <a:ext cx="0" cy="0"/>
          <a:chOff x="0" y="0"/>
          <a:chExt cx="0" cy="0"/>
        </a:xfrm>
      </p:grpSpPr>
      <p:sp>
        <p:nvSpPr>
          <p:cNvPr id="10" name="矩形 9"/>
          <p:cNvSpPr>
            <a:spLocks noChangeAspect="1"/>
          </p:cNvSpPr>
          <p:nvPr/>
        </p:nvSpPr>
        <p:spPr>
          <a:xfrm>
            <a:off x="361950" y="2447999"/>
            <a:ext cx="10807700" cy="1096454"/>
          </a:xfrm>
          <a:prstGeom prst="rect">
            <a:avLst/>
          </a:prstGeom>
        </p:spPr>
        <p:txBody>
          <a:bodyPr>
            <a:spAutoFit/>
          </a:bodyPr>
          <a:lstStyle/>
          <a:p>
            <a:pPr algn="ctr">
              <a:lnSpc>
                <a:spcPct val="120000"/>
              </a:lnSpc>
              <a:spcAft>
                <a:spcPts val="0"/>
              </a:spcAft>
              <a:tabLst>
                <a:tab pos="1029335" algn="l"/>
                <a:tab pos="1850390" algn="l"/>
                <a:tab pos="2538095" algn="l"/>
                <a:tab pos="3221990" algn="l"/>
              </a:tabLst>
            </a:pPr>
            <a:r>
              <a:rPr lang="en-US" altLang="zh-CN" sz="6000" dirty="0">
                <a:solidFill>
                  <a:srgbClr val="002060"/>
                </a:solidFill>
                <a:ea typeface="宋体" panose="02010600030101010101" pitchFamily="2" charset="-122"/>
                <a:cs typeface="Times New Roman" panose="02020603050405020304" pitchFamily="18" charset="0"/>
              </a:rPr>
              <a:t>10</a:t>
            </a:r>
            <a:r>
              <a:rPr lang="en-US" altLang="zh-CN" sz="6000" i="1" dirty="0">
                <a:solidFill>
                  <a:srgbClr val="002060"/>
                </a:solidFill>
                <a:ea typeface="宋体" panose="02010600030101010101" pitchFamily="2" charset="-122"/>
                <a:cs typeface="Times New Roman" panose="02020603050405020304" pitchFamily="18" charset="0"/>
              </a:rPr>
              <a:t>.</a:t>
            </a:r>
            <a:r>
              <a:rPr lang="en-US" altLang="zh-CN" sz="6000" dirty="0">
                <a:solidFill>
                  <a:srgbClr val="002060"/>
                </a:solidFill>
                <a:ea typeface="宋体" panose="02010600030101010101" pitchFamily="2" charset="-122"/>
                <a:cs typeface="Times New Roman" panose="02020603050405020304" pitchFamily="18" charset="0"/>
              </a:rPr>
              <a:t>3</a:t>
            </a:r>
            <a:r>
              <a:rPr lang="en-US" altLang="zh-CN" sz="6000" i="1" dirty="0">
                <a:solidFill>
                  <a:srgbClr val="002060"/>
                </a:solidFill>
                <a:ea typeface="宋体" panose="02010600030101010101" pitchFamily="2" charset="-122"/>
                <a:cs typeface="Times New Roman" panose="02020603050405020304" pitchFamily="18" charset="0"/>
              </a:rPr>
              <a:t>.</a:t>
            </a:r>
            <a:r>
              <a:rPr lang="en-US" altLang="zh-CN" sz="6000" dirty="0">
                <a:solidFill>
                  <a:srgbClr val="002060"/>
                </a:solidFill>
                <a:ea typeface="宋体" panose="02010600030101010101" pitchFamily="2" charset="-122"/>
                <a:cs typeface="Times New Roman" panose="02020603050405020304" pitchFamily="18" charset="0"/>
              </a:rPr>
              <a:t>2</a:t>
            </a:r>
            <a:r>
              <a:rPr lang="zh-CN" altLang="zh-CN" sz="6000" i="1" dirty="0">
                <a:solidFill>
                  <a:srgbClr val="002060"/>
                </a:solidFill>
                <a:ea typeface="宋体" panose="02010600030101010101" pitchFamily="2" charset="-122"/>
                <a:cs typeface="Times New Roman" panose="02020603050405020304" pitchFamily="18" charset="0"/>
              </a:rPr>
              <a:t>　</a:t>
            </a:r>
            <a:r>
              <a:rPr lang="zh-CN" altLang="zh-CN" sz="6000" dirty="0">
                <a:solidFill>
                  <a:srgbClr val="002060"/>
                </a:solidFill>
                <a:latin typeface="Arial" panose="020B0604020202020204" pitchFamily="34" charset="0"/>
                <a:ea typeface="微软雅黑" panose="020B0503020204020204" pitchFamily="34" charset="-122"/>
                <a:cs typeface="Times New Roman" panose="02020603050405020304" pitchFamily="18" charset="0"/>
              </a:rPr>
              <a:t>随机模拟</a:t>
            </a:r>
            <a:endParaRPr lang="zh-CN" altLang="zh-CN" sz="6000" dirty="0">
              <a:solidFill>
                <a:srgbClr val="00206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75423352"/>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80">
                                          <p:stCondLst>
                                            <p:cond delay="0"/>
                                          </p:stCondLst>
                                        </p:cTn>
                                        <p:tgtEl>
                                          <p:spTgt spid="10"/>
                                        </p:tgtEl>
                                      </p:cBhvr>
                                    </p:animEffect>
                                    <p:anim calcmode="lin" valueType="num">
                                      <p:cBhvr>
                                        <p:cTn id="8" dur="1822"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0"/>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0"/>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0"/>
                                        </p:tgtEl>
                                        <p:attrNameLst>
                                          <p:attrName>ppt_y</p:attrName>
                                        </p:attrNameLst>
                                      </p:cBhvr>
                                      <p:tavLst>
                                        <p:tav tm="0" fmla="#ppt_y-sin(pi*$)/81">
                                          <p:val>
                                            <p:fltVal val="0"/>
                                          </p:val>
                                        </p:tav>
                                        <p:tav tm="100000">
                                          <p:val>
                                            <p:fltVal val="1"/>
                                          </p:val>
                                        </p:tav>
                                      </p:tavLst>
                                    </p:anim>
                                    <p:animScale>
                                      <p:cBhvr>
                                        <p:cTn id="13" dur="26">
                                          <p:stCondLst>
                                            <p:cond delay="650"/>
                                          </p:stCondLst>
                                        </p:cTn>
                                        <p:tgtEl>
                                          <p:spTgt spid="10"/>
                                        </p:tgtEl>
                                      </p:cBhvr>
                                      <p:to x="100000" y="60000"/>
                                    </p:animScale>
                                    <p:animScale>
                                      <p:cBhvr>
                                        <p:cTn id="14" dur="166" decel="50000">
                                          <p:stCondLst>
                                            <p:cond delay="676"/>
                                          </p:stCondLst>
                                        </p:cTn>
                                        <p:tgtEl>
                                          <p:spTgt spid="10"/>
                                        </p:tgtEl>
                                      </p:cBhvr>
                                      <p:to x="100000" y="100000"/>
                                    </p:animScale>
                                    <p:animScale>
                                      <p:cBhvr>
                                        <p:cTn id="15" dur="26">
                                          <p:stCondLst>
                                            <p:cond delay="1312"/>
                                          </p:stCondLst>
                                        </p:cTn>
                                        <p:tgtEl>
                                          <p:spTgt spid="10"/>
                                        </p:tgtEl>
                                      </p:cBhvr>
                                      <p:to x="100000" y="80000"/>
                                    </p:animScale>
                                    <p:animScale>
                                      <p:cBhvr>
                                        <p:cTn id="16" dur="166" decel="50000">
                                          <p:stCondLst>
                                            <p:cond delay="1338"/>
                                          </p:stCondLst>
                                        </p:cTn>
                                        <p:tgtEl>
                                          <p:spTgt spid="10"/>
                                        </p:tgtEl>
                                      </p:cBhvr>
                                      <p:to x="100000" y="100000"/>
                                    </p:animScale>
                                    <p:animScale>
                                      <p:cBhvr>
                                        <p:cTn id="17" dur="26">
                                          <p:stCondLst>
                                            <p:cond delay="1642"/>
                                          </p:stCondLst>
                                        </p:cTn>
                                        <p:tgtEl>
                                          <p:spTgt spid="10"/>
                                        </p:tgtEl>
                                      </p:cBhvr>
                                      <p:to x="100000" y="90000"/>
                                    </p:animScale>
                                    <p:animScale>
                                      <p:cBhvr>
                                        <p:cTn id="18" dur="166" decel="50000">
                                          <p:stCondLst>
                                            <p:cond delay="1668"/>
                                          </p:stCondLst>
                                        </p:cTn>
                                        <p:tgtEl>
                                          <p:spTgt spid="10"/>
                                        </p:tgtEl>
                                      </p:cBhvr>
                                      <p:to x="100000" y="100000"/>
                                    </p:animScale>
                                    <p:animScale>
                                      <p:cBhvr>
                                        <p:cTn id="19" dur="26">
                                          <p:stCondLst>
                                            <p:cond delay="1808"/>
                                          </p:stCondLst>
                                        </p:cTn>
                                        <p:tgtEl>
                                          <p:spTgt spid="10"/>
                                        </p:tgtEl>
                                      </p:cBhvr>
                                      <p:to x="100000" y="95000"/>
                                    </p:animScale>
                                    <p:animScale>
                                      <p:cBhvr>
                                        <p:cTn id="20" dur="166" decel="50000">
                                          <p:stCondLst>
                                            <p:cond delay="1834"/>
                                          </p:stCondLst>
                                        </p:cTn>
                                        <p:tgtEl>
                                          <p:spTgt spid="10"/>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60437" y="1707067"/>
            <a:ext cx="10729192" cy="2856516"/>
            <a:chOff x="360437" y="1707067"/>
            <a:chExt cx="10729192" cy="2856516"/>
          </a:xfrm>
        </p:grpSpPr>
        <p:grpSp>
          <p:nvGrpSpPr>
            <p:cNvPr id="13" name="组合 12"/>
            <p:cNvGrpSpPr/>
            <p:nvPr/>
          </p:nvGrpSpPr>
          <p:grpSpPr>
            <a:xfrm>
              <a:off x="360437" y="1707067"/>
              <a:ext cx="10729192" cy="2856516"/>
              <a:chOff x="360437" y="2137024"/>
              <a:chExt cx="10729192" cy="1951040"/>
            </a:xfrm>
          </p:grpSpPr>
          <p:sp>
            <p:nvSpPr>
              <p:cNvPr id="2" name="圆角矩形 1"/>
              <p:cNvSpPr/>
              <p:nvPr/>
            </p:nvSpPr>
            <p:spPr>
              <a:xfrm>
                <a:off x="360437" y="2137024"/>
                <a:ext cx="10729192" cy="195104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CN" altLang="en-US"/>
              </a:p>
            </p:txBody>
          </p:sp>
          <p:cxnSp>
            <p:nvCxnSpPr>
              <p:cNvPr id="12" name="直接连接符 11"/>
              <p:cNvCxnSpPr/>
              <p:nvPr/>
            </p:nvCxnSpPr>
            <p:spPr>
              <a:xfrm>
                <a:off x="2448669" y="2166786"/>
                <a:ext cx="0" cy="1869746"/>
              </a:xfrm>
              <a:prstGeom prst="line">
                <a:avLst/>
              </a:prstGeom>
            </p:spPr>
            <p:style>
              <a:lnRef idx="3">
                <a:schemeClr val="accent4"/>
              </a:lnRef>
              <a:fillRef idx="0">
                <a:schemeClr val="accent4"/>
              </a:fillRef>
              <a:effectRef idx="2">
                <a:schemeClr val="accent4"/>
              </a:effectRef>
              <a:fontRef idx="minor">
                <a:schemeClr val="tx1"/>
              </a:fontRef>
            </p:style>
          </p:cxnSp>
        </p:grpSp>
        <p:sp>
          <p:nvSpPr>
            <p:cNvPr id="14" name="矩形 13"/>
            <p:cNvSpPr>
              <a:spLocks noChangeAspect="1"/>
            </p:cNvSpPr>
            <p:nvPr/>
          </p:nvSpPr>
          <p:spPr>
            <a:xfrm>
              <a:off x="360437" y="2447999"/>
              <a:ext cx="2086719" cy="1195712"/>
            </a:xfrm>
            <a:prstGeom prst="rect">
              <a:avLst/>
            </a:prstGeom>
          </p:spPr>
          <p:txBody>
            <a:bodyPr wrap="square">
              <a:spAutoFit/>
            </a:bodyPr>
            <a:lstStyle/>
            <a:p>
              <a:pPr algn="ct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课标定位</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gn="ct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素养阐释</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15" name="矩形 14"/>
            <p:cNvSpPr>
              <a:spLocks noChangeAspect="1"/>
            </p:cNvSpPr>
            <p:nvPr/>
          </p:nvSpPr>
          <p:spPr>
            <a:xfrm>
              <a:off x="2552207" y="1776688"/>
              <a:ext cx="8496944" cy="2456057"/>
            </a:xfrm>
            <a:prstGeom prst="rect">
              <a:avLst/>
            </a:prstGeom>
          </p:spPr>
          <p:txBody>
            <a:bodyPr wrap="square">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了解随机数的意义</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会用随机模拟方法估计概率</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理解用随机模拟方法估计概率的实质</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pPr>
              <a:r>
                <a:rPr lang="en-US" altLang="zh-CN" dirty="0">
                  <a:solidFill>
                    <a:srgbClr val="000000"/>
                  </a:solidFill>
                  <a:ea typeface="宋体" panose="02010600030101010101" pitchFamily="2" charset="-122"/>
                </a:rPr>
                <a:t>4</a:t>
              </a:r>
              <a:r>
                <a:rPr lang="en-US" altLang="zh-CN" i="1" dirty="0" smtClean="0">
                  <a:solidFill>
                    <a:srgbClr val="000000"/>
                  </a:solidFill>
                  <a:ea typeface="宋体" panose="02010600030101010101" pitchFamily="2" charset="-122"/>
                </a:rPr>
                <a:t>.</a:t>
              </a:r>
              <a:r>
                <a:rPr lang="zh-CN" altLang="en-US" dirty="0">
                  <a:solidFill>
                    <a:srgbClr val="000000"/>
                  </a:solidFill>
                  <a:ea typeface="楷体" panose="02010609060101010101" pitchFamily="49" charset="-122"/>
                  <a:cs typeface="Times New Roman" panose="02020603050405020304" pitchFamily="18" charset="0"/>
                </a:rPr>
                <a:t>提升</a:t>
              </a:r>
              <a:r>
                <a:rPr lang="zh-CN" altLang="zh-CN" dirty="0" smtClean="0">
                  <a:solidFill>
                    <a:srgbClr val="000000"/>
                  </a:solidFill>
                  <a:ea typeface="楷体" panose="02010609060101010101" pitchFamily="49" charset="-122"/>
                  <a:cs typeface="Times New Roman" panose="02020603050405020304" pitchFamily="18" charset="0"/>
                </a:rPr>
                <a:t>数学</a:t>
              </a:r>
              <a:r>
                <a:rPr lang="zh-CN" altLang="zh-CN" dirty="0">
                  <a:solidFill>
                    <a:srgbClr val="000000"/>
                  </a:solidFill>
                  <a:ea typeface="楷体" panose="02010609060101010101" pitchFamily="49" charset="-122"/>
                  <a:cs typeface="Times New Roman" panose="02020603050405020304" pitchFamily="18" charset="0"/>
                </a:rPr>
                <a:t>建模、数据分析和数学运算等素养</a:t>
              </a:r>
              <a:r>
                <a:rPr lang="en-US" altLang="zh-CN" i="1" dirty="0">
                  <a:solidFill>
                    <a:srgbClr val="000000"/>
                  </a:solidFill>
                  <a:ea typeface="宋体" panose="02010600030101010101" pitchFamily="2" charset="-122"/>
                </a:rPr>
                <a:t>.</a:t>
              </a:r>
              <a:endParaRPr lang="zh-CN" altLang="en-US" dirty="0"/>
            </a:p>
          </p:txBody>
        </p:sp>
      </p:grpSp>
    </p:spTree>
    <p:extLst>
      <p:ext uri="{BB962C8B-B14F-4D97-AF65-F5344CB8AC3E}">
        <p14:creationId xmlns:p14="http://schemas.microsoft.com/office/powerpoint/2010/main" val="343074080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图文框 2">
            <a:hlinkClick r:id="rId2" action="ppaction://hlinksldjump">
              <a:snd r:embed="rId3" name="chimes.wav"/>
            </a:hlinkClick>
          </p:cNvPr>
          <p:cNvSpPr/>
          <p:nvPr/>
        </p:nvSpPr>
        <p:spPr>
          <a:xfrm>
            <a:off x="1728589" y="503783"/>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4400" dirty="0">
                <a:solidFill>
                  <a:srgbClr val="0070C0"/>
                </a:solidFill>
                <a:latin typeface="华文新魏" panose="02010800040101010101" pitchFamily="2" charset="-122"/>
                <a:ea typeface="华文新魏" panose="02010800040101010101" pitchFamily="2" charset="-122"/>
              </a:rPr>
              <a:t>自主</a:t>
            </a:r>
            <a:r>
              <a:rPr lang="zh-CN" altLang="zh-CN" sz="4400" dirty="0" smtClean="0">
                <a:solidFill>
                  <a:srgbClr val="0070C0"/>
                </a:solidFill>
                <a:latin typeface="华文新魏" panose="02010800040101010101" pitchFamily="2" charset="-122"/>
                <a:ea typeface="华文新魏" panose="02010800040101010101" pitchFamily="2" charset="-122"/>
              </a:rPr>
              <a:t>预习</a:t>
            </a:r>
            <a:r>
              <a:rPr lang="en-US" altLang="zh-CN" sz="4400" dirty="0" smtClean="0">
                <a:solidFill>
                  <a:srgbClr val="0070C0"/>
                </a:solidFill>
                <a:latin typeface="华文新魏" panose="02010800040101010101" pitchFamily="2" charset="-122"/>
                <a:ea typeface="华文新魏" panose="02010800040101010101" pitchFamily="2" charset="-122"/>
              </a:rPr>
              <a:t>·</a:t>
            </a:r>
            <a:r>
              <a:rPr lang="zh-CN" altLang="zh-CN" sz="4400" dirty="0" smtClean="0">
                <a:solidFill>
                  <a:srgbClr val="0070C0"/>
                </a:solidFill>
                <a:latin typeface="华文新魏" panose="02010800040101010101" pitchFamily="2" charset="-122"/>
                <a:ea typeface="华文新魏" panose="02010800040101010101" pitchFamily="2" charset="-122"/>
              </a:rPr>
              <a:t>新知</a:t>
            </a:r>
            <a:r>
              <a:rPr lang="zh-CN" altLang="zh-CN" sz="4400" dirty="0">
                <a:solidFill>
                  <a:srgbClr val="0070C0"/>
                </a:solidFill>
                <a:latin typeface="华文新魏" panose="02010800040101010101" pitchFamily="2" charset="-122"/>
                <a:ea typeface="华文新魏" panose="02010800040101010101" pitchFamily="2" charset="-122"/>
              </a:rPr>
              <a:t>导学</a:t>
            </a:r>
          </a:p>
        </p:txBody>
      </p:sp>
      <p:sp>
        <p:nvSpPr>
          <p:cNvPr id="4" name="图文框 3">
            <a:hlinkClick r:id="rId4" action="ppaction://hlinksldjump">
              <a:snd r:embed="rId3" name="chimes.wav"/>
            </a:hlinkClick>
          </p:cNvPr>
          <p:cNvSpPr/>
          <p:nvPr/>
        </p:nvSpPr>
        <p:spPr>
          <a:xfrm>
            <a:off x="1728589" y="1871935"/>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4400" dirty="0">
                <a:solidFill>
                  <a:srgbClr val="0070C0"/>
                </a:solidFill>
                <a:latin typeface="华文新魏" panose="02010800040101010101" pitchFamily="2" charset="-122"/>
                <a:ea typeface="华文新魏" panose="02010800040101010101" pitchFamily="2" charset="-122"/>
              </a:rPr>
              <a:t>合作</a:t>
            </a:r>
            <a:r>
              <a:rPr lang="zh-CN" altLang="zh-CN" sz="4400" dirty="0" smtClean="0">
                <a:solidFill>
                  <a:srgbClr val="0070C0"/>
                </a:solidFill>
                <a:latin typeface="华文新魏" panose="02010800040101010101" pitchFamily="2" charset="-122"/>
                <a:ea typeface="华文新魏" panose="02010800040101010101" pitchFamily="2" charset="-122"/>
              </a:rPr>
              <a:t>探究</a:t>
            </a:r>
            <a:r>
              <a:rPr lang="en-US" altLang="zh-CN" sz="4400" dirty="0" smtClean="0">
                <a:solidFill>
                  <a:srgbClr val="0070C0"/>
                </a:solidFill>
                <a:latin typeface="华文新魏" panose="02010800040101010101" pitchFamily="2" charset="-122"/>
                <a:ea typeface="华文新魏" panose="02010800040101010101" pitchFamily="2" charset="-122"/>
              </a:rPr>
              <a:t>·</a:t>
            </a:r>
            <a:r>
              <a:rPr lang="zh-CN" altLang="zh-CN" sz="4400" dirty="0" smtClean="0">
                <a:solidFill>
                  <a:srgbClr val="0070C0"/>
                </a:solidFill>
                <a:latin typeface="华文新魏" panose="02010800040101010101" pitchFamily="2" charset="-122"/>
                <a:ea typeface="华文新魏" panose="02010800040101010101" pitchFamily="2" charset="-122"/>
              </a:rPr>
              <a:t>释疑</a:t>
            </a:r>
            <a:r>
              <a:rPr lang="zh-CN" altLang="zh-CN" sz="4400" dirty="0">
                <a:solidFill>
                  <a:srgbClr val="0070C0"/>
                </a:solidFill>
                <a:latin typeface="华文新魏" panose="02010800040101010101" pitchFamily="2" charset="-122"/>
                <a:ea typeface="华文新魏" panose="02010800040101010101" pitchFamily="2" charset="-122"/>
              </a:rPr>
              <a:t>解惑</a:t>
            </a:r>
          </a:p>
        </p:txBody>
      </p:sp>
      <p:sp>
        <p:nvSpPr>
          <p:cNvPr id="7" name="图文框 6">
            <a:hlinkClick r:id="rId5" action="ppaction://hlinksldjump">
              <a:snd r:embed="rId3" name="chimes.wav"/>
            </a:hlinkClick>
          </p:cNvPr>
          <p:cNvSpPr/>
          <p:nvPr/>
        </p:nvSpPr>
        <p:spPr>
          <a:xfrm>
            <a:off x="1728589" y="3279437"/>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4400" dirty="0" smtClean="0">
                <a:solidFill>
                  <a:srgbClr val="0070C0"/>
                </a:solidFill>
                <a:latin typeface="华文新魏" panose="02010800040101010101" pitchFamily="2" charset="-122"/>
                <a:ea typeface="华文新魏" panose="02010800040101010101" pitchFamily="2" charset="-122"/>
              </a:rPr>
              <a:t>易</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错</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辨</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析</a:t>
            </a:r>
            <a:endParaRPr lang="zh-CN" altLang="zh-CN" sz="4400" dirty="0">
              <a:solidFill>
                <a:srgbClr val="0070C0"/>
              </a:solidFill>
              <a:latin typeface="华文新魏" panose="02010800040101010101" pitchFamily="2" charset="-122"/>
              <a:ea typeface="华文新魏" panose="02010800040101010101" pitchFamily="2" charset="-122"/>
            </a:endParaRPr>
          </a:p>
        </p:txBody>
      </p:sp>
      <p:sp>
        <p:nvSpPr>
          <p:cNvPr id="8" name="图文框 7">
            <a:hlinkClick r:id="rId6" action="ppaction://hlinksldjump">
              <a:snd r:embed="rId3" name="chimes.wav"/>
            </a:hlinkClick>
          </p:cNvPr>
          <p:cNvSpPr/>
          <p:nvPr/>
        </p:nvSpPr>
        <p:spPr>
          <a:xfrm>
            <a:off x="1728589" y="4647589"/>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4400" dirty="0" smtClean="0">
                <a:solidFill>
                  <a:srgbClr val="0070C0"/>
                </a:solidFill>
                <a:latin typeface="华文新魏" panose="02010800040101010101" pitchFamily="2" charset="-122"/>
                <a:ea typeface="华文新魏" panose="02010800040101010101" pitchFamily="2" charset="-122"/>
              </a:rPr>
              <a:t>随</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堂</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练</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习</a:t>
            </a:r>
            <a:endParaRPr lang="zh-CN" altLang="zh-CN" sz="4400" dirty="0">
              <a:solidFill>
                <a:srgbClr val="0070C0"/>
              </a:solidFill>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2621409961"/>
      </p:ext>
    </p:extLst>
  </p:cSld>
  <p:clrMapOvr>
    <a:masterClrMapping/>
  </p:clrMapOvr>
  <p:transition spd="med">
    <p:pull/>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虚尾箭头 3"/>
          <p:cNvSpPr/>
          <p:nvPr/>
        </p:nvSpPr>
        <p:spPr>
          <a:xfrm>
            <a:off x="432445" y="1295871"/>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altLang="zh-CN" sz="6600" dirty="0" smtClean="0">
                <a:solidFill>
                  <a:srgbClr val="0070C0"/>
                </a:solidFill>
                <a:latin typeface="华文新魏" panose="02010800040101010101" pitchFamily="2" charset="-122"/>
                <a:ea typeface="华文新魏" panose="02010800040101010101" pitchFamily="2" charset="-122"/>
              </a:rPr>
              <a:t>  </a:t>
            </a:r>
            <a:r>
              <a:rPr lang="zh-CN" altLang="zh-CN" sz="6600" dirty="0" smtClean="0">
                <a:solidFill>
                  <a:srgbClr val="0070C0"/>
                </a:solidFill>
                <a:latin typeface="华文新魏" panose="02010800040101010101" pitchFamily="2" charset="-122"/>
                <a:ea typeface="华文新魏" panose="02010800040101010101" pitchFamily="2" charset="-122"/>
              </a:rPr>
              <a:t>自主</a:t>
            </a:r>
            <a:r>
              <a:rPr lang="zh-CN" altLang="zh-CN" sz="6600" dirty="0">
                <a:solidFill>
                  <a:srgbClr val="0070C0"/>
                </a:solidFill>
                <a:latin typeface="华文新魏" panose="02010800040101010101" pitchFamily="2" charset="-122"/>
                <a:ea typeface="华文新魏" panose="02010800040101010101" pitchFamily="2" charset="-122"/>
              </a:rPr>
              <a:t>预习</a:t>
            </a:r>
            <a:r>
              <a:rPr lang="en-US" altLang="zh-CN" sz="6600" dirty="0">
                <a:solidFill>
                  <a:srgbClr val="0070C0"/>
                </a:solidFill>
                <a:latin typeface="华文新魏" panose="02010800040101010101" pitchFamily="2" charset="-122"/>
                <a:ea typeface="华文新魏" panose="02010800040101010101" pitchFamily="2" charset="-122"/>
              </a:rPr>
              <a:t>·</a:t>
            </a:r>
            <a:r>
              <a:rPr lang="zh-CN" altLang="zh-CN" sz="6600" dirty="0">
                <a:solidFill>
                  <a:srgbClr val="0070C0"/>
                </a:solidFill>
                <a:latin typeface="华文新魏" panose="02010800040101010101" pitchFamily="2" charset="-122"/>
                <a:ea typeface="华文新魏" panose="02010800040101010101" pitchFamily="2" charset="-122"/>
              </a:rPr>
              <a:t>新知导学</a:t>
            </a:r>
          </a:p>
        </p:txBody>
      </p:sp>
    </p:spTree>
    <p:extLst>
      <p:ext uri="{BB962C8B-B14F-4D97-AF65-F5344CB8AC3E}">
        <p14:creationId xmlns:p14="http://schemas.microsoft.com/office/powerpoint/2010/main" val="2722224656"/>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decel="50000" fill="hold">
                                          <p:stCondLst>
                                            <p:cond delay="0"/>
                                          </p:stCondLst>
                                        </p:cTn>
                                        <p:tgtEl>
                                          <p:spTgt spid="4"/>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4"/>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4"/>
                                        </p:tgtEl>
                                        <p:attrNameLst>
                                          <p:attrName>ppt_w</p:attrName>
                                        </p:attrNameLst>
                                      </p:cBhvr>
                                      <p:tavLst>
                                        <p:tav tm="0">
                                          <p:val>
                                            <p:strVal val="#ppt_w*.05"/>
                                          </p:val>
                                        </p:tav>
                                        <p:tav tm="100000">
                                          <p:val>
                                            <p:strVal val="#ppt_w"/>
                                          </p:val>
                                        </p:tav>
                                      </p:tavLst>
                                    </p:anim>
                                    <p:anim calcmode="lin" valueType="num">
                                      <p:cBhvr>
                                        <p:cTn id="10" dur="1000" fill="hold"/>
                                        <p:tgtEl>
                                          <p:spTgt spid="4"/>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4"/>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4"/>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4"/>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729359"/>
            <a:ext cx="10807700" cy="5410712"/>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NEU-BZ-S92"/>
                <a:ea typeface="方正正中黑简体"/>
                <a:cs typeface="Times New Roman" panose="02020603050405020304" pitchFamily="18" charset="0"/>
              </a:rPr>
              <a:t>随机模拟的有关概念</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思考下列两个问题</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在简单随机抽样中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我们可以用什么方法产生随机数</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提示</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信息技术</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如计算器或计算机软件</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为了得到某一随机事件发生的概率</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我们要做大量的重复试验</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有的同学可能觉得这样做试验花费的时间太多了</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那么有没有其他方法可以替代试验呢</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提示</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可以用数字代表试验结果</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通过随机模拟产生随机数代替试验</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864289175"/>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randombar(horizontal)">
                                      <p:cBhvr>
                                        <p:cTn id="7" dur="500"/>
                                        <p:tgtEl>
                                          <p:spTgt spid="2">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
                                            <p:txEl>
                                              <p:pRg st="5" end="5"/>
                                            </p:txEl>
                                          </p:spTgt>
                                        </p:tgtEl>
                                        <p:attrNameLst>
                                          <p:attrName>style.visibility</p:attrName>
                                        </p:attrNameLst>
                                      </p:cBhvr>
                                      <p:to>
                                        <p:strVal val="visible"/>
                                      </p:to>
                                    </p:set>
                                    <p:animEffect transition="in" filter="randombar(horizontal)">
                                      <p:cBhvr>
                                        <p:cTn id="12"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49" y="888242"/>
            <a:ext cx="10871695" cy="4819781"/>
          </a:xfrm>
          <a:prstGeom prst="rect">
            <a:avLst/>
          </a:prstGeom>
        </p:spPr>
        <p:txBody>
          <a:bodyPr wrap="square">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随机数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要产生</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~n</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n</a:t>
            </a:r>
            <a:r>
              <a:rPr lang="zh-CN" altLang="zh-CN" dirty="0">
                <a:solidFill>
                  <a:srgbClr val="000000"/>
                </a:solidFill>
                <a:latin typeface="NEU-BZ-S92"/>
                <a:ea typeface="宋体" panose="02010600030101010101" pitchFamily="2" charset="-122"/>
                <a:cs typeface="宋体" panose="02010600030101010101" pitchFamily="2" charset="-122"/>
              </a:rPr>
              <a:t>∈</a:t>
            </a:r>
            <a:r>
              <a:rPr lang="en-US" altLang="zh-CN" dirty="0">
                <a:solidFill>
                  <a:srgbClr val="000000"/>
                </a:solidFill>
                <a:ea typeface="宋体" panose="02010600030101010101" pitchFamily="2" charset="-122"/>
                <a:cs typeface="Times New Roman" panose="02020603050405020304" pitchFamily="18" charset="0"/>
              </a:rPr>
              <a:t>N</a:t>
            </a:r>
            <a:r>
              <a:rPr lang="en-US" altLang="zh-CN" i="1" baseline="30000"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之间的随机整数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像彩票摇奖那样</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把</a:t>
            </a:r>
            <a:r>
              <a:rPr lang="en-US" altLang="zh-CN" i="1" dirty="0">
                <a:solidFill>
                  <a:srgbClr val="000000"/>
                </a:solidFill>
                <a:ea typeface="宋体" panose="02010600030101010101" pitchFamily="2" charset="-122"/>
                <a:cs typeface="Times New Roman" panose="02020603050405020304" pitchFamily="18" charset="0"/>
              </a:rPr>
              <a:t>n</a:t>
            </a:r>
            <a:r>
              <a:rPr lang="zh-CN" altLang="zh-CN" dirty="0">
                <a:solidFill>
                  <a:srgbClr val="000000"/>
                </a:solidFill>
                <a:ea typeface="宋体" panose="02010600030101010101" pitchFamily="2" charset="-122"/>
                <a:cs typeface="Times New Roman" panose="02020603050405020304" pitchFamily="18" charset="0"/>
              </a:rPr>
              <a:t>个</a:t>
            </a:r>
            <a:r>
              <a:rPr lang="zh-CN" altLang="zh-CN" dirty="0">
                <a:ea typeface="宋体" panose="02010600030101010101" pitchFamily="2" charset="-122"/>
                <a:cs typeface="Times New Roman" panose="02020603050405020304" pitchFamily="18" charset="0"/>
              </a:rPr>
              <a:t>质地</a:t>
            </a:r>
            <a:r>
              <a:rPr lang="zh-CN" altLang="zh-CN" dirty="0">
                <a:solidFill>
                  <a:srgbClr val="000000"/>
                </a:solidFill>
                <a:ea typeface="宋体" panose="02010600030101010101" pitchFamily="2" charset="-122"/>
                <a:cs typeface="Times New Roman" panose="02020603050405020304" pitchFamily="18" charset="0"/>
              </a:rPr>
              <a:t>和</a:t>
            </a:r>
            <a:r>
              <a:rPr lang="zh-CN" altLang="zh-CN" dirty="0">
                <a:ea typeface="宋体" panose="02010600030101010101" pitchFamily="2" charset="-122"/>
                <a:cs typeface="Times New Roman" panose="02020603050405020304" pitchFamily="18" charset="0"/>
              </a:rPr>
              <a:t>大小</a:t>
            </a:r>
            <a:r>
              <a:rPr lang="zh-CN" altLang="zh-CN" dirty="0">
                <a:solidFill>
                  <a:srgbClr val="000000"/>
                </a:solidFill>
                <a:ea typeface="宋体" panose="02010600030101010101" pitchFamily="2" charset="-122"/>
                <a:cs typeface="Times New Roman" panose="02020603050405020304" pitchFamily="18" charset="0"/>
              </a:rPr>
              <a:t>相同的号码球放入摇奖器中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ea typeface="宋体" panose="02010600030101010101" pitchFamily="2" charset="-122"/>
                <a:cs typeface="Times New Roman" panose="02020603050405020304" pitchFamily="18" charset="0"/>
              </a:rPr>
              <a:t>充分搅拌</a:t>
            </a:r>
            <a:r>
              <a:rPr lang="zh-CN" altLang="zh-CN" dirty="0">
                <a:solidFill>
                  <a:srgbClr val="000000"/>
                </a:solidFill>
                <a:ea typeface="宋体" panose="02010600030101010101" pitchFamily="2" charset="-122"/>
                <a:cs typeface="Times New Roman" panose="02020603050405020304" pitchFamily="18" charset="0"/>
              </a:rPr>
              <a:t>后摇出一个球</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这个球上的号码就称为随机数</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伪随机数</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计算器或计算机产生的随机数</a:t>
            </a:r>
            <a:r>
              <a:rPr lang="zh-CN" altLang="zh-CN" dirty="0" smtClean="0">
                <a:solidFill>
                  <a:srgbClr val="000000"/>
                </a:solidFill>
                <a:ea typeface="宋体" panose="02010600030101010101" pitchFamily="2" charset="-122"/>
                <a:cs typeface="Times New Roman" panose="02020603050405020304" pitchFamily="18" charset="0"/>
              </a:rPr>
              <a:t>是</a:t>
            </a:r>
            <a:r>
              <a:rPr lang="zh-CN" altLang="en-US" dirty="0" smtClean="0">
                <a:solidFill>
                  <a:srgbClr val="000000"/>
                </a:solidFill>
                <a:ea typeface="宋体" panose="02010600030101010101" pitchFamily="2" charset="-122"/>
                <a:cs typeface="Times New Roman" panose="02020603050405020304" pitchFamily="18" charset="0"/>
              </a:rPr>
              <a:t>按</a:t>
            </a:r>
            <a:r>
              <a:rPr lang="zh-CN" altLang="zh-CN" dirty="0" smtClean="0">
                <a:solidFill>
                  <a:srgbClr val="000000"/>
                </a:solidFill>
                <a:ea typeface="宋体" panose="02010600030101010101" pitchFamily="2" charset="-122"/>
                <a:cs typeface="Times New Roman" panose="02020603050405020304" pitchFamily="18" charset="0"/>
              </a:rPr>
              <a:t>照</a:t>
            </a:r>
            <a:r>
              <a:rPr lang="zh-CN" altLang="zh-CN" dirty="0">
                <a:ea typeface="宋体" panose="02010600030101010101" pitchFamily="2" charset="-122"/>
                <a:cs typeface="Times New Roman" panose="02020603050405020304" pitchFamily="18" charset="0"/>
              </a:rPr>
              <a:t>确定的算法</a:t>
            </a:r>
            <a:r>
              <a:rPr lang="zh-CN" altLang="zh-CN" dirty="0">
                <a:solidFill>
                  <a:srgbClr val="000000"/>
                </a:solidFill>
                <a:ea typeface="宋体" panose="02010600030101010101" pitchFamily="2" charset="-122"/>
                <a:cs typeface="Times New Roman" panose="02020603050405020304" pitchFamily="18" charset="0"/>
              </a:rPr>
              <a:t>产生的数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具有</a:t>
            </a:r>
            <a:r>
              <a:rPr lang="zh-CN" altLang="zh-CN" dirty="0">
                <a:ea typeface="宋体" panose="02010600030101010101" pitchFamily="2" charset="-122"/>
                <a:cs typeface="Times New Roman" panose="02020603050405020304" pitchFamily="18" charset="0"/>
              </a:rPr>
              <a:t>周期性</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ea typeface="宋体" panose="02010600030101010101" pitchFamily="2" charset="-122"/>
                <a:cs typeface="Times New Roman" panose="02020603050405020304" pitchFamily="18" charset="0"/>
              </a:rPr>
              <a:t>周期</a:t>
            </a:r>
            <a:r>
              <a:rPr lang="zh-CN" altLang="zh-CN" dirty="0">
                <a:solidFill>
                  <a:srgbClr val="000000"/>
                </a:solidFill>
                <a:ea typeface="宋体" panose="02010600030101010101" pitchFamily="2" charset="-122"/>
                <a:cs typeface="Times New Roman" panose="02020603050405020304" pitchFamily="18" charset="0"/>
              </a:rPr>
              <a:t>很长</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它们具有类似</a:t>
            </a:r>
            <a:r>
              <a:rPr lang="zh-CN" altLang="zh-CN" dirty="0">
                <a:ea typeface="宋体" panose="02010600030101010101" pitchFamily="2" charset="-122"/>
                <a:cs typeface="Times New Roman" panose="02020603050405020304" pitchFamily="18" charset="0"/>
              </a:rPr>
              <a:t>随机数</a:t>
            </a:r>
            <a:r>
              <a:rPr lang="zh-CN" altLang="zh-CN" dirty="0">
                <a:solidFill>
                  <a:srgbClr val="000000"/>
                </a:solidFill>
                <a:ea typeface="宋体" panose="02010600030101010101" pitchFamily="2" charset="-122"/>
                <a:cs typeface="Times New Roman" panose="02020603050405020304" pitchFamily="18" charset="0"/>
              </a:rPr>
              <a:t>的性质</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因此</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计算器或计算机产生的随机数不是</a:t>
            </a:r>
            <a:r>
              <a:rPr lang="zh-CN" altLang="zh-CN" dirty="0">
                <a:ea typeface="宋体" panose="02010600030101010101" pitchFamily="2" charset="-122"/>
                <a:cs typeface="Times New Roman" panose="02020603050405020304" pitchFamily="18" charset="0"/>
              </a:rPr>
              <a:t>真正的随机数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我们称它们为伪随机数</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
        <p:nvSpPr>
          <p:cNvPr id="3" name="矩形 2"/>
          <p:cNvSpPr/>
          <p:nvPr/>
        </p:nvSpPr>
        <p:spPr>
          <a:xfrm>
            <a:off x="2423763" y="1561880"/>
            <a:ext cx="777144"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p:cNvCxnSpPr/>
          <p:nvPr/>
        </p:nvCxnSpPr>
        <p:spPr>
          <a:xfrm>
            <a:off x="2419173" y="2025978"/>
            <a:ext cx="776265" cy="0"/>
          </a:xfrm>
          <a:prstGeom prst="line">
            <a:avLst/>
          </a:prstGeom>
        </p:spPr>
        <p:style>
          <a:lnRef idx="2">
            <a:schemeClr val="dk1"/>
          </a:lnRef>
          <a:fillRef idx="0">
            <a:schemeClr val="dk1"/>
          </a:fillRef>
          <a:effectRef idx="1">
            <a:schemeClr val="dk1"/>
          </a:effectRef>
          <a:fontRef idx="minor">
            <a:schemeClr val="tx1"/>
          </a:fontRef>
        </p:style>
      </p:cxnSp>
      <p:sp>
        <p:nvSpPr>
          <p:cNvPr id="5" name="矩形 4"/>
          <p:cNvSpPr/>
          <p:nvPr/>
        </p:nvSpPr>
        <p:spPr>
          <a:xfrm>
            <a:off x="3643309" y="1561880"/>
            <a:ext cx="777144"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3638719" y="2025978"/>
            <a:ext cx="776265" cy="0"/>
          </a:xfrm>
          <a:prstGeom prst="line">
            <a:avLst/>
          </a:prstGeom>
        </p:spPr>
        <p:style>
          <a:lnRef idx="2">
            <a:schemeClr val="dk1"/>
          </a:lnRef>
          <a:fillRef idx="0">
            <a:schemeClr val="dk1"/>
          </a:fillRef>
          <a:effectRef idx="1">
            <a:schemeClr val="dk1"/>
          </a:effectRef>
          <a:fontRef idx="minor">
            <a:schemeClr val="tx1"/>
          </a:fontRef>
        </p:style>
      </p:cxnSp>
      <p:sp>
        <p:nvSpPr>
          <p:cNvPr id="7" name="矩形 6"/>
          <p:cNvSpPr/>
          <p:nvPr/>
        </p:nvSpPr>
        <p:spPr>
          <a:xfrm>
            <a:off x="9462421" y="1572638"/>
            <a:ext cx="1594934"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连接符 7"/>
          <p:cNvCxnSpPr/>
          <p:nvPr/>
        </p:nvCxnSpPr>
        <p:spPr>
          <a:xfrm>
            <a:off x="9457875" y="2036736"/>
            <a:ext cx="1593130" cy="0"/>
          </a:xfrm>
          <a:prstGeom prst="line">
            <a:avLst/>
          </a:prstGeom>
        </p:spPr>
        <p:style>
          <a:lnRef idx="2">
            <a:schemeClr val="dk1"/>
          </a:lnRef>
          <a:fillRef idx="0">
            <a:schemeClr val="dk1"/>
          </a:fillRef>
          <a:effectRef idx="1">
            <a:schemeClr val="dk1"/>
          </a:effectRef>
          <a:fontRef idx="minor">
            <a:schemeClr val="tx1"/>
          </a:fontRef>
        </p:style>
      </p:cxnSp>
      <p:sp>
        <p:nvSpPr>
          <p:cNvPr id="11" name="矩形 10"/>
          <p:cNvSpPr/>
          <p:nvPr/>
        </p:nvSpPr>
        <p:spPr>
          <a:xfrm>
            <a:off x="6957445" y="3319048"/>
            <a:ext cx="2026982"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 name="直接连接符 11"/>
          <p:cNvCxnSpPr/>
          <p:nvPr/>
        </p:nvCxnSpPr>
        <p:spPr>
          <a:xfrm>
            <a:off x="6952899" y="3783146"/>
            <a:ext cx="2024689" cy="0"/>
          </a:xfrm>
          <a:prstGeom prst="line">
            <a:avLst/>
          </a:prstGeom>
        </p:spPr>
        <p:style>
          <a:lnRef idx="2">
            <a:schemeClr val="dk1"/>
          </a:lnRef>
          <a:fillRef idx="0">
            <a:schemeClr val="dk1"/>
          </a:fillRef>
          <a:effectRef idx="1">
            <a:schemeClr val="dk1"/>
          </a:effectRef>
          <a:fontRef idx="minor">
            <a:schemeClr val="tx1"/>
          </a:fontRef>
        </p:style>
      </p:cxnSp>
      <p:sp>
        <p:nvSpPr>
          <p:cNvPr id="13" name="矩形 12"/>
          <p:cNvSpPr/>
          <p:nvPr/>
        </p:nvSpPr>
        <p:spPr>
          <a:xfrm>
            <a:off x="1264267" y="3898410"/>
            <a:ext cx="1198297"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 name="直接连接符 13"/>
          <p:cNvCxnSpPr/>
          <p:nvPr/>
        </p:nvCxnSpPr>
        <p:spPr>
          <a:xfrm>
            <a:off x="1259496" y="4362508"/>
            <a:ext cx="1196942" cy="0"/>
          </a:xfrm>
          <a:prstGeom prst="line">
            <a:avLst/>
          </a:prstGeom>
        </p:spPr>
        <p:style>
          <a:lnRef idx="2">
            <a:schemeClr val="dk1"/>
          </a:lnRef>
          <a:fillRef idx="0">
            <a:schemeClr val="dk1"/>
          </a:fillRef>
          <a:effectRef idx="1">
            <a:schemeClr val="dk1"/>
          </a:effectRef>
          <a:fontRef idx="minor">
            <a:schemeClr val="tx1"/>
          </a:fontRef>
        </p:style>
      </p:cxnSp>
      <p:sp>
        <p:nvSpPr>
          <p:cNvPr id="15" name="矩形 14"/>
          <p:cNvSpPr/>
          <p:nvPr/>
        </p:nvSpPr>
        <p:spPr>
          <a:xfrm>
            <a:off x="2629145" y="3914070"/>
            <a:ext cx="777144"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p:cNvCxnSpPr/>
          <p:nvPr/>
        </p:nvCxnSpPr>
        <p:spPr>
          <a:xfrm>
            <a:off x="2624555" y="4378168"/>
            <a:ext cx="776265" cy="0"/>
          </a:xfrm>
          <a:prstGeom prst="line">
            <a:avLst/>
          </a:prstGeom>
        </p:spPr>
        <p:style>
          <a:lnRef idx="2">
            <a:schemeClr val="dk1"/>
          </a:lnRef>
          <a:fillRef idx="0">
            <a:schemeClr val="dk1"/>
          </a:fillRef>
          <a:effectRef idx="1">
            <a:schemeClr val="dk1"/>
          </a:effectRef>
          <a:fontRef idx="minor">
            <a:schemeClr val="tx1"/>
          </a:fontRef>
        </p:style>
      </p:cxnSp>
      <p:sp>
        <p:nvSpPr>
          <p:cNvPr id="17" name="矩形 16"/>
          <p:cNvSpPr/>
          <p:nvPr/>
        </p:nvSpPr>
        <p:spPr>
          <a:xfrm>
            <a:off x="6952899" y="3898410"/>
            <a:ext cx="1198297"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连接符 17"/>
          <p:cNvCxnSpPr/>
          <p:nvPr/>
        </p:nvCxnSpPr>
        <p:spPr>
          <a:xfrm>
            <a:off x="6948128" y="4362508"/>
            <a:ext cx="1196942" cy="0"/>
          </a:xfrm>
          <a:prstGeom prst="line">
            <a:avLst/>
          </a:prstGeom>
        </p:spPr>
        <p:style>
          <a:lnRef idx="2">
            <a:schemeClr val="dk1"/>
          </a:lnRef>
          <a:fillRef idx="0">
            <a:schemeClr val="dk1"/>
          </a:fillRef>
          <a:effectRef idx="1">
            <a:schemeClr val="dk1"/>
          </a:effectRef>
          <a:fontRef idx="minor">
            <a:schemeClr val="tx1"/>
          </a:fontRef>
        </p:style>
      </p:cxnSp>
      <p:sp>
        <p:nvSpPr>
          <p:cNvPr id="19" name="矩形 18"/>
          <p:cNvSpPr/>
          <p:nvPr/>
        </p:nvSpPr>
        <p:spPr>
          <a:xfrm>
            <a:off x="6201991" y="4488327"/>
            <a:ext cx="2376264"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 name="直接连接符 19"/>
          <p:cNvCxnSpPr/>
          <p:nvPr/>
        </p:nvCxnSpPr>
        <p:spPr>
          <a:xfrm>
            <a:off x="6197220" y="4952425"/>
            <a:ext cx="2373577"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181398095"/>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5"/>
                                        </p:tgtEl>
                                      </p:cBhvr>
                                    </p:animEffect>
                                    <p:set>
                                      <p:cBhvr>
                                        <p:cTn id="12" dur="1" fill="hold">
                                          <p:stCondLst>
                                            <p:cond delay="499"/>
                                          </p:stCondLst>
                                        </p:cTn>
                                        <p:tgtEl>
                                          <p:spTgt spid="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7"/>
                                        </p:tgtEl>
                                      </p:cBhvr>
                                    </p:animEffect>
                                    <p:set>
                                      <p:cBhvr>
                                        <p:cTn id="17" dur="1" fill="hold">
                                          <p:stCondLst>
                                            <p:cond delay="499"/>
                                          </p:stCondLst>
                                        </p:cTn>
                                        <p:tgtEl>
                                          <p:spTgt spid="7"/>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11"/>
                                        </p:tgtEl>
                                      </p:cBhvr>
                                    </p:animEffect>
                                    <p:set>
                                      <p:cBhvr>
                                        <p:cTn id="22" dur="1" fill="hold">
                                          <p:stCondLst>
                                            <p:cond delay="499"/>
                                          </p:stCondLst>
                                        </p:cTn>
                                        <p:tgtEl>
                                          <p:spTgt spid="11"/>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4" presetClass="exit" presetSubtype="10" fill="hold" grpId="0" nodeType="clickEffect">
                                  <p:stCondLst>
                                    <p:cond delay="0"/>
                                  </p:stCondLst>
                                  <p:childTnLst>
                                    <p:animEffect transition="out" filter="randombar(horizontal)">
                                      <p:cBhvr>
                                        <p:cTn id="26" dur="500"/>
                                        <p:tgtEl>
                                          <p:spTgt spid="13"/>
                                        </p:tgtEl>
                                      </p:cBhvr>
                                    </p:animEffect>
                                    <p:set>
                                      <p:cBhvr>
                                        <p:cTn id="27" dur="1" fill="hold">
                                          <p:stCondLst>
                                            <p:cond delay="499"/>
                                          </p:stCondLst>
                                        </p:cTn>
                                        <p:tgtEl>
                                          <p:spTgt spid="13"/>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14" presetClass="exit" presetSubtype="10" fill="hold" grpId="0" nodeType="clickEffect">
                                  <p:stCondLst>
                                    <p:cond delay="0"/>
                                  </p:stCondLst>
                                  <p:childTnLst>
                                    <p:animEffect transition="out" filter="randombar(horizontal)">
                                      <p:cBhvr>
                                        <p:cTn id="31" dur="500"/>
                                        <p:tgtEl>
                                          <p:spTgt spid="15"/>
                                        </p:tgtEl>
                                      </p:cBhvr>
                                    </p:animEffect>
                                    <p:set>
                                      <p:cBhvr>
                                        <p:cTn id="32" dur="1" fill="hold">
                                          <p:stCondLst>
                                            <p:cond delay="499"/>
                                          </p:stCondLst>
                                        </p:cTn>
                                        <p:tgtEl>
                                          <p:spTgt spid="15"/>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4" presetClass="exit" presetSubtype="10" fill="hold" grpId="0" nodeType="clickEffect">
                                  <p:stCondLst>
                                    <p:cond delay="0"/>
                                  </p:stCondLst>
                                  <p:childTnLst>
                                    <p:animEffect transition="out" filter="randombar(horizontal)">
                                      <p:cBhvr>
                                        <p:cTn id="36" dur="500"/>
                                        <p:tgtEl>
                                          <p:spTgt spid="17"/>
                                        </p:tgtEl>
                                      </p:cBhvr>
                                    </p:animEffect>
                                    <p:set>
                                      <p:cBhvr>
                                        <p:cTn id="37" dur="1" fill="hold">
                                          <p:stCondLst>
                                            <p:cond delay="499"/>
                                          </p:stCondLst>
                                        </p:cTn>
                                        <p:tgtEl>
                                          <p:spTgt spid="17"/>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14" presetClass="exit" presetSubtype="10" fill="hold" grpId="0" nodeType="clickEffect">
                                  <p:stCondLst>
                                    <p:cond delay="0"/>
                                  </p:stCondLst>
                                  <p:childTnLst>
                                    <p:animEffect transition="out" filter="randombar(horizontal)">
                                      <p:cBhvr>
                                        <p:cTn id="41" dur="500"/>
                                        <p:tgtEl>
                                          <p:spTgt spid="19"/>
                                        </p:tgtEl>
                                      </p:cBhvr>
                                    </p:animEffect>
                                    <p:set>
                                      <p:cBhvr>
                                        <p:cTn id="42" dur="1" fill="hold">
                                          <p:stCondLst>
                                            <p:cond delay="499"/>
                                          </p:stCondLst>
                                        </p:cTn>
                                        <p:tgtEl>
                                          <p:spTgt spid="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7" grpId="0" animBg="1"/>
      <p:bldP spid="11" grpId="0" animBg="1"/>
      <p:bldP spid="13" grpId="0" animBg="1"/>
      <p:bldP spid="15" grpId="0" animBg="1"/>
      <p:bldP spid="17" grpId="0" animBg="1"/>
      <p:bldP spid="1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1727919"/>
            <a:ext cx="10807700" cy="2399503"/>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宋体" panose="02010600030101010101" pitchFamily="2" charset="-122"/>
                <a:cs typeface="Times New Roman" panose="02020603050405020304" pitchFamily="18" charset="0"/>
              </a:rPr>
              <a:t>随机模拟方法</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蒙特卡洛方法</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利用计算器或计算机产生的随机数来做模拟试验</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通过模拟试验得到的</a:t>
            </a:r>
            <a:r>
              <a:rPr lang="zh-CN" altLang="zh-CN" dirty="0">
                <a:ea typeface="宋体" panose="02010600030101010101" pitchFamily="2" charset="-122"/>
                <a:cs typeface="Times New Roman" panose="02020603050405020304" pitchFamily="18" charset="0"/>
              </a:rPr>
              <a:t>频率</a:t>
            </a:r>
            <a:r>
              <a:rPr lang="zh-CN" altLang="zh-CN" dirty="0">
                <a:solidFill>
                  <a:srgbClr val="000000"/>
                </a:solidFill>
                <a:ea typeface="宋体" panose="02010600030101010101" pitchFamily="2" charset="-122"/>
                <a:cs typeface="Times New Roman" panose="02020603050405020304" pitchFamily="18" charset="0"/>
              </a:rPr>
              <a:t>来估计</a:t>
            </a:r>
            <a:r>
              <a:rPr lang="zh-CN" altLang="zh-CN" dirty="0">
                <a:ea typeface="宋体" panose="02010600030101010101" pitchFamily="2" charset="-122"/>
                <a:cs typeface="Times New Roman" panose="02020603050405020304" pitchFamily="18" charset="0"/>
              </a:rPr>
              <a:t>概率</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我们称利用</a:t>
            </a:r>
            <a:r>
              <a:rPr lang="zh-CN" altLang="zh-CN" dirty="0">
                <a:ea typeface="宋体" panose="02010600030101010101" pitchFamily="2" charset="-122"/>
                <a:cs typeface="Times New Roman" panose="02020603050405020304" pitchFamily="18" charset="0"/>
              </a:rPr>
              <a:t>随机模拟</a:t>
            </a:r>
            <a:r>
              <a:rPr lang="zh-CN" altLang="zh-CN" dirty="0">
                <a:solidFill>
                  <a:srgbClr val="000000"/>
                </a:solidFill>
                <a:ea typeface="宋体" panose="02010600030101010101" pitchFamily="2" charset="-122"/>
                <a:cs typeface="Times New Roman" panose="02020603050405020304" pitchFamily="18" charset="0"/>
              </a:rPr>
              <a:t>解决问题的方法为蒙特卡洛方法</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4" name="矩形 3"/>
          <p:cNvSpPr/>
          <p:nvPr/>
        </p:nvSpPr>
        <p:spPr>
          <a:xfrm>
            <a:off x="2506645" y="2962813"/>
            <a:ext cx="777144"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p:nvCxnSpPr>
        <p:spPr>
          <a:xfrm>
            <a:off x="2502055" y="3426911"/>
            <a:ext cx="776265" cy="0"/>
          </a:xfrm>
          <a:prstGeom prst="line">
            <a:avLst/>
          </a:prstGeom>
        </p:spPr>
        <p:style>
          <a:lnRef idx="2">
            <a:schemeClr val="dk1"/>
          </a:lnRef>
          <a:fillRef idx="0">
            <a:schemeClr val="dk1"/>
          </a:fillRef>
          <a:effectRef idx="1">
            <a:schemeClr val="dk1"/>
          </a:effectRef>
          <a:fontRef idx="minor">
            <a:schemeClr val="tx1"/>
          </a:fontRef>
        </p:style>
      </p:cxnSp>
      <p:sp>
        <p:nvSpPr>
          <p:cNvPr id="6" name="矩形 5"/>
          <p:cNvSpPr/>
          <p:nvPr/>
        </p:nvSpPr>
        <p:spPr>
          <a:xfrm>
            <a:off x="4541087" y="2962813"/>
            <a:ext cx="777144"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p:nvCxnSpPr>
        <p:spPr>
          <a:xfrm>
            <a:off x="4536497" y="3426911"/>
            <a:ext cx="776265" cy="0"/>
          </a:xfrm>
          <a:prstGeom prst="line">
            <a:avLst/>
          </a:prstGeom>
        </p:spPr>
        <p:style>
          <a:lnRef idx="2">
            <a:schemeClr val="dk1"/>
          </a:lnRef>
          <a:fillRef idx="0">
            <a:schemeClr val="dk1"/>
          </a:fillRef>
          <a:effectRef idx="1">
            <a:schemeClr val="dk1"/>
          </a:effectRef>
          <a:fontRef idx="minor">
            <a:schemeClr val="tx1"/>
          </a:fontRef>
        </p:style>
      </p:cxnSp>
      <p:sp>
        <p:nvSpPr>
          <p:cNvPr id="10" name="矩形 9"/>
          <p:cNvSpPr/>
          <p:nvPr/>
        </p:nvSpPr>
        <p:spPr>
          <a:xfrm>
            <a:off x="7482427" y="2959620"/>
            <a:ext cx="1594934"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连接符 10"/>
          <p:cNvCxnSpPr/>
          <p:nvPr/>
        </p:nvCxnSpPr>
        <p:spPr>
          <a:xfrm>
            <a:off x="7477881" y="3423718"/>
            <a:ext cx="1593130"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645346967"/>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6"/>
                                        </p:tgtEl>
                                      </p:cBhvr>
                                    </p:animEffect>
                                    <p:set>
                                      <p:cBhvr>
                                        <p:cTn id="12" dur="1" fill="hold">
                                          <p:stCondLst>
                                            <p:cond delay="499"/>
                                          </p:stCondLst>
                                        </p:cTn>
                                        <p:tgtEl>
                                          <p:spTgt spid="6"/>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10"/>
                                        </p:tgtEl>
                                      </p:cBhvr>
                                    </p:animEffect>
                                    <p:set>
                                      <p:cBhvr>
                                        <p:cTn id="17" dur="1" fill="hold">
                                          <p:stCondLst>
                                            <p:cond delay="4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1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727919"/>
            <a:ext cx="10807700" cy="2456057"/>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smtClean="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宋体" panose="02010600030101010101" pitchFamily="2" charset="-122"/>
                <a:cs typeface="Times New Roman" panose="02020603050405020304" pitchFamily="18" charset="0"/>
              </a:rPr>
              <a:t>用</a:t>
            </a:r>
            <a:r>
              <a:rPr lang="zh-CN" altLang="zh-CN" dirty="0">
                <a:solidFill>
                  <a:srgbClr val="000000"/>
                </a:solidFill>
                <a:ea typeface="宋体" panose="02010600030101010101" pitchFamily="2" charset="-122"/>
                <a:cs typeface="Times New Roman" panose="02020603050405020304" pitchFamily="18" charset="0"/>
              </a:rPr>
              <a:t>随机模拟方法得到的频率</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A</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大于概率</a:t>
            </a:r>
            <a:r>
              <a:rPr lang="en-US" altLang="zh-CN" dirty="0">
                <a:solidFill>
                  <a:srgbClr val="000000"/>
                </a:solidFill>
                <a:ea typeface="宋体" panose="02010600030101010101" pitchFamily="2" charset="-122"/>
                <a:cs typeface="Times New Roman" panose="02020603050405020304" pitchFamily="18" charset="0"/>
              </a:rPr>
              <a:t>	B</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小于概率</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C</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等于概率</a:t>
            </a:r>
            <a:r>
              <a:rPr lang="en-US" altLang="zh-CN" dirty="0">
                <a:solidFill>
                  <a:srgbClr val="000000"/>
                </a:solidFill>
                <a:ea typeface="宋体" panose="02010600030101010101" pitchFamily="2" charset="-122"/>
                <a:cs typeface="Times New Roman" panose="02020603050405020304" pitchFamily="18" charset="0"/>
              </a:rPr>
              <a:t>	D</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是概率的近似值</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D</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724986373"/>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randombar(horizontal)">
                                      <p:cBhvr>
                                        <p:cTn id="7"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546295"/>
            <a:ext cx="10807700" cy="5962338"/>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【思考辨析】</a:t>
            </a:r>
            <a:r>
              <a:rPr lang="zh-CN" altLang="zh-CN" dirty="0">
                <a:solidFill>
                  <a:srgbClr val="000000"/>
                </a:solidFill>
                <a:latin typeface="NEU-BZ-S92"/>
                <a:ea typeface="Arial" panose="020B0604020202020204" pitchFamily="34" charset="0"/>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判断下列说法是否正确</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正确的在后面的括号内画</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latin typeface="Cambria Math" panose="02040503050406030204" pitchFamily="18" charset="0"/>
                <a:ea typeface="NEU-BZ-S9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错误的画</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用计算器或计算机软件产生的伪随机数来做模拟试验</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得到的频率值不准确</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用简单随机抽样的方法产生的随机数都是等可能的</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宋体" panose="02010600030101010101" pitchFamily="2" charset="-122"/>
                <a:cs typeface="Times New Roman" panose="02020603050405020304" pitchFamily="18" charset="0"/>
              </a:rPr>
              <a:t>用随机模拟方法估计概率时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产生的随机数越多</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估计的结果越准确</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宋体" panose="02010600030101010101" pitchFamily="2" charset="-122"/>
                <a:cs typeface="Times New Roman" panose="02020603050405020304" pitchFamily="18" charset="0"/>
              </a:rPr>
              <a:t>产生整数随机数的方法只能用计算器或计算机</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(5)</a:t>
            </a:r>
            <a:r>
              <a:rPr lang="zh-CN" altLang="zh-CN" dirty="0">
                <a:solidFill>
                  <a:srgbClr val="000000"/>
                </a:solidFill>
                <a:ea typeface="宋体" panose="02010600030101010101" pitchFamily="2" charset="-122"/>
                <a:cs typeface="Times New Roman" panose="02020603050405020304" pitchFamily="18" charset="0"/>
              </a:rPr>
              <a:t>利用随机模拟得到的计算结果就是概率</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
        <p:nvSpPr>
          <p:cNvPr id="3" name="矩形 2"/>
          <p:cNvSpPr/>
          <p:nvPr/>
        </p:nvSpPr>
        <p:spPr>
          <a:xfrm>
            <a:off x="4104853" y="3035214"/>
            <a:ext cx="432759"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矩形 3"/>
          <p:cNvSpPr/>
          <p:nvPr/>
        </p:nvSpPr>
        <p:spPr>
          <a:xfrm>
            <a:off x="10297541" y="3611278"/>
            <a:ext cx="432759"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4"/>
          <p:cNvSpPr/>
          <p:nvPr/>
        </p:nvSpPr>
        <p:spPr>
          <a:xfrm>
            <a:off x="2592685" y="4752255"/>
            <a:ext cx="432759"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矩形 5"/>
          <p:cNvSpPr/>
          <p:nvPr/>
        </p:nvSpPr>
        <p:spPr>
          <a:xfrm>
            <a:off x="9505453" y="5328319"/>
            <a:ext cx="432759"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矩形 6"/>
          <p:cNvSpPr/>
          <p:nvPr/>
        </p:nvSpPr>
        <p:spPr>
          <a:xfrm>
            <a:off x="8292075" y="5925899"/>
            <a:ext cx="432759"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827420749"/>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4"/>
                                        </p:tgtEl>
                                      </p:cBhvr>
                                    </p:animEffect>
                                    <p:set>
                                      <p:cBhvr>
                                        <p:cTn id="12" dur="1" fill="hold">
                                          <p:stCondLst>
                                            <p:cond delay="499"/>
                                          </p:stCondLst>
                                        </p:cTn>
                                        <p:tgtEl>
                                          <p:spTgt spid="4"/>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5"/>
                                        </p:tgtEl>
                                      </p:cBhvr>
                                    </p:animEffect>
                                    <p:set>
                                      <p:cBhvr>
                                        <p:cTn id="17" dur="1" fill="hold">
                                          <p:stCondLst>
                                            <p:cond delay="499"/>
                                          </p:stCondLst>
                                        </p:cTn>
                                        <p:tgtEl>
                                          <p:spTgt spid="5"/>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6"/>
                                        </p:tgtEl>
                                      </p:cBhvr>
                                    </p:animEffect>
                                    <p:set>
                                      <p:cBhvr>
                                        <p:cTn id="22" dur="1" fill="hold">
                                          <p:stCondLst>
                                            <p:cond delay="499"/>
                                          </p:stCondLst>
                                        </p:cTn>
                                        <p:tgtEl>
                                          <p:spTgt spid="6"/>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4" presetClass="exit" presetSubtype="10" fill="hold" grpId="0" nodeType="clickEffect">
                                  <p:stCondLst>
                                    <p:cond delay="0"/>
                                  </p:stCondLst>
                                  <p:childTnLst>
                                    <p:animEffect transition="out" filter="randombar(horizontal)">
                                      <p:cBhvr>
                                        <p:cTn id="26" dur="500"/>
                                        <p:tgtEl>
                                          <p:spTgt spid="7"/>
                                        </p:tgtEl>
                                      </p:cBhvr>
                                    </p:animEffect>
                                    <p:set>
                                      <p:cBhvr>
                                        <p:cTn id="27"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虚尾箭头 1"/>
          <p:cNvSpPr/>
          <p:nvPr/>
        </p:nvSpPr>
        <p:spPr>
          <a:xfrm>
            <a:off x="432445" y="1295871"/>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altLang="zh-CN" sz="6600" dirty="0" smtClean="0">
                <a:solidFill>
                  <a:srgbClr val="0070C0"/>
                </a:solidFill>
                <a:latin typeface="华文新魏" panose="02010800040101010101" pitchFamily="2" charset="-122"/>
                <a:ea typeface="华文新魏" panose="02010800040101010101" pitchFamily="2" charset="-122"/>
              </a:rPr>
              <a:t>  </a:t>
            </a:r>
            <a:r>
              <a:rPr lang="zh-CN" altLang="zh-CN" sz="6600" dirty="0" smtClean="0">
                <a:solidFill>
                  <a:srgbClr val="0070C0"/>
                </a:solidFill>
                <a:latin typeface="华文新魏" panose="02010800040101010101" pitchFamily="2" charset="-122"/>
                <a:ea typeface="华文新魏" panose="02010800040101010101" pitchFamily="2" charset="-122"/>
              </a:rPr>
              <a:t>合作</a:t>
            </a:r>
            <a:r>
              <a:rPr lang="zh-CN" altLang="zh-CN" sz="6600" dirty="0">
                <a:solidFill>
                  <a:srgbClr val="0070C0"/>
                </a:solidFill>
                <a:latin typeface="华文新魏" panose="02010800040101010101" pitchFamily="2" charset="-122"/>
                <a:ea typeface="华文新魏" panose="02010800040101010101" pitchFamily="2" charset="-122"/>
              </a:rPr>
              <a:t>探究</a:t>
            </a:r>
            <a:r>
              <a:rPr lang="en-US" altLang="zh-CN" sz="6600" dirty="0">
                <a:solidFill>
                  <a:srgbClr val="0070C0"/>
                </a:solidFill>
                <a:latin typeface="华文新魏" panose="02010800040101010101" pitchFamily="2" charset="-122"/>
                <a:ea typeface="华文新魏" panose="02010800040101010101" pitchFamily="2" charset="-122"/>
              </a:rPr>
              <a:t>·</a:t>
            </a:r>
            <a:r>
              <a:rPr lang="zh-CN" altLang="zh-CN" sz="6600" dirty="0">
                <a:solidFill>
                  <a:srgbClr val="0070C0"/>
                </a:solidFill>
                <a:latin typeface="华文新魏" panose="02010800040101010101" pitchFamily="2" charset="-122"/>
                <a:ea typeface="华文新魏" panose="02010800040101010101" pitchFamily="2" charset="-122"/>
              </a:rPr>
              <a:t>释疑解惑</a:t>
            </a:r>
          </a:p>
        </p:txBody>
      </p:sp>
      <p:sp>
        <p:nvSpPr>
          <p:cNvPr id="3" name="圆角矩形 2">
            <a:hlinkClick r:id="rId2" action="ppaction://hlinksldjump"/>
          </p:cNvPr>
          <p:cNvSpPr/>
          <p:nvPr/>
        </p:nvSpPr>
        <p:spPr>
          <a:xfrm>
            <a:off x="2592685" y="4392215"/>
            <a:ext cx="1440160" cy="432048"/>
          </a:xfrm>
          <a:prstGeom prst="round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4"/>
          </a:lnRef>
          <a:fillRef idx="3">
            <a:schemeClr val="accent4"/>
          </a:fillRef>
          <a:effectRef idx="3">
            <a:schemeClr val="accent4"/>
          </a:effectRef>
          <a:fontRef idx="minor">
            <a:schemeClr val="lt1"/>
          </a:fontRef>
        </p:style>
        <p:txBody>
          <a:bodyPr rtlCol="0" anchor="ctr"/>
          <a:lstStyle/>
          <a:p>
            <a:pPr algn="ctr"/>
            <a:r>
              <a:rPr lang="zh-CN" altLang="zh-CN" sz="2400"/>
              <a:t>探究一</a:t>
            </a:r>
            <a:endParaRPr lang="zh-CN" altLang="en-US" sz="2400"/>
          </a:p>
        </p:txBody>
      </p:sp>
      <p:sp>
        <p:nvSpPr>
          <p:cNvPr id="4" name="圆角矩形 3">
            <a:hlinkClick r:id="rId3" action="ppaction://hlinksldjump"/>
          </p:cNvPr>
          <p:cNvSpPr/>
          <p:nvPr/>
        </p:nvSpPr>
        <p:spPr>
          <a:xfrm>
            <a:off x="4968949" y="4392215"/>
            <a:ext cx="1440160" cy="432048"/>
          </a:xfrm>
          <a:prstGeom prst="round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4"/>
          </a:lnRef>
          <a:fillRef idx="3">
            <a:schemeClr val="accent4"/>
          </a:fillRef>
          <a:effectRef idx="3">
            <a:schemeClr val="accent4"/>
          </a:effectRef>
          <a:fontRef idx="minor">
            <a:schemeClr val="lt1"/>
          </a:fontRef>
        </p:style>
        <p:txBody>
          <a:bodyPr rtlCol="0" anchor="ctr"/>
          <a:lstStyle/>
          <a:p>
            <a:pPr algn="ctr"/>
            <a:r>
              <a:rPr lang="zh-CN" altLang="zh-CN" sz="2400" dirty="0" smtClean="0"/>
              <a:t>探究</a:t>
            </a:r>
            <a:r>
              <a:rPr lang="zh-CN" altLang="en-US" sz="2400" dirty="0" smtClean="0"/>
              <a:t>二</a:t>
            </a:r>
            <a:endParaRPr lang="zh-CN" altLang="en-US" sz="2400" dirty="0"/>
          </a:p>
        </p:txBody>
      </p:sp>
    </p:spTree>
    <p:extLst>
      <p:ext uri="{BB962C8B-B14F-4D97-AF65-F5344CB8AC3E}">
        <p14:creationId xmlns:p14="http://schemas.microsoft.com/office/powerpoint/2010/main" val="916960461"/>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gtEl>
                                      </p:cBhvr>
                                    </p:animEffect>
                                  </p:childTnLst>
                                </p:cTn>
                              </p:par>
                            </p:childTnLst>
                          </p:cTn>
                        </p:par>
                        <p:par>
                          <p:cTn id="15" fill="hold">
                            <p:stCondLst>
                              <p:cond delay="1000"/>
                            </p:stCondLst>
                            <p:childTnLst>
                              <p:par>
                                <p:cTn id="16" presetID="2" presetClass="entr" presetSubtype="8" fill="hold" grpId="0" nodeType="after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additive="base">
                                        <p:cTn id="18" dur="500" fill="hold"/>
                                        <p:tgtEl>
                                          <p:spTgt spid="3"/>
                                        </p:tgtEl>
                                        <p:attrNameLst>
                                          <p:attrName>ppt_x</p:attrName>
                                        </p:attrNameLst>
                                      </p:cBhvr>
                                      <p:tavLst>
                                        <p:tav tm="0">
                                          <p:val>
                                            <p:strVal val="0-#ppt_w/2"/>
                                          </p:val>
                                        </p:tav>
                                        <p:tav tm="100000">
                                          <p:val>
                                            <p:strVal val="#ppt_x"/>
                                          </p:val>
                                        </p:tav>
                                      </p:tavLst>
                                    </p:anim>
                                    <p:anim calcmode="lin" valueType="num">
                                      <p:cBhvr additive="base">
                                        <p:cTn id="19" dur="500" fill="hold"/>
                                        <p:tgtEl>
                                          <p:spTgt spid="3"/>
                                        </p:tgtEl>
                                        <p:attrNameLst>
                                          <p:attrName>ppt_y</p:attrName>
                                        </p:attrNameLst>
                                      </p:cBhvr>
                                      <p:tavLst>
                                        <p:tav tm="0">
                                          <p:val>
                                            <p:strVal val="#ppt_y"/>
                                          </p:val>
                                        </p:tav>
                                        <p:tav tm="100000">
                                          <p:val>
                                            <p:strVal val="#ppt_y"/>
                                          </p:val>
                                        </p:tav>
                                      </p:tavLst>
                                    </p:anim>
                                  </p:childTnLst>
                                </p:cTn>
                              </p:par>
                            </p:childTnLst>
                          </p:cTn>
                        </p:par>
                        <p:par>
                          <p:cTn id="20" fill="hold">
                            <p:stCondLst>
                              <p:cond delay="1500"/>
                            </p:stCondLst>
                            <p:childTnLst>
                              <p:par>
                                <p:cTn id="21" presetID="2" presetClass="entr" presetSubtype="8" fill="hold" grpId="0" nodeType="afterEffect">
                                  <p:stCondLst>
                                    <p:cond delay="0"/>
                                  </p:stCondLst>
                                  <p:childTnLst>
                                    <p:set>
                                      <p:cBhvr>
                                        <p:cTn id="22" dur="1" fill="hold">
                                          <p:stCondLst>
                                            <p:cond delay="0"/>
                                          </p:stCondLst>
                                        </p:cTn>
                                        <p:tgtEl>
                                          <p:spTgt spid="4"/>
                                        </p:tgtEl>
                                        <p:attrNameLst>
                                          <p:attrName>style.visibility</p:attrName>
                                        </p:attrNameLst>
                                      </p:cBhvr>
                                      <p:to>
                                        <p:strVal val="visible"/>
                                      </p:to>
                                    </p:set>
                                    <p:anim calcmode="lin" valueType="num">
                                      <p:cBhvr additive="base">
                                        <p:cTn id="23" dur="500" fill="hold"/>
                                        <p:tgtEl>
                                          <p:spTgt spid="4"/>
                                        </p:tgtEl>
                                        <p:attrNameLst>
                                          <p:attrName>ppt_x</p:attrName>
                                        </p:attrNameLst>
                                      </p:cBhvr>
                                      <p:tavLst>
                                        <p:tav tm="0">
                                          <p:val>
                                            <p:strVal val="0-#ppt_w/2"/>
                                          </p:val>
                                        </p:tav>
                                        <p:tav tm="100000">
                                          <p:val>
                                            <p:strVal val="#ppt_x"/>
                                          </p:val>
                                        </p:tav>
                                      </p:tavLst>
                                    </p:anim>
                                    <p:anim calcmode="lin" valueType="num">
                                      <p:cBhvr additive="base">
                                        <p:cTn id="24"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燕尾形 2"/>
          <p:cNvSpPr/>
          <p:nvPr/>
        </p:nvSpPr>
        <p:spPr>
          <a:xfrm>
            <a:off x="808363" y="670647"/>
            <a:ext cx="9488422"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zh-CN" dirty="0"/>
              <a:t>探究</a:t>
            </a:r>
            <a:r>
              <a:rPr lang="zh-CN" altLang="zh-CN" dirty="0" smtClean="0"/>
              <a:t>一</a:t>
            </a:r>
            <a:r>
              <a:rPr lang="en-US" altLang="zh-CN" dirty="0" smtClean="0"/>
              <a:t>  </a:t>
            </a:r>
            <a:r>
              <a:rPr lang="zh-CN" altLang="zh-CN" dirty="0" smtClean="0"/>
              <a:t>用</a:t>
            </a:r>
            <a:r>
              <a:rPr lang="zh-CN" altLang="zh-CN" dirty="0"/>
              <a:t>随机模拟估计概率</a:t>
            </a:r>
          </a:p>
        </p:txBody>
      </p:sp>
      <p:sp>
        <p:nvSpPr>
          <p:cNvPr id="5" name="矩形 4"/>
          <p:cNvSpPr>
            <a:spLocks noChangeAspect="1"/>
          </p:cNvSpPr>
          <p:nvPr/>
        </p:nvSpPr>
        <p:spPr>
          <a:xfrm>
            <a:off x="361950" y="1174703"/>
            <a:ext cx="10807700" cy="5410712"/>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【例</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某篮球爱好者做投篮练习</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假设其每次投篮投中的概率是</a:t>
            </a:r>
            <a:r>
              <a:rPr lang="en-US" altLang="zh-CN" dirty="0">
                <a:solidFill>
                  <a:srgbClr val="000000"/>
                </a:solidFill>
                <a:ea typeface="宋体" panose="02010600030101010101" pitchFamily="2" charset="-122"/>
                <a:cs typeface="Times New Roman" panose="02020603050405020304" pitchFamily="18" charset="0"/>
              </a:rPr>
              <a:t>60%,</a:t>
            </a:r>
            <a:r>
              <a:rPr lang="zh-CN" altLang="zh-CN" dirty="0">
                <a:solidFill>
                  <a:srgbClr val="000000"/>
                </a:solidFill>
                <a:ea typeface="宋体" panose="02010600030101010101" pitchFamily="2" charset="-122"/>
                <a:cs typeface="Times New Roman" panose="02020603050405020304" pitchFamily="18" charset="0"/>
              </a:rPr>
              <a:t>利用计算器或计算机模拟试验</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估计他在连续三次投篮中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三次都投中的</a:t>
            </a:r>
            <a:r>
              <a:rPr lang="zh-CN" altLang="zh-CN" dirty="0" smtClean="0">
                <a:solidFill>
                  <a:srgbClr val="000000"/>
                </a:solidFill>
                <a:ea typeface="宋体" panose="02010600030101010101" pitchFamily="2" charset="-122"/>
                <a:cs typeface="Times New Roman" panose="02020603050405020304" pitchFamily="18" charset="0"/>
              </a:rPr>
              <a:t>概率</a:t>
            </a:r>
            <a:r>
              <a:rPr lang="en-US" altLang="zh-CN" i="1" dirty="0" smtClean="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分析</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设计模拟试验</a:t>
            </a:r>
            <a:r>
              <a:rPr lang="en-US" altLang="zh-CN" dirty="0">
                <a:solidFill>
                  <a:srgbClr val="000000"/>
                </a:solidFill>
                <a:latin typeface="NEU-BZ-S92"/>
                <a:ea typeface="NEU-BZ-S9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产生随机数</a:t>
            </a:r>
            <a:r>
              <a:rPr lang="en-US" altLang="zh-CN" dirty="0">
                <a:solidFill>
                  <a:srgbClr val="000000"/>
                </a:solidFill>
                <a:latin typeface="NEU-BZ-S92"/>
                <a:ea typeface="NEU-BZ-S9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估算所求</a:t>
            </a:r>
            <a:r>
              <a:rPr lang="zh-CN" altLang="zh-CN" dirty="0" smtClean="0">
                <a:solidFill>
                  <a:srgbClr val="000000"/>
                </a:solidFill>
                <a:ea typeface="楷体" panose="02010609060101010101" pitchFamily="49" charset="-122"/>
                <a:cs typeface="Times New Roman" panose="02020603050405020304" pitchFamily="18" charset="0"/>
              </a:rPr>
              <a:t>概率</a:t>
            </a:r>
            <a:endParaRPr lang="en-US" altLang="zh-CN" dirty="0" smtClean="0">
              <a:solidFill>
                <a:srgbClr val="000000"/>
              </a:solidFill>
              <a:ea typeface="楷体" panose="02010609060101010101" pitchFamily="49"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解</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我们通过设计模拟试验的方法来解决问题</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利用计算机或计算器可以产生</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9</a:t>
            </a:r>
            <a:r>
              <a:rPr lang="zh-CN" altLang="zh-CN" dirty="0">
                <a:solidFill>
                  <a:srgbClr val="000000"/>
                </a:solidFill>
                <a:ea typeface="楷体" panose="02010609060101010101" pitchFamily="49" charset="-122"/>
                <a:cs typeface="Times New Roman" panose="02020603050405020304" pitchFamily="18" charset="0"/>
              </a:rPr>
              <a:t>之间的整数随机数</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smtClean="0">
                <a:solidFill>
                  <a:srgbClr val="000000"/>
                </a:solidFill>
                <a:ea typeface="楷体" panose="02010609060101010101" pitchFamily="49" charset="-122"/>
                <a:cs typeface="Times New Roman" panose="02020603050405020304" pitchFamily="18" charset="0"/>
              </a:rPr>
              <a:t>我们</a:t>
            </a:r>
            <a:r>
              <a:rPr lang="zh-CN" altLang="zh-CN" dirty="0">
                <a:solidFill>
                  <a:srgbClr val="000000"/>
                </a:solidFill>
                <a:ea typeface="楷体" panose="02010609060101010101" pitchFamily="49" charset="-122"/>
                <a:cs typeface="Times New Roman" panose="02020603050405020304" pitchFamily="18" charset="0"/>
              </a:rPr>
              <a:t>用</a:t>
            </a:r>
            <a:r>
              <a:rPr lang="en-US" altLang="zh-CN" dirty="0">
                <a:solidFill>
                  <a:srgbClr val="000000"/>
                </a:solidFill>
                <a:ea typeface="宋体" panose="02010600030101010101" pitchFamily="2" charset="-122"/>
                <a:cs typeface="Times New Roman" panose="02020603050405020304" pitchFamily="18" charset="0"/>
              </a:rPr>
              <a:t>1,2,3,4,5,6</a:t>
            </a:r>
            <a:r>
              <a:rPr lang="zh-CN" altLang="zh-CN" dirty="0">
                <a:solidFill>
                  <a:srgbClr val="000000"/>
                </a:solidFill>
                <a:ea typeface="楷体" panose="02010609060101010101" pitchFamily="49" charset="-122"/>
                <a:cs typeface="Times New Roman" panose="02020603050405020304" pitchFamily="18" charset="0"/>
              </a:rPr>
              <a:t>表示投中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用</a:t>
            </a:r>
            <a:r>
              <a:rPr lang="en-US" altLang="zh-CN" dirty="0">
                <a:solidFill>
                  <a:srgbClr val="000000"/>
                </a:solidFill>
                <a:ea typeface="宋体" panose="02010600030101010101" pitchFamily="2" charset="-122"/>
                <a:cs typeface="Times New Roman" panose="02020603050405020304" pitchFamily="18" charset="0"/>
              </a:rPr>
              <a:t>7,8,9,0</a:t>
            </a:r>
            <a:r>
              <a:rPr lang="zh-CN" altLang="zh-CN" dirty="0">
                <a:solidFill>
                  <a:srgbClr val="000000"/>
                </a:solidFill>
                <a:ea typeface="楷体" panose="02010609060101010101" pitchFamily="49" charset="-122"/>
                <a:cs typeface="Times New Roman" panose="02020603050405020304" pitchFamily="18" charset="0"/>
              </a:rPr>
              <a:t>表示未投中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这样可以体现投中的概率是</a:t>
            </a:r>
            <a:r>
              <a:rPr lang="en-US" altLang="zh-CN" dirty="0">
                <a:solidFill>
                  <a:srgbClr val="000000"/>
                </a:solidFill>
                <a:ea typeface="宋体" panose="02010600030101010101" pitchFamily="2" charset="-122"/>
                <a:cs typeface="Times New Roman" panose="02020603050405020304" pitchFamily="18" charset="0"/>
              </a:rPr>
              <a:t>60%</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因为是投篮三次</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所以每</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楷体" panose="02010609060101010101" pitchFamily="49" charset="-122"/>
                <a:cs typeface="Times New Roman" panose="02020603050405020304" pitchFamily="18" charset="0"/>
              </a:rPr>
              <a:t>个随机数作为一组</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例如</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产生</a:t>
            </a:r>
            <a:r>
              <a:rPr lang="en-US" altLang="zh-CN" dirty="0">
                <a:solidFill>
                  <a:srgbClr val="000000"/>
                </a:solidFill>
                <a:ea typeface="宋体" panose="02010600030101010101" pitchFamily="2" charset="-122"/>
                <a:cs typeface="Times New Roman" panose="02020603050405020304" pitchFamily="18" charset="0"/>
              </a:rPr>
              <a:t>20</a:t>
            </a:r>
            <a:r>
              <a:rPr lang="zh-CN" altLang="zh-CN" dirty="0">
                <a:solidFill>
                  <a:srgbClr val="000000"/>
                </a:solidFill>
                <a:ea typeface="楷体" panose="02010609060101010101" pitchFamily="49" charset="-122"/>
                <a:cs typeface="Times New Roman" panose="02020603050405020304" pitchFamily="18" charset="0"/>
              </a:rPr>
              <a:t>组随机数</a:t>
            </a:r>
            <a:r>
              <a:rPr lang="en-US" altLang="zh-CN" dirty="0" smtClean="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026412995"/>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randombar(horizontal)">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randombar(horizontal)">
                                      <p:cBhvr>
                                        <p:cTn id="12" dur="500"/>
                                        <p:tgtEl>
                                          <p:spTgt spid="5">
                                            <p:txEl>
                                              <p:pRg st="2" end="2"/>
                                            </p:txEl>
                                          </p:spTgt>
                                        </p:tgtEl>
                                      </p:cBhvr>
                                    </p:animEffect>
                                  </p:childTnLst>
                                </p:cTn>
                              </p:par>
                              <p:par>
                                <p:cTn id="13" presetID="14" presetClass="entr" presetSubtype="10" fill="hold" nodeType="with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animEffect transition="in" filter="randombar(horizontal)">
                                      <p:cBhvr>
                                        <p:cTn id="15"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361950" y="1049367"/>
            <a:ext cx="19159278" cy="4196784"/>
            <a:chOff x="361950" y="1007839"/>
            <a:chExt cx="19159278" cy="4196784"/>
          </a:xfrm>
        </p:grpSpPr>
        <p:sp>
          <p:nvSpPr>
            <p:cNvPr id="4" name="矩形 3"/>
            <p:cNvSpPr>
              <a:spLocks noChangeAspect="1"/>
            </p:cNvSpPr>
            <p:nvPr/>
          </p:nvSpPr>
          <p:spPr>
            <a:xfrm>
              <a:off x="361950" y="1007839"/>
              <a:ext cx="10807700" cy="4150367"/>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812</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932</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569</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683</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271</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989</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730</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537</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925</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834</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907</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113</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966</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191</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432</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256</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393</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027</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556</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755</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楷体" panose="02010609060101010101" pitchFamily="49" charset="-122"/>
                  <a:cs typeface="Times New Roman" panose="02020603050405020304" pitchFamily="18" charset="0"/>
                </a:rPr>
                <a:t>相当于做了</a:t>
              </a:r>
              <a:r>
                <a:rPr lang="en-US" altLang="zh-CN" dirty="0">
                  <a:solidFill>
                    <a:srgbClr val="000000"/>
                  </a:solidFill>
                  <a:ea typeface="宋体" panose="02010600030101010101" pitchFamily="2" charset="-122"/>
                  <a:cs typeface="Times New Roman" panose="02020603050405020304" pitchFamily="18" charset="0"/>
                </a:rPr>
                <a:t>20</a:t>
              </a:r>
              <a:r>
                <a:rPr lang="zh-CN" altLang="zh-CN" dirty="0">
                  <a:solidFill>
                    <a:srgbClr val="000000"/>
                  </a:solidFill>
                  <a:ea typeface="楷体" panose="02010609060101010101" pitchFamily="49" charset="-122"/>
                  <a:cs typeface="Times New Roman" panose="02020603050405020304" pitchFamily="18" charset="0"/>
                </a:rPr>
                <a:t>次重复试验</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其中若</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楷体" panose="02010609060101010101" pitchFamily="49" charset="-122"/>
                  <a:cs typeface="Times New Roman" panose="02020603050405020304" pitchFamily="18" charset="0"/>
                </a:rPr>
                <a:t>个数均在</a:t>
              </a:r>
              <a:r>
                <a:rPr lang="en-US" altLang="zh-CN" dirty="0">
                  <a:solidFill>
                    <a:srgbClr val="000000"/>
                  </a:solidFill>
                  <a:ea typeface="宋体" panose="02010600030101010101" pitchFamily="2" charset="-122"/>
                  <a:cs typeface="Times New Roman" panose="02020603050405020304" pitchFamily="18" charset="0"/>
                </a:rPr>
                <a:t>1,2,3,4,5,6</a:t>
              </a:r>
              <a:r>
                <a:rPr lang="zh-CN" altLang="zh-CN" dirty="0">
                  <a:solidFill>
                    <a:srgbClr val="000000"/>
                  </a:solidFill>
                  <a:ea typeface="楷体" panose="02010609060101010101" pitchFamily="49" charset="-122"/>
                  <a:cs typeface="Times New Roman" panose="02020603050405020304" pitchFamily="18" charset="0"/>
                </a:rPr>
                <a:t>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则表示三次都投中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它们分别是</a:t>
              </a:r>
              <a:r>
                <a:rPr lang="en-US" altLang="zh-CN" dirty="0">
                  <a:solidFill>
                    <a:srgbClr val="000000"/>
                  </a:solidFill>
                  <a:ea typeface="宋体" panose="02010600030101010101" pitchFamily="2" charset="-122"/>
                  <a:cs typeface="Times New Roman" panose="02020603050405020304" pitchFamily="18" charset="0"/>
                </a:rPr>
                <a:t>113,432,256,556,</a:t>
              </a:r>
              <a:r>
                <a:rPr lang="zh-CN" altLang="zh-CN" dirty="0">
                  <a:solidFill>
                    <a:srgbClr val="000000"/>
                  </a:solidFill>
                  <a:ea typeface="楷体" panose="02010609060101010101" pitchFamily="49" charset="-122"/>
                  <a:cs typeface="Times New Roman" panose="02020603050405020304" pitchFamily="18" charset="0"/>
                </a:rPr>
                <a:t>即共有</a:t>
              </a: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楷体" panose="02010609060101010101" pitchFamily="49" charset="-122"/>
                  <a:cs typeface="Times New Roman" panose="02020603050405020304" pitchFamily="18" charset="0"/>
                </a:rPr>
                <a:t>组数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因此我们得到三次投篮都投中的概率近似为</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404468259"/>
                </p:ext>
              </p:extLst>
            </p:nvPr>
          </p:nvGraphicFramePr>
          <p:xfrm>
            <a:off x="7849269" y="4408851"/>
            <a:ext cx="11671959" cy="795772"/>
          </p:xfrm>
          <a:graphic>
            <a:graphicData uri="http://schemas.openxmlformats.org/presentationml/2006/ole">
              <mc:AlternateContent xmlns:mc="http://schemas.openxmlformats.org/markup-compatibility/2006">
                <mc:Choice xmlns:v="urn:schemas-microsoft-com:vml" Requires="v">
                  <p:oleObj spid="_x0000_s1039" name="文档" r:id="rId4" imgW="3826872" imgH="260909" progId="Word.Document.12">
                    <p:embed/>
                  </p:oleObj>
                </mc:Choice>
                <mc:Fallback>
                  <p:oleObj name="文档" r:id="rId4" imgW="3826872" imgH="260909" progId="Word.Document.12">
                    <p:embed/>
                    <p:pic>
                      <p:nvPicPr>
                        <p:cNvPr id="0" name=""/>
                        <p:cNvPicPr/>
                        <p:nvPr/>
                      </p:nvPicPr>
                      <p:blipFill>
                        <a:blip r:embed="rId5"/>
                        <a:stretch>
                          <a:fillRect/>
                        </a:stretch>
                      </p:blipFill>
                      <p:spPr>
                        <a:xfrm>
                          <a:off x="7849269" y="4408851"/>
                          <a:ext cx="11671959" cy="795772"/>
                        </a:xfrm>
                        <a:prstGeom prst="rect">
                          <a:avLst/>
                        </a:prstGeom>
                      </p:spPr>
                    </p:pic>
                  </p:oleObj>
                </mc:Fallback>
              </mc:AlternateContent>
            </a:graphicData>
          </a:graphic>
        </p:graphicFrame>
      </p:grpSp>
    </p:spTree>
    <p:extLst>
      <p:ext uri="{BB962C8B-B14F-4D97-AF65-F5344CB8AC3E}">
        <p14:creationId xmlns:p14="http://schemas.microsoft.com/office/powerpoint/2010/main" val="1047543182"/>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361950" y="680479"/>
            <a:ext cx="10807700" cy="5872256"/>
            <a:chOff x="361950" y="680479"/>
            <a:chExt cx="10807700" cy="5872256"/>
          </a:xfrm>
        </p:grpSpPr>
        <p:pic>
          <p:nvPicPr>
            <p:cNvPr id="4" name="反思感悟H.eps" descr="id:2147490797;FounderCES"/>
            <p:cNvPicPr/>
            <p:nvPr/>
          </p:nvPicPr>
          <p:blipFill>
            <a:blip r:embed="rId2"/>
            <a:stretch>
              <a:fillRect/>
            </a:stretch>
          </p:blipFill>
          <p:spPr>
            <a:xfrm>
              <a:off x="361950" y="680479"/>
              <a:ext cx="2259558" cy="531552"/>
            </a:xfrm>
            <a:prstGeom prst="rect">
              <a:avLst/>
            </a:prstGeom>
          </p:spPr>
        </p:pic>
        <p:sp>
          <p:nvSpPr>
            <p:cNvPr id="5" name="矩形 4"/>
            <p:cNvSpPr>
              <a:spLocks noChangeAspect="1"/>
            </p:cNvSpPr>
            <p:nvPr/>
          </p:nvSpPr>
          <p:spPr>
            <a:xfrm>
              <a:off x="361950" y="1142023"/>
              <a:ext cx="10807700" cy="5410712"/>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ea typeface="仿宋" panose="02010609060101010101" pitchFamily="49" charset="-122"/>
                  <a:cs typeface="Times New Roman" panose="02020603050405020304" pitchFamily="18" charset="0"/>
                </a:rPr>
                <a:t>用整数随机数模拟试验估计概率时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首先要确定随机数的范围和用哪些数代表不同的试验结果</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我们可以从以下三个方面考虑</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仿宋" panose="02010609060101010101" pitchFamily="49" charset="-122"/>
                  <a:cs typeface="Times New Roman" panose="02020603050405020304" pitchFamily="18" charset="0"/>
                </a:rPr>
                <a:t>当试验的样本点等可能出现时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样本点总数即为产生随机数的范围</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每个随机数代表一个样本点</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仿宋" panose="02010609060101010101" pitchFamily="49" charset="-122"/>
                  <a:cs typeface="Times New Roman" panose="02020603050405020304" pitchFamily="18" charset="0"/>
                </a:rPr>
                <a:t>研究等可能事件的概率时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用按比例分配的方法确定表示各个结果的数字的个数</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仿宋" panose="02010609060101010101" pitchFamily="49" charset="-122"/>
                  <a:cs typeface="Times New Roman" panose="02020603050405020304" pitchFamily="18" charset="0"/>
                </a:rPr>
                <a:t>当每次试验结果需要</a:t>
              </a:r>
              <a:r>
                <a:rPr lang="en-US" altLang="zh-CN" i="1" dirty="0">
                  <a:solidFill>
                    <a:srgbClr val="000000"/>
                  </a:solidFill>
                  <a:ea typeface="宋体" panose="02010600030101010101" pitchFamily="2" charset="-122"/>
                  <a:cs typeface="Times New Roman" panose="02020603050405020304" pitchFamily="18" charset="0"/>
                </a:rPr>
                <a:t>n</a:t>
              </a:r>
              <a:r>
                <a:rPr lang="zh-CN" altLang="zh-CN" dirty="0">
                  <a:solidFill>
                    <a:srgbClr val="000000"/>
                  </a:solidFill>
                  <a:ea typeface="仿宋" panose="02010609060101010101" pitchFamily="49" charset="-122"/>
                  <a:cs typeface="Times New Roman" panose="02020603050405020304" pitchFamily="18" charset="0"/>
                </a:rPr>
                <a:t>个随机数表示时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要把这</a:t>
              </a:r>
              <a:r>
                <a:rPr lang="en-US" altLang="zh-CN" i="1" dirty="0">
                  <a:solidFill>
                    <a:srgbClr val="000000"/>
                  </a:solidFill>
                  <a:ea typeface="宋体" panose="02010600030101010101" pitchFamily="2" charset="-122"/>
                  <a:cs typeface="Times New Roman" panose="02020603050405020304" pitchFamily="18" charset="0"/>
                </a:rPr>
                <a:t>n</a:t>
              </a:r>
              <a:r>
                <a:rPr lang="zh-CN" altLang="zh-CN" dirty="0">
                  <a:solidFill>
                    <a:srgbClr val="000000"/>
                  </a:solidFill>
                  <a:ea typeface="仿宋" panose="02010609060101010101" pitchFamily="49" charset="-122"/>
                  <a:cs typeface="Times New Roman" panose="02020603050405020304" pitchFamily="18" charset="0"/>
                </a:rPr>
                <a:t>个随机数作为一组来处理</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此时一定要注意每组中的随机数能否重复</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3357950"/>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361950" y="565631"/>
            <a:ext cx="16711006" cy="4819781"/>
            <a:chOff x="361950" y="647799"/>
            <a:chExt cx="16711006" cy="4819781"/>
          </a:xfrm>
        </p:grpSpPr>
        <p:sp>
          <p:nvSpPr>
            <p:cNvPr id="3" name="矩形 2"/>
            <p:cNvSpPr>
              <a:spLocks noChangeAspect="1"/>
            </p:cNvSpPr>
            <p:nvPr/>
          </p:nvSpPr>
          <p:spPr>
            <a:xfrm>
              <a:off x="361950" y="647799"/>
              <a:ext cx="10807700" cy="4819781"/>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【变式训练</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latin typeface="NEU-BZ-S92" panose="02020503000000020003" pitchFamily="18" charset="-12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一个小组有</a:t>
              </a:r>
              <a:r>
                <a:rPr lang="en-US" altLang="zh-CN" dirty="0">
                  <a:solidFill>
                    <a:srgbClr val="000000"/>
                  </a:solidFill>
                  <a:ea typeface="宋体" panose="02010600030101010101" pitchFamily="2" charset="-122"/>
                  <a:cs typeface="Times New Roman" panose="02020603050405020304" pitchFamily="18" charset="0"/>
                </a:rPr>
                <a:t>6</a:t>
              </a:r>
              <a:r>
                <a:rPr lang="zh-CN" altLang="zh-CN" dirty="0">
                  <a:solidFill>
                    <a:srgbClr val="000000"/>
                  </a:solidFill>
                  <a:ea typeface="宋体" panose="02010600030101010101" pitchFamily="2" charset="-122"/>
                  <a:cs typeface="Times New Roman" panose="02020603050405020304" pitchFamily="18" charset="0"/>
                </a:rPr>
                <a:t>名同学</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从中选</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名小组长</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用随机模拟方法估计同学甲被选中的概率</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给出下列步骤</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latin typeface="NEU-BZ-S92" panose="02020503000000020003" pitchFamily="18" charset="-122"/>
                  <a:ea typeface="宋体" panose="02010600030101010101" pitchFamily="2" charset="-122"/>
                  <a:cs typeface="宋体" panose="02010600030101010101" pitchFamily="2" charset="-122"/>
                </a:rPr>
                <a:t>①</a:t>
              </a:r>
              <a:r>
                <a:rPr lang="zh-CN" altLang="zh-CN" dirty="0">
                  <a:solidFill>
                    <a:srgbClr val="000000"/>
                  </a:solidFill>
                  <a:ea typeface="宋体" panose="02010600030101010101" pitchFamily="2" charset="-122"/>
                  <a:cs typeface="Times New Roman" panose="02020603050405020304" pitchFamily="18" charset="0"/>
                </a:rPr>
                <a:t>统计甲的编号出现的个数</a:t>
              </a:r>
              <a:r>
                <a:rPr lang="en-US" altLang="zh-CN" i="1" dirty="0">
                  <a:solidFill>
                    <a:srgbClr val="000000"/>
                  </a:solidFill>
                  <a:ea typeface="宋体" panose="02010600030101010101" pitchFamily="2" charset="-122"/>
                  <a:cs typeface="Times New Roman" panose="02020603050405020304" pitchFamily="18" charset="0"/>
                </a:rPr>
                <a:t>m</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latin typeface="NEU-BZ-S92" panose="02020503000000020003" pitchFamily="18" charset="-122"/>
                  <a:ea typeface="宋体" panose="02010600030101010101" pitchFamily="2" charset="-122"/>
                  <a:cs typeface="宋体" panose="02010600030101010101" pitchFamily="2" charset="-122"/>
                </a:rPr>
                <a:t>②</a:t>
              </a:r>
              <a:r>
                <a:rPr lang="zh-CN" altLang="zh-CN" dirty="0">
                  <a:solidFill>
                    <a:srgbClr val="000000"/>
                  </a:solidFill>
                  <a:ea typeface="宋体" panose="02010600030101010101" pitchFamily="2" charset="-122"/>
                  <a:cs typeface="Times New Roman" panose="02020603050405020304" pitchFamily="18" charset="0"/>
                </a:rPr>
                <a:t>将</a:t>
              </a:r>
              <a:r>
                <a:rPr lang="en-US" altLang="zh-CN" dirty="0">
                  <a:solidFill>
                    <a:srgbClr val="000000"/>
                  </a:solidFill>
                  <a:ea typeface="宋体" panose="02010600030101010101" pitchFamily="2" charset="-122"/>
                  <a:cs typeface="Times New Roman" panose="02020603050405020304" pitchFamily="18" charset="0"/>
                </a:rPr>
                <a:t>6</a:t>
              </a:r>
              <a:r>
                <a:rPr lang="zh-CN" altLang="zh-CN" dirty="0">
                  <a:solidFill>
                    <a:srgbClr val="000000"/>
                  </a:solidFill>
                  <a:ea typeface="宋体" panose="02010600030101010101" pitchFamily="2" charset="-122"/>
                  <a:cs typeface="Times New Roman" panose="02020603050405020304" pitchFamily="18" charset="0"/>
                </a:rPr>
                <a:t>名同学分别编号</a:t>
              </a:r>
              <a:r>
                <a:rPr lang="en-US" altLang="zh-CN" dirty="0">
                  <a:solidFill>
                    <a:srgbClr val="000000"/>
                  </a:solidFill>
                  <a:ea typeface="宋体" panose="02010600030101010101" pitchFamily="2" charset="-122"/>
                  <a:cs typeface="Times New Roman" panose="02020603050405020304" pitchFamily="18" charset="0"/>
                </a:rPr>
                <a:t>1,2,3,4,5,6;</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smtClean="0">
                  <a:solidFill>
                    <a:srgbClr val="000000"/>
                  </a:solidFill>
                  <a:latin typeface="NEU-BZ-S92"/>
                  <a:ea typeface="宋体" panose="02010600030101010101" pitchFamily="2" charset="-122"/>
                  <a:cs typeface="宋体" panose="02010600030101010101" pitchFamily="2" charset="-122"/>
                </a:rPr>
                <a:t>③</a:t>
              </a:r>
              <a:r>
                <a:rPr lang="zh-CN" altLang="zh-CN" dirty="0">
                  <a:solidFill>
                    <a:srgbClr val="000000"/>
                  </a:solidFill>
                  <a:ea typeface="宋体" panose="02010600030101010101" pitchFamily="2" charset="-122"/>
                  <a:cs typeface="Times New Roman" panose="02020603050405020304" pitchFamily="18" charset="0"/>
                </a:rPr>
                <a:t>利用计算器或计算机产生</a:t>
              </a:r>
              <a:r>
                <a:rPr lang="en-US" altLang="zh-CN" dirty="0" smtClean="0">
                  <a:solidFill>
                    <a:srgbClr val="000000"/>
                  </a:solidFill>
                  <a:ea typeface="宋体" panose="02010600030101010101" pitchFamily="2" charset="-122"/>
                  <a:cs typeface="Times New Roman" panose="02020603050405020304" pitchFamily="18" charset="0"/>
                </a:rPr>
                <a:t>1</a:t>
              </a:r>
              <a:r>
                <a:rPr lang="en-US" altLang="zh-CN" i="1" dirty="0" smtClean="0">
                  <a:solidFill>
                    <a:srgbClr val="000000"/>
                  </a:solidFill>
                  <a:ea typeface="宋体" panose="02010600030101010101" pitchFamily="2" charset="-122"/>
                </a:rPr>
                <a:t>~</a:t>
              </a:r>
              <a:r>
                <a:rPr lang="en-US" altLang="zh-CN" dirty="0" smtClean="0">
                  <a:solidFill>
                    <a:srgbClr val="000000"/>
                  </a:solidFill>
                  <a:ea typeface="宋体" panose="02010600030101010101" pitchFamily="2" charset="-122"/>
                  <a:cs typeface="Times New Roman" panose="02020603050405020304" pitchFamily="18" charset="0"/>
                </a:rPr>
                <a:t>6</a:t>
              </a:r>
              <a:r>
                <a:rPr lang="zh-CN" altLang="zh-CN" dirty="0" smtClean="0">
                  <a:solidFill>
                    <a:srgbClr val="000000"/>
                  </a:solidFill>
                  <a:ea typeface="宋体" panose="02010600030101010101" pitchFamily="2" charset="-122"/>
                  <a:cs typeface="Times New Roman" panose="02020603050405020304" pitchFamily="18" charset="0"/>
                </a:rPr>
                <a:t>之间</a:t>
              </a:r>
              <a:r>
                <a:rPr lang="zh-CN" altLang="zh-CN" dirty="0">
                  <a:solidFill>
                    <a:srgbClr val="000000"/>
                  </a:solidFill>
                  <a:ea typeface="宋体" panose="02010600030101010101" pitchFamily="2" charset="-122"/>
                  <a:cs typeface="Times New Roman" panose="02020603050405020304" pitchFamily="18" charset="0"/>
                </a:rPr>
                <a:t>的整数随机数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统计个数为</a:t>
              </a:r>
              <a:r>
                <a:rPr lang="en-US" altLang="zh-CN" i="1" dirty="0">
                  <a:solidFill>
                    <a:srgbClr val="000000"/>
                  </a:solidFill>
                  <a:ea typeface="宋体" panose="02010600030101010101" pitchFamily="2" charset="-122"/>
                  <a:cs typeface="Times New Roman" panose="02020603050405020304" pitchFamily="18" charset="0"/>
                </a:rPr>
                <a:t>n</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latin typeface="NEU-BZ-S92"/>
                  <a:ea typeface="宋体" panose="02010600030101010101" pitchFamily="2" charset="-122"/>
                  <a:cs typeface="宋体" panose="02010600030101010101" pitchFamily="2" charset="-122"/>
                </a:rPr>
                <a:t>④</a:t>
              </a:r>
              <a:r>
                <a:rPr lang="zh-CN" altLang="zh-CN" dirty="0">
                  <a:solidFill>
                    <a:srgbClr val="000000"/>
                  </a:solidFill>
                  <a:ea typeface="宋体" panose="02010600030101010101" pitchFamily="2" charset="-122"/>
                  <a:cs typeface="Times New Roman" panose="02020603050405020304" pitchFamily="18" charset="0"/>
                </a:rPr>
                <a:t>则甲被选中的概率近似为</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该试验的正确步骤是</a:t>
              </a:r>
              <a:r>
                <a:rPr lang="zh-CN" altLang="zh-CN" i="1" u="sng" dirty="0">
                  <a:uFill>
                    <a:solidFill>
                      <a:srgbClr val="000000"/>
                    </a:solidFill>
                  </a:uFill>
                  <a:ea typeface="宋体" panose="02010600030101010101" pitchFamily="2" charset="-122"/>
                  <a:cs typeface="Times New Roman" panose="02020603050405020304" pitchFamily="18" charset="0"/>
                </a:rPr>
                <a:t>　　　　　</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只需写出步骤的序号即可</a:t>
              </a:r>
              <a:r>
                <a:rPr lang="en-US" altLang="zh-CN" dirty="0" smtClean="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3152314918"/>
                </p:ext>
              </p:extLst>
            </p:nvPr>
          </p:nvGraphicFramePr>
          <p:xfrm>
            <a:off x="5400997" y="4176191"/>
            <a:ext cx="11671959" cy="666434"/>
          </p:xfrm>
          <a:graphic>
            <a:graphicData uri="http://schemas.openxmlformats.org/presentationml/2006/ole">
              <mc:AlternateContent xmlns:mc="http://schemas.openxmlformats.org/markup-compatibility/2006">
                <mc:Choice xmlns:v="urn:schemas-microsoft-com:vml" Requires="v">
                  <p:oleObj spid="_x0000_s2063" name="文档" r:id="rId4" imgW="3826872" imgH="218503" progId="Word.Document.12">
                    <p:embed/>
                  </p:oleObj>
                </mc:Choice>
                <mc:Fallback>
                  <p:oleObj name="文档" r:id="rId4" imgW="3826872" imgH="218503" progId="Word.Document.12">
                    <p:embed/>
                    <p:pic>
                      <p:nvPicPr>
                        <p:cNvPr id="0" name=""/>
                        <p:cNvPicPr/>
                        <p:nvPr/>
                      </p:nvPicPr>
                      <p:blipFill>
                        <a:blip r:embed="rId5"/>
                        <a:stretch>
                          <a:fillRect/>
                        </a:stretch>
                      </p:blipFill>
                      <p:spPr>
                        <a:xfrm>
                          <a:off x="5400997" y="4176191"/>
                          <a:ext cx="11671959" cy="666434"/>
                        </a:xfrm>
                        <a:prstGeom prst="rect">
                          <a:avLst/>
                        </a:prstGeom>
                      </p:spPr>
                    </p:pic>
                  </p:oleObj>
                </mc:Fallback>
              </mc:AlternateContent>
            </a:graphicData>
          </a:graphic>
        </p:graphicFrame>
      </p:grpSp>
      <p:sp>
        <p:nvSpPr>
          <p:cNvPr id="9" name="矩形 8"/>
          <p:cNvSpPr>
            <a:spLocks noChangeAspect="1"/>
          </p:cNvSpPr>
          <p:nvPr/>
        </p:nvSpPr>
        <p:spPr>
          <a:xfrm>
            <a:off x="361950" y="5239894"/>
            <a:ext cx="10807700" cy="1217641"/>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由随机模拟方法的步骤易知</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该试验的正确步骤是</a:t>
            </a:r>
            <a:r>
              <a:rPr lang="zh-CN" altLang="zh-CN" dirty="0">
                <a:solidFill>
                  <a:srgbClr val="000000"/>
                </a:solidFill>
                <a:latin typeface="NEU-BZ-S92"/>
                <a:ea typeface="宋体" panose="02010600030101010101" pitchFamily="2" charset="-122"/>
                <a:cs typeface="宋体" panose="02010600030101010101" pitchFamily="2" charset="-122"/>
              </a:rPr>
              <a:t>②③①④</a:t>
            </a:r>
            <a:r>
              <a:rPr lang="en-US" altLang="zh-CN" i="1" dirty="0" smtClean="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
        <p:nvSpPr>
          <p:cNvPr id="10" name="矩形 9"/>
          <p:cNvSpPr>
            <a:spLocks noChangeAspect="1"/>
          </p:cNvSpPr>
          <p:nvPr/>
        </p:nvSpPr>
        <p:spPr>
          <a:xfrm>
            <a:off x="2766261" y="5728999"/>
            <a:ext cx="2999539" cy="683264"/>
          </a:xfrm>
          <a:prstGeom prst="rect">
            <a:avLst/>
          </a:prstGeom>
        </p:spPr>
        <p:txBody>
          <a:bodyPr wrap="none">
            <a:spAutoFit/>
          </a:bodyPr>
          <a:lstStyle/>
          <a:p>
            <a:pPr>
              <a:lnSpc>
                <a:spcPct val="120000"/>
              </a:lnSpc>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latin typeface="NEU-BZ-S92"/>
                <a:ea typeface="宋体" panose="02010600030101010101" pitchFamily="2" charset="-122"/>
                <a:cs typeface="宋体" panose="02010600030101010101" pitchFamily="2" charset="-122"/>
              </a:rPr>
              <a:t>②③①</a:t>
            </a:r>
            <a:r>
              <a:rPr lang="zh-CN" altLang="zh-CN" dirty="0" smtClean="0">
                <a:solidFill>
                  <a:srgbClr val="000000"/>
                </a:solidFill>
                <a:latin typeface="NEU-BZ-S92"/>
                <a:ea typeface="宋体" panose="02010600030101010101" pitchFamily="2" charset="-122"/>
                <a:cs typeface="宋体" panose="02010600030101010101" pitchFamily="2" charset="-122"/>
              </a:rPr>
              <a:t>④</a:t>
            </a:r>
            <a:r>
              <a:rPr lang="en-US" altLang="zh-CN" dirty="0" smtClean="0">
                <a:solidFill>
                  <a:srgbClr val="000000"/>
                </a:solidFill>
                <a:latin typeface="NEU-BZ-S92"/>
                <a:ea typeface="宋体" panose="02010600030101010101" pitchFamily="2" charset="-122"/>
                <a:cs typeface="宋体" panose="02010600030101010101" pitchFamily="2" charset="-122"/>
              </a:rPr>
              <a:t> </a:t>
            </a:r>
            <a:endParaRPr lang="zh-CN" altLang="en-US" dirty="0"/>
          </a:p>
        </p:txBody>
      </p:sp>
    </p:spTree>
    <p:extLst>
      <p:ext uri="{BB962C8B-B14F-4D97-AF65-F5344CB8AC3E}">
        <p14:creationId xmlns:p14="http://schemas.microsoft.com/office/powerpoint/2010/main" val="1206088173"/>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horizont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randombar(horizontal)">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燕尾形 2"/>
          <p:cNvSpPr/>
          <p:nvPr/>
        </p:nvSpPr>
        <p:spPr>
          <a:xfrm>
            <a:off x="808363" y="719807"/>
            <a:ext cx="9488422"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zh-CN" dirty="0"/>
              <a:t>探究</a:t>
            </a:r>
            <a:r>
              <a:rPr lang="zh-CN" altLang="zh-CN" dirty="0" smtClean="0"/>
              <a:t>二</a:t>
            </a:r>
            <a:r>
              <a:rPr lang="en-US" altLang="zh-CN" dirty="0" smtClean="0"/>
              <a:t>  </a:t>
            </a:r>
            <a:r>
              <a:rPr lang="zh-CN" altLang="zh-CN" dirty="0" smtClean="0"/>
              <a:t>用</a:t>
            </a:r>
            <a:r>
              <a:rPr lang="zh-CN" altLang="zh-CN" dirty="0"/>
              <a:t>随机模拟</a:t>
            </a:r>
            <a:r>
              <a:rPr lang="zh-CN" altLang="zh-CN" dirty="0" smtClean="0"/>
              <a:t>估计较</a:t>
            </a:r>
            <a:r>
              <a:rPr lang="zh-CN" altLang="zh-CN" dirty="0"/>
              <a:t>复杂事件的概率</a:t>
            </a:r>
          </a:p>
        </p:txBody>
      </p:sp>
      <p:sp>
        <p:nvSpPr>
          <p:cNvPr id="4" name="矩形 3"/>
          <p:cNvSpPr>
            <a:spLocks noChangeAspect="1"/>
          </p:cNvSpPr>
          <p:nvPr/>
        </p:nvSpPr>
        <p:spPr>
          <a:xfrm>
            <a:off x="361950" y="1194580"/>
            <a:ext cx="10807700" cy="5501891"/>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【例</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种植某种树苗</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成活率为</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9,</a:t>
            </a:r>
            <a:r>
              <a:rPr lang="zh-CN" altLang="zh-CN" dirty="0">
                <a:solidFill>
                  <a:srgbClr val="000000"/>
                </a:solidFill>
                <a:ea typeface="宋体" panose="02010600030101010101" pitchFamily="2" charset="-122"/>
                <a:cs typeface="Times New Roman" panose="02020603050405020304" pitchFamily="18" charset="0"/>
              </a:rPr>
              <a:t>请采用随机模拟的方法估计该树苗种植</a:t>
            </a:r>
            <a:r>
              <a:rPr lang="en-US" altLang="zh-CN" dirty="0">
                <a:solidFill>
                  <a:srgbClr val="000000"/>
                </a:solidFill>
                <a:ea typeface="宋体" panose="02010600030101010101" pitchFamily="2" charset="-122"/>
                <a:cs typeface="Times New Roman" panose="02020603050405020304" pitchFamily="18" charset="0"/>
              </a:rPr>
              <a:t>5</a:t>
            </a:r>
            <a:r>
              <a:rPr lang="zh-CN" altLang="zh-CN" dirty="0">
                <a:solidFill>
                  <a:srgbClr val="000000"/>
                </a:solidFill>
                <a:ea typeface="宋体" panose="02010600030101010101" pitchFamily="2" charset="-122"/>
                <a:cs typeface="Times New Roman" panose="02020603050405020304" pitchFamily="18" charset="0"/>
              </a:rPr>
              <a:t>棵恰好</a:t>
            </a: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宋体" panose="02010600030101010101" pitchFamily="2" charset="-122"/>
                <a:cs typeface="Times New Roman" panose="02020603050405020304" pitchFamily="18" charset="0"/>
              </a:rPr>
              <a:t>棵成活的概率</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写出模拟试验的过程</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并求出所求概率</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分析</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用随机模拟</a:t>
            </a:r>
            <a:r>
              <a:rPr lang="zh-CN" altLang="zh-CN" dirty="0" smtClean="0">
                <a:solidFill>
                  <a:srgbClr val="000000"/>
                </a:solidFill>
                <a:ea typeface="楷体" panose="02010609060101010101" pitchFamily="49" charset="-122"/>
                <a:cs typeface="Times New Roman" panose="02020603050405020304" pitchFamily="18" charset="0"/>
              </a:rPr>
              <a:t>估计较</a:t>
            </a:r>
            <a:r>
              <a:rPr lang="zh-CN" altLang="zh-CN" dirty="0">
                <a:solidFill>
                  <a:srgbClr val="000000"/>
                </a:solidFill>
                <a:ea typeface="楷体" panose="02010609060101010101" pitchFamily="49" charset="-122"/>
                <a:cs typeface="Times New Roman" panose="02020603050405020304" pitchFamily="18" charset="0"/>
              </a:rPr>
              <a:t>复杂事件的概率时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先合理设计随机数的产生</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再根据频率公式计算</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解</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先由计算器或计算机产生</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9</a:t>
            </a:r>
            <a:r>
              <a:rPr lang="zh-CN" altLang="zh-CN" dirty="0">
                <a:solidFill>
                  <a:srgbClr val="000000"/>
                </a:solidFill>
                <a:ea typeface="楷体" panose="02010609060101010101" pitchFamily="49" charset="-122"/>
                <a:cs typeface="Times New Roman" panose="02020603050405020304" pitchFamily="18" charset="0"/>
              </a:rPr>
              <a:t>之间的整数随机数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指定</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9</a:t>
            </a:r>
            <a:r>
              <a:rPr lang="zh-CN" altLang="zh-CN" dirty="0">
                <a:solidFill>
                  <a:srgbClr val="000000"/>
                </a:solidFill>
                <a:ea typeface="楷体" panose="02010609060101010101" pitchFamily="49" charset="-122"/>
                <a:cs typeface="Times New Roman" panose="02020603050405020304" pitchFamily="18" charset="0"/>
              </a:rPr>
              <a:t>的数字代表成活</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代表不成活</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表示这种树苗的成活率为</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9</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以每</a:t>
            </a:r>
            <a:r>
              <a:rPr lang="en-US" altLang="zh-CN" dirty="0">
                <a:solidFill>
                  <a:srgbClr val="000000"/>
                </a:solidFill>
                <a:ea typeface="宋体" panose="02010600030101010101" pitchFamily="2" charset="-122"/>
                <a:cs typeface="Times New Roman" panose="02020603050405020304" pitchFamily="18" charset="0"/>
              </a:rPr>
              <a:t>5</a:t>
            </a:r>
            <a:r>
              <a:rPr lang="zh-CN" altLang="zh-CN" dirty="0">
                <a:solidFill>
                  <a:srgbClr val="000000"/>
                </a:solidFill>
                <a:ea typeface="楷体" panose="02010609060101010101" pitchFamily="49" charset="-122"/>
                <a:cs typeface="Times New Roman" panose="02020603050405020304" pitchFamily="18" charset="0"/>
              </a:rPr>
              <a:t>个随机数为一组代表种植</a:t>
            </a:r>
            <a:r>
              <a:rPr lang="en-US" altLang="zh-CN" dirty="0">
                <a:solidFill>
                  <a:srgbClr val="000000"/>
                </a:solidFill>
                <a:ea typeface="宋体" panose="02010600030101010101" pitchFamily="2" charset="-122"/>
                <a:cs typeface="Times New Roman" panose="02020603050405020304" pitchFamily="18" charset="0"/>
              </a:rPr>
              <a:t>5</a:t>
            </a:r>
            <a:r>
              <a:rPr lang="zh-CN" altLang="zh-CN" dirty="0">
                <a:solidFill>
                  <a:srgbClr val="000000"/>
                </a:solidFill>
                <a:ea typeface="楷体" panose="02010609060101010101" pitchFamily="49" charset="-122"/>
                <a:cs typeface="Times New Roman" panose="02020603050405020304" pitchFamily="18" charset="0"/>
              </a:rPr>
              <a:t>棵的结果</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经随机模拟产生随机数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例如</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产生如下</a:t>
            </a:r>
            <a:r>
              <a:rPr lang="en-US" altLang="zh-CN" dirty="0">
                <a:solidFill>
                  <a:srgbClr val="000000"/>
                </a:solidFill>
                <a:ea typeface="宋体" panose="02010600030101010101" pitchFamily="2" charset="-122"/>
                <a:cs typeface="Times New Roman" panose="02020603050405020304" pitchFamily="18" charset="0"/>
              </a:rPr>
              <a:t>30</a:t>
            </a:r>
            <a:r>
              <a:rPr lang="zh-CN" altLang="zh-CN" dirty="0">
                <a:solidFill>
                  <a:srgbClr val="000000"/>
                </a:solidFill>
                <a:ea typeface="楷体" panose="02010609060101010101" pitchFamily="49" charset="-122"/>
                <a:cs typeface="Times New Roman" panose="02020603050405020304" pitchFamily="18" charset="0"/>
              </a:rPr>
              <a:t>组随机数</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584994891"/>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randombar(horizontal)">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randombar(horizontal)">
                                      <p:cBhvr>
                                        <p:cTn id="12"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361950" y="948657"/>
            <a:ext cx="18151166" cy="4801550"/>
            <a:chOff x="361950" y="886809"/>
            <a:chExt cx="18151166" cy="4801550"/>
          </a:xfrm>
        </p:grpSpPr>
        <p:sp>
          <p:nvSpPr>
            <p:cNvPr id="2" name="矩形 1"/>
            <p:cNvSpPr>
              <a:spLocks noChangeAspect="1"/>
            </p:cNvSpPr>
            <p:nvPr/>
          </p:nvSpPr>
          <p:spPr>
            <a:xfrm>
              <a:off x="361950" y="886809"/>
              <a:ext cx="10807700" cy="4763227"/>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69801</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66097</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77124</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22961</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74235</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31516</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29747</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24945</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57558</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65258</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74130</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23224</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37445</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44344</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33315</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27120</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21782</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58555</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61017</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45241</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44134</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92201</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70362</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83005</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94976</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56173</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34783</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16624</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30344</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01117</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楷体" panose="02010609060101010101" pitchFamily="49" charset="-122"/>
                  <a:cs typeface="Times New Roman" panose="02020603050405020304" pitchFamily="18" charset="0"/>
                </a:rPr>
                <a:t>这就相当于做了</a:t>
              </a:r>
              <a:r>
                <a:rPr lang="en-US" altLang="zh-CN" dirty="0">
                  <a:solidFill>
                    <a:srgbClr val="000000"/>
                  </a:solidFill>
                  <a:ea typeface="宋体" panose="02010600030101010101" pitchFamily="2" charset="-122"/>
                  <a:cs typeface="Times New Roman" panose="02020603050405020304" pitchFamily="18" charset="0"/>
                </a:rPr>
                <a:t>30</a:t>
              </a:r>
              <a:r>
                <a:rPr lang="zh-CN" altLang="zh-CN" dirty="0">
                  <a:solidFill>
                    <a:srgbClr val="000000"/>
                  </a:solidFill>
                  <a:ea typeface="楷体" panose="02010609060101010101" pitchFamily="49" charset="-122"/>
                  <a:cs typeface="Times New Roman" panose="02020603050405020304" pitchFamily="18" charset="0"/>
                </a:rPr>
                <a:t>次重复试验</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在这些数组中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若恰有一个</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则表示恰有</a:t>
              </a: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楷体" panose="02010609060101010101" pitchFamily="49" charset="-122"/>
                  <a:cs typeface="Times New Roman" panose="02020603050405020304" pitchFamily="18" charset="0"/>
                </a:rPr>
                <a:t>棵成活</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共有</a:t>
              </a:r>
              <a:r>
                <a:rPr lang="en-US" altLang="zh-CN" dirty="0">
                  <a:solidFill>
                    <a:srgbClr val="000000"/>
                  </a:solidFill>
                  <a:ea typeface="宋体" panose="02010600030101010101" pitchFamily="2" charset="-122"/>
                  <a:cs typeface="Times New Roman" panose="02020603050405020304" pitchFamily="18" charset="0"/>
                </a:rPr>
                <a:t>9</a:t>
              </a:r>
              <a:r>
                <a:rPr lang="zh-CN" altLang="zh-CN" dirty="0">
                  <a:solidFill>
                    <a:srgbClr val="000000"/>
                  </a:solidFill>
                  <a:ea typeface="楷体" panose="02010609060101010101" pitchFamily="49" charset="-122"/>
                  <a:cs typeface="Times New Roman" panose="02020603050405020304" pitchFamily="18" charset="0"/>
                </a:rPr>
                <a:t>组这样的数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于是我们得到种植</a:t>
              </a:r>
              <a:r>
                <a:rPr lang="en-US" altLang="zh-CN" dirty="0">
                  <a:solidFill>
                    <a:srgbClr val="000000"/>
                  </a:solidFill>
                  <a:ea typeface="宋体" panose="02010600030101010101" pitchFamily="2" charset="-122"/>
                  <a:cs typeface="Times New Roman" panose="02020603050405020304" pitchFamily="18" charset="0"/>
                </a:rPr>
                <a:t>5</a:t>
              </a:r>
              <a:r>
                <a:rPr lang="zh-CN" altLang="zh-CN" dirty="0">
                  <a:solidFill>
                    <a:srgbClr val="000000"/>
                  </a:solidFill>
                  <a:ea typeface="楷体" panose="02010609060101010101" pitchFamily="49" charset="-122"/>
                  <a:cs typeface="Times New Roman" panose="02020603050405020304" pitchFamily="18" charset="0"/>
                </a:rPr>
                <a:t>棵这种树苗恰有</a:t>
              </a: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楷体" panose="02010609060101010101" pitchFamily="49" charset="-122"/>
                  <a:cs typeface="Times New Roman" panose="02020603050405020304" pitchFamily="18" charset="0"/>
                </a:rPr>
                <a:t>棵成活的概率近似为</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nvGraphicFramePr>
          <p:xfrm>
            <a:off x="6841157" y="4891489"/>
            <a:ext cx="11671959" cy="796870"/>
          </p:xfrm>
          <a:graphic>
            <a:graphicData uri="http://schemas.openxmlformats.org/presentationml/2006/ole">
              <mc:AlternateContent xmlns:mc="http://schemas.openxmlformats.org/markup-compatibility/2006">
                <mc:Choice xmlns:v="urn:schemas-microsoft-com:vml" Requires="v">
                  <p:oleObj spid="_x0000_s5132" name="文档" r:id="rId4" imgW="3826872" imgH="261269" progId="Word.Document.12">
                    <p:embed/>
                  </p:oleObj>
                </mc:Choice>
                <mc:Fallback>
                  <p:oleObj name="文档" r:id="rId4" imgW="3826872" imgH="261269" progId="Word.Document.12">
                    <p:embed/>
                    <p:pic>
                      <p:nvPicPr>
                        <p:cNvPr id="0" name=""/>
                        <p:cNvPicPr/>
                        <p:nvPr/>
                      </p:nvPicPr>
                      <p:blipFill>
                        <a:blip r:embed="rId5"/>
                        <a:stretch>
                          <a:fillRect/>
                        </a:stretch>
                      </p:blipFill>
                      <p:spPr>
                        <a:xfrm>
                          <a:off x="6841157" y="4891489"/>
                          <a:ext cx="11671959" cy="796870"/>
                        </a:xfrm>
                        <a:prstGeom prst="rect">
                          <a:avLst/>
                        </a:prstGeom>
                      </p:spPr>
                    </p:pic>
                  </p:oleObj>
                </mc:Fallback>
              </mc:AlternateContent>
            </a:graphicData>
          </a:graphic>
        </p:graphicFrame>
      </p:grpSp>
    </p:spTree>
    <p:extLst>
      <p:ext uri="{BB962C8B-B14F-4D97-AF65-F5344CB8AC3E}">
        <p14:creationId xmlns:p14="http://schemas.microsoft.com/office/powerpoint/2010/main" val="8656367"/>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延伸探究H.eps" descr="id:2147490832;FounderCES"/>
          <p:cNvPicPr/>
          <p:nvPr/>
        </p:nvPicPr>
        <p:blipFill>
          <a:blip r:embed="rId2"/>
          <a:stretch>
            <a:fillRect/>
          </a:stretch>
        </p:blipFill>
        <p:spPr>
          <a:xfrm>
            <a:off x="4317062" y="1007839"/>
            <a:ext cx="2524095" cy="460328"/>
          </a:xfrm>
          <a:prstGeom prst="rect">
            <a:avLst/>
          </a:prstGeom>
        </p:spPr>
      </p:pic>
      <p:sp>
        <p:nvSpPr>
          <p:cNvPr id="3" name="矩形 2"/>
          <p:cNvSpPr>
            <a:spLocks noChangeAspect="1"/>
          </p:cNvSpPr>
          <p:nvPr/>
        </p:nvSpPr>
        <p:spPr>
          <a:xfrm>
            <a:off x="361950" y="1550594"/>
            <a:ext cx="10807700" cy="3637919"/>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在本例中若树苗成活率为</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8,</a:t>
            </a:r>
            <a:r>
              <a:rPr lang="zh-CN" altLang="zh-CN" dirty="0">
                <a:solidFill>
                  <a:srgbClr val="000000"/>
                </a:solidFill>
                <a:ea typeface="宋体" panose="02010600030101010101" pitchFamily="2" charset="-122"/>
                <a:cs typeface="Times New Roman" panose="02020603050405020304" pitchFamily="18" charset="0"/>
              </a:rPr>
              <a:t>则</a:t>
            </a:r>
            <a:r>
              <a:rPr lang="en-US" altLang="zh-CN" dirty="0">
                <a:solidFill>
                  <a:srgbClr val="000000"/>
                </a:solidFill>
                <a:ea typeface="宋体" panose="02010600030101010101" pitchFamily="2" charset="-122"/>
                <a:cs typeface="Times New Roman" panose="02020603050405020304" pitchFamily="18" charset="0"/>
              </a:rPr>
              <a:t>5</a:t>
            </a:r>
            <a:r>
              <a:rPr lang="zh-CN" altLang="zh-CN" dirty="0">
                <a:solidFill>
                  <a:srgbClr val="000000"/>
                </a:solidFill>
                <a:ea typeface="宋体" panose="02010600030101010101" pitchFamily="2" charset="-122"/>
                <a:cs typeface="Times New Roman" panose="02020603050405020304" pitchFamily="18" charset="0"/>
              </a:rPr>
              <a:t>棵树苗至少有</a:t>
            </a: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宋体" panose="02010600030101010101" pitchFamily="2" charset="-122"/>
                <a:cs typeface="Times New Roman" panose="02020603050405020304" pitchFamily="18" charset="0"/>
              </a:rPr>
              <a:t>棵成活的概率是多少</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解</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利用计算器或计算机可以产生</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9</a:t>
            </a:r>
            <a:r>
              <a:rPr lang="zh-CN" altLang="zh-CN" dirty="0">
                <a:solidFill>
                  <a:srgbClr val="000000"/>
                </a:solidFill>
                <a:ea typeface="楷体" panose="02010609060101010101" pitchFamily="49" charset="-122"/>
                <a:cs typeface="Times New Roman" panose="02020603050405020304" pitchFamily="18" charset="0"/>
              </a:rPr>
              <a:t>之间的整数随机数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我们用</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和</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代表不成活</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到</a:t>
            </a:r>
            <a:r>
              <a:rPr lang="en-US" altLang="zh-CN" dirty="0">
                <a:solidFill>
                  <a:srgbClr val="000000"/>
                </a:solidFill>
                <a:ea typeface="宋体" panose="02010600030101010101" pitchFamily="2" charset="-122"/>
                <a:cs typeface="Times New Roman" panose="02020603050405020304" pitchFamily="18" charset="0"/>
              </a:rPr>
              <a:t>9</a:t>
            </a:r>
            <a:r>
              <a:rPr lang="zh-CN" altLang="zh-CN" dirty="0">
                <a:solidFill>
                  <a:srgbClr val="000000"/>
                </a:solidFill>
                <a:ea typeface="楷体" panose="02010609060101010101" pitchFamily="49" charset="-122"/>
                <a:cs typeface="Times New Roman" panose="02020603050405020304" pitchFamily="18" charset="0"/>
              </a:rPr>
              <a:t>的数字代表成活</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这样可以体现成活率是</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8</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因为是种植</a:t>
            </a:r>
            <a:r>
              <a:rPr lang="en-US" altLang="zh-CN" dirty="0">
                <a:solidFill>
                  <a:srgbClr val="000000"/>
                </a:solidFill>
                <a:ea typeface="宋体" panose="02010600030101010101" pitchFamily="2" charset="-122"/>
                <a:cs typeface="Times New Roman" panose="02020603050405020304" pitchFamily="18" charset="0"/>
              </a:rPr>
              <a:t>5</a:t>
            </a:r>
            <a:r>
              <a:rPr lang="zh-CN" altLang="zh-CN" dirty="0">
                <a:solidFill>
                  <a:srgbClr val="000000"/>
                </a:solidFill>
                <a:ea typeface="楷体" panose="02010609060101010101" pitchFamily="49" charset="-122"/>
                <a:cs typeface="Times New Roman" panose="02020603050405020304" pitchFamily="18" charset="0"/>
              </a:rPr>
              <a:t>棵</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所以每</a:t>
            </a:r>
            <a:r>
              <a:rPr lang="en-US" altLang="zh-CN" dirty="0">
                <a:solidFill>
                  <a:srgbClr val="000000"/>
                </a:solidFill>
                <a:ea typeface="宋体" panose="02010600030101010101" pitchFamily="2" charset="-122"/>
                <a:cs typeface="Times New Roman" panose="02020603050405020304" pitchFamily="18" charset="0"/>
              </a:rPr>
              <a:t>5</a:t>
            </a:r>
            <a:r>
              <a:rPr lang="zh-CN" altLang="zh-CN" dirty="0">
                <a:solidFill>
                  <a:srgbClr val="000000"/>
                </a:solidFill>
                <a:ea typeface="楷体" panose="02010609060101010101" pitchFamily="49" charset="-122"/>
                <a:cs typeface="Times New Roman" panose="02020603050405020304" pitchFamily="18" charset="0"/>
              </a:rPr>
              <a:t>个随机数作为一组</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例如</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产生</a:t>
            </a:r>
            <a:r>
              <a:rPr lang="en-US" altLang="zh-CN" dirty="0">
                <a:solidFill>
                  <a:srgbClr val="000000"/>
                </a:solidFill>
                <a:ea typeface="宋体" panose="02010600030101010101" pitchFamily="2" charset="-122"/>
                <a:cs typeface="Times New Roman" panose="02020603050405020304" pitchFamily="18" charset="0"/>
              </a:rPr>
              <a:t>20</a:t>
            </a:r>
            <a:r>
              <a:rPr lang="zh-CN" altLang="zh-CN" dirty="0">
                <a:solidFill>
                  <a:srgbClr val="000000"/>
                </a:solidFill>
                <a:ea typeface="楷体" panose="02010609060101010101" pitchFamily="49" charset="-122"/>
                <a:cs typeface="Times New Roman" panose="02020603050405020304" pitchFamily="18" charset="0"/>
              </a:rPr>
              <a:t>组随机数</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905054632"/>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randombar(horizontal)">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955495"/>
            <a:ext cx="10807700" cy="4780476"/>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23065</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37052</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89021</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34435</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77321</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33674</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01456</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12346</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22789</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02458</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99274</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22654</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18435</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90378</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39202</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17437</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63021</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67310</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20165</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12328</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楷体" panose="02010609060101010101" pitchFamily="49" charset="-122"/>
                <a:cs typeface="Times New Roman" panose="02020603050405020304" pitchFamily="18" charset="0"/>
              </a:rPr>
              <a:t>这就相当于做了</a:t>
            </a:r>
            <a:r>
              <a:rPr lang="en-US" altLang="zh-CN" dirty="0">
                <a:solidFill>
                  <a:srgbClr val="000000"/>
                </a:solidFill>
                <a:ea typeface="宋体" panose="02010600030101010101" pitchFamily="2" charset="-122"/>
                <a:cs typeface="Times New Roman" panose="02020603050405020304" pitchFamily="18" charset="0"/>
              </a:rPr>
              <a:t>20</a:t>
            </a:r>
            <a:r>
              <a:rPr lang="zh-CN" altLang="zh-CN" dirty="0">
                <a:solidFill>
                  <a:srgbClr val="000000"/>
                </a:solidFill>
                <a:ea typeface="楷体" panose="02010609060101010101" pitchFamily="49" charset="-122"/>
                <a:cs typeface="Times New Roman" panose="02020603050405020304" pitchFamily="18" charset="0"/>
              </a:rPr>
              <a:t>次重复试验</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在这些数组中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若至多有一个是</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或</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的数组</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则表示至少有</a:t>
            </a: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楷体" panose="02010609060101010101" pitchFamily="49" charset="-122"/>
                <a:cs typeface="Times New Roman" panose="02020603050405020304" pitchFamily="18" charset="0"/>
              </a:rPr>
              <a:t>棵成活</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共有</a:t>
            </a:r>
            <a:r>
              <a:rPr lang="en-US" altLang="zh-CN" dirty="0">
                <a:solidFill>
                  <a:srgbClr val="000000"/>
                </a:solidFill>
                <a:ea typeface="宋体" panose="02010600030101010101" pitchFamily="2" charset="-122"/>
                <a:cs typeface="Times New Roman" panose="02020603050405020304" pitchFamily="18" charset="0"/>
              </a:rPr>
              <a:t>15</a:t>
            </a:r>
            <a:r>
              <a:rPr lang="zh-CN" altLang="zh-CN" dirty="0">
                <a:solidFill>
                  <a:srgbClr val="000000"/>
                </a:solidFill>
                <a:ea typeface="楷体" panose="02010609060101010101" pitchFamily="49" charset="-122"/>
                <a:cs typeface="Times New Roman" panose="02020603050405020304" pitchFamily="18" charset="0"/>
              </a:rPr>
              <a:t>组</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于是我们得到种植</a:t>
            </a:r>
            <a:r>
              <a:rPr lang="en-US" altLang="zh-CN" dirty="0">
                <a:solidFill>
                  <a:srgbClr val="000000"/>
                </a:solidFill>
                <a:ea typeface="宋体" panose="02010600030101010101" pitchFamily="2" charset="-122"/>
                <a:cs typeface="Times New Roman" panose="02020603050405020304" pitchFamily="18" charset="0"/>
              </a:rPr>
              <a:t>5</a:t>
            </a:r>
            <a:r>
              <a:rPr lang="zh-CN" altLang="zh-CN" dirty="0">
                <a:solidFill>
                  <a:srgbClr val="000000"/>
                </a:solidFill>
                <a:ea typeface="楷体" panose="02010609060101010101" pitchFamily="49" charset="-122"/>
                <a:cs typeface="Times New Roman" panose="02020603050405020304" pitchFamily="18" charset="0"/>
              </a:rPr>
              <a:t>棵这种树苗至少有</a:t>
            </a: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楷体" panose="02010609060101010101" pitchFamily="49" charset="-122"/>
                <a:cs typeface="Times New Roman" panose="02020603050405020304" pitchFamily="18" charset="0"/>
              </a:rPr>
              <a:t>棵成活的概率近似为</a:t>
            </a:r>
            <a:r>
              <a:rPr lang="en-US" altLang="zh-CN" dirty="0">
                <a:solidFill>
                  <a:srgbClr val="000000"/>
                </a:solidFill>
                <a:ea typeface="宋体" panose="02010600030101010101" pitchFamily="2" charset="-122"/>
                <a:cs typeface="Times New Roman" panose="02020603050405020304" pitchFamily="18" charset="0"/>
              </a:rPr>
              <a:t>15</a:t>
            </a:r>
            <a:r>
              <a:rPr lang="en-US" altLang="zh-CN" i="1"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75</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460017724"/>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361950" y="781983"/>
            <a:ext cx="10807700" cy="5338424"/>
            <a:chOff x="361950" y="762319"/>
            <a:chExt cx="10807700" cy="5338424"/>
          </a:xfrm>
        </p:grpSpPr>
        <p:sp>
          <p:nvSpPr>
            <p:cNvPr id="3" name="矩形 2"/>
            <p:cNvSpPr>
              <a:spLocks noChangeAspect="1"/>
            </p:cNvSpPr>
            <p:nvPr/>
          </p:nvSpPr>
          <p:spPr>
            <a:xfrm>
              <a:off x="361950" y="1320267"/>
              <a:ext cx="10807700" cy="4780476"/>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ea typeface="仿宋" panose="02010609060101010101" pitchFamily="49" charset="-122"/>
                  <a:cs typeface="Times New Roman" panose="02020603050405020304" pitchFamily="18" charset="0"/>
                </a:rPr>
                <a:t>较复杂模拟试验的设计及产生随机数的方法</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仿宋" panose="02010609060101010101" pitchFamily="49" charset="-122"/>
                  <a:cs typeface="Times New Roman" panose="02020603050405020304" pitchFamily="18" charset="0"/>
                </a:rPr>
                <a:t>较复杂模拟试验的设计</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latin typeface="NEU-BZ-S92"/>
                  <a:ea typeface="宋体" panose="02010600030101010101" pitchFamily="2" charset="-122"/>
                  <a:cs typeface="宋体" panose="02010600030101010101" pitchFamily="2" charset="-122"/>
                </a:rPr>
                <a:t>①</a:t>
              </a:r>
              <a:r>
                <a:rPr lang="zh-CN" altLang="zh-CN" dirty="0">
                  <a:solidFill>
                    <a:srgbClr val="000000"/>
                  </a:solidFill>
                  <a:ea typeface="仿宋" panose="02010609060101010101" pitchFamily="49" charset="-122"/>
                  <a:cs typeface="Times New Roman" panose="02020603050405020304" pitchFamily="18" charset="0"/>
                </a:rPr>
                <a:t>全面理解题意</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根据题目本身的特点来设计试验</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应把设计试验的重点放在确定哪个或哪些数字代表哪些试验结果上</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并确保符合题意与题目要求</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latin typeface="NEU-BZ-S92"/>
                  <a:ea typeface="宋体" panose="02010600030101010101" pitchFamily="2" charset="-122"/>
                  <a:cs typeface="宋体" panose="02010600030101010101" pitchFamily="2" charset="-122"/>
                </a:rPr>
                <a:t>②</a:t>
              </a:r>
              <a:r>
                <a:rPr lang="zh-CN" altLang="zh-CN" dirty="0">
                  <a:solidFill>
                    <a:srgbClr val="000000"/>
                  </a:solidFill>
                  <a:ea typeface="仿宋" panose="02010609060101010101" pitchFamily="49" charset="-122"/>
                  <a:cs typeface="Times New Roman" panose="02020603050405020304" pitchFamily="18" charset="0"/>
                </a:rPr>
                <a:t>在试验方案正确的前提下</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要使模拟试验所得的估计概率值与实际概率值更接近</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则需使试验次数尽可能地多</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随机数的产生更切合实际</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pic>
          <p:nvPicPr>
            <p:cNvPr id="4" name="反思感悟H.eps" descr="id:2147490797;FounderCES"/>
            <p:cNvPicPr/>
            <p:nvPr/>
          </p:nvPicPr>
          <p:blipFill>
            <a:blip r:embed="rId2"/>
            <a:stretch>
              <a:fillRect/>
            </a:stretch>
          </p:blipFill>
          <p:spPr>
            <a:xfrm>
              <a:off x="361950" y="762319"/>
              <a:ext cx="2259558" cy="531552"/>
            </a:xfrm>
            <a:prstGeom prst="rect">
              <a:avLst/>
            </a:prstGeom>
          </p:spPr>
        </p:pic>
      </p:grpSp>
    </p:spTree>
    <p:extLst>
      <p:ext uri="{BB962C8B-B14F-4D97-AF65-F5344CB8AC3E}">
        <p14:creationId xmlns:p14="http://schemas.microsoft.com/office/powerpoint/2010/main" val="894311018"/>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266375"/>
            <a:ext cx="10807700" cy="3581365"/>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仿宋" panose="02010609060101010101" pitchFamily="49" charset="-122"/>
                <a:cs typeface="Times New Roman" panose="02020603050405020304" pitchFamily="18" charset="0"/>
              </a:rPr>
              <a:t>产生随机数的方法</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latin typeface="NEU-BZ-S92"/>
                <a:ea typeface="宋体" panose="02010600030101010101" pitchFamily="2" charset="-122"/>
                <a:cs typeface="宋体" panose="02010600030101010101" pitchFamily="2" charset="-122"/>
              </a:rPr>
              <a:t>①</a:t>
            </a:r>
            <a:r>
              <a:rPr lang="zh-CN" altLang="zh-CN" dirty="0">
                <a:solidFill>
                  <a:srgbClr val="000000"/>
                </a:solidFill>
                <a:ea typeface="仿宋" panose="02010609060101010101" pitchFamily="49" charset="-122"/>
                <a:cs typeface="Times New Roman" panose="02020603050405020304" pitchFamily="18" charset="0"/>
              </a:rPr>
              <a:t>利用计算器产生随机数</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latin typeface="NEU-BZ-S92"/>
                <a:ea typeface="宋体" panose="02010600030101010101" pitchFamily="2" charset="-122"/>
                <a:cs typeface="宋体" panose="02010600030101010101" pitchFamily="2" charset="-122"/>
              </a:rPr>
              <a:t>②</a:t>
            </a:r>
            <a:r>
              <a:rPr lang="zh-CN" altLang="zh-CN" dirty="0">
                <a:solidFill>
                  <a:srgbClr val="000000"/>
                </a:solidFill>
                <a:ea typeface="仿宋" panose="02010609060101010101" pitchFamily="49" charset="-122"/>
                <a:cs typeface="Times New Roman" panose="02020603050405020304" pitchFamily="18" charset="0"/>
              </a:rPr>
              <a:t>利用计算机软件产生随机数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例如用电子表格软件产生随机数</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仿宋" panose="02010609060101010101" pitchFamily="49" charset="-122"/>
                <a:cs typeface="Times New Roman" panose="02020603050405020304" pitchFamily="18" charset="0"/>
              </a:rPr>
              <a:t>提醒</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对于上述两种方法</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需严格按照其操作步骤与顺序来进行</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4140883381"/>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536463"/>
            <a:ext cx="10807700" cy="5973558"/>
          </a:xfrm>
          <a:prstGeom prst="rect">
            <a:avLst/>
          </a:prstGeom>
        </p:spPr>
        <p:txBody>
          <a:bodyPr>
            <a:spAutoFit/>
          </a:bodyPr>
          <a:lstStyle/>
          <a:p>
            <a:pPr>
              <a:lnSpc>
                <a:spcPts val="42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【变式训练</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已知甲、乙两支篮球队进行比赛时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甲获胜的概率为</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6,</a:t>
            </a:r>
            <a:r>
              <a:rPr lang="zh-CN" altLang="zh-CN" dirty="0">
                <a:solidFill>
                  <a:srgbClr val="000000"/>
                </a:solidFill>
                <a:ea typeface="宋体" panose="02010600030101010101" pitchFamily="2" charset="-122"/>
                <a:cs typeface="Times New Roman" panose="02020603050405020304" pitchFamily="18" charset="0"/>
              </a:rPr>
              <a:t>现采用三局两胜制举行一次比赛</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利用计算机模拟试验</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估计乙获胜的概率</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ts val="4200"/>
              </a:lnSpc>
              <a:spcAft>
                <a:spcPts val="0"/>
              </a:spcAft>
              <a:tabLst>
                <a:tab pos="1188085" algn="l"/>
                <a:tab pos="2163445" algn="l"/>
                <a:tab pos="3142615" algn="l"/>
                <a:tab pos="4190365" algn="l"/>
              </a:tabLst>
            </a:pPr>
            <a:r>
              <a:rPr lang="zh-CN" altLang="zh-CN" dirty="0">
                <a:solidFill>
                  <a:srgbClr val="000000"/>
                </a:solidFill>
                <a:ea typeface="宋体" panose="02010600030101010101" pitchFamily="2" charset="-122"/>
                <a:cs typeface="Times New Roman" panose="02020603050405020304" pitchFamily="18" charset="0"/>
              </a:rPr>
              <a:t>利用计算器或计算机生成</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9</a:t>
            </a:r>
            <a:r>
              <a:rPr lang="zh-CN" altLang="zh-CN" dirty="0">
                <a:solidFill>
                  <a:srgbClr val="000000"/>
                </a:solidFill>
                <a:ea typeface="宋体" panose="02010600030101010101" pitchFamily="2" charset="-122"/>
                <a:cs typeface="Times New Roman" panose="02020603050405020304" pitchFamily="18" charset="0"/>
              </a:rPr>
              <a:t>之间的整数随机数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用</a:t>
            </a:r>
            <a:r>
              <a:rPr lang="en-US" altLang="zh-CN" dirty="0">
                <a:solidFill>
                  <a:srgbClr val="000000"/>
                </a:solidFill>
                <a:ea typeface="宋体" panose="02010600030101010101" pitchFamily="2" charset="-122"/>
                <a:cs typeface="Times New Roman" panose="02020603050405020304" pitchFamily="18" charset="0"/>
              </a:rPr>
              <a:t>0,1,2,3,4,5</a:t>
            </a:r>
            <a:r>
              <a:rPr lang="zh-CN" altLang="zh-CN" dirty="0">
                <a:solidFill>
                  <a:srgbClr val="000000"/>
                </a:solidFill>
                <a:ea typeface="宋体" panose="02010600030101010101" pitchFamily="2" charset="-122"/>
                <a:cs typeface="Times New Roman" panose="02020603050405020304" pitchFamily="18" charset="0"/>
              </a:rPr>
              <a:t>表示甲获胜</a:t>
            </a:r>
            <a:r>
              <a:rPr lang="en-US" altLang="zh-CN" dirty="0">
                <a:solidFill>
                  <a:srgbClr val="000000"/>
                </a:solidFill>
                <a:ea typeface="宋体" panose="02010600030101010101" pitchFamily="2" charset="-122"/>
                <a:cs typeface="Times New Roman" panose="02020603050405020304" pitchFamily="18" charset="0"/>
              </a:rPr>
              <a:t>,6,7,8,9</a:t>
            </a:r>
            <a:r>
              <a:rPr lang="zh-CN" altLang="zh-CN" dirty="0">
                <a:solidFill>
                  <a:srgbClr val="000000"/>
                </a:solidFill>
                <a:ea typeface="宋体" panose="02010600030101010101" pitchFamily="2" charset="-122"/>
                <a:cs typeface="Times New Roman" panose="02020603050405020304" pitchFamily="18" charset="0"/>
              </a:rPr>
              <a:t>表示乙获胜</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这样能体现甲获胜的概率为</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6</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因为采用三局两胜制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所以每</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宋体" panose="02010600030101010101" pitchFamily="2" charset="-122"/>
                <a:cs typeface="Times New Roman" panose="02020603050405020304" pitchFamily="18" charset="0"/>
              </a:rPr>
              <a:t>个随机数作为一组</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例如</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产生</a:t>
            </a:r>
            <a:r>
              <a:rPr lang="en-US" altLang="zh-CN" dirty="0">
                <a:solidFill>
                  <a:srgbClr val="000000"/>
                </a:solidFill>
                <a:ea typeface="宋体" panose="02010600030101010101" pitchFamily="2" charset="-122"/>
                <a:cs typeface="Times New Roman" panose="02020603050405020304" pitchFamily="18" charset="0"/>
              </a:rPr>
              <a:t>30</a:t>
            </a:r>
            <a:r>
              <a:rPr lang="zh-CN" altLang="zh-CN" dirty="0">
                <a:solidFill>
                  <a:srgbClr val="000000"/>
                </a:solidFill>
                <a:ea typeface="宋体" panose="02010600030101010101" pitchFamily="2" charset="-122"/>
                <a:cs typeface="Times New Roman" panose="02020603050405020304" pitchFamily="18" charset="0"/>
              </a:rPr>
              <a:t>组随机数</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ts val="42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034</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743</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738</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636</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964</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736</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614</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698</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637</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162</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ts val="42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332</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616</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804</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560</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111</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410</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959</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774</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246</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762</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ts val="42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428</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114</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572</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042</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533</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237</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322</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707</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360</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751</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ts val="42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据此估计乙获胜的概率为</a:t>
            </a:r>
            <a:r>
              <a:rPr lang="zh-CN" altLang="zh-CN" i="1" u="sng" dirty="0">
                <a:uFill>
                  <a:solidFill>
                    <a:srgbClr val="000000"/>
                  </a:solidFill>
                </a:uFill>
                <a:ea typeface="宋体" panose="02010600030101010101" pitchFamily="2" charset="-122"/>
                <a:cs typeface="Times New Roman" panose="02020603050405020304" pitchFamily="18" charset="0"/>
              </a:rPr>
              <a:t>　　　　　</a:t>
            </a:r>
            <a:r>
              <a:rPr lang="en-US" altLang="zh-CN" i="1"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4093154928"/>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361950" y="1396328"/>
            <a:ext cx="18819558" cy="2476293"/>
            <a:chOff x="361950" y="1272632"/>
            <a:chExt cx="18819558" cy="2476293"/>
          </a:xfrm>
        </p:grpSpPr>
        <p:sp>
          <p:nvSpPr>
            <p:cNvPr id="3" name="矩形 2"/>
            <p:cNvSpPr>
              <a:spLocks noChangeAspect="1"/>
            </p:cNvSpPr>
            <p:nvPr/>
          </p:nvSpPr>
          <p:spPr>
            <a:xfrm>
              <a:off x="361950" y="1272632"/>
              <a:ext cx="10807700" cy="2399503"/>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产生</a:t>
              </a:r>
              <a:r>
                <a:rPr lang="en-US" altLang="zh-CN" dirty="0">
                  <a:solidFill>
                    <a:srgbClr val="000000"/>
                  </a:solidFill>
                  <a:ea typeface="宋体" panose="02010600030101010101" pitchFamily="2" charset="-122"/>
                  <a:cs typeface="Times New Roman" panose="02020603050405020304" pitchFamily="18" charset="0"/>
                </a:rPr>
                <a:t>30</a:t>
              </a:r>
              <a:r>
                <a:rPr lang="zh-CN" altLang="zh-CN" dirty="0">
                  <a:solidFill>
                    <a:srgbClr val="000000"/>
                  </a:solidFill>
                  <a:ea typeface="楷体" panose="02010609060101010101" pitchFamily="49" charset="-122"/>
                  <a:cs typeface="Times New Roman" panose="02020603050405020304" pitchFamily="18" charset="0"/>
                </a:rPr>
                <a:t>组随机数就相当于做了</a:t>
              </a:r>
              <a:r>
                <a:rPr lang="en-US" altLang="zh-CN" dirty="0">
                  <a:solidFill>
                    <a:srgbClr val="000000"/>
                  </a:solidFill>
                  <a:ea typeface="宋体" panose="02010600030101010101" pitchFamily="2" charset="-122"/>
                  <a:cs typeface="Times New Roman" panose="02020603050405020304" pitchFamily="18" charset="0"/>
                </a:rPr>
                <a:t>30</a:t>
              </a:r>
              <a:r>
                <a:rPr lang="zh-CN" altLang="zh-CN" dirty="0">
                  <a:solidFill>
                    <a:srgbClr val="000000"/>
                  </a:solidFill>
                  <a:ea typeface="楷体" panose="02010609060101010101" pitchFamily="49" charset="-122"/>
                  <a:cs typeface="Times New Roman" panose="02020603050405020304" pitchFamily="18" charset="0"/>
                </a:rPr>
                <a:t>次重复试验</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6,7,8,9</a:t>
              </a:r>
              <a:r>
                <a:rPr lang="zh-CN" altLang="zh-CN" dirty="0">
                  <a:solidFill>
                    <a:srgbClr val="000000"/>
                  </a:solidFill>
                  <a:ea typeface="楷体" panose="02010609060101010101" pitchFamily="49" charset="-122"/>
                  <a:cs typeface="Times New Roman" panose="02020603050405020304" pitchFamily="18" charset="0"/>
                </a:rPr>
                <a:t>中恰有</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个或</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楷体" panose="02010609060101010101" pitchFamily="49" charset="-122"/>
                  <a:cs typeface="Times New Roman" panose="02020603050405020304" pitchFamily="18" charset="0"/>
                </a:rPr>
                <a:t>个数出现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就表示乙获胜</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它们分别是</a:t>
              </a:r>
              <a:r>
                <a:rPr lang="en-US" altLang="zh-CN" dirty="0">
                  <a:solidFill>
                    <a:srgbClr val="000000"/>
                  </a:solidFill>
                  <a:ea typeface="宋体" panose="02010600030101010101" pitchFamily="2" charset="-122"/>
                  <a:cs typeface="Times New Roman" panose="02020603050405020304" pitchFamily="18" charset="0"/>
                </a:rPr>
                <a:t>738,636,964,736,698,637,616,959,774,762,707,</a:t>
              </a:r>
              <a:r>
                <a:rPr lang="zh-CN" altLang="zh-CN" dirty="0">
                  <a:solidFill>
                    <a:srgbClr val="000000"/>
                  </a:solidFill>
                  <a:ea typeface="楷体" panose="02010609060101010101" pitchFamily="49" charset="-122"/>
                  <a:cs typeface="Times New Roman" panose="02020603050405020304" pitchFamily="18" charset="0"/>
                </a:rPr>
                <a:t>共</a:t>
              </a:r>
              <a:r>
                <a:rPr lang="en-US" altLang="zh-CN" dirty="0">
                  <a:solidFill>
                    <a:srgbClr val="000000"/>
                  </a:solidFill>
                  <a:ea typeface="宋体" panose="02010600030101010101" pitchFamily="2" charset="-122"/>
                  <a:cs typeface="Times New Roman" panose="02020603050405020304" pitchFamily="18" charset="0"/>
                </a:rPr>
                <a:t>11</a:t>
              </a:r>
              <a:r>
                <a:rPr lang="zh-CN" altLang="zh-CN" dirty="0">
                  <a:solidFill>
                    <a:srgbClr val="000000"/>
                  </a:solidFill>
                  <a:ea typeface="楷体" panose="02010609060101010101" pitchFamily="49" charset="-122"/>
                  <a:cs typeface="Times New Roman" panose="02020603050405020304" pitchFamily="18" charset="0"/>
                </a:rPr>
                <a:t>个</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楷体" panose="02010609060101010101" pitchFamily="49" charset="-122"/>
                  <a:cs typeface="Times New Roman" panose="02020603050405020304" pitchFamily="18" charset="0"/>
                </a:rPr>
                <a:t>所以采用三局两胜制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乙获胜的概率约为</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nvGraphicFramePr>
          <p:xfrm>
            <a:off x="7509549" y="2952055"/>
            <a:ext cx="11671959" cy="796870"/>
          </p:xfrm>
          <a:graphic>
            <a:graphicData uri="http://schemas.openxmlformats.org/presentationml/2006/ole">
              <mc:AlternateContent xmlns:mc="http://schemas.openxmlformats.org/markup-compatibility/2006">
                <mc:Choice xmlns:v="urn:schemas-microsoft-com:vml" Requires="v">
                  <p:oleObj spid="_x0000_s6166" name="文档" r:id="rId4" imgW="3826872" imgH="261269" progId="Word.Document.12">
                    <p:embed/>
                  </p:oleObj>
                </mc:Choice>
                <mc:Fallback>
                  <p:oleObj name="文档" r:id="rId4" imgW="3826872" imgH="261269" progId="Word.Document.12">
                    <p:embed/>
                    <p:pic>
                      <p:nvPicPr>
                        <p:cNvPr id="0" name=""/>
                        <p:cNvPicPr/>
                        <p:nvPr/>
                      </p:nvPicPr>
                      <p:blipFill>
                        <a:blip r:embed="rId5"/>
                        <a:stretch>
                          <a:fillRect/>
                        </a:stretch>
                      </p:blipFill>
                      <p:spPr>
                        <a:xfrm>
                          <a:off x="7509549" y="2952055"/>
                          <a:ext cx="11671959" cy="796870"/>
                        </a:xfrm>
                        <a:prstGeom prst="rect">
                          <a:avLst/>
                        </a:prstGeom>
                      </p:spPr>
                    </p:pic>
                  </p:oleObj>
                </mc:Fallback>
              </mc:AlternateContent>
            </a:graphicData>
          </a:graphic>
        </p:graphicFrame>
      </p:grpSp>
      <p:graphicFrame>
        <p:nvGraphicFramePr>
          <p:cNvPr id="6" name="对象 5"/>
          <p:cNvGraphicFramePr>
            <a:graphicFrameLocks noChangeAspect="1"/>
          </p:cNvGraphicFramePr>
          <p:nvPr/>
        </p:nvGraphicFramePr>
        <p:xfrm>
          <a:off x="432445" y="3896026"/>
          <a:ext cx="11671959" cy="804541"/>
        </p:xfrm>
        <a:graphic>
          <a:graphicData uri="http://schemas.openxmlformats.org/presentationml/2006/ole">
            <mc:AlternateContent xmlns:mc="http://schemas.openxmlformats.org/markup-compatibility/2006">
              <mc:Choice xmlns:v="urn:schemas-microsoft-com:vml" Requires="v">
                <p:oleObj spid="_x0000_s6167" name="文档" r:id="rId7" imgW="3826872" imgH="263784" progId="Word.Document.12">
                  <p:embed/>
                </p:oleObj>
              </mc:Choice>
              <mc:Fallback>
                <p:oleObj name="文档" r:id="rId7" imgW="3826872" imgH="263784" progId="Word.Document.12">
                  <p:embed/>
                  <p:pic>
                    <p:nvPicPr>
                      <p:cNvPr id="0" name=""/>
                      <p:cNvPicPr/>
                      <p:nvPr/>
                    </p:nvPicPr>
                    <p:blipFill>
                      <a:blip r:embed="rId8"/>
                      <a:stretch>
                        <a:fillRect/>
                      </a:stretch>
                    </p:blipFill>
                    <p:spPr>
                      <a:xfrm>
                        <a:off x="432445" y="3896026"/>
                        <a:ext cx="11671959" cy="804541"/>
                      </a:xfrm>
                      <a:prstGeom prst="rect">
                        <a:avLst/>
                      </a:prstGeom>
                    </p:spPr>
                  </p:pic>
                </p:oleObj>
              </mc:Fallback>
            </mc:AlternateContent>
          </a:graphicData>
        </a:graphic>
      </p:graphicFrame>
    </p:spTree>
    <p:extLst>
      <p:ext uri="{BB962C8B-B14F-4D97-AF65-F5344CB8AC3E}">
        <p14:creationId xmlns:p14="http://schemas.microsoft.com/office/powerpoint/2010/main" val="3675692603"/>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虚尾箭头 1"/>
          <p:cNvSpPr/>
          <p:nvPr/>
        </p:nvSpPr>
        <p:spPr>
          <a:xfrm>
            <a:off x="432445" y="1295871"/>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6600" dirty="0">
                <a:solidFill>
                  <a:srgbClr val="0070C0"/>
                </a:solidFill>
                <a:latin typeface="华文新魏" panose="02010800040101010101" pitchFamily="2" charset="-122"/>
                <a:ea typeface="华文新魏" panose="02010800040101010101" pitchFamily="2" charset="-122"/>
              </a:rPr>
              <a:t>易</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错</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辨</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析</a:t>
            </a:r>
          </a:p>
        </p:txBody>
      </p:sp>
    </p:spTree>
    <p:extLst>
      <p:ext uri="{BB962C8B-B14F-4D97-AF65-F5344CB8AC3E}">
        <p14:creationId xmlns:p14="http://schemas.microsoft.com/office/powerpoint/2010/main" val="4161990442"/>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742375"/>
            <a:ext cx="10807700" cy="5410712"/>
          </a:xfrm>
          <a:prstGeom prst="rect">
            <a:avLst/>
          </a:prstGeom>
        </p:spPr>
        <p:txBody>
          <a:bodyPr>
            <a:spAutoFit/>
          </a:bodyPr>
          <a:lstStyle/>
          <a:p>
            <a:pPr algn="ct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审题不清或对随机数理解不到位</a:t>
            </a:r>
            <a:r>
              <a:rPr lang="zh-CN" altLang="zh-CN" dirty="0" smtClean="0">
                <a:solidFill>
                  <a:srgbClr val="000000"/>
                </a:solidFill>
                <a:latin typeface="Arial" panose="020B0604020202020204" pitchFamily="34" charset="0"/>
                <a:cs typeface="Times New Roman" panose="02020603050405020304" pitchFamily="18" charset="0"/>
              </a:rPr>
              <a:t>致</a:t>
            </a:r>
            <a:r>
              <a:rPr lang="zh-CN" altLang="en-US" dirty="0" smtClean="0">
                <a:solidFill>
                  <a:srgbClr val="000000"/>
                </a:solidFill>
                <a:latin typeface="Arial" panose="020B0604020202020204" pitchFamily="34" charset="0"/>
                <a:cs typeface="Times New Roman" panose="02020603050405020304" pitchFamily="18" charset="0"/>
              </a:rPr>
              <a:t>错</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【典例】</a:t>
            </a:r>
            <a:r>
              <a:rPr lang="zh-CN" altLang="zh-CN" dirty="0">
                <a:solidFill>
                  <a:srgbClr val="000000"/>
                </a:solidFill>
                <a:latin typeface="NEU-BZ-S92" panose="02020503000000020003" pitchFamily="18" charset="-12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据天气预报报道</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在今后的三天中每一天下雨的概率均为</a:t>
            </a:r>
            <a:r>
              <a:rPr lang="en-US" altLang="zh-CN" dirty="0">
                <a:solidFill>
                  <a:srgbClr val="000000"/>
                </a:solidFill>
                <a:ea typeface="宋体" panose="02010600030101010101" pitchFamily="2" charset="-122"/>
                <a:cs typeface="Times New Roman" panose="02020603050405020304" pitchFamily="18" charset="0"/>
              </a:rPr>
              <a:t>30%,</a:t>
            </a:r>
            <a:r>
              <a:rPr lang="zh-CN" altLang="zh-CN" dirty="0">
                <a:solidFill>
                  <a:srgbClr val="000000"/>
                </a:solidFill>
                <a:ea typeface="宋体" panose="02010600030101010101" pitchFamily="2" charset="-122"/>
                <a:cs typeface="Times New Roman" panose="02020603050405020304" pitchFamily="18" charset="0"/>
              </a:rPr>
              <a:t>用随机模拟的方法进行试验</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由</a:t>
            </a:r>
            <a:r>
              <a:rPr lang="en-US" altLang="zh-CN" dirty="0">
                <a:solidFill>
                  <a:srgbClr val="000000"/>
                </a:solidFill>
                <a:ea typeface="宋体" panose="02010600030101010101" pitchFamily="2" charset="-122"/>
                <a:cs typeface="Times New Roman" panose="02020603050405020304" pitchFamily="18" charset="0"/>
              </a:rPr>
              <a:t>1,2,3</a:t>
            </a:r>
            <a:r>
              <a:rPr lang="zh-CN" altLang="zh-CN" dirty="0">
                <a:solidFill>
                  <a:srgbClr val="000000"/>
                </a:solidFill>
                <a:ea typeface="宋体" panose="02010600030101010101" pitchFamily="2" charset="-122"/>
                <a:cs typeface="Times New Roman" panose="02020603050405020304" pitchFamily="18" charset="0"/>
              </a:rPr>
              <a:t>表示下雨</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由</a:t>
            </a:r>
            <a:r>
              <a:rPr lang="en-US" altLang="zh-CN" dirty="0">
                <a:solidFill>
                  <a:srgbClr val="000000"/>
                </a:solidFill>
                <a:ea typeface="宋体" panose="02010600030101010101" pitchFamily="2" charset="-122"/>
                <a:cs typeface="Times New Roman" panose="02020603050405020304" pitchFamily="18" charset="0"/>
              </a:rPr>
              <a:t>4,5,6,7,8,9,0</a:t>
            </a:r>
            <a:r>
              <a:rPr lang="zh-CN" altLang="zh-CN" dirty="0">
                <a:solidFill>
                  <a:srgbClr val="000000"/>
                </a:solidFill>
                <a:ea typeface="宋体" panose="02010600030101010101" pitchFamily="2" charset="-122"/>
                <a:cs typeface="Times New Roman" panose="02020603050405020304" pitchFamily="18" charset="0"/>
              </a:rPr>
              <a:t>表示不下雨</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利用计算器产生</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9</a:t>
            </a:r>
            <a:r>
              <a:rPr lang="zh-CN" altLang="zh-CN" dirty="0">
                <a:solidFill>
                  <a:srgbClr val="000000"/>
                </a:solidFill>
                <a:ea typeface="宋体" panose="02010600030101010101" pitchFamily="2" charset="-122"/>
                <a:cs typeface="Times New Roman" panose="02020603050405020304" pitchFamily="18" charset="0"/>
              </a:rPr>
              <a:t>之间的</a:t>
            </a:r>
            <a:r>
              <a:rPr lang="en-US" altLang="zh-CN" dirty="0">
                <a:solidFill>
                  <a:srgbClr val="000000"/>
                </a:solidFill>
                <a:ea typeface="宋体" panose="02010600030101010101" pitchFamily="2" charset="-122"/>
                <a:cs typeface="Times New Roman" panose="02020603050405020304" pitchFamily="18" charset="0"/>
              </a:rPr>
              <a:t>20</a:t>
            </a:r>
            <a:r>
              <a:rPr lang="zh-CN" altLang="zh-CN" dirty="0">
                <a:solidFill>
                  <a:srgbClr val="000000"/>
                </a:solidFill>
                <a:ea typeface="宋体" panose="02010600030101010101" pitchFamily="2" charset="-122"/>
                <a:cs typeface="Times New Roman" panose="02020603050405020304" pitchFamily="18" charset="0"/>
              </a:rPr>
              <a:t>组数据如下</a:t>
            </a:r>
            <a:r>
              <a:rPr lang="en-US" altLang="zh-CN" dirty="0">
                <a:solidFill>
                  <a:srgbClr val="000000"/>
                </a:solidFill>
                <a:ea typeface="宋体" panose="02010600030101010101" pitchFamily="2" charset="-122"/>
                <a:cs typeface="Times New Roman" panose="02020603050405020304" pitchFamily="18" charset="0"/>
              </a:rPr>
              <a:t>:</a:t>
            </a:r>
            <a:endParaRPr lang="zh-CN" altLang="zh-CN">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smtClean="0">
                <a:solidFill>
                  <a:srgbClr val="000000"/>
                </a:solidFill>
                <a:ea typeface="宋体" panose="02010600030101010101" pitchFamily="2" charset="-122"/>
                <a:cs typeface="Times New Roman" panose="02020603050405020304" pitchFamily="18" charset="0"/>
              </a:rPr>
              <a:t>907</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966</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191</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925</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271</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932</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812</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458</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569</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683</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431</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257</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393</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027</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556</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488</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730</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113</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537</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989</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通过以上数据可知三天都不下雨的概率近似为</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A</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05	B</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35	</a:t>
            </a:r>
            <a:r>
              <a:rPr lang="en-US" altLang="zh-CN" dirty="0" smtClean="0">
                <a:solidFill>
                  <a:srgbClr val="000000"/>
                </a:solidFill>
                <a:latin typeface="NEU-BZ-S92"/>
                <a:ea typeface="方正书宋_GBK" panose="03000509000000000000" pitchFamily="65"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C</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0</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4</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	D</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0</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7</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3" name="矩形 2"/>
          <p:cNvSpPr>
            <a:spLocks noChangeAspect="1"/>
          </p:cNvSpPr>
          <p:nvPr/>
        </p:nvSpPr>
        <p:spPr>
          <a:xfrm>
            <a:off x="361950" y="948363"/>
            <a:ext cx="10807700" cy="655564"/>
          </a:xfrm>
          <a:prstGeom prst="rect">
            <a:avLst/>
          </a:prstGeom>
        </p:spPr>
        <p:txBody>
          <a:bodyPr>
            <a:spAutoFit/>
          </a:bodyPr>
          <a:lstStyle/>
          <a:p>
            <a:pPr>
              <a:lnSpc>
                <a:spcPct val="120000"/>
              </a:lnSpc>
              <a:spcAft>
                <a:spcPts val="0"/>
              </a:spcAft>
              <a:tabLst>
                <a:tab pos="1188085" algn="l"/>
                <a:tab pos="2163445" algn="l"/>
                <a:tab pos="3142615" algn="l"/>
                <a:tab pos="4190365" algn="l"/>
              </a:tabLst>
            </a:pPr>
            <a:endParaRPr lang="zh-CN" altLang="zh-CN"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p:txBody>
      </p:sp>
    </p:spTree>
    <p:extLst>
      <p:ext uri="{BB962C8B-B14F-4D97-AF65-F5344CB8AC3E}">
        <p14:creationId xmlns:p14="http://schemas.microsoft.com/office/powerpoint/2010/main" val="2343944478"/>
      </p:ext>
    </p:extLst>
  </p:cSld>
  <p:clrMapOvr>
    <a:masterClrMapping/>
  </p:clrMapOvr>
  <p:transition spd="slow">
    <p:randomBar dir="vert"/>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1295871"/>
            <a:ext cx="10807700" cy="3581365"/>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错解</a:t>
            </a:r>
            <a:r>
              <a:rPr lang="en-US"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选</a:t>
            </a:r>
            <a:r>
              <a:rPr lang="en-US" altLang="zh-CN"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宋体" panose="02010600030101010101" pitchFamily="2" charset="-122"/>
                <a:cs typeface="Times New Roman" panose="02020603050405020304" pitchFamily="18" charset="0"/>
              </a:rPr>
              <a:t>或选</a:t>
            </a:r>
            <a:r>
              <a:rPr lang="en-US" altLang="zh-CN" dirty="0">
                <a:solidFill>
                  <a:srgbClr val="000000"/>
                </a:solidFill>
                <a:ea typeface="宋体" panose="02010600030101010101" pitchFamily="2" charset="-122"/>
                <a:cs typeface="Times New Roman" panose="02020603050405020304" pitchFamily="18" charset="0"/>
              </a:rPr>
              <a:t>C</a:t>
            </a:r>
            <a:r>
              <a:rPr lang="zh-CN" altLang="zh-CN" dirty="0">
                <a:solidFill>
                  <a:srgbClr val="000000"/>
                </a:solidFill>
                <a:ea typeface="宋体" panose="02010600030101010101" pitchFamily="2" charset="-122"/>
                <a:cs typeface="Times New Roman" panose="02020603050405020304" pitchFamily="18" charset="0"/>
              </a:rPr>
              <a:t>或选</a:t>
            </a:r>
            <a:r>
              <a:rPr lang="en-US" altLang="zh-CN" dirty="0">
                <a:solidFill>
                  <a:srgbClr val="000000"/>
                </a:solidFill>
                <a:ea typeface="宋体" panose="02010600030101010101" pitchFamily="2" charset="-122"/>
                <a:cs typeface="Times New Roman" panose="02020603050405020304" pitchFamily="18" charset="0"/>
              </a:rPr>
              <a:t>D</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以上解答过程中都有哪些错误</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出错的原因是什么</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你如何改正</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你如何防范</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提示</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由于审题不清</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误认为求三天下雨的概率</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或将随机数代表的含义弄错导致选</a:t>
            </a:r>
            <a:r>
              <a:rPr lang="en-US" altLang="zh-CN"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楷体" panose="02010609060101010101" pitchFamily="49" charset="-122"/>
                <a:cs typeface="Times New Roman" panose="02020603050405020304" pitchFamily="18" charset="0"/>
              </a:rPr>
              <a:t>或</a:t>
            </a:r>
            <a:r>
              <a:rPr lang="en-US" altLang="zh-CN" dirty="0">
                <a:solidFill>
                  <a:srgbClr val="000000"/>
                </a:solidFill>
                <a:ea typeface="宋体" panose="02010600030101010101" pitchFamily="2" charset="-122"/>
                <a:cs typeface="Times New Roman" panose="02020603050405020304" pitchFamily="18" charset="0"/>
              </a:rPr>
              <a:t>D;</a:t>
            </a:r>
            <a:r>
              <a:rPr lang="zh-CN" altLang="zh-CN" dirty="0">
                <a:solidFill>
                  <a:srgbClr val="000000"/>
                </a:solidFill>
                <a:ea typeface="楷体" panose="02010609060101010101" pitchFamily="49" charset="-122"/>
                <a:cs typeface="Times New Roman" panose="02020603050405020304" pitchFamily="18" charset="0"/>
              </a:rPr>
              <a:t>由于符合条件的随机数个数确定不准可能导致选</a:t>
            </a:r>
            <a:r>
              <a:rPr lang="en-US" altLang="zh-CN" dirty="0">
                <a:solidFill>
                  <a:srgbClr val="000000"/>
                </a:solidFill>
                <a:ea typeface="宋体" panose="02010600030101010101" pitchFamily="2" charset="-122"/>
                <a:cs typeface="Times New Roman" panose="02020603050405020304" pitchFamily="18" charset="0"/>
              </a:rPr>
              <a:t>C</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686703785"/>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randombar(horizontal)">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361950" y="1276207"/>
            <a:ext cx="11723521" cy="3046988"/>
            <a:chOff x="361950" y="825717"/>
            <a:chExt cx="11723521" cy="3046988"/>
          </a:xfrm>
        </p:grpSpPr>
        <p:sp>
          <p:nvSpPr>
            <p:cNvPr id="4" name="矩形 3"/>
            <p:cNvSpPr>
              <a:spLocks noChangeAspect="1"/>
            </p:cNvSpPr>
            <p:nvPr/>
          </p:nvSpPr>
          <p:spPr>
            <a:xfrm>
              <a:off x="361950" y="825717"/>
              <a:ext cx="10807700" cy="3046988"/>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正解</a:t>
              </a:r>
              <a:r>
                <a:rPr lang="en-US" altLang="zh-CN" dirty="0" smtClean="0">
                  <a:latin typeface="Arial" panose="020B0604020202020204" pitchFamily="34" charset="0"/>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由题意知利用计算器模拟求三天都不下雨的概率</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产生的</a:t>
              </a:r>
              <a:r>
                <a:rPr lang="en-US" altLang="zh-CN" dirty="0">
                  <a:solidFill>
                    <a:srgbClr val="000000"/>
                  </a:solidFill>
                  <a:ea typeface="宋体" panose="02010600030101010101" pitchFamily="2" charset="-122"/>
                </a:rPr>
                <a:t>20</a:t>
              </a:r>
              <a:r>
                <a:rPr lang="zh-CN" altLang="zh-CN" dirty="0">
                  <a:solidFill>
                    <a:srgbClr val="000000"/>
                  </a:solidFill>
                  <a:ea typeface="宋体" panose="02010600030101010101" pitchFamily="2" charset="-122"/>
                  <a:cs typeface="Times New Roman" panose="02020603050405020304" pitchFamily="18" charset="0"/>
                </a:rPr>
                <a:t>组随机模拟数据中代表三天都不下雨的随机数</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应该由</a:t>
              </a:r>
              <a:r>
                <a:rPr lang="en-US" altLang="zh-CN" dirty="0">
                  <a:solidFill>
                    <a:srgbClr val="000000"/>
                  </a:solidFill>
                  <a:ea typeface="宋体" panose="02010600030101010101" pitchFamily="2" charset="-122"/>
                </a:rPr>
                <a:t>4,5,6,7,8,9,0</a:t>
              </a:r>
              <a:r>
                <a:rPr lang="zh-CN" altLang="zh-CN" dirty="0">
                  <a:solidFill>
                    <a:srgbClr val="000000"/>
                  </a:solidFill>
                  <a:ea typeface="宋体" panose="02010600030101010101" pitchFamily="2" charset="-122"/>
                  <a:cs typeface="Times New Roman" panose="02020603050405020304" pitchFamily="18" charset="0"/>
                </a:rPr>
                <a:t>中的三个组成</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这样的随机数有</a:t>
              </a:r>
              <a:r>
                <a:rPr lang="en-US" altLang="zh-CN" dirty="0">
                  <a:solidFill>
                    <a:srgbClr val="000000"/>
                  </a:solidFill>
                  <a:ea typeface="宋体" panose="02010600030101010101" pitchFamily="2" charset="-122"/>
                </a:rPr>
                <a:t>:907,966,458,569</a:t>
              </a:r>
              <a:r>
                <a:rPr lang="en-US" altLang="zh-CN" dirty="0" smtClean="0">
                  <a:solidFill>
                    <a:srgbClr val="000000"/>
                  </a:solidFill>
                  <a:ea typeface="宋体" panose="02010600030101010101" pitchFamily="2" charset="-122"/>
                </a:rPr>
                <a:t>, 556,488,989</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共</a:t>
              </a:r>
              <a:r>
                <a:rPr lang="en-US" altLang="zh-CN" dirty="0">
                  <a:solidFill>
                    <a:srgbClr val="000000"/>
                  </a:solidFill>
                  <a:ea typeface="宋体" panose="02010600030101010101" pitchFamily="2" charset="-122"/>
                </a:rPr>
                <a:t>7</a:t>
              </a:r>
              <a:r>
                <a:rPr lang="zh-CN" altLang="zh-CN" dirty="0">
                  <a:solidFill>
                    <a:srgbClr val="000000"/>
                  </a:solidFill>
                  <a:ea typeface="宋体" panose="02010600030101010101" pitchFamily="2" charset="-122"/>
                  <a:cs typeface="Times New Roman" panose="02020603050405020304" pitchFamily="18" charset="0"/>
                </a:rPr>
                <a:t>组随机数</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所以三天都不下雨的概率近似为</a:t>
              </a:r>
              <a:endParaRPr lang="zh-CN" altLang="en-US" dirty="0"/>
            </a:p>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故选</a:t>
              </a:r>
              <a:r>
                <a:rPr lang="en-US" altLang="zh-CN" dirty="0">
                  <a:solidFill>
                    <a:srgbClr val="000000"/>
                  </a:solidFill>
                  <a:ea typeface="宋体" panose="02010600030101010101" pitchFamily="2" charset="-122"/>
                  <a:cs typeface="Times New Roman" panose="02020603050405020304" pitchFamily="18" charset="0"/>
                </a:rPr>
                <a:t>B</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2485580720"/>
                </p:ext>
              </p:extLst>
            </p:nvPr>
          </p:nvGraphicFramePr>
          <p:xfrm>
            <a:off x="413512" y="3132811"/>
            <a:ext cx="11671959" cy="723429"/>
          </p:xfrm>
          <a:graphic>
            <a:graphicData uri="http://schemas.openxmlformats.org/presentationml/2006/ole">
              <mc:AlternateContent xmlns:mc="http://schemas.openxmlformats.org/markup-compatibility/2006">
                <mc:Choice xmlns:v="urn:schemas-microsoft-com:vml" Requires="v">
                  <p:oleObj spid="_x0000_s7179" name="文档" r:id="rId4" imgW="3826872" imgH="237190" progId="Word.Document.12">
                    <p:embed/>
                  </p:oleObj>
                </mc:Choice>
                <mc:Fallback>
                  <p:oleObj name="文档" r:id="rId4" imgW="3826872" imgH="237190" progId="Word.Document.12">
                    <p:embed/>
                    <p:pic>
                      <p:nvPicPr>
                        <p:cNvPr id="0" name=""/>
                        <p:cNvPicPr/>
                        <p:nvPr/>
                      </p:nvPicPr>
                      <p:blipFill>
                        <a:blip r:embed="rId5"/>
                        <a:stretch>
                          <a:fillRect/>
                        </a:stretch>
                      </p:blipFill>
                      <p:spPr>
                        <a:xfrm>
                          <a:off x="413512" y="3132811"/>
                          <a:ext cx="11671959" cy="723429"/>
                        </a:xfrm>
                        <a:prstGeom prst="rect">
                          <a:avLst/>
                        </a:prstGeom>
                      </p:spPr>
                    </p:pic>
                  </p:oleObj>
                </mc:Fallback>
              </mc:AlternateContent>
            </a:graphicData>
          </a:graphic>
        </p:graphicFrame>
      </p:grpSp>
      <p:sp>
        <p:nvSpPr>
          <p:cNvPr id="7" name="矩形 6"/>
          <p:cNvSpPr>
            <a:spLocks noChangeAspect="1"/>
          </p:cNvSpPr>
          <p:nvPr/>
        </p:nvSpPr>
        <p:spPr>
          <a:xfrm>
            <a:off x="360675" y="4393913"/>
            <a:ext cx="1521570" cy="626710"/>
          </a:xfrm>
          <a:prstGeom prst="rect">
            <a:avLst/>
          </a:prstGeom>
        </p:spPr>
        <p:txBody>
          <a:bodyPr wrap="none">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B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4212679240"/>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61950" y="665612"/>
            <a:ext cx="10807700" cy="5850233"/>
            <a:chOff x="361950" y="719807"/>
            <a:chExt cx="10807700" cy="5850233"/>
          </a:xfrm>
        </p:grpSpPr>
        <p:pic>
          <p:nvPicPr>
            <p:cNvPr id="8" name="防范措施H.eps" descr="id:2147490860;FounderCES"/>
            <p:cNvPicPr/>
            <p:nvPr/>
          </p:nvPicPr>
          <p:blipFill>
            <a:blip r:embed="rId2"/>
            <a:stretch>
              <a:fillRect/>
            </a:stretch>
          </p:blipFill>
          <p:spPr>
            <a:xfrm>
              <a:off x="361950" y="719807"/>
              <a:ext cx="2259558" cy="531552"/>
            </a:xfrm>
            <a:prstGeom prst="rect">
              <a:avLst/>
            </a:prstGeom>
          </p:spPr>
        </p:pic>
        <p:sp>
          <p:nvSpPr>
            <p:cNvPr id="2" name="矩形 1"/>
            <p:cNvSpPr>
              <a:spLocks noChangeAspect="1"/>
            </p:cNvSpPr>
            <p:nvPr/>
          </p:nvSpPr>
          <p:spPr>
            <a:xfrm>
              <a:off x="361950" y="1215882"/>
              <a:ext cx="10807700" cy="5354158"/>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认真审题</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解决此类问题首先要正确理解所求概率的含义</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弄清其包含的样本点</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恰当设计</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恰当设计随机数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弄清随机数代表的事件及代表所求事件的随机数组</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如本题由</a:t>
              </a:r>
              <a:r>
                <a:rPr lang="en-US" altLang="zh-CN" dirty="0">
                  <a:solidFill>
                    <a:srgbClr val="000000"/>
                  </a:solidFill>
                  <a:ea typeface="宋体" panose="02010600030101010101" pitchFamily="2" charset="-122"/>
                  <a:cs typeface="Times New Roman" panose="02020603050405020304" pitchFamily="18" charset="0"/>
                </a:rPr>
                <a:t>1,2,3</a:t>
              </a:r>
              <a:r>
                <a:rPr lang="zh-CN" altLang="zh-CN" dirty="0">
                  <a:solidFill>
                    <a:srgbClr val="000000"/>
                  </a:solidFill>
                  <a:ea typeface="仿宋" panose="02010609060101010101" pitchFamily="49" charset="-122"/>
                  <a:cs typeface="Times New Roman" panose="02020603050405020304" pitchFamily="18" charset="0"/>
                </a:rPr>
                <a:t>表示下雨</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由</a:t>
              </a:r>
              <a:r>
                <a:rPr lang="en-US" altLang="zh-CN" dirty="0">
                  <a:solidFill>
                    <a:srgbClr val="000000"/>
                  </a:solidFill>
                  <a:ea typeface="宋体" panose="02010600030101010101" pitchFamily="2" charset="-122"/>
                  <a:cs typeface="Times New Roman" panose="02020603050405020304" pitchFamily="18" charset="0"/>
                </a:rPr>
                <a:t>4,5,6,7,8,9,0</a:t>
              </a:r>
              <a:r>
                <a:rPr lang="zh-CN" altLang="zh-CN" dirty="0">
                  <a:solidFill>
                    <a:srgbClr val="000000"/>
                  </a:solidFill>
                  <a:ea typeface="仿宋" panose="02010609060101010101" pitchFamily="49" charset="-122"/>
                  <a:cs typeface="Times New Roman" panose="02020603050405020304" pitchFamily="18" charset="0"/>
                </a:rPr>
                <a:t>表示不下雨</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准确计算</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要正确计算代表所求事件的随机数组的个数和总的随机数组的个数</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正确利用频率公式计算出所求频率</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用频率估计概率</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如本题找出代表三天都不下雨的随机数组数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即可求出频率</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此频率就是概率的近似值</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3296096076"/>
      </p:ext>
    </p:extLst>
  </p:cSld>
  <p:clrMapOvr>
    <a:masterClrMapping/>
  </p:clrMapOvr>
  <p:transition spd="slow">
    <p:randomBar dir="vert"/>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565959"/>
            <a:ext cx="10807700" cy="5973558"/>
          </a:xfrm>
          <a:prstGeom prst="rect">
            <a:avLst/>
          </a:prstGeom>
        </p:spPr>
        <p:txBody>
          <a:bodyPr>
            <a:spAutoFit/>
          </a:bodyPr>
          <a:lstStyle/>
          <a:p>
            <a:pPr>
              <a:lnSpc>
                <a:spcPts val="42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【变式训练】</a:t>
            </a:r>
            <a:r>
              <a:rPr lang="zh-CN" altLang="zh-CN" dirty="0">
                <a:solidFill>
                  <a:srgbClr val="000000"/>
                </a:solidFill>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假定某运动员每次投掷飞镖命中靶心的概率为</a:t>
            </a:r>
            <a:r>
              <a:rPr lang="en-US" altLang="zh-CN" dirty="0">
                <a:solidFill>
                  <a:srgbClr val="000000"/>
                </a:solidFill>
                <a:ea typeface="宋体" panose="02010600030101010101" pitchFamily="2" charset="-122"/>
              </a:rPr>
              <a:t>50%</a:t>
            </a:r>
            <a:r>
              <a:rPr lang="en-US" altLang="zh-CN" i="1"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现采用随机模拟的方法估计该运动员两次投掷飞镖恰有一次命中靶心的概率</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先由计算器产生</a:t>
            </a:r>
            <a:r>
              <a:rPr lang="en-US" altLang="zh-CN" dirty="0">
                <a:solidFill>
                  <a:srgbClr val="000000"/>
                </a:solidFill>
                <a:ea typeface="宋体" panose="02010600030101010101" pitchFamily="2" charset="-122"/>
              </a:rPr>
              <a:t>0</a:t>
            </a:r>
            <a:r>
              <a:rPr lang="en-US" altLang="zh-CN" i="1" dirty="0">
                <a:solidFill>
                  <a:srgbClr val="000000"/>
                </a:solidFill>
                <a:ea typeface="宋体" panose="02010600030101010101" pitchFamily="2" charset="-122"/>
              </a:rPr>
              <a:t>~</a:t>
            </a:r>
            <a:r>
              <a:rPr lang="en-US" altLang="zh-CN" dirty="0">
                <a:solidFill>
                  <a:srgbClr val="000000"/>
                </a:solidFill>
                <a:ea typeface="宋体" panose="02010600030101010101" pitchFamily="2" charset="-122"/>
              </a:rPr>
              <a:t>9</a:t>
            </a:r>
            <a:r>
              <a:rPr lang="zh-CN" altLang="zh-CN" dirty="0">
                <a:solidFill>
                  <a:srgbClr val="000000"/>
                </a:solidFill>
                <a:ea typeface="宋体" panose="02010600030101010101" pitchFamily="2" charset="-122"/>
                <a:cs typeface="Times New Roman" panose="02020603050405020304" pitchFamily="18" charset="0"/>
              </a:rPr>
              <a:t>之间的整数随机数</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指定</a:t>
            </a:r>
            <a:r>
              <a:rPr lang="en-US" altLang="zh-CN" dirty="0">
                <a:solidFill>
                  <a:srgbClr val="000000"/>
                </a:solidFill>
                <a:ea typeface="宋体" panose="02010600030101010101" pitchFamily="2" charset="-122"/>
              </a:rPr>
              <a:t>1,2,3,4,5</a:t>
            </a:r>
            <a:r>
              <a:rPr lang="zh-CN" altLang="zh-CN" dirty="0">
                <a:solidFill>
                  <a:srgbClr val="000000"/>
                </a:solidFill>
                <a:ea typeface="宋体" panose="02010600030101010101" pitchFamily="2" charset="-122"/>
                <a:cs typeface="Times New Roman" panose="02020603050405020304" pitchFamily="18" charset="0"/>
              </a:rPr>
              <a:t>表示命中靶心</a:t>
            </a:r>
            <a:r>
              <a:rPr lang="en-US" altLang="zh-CN" dirty="0">
                <a:solidFill>
                  <a:srgbClr val="000000"/>
                </a:solidFill>
                <a:ea typeface="宋体" panose="02010600030101010101" pitchFamily="2" charset="-122"/>
              </a:rPr>
              <a:t>,6,7,8,9,0</a:t>
            </a:r>
            <a:r>
              <a:rPr lang="zh-CN" altLang="zh-CN" dirty="0">
                <a:solidFill>
                  <a:srgbClr val="000000"/>
                </a:solidFill>
                <a:ea typeface="宋体" panose="02010600030101010101" pitchFamily="2" charset="-122"/>
                <a:cs typeface="Times New Roman" panose="02020603050405020304" pitchFamily="18" charset="0"/>
              </a:rPr>
              <a:t>表示未命中靶心</a:t>
            </a:r>
            <a:r>
              <a:rPr lang="en-US" altLang="zh-CN" i="1"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再以每两个随机数为一组</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代表两次投掷飞镖的结果</a:t>
            </a:r>
            <a:r>
              <a:rPr lang="en-US" altLang="zh-CN" i="1"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经随机模拟产生了</a:t>
            </a:r>
            <a:r>
              <a:rPr lang="en-US" altLang="zh-CN" dirty="0">
                <a:solidFill>
                  <a:srgbClr val="000000"/>
                </a:solidFill>
                <a:ea typeface="宋体" panose="02010600030101010101" pitchFamily="2" charset="-122"/>
              </a:rPr>
              <a:t>20</a:t>
            </a:r>
            <a:r>
              <a:rPr lang="zh-CN" altLang="zh-CN" dirty="0">
                <a:solidFill>
                  <a:srgbClr val="000000"/>
                </a:solidFill>
                <a:ea typeface="宋体" panose="02010600030101010101" pitchFamily="2" charset="-122"/>
                <a:cs typeface="Times New Roman" panose="02020603050405020304" pitchFamily="18" charset="0"/>
              </a:rPr>
              <a:t>组随机数</a:t>
            </a:r>
            <a:r>
              <a:rPr lang="en-US" altLang="zh-CN" dirty="0">
                <a:solidFill>
                  <a:srgbClr val="000000"/>
                </a:solidFill>
                <a:ea typeface="宋体" panose="02010600030101010101" pitchFamily="2" charset="-122"/>
              </a:rPr>
              <a:t>: </a:t>
            </a:r>
            <a:endParaRPr lang="en-US" altLang="zh-CN" dirty="0" smtClean="0">
              <a:solidFill>
                <a:srgbClr val="000000"/>
              </a:solidFill>
              <a:ea typeface="宋体" panose="02010600030101010101" pitchFamily="2" charset="-122"/>
            </a:endParaRPr>
          </a:p>
          <a:p>
            <a:pPr>
              <a:lnSpc>
                <a:spcPts val="42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93</a:t>
            </a:r>
            <a:r>
              <a:rPr lang="zh-CN" altLang="zh-CN" i="1" dirty="0" smtClean="0">
                <a:solidFill>
                  <a:srgbClr val="000000"/>
                </a:solidFill>
                <a:ea typeface="宋体" panose="02010600030101010101" pitchFamily="2"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28</a:t>
            </a:r>
            <a:r>
              <a:rPr lang="zh-CN" altLang="zh-CN" i="1" dirty="0" smtClean="0">
                <a:solidFill>
                  <a:srgbClr val="000000"/>
                </a:solidFill>
                <a:ea typeface="宋体" panose="02010600030101010101" pitchFamily="2"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12</a:t>
            </a:r>
            <a:r>
              <a:rPr lang="zh-CN" altLang="zh-CN" i="1" dirty="0" smtClean="0">
                <a:solidFill>
                  <a:srgbClr val="000000"/>
                </a:solidFill>
                <a:ea typeface="宋体" panose="02010600030101010101" pitchFamily="2"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45</a:t>
            </a:r>
            <a:r>
              <a:rPr lang="zh-CN" altLang="zh-CN" i="1" dirty="0" smtClean="0">
                <a:solidFill>
                  <a:srgbClr val="000000"/>
                </a:solidFill>
                <a:ea typeface="宋体" panose="02010600030101010101" pitchFamily="2"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85</a:t>
            </a:r>
            <a:r>
              <a:rPr lang="zh-CN" altLang="zh-CN" i="1" dirty="0" smtClean="0">
                <a:solidFill>
                  <a:srgbClr val="000000"/>
                </a:solidFill>
                <a:ea typeface="宋体" panose="02010600030101010101" pitchFamily="2"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69</a:t>
            </a:r>
            <a:r>
              <a:rPr lang="zh-CN" altLang="zh-CN" i="1" dirty="0" smtClean="0">
                <a:solidFill>
                  <a:srgbClr val="000000"/>
                </a:solidFill>
                <a:ea typeface="宋体" panose="02010600030101010101" pitchFamily="2"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68</a:t>
            </a:r>
            <a:r>
              <a:rPr lang="zh-CN" altLang="zh-CN" i="1" dirty="0" smtClean="0">
                <a:solidFill>
                  <a:srgbClr val="000000"/>
                </a:solidFill>
                <a:ea typeface="宋体" panose="02010600030101010101" pitchFamily="2"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34</a:t>
            </a:r>
            <a:r>
              <a:rPr lang="zh-CN" altLang="zh-CN" i="1" dirty="0" smtClean="0">
                <a:solidFill>
                  <a:srgbClr val="000000"/>
                </a:solidFill>
                <a:ea typeface="宋体" panose="02010600030101010101" pitchFamily="2"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31</a:t>
            </a:r>
            <a:r>
              <a:rPr lang="zh-CN" altLang="zh-CN" i="1" dirty="0" smtClean="0">
                <a:solidFill>
                  <a:srgbClr val="000000"/>
                </a:solidFill>
                <a:ea typeface="宋体" panose="02010600030101010101" pitchFamily="2"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25</a:t>
            </a:r>
            <a:endParaRPr lang="zh-CN" altLang="zh-CN" dirty="0" smtClean="0">
              <a:solidFill>
                <a:srgbClr val="000000"/>
              </a:solidFill>
              <a:latin typeface="NEU-BZ-S92"/>
              <a:ea typeface="方正书宋_GBK" panose="03000509000000000000" pitchFamily="65" charset="-122"/>
              <a:cs typeface="Times New Roman" panose="02020603050405020304" pitchFamily="18" charset="0"/>
            </a:endParaRPr>
          </a:p>
          <a:p>
            <a:pPr>
              <a:lnSpc>
                <a:spcPts val="42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73</a:t>
            </a:r>
            <a:r>
              <a:rPr lang="zh-CN" altLang="zh-CN" i="1" dirty="0" smtClean="0">
                <a:solidFill>
                  <a:srgbClr val="000000"/>
                </a:solidFill>
                <a:ea typeface="宋体" panose="02010600030101010101" pitchFamily="2"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93</a:t>
            </a:r>
            <a:r>
              <a:rPr lang="zh-CN" altLang="zh-CN" i="1" dirty="0" smtClean="0">
                <a:solidFill>
                  <a:srgbClr val="000000"/>
                </a:solidFill>
                <a:ea typeface="宋体" panose="02010600030101010101" pitchFamily="2"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02</a:t>
            </a:r>
            <a:r>
              <a:rPr lang="zh-CN" altLang="zh-CN" i="1" dirty="0" smtClean="0">
                <a:solidFill>
                  <a:srgbClr val="000000"/>
                </a:solidFill>
                <a:ea typeface="宋体" panose="02010600030101010101" pitchFamily="2"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75</a:t>
            </a:r>
            <a:r>
              <a:rPr lang="zh-CN" altLang="zh-CN" i="1" dirty="0" smtClean="0">
                <a:solidFill>
                  <a:srgbClr val="000000"/>
                </a:solidFill>
                <a:ea typeface="宋体" panose="02010600030101010101" pitchFamily="2"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56</a:t>
            </a:r>
            <a:r>
              <a:rPr lang="zh-CN" altLang="zh-CN" i="1" dirty="0" smtClean="0">
                <a:solidFill>
                  <a:srgbClr val="000000"/>
                </a:solidFill>
                <a:ea typeface="宋体" panose="02010600030101010101" pitchFamily="2"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48</a:t>
            </a:r>
            <a:r>
              <a:rPr lang="zh-CN" altLang="zh-CN" i="1" dirty="0" smtClean="0">
                <a:solidFill>
                  <a:srgbClr val="000000"/>
                </a:solidFill>
                <a:ea typeface="宋体" panose="02010600030101010101" pitchFamily="2"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87</a:t>
            </a:r>
            <a:r>
              <a:rPr lang="zh-CN" altLang="zh-CN" i="1" dirty="0" smtClean="0">
                <a:solidFill>
                  <a:srgbClr val="000000"/>
                </a:solidFill>
                <a:ea typeface="宋体" panose="02010600030101010101" pitchFamily="2"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30</a:t>
            </a:r>
            <a:r>
              <a:rPr lang="zh-CN" altLang="zh-CN" i="1" dirty="0" smtClean="0">
                <a:solidFill>
                  <a:srgbClr val="000000"/>
                </a:solidFill>
                <a:ea typeface="宋体" panose="02010600030101010101" pitchFamily="2"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11</a:t>
            </a:r>
            <a:r>
              <a:rPr lang="zh-CN" altLang="zh-CN" i="1" dirty="0" smtClean="0">
                <a:solidFill>
                  <a:srgbClr val="000000"/>
                </a:solidFill>
                <a:ea typeface="宋体" panose="02010600030101010101" pitchFamily="2"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35</a:t>
            </a:r>
            <a:endParaRPr lang="zh-CN" altLang="zh-CN" dirty="0" smtClean="0">
              <a:solidFill>
                <a:srgbClr val="000000"/>
              </a:solidFill>
              <a:latin typeface="NEU-BZ-S92"/>
              <a:ea typeface="方正书宋_GBK" panose="03000509000000000000" pitchFamily="65" charset="-122"/>
              <a:cs typeface="Times New Roman" panose="02020603050405020304" pitchFamily="18" charset="0"/>
            </a:endParaRPr>
          </a:p>
          <a:p>
            <a:pPr>
              <a:lnSpc>
                <a:spcPts val="4200"/>
              </a:lnSpc>
              <a:spcAft>
                <a:spcPts val="0"/>
              </a:spcAft>
              <a:tabLst>
                <a:tab pos="1029335" algn="l"/>
                <a:tab pos="1850390" algn="l"/>
                <a:tab pos="2538095" algn="l"/>
                <a:tab pos="3221990" algn="l"/>
              </a:tabLst>
            </a:pPr>
            <a:r>
              <a:rPr lang="zh-CN" altLang="zh-CN" dirty="0" smtClean="0">
                <a:solidFill>
                  <a:srgbClr val="000000"/>
                </a:solidFill>
                <a:ea typeface="宋体" panose="02010600030101010101" pitchFamily="2" charset="-122"/>
                <a:cs typeface="Times New Roman" panose="02020603050405020304" pitchFamily="18" charset="0"/>
              </a:rPr>
              <a:t>据此估计</a:t>
            </a:r>
            <a:r>
              <a:rPr lang="en-US" altLang="zh-CN" dirty="0" smtClean="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宋体" panose="02010600030101010101" pitchFamily="2" charset="-122"/>
                <a:cs typeface="Times New Roman" panose="02020603050405020304" pitchFamily="18" charset="0"/>
              </a:rPr>
              <a:t>该运动员两次投掷飞镖恰有一次命中靶心的概率为</a:t>
            </a:r>
            <a:r>
              <a:rPr lang="en-US" altLang="zh-CN" dirty="0" smtClean="0">
                <a:solidFill>
                  <a:srgbClr val="000000"/>
                </a:solidFill>
                <a:ea typeface="宋体" panose="02010600030101010101" pitchFamily="2" charset="-122"/>
                <a:cs typeface="Times New Roman" panose="02020603050405020304" pitchFamily="18" charset="0"/>
              </a:rPr>
              <a:t>(</a:t>
            </a:r>
            <a:r>
              <a:rPr lang="zh-CN" altLang="zh-CN" i="1" dirty="0" smtClean="0">
                <a:solidFill>
                  <a:srgbClr val="000000"/>
                </a:solidFill>
                <a:ea typeface="宋体" panose="02010600030101010101" pitchFamily="2"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a:t>
            </a:r>
            <a:endParaRPr lang="zh-CN" altLang="zh-CN" dirty="0" smtClean="0">
              <a:solidFill>
                <a:srgbClr val="000000"/>
              </a:solidFill>
              <a:latin typeface="NEU-BZ-S92"/>
              <a:ea typeface="方正书宋_GBK" panose="03000509000000000000" pitchFamily="65" charset="-122"/>
              <a:cs typeface="Times New Roman" panose="02020603050405020304" pitchFamily="18" charset="0"/>
            </a:endParaRPr>
          </a:p>
          <a:p>
            <a:pPr>
              <a:lnSpc>
                <a:spcPts val="42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A</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0</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50	B</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0</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45	</a:t>
            </a:r>
            <a:r>
              <a:rPr lang="en-US" altLang="zh-CN" dirty="0" smtClean="0">
                <a:solidFill>
                  <a:srgbClr val="000000"/>
                </a:solidFill>
                <a:latin typeface="NEU-BZ-S92"/>
                <a:ea typeface="方正书宋_GBK" panose="03000509000000000000" pitchFamily="65"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C</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0</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40	D</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0</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35</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796105352"/>
      </p:ext>
    </p:extLst>
  </p:cSld>
  <p:clrMapOvr>
    <a:masterClrMapping/>
  </p:clrMapOvr>
  <p:transition spd="slow">
    <p:randomBar dir="vert"/>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361950" y="1655911"/>
            <a:ext cx="15918918" cy="1902356"/>
            <a:chOff x="361950" y="1578857"/>
            <a:chExt cx="15918918" cy="1902356"/>
          </a:xfrm>
        </p:grpSpPr>
        <p:sp>
          <p:nvSpPr>
            <p:cNvPr id="3" name="矩形 2"/>
            <p:cNvSpPr>
              <a:spLocks noChangeAspect="1"/>
            </p:cNvSpPr>
            <p:nvPr/>
          </p:nvSpPr>
          <p:spPr>
            <a:xfrm>
              <a:off x="361950" y="1578857"/>
              <a:ext cx="10807700" cy="1786643"/>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20</a:t>
              </a:r>
              <a:r>
                <a:rPr lang="zh-CN" altLang="zh-CN" dirty="0">
                  <a:solidFill>
                    <a:srgbClr val="000000"/>
                  </a:solidFill>
                  <a:ea typeface="楷体" panose="02010609060101010101" pitchFamily="49" charset="-122"/>
                  <a:cs typeface="Times New Roman" panose="02020603050405020304" pitchFamily="18" charset="0"/>
                </a:rPr>
                <a:t>组随机数中代表事件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运动员两次投掷飞镖恰有一次命中靶心</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的数组有</a:t>
              </a:r>
              <a:r>
                <a:rPr lang="en-US" altLang="zh-CN" dirty="0">
                  <a:solidFill>
                    <a:srgbClr val="000000"/>
                  </a:solidFill>
                  <a:ea typeface="宋体" panose="02010600030101010101" pitchFamily="2" charset="-122"/>
                  <a:cs typeface="Times New Roman" panose="02020603050405020304" pitchFamily="18" charset="0"/>
                </a:rPr>
                <a:t>93,28,85,73,93,02,75,56,48,30,</a:t>
              </a:r>
              <a:r>
                <a:rPr lang="zh-CN" altLang="zh-CN" dirty="0">
                  <a:solidFill>
                    <a:srgbClr val="000000"/>
                  </a:solidFill>
                  <a:ea typeface="楷体" panose="02010609060101010101" pitchFamily="49" charset="-122"/>
                  <a:cs typeface="Times New Roman" panose="02020603050405020304" pitchFamily="18" charset="0"/>
                </a:rPr>
                <a:t>共</a:t>
              </a:r>
              <a:r>
                <a:rPr lang="en-US" altLang="zh-CN" dirty="0">
                  <a:solidFill>
                    <a:srgbClr val="000000"/>
                  </a:solidFill>
                  <a:ea typeface="宋体" panose="02010600030101010101" pitchFamily="2" charset="-122"/>
                  <a:cs typeface="Times New Roman" panose="02020603050405020304" pitchFamily="18" charset="0"/>
                </a:rPr>
                <a:t>10</a:t>
              </a:r>
              <a:r>
                <a:rPr lang="zh-CN" altLang="zh-CN" dirty="0">
                  <a:solidFill>
                    <a:srgbClr val="000000"/>
                  </a:solidFill>
                  <a:ea typeface="楷体" panose="02010609060101010101" pitchFamily="49" charset="-122"/>
                  <a:cs typeface="Times New Roman" panose="02020603050405020304" pitchFamily="18" charset="0"/>
                </a:rPr>
                <a:t>组</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所以所求事件的概率约为</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1763190874"/>
                </p:ext>
              </p:extLst>
            </p:nvPr>
          </p:nvGraphicFramePr>
          <p:xfrm>
            <a:off x="4608909" y="2684343"/>
            <a:ext cx="11671959" cy="796870"/>
          </p:xfrm>
          <a:graphic>
            <a:graphicData uri="http://schemas.openxmlformats.org/presentationml/2006/ole">
              <mc:AlternateContent xmlns:mc="http://schemas.openxmlformats.org/markup-compatibility/2006">
                <mc:Choice xmlns:v="urn:schemas-microsoft-com:vml" Requires="v">
                  <p:oleObj spid="_x0000_s8203" name="文档" r:id="rId4" imgW="3826872" imgH="261269" progId="Word.Document.12">
                    <p:embed/>
                  </p:oleObj>
                </mc:Choice>
                <mc:Fallback>
                  <p:oleObj name="文档" r:id="rId4" imgW="3826872" imgH="261269" progId="Word.Document.12">
                    <p:embed/>
                    <p:pic>
                      <p:nvPicPr>
                        <p:cNvPr id="0" name=""/>
                        <p:cNvPicPr/>
                        <p:nvPr/>
                      </p:nvPicPr>
                      <p:blipFill>
                        <a:blip r:embed="rId5"/>
                        <a:stretch>
                          <a:fillRect/>
                        </a:stretch>
                      </p:blipFill>
                      <p:spPr>
                        <a:xfrm>
                          <a:off x="4608909" y="2684343"/>
                          <a:ext cx="11671959" cy="796870"/>
                        </a:xfrm>
                        <a:prstGeom prst="rect">
                          <a:avLst/>
                        </a:prstGeom>
                      </p:spPr>
                    </p:pic>
                  </p:oleObj>
                </mc:Fallback>
              </mc:AlternateContent>
            </a:graphicData>
          </a:graphic>
        </p:graphicFrame>
      </p:grpSp>
      <p:sp>
        <p:nvSpPr>
          <p:cNvPr id="6" name="矩形 5"/>
          <p:cNvSpPr>
            <a:spLocks noChangeAspect="1"/>
          </p:cNvSpPr>
          <p:nvPr/>
        </p:nvSpPr>
        <p:spPr>
          <a:xfrm>
            <a:off x="361950" y="3569981"/>
            <a:ext cx="1521379" cy="683264"/>
          </a:xfrm>
          <a:prstGeom prst="rect">
            <a:avLst/>
          </a:prstGeom>
        </p:spPr>
        <p:txBody>
          <a:bodyPr wrap="none">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A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4269163267"/>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虚尾箭头 1"/>
          <p:cNvSpPr/>
          <p:nvPr/>
        </p:nvSpPr>
        <p:spPr>
          <a:xfrm>
            <a:off x="432445" y="1367879"/>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6600" dirty="0">
                <a:solidFill>
                  <a:srgbClr val="0070C0"/>
                </a:solidFill>
                <a:latin typeface="华文新魏" panose="02010800040101010101" pitchFamily="2" charset="-122"/>
                <a:ea typeface="华文新魏" panose="02010800040101010101" pitchFamily="2" charset="-122"/>
              </a:rPr>
              <a:t>随</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堂</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练</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习</a:t>
            </a:r>
          </a:p>
        </p:txBody>
      </p:sp>
    </p:spTree>
    <p:extLst>
      <p:ext uri="{BB962C8B-B14F-4D97-AF65-F5344CB8AC3E}">
        <p14:creationId xmlns:p14="http://schemas.microsoft.com/office/powerpoint/2010/main" val="4075514661"/>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511895"/>
            <a:ext cx="10807700" cy="2990434"/>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随机函数</a:t>
            </a:r>
            <a:r>
              <a:rPr lang="en-US" altLang="zh-CN" dirty="0">
                <a:solidFill>
                  <a:srgbClr val="000000"/>
                </a:solidFill>
                <a:ea typeface="宋体" panose="02010600030101010101" pitchFamily="2" charset="-122"/>
                <a:cs typeface="Times New Roman" panose="02020603050405020304" pitchFamily="18" charset="0"/>
              </a:rPr>
              <a:t>RANDBETWEEN(0,7)</a:t>
            </a:r>
            <a:r>
              <a:rPr lang="zh-CN" altLang="zh-CN" dirty="0">
                <a:solidFill>
                  <a:srgbClr val="000000"/>
                </a:solidFill>
                <a:ea typeface="宋体" panose="02010600030101010101" pitchFamily="2" charset="-122"/>
                <a:cs typeface="Times New Roman" panose="02020603050405020304" pitchFamily="18" charset="0"/>
              </a:rPr>
              <a:t>不可能产生的随机数</a:t>
            </a:r>
            <a:r>
              <a:rPr lang="zh-CN" altLang="zh-CN" dirty="0" smtClean="0">
                <a:solidFill>
                  <a:srgbClr val="000000"/>
                </a:solidFill>
                <a:ea typeface="宋体" panose="02010600030101010101" pitchFamily="2" charset="-122"/>
                <a:cs typeface="Times New Roman" panose="02020603050405020304" pitchFamily="18" charset="0"/>
              </a:rPr>
              <a:t>是</a:t>
            </a:r>
            <a:endParaRPr lang="en-US" altLang="zh-CN" dirty="0" smtClean="0">
              <a:solidFill>
                <a:srgbClr val="000000"/>
              </a:solidFill>
              <a:ea typeface="宋体" panose="02010600030101010101" pitchFamily="2" charset="-122"/>
              <a:cs typeface="Times New Roman" panose="02020603050405020304" pitchFamily="18" charset="0"/>
            </a:endParaRPr>
          </a:p>
          <a:p>
            <a:pPr algn="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A</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	</a:t>
            </a:r>
            <a:r>
              <a:rPr lang="en-US" altLang="zh-CN" dirty="0" smtClean="0">
                <a:solidFill>
                  <a:srgbClr val="000000"/>
                </a:solidFill>
                <a:ea typeface="宋体" panose="02010600030101010101" pitchFamily="2" charset="-122"/>
                <a:cs typeface="Times New Roman" panose="02020603050405020304" pitchFamily="18" charset="0"/>
              </a:rPr>
              <a:t>	B</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2	</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	C</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3</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	D</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9</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由随机函数</a:t>
            </a:r>
            <a:r>
              <a:rPr lang="en-US" altLang="zh-CN" dirty="0">
                <a:solidFill>
                  <a:srgbClr val="000000"/>
                </a:solidFill>
                <a:ea typeface="宋体" panose="02010600030101010101" pitchFamily="2" charset="-122"/>
                <a:cs typeface="Times New Roman" panose="02020603050405020304" pitchFamily="18" charset="0"/>
              </a:rPr>
              <a:t>RANDBETWEEN(</a:t>
            </a:r>
            <a:r>
              <a:rPr lang="en-US" altLang="zh-CN" i="1" dirty="0" err="1">
                <a:solidFill>
                  <a:srgbClr val="000000"/>
                </a:solidFill>
                <a:ea typeface="宋体" panose="02010600030101010101" pitchFamily="2" charset="-122"/>
                <a:cs typeface="Times New Roman" panose="02020603050405020304" pitchFamily="18" charset="0"/>
              </a:rPr>
              <a:t>a</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b</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的含义知</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选</a:t>
            </a:r>
            <a:r>
              <a:rPr lang="en-US" altLang="zh-CN" dirty="0">
                <a:solidFill>
                  <a:srgbClr val="000000"/>
                </a:solidFill>
                <a:ea typeface="宋体" panose="02010600030101010101" pitchFamily="2" charset="-122"/>
                <a:cs typeface="Times New Roman" panose="02020603050405020304" pitchFamily="18" charset="0"/>
              </a:rPr>
              <a:t>D</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D</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962406242"/>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randombar(horizontal)">
                                      <p:cBhvr>
                                        <p:cTn id="7" dur="500"/>
                                        <p:tgtEl>
                                          <p:spTgt spid="2">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
                                            <p:txEl>
                                              <p:pRg st="4" end="4"/>
                                            </p:txEl>
                                          </p:spTgt>
                                        </p:tgtEl>
                                        <p:attrNameLst>
                                          <p:attrName>style.visibility</p:attrName>
                                        </p:attrNameLst>
                                      </p:cBhvr>
                                      <p:to>
                                        <p:strVal val="visible"/>
                                      </p:to>
                                    </p:set>
                                    <p:animEffect transition="in" filter="randombar(horizontal)">
                                      <p:cBhvr>
                                        <p:cTn id="12"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1132191"/>
            <a:ext cx="10807700" cy="4172296"/>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掷两枚质地均匀的正方体骰子</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用随机模拟方法估计出现点数之和为</a:t>
            </a:r>
            <a:r>
              <a:rPr lang="en-US" altLang="zh-CN" dirty="0">
                <a:solidFill>
                  <a:srgbClr val="000000"/>
                </a:solidFill>
                <a:ea typeface="宋体" panose="02010600030101010101" pitchFamily="2" charset="-122"/>
                <a:cs typeface="Times New Roman" panose="02020603050405020304" pitchFamily="18" charset="0"/>
              </a:rPr>
              <a:t>10</a:t>
            </a:r>
            <a:r>
              <a:rPr lang="zh-CN" altLang="zh-CN" dirty="0">
                <a:solidFill>
                  <a:srgbClr val="000000"/>
                </a:solidFill>
                <a:ea typeface="宋体" panose="02010600030101010101" pitchFamily="2" charset="-122"/>
                <a:cs typeface="Times New Roman" panose="02020603050405020304" pitchFamily="18" charset="0"/>
              </a:rPr>
              <a:t>的概率时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在产生的整数随机数中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每组的随机数个数应为</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A</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	</a:t>
            </a:r>
            <a:r>
              <a:rPr lang="en-US" altLang="zh-CN" dirty="0" smtClean="0">
                <a:solidFill>
                  <a:srgbClr val="000000"/>
                </a:solidFill>
                <a:ea typeface="宋体" panose="02010600030101010101" pitchFamily="2" charset="-122"/>
                <a:cs typeface="Times New Roman" panose="02020603050405020304" pitchFamily="18" charset="0"/>
              </a:rPr>
              <a:t>	B</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2</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		C</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3</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		D</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10</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要考察两枚质地均匀的正方体骰子出现的点数之和</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在产生的整数随机数中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应每两个随机数为一组</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B</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324270734"/>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randombar(horizontal)">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randombar(horizontal)">
                                      <p:cBhvr>
                                        <p:cTn id="1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667463"/>
            <a:ext cx="10807700" cy="3581365"/>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通过随机模拟试验产生了</a:t>
            </a:r>
            <a:r>
              <a:rPr lang="en-US" altLang="zh-CN" dirty="0">
                <a:solidFill>
                  <a:srgbClr val="000000"/>
                </a:solidFill>
                <a:ea typeface="宋体" panose="02010600030101010101" pitchFamily="2" charset="-122"/>
                <a:cs typeface="Times New Roman" panose="02020603050405020304" pitchFamily="18" charset="0"/>
              </a:rPr>
              <a:t>20</a:t>
            </a:r>
            <a:r>
              <a:rPr lang="zh-CN" altLang="zh-CN" dirty="0">
                <a:solidFill>
                  <a:srgbClr val="000000"/>
                </a:solidFill>
                <a:ea typeface="宋体" panose="02010600030101010101" pitchFamily="2" charset="-122"/>
                <a:cs typeface="Times New Roman" panose="02020603050405020304" pitchFamily="18" charset="0"/>
              </a:rPr>
              <a:t>组随机数</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6830</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3013</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7055</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7430</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7740</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4422</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7884</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2604</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3346</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0952</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6807</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9706</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5774</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5725</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6576</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5929</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9768</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6071</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9138</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6754</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若恰有三个数在</a:t>
            </a:r>
            <a:r>
              <a:rPr lang="en-US" altLang="zh-CN" dirty="0">
                <a:solidFill>
                  <a:srgbClr val="000000"/>
                </a:solidFill>
                <a:ea typeface="宋体" panose="02010600030101010101" pitchFamily="2" charset="-122"/>
                <a:cs typeface="Times New Roman" panose="02020603050405020304" pitchFamily="18" charset="0"/>
              </a:rPr>
              <a:t>1,2,3,4,5,6</a:t>
            </a:r>
            <a:r>
              <a:rPr lang="zh-CN" altLang="zh-CN" dirty="0">
                <a:solidFill>
                  <a:srgbClr val="000000"/>
                </a:solidFill>
                <a:ea typeface="宋体" panose="02010600030101010101" pitchFamily="2" charset="-122"/>
                <a:cs typeface="Times New Roman" panose="02020603050405020304" pitchFamily="18" charset="0"/>
              </a:rPr>
              <a:t>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则表示恰有三次击中目标</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四次射击中恰有三次击中目标的概率约为</a:t>
            </a:r>
            <a:r>
              <a:rPr lang="zh-CN" altLang="zh-CN" i="1" u="sng" dirty="0">
                <a:uFill>
                  <a:solidFill>
                    <a:srgbClr val="000000"/>
                  </a:solidFill>
                </a:uFill>
                <a:ea typeface="宋体" panose="02010600030101010101" pitchFamily="2" charset="-122"/>
                <a:cs typeface="Times New Roman" panose="02020603050405020304" pitchFamily="18" charset="0"/>
              </a:rPr>
              <a:t>　　　　　</a:t>
            </a:r>
            <a:r>
              <a:rPr lang="en-US" altLang="zh-CN" i="1"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grpSp>
        <p:nvGrpSpPr>
          <p:cNvPr id="6" name="组合 5"/>
          <p:cNvGrpSpPr/>
          <p:nvPr/>
        </p:nvGrpSpPr>
        <p:grpSpPr>
          <a:xfrm>
            <a:off x="361950" y="4248205"/>
            <a:ext cx="12246510" cy="1944210"/>
            <a:chOff x="361950" y="4179916"/>
            <a:chExt cx="12246510" cy="1944210"/>
          </a:xfrm>
        </p:grpSpPr>
        <p:sp>
          <p:nvSpPr>
            <p:cNvPr id="4" name="矩形 3"/>
            <p:cNvSpPr>
              <a:spLocks noChangeAspect="1"/>
            </p:cNvSpPr>
            <p:nvPr/>
          </p:nvSpPr>
          <p:spPr>
            <a:xfrm>
              <a:off x="361950" y="4179916"/>
              <a:ext cx="10807700" cy="1786643"/>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表示恰有三次击中目标的数组分别是</a:t>
              </a:r>
              <a:r>
                <a:rPr lang="en-US" altLang="zh-CN" dirty="0">
                  <a:solidFill>
                    <a:srgbClr val="000000"/>
                  </a:solidFill>
                  <a:ea typeface="宋体" panose="02010600030101010101" pitchFamily="2" charset="-122"/>
                  <a:cs typeface="Times New Roman" panose="02020603050405020304" pitchFamily="18" charset="0"/>
                </a:rPr>
                <a:t>:3013,2604,5725</a:t>
              </a:r>
              <a:r>
                <a:rPr lang="en-US" altLang="zh-CN" dirty="0" smtClean="0">
                  <a:solidFill>
                    <a:srgbClr val="000000"/>
                  </a:solidFill>
                  <a:ea typeface="宋体" panose="02010600030101010101" pitchFamily="2" charset="-122"/>
                  <a:cs typeface="Times New Roman" panose="02020603050405020304" pitchFamily="18" charset="0"/>
                </a:rPr>
                <a:t>, 6576,6754</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共有</a:t>
              </a:r>
              <a:r>
                <a:rPr lang="en-US" altLang="zh-CN" dirty="0">
                  <a:solidFill>
                    <a:srgbClr val="000000"/>
                  </a:solidFill>
                  <a:ea typeface="宋体" panose="02010600030101010101" pitchFamily="2" charset="-122"/>
                  <a:cs typeface="Times New Roman" panose="02020603050405020304" pitchFamily="18" charset="0"/>
                </a:rPr>
                <a:t>5</a:t>
              </a:r>
              <a:r>
                <a:rPr lang="zh-CN" altLang="zh-CN" dirty="0">
                  <a:solidFill>
                    <a:srgbClr val="000000"/>
                  </a:solidFill>
                  <a:ea typeface="楷体" panose="02010609060101010101" pitchFamily="49" charset="-122"/>
                  <a:cs typeface="Times New Roman" panose="02020603050405020304" pitchFamily="18" charset="0"/>
                </a:rPr>
                <a:t>个组</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总共</a:t>
              </a:r>
              <a:r>
                <a:rPr lang="en-US" altLang="zh-CN" dirty="0">
                  <a:solidFill>
                    <a:srgbClr val="000000"/>
                  </a:solidFill>
                  <a:ea typeface="宋体" panose="02010600030101010101" pitchFamily="2" charset="-122"/>
                  <a:cs typeface="Times New Roman" panose="02020603050405020304" pitchFamily="18" charset="0"/>
                </a:rPr>
                <a:t>20</a:t>
              </a:r>
              <a:r>
                <a:rPr lang="zh-CN" altLang="zh-CN" dirty="0">
                  <a:solidFill>
                    <a:srgbClr val="000000"/>
                  </a:solidFill>
                  <a:ea typeface="楷体" panose="02010609060101010101" pitchFamily="49" charset="-122"/>
                  <a:cs typeface="Times New Roman" panose="02020603050405020304" pitchFamily="18" charset="0"/>
                </a:rPr>
                <a:t>组随机数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所以所求的概率近似为</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714179904"/>
                </p:ext>
              </p:extLst>
            </p:nvPr>
          </p:nvGraphicFramePr>
          <p:xfrm>
            <a:off x="936501" y="5318487"/>
            <a:ext cx="11671959" cy="805639"/>
          </p:xfrm>
          <a:graphic>
            <a:graphicData uri="http://schemas.openxmlformats.org/presentationml/2006/ole">
              <mc:AlternateContent xmlns:mc="http://schemas.openxmlformats.org/markup-compatibility/2006">
                <mc:Choice xmlns:v="urn:schemas-microsoft-com:vml" Requires="v">
                  <p:oleObj spid="_x0000_s9227" name="文档" r:id="rId4" imgW="3826872" imgH="264144" progId="Word.Document.12">
                    <p:embed/>
                  </p:oleObj>
                </mc:Choice>
                <mc:Fallback>
                  <p:oleObj name="文档" r:id="rId4" imgW="3826872" imgH="264144" progId="Word.Document.12">
                    <p:embed/>
                    <p:pic>
                      <p:nvPicPr>
                        <p:cNvPr id="0" name=""/>
                        <p:cNvPicPr/>
                        <p:nvPr/>
                      </p:nvPicPr>
                      <p:blipFill>
                        <a:blip r:embed="rId5"/>
                        <a:stretch>
                          <a:fillRect/>
                        </a:stretch>
                      </p:blipFill>
                      <p:spPr>
                        <a:xfrm>
                          <a:off x="936501" y="5318487"/>
                          <a:ext cx="11671959" cy="805639"/>
                        </a:xfrm>
                        <a:prstGeom prst="rect">
                          <a:avLst/>
                        </a:prstGeom>
                      </p:spPr>
                    </p:pic>
                  </p:oleObj>
                </mc:Fallback>
              </mc:AlternateContent>
            </a:graphicData>
          </a:graphic>
        </p:graphicFrame>
      </p:grpSp>
      <p:sp>
        <p:nvSpPr>
          <p:cNvPr id="7" name="矩形 6"/>
          <p:cNvSpPr>
            <a:spLocks noChangeAspect="1"/>
          </p:cNvSpPr>
          <p:nvPr/>
        </p:nvSpPr>
        <p:spPr>
          <a:xfrm>
            <a:off x="3800197" y="5438131"/>
            <a:ext cx="1965603" cy="683264"/>
          </a:xfrm>
          <a:prstGeom prst="rect">
            <a:avLst/>
          </a:prstGeom>
        </p:spPr>
        <p:txBody>
          <a:bodyPr wrap="none">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0</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25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709817091"/>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randombar(horizont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862956"/>
            <a:ext cx="10807700" cy="4763227"/>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在用随机</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整数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模拟求</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盒中仅有</a:t>
            </a: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宋体" panose="02010600030101010101" pitchFamily="2" charset="-122"/>
                <a:cs typeface="Times New Roman" panose="02020603050405020304" pitchFamily="18" charset="0"/>
              </a:rPr>
              <a:t>个白球和</a:t>
            </a:r>
            <a:r>
              <a:rPr lang="en-US" altLang="zh-CN" dirty="0">
                <a:solidFill>
                  <a:srgbClr val="000000"/>
                </a:solidFill>
                <a:ea typeface="宋体" panose="02010600030101010101" pitchFamily="2" charset="-122"/>
                <a:cs typeface="Times New Roman" panose="02020603050405020304" pitchFamily="18" charset="0"/>
              </a:rPr>
              <a:t>5</a:t>
            </a:r>
            <a:r>
              <a:rPr lang="zh-CN" altLang="zh-CN" dirty="0">
                <a:solidFill>
                  <a:srgbClr val="000000"/>
                </a:solidFill>
                <a:ea typeface="宋体" panose="02010600030101010101" pitchFamily="2" charset="-122"/>
                <a:cs typeface="Times New Roman" panose="02020603050405020304" pitchFamily="18" charset="0"/>
              </a:rPr>
              <a:t>个黑球</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这些球除颜色外</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其他完全相同</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从中任取</a:t>
            </a: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宋体" panose="02010600030101010101" pitchFamily="2" charset="-122"/>
                <a:cs typeface="Times New Roman" panose="02020603050405020304" pitchFamily="18" charset="0"/>
              </a:rPr>
              <a:t>个</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取出</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个白球和</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个黑球</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的概率时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可由计算机产生</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9</a:t>
            </a:r>
            <a:r>
              <a:rPr lang="zh-CN" altLang="zh-CN" dirty="0">
                <a:solidFill>
                  <a:srgbClr val="000000"/>
                </a:solidFill>
                <a:ea typeface="宋体" panose="02010600030101010101" pitchFamily="2" charset="-122"/>
                <a:cs typeface="Times New Roman" panose="02020603050405020304" pitchFamily="18" charset="0"/>
              </a:rPr>
              <a:t>之间的随机整数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并用</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宋体" panose="02010600030101010101" pitchFamily="2" charset="-122"/>
                <a:cs typeface="Times New Roman" panose="02020603050405020304" pitchFamily="18" charset="0"/>
              </a:rPr>
              <a:t>代表白球</a:t>
            </a: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9</a:t>
            </a:r>
            <a:r>
              <a:rPr lang="zh-CN" altLang="zh-CN" dirty="0">
                <a:solidFill>
                  <a:srgbClr val="000000"/>
                </a:solidFill>
                <a:ea typeface="宋体" panose="02010600030101010101" pitchFamily="2" charset="-122"/>
                <a:cs typeface="Times New Roman" panose="02020603050405020304" pitchFamily="18" charset="0"/>
              </a:rPr>
              <a:t>代表黑球</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因为是取出</a:t>
            </a: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宋体" panose="02010600030101010101" pitchFamily="2" charset="-122"/>
                <a:cs typeface="Times New Roman" panose="02020603050405020304" pitchFamily="18" charset="0"/>
              </a:rPr>
              <a:t>个球</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所以每</a:t>
            </a: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宋体" panose="02010600030101010101" pitchFamily="2" charset="-122"/>
                <a:cs typeface="Times New Roman" panose="02020603050405020304" pitchFamily="18" charset="0"/>
              </a:rPr>
              <a:t>个随机数作为一组</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若得到的一组随机数为</a:t>
            </a:r>
            <a:r>
              <a:rPr lang="en-US" altLang="zh-CN" dirty="0">
                <a:solidFill>
                  <a:srgbClr val="000000"/>
                </a:solidFill>
                <a:ea typeface="宋体" panose="02010600030101010101" pitchFamily="2" charset="-122"/>
                <a:cs typeface="Times New Roman" panose="02020603050405020304" pitchFamily="18" charset="0"/>
              </a:rPr>
              <a:t>“4678”,</a:t>
            </a:r>
            <a:r>
              <a:rPr lang="zh-CN" altLang="zh-CN" dirty="0">
                <a:solidFill>
                  <a:srgbClr val="000000"/>
                </a:solidFill>
                <a:ea typeface="宋体" panose="02010600030101010101" pitchFamily="2" charset="-122"/>
                <a:cs typeface="Times New Roman" panose="02020603050405020304" pitchFamily="18" charset="0"/>
              </a:rPr>
              <a:t>则它代表的含义是</a:t>
            </a:r>
            <a:r>
              <a:rPr lang="zh-CN" altLang="zh-CN" i="1" u="sng" dirty="0">
                <a:uFill>
                  <a:solidFill>
                    <a:srgbClr val="000000"/>
                  </a:solidFill>
                </a:uFill>
                <a:ea typeface="宋体" panose="02010600030101010101" pitchFamily="2" charset="-122"/>
                <a:cs typeface="Times New Roman" panose="02020603050405020304" pitchFamily="18" charset="0"/>
              </a:rPr>
              <a:t>　</a:t>
            </a:r>
            <a:r>
              <a:rPr lang="en-US" altLang="zh-CN" i="1" u="sng" dirty="0" smtClean="0">
                <a:uFill>
                  <a:solidFill>
                    <a:srgbClr val="000000"/>
                  </a:solidFill>
                </a:uFill>
                <a:ea typeface="宋体" panose="02010600030101010101" pitchFamily="2" charset="-122"/>
                <a:cs typeface="Times New Roman" panose="02020603050405020304" pitchFamily="18" charset="0"/>
              </a:rPr>
              <a:t>					</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分析题意</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易知数字代表的含义</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取出的</a:t>
            </a: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宋体" panose="02010600030101010101" pitchFamily="2" charset="-122"/>
                <a:cs typeface="Times New Roman" panose="02020603050405020304" pitchFamily="18" charset="0"/>
              </a:rPr>
              <a:t>个球中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只有</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个白球</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701958505"/>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randombar(horizontal)">
                                      <p:cBhvr>
                                        <p:cTn id="12"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79081906"/>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专业教辅课件Q:251490010">
  <a:themeElements>
    <a:clrScheme name="穿越">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经典">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演示文稿3" id="{7F1B58FA-3D69-4926-A2BA-EEBABBAD5E6B}" vid="{76CC91B4-AC1E-4E21-9BDB-923C2B156DCE}"/>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新教材 高中同步</Template>
  <TotalTime>74</TotalTime>
  <Words>2034</Words>
  <Application>Microsoft Office PowerPoint</Application>
  <PresentationFormat>自定义</PresentationFormat>
  <Paragraphs>134</Paragraphs>
  <Slides>36</Slides>
  <Notes>1</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1</vt:i4>
      </vt:variant>
      <vt:variant>
        <vt:lpstr>幻灯片标题</vt:lpstr>
      </vt:variant>
      <vt:variant>
        <vt:i4>36</vt:i4>
      </vt:variant>
    </vt:vector>
  </HeadingPairs>
  <TitlesOfParts>
    <vt:vector size="52" baseType="lpstr">
      <vt:lpstr>NEU-BZ-S92</vt:lpstr>
      <vt:lpstr>方正书宋_GBK</vt:lpstr>
      <vt:lpstr>方正正中黑简体</vt:lpstr>
      <vt:lpstr>仿宋</vt:lpstr>
      <vt:lpstr>黑体</vt:lpstr>
      <vt:lpstr>华文新魏</vt:lpstr>
      <vt:lpstr>楷体</vt:lpstr>
      <vt:lpstr>隶书</vt:lpstr>
      <vt:lpstr>宋体</vt:lpstr>
      <vt:lpstr>微软雅黑</vt:lpstr>
      <vt:lpstr>Arial</vt:lpstr>
      <vt:lpstr>Calibri</vt:lpstr>
      <vt:lpstr>Cambria Math</vt:lpstr>
      <vt:lpstr>Times New Roman</vt:lpstr>
      <vt:lpstr>专业教辅课件Q:251490010</vt:lpstr>
      <vt:lpstr>文档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Microsoft</cp:lastModifiedBy>
  <cp:revision>26</cp:revision>
  <dcterms:created xsi:type="dcterms:W3CDTF">2020-09-12T05:36:12Z</dcterms:created>
  <dcterms:modified xsi:type="dcterms:W3CDTF">2025-09-04T06:56:07Z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TAG2">
    <vt:lpwstr>0008007650000000000001024140</vt:lpwstr>
  </property>
  <property fmtid="{D5CDD505-2E9C-101B-9397-08002B2CF9AE}" pid="3" name="KSOProductBuildVer">
    <vt:lpwstr>2052-10.1.0.7698</vt:lpwstr>
  </property>
</Properties>
</file>