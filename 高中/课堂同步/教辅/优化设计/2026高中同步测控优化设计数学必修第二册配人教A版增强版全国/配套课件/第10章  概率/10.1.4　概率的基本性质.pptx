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731" r:id="rId2"/>
    <p:sldId id="753" r:id="rId3"/>
    <p:sldId id="736" r:id="rId4"/>
    <p:sldId id="744" r:id="rId5"/>
    <p:sldId id="746" r:id="rId6"/>
    <p:sldId id="749" r:id="rId7"/>
    <p:sldId id="757" r:id="rId8"/>
    <p:sldId id="758" r:id="rId9"/>
    <p:sldId id="759" r:id="rId10"/>
    <p:sldId id="760" r:id="rId11"/>
    <p:sldId id="761" r:id="rId12"/>
    <p:sldId id="737" r:id="rId13"/>
    <p:sldId id="750" r:id="rId14"/>
    <p:sldId id="762" r:id="rId15"/>
    <p:sldId id="763" r:id="rId16"/>
    <p:sldId id="764" r:id="rId17"/>
    <p:sldId id="765" r:id="rId18"/>
    <p:sldId id="766" r:id="rId19"/>
    <p:sldId id="754" r:id="rId20"/>
    <p:sldId id="767" r:id="rId21"/>
    <p:sldId id="768" r:id="rId22"/>
    <p:sldId id="769" r:id="rId23"/>
    <p:sldId id="770" r:id="rId24"/>
    <p:sldId id="771" r:id="rId25"/>
    <p:sldId id="755" r:id="rId26"/>
    <p:sldId id="772" r:id="rId27"/>
    <p:sldId id="773" r:id="rId28"/>
    <p:sldId id="774" r:id="rId29"/>
    <p:sldId id="747" r:id="rId30"/>
    <p:sldId id="751" r:id="rId31"/>
    <p:sldId id="778" r:id="rId32"/>
    <p:sldId id="785" r:id="rId33"/>
    <p:sldId id="779" r:id="rId34"/>
    <p:sldId id="780" r:id="rId35"/>
    <p:sldId id="748" r:id="rId36"/>
    <p:sldId id="752" r:id="rId37"/>
    <p:sldId id="781" r:id="rId38"/>
    <p:sldId id="782" r:id="rId39"/>
    <p:sldId id="783" r:id="rId40"/>
    <p:sldId id="784" r:id="rId41"/>
    <p:sldId id="735" r:id="rId42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468" autoAdjust="0"/>
  </p:normalViewPr>
  <p:slideViewPr>
    <p:cSldViewPr>
      <p:cViewPr varScale="1">
        <p:scale>
          <a:sx n="97" d="100"/>
          <a:sy n="97" d="100"/>
        </p:scale>
        <p:origin x="504" y="72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41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5.xml"/><Relationship Id="rId5" Type="http://schemas.openxmlformats.org/officeDocument/2006/relationships/slide" Target="slide29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5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7.docx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8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9.docx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0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1.docx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2.docx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13.bin"/><Relationship Id="rId7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3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5.docx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6.bin"/><Relationship Id="rId7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6.docx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4.emf"/><Relationship Id="rId5" Type="http://schemas.openxmlformats.org/officeDocument/2006/relationships/image" Target="../media/image22.emf"/><Relationship Id="rId10" Type="http://schemas.openxmlformats.org/officeDocument/2006/relationships/package" Target="../embeddings/Microsoft_Word___20.docx"/><Relationship Id="rId4" Type="http://schemas.openxmlformats.org/officeDocument/2006/relationships/package" Target="../embeddings/Microsoft_Word___18.docx"/><Relationship Id="rId9" Type="http://schemas.openxmlformats.org/officeDocument/2006/relationships/oleObject" Target="../embeddings/oleObject20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03673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概率的基本性质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306262"/>
            <a:ext cx="10729192" cy="3724753"/>
            <a:chOff x="360437" y="1819589"/>
            <a:chExt cx="10729192" cy="3724753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819589"/>
              <a:ext cx="10729192" cy="3724753"/>
              <a:chOff x="360437" y="2213878"/>
              <a:chExt cx="10729192" cy="2544057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213878"/>
                <a:ext cx="10729192" cy="2544057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239946"/>
                <a:ext cx="0" cy="2438053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98047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848696"/>
              <a:ext cx="8496944" cy="3581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通过实例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理解概率的性质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掌握随机事件概率的运算法则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会利用互斥事件的概率加法公式及其他概率的性质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计算随机事件的概率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解决简单的实际问题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提升数学抽象、数据分析和数学运算等素养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71594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概率的性质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思考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概率的定义是什么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根据概率的定义你能得出事件的概率是什么样的数吗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对随机事件发生可能性大小的度量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数值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称为事件的概率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根据概率的定义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我们得到事件的概率都是非负数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在每次试验中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必然事件是什么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包含多少个样本点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必然事件是样本空间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包含的样本点个数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在每次试验中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不可能事件是什么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包含多少个样本点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不可能事件是空集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不包含任何样本点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20682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概率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的性质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对任意的事件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都有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dirty="0" smtClean="0"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≥ 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必然事件的概率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不可能事件的概率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 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+mn-lt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如果事件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与事件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互斥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如果事件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两两互斥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62606" y="1779704"/>
            <a:ext cx="29962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357746" y="2243802"/>
            <a:ext cx="2992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5150195" y="2345010"/>
            <a:ext cx="3625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145371" y="2809108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9332461" y="2345010"/>
            <a:ext cx="3625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9327637" y="2809108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00171" y="2961032"/>
            <a:ext cx="273630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95347" y="3425130"/>
            <a:ext cx="273320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8777891" y="3547630"/>
            <a:ext cx="186893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8772575" y="4011728"/>
            <a:ext cx="18668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95347" y="4750474"/>
            <a:ext cx="406954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390031" y="5214572"/>
            <a:ext cx="40649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93768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2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11895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如果事件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与事件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互为对立事件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-P</a:t>
            </a:r>
            <a:r>
              <a:rPr lang="en-US" altLang="zh-CN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-P</a:t>
            </a:r>
            <a:r>
              <a:rPr lang="en-US" altLang="zh-CN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dirty="0" smtClean="0"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是一个随机试验中的两个事件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我们有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-P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32235" y="1613103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9727464" y="2077201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538404" y="2192465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533633" y="2656563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284022" y="2775989"/>
            <a:ext cx="31554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5278752" y="3240087"/>
            <a:ext cx="3151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221887" y="3960391"/>
            <a:ext cx="337205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2216617" y="4424489"/>
            <a:ext cx="33682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99138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288429" y="360012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抛掷一枚质地均匀的骰子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出现的点数大于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出现的点数为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的大小关系是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i="1" u="sng" dirty="0" smtClean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”)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584096"/>
              </p:ext>
            </p:extLst>
          </p:nvPr>
        </p:nvGraphicFramePr>
        <p:xfrm>
          <a:off x="371798" y="997448"/>
          <a:ext cx="10789840" cy="2479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文档" r:id="rId4" imgW="3826872" imgH="881198" progId="Word.Document.12">
                  <p:embed/>
                </p:oleObj>
              </mc:Choice>
              <mc:Fallback>
                <p:oleObj name="文档" r:id="rId4" imgW="3826872" imgH="8811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1798" y="997448"/>
                        <a:ext cx="10789840" cy="24796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302725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640000"/>
              </p:ext>
            </p:extLst>
          </p:nvPr>
        </p:nvGraphicFramePr>
        <p:xfrm>
          <a:off x="504453" y="997448"/>
          <a:ext cx="10640962" cy="3666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文档" r:id="rId4" imgW="3837724" imgH="1322225" progId="Word.Document.12">
                  <p:embed/>
                </p:oleObj>
              </mc:Choice>
              <mc:Fallback>
                <p:oleObj name="文档" r:id="rId4" imgW="3837724" imgH="13222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997448"/>
                        <a:ext cx="10640962" cy="36661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484266" y="4731473"/>
            <a:ext cx="4916731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(1)C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48991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779000"/>
            <a:ext cx="11742454" cy="5403024"/>
            <a:chOff x="361950" y="664452"/>
            <a:chExt cx="11742454" cy="5403024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664452"/>
              <a:ext cx="10807700" cy="300768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存在随机事件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满足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对于任意事件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6815548"/>
                </p:ext>
              </p:extLst>
            </p:nvPr>
          </p:nvGraphicFramePr>
          <p:xfrm>
            <a:off x="432445" y="3629623"/>
            <a:ext cx="11671959" cy="6488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文档" r:id="rId4" imgW="3826872" imgH="212753" progId="Word.Document.12">
                    <p:embed/>
                  </p:oleObj>
                </mc:Choice>
                <mc:Fallback>
                  <p:oleObj name="文档" r:id="rId4" imgW="3826872" imgH="21275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3629623"/>
                          <a:ext cx="11671959" cy="6488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4202350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那么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(5)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如果事件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、事件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、事件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两两互斥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那么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=P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+P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+P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6553125" y="2685034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5977061" y="3248264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0153525" y="3841156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5904342" y="4468078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174265" y="5610585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581480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678243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互斥事件</a:t>
            </a:r>
            <a:r>
              <a:rPr lang="zh-CN" altLang="zh-CN" dirty="0"/>
              <a:t>的概率的求法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243916"/>
            <a:ext cx="108077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黄种人群中各种血型的人所占的比例如下表所示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606773"/>
              </p:ext>
            </p:extLst>
          </p:nvPr>
        </p:nvGraphicFramePr>
        <p:xfrm>
          <a:off x="-156655" y="1933382"/>
          <a:ext cx="11844910" cy="2130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文档" r:id="rId4" imgW="3883577" imgH="698633" progId="Word.Document.12">
                  <p:embed/>
                </p:oleObj>
              </mc:Choice>
              <mc:Fallback>
                <p:oleObj name="文档" r:id="rId4" imgW="3883577" imgH="6986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56655" y="1933382"/>
                        <a:ext cx="11844910" cy="21308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49" y="3361451"/>
            <a:ext cx="1116012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假设同种血型的人可以相互输血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型血可以输给任一种血型的人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任一种血型的血都可以输给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型血的人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其他不同血型的人不能相互输血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小明是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型血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若他因病需要输血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任找一个人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其血可以输给小明的概率是多少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任找一个人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其血不能输给小明的概率是多少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2526502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将比例化为概率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根据事件之间的关系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选择概率公式计算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707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42909"/>
            <a:ext cx="10807700" cy="537749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对任一人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其血型为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A,B,AB,O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型血的事件分别记为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它们是两两互斥的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28,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29,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08,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B,O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型血可以输给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型血的人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任找一个人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其血可以输给小明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B'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根据概率的加法公式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B'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A,AB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型血不能输给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型血的人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任找一个人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其血不能输给小明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A'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A'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345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704191"/>
            <a:ext cx="10807700" cy="2380328"/>
            <a:chOff x="361950" y="1579839"/>
            <a:chExt cx="10807700" cy="2380328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579839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151595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解决此类题的关键是明晰概率加法公式应用的前提是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各事件是互斥事件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对于较难判断关系的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必要时可利用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Venn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图或列出试验的样本空间及随机事件进行分析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4410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53918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由经验得知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在某商场付款处排队等候付款的人数及概率如下表所示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361950" y="360012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至多有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人排队的概率是多少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人排队的概率是多少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086997671"/>
              </p:ext>
            </p:extLst>
          </p:nvPr>
        </p:nvGraphicFramePr>
        <p:xfrm>
          <a:off x="361950" y="2530398"/>
          <a:ext cx="10807699" cy="975360"/>
        </p:xfrm>
        <a:graphic>
          <a:graphicData uri="http://schemas.openxmlformats.org/drawingml/2006/table">
            <a:tbl>
              <a:tblPr firstRow="1" firstCol="1" bandRow="1"/>
              <a:tblGrid>
                <a:gridCol w="2518767"/>
                <a:gridCol w="1008112"/>
                <a:gridCol w="1104992"/>
                <a:gridCol w="1543957"/>
                <a:gridCol w="1543957"/>
                <a:gridCol w="919662"/>
                <a:gridCol w="2168252"/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3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排队人数</a:t>
                      </a:r>
                      <a:endParaRPr lang="zh-CN" sz="3200" b="1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3200" b="1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3200" b="1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3200" b="1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3200" b="1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3200" b="1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CN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人及以上</a:t>
                      </a:r>
                      <a:endParaRPr lang="zh-CN" sz="3200" b="1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3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概率</a:t>
                      </a:r>
                      <a:endParaRPr lang="zh-CN" sz="3200" b="1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3200" b="1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3200" b="1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3200" b="1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lang="zh-CN" sz="3200" b="1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3200" b="1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3200" b="1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3200" b="1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3200" b="1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3200" b="1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3200" b="1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3200" b="1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3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04</a:t>
                      </a:r>
                      <a:endParaRPr lang="zh-CN" sz="3200" b="1" dirty="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12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01792"/>
            <a:ext cx="10807700" cy="47865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设商场付款处排队等候付款的人数为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0,1,2,3,4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人及以上的事件分别为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可知这六个事件两两互斥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记事件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至多有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人排队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56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记事件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至少有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人排队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C=A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187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91815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对立事件</a:t>
            </a:r>
            <a:r>
              <a:rPr lang="zh-CN" altLang="zh-CN" dirty="0"/>
              <a:t>的概率的求法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469834"/>
            <a:ext cx="10807700" cy="43200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袋中有除颜色外其他完全相同的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个白球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个红球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从袋中任意取出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求下列事件的概率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取出的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个球都是白球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取出的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个球中有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个白球、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个红球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取出的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个球中至少有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个白球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按照古典概型的概率公式计算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的关系求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或利用对立事件的概率求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61950" y="890371"/>
            <a:ext cx="14069176" cy="4920738"/>
            <a:chOff x="361950" y="658190"/>
            <a:chExt cx="14069176" cy="492073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658190"/>
              <a:ext cx="10807700" cy="3581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个白球的编号为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1,2,3,4,2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个红球的编号为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5,6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从袋中的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个球中任取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对应的样本空间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{(1,2),(1,3),(1,4),(1,5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 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1,6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2,3),(2,4),(2,5),(2,6),(3,4),(3,5),(3,6),(4,5),(4,6),(5,6)},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共有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且每个样本点都是等可能出现的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{(1,2),(1,3),(1,4),(2,3),(2,4),(3,4)},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包含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6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endParaRPr lang="zh-CN" altLang="en-US" dirty="0"/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710239"/>
                </p:ext>
              </p:extLst>
            </p:nvPr>
          </p:nvGraphicFramePr>
          <p:xfrm>
            <a:off x="936501" y="3532302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2" name="文档" r:id="rId4" imgW="3837724" imgH="238700" progId="Word.Document.12">
                    <p:embed/>
                  </p:oleObj>
                </mc:Choice>
                <mc:Fallback>
                  <p:oleObj name="文档" r:id="rId4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36501" y="3532302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4316311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{(1,5),(1,6),(2,5),(2,6),(3,5),(3,6),(4,5),(4,6)},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包含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7228528"/>
                </p:ext>
              </p:extLst>
            </p:nvPr>
          </p:nvGraphicFramePr>
          <p:xfrm>
            <a:off x="2726068" y="4850893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3" name="文档" r:id="rId7" imgW="3837724" imgH="238700" progId="Word.Document.12">
                    <p:embed/>
                  </p:oleObj>
                </mc:Choice>
                <mc:Fallback>
                  <p:oleObj name="文档" r:id="rId7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26068" y="4850893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41263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3609418"/>
              </p:ext>
            </p:extLst>
          </p:nvPr>
        </p:nvGraphicFramePr>
        <p:xfrm>
          <a:off x="576461" y="1511895"/>
          <a:ext cx="11705058" cy="3132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文档" r:id="rId4" imgW="3837724" imgH="1026915" progId="Word.Document.12">
                  <p:embed/>
                </p:oleObj>
              </mc:Choice>
              <mc:Fallback>
                <p:oleObj name="文档" r:id="rId4" imgW="3837724" imgH="10269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511895"/>
                        <a:ext cx="11705058" cy="31320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9568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668581"/>
            <a:ext cx="10807700" cy="5796597"/>
            <a:chOff x="361950" y="762319"/>
            <a:chExt cx="10807700" cy="5796597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762319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204758"/>
              <a:ext cx="10807700" cy="535415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求复杂事件的概率通常有两种方法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一是将所求事件转化成彼此互斥事件的并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二是先求对立事件的概率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进而再求所求事件的概率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互斥事件的概率加法公式是一个很基本的计算公式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解题时要在具体的情景中判断各事件间是否互斥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只有互斥事件才能用概率加法公式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如果事件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与事件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互斥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那么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如果事件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dirty="0">
                  <a:solidFill>
                    <a:srgbClr val="000000"/>
                  </a:solidFill>
                  <a:latin typeface="仿宋" panose="02010609060101010101" pitchFamily="49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两两互斥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那么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dirty="0">
                  <a:solidFill>
                    <a:srgbClr val="000000"/>
                  </a:solidFill>
                  <a:latin typeface="仿宋" panose="02010609060101010101" pitchFamily="49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latin typeface="仿宋" panose="02010609060101010101" pitchFamily="49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334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670753"/>
              </p:ext>
            </p:extLst>
          </p:nvPr>
        </p:nvGraphicFramePr>
        <p:xfrm>
          <a:off x="432445" y="1600431"/>
          <a:ext cx="11671959" cy="2791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文档" r:id="rId4" imgW="3826872" imgH="915339" progId="Word.Document.12">
                  <p:embed/>
                </p:oleObj>
              </mc:Choice>
              <mc:Fallback>
                <p:oleObj name="文档" r:id="rId4" imgW="3826872" imgH="9153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600431"/>
                        <a:ext cx="11671959" cy="27917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982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689511"/>
              </p:ext>
            </p:extLst>
          </p:nvPr>
        </p:nvGraphicFramePr>
        <p:xfrm>
          <a:off x="504825" y="935831"/>
          <a:ext cx="11661775" cy="481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文档" r:id="rId4" imgW="3826872" imgH="1585581" progId="Word.Document.12">
                  <p:embed/>
                </p:oleObj>
              </mc:Choice>
              <mc:Fallback>
                <p:oleObj name="文档" r:id="rId4" imgW="3826872" imgH="15855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935831"/>
                        <a:ext cx="11661775" cy="4819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058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39471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求</a:t>
            </a:r>
            <a:r>
              <a:rPr lang="zh-CN" altLang="zh-CN" dirty="0"/>
              <a:t>事件的运算的概率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73127"/>
            <a:ext cx="10807700" cy="49109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袋中有五张卡片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其中红色卡片三张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标号分别为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1,2,3;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蓝色卡片两张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标号分别为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从这五张卡片中任取两张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如果五张卡片被抽取的机会相等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分别计算下列事件的概率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这两张卡片的颜色不同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这两张卡片的标号之和小于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7”;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这两张卡片的颜色不同且标号之和小于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7”;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这两张卡片的颜色不同或标号之和小于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64167"/>
              </p:ext>
            </p:extLst>
          </p:nvPr>
        </p:nvGraphicFramePr>
        <p:xfrm>
          <a:off x="432445" y="765717"/>
          <a:ext cx="11705058" cy="5354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文档" r:id="rId4" imgW="3837724" imgH="1755636" progId="Word.Document.12">
                  <p:embed/>
                </p:oleObj>
              </mc:Choice>
              <mc:Fallback>
                <p:oleObj name="文档" r:id="rId4" imgW="3837724" imgH="17556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65717"/>
                        <a:ext cx="11705058" cy="5354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985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597091"/>
              </p:ext>
            </p:extLst>
          </p:nvPr>
        </p:nvGraphicFramePr>
        <p:xfrm>
          <a:off x="392683" y="2303983"/>
          <a:ext cx="11705058" cy="1255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文档" r:id="rId4" imgW="3837724" imgH="411776" progId="Word.Document.12">
                  <p:embed/>
                </p:oleObj>
              </mc:Choice>
              <mc:Fallback>
                <p:oleObj name="文档" r:id="rId4" imgW="3837724" imgH="4117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2683" y="2303983"/>
                        <a:ext cx="11705058" cy="12559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032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242409"/>
            <a:ext cx="10807700" cy="3581854"/>
            <a:chOff x="361950" y="940139"/>
            <a:chExt cx="10807700" cy="3581854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531559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求交、并事件的概率的一般方法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交、并事件也是随机事件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利用交事件、并事件的含义列举对应的样本点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根据随机事件的概率公式计算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并事件的概率可以根据概率的性质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计算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特别地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互斥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866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361950" y="849656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不能区分事件是否互斥致错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掷一枚质地均匀的骰子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记事件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点数是奇数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点数不超过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758678"/>
              </p:ext>
            </p:extLst>
          </p:nvPr>
        </p:nvGraphicFramePr>
        <p:xfrm>
          <a:off x="462889" y="2732869"/>
          <a:ext cx="11705058" cy="728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3" name="文档" r:id="rId4" imgW="3837724" imgH="238700" progId="Word.Document.12">
                  <p:embed/>
                </p:oleObj>
              </mc:Choice>
              <mc:Fallback>
                <p:oleObj name="文档" r:id="rId4" imgW="3837724" imgH="238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2889" y="2732869"/>
                        <a:ext cx="11705058" cy="728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>
            <a:spLocks noChangeAspect="1"/>
          </p:cNvSpPr>
          <p:nvPr/>
        </p:nvSpPr>
        <p:spPr>
          <a:xfrm>
            <a:off x="361950" y="3485216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与事件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不是互斥事件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不能应用概率的加法公式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361950" y="945493"/>
            <a:ext cx="11765162" cy="4547624"/>
            <a:chOff x="361950" y="924711"/>
            <a:chExt cx="11765162" cy="4547624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924711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正解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方法一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记事件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分别为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这四个事件两两互斥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925558"/>
                </p:ext>
              </p:extLst>
            </p:nvPr>
          </p:nvGraphicFramePr>
          <p:xfrm>
            <a:off x="422054" y="2149576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3" name="文档" r:id="rId4" imgW="3837724" imgH="238700" progId="Word.Document.12">
                    <p:embed/>
                  </p:oleObj>
                </mc:Choice>
                <mc:Fallback>
                  <p:oleObj name="文档" r:id="rId4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2054" y="2149576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2898393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方法二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点数是奇数或点数不超过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{1,2,3,5},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包含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样本空间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Ω=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{1,2,3,4,5,6},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共有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2744158"/>
                </p:ext>
              </p:extLst>
            </p:nvPr>
          </p:nvGraphicFramePr>
          <p:xfrm>
            <a:off x="408806" y="4744300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4" name="文档" r:id="rId7" imgW="3837724" imgH="238700" progId="Word.Document.12">
                    <p:embed/>
                  </p:oleObj>
                </mc:Choice>
                <mc:Fallback>
                  <p:oleObj name="文档" r:id="rId7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08806" y="4744300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1432366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6399948"/>
              </p:ext>
            </p:extLst>
          </p:nvPr>
        </p:nvGraphicFramePr>
        <p:xfrm>
          <a:off x="504453" y="1799927"/>
          <a:ext cx="11705058" cy="2184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文档" r:id="rId4" imgW="3837724" imgH="716100" progId="Word.Document.12">
                  <p:embed/>
                </p:oleObj>
              </mc:Choice>
              <mc:Fallback>
                <p:oleObj name="文档" r:id="rId4" imgW="3837724" imgH="7161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799927"/>
                        <a:ext cx="11705058" cy="2184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188422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1288800"/>
            <a:ext cx="10807700" cy="3607471"/>
            <a:chOff x="361950" y="1720848"/>
            <a:chExt cx="10807700" cy="3607471"/>
          </a:xfrm>
        </p:grpSpPr>
        <p:pic>
          <p:nvPicPr>
            <p:cNvPr id="13" name="防范措施H.eps" descr="id:214749086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720848"/>
              <a:ext cx="2259558" cy="531552"/>
            </a:xfrm>
            <a:prstGeom prst="rect">
              <a:avLst/>
            </a:prstGeom>
          </p:spPr>
        </p:pic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2337885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在使用概率的加法公式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注意使用的条件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掌握互斥事件的特点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分清事件是否为互斥事件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不互斥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则应用概率公式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计算概率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020335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618307"/>
              </p:ext>
            </p:extLst>
          </p:nvPr>
        </p:nvGraphicFramePr>
        <p:xfrm>
          <a:off x="414882" y="4358980"/>
          <a:ext cx="11671959" cy="804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1" name="文档" r:id="rId4" imgW="3826872" imgH="263784" progId="Word.Document.12">
                  <p:embed/>
                </p:oleObj>
              </mc:Choice>
              <mc:Fallback>
                <p:oleObj name="文档" r:id="rId4" imgW="3826872" imgH="2637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4882" y="4358980"/>
                        <a:ext cx="11671959" cy="804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1003943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在投掷一枚质地均匀的骰子时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朝上面的点数为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的概率为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61950" y="2221584"/>
            <a:ext cx="11724892" cy="2100685"/>
            <a:chOff x="361950" y="2087959"/>
            <a:chExt cx="11724892" cy="2100685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4164281"/>
                </p:ext>
              </p:extLst>
            </p:nvPr>
          </p:nvGraphicFramePr>
          <p:xfrm>
            <a:off x="414883" y="3384103"/>
            <a:ext cx="11671959" cy="804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2" name="文档" r:id="rId7" imgW="3826872" imgH="263784" progId="Word.Document.12">
                    <p:embed/>
                  </p:oleObj>
                </mc:Choice>
                <mc:Fallback>
                  <p:oleObj name="文档" r:id="rId7" imgW="3826872" imgH="26378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14883" y="3384103"/>
                          <a:ext cx="11671959" cy="80454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2087959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记事件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朝上面的点数为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5”,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朝上面的点数为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6”,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互斥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61950" y="2130225"/>
            <a:ext cx="10807700" cy="6555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90627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73906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口袋内装有一些大小质地完全相同的红球、白球和黑球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从中随机摸出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摸出红球的概率是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摸出白球的概率是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28,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那么摸出黑球的概率是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28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C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摸出红球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摸出白球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摸出黑球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63233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甲、乙两人下棋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甲获胜的概率为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40%,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甲不输的概率为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90%,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则甲、乙两人下成和棋的概率为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60%	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30%	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10%	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50%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甲获胜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甲不输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甲、乙和棋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互斥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13233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63233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从一箱产品中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随机抽取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抽到一等品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抽到二等品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抽到三等品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65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抽取的不是一等品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的概率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65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35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抽到的不是一等品的概率为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37527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163623"/>
            <a:ext cx="10807700" cy="1808572"/>
            <a:chOff x="361950" y="1063233"/>
            <a:chExt cx="10807700" cy="180857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063233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名男生和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名女生中任选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人去参加演讲比赛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如果所选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人中至少有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名女生的概率为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那么所选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人都是男生的概率为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0981656"/>
                </p:ext>
              </p:extLst>
            </p:nvPr>
          </p:nvGraphicFramePr>
          <p:xfrm>
            <a:off x="1779747" y="1641480"/>
            <a:ext cx="7972105" cy="6520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0" name="文档" r:id="rId4" imgW="3826872" imgH="313019" progId="Word.Document.12">
                    <p:embed/>
                  </p:oleObj>
                </mc:Choice>
                <mc:Fallback>
                  <p:oleObj name="文档" r:id="rId4" imgW="3826872" imgH="31301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779747" y="1641480"/>
                          <a:ext cx="7972105" cy="6520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372324"/>
              </p:ext>
            </p:extLst>
          </p:nvPr>
        </p:nvGraphicFramePr>
        <p:xfrm>
          <a:off x="504453" y="4297363"/>
          <a:ext cx="11671959" cy="804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1" name="文档" r:id="rId7" imgW="3826872" imgH="263784" progId="Word.Document.12">
                  <p:embed/>
                </p:oleObj>
              </mc:Choice>
              <mc:Fallback>
                <p:oleObj name="文档" r:id="rId7" imgW="3826872" imgH="2637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4297363"/>
                        <a:ext cx="11671959" cy="804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361950" y="2986932"/>
            <a:ext cx="17402810" cy="1238907"/>
            <a:chOff x="361950" y="2986932"/>
            <a:chExt cx="17402810" cy="1238907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2986932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 smtClean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设事件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人中至少有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名女生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人都为男生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互为对立事件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5693637"/>
                </p:ext>
              </p:extLst>
            </p:nvPr>
          </p:nvGraphicFramePr>
          <p:xfrm>
            <a:off x="6059702" y="3497804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2" name="文档" r:id="rId10" imgW="3837724" imgH="238700" progId="Word.Document.12">
                    <p:embed/>
                  </p:oleObj>
                </mc:Choice>
                <mc:Fallback>
                  <p:oleObj name="文档" r:id="rId10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059702" y="3497804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921655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028621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运动员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射击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未中靶的概率为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05,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中靶环数大于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的概率为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中靶环数大于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小于等于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的概率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未中靶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中靶环数大于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是互斥事件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未中靶或中靶环数大于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的对立事件是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中靶环数大于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小于等于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14386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70</TotalTime>
  <Words>2060</Words>
  <Application>Microsoft Office PowerPoint</Application>
  <PresentationFormat>自定义</PresentationFormat>
  <Paragraphs>131</Paragraphs>
  <Slides>41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7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26</cp:revision>
  <dcterms:created xsi:type="dcterms:W3CDTF">2020-09-12T05:36:12Z</dcterms:created>
  <dcterms:modified xsi:type="dcterms:W3CDTF">2025-09-04T06:52:01Z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