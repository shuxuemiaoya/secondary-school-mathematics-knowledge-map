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37" r:id="rId19"/>
    <p:sldId id="750" r:id="rId20"/>
    <p:sldId id="767" r:id="rId21"/>
    <p:sldId id="781" r:id="rId22"/>
    <p:sldId id="782" r:id="rId23"/>
    <p:sldId id="768" r:id="rId24"/>
    <p:sldId id="769" r:id="rId25"/>
    <p:sldId id="770" r:id="rId26"/>
    <p:sldId id="754" r:id="rId27"/>
    <p:sldId id="771" r:id="rId28"/>
    <p:sldId id="772" r:id="rId29"/>
    <p:sldId id="773" r:id="rId30"/>
    <p:sldId id="774" r:id="rId31"/>
    <p:sldId id="747" r:id="rId32"/>
    <p:sldId id="751" r:id="rId33"/>
    <p:sldId id="775" r:id="rId34"/>
    <p:sldId id="776" r:id="rId35"/>
    <p:sldId id="777" r:id="rId36"/>
    <p:sldId id="783" r:id="rId37"/>
    <p:sldId id="748" r:id="rId38"/>
    <p:sldId id="752" r:id="rId39"/>
    <p:sldId id="778" r:id="rId40"/>
    <p:sldId id="779" r:id="rId41"/>
    <p:sldId id="780" r:id="rId42"/>
    <p:sldId id="735" r:id="rId4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42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1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32077"/>
            <a:ext cx="10807700" cy="996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10.1.1</a:t>
            </a:r>
            <a:r>
              <a:rPr lang="zh-CN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有限样本空间与随机事件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33245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结合具体实例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理解样本点和有限样本空间的含义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理解随机事件与样本点的关系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会用适当的符号表示随机试验的样本空间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会用集合表示随机事件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理解样本空间与随机事件的关系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抽象、逻辑推理和数据分析等素养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5695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一、随机现象与随机试验的含义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下列随机试验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抛掷一枚硬币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观察正面、反面出现的情况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抛掷一枚骰子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观察它落地时朝上的面的点数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分别说一说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中试验有哪些可能的结果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你能事先确定这两个试验出现哪种结果吗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有正面朝上、反面朝上两个可能结果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朝上的面的点数有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1,2,3,4,5,6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个可能结果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16421" y="1583903"/>
            <a:ext cx="111601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随机现象的定义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就一次观测而言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出现哪种结果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具有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偶然性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但在大量重复观测下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各个结果出现的频率却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具有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稳定性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这类现象叫做随机现象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随机试验的定义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我们把对随机现象的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实现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和对它的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观察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称为随机试验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简称试验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常用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字母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98261" y="2231975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93490" y="2696073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85023" y="2805485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80252" y="3269583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422206" y="3433893"/>
            <a:ext cx="8184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7417221" y="3897991"/>
            <a:ext cx="817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9889620" y="3433893"/>
            <a:ext cx="8184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884635" y="3897991"/>
            <a:ext cx="8175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846098" y="4009957"/>
            <a:ext cx="38181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840866" y="4474055"/>
            <a:ext cx="3813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96654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2977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随机试验具有的特点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试验可以在相同条件下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重复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试验的所有可能结果是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明确可知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并且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不止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每次试验总是恰好出现这些可能结果中的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但事先不能确定出现哪一个结果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947433" y="198719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942843" y="245129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4949340" y="2549207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944794" y="3013305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899761" y="255764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895171" y="302174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91979" y="313910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187389" y="360320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581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658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以下试验是随机试验的是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练习投篮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观察命中的次数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买一张福利彩票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观察中奖情况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从合格率为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90%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件产品中任意抽取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检查是否为合格品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将一块石头抛向空中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观察是否落地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根据随机试验的特点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,A,B,C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都符合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将一块石头抛向空中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结果只有一个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落地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不符合随机试验的特点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8942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二、试验的样本空间和样本点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单项选择题一般是从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A,B,C,D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四个选项中选择一个正确答案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如果有一名学生有一题不会做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他随机选择一个选项作为答案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这个随机试验共有多少个可能结果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如何表示这些结果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个可能结果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这些结果可用集合表示为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{A,B,C,D}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5130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15840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样本点的定义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我们把随机试验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的每个可能的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基本结果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表示样本点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样本空间的定义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全体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样本点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的集合称为试验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有限样本空间的定义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如果一个随机试验有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个可能结果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baseline="-25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则称样本空间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baseline="-25000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ea typeface="Microsoft Yi Baiti" panose="03000500000000000000" pitchFamily="66" charset="0"/>
                <a:cs typeface="Times New Roman" panose="02020603050405020304" pitchFamily="18" charset="0"/>
              </a:rPr>
              <a:t>ω</a:t>
            </a:r>
            <a:r>
              <a:rPr lang="en-US" altLang="zh-CN" i="1" baseline="-25000" dirty="0" err="1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有限样本空间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03023" y="1268184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9398477" y="1732282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979102" y="1844248"/>
            <a:ext cx="29962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974241" y="2308346"/>
            <a:ext cx="29928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731409" y="2438754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726638" y="2902852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384131" y="3007134"/>
            <a:ext cx="3625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1379307" y="3471232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617021" y="4247564"/>
            <a:ext cx="244827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612250" y="4711662"/>
            <a:ext cx="244550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75626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658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射击运动员射击靶一次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观察射中的环数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则试验的样本空间为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{10}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{1,2,3,4,5,6,7,8,9,10}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{0,1,2,3,4,5,6,7,8,9,10}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{7,8,9}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因为射击时靶子有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还有脱靶的情况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脱靶表示射中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{0,1,2,3,4,5,6,7,8,9,10}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8488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48126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三、随机事件及其表示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在抛掷一枚骰子的试验中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朝上的面的点数为奇数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是随机事件吗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如何用集合的形式表示这一事件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这一事件可用集合表示为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{1,3,5}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2061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1762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随机试验中的每个随机事件都可以用这个试验的样本空间的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子集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来表示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我们将样本空间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子集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称为随机事件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随机事件一般用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大写字母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在每次试验中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当且仅当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中某个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样本点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出现时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基本事件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把只包含一个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样本点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的事件称为基本事件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41491" y="167553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4536901" y="213963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0243751" y="167553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0239161" y="213963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590213" y="2272889"/>
            <a:ext cx="31178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585623" y="2736987"/>
            <a:ext cx="31143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131835" y="342524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127064" y="388933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155997" y="4595587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5151226" y="5059685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8636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216421" y="1633259"/>
            <a:ext cx="111601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必然事件与不可能事件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作为自身的子集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包含了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所有的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在每次试验中总有一个样本点发生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总会发生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我们称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为必然事件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空集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不包含任何样本点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在每次试验中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都不会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我们称</a:t>
            </a:r>
            <a:r>
              <a:rPr lang="en-US" altLang="zh-CN" dirty="0"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为不可能事件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977235" y="1706627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9972464" y="2170725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165461" y="2851071"/>
            <a:ext cx="34710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160209" y="3315169"/>
            <a:ext cx="3467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561237" y="347455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7556466" y="393865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0901918" y="3434819"/>
            <a:ext cx="28686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0896632" y="3898917"/>
            <a:ext cx="2865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5332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9194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观察朝上的面的点数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点数不大于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的集合表示为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朝上的面的点数不大于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包含的点数是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46438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3124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早晨太阳从东方升起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这一现象是随机现象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随机试验的所有可能结果是不明确的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必然事件不是样本空间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的子集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随机试验的样本空间是一个集合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我们一般用列举法表示样本空间和随机事件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45413" y="276830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921277" y="331209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985173" y="388815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141692" y="4547382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145413" y="5104383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064685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448669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4824933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21762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写出</a:t>
            </a:r>
            <a:r>
              <a:rPr lang="zh-CN" altLang="zh-CN" dirty="0"/>
              <a:t>随机试验的样本空间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489498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写出下列各随机试验的样本空间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出生婴儿的性别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过红绿灯路口时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观察遇上的交通指挥灯的颜色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从含有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件次品的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件产品中任取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记录其中的次品数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从装有大小和质地完全相同、分别标有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个球的袋中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根据试验的可能结果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用集合表示样本空间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26631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因为出生婴儿的性别只有男和女两个可能结果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所以试验的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因为交通指挥灯的颜色只有红色、绿色和黄色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所以试验的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次品数可能有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0,1,2,3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所以试验的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可能的基本结果为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所以试验的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表示一次试验中取出的球是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47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050351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63058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添加条件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记下标记后放回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连续取两次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则试验的样本空间是什么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第一次取球可能的结果用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第二次取球可能的结果用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那么试验的样本点可用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于是试验的样本空间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3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2956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添加条件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记下标记后不放回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连续取两次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则试验的样本空间是什么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样本点的表示同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延伸探究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]1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一次性任取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对应的样本空间是什么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一次性任取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表示一次性取出的球是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690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064491"/>
            <a:ext cx="10807700" cy="4172156"/>
            <a:chOff x="361950" y="940139"/>
            <a:chExt cx="10807700" cy="4172156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30930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不重不漏地写出试验的样本空间的方法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样本空间只与问题的背景有关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根据问题的背景明确试验的每个可能的基本结果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根据日常生活经验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按照一定的顺序列举出所有样本点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用集合表示样本空间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也可以借助树状图、列表等方法帮助我们列出试验的所有可能结果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153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73789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写出下列各随机试验的样本空间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甲、乙两队进行一场足球比赛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观察比赛结果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可以是平局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小明练习投篮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观察小明投篮命中的次数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某人射击两次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观察各次射击中靶或脱靶情况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54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29639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因为比赛一场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结果有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甲赢、乙赢、平局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甲赢、乙赢、平局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因为投篮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命中的次数有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0,1,2,3,4,5,6,7,8,9,10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个可能的基本结果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{0,1,2,3,4,5,6,7,8,9,10}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射击两次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表示第一次射击中靶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第二次射击脱靶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也可以用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表示射击中靶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表示射击脱靶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{(1,1),(1,0),(0,1),(0,0)}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9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33274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集合表示随机事件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395975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在甲、乙两个盒子中分别装有标号为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的四个球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这些球大小和质地完全相同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现从甲、乙两个盒子中各随机摸出一个球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用集合表示下列事件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从甲盒子中摸出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号球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摸出的两个球上的标号为相邻整数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摸出的两个球上的标号之和能被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整除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29737"/>
            <a:ext cx="10807700" cy="59735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分别表示从甲、乙两个盒子中摸出的球的标号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则可以用数组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表示可能的结果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则试验的样本空间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{(1,1),(1,2),(1,3),(1,4),(2,1),(2,2),(2,3),(2,4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 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3,2),(3,3),(3,4),(4,1),(4,2),(4,3),(4,4)}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从甲盒子中摸出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号球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等价于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{(3,1),(3,2),(3,3),(3,4)}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摸出的两个球上的标号为相邻整数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等价于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为相邻整数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{(1,2),(2,1),(2,3),(3,2),(3,4),(4,3)}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摸出的两个球上的标号之和能被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整除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等价于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ts val="42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{(1,2),(2,1),(2,4),(4,2),(3,3)}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33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81983"/>
            <a:ext cx="10807700" cy="5390670"/>
            <a:chOff x="361950" y="940139"/>
            <a:chExt cx="10807700" cy="5390670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11028"/>
              <a:ext cx="10807700" cy="481978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随机试验的每个随机事件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是试验的样本空间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的一个子集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即随机事件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中的元素都是样本空间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Ω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中的元素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解决此类问题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要注意题设中的摸球方式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本题中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表示从甲盒子中摸出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从乙盒子中摸出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,(2,1)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表示从甲盒子中摸出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从乙盒子中摸出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是两个不同的样本点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如果从一个盒子中一次性摸两个球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那么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(2,1)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都表示摸出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号球和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号球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是一个样本点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因此解决此类问题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审清题意很关键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否则容易出错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502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88626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袋中有红、白色球各一个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每次任取一个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有放回地摸三次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用集合表示下列事件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三次颜色恰有两次同色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三次颜色全相同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三次摸到的红球多于白球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66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5185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016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46295"/>
            <a:ext cx="10807700" cy="60928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不能正确理解试验结果致错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随机选择一个有两个小孩的家庭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观察两个孩子的性别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用集合表示随机事件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一个男孩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一个女孩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因为两个孩子的性别共有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一男一女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三种可能的结果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一个男孩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一个女孩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的结果就一种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91815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一男一女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一女一男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两种可能结果错认为是一种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两个孩子出生有先后顺序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先男后女与先女后男不是同一种可能结果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因为两个孩子的性别共有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四种可能的结果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样本空间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Ω=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一个男孩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一个女孩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的可能结果有两种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4699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727919"/>
            <a:ext cx="10807700" cy="2391707"/>
            <a:chOff x="361950" y="1792856"/>
            <a:chExt cx="10807700" cy="2391707"/>
          </a:xfrm>
        </p:grpSpPr>
        <p:pic>
          <p:nvPicPr>
            <p:cNvPr id="3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37599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把握随机试验的实质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明确试验的条件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若在题干中强调了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依次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顺序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前后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就必须注意顺序问题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列举样本空间与随机事件时要做到不重不漏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85752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数字中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不放回地取两次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每次取一个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写出试验的样本空间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用集合表示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取出的两个数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其中一个数是另一个数的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6411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95871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分别表示第一次、第二次取出的数字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则数组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表示这个试验的一个样本点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{1,2,3,4},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所以样本空间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{(1,2),(1,3),(1,4),(2,1),(2,3),(2,4),(3,1),(3,2),(3,4),(4,1), (4,2),(4,3)}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因为两个数成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倍关系的有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{(1,2),(2,1),(2,4),(4,2)}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866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3485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从含有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件正品、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件次品的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件产品中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任意抽取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则必然事件是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件都是正品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件都是次品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件次品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件正品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从含有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件正品、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件次品的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件产品中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任意抽取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则必然事件是至少有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件正品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某人将一枚硬币连续抛掷了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观察正面朝上的次数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则样本空间为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{3}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{1,2,3,4,5,6}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{0,1,2,3,4,5,6}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{2,3,4}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正面朝上的次数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0,1,2,3,4,5,6,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样本空间为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{0,1,2,3,4,5,6}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9436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554750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袋中装有标号分别为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1,3,5,7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的四个相同的小球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从中一次性随机取出两个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则下列事件是基本事件的是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取出的两球的标号为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取出的两球的标号之和为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取出的两球的标号都大于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取出的两球的标号之和为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基本事件即只含有一个样本点的事件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中事件都只含有一个样本点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是基本事件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中事件包含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(1,7)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(3,5)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中事件不是基本事件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28191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33279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抛掷两枚骰子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观察它们落地时朝上的面的点数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记事件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点数之和是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则事件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的集合表示为</a:t>
            </a:r>
            <a:r>
              <a:rPr lang="en-US" altLang="zh-CN" i="1" u="sng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因为两枚骰子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,(1,4)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(4,1)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表示不同的样本点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{(1,4),(2,3),(4,1),(3,2)}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{(1,4),(2,3),(4,1),(3,2)}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从数字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1,2,3,4,5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中任取两个不同的数字组成一个两位数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则事件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这个两位数大于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40”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的集合表示是</a:t>
            </a:r>
            <a:r>
              <a:rPr lang="zh-CN" altLang="zh-CN" i="1" u="sng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因为这个两位数大于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所以十位数字为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{41,42,43,45,51,52,53,54}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{41,42,43,45,51,52,53,54}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3195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57</TotalTime>
  <Words>2936</Words>
  <Application>Microsoft Office PowerPoint</Application>
  <PresentationFormat>自定义</PresentationFormat>
  <Paragraphs>169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19</cp:revision>
  <dcterms:created xsi:type="dcterms:W3CDTF">2020-09-12T05:36:12Z</dcterms:created>
  <dcterms:modified xsi:type="dcterms:W3CDTF">2025-09-04T06:44:32Z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