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37" r:id="rId17"/>
    <p:sldId id="750" r:id="rId18"/>
    <p:sldId id="791" r:id="rId19"/>
    <p:sldId id="765" r:id="rId20"/>
    <p:sldId id="792" r:id="rId21"/>
    <p:sldId id="766" r:id="rId22"/>
    <p:sldId id="767" r:id="rId23"/>
    <p:sldId id="768" r:id="rId24"/>
    <p:sldId id="754" r:id="rId25"/>
    <p:sldId id="769" r:id="rId26"/>
    <p:sldId id="770" r:id="rId27"/>
    <p:sldId id="771" r:id="rId28"/>
    <p:sldId id="772" r:id="rId29"/>
    <p:sldId id="773" r:id="rId30"/>
    <p:sldId id="774" r:id="rId31"/>
    <p:sldId id="793" r:id="rId32"/>
    <p:sldId id="755" r:id="rId33"/>
    <p:sldId id="775" r:id="rId34"/>
    <p:sldId id="794" r:id="rId35"/>
    <p:sldId id="778" r:id="rId36"/>
    <p:sldId id="779" r:id="rId37"/>
    <p:sldId id="780" r:id="rId38"/>
    <p:sldId id="747" r:id="rId39"/>
    <p:sldId id="751" r:id="rId40"/>
    <p:sldId id="781" r:id="rId41"/>
    <p:sldId id="782" r:id="rId42"/>
    <p:sldId id="795" r:id="rId43"/>
    <p:sldId id="783" r:id="rId44"/>
    <p:sldId id="785" r:id="rId45"/>
    <p:sldId id="748" r:id="rId46"/>
    <p:sldId id="752" r:id="rId47"/>
    <p:sldId id="786" r:id="rId48"/>
    <p:sldId id="787" r:id="rId49"/>
    <p:sldId id="788" r:id="rId50"/>
    <p:sldId id="789" r:id="rId51"/>
    <p:sldId id="790" r:id="rId52"/>
    <p:sldId id="735" r:id="rId5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468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52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5.xml"/><Relationship Id="rId5" Type="http://schemas.openxmlformats.org/officeDocument/2006/relationships/slide" Target="slide38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2.docx"/><Relationship Id="rId3" Type="http://schemas.openxmlformats.org/officeDocument/2006/relationships/image" Target="../media/image12.jpe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5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7.docx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8.docx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1.docx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3.docx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5.docx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7.docx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9.docx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7599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古典概型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439888"/>
            <a:ext cx="10729192" cy="3168351"/>
            <a:chOff x="360437" y="1727919"/>
            <a:chExt cx="10729192" cy="316835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754102"/>
              <a:ext cx="10729192" cy="3142168"/>
              <a:chOff x="360437" y="2169148"/>
              <a:chExt cx="10729192" cy="214614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69148"/>
                <a:ext cx="10729192" cy="214614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202973"/>
                <a:ext cx="0" cy="205672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610047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27919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结合具体实例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理解古典概型及其两个特征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能计算古典概型中简单随机事件的概率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能根据问题情境建立概率模型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解决相应的实际问题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提升数学抽象、数据分析和数学运算素养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047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一、古典概型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做两个试验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抛一枚质地均匀的硬币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观察它落地时哪一面朝上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掷一枚质地均匀的骰子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观察它落地时朝上的面的点数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回答问题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在这两个试验中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样本空间分别包含几个样本点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在抛硬币试验中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样本空间包含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在掷骰子试验中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样本空间包含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在这两个试验中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每个样本点发生的可能性相等吗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每个样本点发生的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可能性相等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古典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概型的定义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具有如下共同特征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有限性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样本空间的样本点只有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有限个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等可能性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每个样本点发生的可能性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我们将具有以上两个特征的试验称为古典概型试验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其数学模型称为古典概率模型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简称古典概型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6077" y="2560842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361306" y="3024940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204686" y="3133832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200096" y="3597930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369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是古典概型的有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某人射击中靶或不中靶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在平面直角坐标系内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从横坐标和纵坐标都为整数的所有点中任取一个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四名同学用抽签法选一人参加会议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个整数中任意取出一个整数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观察取到的数是不是偶数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90573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8621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某人射击中靶与不中靶的概率不一定相等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横坐标和纵坐标都为整数的点有无数个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每名同学被选中的可能性相等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种可能结果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符合古典概型的特征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试验中所有可能出现的结果是有限的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且每个结果出现的可能性相等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0908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二、古典概型的概率公式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思考下列两个问题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抛一枚质地均匀的硬币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观察它落地时哪一面朝上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正面朝上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你认为事件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发生的可能性大小是多少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理由是什么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1032"/>
              </p:ext>
            </p:extLst>
          </p:nvPr>
        </p:nvGraphicFramePr>
        <p:xfrm>
          <a:off x="445319" y="3922544"/>
          <a:ext cx="10860334" cy="1977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文档" r:id="rId4" imgW="3837724" imgH="698793" progId="Word.Document.12">
                  <p:embed/>
                </p:oleObj>
              </mc:Choice>
              <mc:Fallback>
                <p:oleObj name="文档" r:id="rId4" imgW="3837724" imgH="6987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319" y="3922544"/>
                        <a:ext cx="10860334" cy="1977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100135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1491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掷一枚质地均匀的骰子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观察它落地时朝上的面的点数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点数不超过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请写出事件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包含的样本点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你认为事件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发生的可能性大小是多少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理由是什么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752747"/>
              </p:ext>
            </p:extLst>
          </p:nvPr>
        </p:nvGraphicFramePr>
        <p:xfrm>
          <a:off x="483671" y="2953709"/>
          <a:ext cx="10640962" cy="194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文档" r:id="rId4" imgW="3837724" imgH="700596" progId="Word.Document.12">
                  <p:embed/>
                </p:oleObj>
              </mc:Choice>
              <mc:Fallback>
                <p:oleObj name="文档" r:id="rId4" imgW="3837724" imgH="7005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3671" y="2953709"/>
                        <a:ext cx="10640962" cy="1942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524728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330360"/>
            <a:ext cx="13326630" cy="3637919"/>
            <a:chOff x="361950" y="935831"/>
            <a:chExt cx="13326630" cy="363791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935831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对随机事件发生可能性大小的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度量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数值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称为事件的概率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的概率用</a:t>
              </a:r>
              <a:r>
                <a:rPr lang="en-US" altLang="zh-CN" i="1" dirty="0"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古典概型的概率公式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设试验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样本空间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包含其中的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则定义事件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分别表示事件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和样本空间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包含的样本点个数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4032568"/>
                </p:ext>
              </p:extLst>
            </p:nvPr>
          </p:nvGraphicFramePr>
          <p:xfrm>
            <a:off x="2016621" y="3204966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016621" y="3204966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8699568" y="1431045"/>
            <a:ext cx="189663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695022" y="1895143"/>
            <a:ext cx="18944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696481" y="2018604"/>
            <a:ext cx="80435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691316" y="2482702"/>
            <a:ext cx="8034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0563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050351"/>
            <a:ext cx="11794798" cy="3845920"/>
            <a:chOff x="361950" y="719807"/>
            <a:chExt cx="11794798" cy="384592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9807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某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中学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举行高一广播体操比赛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个队参赛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为了确定出场顺序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学校制作了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个出场序号供大家抓阄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则高一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班抽到出场序号小于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的概率是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1568894"/>
                </p:ext>
              </p:extLst>
            </p:nvPr>
          </p:nvGraphicFramePr>
          <p:xfrm>
            <a:off x="484789" y="2556814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789" y="2556814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34808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按先后顺序抛两枚硬币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观察它们落地时正反面出现的情况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则恰好出现一个正面的概率是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427052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364339"/>
              </p:ext>
            </p:extLst>
          </p:nvPr>
        </p:nvGraphicFramePr>
        <p:xfrm>
          <a:off x="455153" y="5689105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文档" r:id="rId4" imgW="3826872" imgH="263066" progId="Word.Document.12">
                  <p:embed/>
                </p:oleObj>
              </mc:Choice>
              <mc:Fallback>
                <p:oleObj name="文档" r:id="rId4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5153" y="5689105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142419"/>
              </p:ext>
            </p:extLst>
          </p:nvPr>
        </p:nvGraphicFramePr>
        <p:xfrm>
          <a:off x="432445" y="595844"/>
          <a:ext cx="11705058" cy="5151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7" imgW="3837724" imgH="1688929" progId="Word.Document.12">
                  <p:embed/>
                </p:oleObj>
              </mc:Choice>
              <mc:Fallback>
                <p:oleObj name="文档" r:id="rId7" imgW="3837724" imgH="16889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595844"/>
                        <a:ext cx="11705058" cy="5151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901253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863699" y="536463"/>
            <a:ext cx="12033349" cy="6110071"/>
            <a:chOff x="-863699" y="536463"/>
            <a:chExt cx="12033349" cy="6110071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36463"/>
              <a:ext cx="10807700" cy="611007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从所有整数中任取一个数的试验是古典概型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种下一粒种子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试验的样本空间为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发芽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不发芽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所以种子发芽的概率为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不放回简单随机抽样和放回简单随机抽样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对应的样本空间相同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同时掷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枚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骰子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朝上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的可能结果为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2,3,4,5,6,7,8, 9,10,11,12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则点数和为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的概率是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7233246"/>
                </p:ext>
              </p:extLst>
            </p:nvPr>
          </p:nvGraphicFramePr>
          <p:xfrm>
            <a:off x="-863699" y="3456111"/>
            <a:ext cx="7972105" cy="649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name="文档" r:id="rId4" imgW="3826872" imgH="311941" progId="Word.Document.12">
                    <p:embed/>
                  </p:oleObj>
                </mc:Choice>
                <mc:Fallback>
                  <p:oleObj name="文档" r:id="rId4" imgW="3826872" imgH="311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863699" y="3456111"/>
                          <a:ext cx="7972105" cy="6498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0649050"/>
                </p:ext>
              </p:extLst>
            </p:nvPr>
          </p:nvGraphicFramePr>
          <p:xfrm>
            <a:off x="2469452" y="5729111"/>
            <a:ext cx="7972105" cy="649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5" name="文档" r:id="rId7" imgW="3826872" imgH="311941" progId="Word.Document.12">
                    <p:embed/>
                  </p:oleObj>
                </mc:Choice>
                <mc:Fallback>
                  <p:oleObj name="文档" r:id="rId7" imgW="3826872" imgH="311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69452" y="5729111"/>
                          <a:ext cx="7972105" cy="6498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/>
          <p:nvPr/>
        </p:nvSpPr>
        <p:spPr>
          <a:xfrm>
            <a:off x="9084163" y="243724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744813" y="358762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088629" y="476340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180415" y="591553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73376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0997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古典</a:t>
            </a:r>
            <a:r>
              <a:rPr lang="zh-CN" altLang="zh-CN" dirty="0"/>
              <a:t>概型的判断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183028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下列概率模型是否为古典概型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袋中有大小和质地完全相同的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个黑球和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每个球有一个区别于其他球的编号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从中随机摸出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有多少种不同的摸法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如果把每个球的编号看作一个样本点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把一粒豆子随机撒在一张桌子的桌面上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将豆子所落的位置看作一个样本点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一名射击运动员射击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把击中的环数看成样本点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30398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判断一个概率模型是否为古典概型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关键是看它是否满足两个特征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有限性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等可能性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56140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且每个球有不同的编号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种不同的摸法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又因为所有球大小和质地完全相同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所以每个球被摸到的可能性相等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故以每个球的编号为一个样本点的概率模型是古典概型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因为豆子落在桌面上的位置有无数个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即有无数个样本点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所以以豆子所落的位置为一个样本点的概率模型不是古典概型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由于运动员击中每一环的可能性大小不一定相等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故以击中的环数为样本点的概率模型不是古典概型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70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007839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543710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如果把球的颜色作为样本点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个球共有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种颜色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摸得白球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摸得黑球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摸得红球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摸得白球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的概率与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摸得黑球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摸得红球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的概率不相等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即不满足等可能性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故不是古典概型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87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883487"/>
            <a:ext cx="10807700" cy="4804774"/>
            <a:chOff x="361950" y="883487"/>
            <a:chExt cx="10807700" cy="480477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459411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一个试验是否为古典概型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在于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是否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具有两个特征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有限性和等可能性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并不是所有的试验都是古典概型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下列三类试验都不是古典概型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样本空间的样本点个数有限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但非等可能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样本空间的样本点个数无限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但等可能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样本空间的样本点个数无限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也不等可能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883487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096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5790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下列概率模型中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是古典概型的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[1,10]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上任取一个实数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求取到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中任意取一个整数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求取到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在一个正方形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内画一点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恰好与点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重合的概率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甲、乙、丙三人随机站成一排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求甲站在中间的概率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2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25440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中概率模型不是古典概型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因为从区间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[1,10]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上任意取出一个实数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有无数个对象可取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所以不满足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有限性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中概率模型是古典概型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因为试验的样本空间有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而且每个样本点被取到的可能性相等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即满足有限性和等可能性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中概率模型不是古典概型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因为在一个正方形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内画一点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有无数个点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所以不满足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有限性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中概率模型是古典概型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因为满足古典概型的两个特征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2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5248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古典</a:t>
            </a:r>
            <a:r>
              <a:rPr lang="zh-CN" altLang="zh-CN" dirty="0"/>
              <a:t>概型概率的求法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某校夏令营有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名男同学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A,B,C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名女同学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X,Y,Z,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其年级情况如下表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168700"/>
              </p:ext>
            </p:extLst>
          </p:nvPr>
        </p:nvGraphicFramePr>
        <p:xfrm>
          <a:off x="-9559" y="2666637"/>
          <a:ext cx="11878496" cy="311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文档" r:id="rId4" imgW="3894589" imgH="1020785" progId="Word.Document.12">
                  <p:embed/>
                </p:oleObj>
              </mc:Choice>
              <mc:Fallback>
                <p:oleObj name="文档" r:id="rId4" imgW="3894589" imgH="1020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9559" y="2666637"/>
                        <a:ext cx="11878496" cy="3113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5091704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现从这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名同学中随机选出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人参加知识竞赛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用表中字母列举出试验的样本空间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并判断这个试验是否为古典概型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人来自不同年级且恰有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名男同学和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名女同学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用列举法表示试验的样本空间及事件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代入古典概型的概率公式计算即可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42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81343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名同学中随机选出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{(A,B),(A,C),(A,X),(A,Y),(A,Z),(B,C),(B,X),(B,Y),(B,Z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C,X),(C,Y),(C,Z),(X,Y),(X,Z),(Y,Z)},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因为每人被选到的可能性大小相等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所以各个样本点出现的可能性相等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因此这个试验是古典概型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{(A,Y),(A,Z),(B,X),(B,Z),(C,X),(C,Y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864917"/>
              </p:ext>
            </p:extLst>
          </p:nvPr>
        </p:nvGraphicFramePr>
        <p:xfrm>
          <a:off x="391916" y="4957055"/>
          <a:ext cx="11705058" cy="792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文档" r:id="rId4" imgW="3837724" imgH="259974" progId="Word.Document.12">
                  <p:embed/>
                </p:oleObj>
              </mc:Choice>
              <mc:Fallback>
                <p:oleObj name="文档" r:id="rId4" imgW="3837724" imgH="259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1916" y="4957055"/>
                        <a:ext cx="11705058" cy="792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57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666807"/>
            <a:ext cx="17359078" cy="5895760"/>
            <a:chOff x="361950" y="687127"/>
            <a:chExt cx="17359078" cy="5895760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687127"/>
              <a:ext cx="2259558" cy="531552"/>
            </a:xfrm>
            <a:prstGeom prst="rect">
              <a:avLst/>
            </a:prstGeom>
          </p:spPr>
        </p:pic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172175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对于古典概型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的概率为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分别表示事件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包含的样本点个数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求古典概型概率的步骤为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判断是否为古典概型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算出试验的样本空间包含的样本点个数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算出事件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包含的样本点个数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算出事件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在运用公式计算时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关键在于求出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应注意这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种结果必须是等可能的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在这一点上比较容易出错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8185298"/>
                </p:ext>
              </p:extLst>
            </p:nvPr>
          </p:nvGraphicFramePr>
          <p:xfrm>
            <a:off x="6049069" y="1182335"/>
            <a:ext cx="11671959" cy="790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0" name="文档" r:id="rId5" imgW="3826872" imgH="259112" progId="Word.Document.12">
                    <p:embed/>
                  </p:oleObj>
                </mc:Choice>
                <mc:Fallback>
                  <p:oleObj name="文档" r:id="rId5" imgW="3826872" imgH="2591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49069" y="1182335"/>
                          <a:ext cx="11671959" cy="7902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2882605"/>
                </p:ext>
              </p:extLst>
            </p:nvPr>
          </p:nvGraphicFramePr>
          <p:xfrm>
            <a:off x="4608909" y="4603043"/>
            <a:ext cx="11671959" cy="73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1" name="文档" r:id="rId8" imgW="3826872" imgH="240784" progId="Word.Document.12">
                    <p:embed/>
                  </p:oleObj>
                </mc:Choice>
                <mc:Fallback>
                  <p:oleObj name="文档" r:id="rId8" imgW="3826872" imgH="240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608909" y="4603043"/>
                          <a:ext cx="11671959" cy="73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1556928"/>
              <a:ext cx="10807700" cy="604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2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75056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某小组共有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A,B,C,D,E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五名同学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他们的身高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:m)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及体重指数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:kg/m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如表中所示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89277"/>
              </p:ext>
            </p:extLst>
          </p:nvPr>
        </p:nvGraphicFramePr>
        <p:xfrm>
          <a:off x="219245" y="2171200"/>
          <a:ext cx="11878496" cy="394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文档" r:id="rId4" imgW="3894589" imgH="1294822" progId="Word.Document.12">
                  <p:embed/>
                </p:oleObj>
              </mc:Choice>
              <mc:Fallback>
                <p:oleObj name="文档" r:id="rId4" imgW="3894589" imgH="12948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245" y="2171200"/>
                        <a:ext cx="11878496" cy="3949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884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从该小组身高低于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的同学中任选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人身高都在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从该小组同学中任选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人的身高都在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以上且体重指数都在区间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5,23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用列举法表示试验的样本空间及事件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注意这两问试验不同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样本空间也不同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7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007839"/>
            <a:ext cx="15087921" cy="4182929"/>
            <a:chOff x="361950" y="1079847"/>
            <a:chExt cx="15087921" cy="418292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079847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从身高低于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的同学中任选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{(A,B),(A,C),(A,D),(B,C),(B,D),(C,D)},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由于每个人被选到的机会均等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故这些样本点的出现是等可能的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身高在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78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以下的有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三人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{(A,B),(A,C),(B,C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的概率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0433043"/>
                </p:ext>
              </p:extLst>
            </p:nvPr>
          </p:nvGraphicFramePr>
          <p:xfrm>
            <a:off x="3744813" y="4534741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0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44813" y="4534741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949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06610"/>
            <a:ext cx="15077288" cy="4832491"/>
            <a:chOff x="361950" y="791815"/>
            <a:chExt cx="15077288" cy="483249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47632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从该小组同学中任选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{(A,B),(A,C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A,D),(A,E),(B,C),(B,D),(B,E),(C,D),(C,E),(D,E)},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由于每个人被选到的机会均等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故这些样本点的出现是等可能的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身高在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以上且体重指数在区间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[18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5,23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内的有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C,D,E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三人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{(C,D),(C,E),(D,E)},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的概率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6398344"/>
                </p:ext>
              </p:extLst>
            </p:nvPr>
          </p:nvGraphicFramePr>
          <p:xfrm>
            <a:off x="3734180" y="4896271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4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34180" y="4896271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3858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8047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较</a:t>
            </a:r>
            <a:r>
              <a:rPr lang="zh-CN" altLang="zh-CN" dirty="0"/>
              <a:t>复杂的古典概型概率的计算问题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172637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袋子中装有除颜色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外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完全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的编号为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个黑球和编号为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c,d,e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若从中一次性任意摸出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个黑球和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若从中依次任意摸出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个球给小朋友甲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个球给小朋友乙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求甲、乙两名小朋友拿到的球中至少有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个黑球的概率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按照古典概型的概率公式计算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注意试验的条件不同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对应的样本空间不同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195126"/>
            <a:ext cx="12711657" cy="3629137"/>
            <a:chOff x="361950" y="1079847"/>
            <a:chExt cx="12711657" cy="3629137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79847"/>
              <a:ext cx="10807700" cy="355943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从中一次性任意摸出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个等可能出现的样本点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个黑球和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个红球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989771"/>
                </p:ext>
              </p:extLst>
            </p:nvPr>
          </p:nvGraphicFramePr>
          <p:xfrm>
            <a:off x="1368549" y="3980949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4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68549" y="3980949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9244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868578"/>
            <a:ext cx="12639649" cy="4819781"/>
            <a:chOff x="361950" y="868578"/>
            <a:chExt cx="12639649" cy="481978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68578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表示样本点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表示给甲的小球的编号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表示给乙的小球的编号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个等可能出现的样本点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甲、乙两名小朋友拿到的球中至少有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个黑球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d,a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328685"/>
                </p:ext>
              </p:extLst>
            </p:nvPr>
          </p:nvGraphicFramePr>
          <p:xfrm>
            <a:off x="1296541" y="4946600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8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96541" y="4946600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6692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30307"/>
            <a:ext cx="10807700" cy="4748220"/>
            <a:chOff x="361950" y="940139"/>
            <a:chExt cx="10807700" cy="4748220"/>
          </a:xfrm>
        </p:grpSpPr>
        <p:pic>
          <p:nvPicPr>
            <p:cNvPr id="7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16063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求解古典概型问题的一般思路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明确试验的条件及要观察的结果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用适当的符号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字母、数字、数组等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表示试验的可能结果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借助图表可以帮助我们不重不漏地列出所有的可能结果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根据实际问题情境判断样本点的等可能性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计算样本点总个数及事件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包含的样本点个数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1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从含有编号为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的两件正品和编号为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的一件次品中依次任意抽取两件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分别写出不放回简单随机抽样和有放回简单随机抽样的样本空间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在两种抽样方式下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分别计算抽到的两件产品中恰有一件次品的概率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95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61949" y="493392"/>
            <a:ext cx="11820087" cy="5921904"/>
            <a:chOff x="361949" y="493392"/>
            <a:chExt cx="11820087" cy="59219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49" y="493392"/>
              <a:ext cx="10943703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根据相应的抽样方法可知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不放回简单随机抽样的样本空间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有放回简单随机抽样的样本空间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对于不放回简单随机抽样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两件产品中恰有一件次品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4850372"/>
                </p:ext>
              </p:extLst>
            </p:nvPr>
          </p:nvGraphicFramePr>
          <p:xfrm>
            <a:off x="432445" y="3980220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5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980220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456740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对于有放回简单随机抽样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两件产品中恰有一件次品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),(b,a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235317"/>
                </p:ext>
              </p:extLst>
            </p:nvPr>
          </p:nvGraphicFramePr>
          <p:xfrm>
            <a:off x="476978" y="5688359"/>
            <a:ext cx="11705058" cy="726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6" name="文档" r:id="rId7" imgW="3837724" imgH="238340" progId="Word.Document.12">
                    <p:embed/>
                  </p:oleObj>
                </mc:Choice>
                <mc:Fallback>
                  <p:oleObj name="文档" r:id="rId7" imgW="3837724" imgH="2383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6978" y="5688359"/>
                          <a:ext cx="11705058" cy="726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9297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531641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对随机试验的结果理解不清致错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抛掷两枚质地均匀的骰子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出现的点数之和为奇数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抛掷两枚骰子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出现的点数之和的可能结果有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2,3,4,5,6,7,8,9,10,11,12,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所以试验的样本空间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{2,3,4,5,6,7,8,9,10,11,12},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出现的点数之和为奇数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{3,5,7,9,11},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即出现的点数之和为奇数的概率为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99271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出现点数之和的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种可能结果不是等可能的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如点数之和为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与点数之和为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发生的可能性大小不相等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因此以点数之和为样本点不属于古典概型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不能应用古典概型概率公式计算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8494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抛掷两枚骰子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其可能的结果即样本点可用数组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分别表示这两枚骰子出现的点数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{(1,1),(1,2),(1,3),(1,4),(1,5),(1,6),(2,1),(2,2),(2,3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 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2,5),(2,6),(3,1),(3,2),(3,3),(3,4),(3,5),(3,6),(4,1),(4,2),(4,3),(4,4),(4,5),(4,6),(5,1),(5,2),(5,3),(5,4),(5,5),(5,6),(6,1),(6,2),(6,3),(6,4),(6,5),(6,6)},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因为两枚骰子的质地均匀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所以各个样本点出现的可能性相等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因此这个试验是古典概型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745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61378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出现的点数之和为奇数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{(1,2),(1,4),(1,6),(2,1),(2,3),(2,5),(3,2),(3,4),(3,6),(4,1),(4,3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4,5),(5,2),(5,4),(5,6),(6,1),(6,3),(6,5)},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315875"/>
              </p:ext>
            </p:extLst>
          </p:nvPr>
        </p:nvGraphicFramePr>
        <p:xfrm>
          <a:off x="432445" y="3154368"/>
          <a:ext cx="11705058" cy="1453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文档" r:id="rId4" imgW="3837724" imgH="476679" progId="Word.Document.12">
                  <p:embed/>
                </p:oleObj>
              </mc:Choice>
              <mc:Fallback>
                <p:oleObj name="文档" r:id="rId4" imgW="3837724" imgH="4766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154368"/>
                        <a:ext cx="11705058" cy="1453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524153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688634"/>
            <a:ext cx="10807700" cy="5848552"/>
            <a:chOff x="361950" y="1223863"/>
            <a:chExt cx="10807700" cy="5848552"/>
          </a:xfrm>
        </p:grpSpPr>
        <p:pic>
          <p:nvPicPr>
            <p:cNvPr id="7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223863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718257"/>
              <a:ext cx="10807700" cy="53541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本题错解在计算随机试验的样本空间时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以点数之和作为样本点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不符合古典概型的等可能性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本题的随机试验是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抛掷两枚质地均匀的骰子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以两枚骰子出现的点数作为样本点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所以弄清随机试验的条件及要观察的结果是关键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突破这一思维障碍的有效方法是审清题意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找准随机试验的条件及要观察的结果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不要受所求事件的影响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用古典概型求概率时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要选择合适的方式表示样本点及样本空间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以使得各个样本点出现的可能性相等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并且使所考察的事件能表示为样本空间的子集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78436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1259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一个正方体玩具的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个面分别标有数字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1,2,2,2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3,3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若连续抛掷该玩具两次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则向上一面数字之和为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2674973"/>
            <a:ext cx="11814462" cy="2079308"/>
            <a:chOff x="361950" y="2726199"/>
            <a:chExt cx="11814462" cy="207930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726199"/>
              <a:ext cx="10807700" cy="17866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样本空间有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若两次向上一面的数字之和为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则一次为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一次为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故所求概率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773791"/>
                </p:ext>
              </p:extLst>
            </p:nvPr>
          </p:nvGraphicFramePr>
          <p:xfrm>
            <a:off x="504453" y="4008637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6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4008637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049002"/>
              </p:ext>
            </p:extLst>
          </p:nvPr>
        </p:nvGraphicFramePr>
        <p:xfrm>
          <a:off x="425782" y="4811857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2" y="4811857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98637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下列试验中是古典概型的是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在适宜的条件下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种下一粒大豆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观察它是否发芽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口袋里有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个黑球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个球除颜色外完全相同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向一个圆面内随机地投一个点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该点落在圆内任意一点都是等可能的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射击运动员向一靶心进行射击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试验结果为命中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环、命中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根据古典概型的特征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种子发芽与否的概率不一定相等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每个球被摸到的概率相等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且只有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样本点个数是无限的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射击命中环数的概率不一定相等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故只有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项是古典概型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44663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151855"/>
            <a:ext cx="11742454" cy="2014511"/>
            <a:chOff x="361950" y="1151855"/>
            <a:chExt cx="11742454" cy="201451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5185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一个家庭中有两个小孩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这两个小孩都为女孩的概率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7270192"/>
                </p:ext>
              </p:extLst>
            </p:nvPr>
          </p:nvGraphicFramePr>
          <p:xfrm>
            <a:off x="432445" y="2369496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0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369496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53937" y="3257215"/>
            <a:ext cx="21810321" cy="1241788"/>
            <a:chOff x="353937" y="3246582"/>
            <a:chExt cx="21810321" cy="1241788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53937" y="324658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两个小孩的性别包括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种等可能情况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样本点总数为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故两个小孩都为女孩的概率为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9102147"/>
                </p:ext>
              </p:extLst>
            </p:nvPr>
          </p:nvGraphicFramePr>
          <p:xfrm>
            <a:off x="10492299" y="3764941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1" name="文档" r:id="rId7" imgW="3826872" imgH="237190" progId="Word.Document.12">
                    <p:embed/>
                  </p:oleObj>
                </mc:Choice>
                <mc:Fallback>
                  <p:oleObj name="文档" r:id="rId7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492299" y="3764941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53937" y="456570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85154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1007839"/>
            <a:ext cx="11756573" cy="2063861"/>
            <a:chOff x="361950" y="1007839"/>
            <a:chExt cx="11756573" cy="2063861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00783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{1,2,3,4,5}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中随机选取一个数为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{1,2,3}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中随机选取一个数为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b&gt;a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的概率是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8285565"/>
                </p:ext>
              </p:extLst>
            </p:nvPr>
          </p:nvGraphicFramePr>
          <p:xfrm>
            <a:off x="446564" y="2274830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2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6564" y="2274830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61950" y="3117337"/>
            <a:ext cx="10807700" cy="1929326"/>
            <a:chOff x="361950" y="3087699"/>
            <a:chExt cx="10807700" cy="1929326"/>
          </a:xfrm>
        </p:grpSpPr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361950" y="308769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样本空间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{1,2,3,4,5},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{1,2,3}},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包含的样本点个数为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15,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b&gt;a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可表示为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{(1,2),(1,3),(2,3)},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包含的样本点个数为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en-US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所求概率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2494395"/>
                </p:ext>
              </p:extLst>
            </p:nvPr>
          </p:nvGraphicFramePr>
          <p:xfrm>
            <a:off x="5689600" y="4226450"/>
            <a:ext cx="4006850" cy="790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3" name="文档" r:id="rId7" imgW="1312583" imgH="261269" progId="Word.Document.12">
                    <p:embed/>
                  </p:oleObj>
                </mc:Choice>
                <mc:Fallback>
                  <p:oleObj name="文档" r:id="rId7" imgW="1312583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689600" y="4226450"/>
                          <a:ext cx="4006850" cy="790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/>
          <p:cNvSpPr>
            <a:spLocks noChangeAspect="1"/>
          </p:cNvSpPr>
          <p:nvPr/>
        </p:nvSpPr>
        <p:spPr>
          <a:xfrm>
            <a:off x="361950" y="500509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5128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2544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将一枚骰子连续抛掷两次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至少有一次出现的点数为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136728"/>
            <a:ext cx="18655222" cy="2490898"/>
            <a:chOff x="361950" y="1992712"/>
            <a:chExt cx="18655222" cy="249089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99271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将一枚骰子连续抛掷两次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显然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这个随机试验的样本空间中共有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个等可能出现的样本点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至少有一次出现的点数为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包含的样本点有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(1,1),(1,2),(1,3),(1,4),(1,5),(1,6),(2,1),(3,1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), (4,1),(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5,1),(6,1),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所以所求的概率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2939227"/>
                </p:ext>
              </p:extLst>
            </p:nvPr>
          </p:nvGraphicFramePr>
          <p:xfrm>
            <a:off x="7345213" y="3686740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6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345213" y="3686740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723238"/>
              </p:ext>
            </p:extLst>
          </p:nvPr>
        </p:nvGraphicFramePr>
        <p:xfrm>
          <a:off x="425782" y="4719020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7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2" y="4719020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86243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从字母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a,b,c,d,e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中任取两个不同的字母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则取到字母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1950" y="2258930"/>
            <a:ext cx="11787017" cy="2057527"/>
            <a:chOff x="361950" y="2511635"/>
            <a:chExt cx="11787017" cy="2057527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51163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{(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b,c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b,d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b,e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c,d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), 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c,e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d,e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含字母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故所求概率为</a:t>
              </a:r>
              <a:endParaRPr lang="zh-CN" altLang="en-US" dirty="0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21339"/>
                </p:ext>
              </p:extLst>
            </p:nvPr>
          </p:nvGraphicFramePr>
          <p:xfrm>
            <a:off x="477008" y="3772292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0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7008" y="3772292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692689"/>
              </p:ext>
            </p:extLst>
          </p:nvPr>
        </p:nvGraphicFramePr>
        <p:xfrm>
          <a:off x="432445" y="4370949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4370949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665981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78</TotalTime>
  <Words>3832</Words>
  <Application>Microsoft Office PowerPoint</Application>
  <PresentationFormat>自定义</PresentationFormat>
  <Paragraphs>163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2025-09-04T06:50:29Z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