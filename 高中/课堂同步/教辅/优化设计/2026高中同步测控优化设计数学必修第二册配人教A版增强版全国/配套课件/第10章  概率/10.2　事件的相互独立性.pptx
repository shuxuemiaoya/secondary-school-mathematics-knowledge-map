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731" r:id="rId2"/>
    <p:sldId id="753" r:id="rId3"/>
    <p:sldId id="736" r:id="rId4"/>
    <p:sldId id="744" r:id="rId5"/>
    <p:sldId id="746" r:id="rId6"/>
    <p:sldId id="749" r:id="rId7"/>
    <p:sldId id="757" r:id="rId8"/>
    <p:sldId id="758" r:id="rId9"/>
    <p:sldId id="759" r:id="rId10"/>
    <p:sldId id="760" r:id="rId11"/>
    <p:sldId id="737" r:id="rId12"/>
    <p:sldId id="750" r:id="rId13"/>
    <p:sldId id="761" r:id="rId14"/>
    <p:sldId id="762" r:id="rId15"/>
    <p:sldId id="763" r:id="rId16"/>
    <p:sldId id="764" r:id="rId17"/>
    <p:sldId id="754" r:id="rId18"/>
    <p:sldId id="765" r:id="rId19"/>
    <p:sldId id="766" r:id="rId20"/>
    <p:sldId id="768" r:id="rId21"/>
    <p:sldId id="769" r:id="rId22"/>
    <p:sldId id="770" r:id="rId23"/>
    <p:sldId id="771" r:id="rId24"/>
    <p:sldId id="755" r:id="rId25"/>
    <p:sldId id="772" r:id="rId26"/>
    <p:sldId id="773" r:id="rId27"/>
    <p:sldId id="774" r:id="rId28"/>
    <p:sldId id="775" r:id="rId29"/>
    <p:sldId id="776" r:id="rId30"/>
    <p:sldId id="747" r:id="rId31"/>
    <p:sldId id="751" r:id="rId32"/>
    <p:sldId id="777" r:id="rId33"/>
    <p:sldId id="778" r:id="rId34"/>
    <p:sldId id="779" r:id="rId35"/>
    <p:sldId id="780" r:id="rId36"/>
    <p:sldId id="748" r:id="rId37"/>
    <p:sldId id="752" r:id="rId38"/>
    <p:sldId id="781" r:id="rId39"/>
    <p:sldId id="782" r:id="rId40"/>
    <p:sldId id="784" r:id="rId41"/>
    <p:sldId id="785" r:id="rId42"/>
    <p:sldId id="735" r:id="rId43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-30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42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6.xml"/><Relationship Id="rId5" Type="http://schemas.openxmlformats.org/officeDocument/2006/relationships/slide" Target="slide30.xml"/><Relationship Id="rId4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3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5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6.docx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8.docx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0.docx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2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3.docx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4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0.jpeg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5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6.docx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7.docx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8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0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1.docx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2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3.docx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4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Word___26.docx"/><Relationship Id="rId4" Type="http://schemas.openxmlformats.org/officeDocument/2006/relationships/oleObject" Target="../embeddings/oleObject26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5.emf"/><Relationship Id="rId5" Type="http://schemas.openxmlformats.org/officeDocument/2006/relationships/image" Target="../media/image33.emf"/><Relationship Id="rId10" Type="http://schemas.openxmlformats.org/officeDocument/2006/relationships/package" Target="../embeddings/Microsoft_Word___29.docx"/><Relationship Id="rId4" Type="http://schemas.openxmlformats.org/officeDocument/2006/relationships/package" Target="../embeddings/Microsoft_Word___27.docx"/><Relationship Id="rId9" Type="http://schemas.openxmlformats.org/officeDocument/2006/relationships/oleObject" Target="../embeddings/oleObject29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0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8.emf"/><Relationship Id="rId5" Type="http://schemas.openxmlformats.org/officeDocument/2006/relationships/image" Target="../media/image36.emf"/><Relationship Id="rId10" Type="http://schemas.openxmlformats.org/officeDocument/2006/relationships/package" Target="../embeddings/Microsoft_Word___32.docx"/><Relationship Id="rId4" Type="http://schemas.openxmlformats.org/officeDocument/2006/relationships/package" Target="../embeddings/Microsoft_Word___30.docx"/><Relationship Id="rId9" Type="http://schemas.openxmlformats.org/officeDocument/2006/relationships/oleObject" Target="../embeddings/oleObject32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361772"/>
            <a:ext cx="10807700" cy="10943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10.2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事件的相互独立性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089679"/>
            <a:ext cx="10729192" cy="4182225"/>
            <a:chOff x="360437" y="1109341"/>
            <a:chExt cx="10729192" cy="418222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109341"/>
              <a:ext cx="10729192" cy="4182225"/>
              <a:chOff x="360437" y="1728770"/>
              <a:chExt cx="10729192" cy="2856516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728770"/>
                <a:ext cx="10729192" cy="2856516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777394"/>
                <a:ext cx="0" cy="2737494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314906"/>
              <a:ext cx="8496944" cy="3581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结合有限样本空间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了解两个随机事件独立性的含义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结合古典概型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利用独立性计算概率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会利用相互独立事件的概率公式计算积事件的概率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培养数学抽象、数据分析和数学运算等素养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29639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事件相互独立的含义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积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的含义是什么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怎样用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图表示积事件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同时发生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即积事件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的样本点既在事件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也在事件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图表示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NMG2TRA42.eps" descr="id:214750139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960837" y="3057973"/>
            <a:ext cx="2906995" cy="1670687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476208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图上直观判断出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的大小关系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806053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某节假日学校放假三天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甲、乙两名同学都打算去敬老院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准备在三天内随机选一天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甲选的是第一天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乙准备在前两天中随机选一天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乙选的是第一天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你觉得事件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发生或不发生会影响事件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发生的概率吗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分别计算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你有什么发现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8429" y="3848831"/>
            <a:ext cx="11765721" cy="1891872"/>
            <a:chOff x="361950" y="3744143"/>
            <a:chExt cx="11765721" cy="1891872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3744143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提示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甲选第一天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对乙选第一天是没有影响的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发生与否不影响事件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发生的概率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6223276"/>
                </p:ext>
              </p:extLst>
            </p:nvPr>
          </p:nvGraphicFramePr>
          <p:xfrm>
            <a:off x="422613" y="4907980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2613" y="4907980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3497097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1583903"/>
            <a:ext cx="18079158" cy="3046988"/>
            <a:chOff x="361950" y="719807"/>
            <a:chExt cx="18079158" cy="304698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19807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相互独立的含义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对任意两个事件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lang="en-US" altLang="zh-CN" i="1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成立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则称事件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相互独立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简称为独立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相互独立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  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也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都</a:t>
              </a: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相互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独立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1428698"/>
                </p:ext>
              </p:extLst>
            </p:nvPr>
          </p:nvGraphicFramePr>
          <p:xfrm>
            <a:off x="6769149" y="2509847"/>
            <a:ext cx="11671959" cy="586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" name="文档" r:id="rId4" imgW="3826872" imgH="192268" progId="Word.Document.12">
                    <p:embed/>
                  </p:oleObj>
                </mc:Choice>
                <mc:Fallback>
                  <p:oleObj name="文档" r:id="rId4" imgW="3826872" imgH="19226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769149" y="2509847"/>
                          <a:ext cx="11671959" cy="5864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/>
          <p:nvPr/>
        </p:nvSpPr>
        <p:spPr>
          <a:xfrm>
            <a:off x="7006689" y="2259244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7002143" y="2723342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64719" y="3985956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60173" y="4450054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80034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413951"/>
              </p:ext>
            </p:extLst>
          </p:nvPr>
        </p:nvGraphicFramePr>
        <p:xfrm>
          <a:off x="430213" y="989013"/>
          <a:ext cx="11661775" cy="219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文档" r:id="rId4" imgW="3826872" imgH="724149" progId="Word.Document.12">
                  <p:embed/>
                </p:oleObj>
              </mc:Choice>
              <mc:Fallback>
                <p:oleObj name="文档" r:id="rId4" imgW="3826872" imgH="7241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989013"/>
                        <a:ext cx="11661775" cy="2195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076348"/>
              </p:ext>
            </p:extLst>
          </p:nvPr>
        </p:nvGraphicFramePr>
        <p:xfrm>
          <a:off x="432445" y="3213206"/>
          <a:ext cx="11671959" cy="1606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文档" r:id="rId7" imgW="3826872" imgH="526850" progId="Word.Document.12">
                  <p:embed/>
                </p:oleObj>
              </mc:Choice>
              <mc:Fallback>
                <p:oleObj name="文档" r:id="rId7" imgW="3826872" imgH="5268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3213206"/>
                        <a:ext cx="11671959" cy="16068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40773" y="4841415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23813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1021081"/>
            <a:ext cx="11742454" cy="4287574"/>
            <a:chOff x="361950" y="865609"/>
            <a:chExt cx="11742454" cy="428757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865609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必然事件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与任意事件都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不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互相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独立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对于任意事件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都有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5173170"/>
                </p:ext>
              </p:extLst>
            </p:nvPr>
          </p:nvGraphicFramePr>
          <p:xfrm>
            <a:off x="432445" y="3878327"/>
            <a:ext cx="11671959" cy="6488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" name="文档" r:id="rId4" imgW="3826872" imgH="212753" progId="Word.Document.12">
                    <p:embed/>
                  </p:oleObj>
                </mc:Choice>
                <mc:Fallback>
                  <p:oleObj name="文档" r:id="rId4" imgW="3826872" imgH="21275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3878327"/>
                          <a:ext cx="11671959" cy="6488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4469919"/>
              <a:ext cx="10807700" cy="68326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如果事件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与事件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en-US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互相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独立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那么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7848558" y="2953679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8208598" y="3540894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9577461" y="4120413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0152814" y="4783244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818284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相互</a:t>
            </a:r>
            <a:r>
              <a:rPr lang="zh-CN" altLang="zh-CN" dirty="0"/>
              <a:t>独立事件的判断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53463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假定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一个家庭中有两个或三个小孩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生男孩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和生女孩是等可能的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一个家庭中既有男孩又有女孩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一个家庭中最多有一个女孩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对下述两种情形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的独立性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家庭中有两个小孩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家庭中有三个小孩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根据相互独立事件的定义判断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是否等于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55827"/>
            <a:ext cx="10807700" cy="300806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家庭中有两个小孩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则试验的样本空间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由等可能性知这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个样本点的概率均为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男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)},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309406"/>
              </p:ext>
            </p:extLst>
          </p:nvPr>
        </p:nvGraphicFramePr>
        <p:xfrm>
          <a:off x="362426" y="3963895"/>
          <a:ext cx="11705058" cy="725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文档" r:id="rId4" imgW="3837724" imgH="237979" progId="Word.Document.12">
                  <p:embed/>
                </p:oleObj>
              </mc:Choice>
              <mc:Fallback>
                <p:oleObj name="文档" r:id="rId4" imgW="3837724" imgH="2379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2426" y="3963895"/>
                        <a:ext cx="11705058" cy="725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931314"/>
              </p:ext>
            </p:extLst>
          </p:nvPr>
        </p:nvGraphicFramePr>
        <p:xfrm>
          <a:off x="2952725" y="2035947"/>
          <a:ext cx="11620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文档" r:id="rId7" imgW="380324" imgH="237190" progId="Word.Document.12">
                  <p:embed/>
                </p:oleObj>
              </mc:Choice>
              <mc:Fallback>
                <p:oleObj name="文档" r:id="rId7" imgW="380324" imgH="2371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52725" y="2035947"/>
                        <a:ext cx="1162050" cy="72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4755983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不相互独立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12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856891"/>
            <a:ext cx="11805049" cy="4975484"/>
            <a:chOff x="361950" y="935831"/>
            <a:chExt cx="11805049" cy="4975484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935831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家庭中有三个小孩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则试验的样本空间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 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)}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由等可能性知这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样本点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概率均为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这时事件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8712976"/>
                </p:ext>
              </p:extLst>
            </p:nvPr>
          </p:nvGraphicFramePr>
          <p:xfrm>
            <a:off x="2900381" y="2654191"/>
            <a:ext cx="8794184" cy="719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8" name="文档" r:id="rId4" imgW="3837724" imgH="314060" progId="Word.Document.12">
                    <p:embed/>
                  </p:oleObj>
                </mc:Choice>
                <mc:Fallback>
                  <p:oleObj name="文档" r:id="rId4" imgW="3837724" imgH="31406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900381" y="2654191"/>
                          <a:ext cx="8794184" cy="71967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2287676"/>
                </p:ext>
              </p:extLst>
            </p:nvPr>
          </p:nvGraphicFramePr>
          <p:xfrm>
            <a:off x="461941" y="3926265"/>
            <a:ext cx="11705058" cy="1985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9" name="文档" r:id="rId7" imgW="3837724" imgH="650836" progId="Word.Document.12">
                    <p:embed/>
                  </p:oleObj>
                </mc:Choice>
                <mc:Fallback>
                  <p:oleObj name="文档" r:id="rId7" imgW="3837724" imgH="65083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1941" y="3926265"/>
                          <a:ext cx="11705058" cy="1985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35192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290347"/>
            <a:ext cx="10807700" cy="3596092"/>
            <a:chOff x="361950" y="940139"/>
            <a:chExt cx="10807700" cy="3596092"/>
          </a:xfrm>
        </p:grpSpPr>
        <p:pic>
          <p:nvPicPr>
            <p:cNvPr id="6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45797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两个事件是否相互独立的判断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直接法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由事件本身的性质直接判定两个事件发生是否相互影响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定义法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同时发生的概率等于事件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发生的概率与事件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发生的概率的积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为相互独立事件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2390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691861"/>
            <a:ext cx="12246510" cy="3046988"/>
            <a:chOff x="361950" y="681701"/>
            <a:chExt cx="12246510" cy="304698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681701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一袋中装有大小和质地完全相同的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个白球、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个黄球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采用有放回方式摸球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第一次摸得白球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”,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baseline="-25000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第二次摸得白球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”,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相互独立事件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不相互独立事件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互斥事件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	D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对立事件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3537071"/>
                </p:ext>
              </p:extLst>
            </p:nvPr>
          </p:nvGraphicFramePr>
          <p:xfrm>
            <a:off x="936501" y="1924082"/>
            <a:ext cx="11671959" cy="542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2" name="文档" r:id="rId4" imgW="3826872" imgH="177893" progId="Word.Document.12">
                    <p:embed/>
                  </p:oleObj>
                </mc:Choice>
                <mc:Fallback>
                  <p:oleObj name="文档" r:id="rId4" imgW="3826872" imgH="17789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36501" y="1924082"/>
                          <a:ext cx="11671959" cy="5425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178809"/>
              </p:ext>
            </p:extLst>
          </p:nvPr>
        </p:nvGraphicFramePr>
        <p:xfrm>
          <a:off x="504453" y="3682295"/>
          <a:ext cx="11671959" cy="2552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文档" r:id="rId7" imgW="3837724" imgH="839777" progId="Word.Document.12">
                  <p:embed/>
                </p:oleObj>
              </mc:Choice>
              <mc:Fallback>
                <p:oleObj name="文档" r:id="rId7" imgW="3837724" imgH="8397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3682295"/>
                        <a:ext cx="11671959" cy="25528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>
            <a:spLocks noChangeAspect="1"/>
          </p:cNvSpPr>
          <p:nvPr/>
        </p:nvSpPr>
        <p:spPr>
          <a:xfrm>
            <a:off x="7633245" y="5591319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861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72151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相互</a:t>
            </a:r>
            <a:r>
              <a:rPr lang="zh-CN" altLang="zh-CN" dirty="0"/>
              <a:t>独立事件的概率的求法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420674"/>
            <a:ext cx="10807700" cy="43200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某商场推出二次开奖活动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凡购买一定价值的商品可以获得一张奖券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凭奖券可以分别参加两次抽奖方式相同的抽奖活动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如果两次抽奖活动的中奖概率都是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05,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求两次抽奖中以下事件的概率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两次抽奖都中奖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恰有一次中奖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至少有一次中奖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575791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第一次抽奖中奖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第二次抽奖中奖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两次抽奖都中奖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就是事件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由于两次抽奖结果互不影响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相互独立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于是由独立性可得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两次抽奖都中奖的概率为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002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480379"/>
              </p:ext>
            </p:extLst>
          </p:nvPr>
        </p:nvGraphicFramePr>
        <p:xfrm>
          <a:off x="432445" y="3566225"/>
          <a:ext cx="11705058" cy="2728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文档" r:id="rId4" imgW="3826872" imgH="893776" progId="Word.Document.12">
                  <p:embed/>
                </p:oleObj>
              </mc:Choice>
              <mc:Fallback>
                <p:oleObj name="文档" r:id="rId4" imgW="3826872" imgH="8937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3566225"/>
                        <a:ext cx="11705058" cy="27284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565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461692"/>
              </p:ext>
            </p:extLst>
          </p:nvPr>
        </p:nvGraphicFramePr>
        <p:xfrm>
          <a:off x="301625" y="1151855"/>
          <a:ext cx="10617200" cy="414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文档" r:id="rId4" imgW="3826872" imgH="1496096" progId="Word.Document.12">
                  <p:embed/>
                </p:oleObj>
              </mc:Choice>
              <mc:Fallback>
                <p:oleObj name="文档" r:id="rId4" imgW="3826872" imgH="14960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1625" y="1151855"/>
                        <a:ext cx="10617200" cy="414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7695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079847"/>
            <a:ext cx="10807700" cy="4243577"/>
            <a:chOff x="361950" y="940139"/>
            <a:chExt cx="10807700" cy="4243577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45797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求相互独立事件同时发生的概率的步骤是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确定各事件之间是相互独立的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确定这些事件可以同时发生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先求出每个事件的概率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再求积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使用相互独立事件同时发生的概率计算公式时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要掌握公式的适用条件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——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事件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是相互独立的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而且它们同时发生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0657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377711"/>
            <a:ext cx="11752286" cy="3068064"/>
            <a:chOff x="361950" y="1488656"/>
            <a:chExt cx="11752286" cy="3068064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488656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甲、乙两人各掷一枚质地均匀的骰子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观察朝上的面的点数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记事件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甲得到的点数为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2”,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乙得到的点数为奇数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是否相互独立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4406172"/>
                </p:ext>
              </p:extLst>
            </p:nvPr>
          </p:nvGraphicFramePr>
          <p:xfrm>
            <a:off x="442277" y="3907823"/>
            <a:ext cx="11671959" cy="6488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3" name="文档" r:id="rId4" imgW="3826872" imgH="212753" progId="Word.Document.12">
                    <p:embed/>
                  </p:oleObj>
                </mc:Choice>
                <mc:Fallback>
                  <p:oleObj name="文档" r:id="rId4" imgW="3826872" imgH="21275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42277" y="3907823"/>
                          <a:ext cx="11671959" cy="6488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6744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87827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表示甲得到的点数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表示乙得到的点数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则数组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表示这个试验的一个样本点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{1,2,3,4,5,6}},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这个样本空间可用右图直观表示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容易看出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右图中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实线框中的点代表事件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虚线框中的点代表事件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中的样本点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424592"/>
              </p:ext>
            </p:extLst>
          </p:nvPr>
        </p:nvGraphicFramePr>
        <p:xfrm>
          <a:off x="432445" y="3617307"/>
          <a:ext cx="11705058" cy="2512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文档" r:id="rId4" imgW="3837724" imgH="823912" progId="Word.Document.12">
                  <p:embed/>
                </p:oleObj>
              </mc:Choice>
              <mc:Fallback>
                <p:oleObj name="文档" r:id="rId4" imgW="3837724" imgH="8239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3617307"/>
                        <a:ext cx="11705058" cy="2512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NMG2TRA43.eps" descr="id:2147501756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8433346" y="3096071"/>
            <a:ext cx="2736304" cy="297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56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753158"/>
              </p:ext>
            </p:extLst>
          </p:nvPr>
        </p:nvGraphicFramePr>
        <p:xfrm>
          <a:off x="432445" y="2197872"/>
          <a:ext cx="11671959" cy="147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文档" r:id="rId4" imgW="3826872" imgH="483365" progId="Word.Document.12">
                  <p:embed/>
                </p:oleObj>
              </mc:Choice>
              <mc:Fallback>
                <p:oleObj name="文档" r:id="rId4" imgW="3826872" imgH="4833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197872"/>
                        <a:ext cx="11671959" cy="1474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520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相互</a:t>
            </a:r>
            <a:r>
              <a:rPr lang="zh-CN" altLang="zh-CN" dirty="0"/>
              <a:t>独立事件的综合应用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53463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小王某天乘火车从重庆到上海去办事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若当天从重庆到上海的三列火车正点到达的概率分别为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8,0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7,0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假设这三列火车是否正点到达相互之间没有影响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这三列火车恰好有两列正点到达的概率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这三列火车至少有一列正点到达的概率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根据题设条件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分析事件间的关系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将需要计算概率的事件表示为所设事件的乘积或若干个乘积之和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利用公式计算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1851678"/>
              </p:ext>
            </p:extLst>
          </p:nvPr>
        </p:nvGraphicFramePr>
        <p:xfrm>
          <a:off x="144413" y="719807"/>
          <a:ext cx="11671959" cy="5492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文档" r:id="rId4" imgW="3826872" imgH="1800849" progId="Word.Document.12">
                  <p:embed/>
                </p:oleObj>
              </mc:Choice>
              <mc:Fallback>
                <p:oleObj name="文档" r:id="rId4" imgW="3826872" imgH="1800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413" y="719807"/>
                        <a:ext cx="11671959" cy="5492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0578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910643"/>
            <a:ext cx="10807700" cy="4777716"/>
            <a:chOff x="361950" y="910643"/>
            <a:chExt cx="10807700" cy="4777716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10643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16063"/>
              <a:ext cx="10807700" cy="417229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与相互独立事件有关的概率问题的求解策略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明确事件中的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至少有一个发生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至多有一个发生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恰好有一个发生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都发生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都不发生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不都发生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等词语的意义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一般地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已知两个事件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它们的概率分别为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那么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中至少有一个发生为事件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A+B.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都发生为事件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1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514350" y="807760"/>
            <a:ext cx="12690762" cy="5747949"/>
            <a:chOff x="-514350" y="717336"/>
            <a:chExt cx="12690762" cy="5747949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330052"/>
                </p:ext>
              </p:extLst>
            </p:nvPr>
          </p:nvGraphicFramePr>
          <p:xfrm>
            <a:off x="504453" y="717336"/>
            <a:ext cx="11671959" cy="1946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8" name="文档" r:id="rId4" imgW="3837724" imgH="640380" progId="Word.Document.12">
                    <p:embed/>
                  </p:oleObj>
                </mc:Choice>
                <mc:Fallback>
                  <p:oleObj name="文档" r:id="rId4" imgW="3837724" imgH="64038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717336"/>
                          <a:ext cx="11671959" cy="19466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613377"/>
              <a:ext cx="5745484" cy="626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它们之间的概率关系如表所示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 </a:t>
              </a:r>
              <a:endParaRPr lang="zh-CN" altLang="en-US" dirty="0"/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4491496"/>
                </p:ext>
              </p:extLst>
            </p:nvPr>
          </p:nvGraphicFramePr>
          <p:xfrm>
            <a:off x="-514350" y="3302985"/>
            <a:ext cx="11855450" cy="316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9" name="文档" r:id="rId7" imgW="3894589" imgH="1042780" progId="Word.Document.12">
                    <p:embed/>
                  </p:oleObj>
                </mc:Choice>
                <mc:Fallback>
                  <p:oleObj name="文档" r:id="rId7" imgW="3894589" imgH="104278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-514350" y="3302985"/>
                          <a:ext cx="11855450" cy="3162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5036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-778675" y="988626"/>
            <a:ext cx="11948325" cy="4320029"/>
            <a:chOff x="-778675" y="1008290"/>
            <a:chExt cx="11948325" cy="4320029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008290"/>
              <a:ext cx="10807700" cy="432002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在一个选拔项目中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每个选手都需要进行四轮考核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每轮设有一个问题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能正确回答者进入下一轮考核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否则被淘汰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已知某选手能正确回答第一、二、三、四轮问题的概率分别为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且各轮问题能否正确回答互不影响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求该选手进入第三轮才被淘汰的概率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求该选手至多进入第三轮考核的概率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求该选手最终通过考核的概率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5983828"/>
                </p:ext>
              </p:extLst>
            </p:nvPr>
          </p:nvGraphicFramePr>
          <p:xfrm>
            <a:off x="-778675" y="2709278"/>
            <a:ext cx="8769315" cy="727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2" name="文档" r:id="rId4" imgW="3826872" imgH="317332" progId="Word.Document.12">
                    <p:embed/>
                  </p:oleObj>
                </mc:Choice>
                <mc:Fallback>
                  <p:oleObj name="文档" r:id="rId4" imgW="3826872" imgH="31733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778675" y="2709278"/>
                          <a:ext cx="8769315" cy="72716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90420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569533"/>
              </p:ext>
            </p:extLst>
          </p:nvPr>
        </p:nvGraphicFramePr>
        <p:xfrm>
          <a:off x="504453" y="667463"/>
          <a:ext cx="10610872" cy="5751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文档" r:id="rId4" imgW="3826872" imgH="2074337" progId="Word.Document.12">
                  <p:embed/>
                </p:oleObj>
              </mc:Choice>
              <mc:Fallback>
                <p:oleObj name="文档" r:id="rId4" imgW="3826872" imgH="20743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667463"/>
                        <a:ext cx="10610872" cy="57515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072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3608" y="719992"/>
            <a:ext cx="4304383" cy="6047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对题意理解不到位致错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1404757"/>
              </p:ext>
            </p:extLst>
          </p:nvPr>
        </p:nvGraphicFramePr>
        <p:xfrm>
          <a:off x="360437" y="1387728"/>
          <a:ext cx="11671959" cy="4424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文档" r:id="rId4" imgW="3826872" imgH="1450814" progId="Word.Document.12">
                  <p:embed/>
                </p:oleObj>
              </mc:Choice>
              <mc:Fallback>
                <p:oleObj name="文档" r:id="rId4" imgW="3826872" imgH="14508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387728"/>
                        <a:ext cx="11671959" cy="44249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36787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659419"/>
              </p:ext>
            </p:extLst>
          </p:nvPr>
        </p:nvGraphicFramePr>
        <p:xfrm>
          <a:off x="422613" y="2637155"/>
          <a:ext cx="11671959" cy="205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文档" r:id="rId4" imgW="3826872" imgH="673836" progId="Word.Document.12">
                  <p:embed/>
                </p:oleObj>
              </mc:Choice>
              <mc:Fallback>
                <p:oleObj name="文档" r:id="rId4" imgW="3826872" imgH="6738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613" y="2637155"/>
                        <a:ext cx="11671959" cy="205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648780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029067"/>
              </p:ext>
            </p:extLst>
          </p:nvPr>
        </p:nvGraphicFramePr>
        <p:xfrm>
          <a:off x="288429" y="667463"/>
          <a:ext cx="11671959" cy="5760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文档" r:id="rId4" imgW="3826872" imgH="1888538" progId="Word.Document.12">
                  <p:embed/>
                </p:oleObj>
              </mc:Choice>
              <mc:Fallback>
                <p:oleObj name="文档" r:id="rId4" imgW="3826872" imgH="18885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667463"/>
                        <a:ext cx="11671959" cy="5760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28115"/>
              </p:ext>
            </p:extLst>
          </p:nvPr>
        </p:nvGraphicFramePr>
        <p:xfrm>
          <a:off x="7057181" y="5606088"/>
          <a:ext cx="11671959" cy="802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9" name="文档" r:id="rId7" imgW="3826872" imgH="263066" progId="Word.Document.12">
                  <p:embed/>
                </p:oleObj>
              </mc:Choice>
              <mc:Fallback>
                <p:oleObj name="文档" r:id="rId7" imgW="3826872" imgH="2630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57181" y="5606088"/>
                        <a:ext cx="11671959" cy="802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872608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197432"/>
            <a:ext cx="11671959" cy="3770847"/>
            <a:chOff x="361950" y="1079847"/>
            <a:chExt cx="11671959" cy="3770847"/>
          </a:xfrm>
        </p:grpSpPr>
        <p:pic>
          <p:nvPicPr>
            <p:cNvPr id="4" name="防范措施H.eps" descr="id:2147490860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1079847"/>
              <a:ext cx="2259558" cy="531552"/>
            </a:xfrm>
            <a:prstGeom prst="rect">
              <a:avLst/>
            </a:prstGeom>
          </p:spPr>
        </p:pic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1805797"/>
                </p:ext>
              </p:extLst>
            </p:nvPr>
          </p:nvGraphicFramePr>
          <p:xfrm>
            <a:off x="361950" y="1737751"/>
            <a:ext cx="11671959" cy="31129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2" name="文档" r:id="rId5" imgW="3826872" imgH="1020637" progId="Word.Document.12">
                    <p:embed/>
                  </p:oleObj>
                </mc:Choice>
                <mc:Fallback>
                  <p:oleObj name="文档" r:id="rId5" imgW="3826872" imgH="102063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1950" y="1737751"/>
                          <a:ext cx="11671959" cy="31129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6975460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-2972251" y="879216"/>
            <a:ext cx="14141901" cy="1808572"/>
            <a:chOff x="-2972251" y="863823"/>
            <a:chExt cx="14141901" cy="1808572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863823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设两个相互独立的事件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都不发生的概率为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只有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发生的概率等于只有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发生的概率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发生的概率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2040203"/>
                </p:ext>
              </p:extLst>
            </p:nvPr>
          </p:nvGraphicFramePr>
          <p:xfrm>
            <a:off x="-2972251" y="1421750"/>
            <a:ext cx="7972105" cy="652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6" name="文档" r:id="rId4" imgW="3826872" imgH="313019" progId="Word.Document.12">
                    <p:embed/>
                  </p:oleObj>
                </mc:Choice>
                <mc:Fallback>
                  <p:oleObj name="文档" r:id="rId4" imgW="3826872" imgH="31301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2972251" y="1421750"/>
                          <a:ext cx="7972105" cy="6520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035019"/>
              </p:ext>
            </p:extLst>
          </p:nvPr>
        </p:nvGraphicFramePr>
        <p:xfrm>
          <a:off x="504453" y="2719979"/>
          <a:ext cx="11671959" cy="2205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7" name="文档" r:id="rId7" imgW="3826872" imgH="723071" progId="Word.Document.12">
                  <p:embed/>
                </p:oleObj>
              </mc:Choice>
              <mc:Fallback>
                <p:oleObj name="文档" r:id="rId7" imgW="3826872" imgH="7230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2719979"/>
                        <a:ext cx="11671959" cy="22053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120288"/>
              </p:ext>
            </p:extLst>
          </p:nvPr>
        </p:nvGraphicFramePr>
        <p:xfrm>
          <a:off x="504453" y="4925346"/>
          <a:ext cx="11671959" cy="804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8" name="文档" r:id="rId10" imgW="3826872" imgH="263784" progId="Word.Document.12">
                  <p:embed/>
                </p:oleObj>
              </mc:Choice>
              <mc:Fallback>
                <p:oleObj name="文档" r:id="rId10" imgW="3826872" imgH="263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4453" y="4925346"/>
                        <a:ext cx="11671959" cy="804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894376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54803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是相互独立事件的是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将一枚质地均匀的硬币抛掷两次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第一次正面朝上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第二次反面朝上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袋中有大小和质地完全相同的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个白球、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个黑球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不放回地摸球两次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每次摸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第一次摸到白球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第二次摸到白球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掷一枚质地均匀的骰子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出现的点数为奇数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出现的点数为偶数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取一个灯泡进行测试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该灯泡能用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1 000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该灯泡能用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2 000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小时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31559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把一枚硬币掷两次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对于每次而言是相互独立的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其结果不受先后影响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中是相互独立事件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中是不放回地摸球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显然事件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不相互独立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试验的结果具有唯一性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为互斥事件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受事件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的影响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8197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95636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甲、乙同时参加某次法语考试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甲、乙考试达到优秀的概率分别为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两人考试相互独立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则甲、乙两人都未达到优秀的概率为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42	B.0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28	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	D.0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因为甲、乙考试相互独立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所以甲、乙两人都未达到优秀的概率为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98230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42898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相互独立时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相互独立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65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93180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823183"/>
            <a:ext cx="16754265" cy="1808572"/>
            <a:chOff x="361950" y="1556928"/>
            <a:chExt cx="16754265" cy="1808572"/>
          </a:xfrm>
        </p:grpSpPr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1556928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甲、乙、丙三人独立地破译同一份密码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已知甲、乙、丙各自破译出密码的概率分别为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则至少有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人破译出密码的概率是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1232144"/>
                </p:ext>
              </p:extLst>
            </p:nvPr>
          </p:nvGraphicFramePr>
          <p:xfrm>
            <a:off x="5411157" y="2097196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7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411157" y="2097196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060443"/>
              </p:ext>
            </p:extLst>
          </p:nvPr>
        </p:nvGraphicFramePr>
        <p:xfrm>
          <a:off x="432445" y="2662234"/>
          <a:ext cx="11705058" cy="2565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8" name="文档" r:id="rId7" imgW="3837724" imgH="841220" progId="Word.Document.12">
                  <p:embed/>
                </p:oleObj>
              </mc:Choice>
              <mc:Fallback>
                <p:oleObj name="文档" r:id="rId7" imgW="3837724" imgH="8412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662234"/>
                        <a:ext cx="11705058" cy="25657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64012"/>
              </p:ext>
            </p:extLst>
          </p:nvPr>
        </p:nvGraphicFramePr>
        <p:xfrm>
          <a:off x="432445" y="5292083"/>
          <a:ext cx="11705058" cy="725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9" name="文档" r:id="rId10" imgW="3837724" imgH="237979" progId="Word.Document.12">
                  <p:embed/>
                </p:oleObj>
              </mc:Choice>
              <mc:Fallback>
                <p:oleObj name="文档" r:id="rId10" imgW="3837724" imgH="2379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2445" y="5292083"/>
                        <a:ext cx="11705058" cy="725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39600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83</TotalTime>
  <Words>1889</Words>
  <Application>Microsoft Office PowerPoint</Application>
  <PresentationFormat>自定义</PresentationFormat>
  <Paragraphs>109</Paragraphs>
  <Slides>42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7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24</cp:revision>
  <dcterms:created xsi:type="dcterms:W3CDTF">2020-09-12T05:36:12Z</dcterms:created>
  <dcterms:modified xsi:type="dcterms:W3CDTF">2025-09-04T06:53:26Z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