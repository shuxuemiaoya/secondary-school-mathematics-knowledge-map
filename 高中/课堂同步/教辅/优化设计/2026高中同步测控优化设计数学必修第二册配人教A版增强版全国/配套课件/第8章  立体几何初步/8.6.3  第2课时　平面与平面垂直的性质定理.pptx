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731" r:id="rId2"/>
    <p:sldId id="753" r:id="rId3"/>
    <p:sldId id="736" r:id="rId4"/>
    <p:sldId id="744" r:id="rId5"/>
    <p:sldId id="746" r:id="rId6"/>
    <p:sldId id="749" r:id="rId7"/>
    <p:sldId id="757" r:id="rId8"/>
    <p:sldId id="756" r:id="rId9"/>
    <p:sldId id="762" r:id="rId10"/>
    <p:sldId id="761" r:id="rId11"/>
    <p:sldId id="763" r:id="rId12"/>
    <p:sldId id="737" r:id="rId13"/>
    <p:sldId id="750" r:id="rId14"/>
    <p:sldId id="764" r:id="rId15"/>
    <p:sldId id="765" r:id="rId16"/>
    <p:sldId id="784" r:id="rId17"/>
    <p:sldId id="785" r:id="rId18"/>
    <p:sldId id="786" r:id="rId19"/>
    <p:sldId id="787" r:id="rId20"/>
    <p:sldId id="766" r:id="rId21"/>
    <p:sldId id="767" r:id="rId22"/>
    <p:sldId id="755" r:id="rId23"/>
    <p:sldId id="771" r:id="rId24"/>
    <p:sldId id="772" r:id="rId25"/>
    <p:sldId id="773" r:id="rId26"/>
    <p:sldId id="774" r:id="rId27"/>
    <p:sldId id="775" r:id="rId28"/>
    <p:sldId id="776" r:id="rId29"/>
    <p:sldId id="747" r:id="rId30"/>
    <p:sldId id="751" r:id="rId31"/>
    <p:sldId id="777" r:id="rId32"/>
    <p:sldId id="788" r:id="rId33"/>
    <p:sldId id="778" r:id="rId34"/>
    <p:sldId id="789" r:id="rId35"/>
    <p:sldId id="748" r:id="rId36"/>
    <p:sldId id="752" r:id="rId37"/>
    <p:sldId id="781" r:id="rId38"/>
    <p:sldId id="782" r:id="rId39"/>
    <p:sldId id="790" r:id="rId40"/>
    <p:sldId id="783" r:id="rId41"/>
    <p:sldId id="735" r:id="rId4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5.xml"/><Relationship Id="rId5" Type="http://schemas.openxmlformats.org/officeDocument/2006/relationships/slide" Target="slide29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Word___3.docx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jpeg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4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jpeg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5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__6.docx"/><Relationship Id="rId4" Type="http://schemas.openxmlformats.org/officeDocument/2006/relationships/oleObject" Target="../embeddings/oleObject6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12" Type="http://schemas.openxmlformats.org/officeDocument/2006/relationships/image" Target="../media/image27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11" Type="http://schemas.openxmlformats.org/officeDocument/2006/relationships/package" Target="../embeddings/Microsoft_Word___9.docx"/><Relationship Id="rId5" Type="http://schemas.openxmlformats.org/officeDocument/2006/relationships/image" Target="../media/image25.emf"/><Relationship Id="rId10" Type="http://schemas.openxmlformats.org/officeDocument/2006/relationships/oleObject" Target="../embeddings/oleObject9.bin"/><Relationship Id="rId4" Type="http://schemas.openxmlformats.org/officeDocument/2006/relationships/package" Target="../embeddings/Microsoft_Word___7.docx"/><Relationship Id="rId9" Type="http://schemas.openxmlformats.org/officeDocument/2006/relationships/image" Target="../media/image28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-39329" y="1945450"/>
            <a:ext cx="11593685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平面与平面垂直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平面与平面垂直的性质定理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564242"/>
            <a:ext cx="10729192" cy="3142168"/>
            <a:chOff x="360437" y="1564242"/>
            <a:chExt cx="10729192" cy="3142168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564242"/>
              <a:ext cx="10729192" cy="3142168"/>
              <a:chOff x="360437" y="2039472"/>
              <a:chExt cx="10729192" cy="214614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039472"/>
                <a:ext cx="10729192" cy="214614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73298"/>
                <a:ext cx="0" cy="205672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594957"/>
              <a:ext cx="8496944" cy="2990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探索并理解平面与平面垂直的性质定理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并能运用定理分析解决有关问题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在应用平面与平面垂直的性质定理的过程中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提升直观想象及逻辑推理素养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理解直线、平面之间的位置关系的相互转化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一、平面与平面垂直的性质定理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教室内的墙面所在的平面与地面所在的平面垂直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要在墙面上画一条直线与地面垂直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只需在墙面上画出地面与墙面的交线的垂线即可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5831"/>
            <a:ext cx="543610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平面与平面垂直的性质定理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769809"/>
              </p:ext>
            </p:extLst>
          </p:nvPr>
        </p:nvGraphicFramePr>
        <p:xfrm>
          <a:off x="216421" y="1648929"/>
          <a:ext cx="10944332" cy="3721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文档" r:id="rId4" imgW="3947136" imgH="1342057" progId="Word.Document.12">
                  <p:embed/>
                </p:oleObj>
              </mc:Choice>
              <mc:Fallback>
                <p:oleObj name="文档" r:id="rId4" imgW="3947136" imgH="13420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648929"/>
                        <a:ext cx="10944332" cy="37211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2471255" y="2736031"/>
            <a:ext cx="155175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85446" y="3691843"/>
            <a:ext cx="76665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863634" y="4166359"/>
            <a:ext cx="76665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7757597" y="2468982"/>
            <a:ext cx="102042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7827753" y="3013825"/>
            <a:ext cx="1389668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849269" y="3517919"/>
            <a:ext cx="927658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777261" y="3969999"/>
            <a:ext cx="102042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11832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是直线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是两个不同的平面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则下列说法正确的是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对于选项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两平面可能平行也可能相交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对于选项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可能在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内也可能平行于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对于选项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内或平行于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相交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6937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直线、平面之间的位置关系的相互转化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如何证明两个平面垂直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一般先证明什么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要证明两个平面垂直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先证明线线垂直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再证明线面垂直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最后证明面面垂直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85741"/>
              </p:ext>
            </p:extLst>
          </p:nvPr>
        </p:nvGraphicFramePr>
        <p:xfrm>
          <a:off x="361950" y="4247893"/>
          <a:ext cx="11671959" cy="1008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文档" r:id="rId4" imgW="3826872" imgH="329551" progId="Word.Document.12">
                  <p:embed/>
                </p:oleObj>
              </mc:Choice>
              <mc:Fallback>
                <p:oleObj name="文档" r:id="rId4" imgW="3826872" imgH="3295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4247893"/>
                        <a:ext cx="11671959" cy="1008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4000571" y="4474981"/>
            <a:ext cx="2790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197500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848914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垂足为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垂足为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的位置关系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同理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EB.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EB=E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EAB.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EMG2TRA121.eps" descr="id:214749220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849269" y="2115562"/>
            <a:ext cx="3024336" cy="235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813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749303"/>
            <a:ext cx="10807700" cy="53520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两个平面垂直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则经过第一个平面内的点作第二个平面的垂线必在第一个平面内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垂直于同一个平面的两平面平行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两个相交平面同时垂直于第三个平面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则它们的交线垂直于第三个平面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68949" y="321487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057181" y="3816151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312765" y="4968279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792774" y="560559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186702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893319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平面</a:t>
            </a:r>
            <a:r>
              <a:rPr lang="zh-CN" altLang="zh-CN" dirty="0"/>
              <a:t>与平面垂直的性质定理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521727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所在平面外的一点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的菱形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侧面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为正三角形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其所在平面垂直于底面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边的中点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C176.eps" descr="id:21475036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481117" y="3321927"/>
            <a:ext cx="2952328" cy="263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是菱形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 smtClean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是正三角形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ABCD=AD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BG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PG.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为正三角形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BG=G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PBG.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21C197.eps" descr="id:214750370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849269" y="719807"/>
            <a:ext cx="2520280" cy="222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8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967155"/>
            <a:ext cx="10807700" cy="4744052"/>
            <a:chOff x="361950" y="940139"/>
            <a:chExt cx="10807700" cy="4744052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511895"/>
              <a:ext cx="10807700" cy="41722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利用面面垂直的性质定理证明线面垂直的问题时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要注意以下三点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两个平面垂直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直线必须在其中一个平面内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直线必须垂直于它们的交线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在运用面面垂直的性质定理时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若没有与交线垂直的直线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一般需作辅助线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基本作法是过其中一个平面内一点作交线的垂线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这样便把面面垂直问题转化为线面垂直问题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进而转化为线线垂直问题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025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燕尾形 5"/>
          <p:cNvSpPr/>
          <p:nvPr/>
        </p:nvSpPr>
        <p:spPr>
          <a:xfrm>
            <a:off x="333942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探究二</a:t>
            </a:r>
            <a:r>
              <a:rPr lang="en-US" altLang="zh-CN" dirty="0"/>
              <a:t>  </a:t>
            </a:r>
            <a:r>
              <a:rPr lang="zh-CN" altLang="zh-CN" dirty="0"/>
              <a:t>平面与平面垂直的性质定理的应用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54472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边长为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所在的平面与平面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的交点为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AC=BC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所成角的正切值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21C38.eps" descr="id:214750372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137301" y="2529839"/>
            <a:ext cx="2633905" cy="335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2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23863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ABC=AC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CE=C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EBC.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01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88429" y="556127"/>
            <a:ext cx="11087719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ABC=AC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即为直线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21C225.eps" descr="id:21475037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8569349" y="3004399"/>
            <a:ext cx="2448272" cy="3116416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42876"/>
              </p:ext>
            </p:extLst>
          </p:nvPr>
        </p:nvGraphicFramePr>
        <p:xfrm>
          <a:off x="402949" y="4160089"/>
          <a:ext cx="11705058" cy="2166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文档" r:id="rId5" imgW="3837724" imgH="710331" progId="Word.Document.12">
                  <p:embed/>
                </p:oleObj>
              </mc:Choice>
              <mc:Fallback>
                <p:oleObj name="文档" r:id="rId5" imgW="3837724" imgH="7103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2949" y="4160089"/>
                        <a:ext cx="11705058" cy="2166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156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2066958"/>
            <a:ext cx="2259558" cy="531552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259851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面面垂直的性质定理的实质是由面面垂直得到线面垂直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故可用来证明线面垂直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最后可得线线垂直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37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119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在三棱锥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P-ABC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PA=PC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EMG2TRA123.eps" descr="id:214749224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905053" y="1377710"/>
            <a:ext cx="3096344" cy="342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6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203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PA=PC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ABC=AC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PE=E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PEF.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5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直线</a:t>
            </a:r>
            <a:r>
              <a:rPr lang="zh-CN" altLang="zh-CN" dirty="0"/>
              <a:t>与平面垂直、平面与平面垂直的综合应用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58047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为垂足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的垂心时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是直角三角形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EMG2TRA126.eps" descr="id:214749229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777863" y="2029358"/>
            <a:ext cx="3871606" cy="340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843292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内任取一点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垂足为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垂足为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且交线为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DF=D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EMG2TRA127.eps" descr="id:214749230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129189" y="1718087"/>
            <a:ext cx="3771678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5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35831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并延长交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的垂心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BH.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的垂线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AE=E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是直角三角形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84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156163"/>
            <a:ext cx="10807700" cy="3596092"/>
            <a:chOff x="361950" y="940139"/>
            <a:chExt cx="10807700" cy="3596092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545797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将空间问题转化成平面问题是解决立体几何问题的一个基本原则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解题时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要抓住几何图形自身的特点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如等腰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三角形的三线合一、中位线定理、菱形的对角线互相垂直等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还可以通过解三角形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产生一些题目所需要的条件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对于一些较复杂的问题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要善于运用转化思想解决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809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62039"/>
            <a:ext cx="11671959" cy="5410712"/>
            <a:chOff x="361950" y="965997"/>
            <a:chExt cx="11671959" cy="5410712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1723567"/>
                </p:ext>
              </p:extLst>
            </p:nvPr>
          </p:nvGraphicFramePr>
          <p:xfrm>
            <a:off x="361950" y="1615886"/>
            <a:ext cx="11671959" cy="53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name="文档" r:id="rId4" imgW="3826872" imgH="175377" progId="Word.Document.12">
                    <p:embed/>
                  </p:oleObj>
                </mc:Choice>
                <mc:Fallback>
                  <p:oleObj name="文档" r:id="rId4" imgW="3826872" imgH="1753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61950" y="1615886"/>
                          <a:ext cx="11671959" cy="534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965997"/>
              <a:ext cx="10807700" cy="5410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为空间四点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等边三角形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为轴转动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转动时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是否总有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证明你的结论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EMG2TRA128.eps" descr="id:214749231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4104853" y="1976342"/>
            <a:ext cx="2376264" cy="287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9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151855"/>
            <a:ext cx="11735791" cy="4092278"/>
            <a:chOff x="361950" y="1236041"/>
            <a:chExt cx="11735791" cy="409227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236041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CE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是等边三角形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ABC=AB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CE.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6084494"/>
                </p:ext>
              </p:extLst>
            </p:nvPr>
          </p:nvGraphicFramePr>
          <p:xfrm>
            <a:off x="425782" y="4188369"/>
            <a:ext cx="11671959" cy="1139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" name="文档" r:id="rId4" imgW="3826872" imgH="373754" progId="Word.Document.12">
                    <p:embed/>
                  </p:oleObj>
                </mc:Choice>
                <mc:Fallback>
                  <p:oleObj name="文档" r:id="rId4" imgW="3826872" imgH="3737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5782" y="4188369"/>
                          <a:ext cx="11671959" cy="11399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" name="EMG2TRA129.eps" descr="id:214749232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705253" y="1643733"/>
            <a:ext cx="2664296" cy="322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77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675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为轴转动时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总有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都在线段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的垂直平分线上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不在平面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又因为在平面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为两条相交直线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综上所述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总有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733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95871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转化思想在线线、线面、面面垂直中的应用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是三个不同的平面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=l.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审题视角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根据直线和平面垂直的判定定理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可在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内构造两相交直线分别与平面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或者由面面垂直的性质易在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内作出平面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的垂线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再设法证明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与其平行即可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证法一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内任取一点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的交线于点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的交线于点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证法二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内作直线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的交线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内作直线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的交线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l.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21C41.eps" descr="id:214750380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417221" y="1314339"/>
            <a:ext cx="2232248" cy="1925748"/>
          </a:xfrm>
          <a:prstGeom prst="rect">
            <a:avLst/>
          </a:prstGeom>
        </p:spPr>
      </p:pic>
      <p:pic>
        <p:nvPicPr>
          <p:cNvPr id="5" name="21C42.eps" descr="id:2147503809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7633245" y="4176191"/>
            <a:ext cx="2597681" cy="207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285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方法点睛H.eps" descr="id:2147503816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504453" y="1060183"/>
            <a:ext cx="2259558" cy="531552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163624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线线、线面、面面垂直关系的综合应用主要体现了转化思想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其转化关系如下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217453"/>
              </p:ext>
            </p:extLst>
          </p:nvPr>
        </p:nvGraphicFramePr>
        <p:xfrm>
          <a:off x="454859" y="2898400"/>
          <a:ext cx="11705058" cy="993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文档" r:id="rId5" imgW="3837724" imgH="325959" progId="Word.Document.12">
                  <p:embed/>
                </p:oleObj>
              </mc:Choice>
              <mc:Fallback>
                <p:oleObj name="文档" r:id="rId5" imgW="3837724" imgH="3259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4859" y="2898400"/>
                        <a:ext cx="11705058" cy="9930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61950" y="379648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平行与垂直的转化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直线与平面垂直的性质定理揭示了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之间的内在联系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如证法二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2482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540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在四棱锥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P-ABCD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为矩形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PA=AB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21C43.eps" descr="id:214750382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744813" y="2853216"/>
            <a:ext cx="3240360" cy="225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958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3947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PAB=AB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ABP.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ABP.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四点共面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PA=AB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AF.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EF=F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DEF.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PBC.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01376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70890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则下列命题中是真命题的为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还可能相交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仅垂直于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内的一条直线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不能判定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61531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2583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在四面体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AB=AD=BC=CD=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的长为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21C40.eps" descr="id:214750383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528789" y="2321974"/>
            <a:ext cx="3312368" cy="279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7665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48411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AB=AD=BC=CD=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且交线为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140295"/>
              </p:ext>
            </p:extLst>
          </p:nvPr>
        </p:nvGraphicFramePr>
        <p:xfrm>
          <a:off x="432445" y="2159967"/>
          <a:ext cx="11705058" cy="7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文档" r:id="rId4" imgW="3837724" imgH="259613" progId="Word.Document.12">
                  <p:embed/>
                </p:oleObj>
              </mc:Choice>
              <mc:Fallback>
                <p:oleObj name="文档" r:id="rId4" imgW="3837724" imgH="2596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159967"/>
                        <a:ext cx="11705058" cy="791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281787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CN.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069870"/>
              </p:ext>
            </p:extLst>
          </p:nvPr>
        </p:nvGraphicFramePr>
        <p:xfrm>
          <a:off x="334358" y="3969999"/>
          <a:ext cx="11705058" cy="2428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文档" r:id="rId7" imgW="3837724" imgH="796148" progId="Word.Document.12">
                  <p:embed/>
                </p:oleObj>
              </mc:Choice>
              <mc:Fallback>
                <p:oleObj name="文档" r:id="rId7" imgW="3837724" imgH="7961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4358" y="3969999"/>
                        <a:ext cx="11705058" cy="2428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21C88.eps" descr="id:2147503844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8497341" y="2255680"/>
            <a:ext cx="2016224" cy="1716280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881695"/>
              </p:ext>
            </p:extLst>
          </p:nvPr>
        </p:nvGraphicFramePr>
        <p:xfrm>
          <a:off x="8929389" y="5601224"/>
          <a:ext cx="11705058" cy="790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文档" r:id="rId11" imgW="3837724" imgH="259253" progId="Word.Document.12">
                  <p:embed/>
                </p:oleObj>
              </mc:Choice>
              <mc:Fallback>
                <p:oleObj name="文档" r:id="rId11" imgW="3837724" imgH="259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29389" y="5601224"/>
                        <a:ext cx="11705058" cy="790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33547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2813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在四棱锥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S-ABCD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是矩形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侧面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21C233.eps" descr="id:214750385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477619" y="1821553"/>
            <a:ext cx="3515666" cy="2286293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61950" y="3999104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是矩形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ABCD=CD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34626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61</TotalTime>
  <Words>2331</Words>
  <Application>Microsoft Office PowerPoint</Application>
  <PresentationFormat>自定义</PresentationFormat>
  <Paragraphs>193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20</cp:revision>
  <dcterms:created xsi:type="dcterms:W3CDTF">2020-09-12T05:36:12Z</dcterms:created>
  <dcterms:modified xsi:type="dcterms:W3CDTF">2025-09-04T06:33:39Z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