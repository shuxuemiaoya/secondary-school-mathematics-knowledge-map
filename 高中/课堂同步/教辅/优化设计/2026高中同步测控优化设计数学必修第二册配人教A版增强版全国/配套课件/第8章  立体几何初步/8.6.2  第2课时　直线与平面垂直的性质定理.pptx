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4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60" r:id="rId10"/>
    <p:sldId id="761" r:id="rId11"/>
    <p:sldId id="762" r:id="rId12"/>
    <p:sldId id="737" r:id="rId13"/>
    <p:sldId id="750" r:id="rId14"/>
    <p:sldId id="763" r:id="rId15"/>
    <p:sldId id="764" r:id="rId16"/>
    <p:sldId id="765" r:id="rId17"/>
    <p:sldId id="754" r:id="rId18"/>
    <p:sldId id="774" r:id="rId19"/>
    <p:sldId id="766" r:id="rId20"/>
    <p:sldId id="767" r:id="rId21"/>
    <p:sldId id="768" r:id="rId22"/>
    <p:sldId id="755" r:id="rId23"/>
    <p:sldId id="769" r:id="rId24"/>
    <p:sldId id="770" r:id="rId25"/>
    <p:sldId id="775" r:id="rId26"/>
    <p:sldId id="776" r:id="rId27"/>
    <p:sldId id="777" r:id="rId28"/>
    <p:sldId id="778" r:id="rId29"/>
    <p:sldId id="779" r:id="rId30"/>
    <p:sldId id="780" r:id="rId31"/>
    <p:sldId id="781" r:id="rId32"/>
    <p:sldId id="782" r:id="rId33"/>
    <p:sldId id="783" r:id="rId34"/>
    <p:sldId id="784" r:id="rId35"/>
    <p:sldId id="748" r:id="rId36"/>
    <p:sldId id="752" r:id="rId37"/>
    <p:sldId id="785" r:id="rId38"/>
    <p:sldId id="786" r:id="rId39"/>
    <p:sldId id="771" r:id="rId40"/>
    <p:sldId id="772" r:id="rId41"/>
    <p:sldId id="773" r:id="rId42"/>
    <p:sldId id="735" r:id="rId43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image" Target="../media/image2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42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5.xml"/><Relationship Id="rId5" Type="http://schemas.openxmlformats.org/officeDocument/2006/relationships/slide" Target="slide25.xml"/><Relationship Id="rId4" Type="http://schemas.openxmlformats.org/officeDocument/2006/relationships/slide" Target="slide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slide" Target="slide13.xml"/><Relationship Id="rId1" Type="http://schemas.openxmlformats.org/officeDocument/2006/relationships/slideLayout" Target="../slideLayouts/slideLayout4.xml"/><Relationship Id="rId4" Type="http://schemas.openxmlformats.org/officeDocument/2006/relationships/slide" Target="slide2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oleObject" Target="../embeddings/oleObject2.bin"/><Relationship Id="rId7" Type="http://schemas.openxmlformats.org/officeDocument/2006/relationships/package" Target="../embeddings/Microsoft_Word___3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1.emf"/><Relationship Id="rId4" Type="http://schemas.openxmlformats.org/officeDocument/2006/relationships/package" Target="../embeddings/Microsoft_Word___2.docx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oleObject" Target="../embeddings/oleObject4.bin"/><Relationship Id="rId7" Type="http://schemas.openxmlformats.org/officeDocument/2006/relationships/package" Target="../embeddings/Microsoft_Word___5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4.docx"/><Relationship Id="rId9" Type="http://schemas.openxmlformats.org/officeDocument/2006/relationships/image" Target="../media/image15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6.docx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__7.docx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8.docx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22.emf"/><Relationship Id="rId4" Type="http://schemas.openxmlformats.org/officeDocument/2006/relationships/package" Target="../embeddings/Microsoft_Word___9.docx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23.emf"/><Relationship Id="rId4" Type="http://schemas.openxmlformats.org/officeDocument/2006/relationships/package" Target="../embeddings/Microsoft_Word___10.docx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oleObject" Target="../embeddings/oleObject11.bin"/><Relationship Id="rId7" Type="http://schemas.openxmlformats.org/officeDocument/2006/relationships/package" Target="../embeddings/Microsoft_Word___12.docx"/><Relationship Id="rId12" Type="http://schemas.openxmlformats.org/officeDocument/2006/relationships/image" Target="../media/image26.e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2.bin"/><Relationship Id="rId11" Type="http://schemas.openxmlformats.org/officeDocument/2006/relationships/package" Target="../embeddings/Microsoft_Word___13.docx"/><Relationship Id="rId5" Type="http://schemas.openxmlformats.org/officeDocument/2006/relationships/image" Target="../media/image24.emf"/><Relationship Id="rId10" Type="http://schemas.openxmlformats.org/officeDocument/2006/relationships/oleObject" Target="../embeddings/oleObject13.bin"/><Relationship Id="rId4" Type="http://schemas.openxmlformats.org/officeDocument/2006/relationships/package" Target="../embeddings/Microsoft_Word___11.docx"/><Relationship Id="rId9" Type="http://schemas.openxmlformats.org/officeDocument/2006/relationships/image" Target="../media/image27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-71611" y="1873442"/>
            <a:ext cx="11665693" cy="2086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sz="5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sz="5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5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54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直线与平面垂直</a:t>
            </a:r>
            <a:endParaRPr lang="zh-CN" altLang="zh-CN" sz="54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54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第</a:t>
            </a: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54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课时</a:t>
            </a:r>
            <a:r>
              <a:rPr lang="zh-CN" altLang="zh-CN" sz="5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54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直线与平面垂直的性质定理</a:t>
            </a:r>
            <a:endParaRPr lang="zh-CN" altLang="zh-CN" sz="54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151855"/>
            <a:ext cx="10729192" cy="4182226"/>
            <a:chOff x="360437" y="1473451"/>
            <a:chExt cx="10729192" cy="4182226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473451"/>
              <a:ext cx="10729192" cy="4182226"/>
              <a:chOff x="360437" y="1977461"/>
              <a:chExt cx="10729192" cy="2856517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977461"/>
                <a:ext cx="10729192" cy="2856517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2026087"/>
                <a:ext cx="0" cy="2737496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473789"/>
              <a:ext cx="8496944" cy="41722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借助长方体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通过直观感知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归纳并证明直线与平面垂直的性质定理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在具体问题中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能利用直线与平面垂直的性质定理分析解决有关问题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理解及掌握直线与平面、两个平行平面间的距离的定义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并能根据定义通过数学运算求两个平行平面间的距离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26809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74091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8" name="图文框 7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92431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思  想  方  法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图文框 4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84394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39191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一、直线与平面垂直的性质定理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大家都读过茅盾先生的《白杨礼赞》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在广阔的西北平原上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矗立着一排排白杨树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它们像哨兵一样守卫着祖国疆土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一排排的白杨树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它们都垂直于地面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那么它们之间的位置关系如何呢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平行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在同一平面内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垂直于同一条直线的两条直线平行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那么在空间中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垂直于同一个平面的两条直线有怎样的位置关系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平行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03783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直线与平面垂直的性质定理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5938230"/>
              </p:ext>
            </p:extLst>
          </p:nvPr>
        </p:nvGraphicFramePr>
        <p:xfrm>
          <a:off x="192830" y="1151855"/>
          <a:ext cx="10944332" cy="3539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文档" r:id="rId4" imgW="3947136" imgH="1278235" progId="Word.Document.12">
                  <p:embed/>
                </p:oleObj>
              </mc:Choice>
              <mc:Fallback>
                <p:oleObj name="文档" r:id="rId4" imgW="3947136" imgH="127823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2830" y="1151855"/>
                        <a:ext cx="10944332" cy="35392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>
            <a:spLocks noChangeAspect="1"/>
          </p:cNvSpPr>
          <p:nvPr/>
        </p:nvSpPr>
        <p:spPr>
          <a:xfrm>
            <a:off x="361950" y="4042007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直线与平面垂直的性质定理给出了判定</a:t>
            </a:r>
            <a:r>
              <a:rPr lang="zh-CN" altLang="zh-CN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两条直线平行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的一种方法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直线与平面垂直的性质定理揭示了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垂直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之间的内在联系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800597" y="2827641"/>
            <a:ext cx="792088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548356" y="2340180"/>
            <a:ext cx="958427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8548355" y="2846772"/>
            <a:ext cx="958427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7873479" y="4104703"/>
            <a:ext cx="2440812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7868933" y="4568801"/>
            <a:ext cx="243805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7238423" y="5276605"/>
            <a:ext cx="80720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>
            <a:off x="7233877" y="5740703"/>
            <a:ext cx="80629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8867213" y="5286437"/>
            <a:ext cx="80720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/>
          <p:cNvCxnSpPr/>
          <p:nvPr/>
        </p:nvCxnSpPr>
        <p:spPr>
          <a:xfrm>
            <a:off x="8862667" y="5750535"/>
            <a:ext cx="80629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298814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7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07839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所在的平面为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则不重合的直线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的位置关系是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相交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B.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异面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	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平行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D.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不确定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AC=A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同理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由线面垂直的性质定理可得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326878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280110" y="901258"/>
            <a:ext cx="11015711" cy="4819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 smtClean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</a:t>
            </a: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、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直线与平面、两个平行平面间的距离的定义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柱体的体积公式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V=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Sh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为底面面积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柱体的高就是底面间的距离吗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一条直线与一个平面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平行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这条直线上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任意一点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到这个平面的距离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叫做这条直线到这个平面的距离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如果两个平面平行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那么其中一个平面内的任意一点到另一个平面的距离都相等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我们把它叫做这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两个平行平面间的距离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39355" y="3300370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4834765" y="3764468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8188543" y="3304148"/>
            <a:ext cx="159493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8183997" y="3768246"/>
            <a:ext cx="159313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7006689" y="5068296"/>
            <a:ext cx="4010932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7002143" y="5532394"/>
            <a:ext cx="40063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181831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2159967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到平面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的距离为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到平面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的距离为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71824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39471"/>
            <a:ext cx="10807700" cy="535415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错误的画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垂直于同一条直线的两平面平行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如果一条直线上有两点到一平面的距离相等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那么直线不一定与平面平行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如果一个平面内任意一点到另一个平面的距离相等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那么这两个平面平行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112254" y="2613924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7057181" y="3206101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3744813" y="4392215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3744813" y="5544343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248569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20166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/>
              <a:t>探究一</a:t>
            </a:r>
            <a:endParaRPr lang="zh-CN" altLang="en-US" sz="2400"/>
          </a:p>
        </p:txBody>
      </p:sp>
      <p:sp>
        <p:nvSpPr>
          <p:cNvPr id="4" name="圆角矩形 3">
            <a:hlinkClick r:id="rId3" action="ppaction://hlinksldjump"/>
          </p:cNvPr>
          <p:cNvSpPr/>
          <p:nvPr/>
        </p:nvSpPr>
        <p:spPr>
          <a:xfrm>
            <a:off x="38168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二</a:t>
            </a:r>
            <a:endParaRPr lang="zh-CN" altLang="en-US" sz="2400" dirty="0"/>
          </a:p>
        </p:txBody>
      </p:sp>
      <p:sp>
        <p:nvSpPr>
          <p:cNvPr id="5" name="圆角矩形 4">
            <a:hlinkClick r:id="rId4" action="ppaction://hlinksldjump"/>
          </p:cNvPr>
          <p:cNvSpPr/>
          <p:nvPr/>
        </p:nvSpPr>
        <p:spPr>
          <a:xfrm>
            <a:off x="56170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三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333942" y="680479"/>
            <a:ext cx="10437264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探究一</a:t>
            </a:r>
            <a:r>
              <a:rPr lang="en-US" altLang="zh-CN" dirty="0"/>
              <a:t>  </a:t>
            </a:r>
            <a:r>
              <a:rPr lang="zh-CN" altLang="zh-CN" dirty="0"/>
              <a:t>直线与平面垂直的性质定理</a:t>
            </a: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61950" y="1171519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在四棱锥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P-ABCD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是矩形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AE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于点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AE.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为矩形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AD=A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PAD.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AE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AE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AE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CD=D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AE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PCD.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AE.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21C32.eps" descr="id:214750307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8065293" y="3537951"/>
            <a:ext cx="2808312" cy="2726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1223863"/>
            <a:ext cx="10807700" cy="3610959"/>
            <a:chOff x="361950" y="940139"/>
            <a:chExt cx="10807700" cy="3610959"/>
          </a:xfrm>
        </p:grpSpPr>
        <p:pic>
          <p:nvPicPr>
            <p:cNvPr id="6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940139"/>
              <a:ext cx="2259558" cy="531552"/>
            </a:xfrm>
            <a:prstGeom prst="rect">
              <a:avLst/>
            </a:prstGeom>
          </p:spPr>
        </p:pic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560664"/>
              <a:ext cx="10807700" cy="299043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本例应用线面垂直的性质达到证明线线平行的目的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即线面垂直的性质提供了线线平行的依据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在空间证明线线平行的方法有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定义法、基本事实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、线面平行的性质定理、面面平行的性质定理、线面垂直的性质定理等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7423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VMG2TRA188.eps" descr="id:2147491682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456781" y="2129975"/>
            <a:ext cx="3168352" cy="3126336"/>
          </a:xfrm>
          <a:prstGeom prst="rect">
            <a:avLst/>
          </a:prstGeom>
        </p:spPr>
      </p:pic>
      <p:sp>
        <p:nvSpPr>
          <p:cNvPr id="2" name="矩形 1"/>
          <p:cNvSpPr>
            <a:spLocks noChangeAspect="1"/>
          </p:cNvSpPr>
          <p:nvPr/>
        </p:nvSpPr>
        <p:spPr>
          <a:xfrm>
            <a:off x="361950" y="863823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在正方体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-ABCD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与异面直线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都垂直相交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760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66249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BD=D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同理可证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C=C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C=C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VMG2TRA189.eps" descr="id:2147491689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7489229" y="1270305"/>
            <a:ext cx="2880320" cy="2842124"/>
          </a:xfrm>
          <a:prstGeom prst="rect">
            <a:avLst/>
          </a:prstGeom>
        </p:spPr>
      </p:pic>
      <p:sp>
        <p:nvSpPr>
          <p:cNvPr id="3" name="矩形 2"/>
          <p:cNvSpPr>
            <a:spLocks noChangeAspect="1"/>
          </p:cNvSpPr>
          <p:nvPr/>
        </p:nvSpPr>
        <p:spPr>
          <a:xfrm>
            <a:off x="361950" y="375066"/>
            <a:ext cx="10807700" cy="604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662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333942" y="719807"/>
            <a:ext cx="10437264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直线</a:t>
            </a:r>
            <a:r>
              <a:rPr lang="zh-CN" altLang="zh-CN" dirty="0"/>
              <a:t>与平面垂直的性质定理的运用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376844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已知矩形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过点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再过点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AE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于点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过点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于点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SC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VMG2TRA193.eps" descr="id:2147491703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251376" y="3185416"/>
            <a:ext cx="2877813" cy="281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893319"/>
            <a:ext cx="10807700" cy="47632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为矩形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AB=A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SAB.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AE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AE.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BC=B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AE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AE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EF=E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AEF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SC.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1726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延伸探究H.eps" descr="id:2147490832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317062" y="753074"/>
            <a:ext cx="2524095" cy="460328"/>
          </a:xfrm>
          <a:prstGeom prst="rect">
            <a:avLst/>
          </a:prstGeom>
        </p:spPr>
      </p:pic>
      <p:sp>
        <p:nvSpPr>
          <p:cNvPr id="6" name="矩形 5"/>
          <p:cNvSpPr>
            <a:spLocks noChangeAspect="1"/>
          </p:cNvSpPr>
          <p:nvPr/>
        </p:nvSpPr>
        <p:spPr>
          <a:xfrm>
            <a:off x="361950" y="1271130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若本例中已知条件添加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AEF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于点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此时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AG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又如何证明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DC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为矩形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AD=A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SAD.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AG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SAD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AG.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AEF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AG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AEF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AG.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DC=C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AG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SDC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AG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SD.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8" name="VMG2TRA190.eps" descr="id:2147503126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8562855" y="2251768"/>
            <a:ext cx="2742798" cy="2687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030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反思感悟H.eps" descr="id:214749079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1950" y="1702839"/>
            <a:ext cx="2259558" cy="531552"/>
          </a:xfrm>
          <a:prstGeom prst="rect">
            <a:avLst/>
          </a:prstGeom>
        </p:spPr>
      </p:pic>
      <p:sp>
        <p:nvSpPr>
          <p:cNvPr id="4" name="矩形 3"/>
          <p:cNvSpPr>
            <a:spLocks noChangeAspect="1"/>
          </p:cNvSpPr>
          <p:nvPr/>
        </p:nvSpPr>
        <p:spPr>
          <a:xfrm>
            <a:off x="361950" y="2295611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直线与平面垂直的性质定理是线线、线面垂直以及线面、面面平行相互转化的桥梁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因此必须熟练掌握这些定理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并能灵活地运用它们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9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873655"/>
            <a:ext cx="10807700" cy="47632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直线与平面垂直的性质除性质定理外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还有如下性质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若一条直线垂直于一个平面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则它就垂直于这个平面内的任意一条直线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若两条平行线中的一条垂直于一个平面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则另一条也垂直于这个平面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若一条直线垂直于两个平行平面中的一个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则它必垂直于另一个平面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垂直于同一条直线的两个平面平行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199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333942" y="951784"/>
            <a:ext cx="10437264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 smtClean="0"/>
              <a:t>探究三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空间</a:t>
            </a:r>
            <a:r>
              <a:rPr lang="zh-CN" altLang="zh-CN" dirty="0"/>
              <a:t>中的距离问题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609688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若构成教室墙角的三个墙面记为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交线记为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教室内一点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到三墙面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γ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的距离分别为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 m,4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m, 1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与墙角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的距离为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7359754"/>
              </p:ext>
            </p:extLst>
          </p:nvPr>
        </p:nvGraphicFramePr>
        <p:xfrm>
          <a:off x="406118" y="3452745"/>
          <a:ext cx="11671959" cy="1079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8" name="文档" r:id="rId4" imgW="3826872" imgH="353989" progId="Word.Document.12">
                  <p:embed/>
                </p:oleObj>
              </mc:Choice>
              <mc:Fallback>
                <p:oleObj name="文档" r:id="rId4" imgW="3826872" imgH="35398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06118" y="3452745"/>
                        <a:ext cx="11671959" cy="10796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3109699"/>
              </p:ext>
            </p:extLst>
          </p:nvPr>
        </p:nvGraphicFramePr>
        <p:xfrm>
          <a:off x="406117" y="4686368"/>
          <a:ext cx="11671959" cy="5601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" name="文档" r:id="rId7" imgW="3826872" imgH="183643" progId="Word.Document.12">
                  <p:embed/>
                </p:oleObj>
              </mc:Choice>
              <mc:Fallback>
                <p:oleObj name="文档" r:id="rId7" imgW="3826872" imgH="1836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6117" y="4686368"/>
                        <a:ext cx="11671959" cy="5601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61950" y="1511895"/>
            <a:ext cx="10807700" cy="3020028"/>
            <a:chOff x="361950" y="940139"/>
            <a:chExt cx="10807700" cy="3020028"/>
          </a:xfrm>
        </p:grpSpPr>
        <p:pic>
          <p:nvPicPr>
            <p:cNvPr id="7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940139"/>
              <a:ext cx="2259558" cy="531552"/>
            </a:xfrm>
            <a:prstGeom prst="rect">
              <a:avLst/>
            </a:prstGeom>
          </p:spPr>
        </p:pic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560664"/>
              <a:ext cx="10807700" cy="239950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平面到平面的距离可转化为直线到平面的距离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也可转化为点到平面的距离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注意点到平面的距离、直线到平面的距离、两平行平面间的距离互相转化的条件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直接求解可能困难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通过数学化归与转化思想解决变得容易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6169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473789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外的点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到平面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内各点的线段中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最短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所在直线与平面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的关系是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垂直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不确定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849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思  想  方  法</a:t>
            </a:r>
            <a:endParaRPr lang="zh-CN" altLang="zh-CN" sz="66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51951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704346"/>
            <a:ext cx="15735993" cy="1825821"/>
            <a:chOff x="361950" y="694186"/>
            <a:chExt cx="15735993" cy="1825821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694186"/>
              <a:ext cx="10807700" cy="182582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转化思想在线面垂直与距离中的应用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【典例】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在四棱锥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P-ABCD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CD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PAD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 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AD=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PD=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4,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AB=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6,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 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∠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BAD=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60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在棱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上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01173033"/>
                </p:ext>
              </p:extLst>
            </p:nvPr>
          </p:nvGraphicFramePr>
          <p:xfrm>
            <a:off x="4392885" y="1943943"/>
            <a:ext cx="11705058" cy="5399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0" name="文档" r:id="rId4" imgW="3837724" imgH="177042" progId="Word.Document.12">
                    <p:embed/>
                  </p:oleObj>
                </mc:Choice>
                <mc:Fallback>
                  <p:oleObj name="文档" r:id="rId4" imgW="3837724" imgH="17704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92885" y="1943943"/>
                          <a:ext cx="11705058" cy="53997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组合 10"/>
          <p:cNvGrpSpPr/>
          <p:nvPr/>
        </p:nvGrpSpPr>
        <p:grpSpPr>
          <a:xfrm>
            <a:off x="361950" y="4984934"/>
            <a:ext cx="16837321" cy="1217641"/>
            <a:chOff x="361950" y="4974774"/>
            <a:chExt cx="16837321" cy="1217641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361950" y="4974774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证明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PD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ABCD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若三棱锥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P-ADQ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的体积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为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求点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到平面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PDQ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的距离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97792907"/>
                </p:ext>
              </p:extLst>
            </p:nvPr>
          </p:nvGraphicFramePr>
          <p:xfrm>
            <a:off x="5494213" y="5645603"/>
            <a:ext cx="11705058" cy="5344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1" name="文档" r:id="rId7" imgW="3837724" imgH="175239" progId="Word.Document.12">
                    <p:embed/>
                  </p:oleObj>
                </mc:Choice>
                <mc:Fallback>
                  <p:oleObj name="文档" r:id="rId7" imgW="3837724" imgH="17523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494213" y="5645603"/>
                          <a:ext cx="11705058" cy="53447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2" name="21C33.eps" descr="id:2147503161;FounderCES"/>
          <p:cNvPicPr/>
          <p:nvPr/>
        </p:nvPicPr>
        <p:blipFill>
          <a:blip r:embed="rId9"/>
          <a:stretch>
            <a:fillRect/>
          </a:stretch>
        </p:blipFill>
        <p:spPr>
          <a:xfrm>
            <a:off x="5905053" y="2540327"/>
            <a:ext cx="2592288" cy="274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025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8000641"/>
              </p:ext>
            </p:extLst>
          </p:nvPr>
        </p:nvGraphicFramePr>
        <p:xfrm>
          <a:off x="360437" y="2003561"/>
          <a:ext cx="10640962" cy="1812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文档" r:id="rId4" imgW="3837724" imgH="653721" progId="Word.Document.12">
                  <p:embed/>
                </p:oleObj>
              </mc:Choice>
              <mc:Fallback>
                <p:oleObj name="文档" r:id="rId4" imgW="3837724" imgH="65372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2003561"/>
                        <a:ext cx="10640962" cy="18125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94253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432445" y="1223863"/>
            <a:ext cx="18678161" cy="3643049"/>
            <a:chOff x="361950" y="1223863"/>
            <a:chExt cx="18678161" cy="3643049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223863"/>
              <a:ext cx="10807700" cy="364304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规范展示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证明</a:t>
              </a:r>
              <a:r>
                <a:rPr lang="en-US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i="1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AD=</a:t>
              </a:r>
              <a:r>
                <a:rPr lang="en-US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PD=</a:t>
              </a:r>
              <a:r>
                <a:rPr lang="en-US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4,</a:t>
              </a:r>
              <a:r>
                <a:rPr lang="en-US" altLang="zh-CN" i="1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PA</a:t>
              </a:r>
              <a:r>
                <a:rPr lang="en-US" altLang="zh-CN" i="1" dirty="0" smtClean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=         </a:t>
              </a:r>
              <a:r>
                <a:rPr lang="en-US" altLang="zh-CN" dirty="0" smtClean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i="1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PA</a:t>
              </a:r>
              <a:r>
                <a:rPr lang="en-US" altLang="zh-CN" baseline="30000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=PD</a:t>
              </a:r>
              <a:r>
                <a:rPr lang="en-US" altLang="zh-CN" baseline="30000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+AD</a:t>
              </a:r>
              <a:r>
                <a:rPr lang="en-US" altLang="zh-CN" baseline="30000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PD</a:t>
              </a:r>
              <a:r>
                <a:rPr lang="zh-CN" altLang="zh-CN" dirty="0">
                  <a:solidFill>
                    <a:srgbClr val="000000"/>
                  </a:solidFill>
                  <a:effectLst/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en-US" altLang="zh-CN" i="1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AD.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i="1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CD</a:t>
              </a:r>
              <a:r>
                <a:rPr lang="zh-CN" altLang="zh-CN" dirty="0">
                  <a:solidFill>
                    <a:srgbClr val="000000"/>
                  </a:solidFill>
                  <a:effectLst/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zh-CN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PAD</a:t>
              </a:r>
              <a:r>
                <a:rPr lang="en-US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PD</a:t>
              </a:r>
              <a:r>
                <a:rPr lang="en-US" altLang="zh-CN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⊂</a:t>
              </a:r>
              <a:r>
                <a:rPr lang="zh-CN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PAD</a:t>
              </a:r>
              <a:r>
                <a:rPr lang="en-US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i="1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CD</a:t>
              </a:r>
              <a:r>
                <a:rPr lang="zh-CN" altLang="zh-CN" dirty="0">
                  <a:solidFill>
                    <a:srgbClr val="000000"/>
                  </a:solidFill>
                  <a:effectLst/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en-US" altLang="zh-CN" i="1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PD.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又</a:t>
              </a:r>
              <a:r>
                <a:rPr lang="en-US" altLang="zh-CN" i="1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AD</a:t>
              </a:r>
              <a:r>
                <a:rPr lang="en-US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∩</a:t>
              </a:r>
              <a:r>
                <a:rPr lang="en-US" altLang="zh-CN" i="1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CD=D</a:t>
              </a:r>
              <a:r>
                <a:rPr lang="en-US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AD</a:t>
              </a:r>
              <a:r>
                <a:rPr lang="en-US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CD</a:t>
              </a:r>
              <a:r>
                <a:rPr lang="en-US" altLang="zh-CN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⊂</a:t>
              </a:r>
              <a:r>
                <a:rPr lang="zh-CN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ABCD</a:t>
              </a:r>
              <a:r>
                <a:rPr lang="en-US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i="1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PD</a:t>
              </a:r>
              <a:r>
                <a:rPr lang="zh-CN" altLang="zh-CN" dirty="0">
                  <a:solidFill>
                    <a:srgbClr val="000000"/>
                  </a:solidFill>
                  <a:effectLst/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zh-CN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ABCD.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18130845"/>
                </p:ext>
              </p:extLst>
            </p:nvPr>
          </p:nvGraphicFramePr>
          <p:xfrm>
            <a:off x="7335053" y="1295871"/>
            <a:ext cx="11705058" cy="5399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2" name="文档" r:id="rId4" imgW="3837724" imgH="177042" progId="Word.Document.12">
                    <p:embed/>
                  </p:oleObj>
                </mc:Choice>
                <mc:Fallback>
                  <p:oleObj name="文档" r:id="rId4" imgW="3837724" imgH="17704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7335053" y="1295871"/>
                          <a:ext cx="11705058" cy="53997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683275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65929"/>
              </p:ext>
            </p:extLst>
          </p:nvPr>
        </p:nvGraphicFramePr>
        <p:xfrm>
          <a:off x="504453" y="579255"/>
          <a:ext cx="10640962" cy="5799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" name="文档" r:id="rId4" imgW="3837724" imgH="2091691" progId="Word.Document.12">
                  <p:embed/>
                </p:oleObj>
              </mc:Choice>
              <mc:Fallback>
                <p:oleObj name="文档" r:id="rId4" imgW="3837724" imgH="209169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579255"/>
                        <a:ext cx="10640962" cy="5799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6879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方法点睛H.eps" descr="id:2147503196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288429" y="665673"/>
            <a:ext cx="1899518" cy="446854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361950" y="1089679"/>
            <a:ext cx="10807700" cy="5354158"/>
            <a:chOff x="361950" y="1146218"/>
            <a:chExt cx="10807700" cy="5354158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146218"/>
              <a:ext cx="10807700" cy="535415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线线垂直与线面垂直体现了转化思想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转化关系如下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线线垂直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线面垂直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空间中距离的转化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利用线面、面面平行转化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利用线面距离、面面距离的定义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转化为直线或平面上的另一点到平面的距离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利用中点转化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如果条件中具有中点条件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将一个点到平面的距离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借助中点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等分点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转化为另一点到平面的距离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通过换底转化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一是直接换底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以方便求几何体的高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二是将底面扩展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分割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以方便求底面积和高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7" name="图片 6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2098461" y="1688739"/>
              <a:ext cx="621213" cy="7592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35961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63823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【变式训练】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在几何体中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ABC-A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为三棱柱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=AC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四边形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为平行四边形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AD=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ADC=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dirty="0" smtClean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dirty="0" smtClean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CD=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求点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到平面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的距离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8" name="21C34.eps" descr="id:2147503203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6193085" y="2159967"/>
            <a:ext cx="2808312" cy="268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018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30708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 (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图略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)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ABC-A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为三棱柱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=AC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所以四边形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是正方形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CD=a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AD=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0804896"/>
              </p:ext>
            </p:extLst>
          </p:nvPr>
        </p:nvGraphicFramePr>
        <p:xfrm>
          <a:off x="504453" y="3721142"/>
          <a:ext cx="11705058" cy="995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" name="文档" r:id="rId4" imgW="3837724" imgH="326320" progId="Word.Document.12">
                  <p:embed/>
                </p:oleObj>
              </mc:Choice>
              <mc:Fallback>
                <p:oleObj name="文档" r:id="rId4" imgW="3837724" imgH="32632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3721142"/>
                        <a:ext cx="11705058" cy="9952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61950" y="4801262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+AC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=AD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0108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511895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由题意得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从而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2930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074125"/>
              </p:ext>
            </p:extLst>
          </p:nvPr>
        </p:nvGraphicFramePr>
        <p:xfrm>
          <a:off x="392683" y="1079847"/>
          <a:ext cx="11705058" cy="39635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" name="文档" r:id="rId4" imgW="3837724" imgH="1299509" progId="Word.Document.12">
                  <p:embed/>
                </p:oleObj>
              </mc:Choice>
              <mc:Fallback>
                <p:oleObj name="文档" r:id="rId4" imgW="3837724" imgH="12995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2683" y="1079847"/>
                        <a:ext cx="11705058" cy="39635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82095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285410"/>
            <a:ext cx="10807700" cy="35813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已知直线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的充分条件是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所成角相等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1223863"/>
            <a:ext cx="10807700" cy="35813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多选题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是两条异面直线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则下列说法正确的是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过直线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可以作一个平面并且只可以作一个平面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平行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过直线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至多可以作一个平面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垂直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存在唯一一个平面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与直线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等距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可能存在平面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与直线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都垂直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920720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79847"/>
            <a:ext cx="10807700" cy="41722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是两条异面直线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把直线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平移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与直线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相交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确定一个平面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因此经过直线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只能作出一个平面平行于直线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正确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只有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垂直时才能作出一个平面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与直线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垂直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否则过直线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不可能作出一个平面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与直线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垂直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正确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显然正确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若存在平面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与直线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都垂直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则可得出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异面矛盾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错误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564302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62956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在圆柱的一个底面上任取一点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该点不在底面圆周上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过该点作另一个底面的垂线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则这条垂线与圆柱的母线所在直线的位置关系是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平行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在直四棱柱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ABCD-A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当底面四边形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满足条件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有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注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填上你认为正确的一种条件即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可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247197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555471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正三棱锥的底面边长为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侧面均为直角三角形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则此三棱锥的体积是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361950" y="1742632"/>
            <a:ext cx="14583865" cy="3822919"/>
            <a:chOff x="361950" y="1865440"/>
            <a:chExt cx="14583865" cy="3822919"/>
          </a:xfrm>
        </p:grpSpPr>
        <p:grpSp>
          <p:nvGrpSpPr>
            <p:cNvPr id="11" name="组合 10"/>
            <p:cNvGrpSpPr/>
            <p:nvPr/>
          </p:nvGrpSpPr>
          <p:grpSpPr>
            <a:xfrm>
              <a:off x="361950" y="1865440"/>
              <a:ext cx="11807799" cy="3822919"/>
              <a:chOff x="361950" y="1865440"/>
              <a:chExt cx="11807799" cy="3822919"/>
            </a:xfrm>
          </p:grpSpPr>
          <p:sp>
            <p:nvSpPr>
              <p:cNvPr id="7" name="矩形 6"/>
              <p:cNvSpPr>
                <a:spLocks noChangeAspect="1"/>
              </p:cNvSpPr>
              <p:nvPr/>
            </p:nvSpPr>
            <p:spPr>
              <a:xfrm>
                <a:off x="361950" y="1865440"/>
                <a:ext cx="10807700" cy="3046988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dirty="0">
                    <a:latin typeface="+mn-lt"/>
                    <a:cs typeface="Times New Roman" panose="02020603050405020304" pitchFamily="18" charset="0"/>
                  </a:rPr>
                  <a:t>解析</a:t>
                </a:r>
                <a:r>
                  <a:rPr lang="en-US" altLang="zh-CN" dirty="0">
                    <a:latin typeface="+mn-lt"/>
                    <a:cs typeface="Times New Roman" panose="02020603050405020304" pitchFamily="18" charset="0"/>
                  </a:rPr>
                  <a:t>:</a:t>
                </a:r>
                <a:r>
                  <a:rPr lang="zh-CN" altLang="zh-CN" dirty="0">
                    <a:solidFill>
                      <a:srgbClr val="000000"/>
                    </a:solidFill>
                    <a:latin typeface="+mn-lt"/>
                    <a:ea typeface="楷体" panose="02010609060101010101" pitchFamily="49" charset="-122"/>
                    <a:cs typeface="Times New Roman" panose="02020603050405020304" pitchFamily="18" charset="0"/>
                  </a:rPr>
                  <a:t>如图</a:t>
                </a: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latin typeface="+mn-lt"/>
                    <a:ea typeface="楷体" panose="02010609060101010101" pitchFamily="49" charset="-122"/>
                    <a:cs typeface="Times New Roman" panose="02020603050405020304" pitchFamily="18" charset="0"/>
                  </a:rPr>
                  <a:t>由题意知正三棱锥</a:t>
                </a:r>
                <a:r>
                  <a:rPr lang="en-US" altLang="zh-CN" i="1" dirty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P-ABC</a:t>
                </a:r>
                <a:r>
                  <a:rPr lang="zh-CN" altLang="zh-CN" dirty="0">
                    <a:solidFill>
                      <a:srgbClr val="000000"/>
                    </a:solidFill>
                    <a:latin typeface="+mn-lt"/>
                    <a:ea typeface="楷体" panose="02010609060101010101" pitchFamily="49" charset="-122"/>
                    <a:cs typeface="Times New Roman" panose="02020603050405020304" pitchFamily="18" charset="0"/>
                  </a:rPr>
                  <a:t>的侧棱长为</a:t>
                </a: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楷体" panose="02010609060101010101" pitchFamily="49" charset="-122"/>
                    <a:cs typeface="Times New Roman" panose="02020603050405020304" pitchFamily="18" charset="0"/>
                  </a:rPr>
                  <a:t>   </a:t>
                </a:r>
                <a:r>
                  <a:rPr lang="en-US" altLang="zh-CN" dirty="0" smtClean="0">
                    <a:solidFill>
                      <a:srgbClr val="000000"/>
                    </a:solidFill>
                    <a:latin typeface="+mn-lt"/>
                    <a:ea typeface="楷体" panose="02010609060101010101" pitchFamily="49" charset="-122"/>
                    <a:cs typeface="Times New Roman" panose="02020603050405020304" pitchFamily="18" charset="0"/>
                  </a:rPr>
                  <a:t>   </a:t>
                </a:r>
                <a:r>
                  <a:rPr lang="en-US" altLang="zh-CN" dirty="0" smtClean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latin typeface="+mn-lt"/>
                    <a:ea typeface="楷体" panose="02010609060101010101" pitchFamily="49" charset="-122"/>
                    <a:cs typeface="Times New Roman" panose="02020603050405020304" pitchFamily="18" charset="0"/>
                  </a:rPr>
                  <a:t>三条侧棱两两垂直</a:t>
                </a:r>
                <a:r>
                  <a:rPr lang="en-US" altLang="zh-CN" i="1" dirty="0" smtClean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endPara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endParaRPr lang="zh-CN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i="1" dirty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  <a:cs typeface="宋体" panose="02010600030101010101" pitchFamily="2" charset="-122"/>
                  </a:rPr>
                  <a:t>∵</a:t>
                </a:r>
                <a:r>
                  <a:rPr lang="en-US" altLang="zh-CN" i="1" dirty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PB</a:t>
                </a: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∩</a:t>
                </a:r>
                <a:r>
                  <a:rPr lang="en-US" altLang="zh-CN" i="1" dirty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PC=P</a:t>
                </a:r>
                <a:r>
                  <a:rPr lang="en-US" altLang="zh-CN" dirty="0" smtClean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i="1" dirty="0" smtClean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  <a:cs typeface="宋体" panose="02010600030101010101" pitchFamily="2" charset="-122"/>
                  </a:rPr>
                  <a:t>∴</a:t>
                </a:r>
                <a:r>
                  <a:rPr lang="en-US" altLang="zh-CN" i="1" dirty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PA</a:t>
                </a:r>
                <a:r>
                  <a:rPr lang="zh-CN" altLang="zh-CN" dirty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  <a:cs typeface="宋体" panose="02010600030101010101" pitchFamily="2" charset="-122"/>
                  </a:rPr>
                  <a:t>⊥</a:t>
                </a:r>
                <a:r>
                  <a:rPr lang="zh-CN" altLang="zh-CN" dirty="0">
                    <a:solidFill>
                      <a:srgbClr val="000000"/>
                    </a:solidFill>
                    <a:latin typeface="+mn-lt"/>
                    <a:ea typeface="楷体" panose="02010609060101010101" pitchFamily="49" charset="-122"/>
                    <a:cs typeface="Times New Roman" panose="02020603050405020304" pitchFamily="18" charset="0"/>
                  </a:rPr>
                  <a:t>平面</a:t>
                </a:r>
                <a:r>
                  <a:rPr lang="en-US" altLang="zh-CN" i="1" dirty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PBC.</a:t>
                </a:r>
                <a:endParaRPr lang="zh-CN" altLang="zh-CN" dirty="0">
                  <a:solidFill>
                    <a:srgbClr val="000000"/>
                  </a:solidFill>
                  <a:effectLst/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10" name="对象 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17904982"/>
                  </p:ext>
                </p:extLst>
              </p:nvPr>
            </p:nvGraphicFramePr>
            <p:xfrm>
              <a:off x="464691" y="4893239"/>
              <a:ext cx="11705058" cy="7951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60" name="文档" r:id="rId4" imgW="3837724" imgH="260695" progId="Word.Document.12">
                      <p:embed/>
                    </p:oleObj>
                  </mc:Choice>
                  <mc:Fallback>
                    <p:oleObj name="文档" r:id="rId4" imgW="3837724" imgH="260695" progId="Word.Document.12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464691" y="4893239"/>
                            <a:ext cx="11705058" cy="79512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26117831"/>
                </p:ext>
              </p:extLst>
            </p:nvPr>
          </p:nvGraphicFramePr>
          <p:xfrm>
            <a:off x="3240757" y="1921744"/>
            <a:ext cx="11705058" cy="546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1" name="文档" r:id="rId7" imgW="3837724" imgH="179205" progId="Word.Document.12">
                    <p:embed/>
                  </p:oleObj>
                </mc:Choice>
                <mc:Fallback>
                  <p:oleObj name="文档" r:id="rId7" imgW="3837724" imgH="17920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240757" y="1921744"/>
                          <a:ext cx="11705058" cy="5465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5" name="21C53.eps" descr="id:2147503217;FounderCES"/>
          <p:cNvPicPr/>
          <p:nvPr/>
        </p:nvPicPr>
        <p:blipFill>
          <a:blip r:embed="rId9"/>
          <a:stretch>
            <a:fillRect/>
          </a:stretch>
        </p:blipFill>
        <p:spPr>
          <a:xfrm>
            <a:off x="6841157" y="2427679"/>
            <a:ext cx="2808312" cy="2443359"/>
          </a:xfrm>
          <a:prstGeom prst="rect">
            <a:avLst/>
          </a:prstGeom>
        </p:spPr>
      </p:pic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579435"/>
              </p:ext>
            </p:extLst>
          </p:nvPr>
        </p:nvGraphicFramePr>
        <p:xfrm>
          <a:off x="567432" y="5571791"/>
          <a:ext cx="11705058" cy="795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2" name="文档" r:id="rId11" imgW="3837724" imgH="260695" progId="Word.Document.12">
                  <p:embed/>
                </p:oleObj>
              </mc:Choice>
              <mc:Fallback>
                <p:oleObj name="文档" r:id="rId11" imgW="3837724" imgH="26069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67432" y="5571791"/>
                        <a:ext cx="11705058" cy="795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3428752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71871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i="1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在正方体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ABCD-A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上一点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DC.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因为四边形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ADD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为正方形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ADD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CD=D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DC.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EMG2TRA194.eps" descr="id:2147491759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7633245" y="1838188"/>
            <a:ext cx="3240360" cy="291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658967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58</TotalTime>
  <Words>2186</Words>
  <Application>Microsoft Office PowerPoint</Application>
  <PresentationFormat>自定义</PresentationFormat>
  <Paragraphs>159</Paragraphs>
  <Slides>42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9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25</cp:revision>
  <dcterms:created xsi:type="dcterms:W3CDTF">2020-09-12T05:36:12Z</dcterms:created>
  <dcterms:modified xsi:type="dcterms:W3CDTF">2025-09-04T06:31:17Z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