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85" r:id="rId9"/>
    <p:sldId id="757" r:id="rId10"/>
    <p:sldId id="759" r:id="rId11"/>
    <p:sldId id="760" r:id="rId12"/>
    <p:sldId id="761" r:id="rId13"/>
    <p:sldId id="786" r:id="rId14"/>
    <p:sldId id="763" r:id="rId15"/>
    <p:sldId id="764" r:id="rId16"/>
    <p:sldId id="765" r:id="rId17"/>
    <p:sldId id="766" r:id="rId18"/>
    <p:sldId id="767" r:id="rId19"/>
    <p:sldId id="737" r:id="rId20"/>
    <p:sldId id="750" r:id="rId21"/>
    <p:sldId id="768" r:id="rId22"/>
    <p:sldId id="769" r:id="rId23"/>
    <p:sldId id="770" r:id="rId24"/>
    <p:sldId id="754" r:id="rId25"/>
    <p:sldId id="787" r:id="rId26"/>
    <p:sldId id="771" r:id="rId27"/>
    <p:sldId id="772" r:id="rId28"/>
    <p:sldId id="755" r:id="rId29"/>
    <p:sldId id="788" r:id="rId30"/>
    <p:sldId id="774" r:id="rId31"/>
    <p:sldId id="775" r:id="rId32"/>
    <p:sldId id="776" r:id="rId33"/>
    <p:sldId id="789" r:id="rId34"/>
    <p:sldId id="790" r:id="rId35"/>
    <p:sldId id="748" r:id="rId36"/>
    <p:sldId id="752" r:id="rId37"/>
    <p:sldId id="781" r:id="rId38"/>
    <p:sldId id="782" r:id="rId39"/>
    <p:sldId id="783" r:id="rId40"/>
    <p:sldId id="784" r:id="rId41"/>
    <p:sldId id="735" r:id="rId42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84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41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5" Type="http://schemas.openxmlformats.org/officeDocument/2006/relationships/slide" Target="slide35.xml"/><Relationship Id="rId4" Type="http://schemas.openxmlformats.org/officeDocument/2006/relationships/slide" Target="slide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1.doc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2.docx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3.docx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575681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平面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772150"/>
            <a:ext cx="10729192" cy="5472609"/>
            <a:chOff x="360437" y="791815"/>
            <a:chExt cx="10729192" cy="5472609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791815"/>
              <a:ext cx="10729192" cy="5472609"/>
              <a:chOff x="360437" y="1511895"/>
              <a:chExt cx="10729192" cy="3737866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511895"/>
                <a:ext cx="10729192" cy="3737866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573017"/>
                <a:ext cx="0" cy="3582121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764455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791815"/>
              <a:ext cx="8496944" cy="5410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在直观认识的基础上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感受平面的概念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了解三个基本事实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基本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事实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1~3)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和三个推论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会用图形、文字、符号三种语言形式表述三个基本事实和三个推论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能够利用三个基本事实和三个推论证明简单问题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在探究三个基本事实的情境中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感悟立体几何结论发现的过程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体验研究立体几何的方法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提升空间想象能力和数学抽象素养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9684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2336641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6" name="图文框 5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74414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9946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一、平面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生活中常见的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给我们以平面印象的物体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如黑板面、桌面、平整的操场、平静的湖面等等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那么这些平面有大小之分吗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几何里所说的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是怎样的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生活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中的平面有大小之分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几何里所说的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就是从这样的一些物体中抽象出来的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是向四周无限延展的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无大小之分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367879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几何中的平面是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向四周无限延展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我们常用矩形的直观图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平行四边形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表示平面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右图的平面可表示为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或者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BD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9" name="21C82.eps" descr="id:214750086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72805" y="3230436"/>
            <a:ext cx="2952328" cy="1521819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4081265" y="1437333"/>
            <a:ext cx="284627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4076719" y="1901431"/>
            <a:ext cx="28430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5484740" y="2000381"/>
            <a:ext cx="2071211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5480194" y="2464479"/>
            <a:ext cx="20688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2485896" y="2599293"/>
            <a:ext cx="106045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/>
        </p:nvCxnSpPr>
        <p:spPr>
          <a:xfrm>
            <a:off x="2481349" y="3063391"/>
            <a:ext cx="105925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3844215" y="2609125"/>
            <a:ext cx="201622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连接符 32"/>
          <p:cNvCxnSpPr/>
          <p:nvPr/>
        </p:nvCxnSpPr>
        <p:spPr>
          <a:xfrm>
            <a:off x="3839668" y="3073223"/>
            <a:ext cx="201394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6216974" y="2608320"/>
            <a:ext cx="141146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/>
          <p:cNvCxnSpPr/>
          <p:nvPr/>
        </p:nvCxnSpPr>
        <p:spPr>
          <a:xfrm>
            <a:off x="6212625" y="3072418"/>
            <a:ext cx="14098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8453556" y="2608320"/>
            <a:ext cx="13718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>
            <a:off x="8449206" y="3072418"/>
            <a:ext cx="13703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8488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29" grpId="0" animBg="1"/>
      <p:bldP spid="32" grpId="0" animBg="1"/>
      <p:bldP spid="35" grpId="0" animBg="1"/>
      <p:bldP spid="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955495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在画两个相交平面时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如果其中一个平面的一部分被另一个平面挡住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通常把被挡住的部分画成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虚线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不画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这样可使画出的图形立体感更强一些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、图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21C01.eps" descr="id:2147500868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024733" y="2784966"/>
            <a:ext cx="4752528" cy="225193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075182" y="1603567"/>
            <a:ext cx="81845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7070197" y="2067665"/>
            <a:ext cx="81752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8310116" y="1603567"/>
            <a:ext cx="808621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8305120" y="2067665"/>
            <a:ext cx="8077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26380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92142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下列各种面中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不能认为是平面一部分的应该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黑板面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	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乒乓球桌面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篮球的表面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平静的水面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9467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27461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二、平面的基本性质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一根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直尺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边缘上的任意两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点在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桌面上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直尺边缘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上的其余点和桌面有何关系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为什么自行车后轮旁只安装一只撑脚就能固定自行车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两张纸面相交有几条交线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直尺边缘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上的其余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也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桌面上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撑脚和自行车的两个轮子与地面的接触点不在一条直线上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两张纸面相交有一条交线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34036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72554"/>
            <a:ext cx="3478837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平面的基本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性质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874869"/>
              </p:ext>
            </p:extLst>
          </p:nvPr>
        </p:nvGraphicFramePr>
        <p:xfrm>
          <a:off x="361950" y="1455818"/>
          <a:ext cx="10944332" cy="4716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文档" r:id="rId4" imgW="3947136" imgH="1701189" progId="Word.Document.12">
                  <p:embed/>
                </p:oleObj>
              </mc:Choice>
              <mc:Fallback>
                <p:oleObj name="文档" r:id="rId4" imgW="3947136" imgH="17011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1950" y="1455818"/>
                        <a:ext cx="10944332" cy="47169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2232645" y="2107623"/>
            <a:ext cx="2736304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862773" y="4054198"/>
            <a:ext cx="1080120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783774" y="4054197"/>
            <a:ext cx="811510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705253" y="4536231"/>
            <a:ext cx="811510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76392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376538"/>
              </p:ext>
            </p:extLst>
          </p:nvPr>
        </p:nvGraphicFramePr>
        <p:xfrm>
          <a:off x="432445" y="1511895"/>
          <a:ext cx="10944332" cy="3240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文档" r:id="rId4" imgW="3947136" imgH="1168621" progId="Word.Document.12">
                  <p:embed/>
                </p:oleObj>
              </mc:Choice>
              <mc:Fallback>
                <p:oleObj name="文档" r:id="rId4" imgW="3947136" imgH="11686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511895"/>
                        <a:ext cx="10944332" cy="32402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1800597" y="3557615"/>
            <a:ext cx="3168352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160344" y="2592015"/>
            <a:ext cx="798541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531680" y="2601847"/>
            <a:ext cx="798541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85615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2015951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=l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的关系是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93327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51855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三、基本事实的推论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三个关于平面的基本事实是人们经过长期观察与实践总结出来的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是几何推理的基本依据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也是我们进一步研究立体几何的基础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下面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条件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能否确定一个平面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直线与直线外一点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两条相交直线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两条平行直线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都能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68414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361950" y="886910"/>
            <a:ext cx="4573368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基本事实的三个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推论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4562244"/>
              </p:ext>
            </p:extLst>
          </p:nvPr>
        </p:nvGraphicFramePr>
        <p:xfrm>
          <a:off x="361950" y="1570174"/>
          <a:ext cx="10800629" cy="42720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文档" r:id="rId4" imgW="3895309" imgH="1540733" progId="Word.Document.12">
                  <p:embed/>
                </p:oleObj>
              </mc:Choice>
              <mc:Fallback>
                <p:oleObj name="文档" r:id="rId4" imgW="3895309" imgH="15407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1950" y="1570174"/>
                        <a:ext cx="10800629" cy="42720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5761037" y="2222143"/>
            <a:ext cx="1080120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8749" y="3204081"/>
            <a:ext cx="720080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168749" y="4194959"/>
            <a:ext cx="720080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23398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25999"/>
            <a:ext cx="10807700" cy="478086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下列说法正确的是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三角形一定是平面图形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若四边形的两对角线相交于一点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则该四边形是平面图形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圆心和圆上两点可确定一个平面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三条平行线最多可确定三个平面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若两个平面有三个公共点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则这两个平面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重合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相交或重合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以上都不对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57340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10791"/>
            <a:ext cx="10807700" cy="537179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由基本事实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经过不在一条直线上的三个点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有且只有一个平面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由推论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经过两条相交直线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有且只有一个平面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当圆心和圆上两点在同一条直线上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即直径所在的直线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此时可有无数个平面经过此三点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三条平行线最多可确定三个平面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如三棱柱的三条侧棱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若三个点在同一条直线上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则两平面可能相交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若这三个点不在同一条直线上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则这两个平面重合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(1)ABD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(2)C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15818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65285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经过一条直线和一个点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有且只有一个平面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它们只有有限个公共点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如果两个平面有三个不共线的公共点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那么这两个平面重合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751682" y="2807918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782877" y="3495397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295830" y="4647525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4774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333942" y="719807"/>
            <a:ext cx="10437264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文字</a:t>
            </a:r>
            <a:r>
              <a:rPr lang="zh-CN" altLang="zh-CN" dirty="0"/>
              <a:t>语言、图形语言、符号语言的相互转化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134581" y="1352970"/>
            <a:ext cx="11303743" cy="4819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根据图形用符号表示下列点、直线、平面之间的关系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(6)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(7)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ZMG2TRA07.eps" descr="id:2147493395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5112965" y="2375991"/>
            <a:ext cx="3752234" cy="273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079847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∉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∉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BC=B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(7)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AC=AB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02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1290347"/>
            <a:ext cx="10807700" cy="3652646"/>
            <a:chOff x="361950" y="1228171"/>
            <a:chExt cx="10807700" cy="3652646"/>
          </a:xfrm>
        </p:grpSpPr>
        <p:pic>
          <p:nvPicPr>
            <p:cNvPr id="3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228171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833829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三种语言的转换方法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用文字语言、符号语言表示一个图形时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首先仔细观察图形有几个平面、几条直线且相互之间的位置关系如何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试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着</a:t>
              </a:r>
              <a:r>
                <a:rPr lang="zh-CN" altLang="en-US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先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用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文字语言表示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再用符号语言表示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根据符号语言或文字语言画相应的图形时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要注意实线和虚线的区别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977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565959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画图表示下列符号语言给出的关系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∉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=c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61950" y="2405487"/>
            <a:ext cx="8279407" cy="4009610"/>
            <a:chOff x="361950" y="2422639"/>
            <a:chExt cx="8279407" cy="4009610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2422639"/>
              <a:ext cx="1762021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 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7" name="ZMG2TRA08.eps" descr="id:2147493409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944613" y="3168080"/>
              <a:ext cx="2785492" cy="2664296"/>
            </a:xfrm>
            <a:prstGeom prst="rect">
              <a:avLst/>
            </a:prstGeom>
          </p:spPr>
        </p:pic>
        <p:pic>
          <p:nvPicPr>
            <p:cNvPr id="8" name="ZMG2TRA09.eps" descr="id:2147493416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5855865" y="3731643"/>
              <a:ext cx="2785492" cy="2100733"/>
            </a:xfrm>
            <a:prstGeom prst="rect">
              <a:avLst/>
            </a:prstGeom>
          </p:spPr>
        </p:pic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2736701" y="5748985"/>
              <a:ext cx="764953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矩形 9"/>
            <p:cNvSpPr>
              <a:spLocks noChangeAspect="1"/>
            </p:cNvSpPr>
            <p:nvPr/>
          </p:nvSpPr>
          <p:spPr>
            <a:xfrm>
              <a:off x="7012308" y="5748985"/>
              <a:ext cx="764953" cy="6267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9581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333942" y="853991"/>
            <a:ext cx="10437264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点</a:t>
            </a:r>
            <a:r>
              <a:rPr lang="zh-CN" altLang="zh-CN" dirty="0"/>
              <a:t>、线共面问题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544575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048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在同一平面内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21C05.eps" descr="id:2147500948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240757" y="2816887"/>
            <a:ext cx="3456384" cy="1802079"/>
          </a:xfrm>
          <a:prstGeom prst="rect">
            <a:avLst/>
          </a:prstGeom>
        </p:spPr>
      </p:pic>
      <p:sp>
        <p:nvSpPr>
          <p:cNvPr id="7" name="矩形 6"/>
          <p:cNvSpPr>
            <a:spLocks noChangeAspect="1"/>
          </p:cNvSpPr>
          <p:nvPr/>
        </p:nvSpPr>
        <p:spPr>
          <a:xfrm>
            <a:off x="361950" y="4661478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确定一个平面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再证明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在这个平面内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也可以证明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确定的平面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确定的平面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重合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526553"/>
            <a:ext cx="10807700" cy="5973558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证法一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由推论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确定一个平面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同理可证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在同一平面内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证法二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由推论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确定一个平面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由推论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确定一个平面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同理可证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不共线的三个点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既在平面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又在平面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重合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在同一平面内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639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1056510"/>
            <a:ext cx="10807700" cy="4157289"/>
            <a:chOff x="361950" y="940139"/>
            <a:chExt cx="10807700" cy="4157289"/>
          </a:xfrm>
        </p:grpSpPr>
        <p:pic>
          <p:nvPicPr>
            <p:cNvPr id="6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516063"/>
              <a:ext cx="10807700" cy="35813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证明点、线共面问题的常用方法有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先由部分点、线确定一个平面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再证其余的点、线都在这个平面内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先由其中一部分点、线确定一个平面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其余点、线确定另一个平面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β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再证平面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β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重合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假设不共面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结合题设推出矛盾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697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77736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都相交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过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有且只有一个平面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1955785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由推论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过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有且只有一个平面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即过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有且只有一个平面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21C44.eps" descr="id:214750096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72805" y="4355288"/>
            <a:ext cx="3384376" cy="134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59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333942" y="719807"/>
            <a:ext cx="10437264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共线</a:t>
            </a:r>
            <a:r>
              <a:rPr lang="zh-CN" altLang="zh-CN" dirty="0"/>
              <a:t>问题</a:t>
            </a: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361950" y="1348215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分别是棱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交于点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三点共线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21C05A.eps" descr="id:2147500976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888829" y="3156787"/>
            <a:ext cx="2664296" cy="315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76081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证明点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既在平面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又在平面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的交线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从而可证三点共线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EF=Q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同理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三点共线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018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延伸探究H.eps" descr="id:214749083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317062" y="782734"/>
            <a:ext cx="2524095" cy="460328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252894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本例改为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设线段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交于点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三点共线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9" name="21C167.eps" descr="id:2147500990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3960837" y="2545172"/>
            <a:ext cx="3384376" cy="3267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531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29639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确定平面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显然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同理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=BD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三点共线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ZMG2TRA12.eps" descr="id:21475009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8117637" y="1439887"/>
            <a:ext cx="3055674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993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391851"/>
            <a:ext cx="10807700" cy="3020028"/>
            <a:chOff x="361950" y="1372187"/>
            <a:chExt cx="10807700" cy="3020028"/>
          </a:xfrm>
        </p:grpSpPr>
        <p:pic>
          <p:nvPicPr>
            <p:cNvPr id="4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372187"/>
              <a:ext cx="2259558" cy="531552"/>
            </a:xfrm>
            <a:prstGeom prst="rect">
              <a:avLst/>
            </a:prstGeom>
          </p:spPr>
        </p:pic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992712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证明多点共线通常利用基本事实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即两相交平面交线的唯一性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通过证明点分别在两个平面内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证明点在这两个平面的交线上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也可选择其中两点确定一条直线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然后证明其他点也在其上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046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01365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=R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三点共线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361950" y="3149637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证法一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基本事实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可知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在平面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的交线上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同理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可证点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也在平面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的交线上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三点共线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8" name="21C215.eps" descr="id:214750101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8209309" y="1637469"/>
            <a:ext cx="3168352" cy="244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725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2599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+mn-lt"/>
                <a:cs typeface="Times New Roman" panose="02020603050405020304" pitchFamily="18" charset="0"/>
              </a:rPr>
              <a:t>证</a:t>
            </a:r>
            <a:r>
              <a:rPr lang="zh-CN" altLang="zh-CN" dirty="0">
                <a:latin typeface="+mn-lt"/>
                <a:cs typeface="Times New Roman" panose="02020603050405020304" pitchFamily="18" charset="0"/>
              </a:rPr>
              <a:t>法二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AR=A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AP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与直线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AR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确定平面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APR.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=R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APR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=PR.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APR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APR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APR.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=Q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APR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PR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三点共线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08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73789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在直线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在平面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内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之间的关系可记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作</a:t>
            </a:r>
            <a:endParaRPr lang="en-US" altLang="zh-CN" dirty="0" smtClean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err="1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i="1" dirty="0" err="1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5451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为平面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为直线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下列推理正确的是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⇒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⇒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=MN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⇒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不共线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⇒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重合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84127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74071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设平面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交于直线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且直线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en-US" altLang="zh-CN" dirty="0" smtClean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=C.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26337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05912"/>
            <a:ext cx="10807700" cy="1235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=l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设在梯形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AD&gt;BC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共点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pic>
        <p:nvPicPr>
          <p:cNvPr id="9" name="21C07A.eps" descr="id:2147501025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024733" y="2223553"/>
            <a:ext cx="4536504" cy="288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29137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32543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在梯形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AD&gt;BC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分别延长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设两直线交于点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=l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共点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pic>
        <p:nvPicPr>
          <p:cNvPr id="5" name="21C44A.eps" descr="id:214750103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456781" y="3816151"/>
            <a:ext cx="3672408" cy="237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04214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102</TotalTime>
  <Words>2228</Words>
  <Application>Microsoft Office PowerPoint</Application>
  <PresentationFormat>自定义</PresentationFormat>
  <Paragraphs>154</Paragraphs>
  <Slides>41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8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27</cp:revision>
  <dcterms:created xsi:type="dcterms:W3CDTF">2020-09-12T05:36:12Z</dcterms:created>
  <dcterms:modified xsi:type="dcterms:W3CDTF">2025-09-04T06:25:23Z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