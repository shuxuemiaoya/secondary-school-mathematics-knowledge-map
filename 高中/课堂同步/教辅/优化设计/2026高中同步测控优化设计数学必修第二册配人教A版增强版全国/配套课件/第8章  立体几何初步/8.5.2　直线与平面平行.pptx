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9" r:id="rId10"/>
    <p:sldId id="779" r:id="rId11"/>
    <p:sldId id="760" r:id="rId12"/>
    <p:sldId id="764" r:id="rId13"/>
    <p:sldId id="737" r:id="rId14"/>
    <p:sldId id="750" r:id="rId15"/>
    <p:sldId id="765" r:id="rId16"/>
    <p:sldId id="766" r:id="rId17"/>
    <p:sldId id="767" r:id="rId18"/>
    <p:sldId id="754" r:id="rId19"/>
    <p:sldId id="768" r:id="rId20"/>
    <p:sldId id="769" r:id="rId21"/>
    <p:sldId id="755" r:id="rId22"/>
    <p:sldId id="770" r:id="rId23"/>
    <p:sldId id="771" r:id="rId24"/>
    <p:sldId id="780" r:id="rId25"/>
    <p:sldId id="781" r:id="rId26"/>
    <p:sldId id="747" r:id="rId27"/>
    <p:sldId id="751" r:id="rId28"/>
    <p:sldId id="772" r:id="rId29"/>
    <p:sldId id="773" r:id="rId30"/>
    <p:sldId id="774" r:id="rId31"/>
    <p:sldId id="775" r:id="rId32"/>
    <p:sldId id="748" r:id="rId33"/>
    <p:sldId id="752" r:id="rId34"/>
    <p:sldId id="776" r:id="rId35"/>
    <p:sldId id="777" r:id="rId36"/>
    <p:sldId id="778" r:id="rId37"/>
    <p:sldId id="782" r:id="rId38"/>
    <p:sldId id="783" r:id="rId39"/>
    <p:sldId id="784" r:id="rId40"/>
    <p:sldId id="735" r:id="rId41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40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2.xml"/><Relationship Id="rId5" Type="http://schemas.openxmlformats.org/officeDocument/2006/relationships/slide" Target="slide26.xml"/><Relationship Id="rId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1.emf"/><Relationship Id="rId10" Type="http://schemas.openxmlformats.org/officeDocument/2006/relationships/image" Target="../media/image14.png"/><Relationship Id="rId4" Type="http://schemas.openxmlformats.org/officeDocument/2006/relationships/package" Target="../embeddings/Microsoft_Word___3.docx"/><Relationship Id="rId9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jpeg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5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375991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8.5.2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直线与平面平行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367879"/>
            <a:ext cx="10729192" cy="3456385"/>
            <a:chOff x="360437" y="1439888"/>
            <a:chExt cx="10729192" cy="345638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439888"/>
              <a:ext cx="10729192" cy="3456385"/>
              <a:chOff x="360437" y="1954537"/>
              <a:chExt cx="10729192" cy="2360758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954537"/>
                <a:ext cx="10729192" cy="236075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992835"/>
                <a:ext cx="0" cy="2262392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545797"/>
              <a:ext cx="8496944" cy="2990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探究并理解直线与平面平行的判定定理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探究并理解直线与平面平行的性质定理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能使用符号语言、文字语言和图形语言表达直线与平面平行的判定定理及性质定理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并能运用这些定理进行逻辑推理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58352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一、直线与平面平行的判定定理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课本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放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在桌面上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翻动书的封面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封面边缘所在直线与桌面所在平面具有什么样的位置关系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判定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你能想出一种方法吗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判定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条直线与一个平面平行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只要在这个平面内找出一条与此直线平行的直线就可以了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70015"/>
            <a:ext cx="5538696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直线与平面平行的判定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129356"/>
              </p:ext>
            </p:extLst>
          </p:nvPr>
        </p:nvGraphicFramePr>
        <p:xfrm>
          <a:off x="288429" y="1757461"/>
          <a:ext cx="10944332" cy="4065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文档" r:id="rId4" imgW="3947136" imgH="1466095" progId="Word.Document.12">
                  <p:embed/>
                </p:oleObj>
              </mc:Choice>
              <mc:Fallback>
                <p:oleObj name="文档" r:id="rId4" imgW="3947136" imgH="14660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757461"/>
                        <a:ext cx="10944332" cy="40650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3111634" y="1899160"/>
            <a:ext cx="1065227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9403949" y="1889666"/>
            <a:ext cx="727565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382348" y="4123847"/>
            <a:ext cx="231825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141130" y="4111211"/>
            <a:ext cx="231825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795437" y="4669590"/>
            <a:ext cx="727565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289371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98007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能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保证直线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平行的条件是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⊄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由线面平行的判定定理可知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52496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647799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二、直线与平面平行的性质定理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经过直线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的平面与平面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相交于一条直线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那么这样的平面有多少个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与交线的位置关系如何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361950" y="306147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有无数个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与交线的位置关系为平行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设其中一条交线为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内的任何直线无公共点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两直线平行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9" name="21C46.eps" descr="id:214750162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104853" y="4852516"/>
            <a:ext cx="2736304" cy="144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515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89679"/>
            <a:ext cx="5538696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直线与平面平行的性质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163998"/>
              </p:ext>
            </p:extLst>
          </p:nvPr>
        </p:nvGraphicFramePr>
        <p:xfrm>
          <a:off x="361950" y="1739063"/>
          <a:ext cx="10944332" cy="3887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文档" r:id="rId4" imgW="3947136" imgH="1401912" progId="Word.Document.12">
                  <p:embed/>
                </p:oleObj>
              </mc:Choice>
              <mc:Fallback>
                <p:oleObj name="文档" r:id="rId4" imgW="3947136" imgH="14019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1739063"/>
                        <a:ext cx="10944332" cy="3887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6995006" y="2343311"/>
            <a:ext cx="710248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859333" y="3950335"/>
            <a:ext cx="1037608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97573" y="4460074"/>
            <a:ext cx="1037608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350872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77608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在四棱锥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P-ABCD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上的点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以上均有可能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PAD=PA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PAC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ZMG2TRA72.eps" descr="id:214749032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265093" y="1444922"/>
            <a:ext cx="3096344" cy="26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793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13615"/>
            <a:ext cx="10807700" cy="611007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若直线与平面内无数条直线平行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则直线与平面平行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与平行于平面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en-US" altLang="zh-CN" i="1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则在平面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除了与直线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平行的直线外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其余的任一直线都与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是异面直线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若三条直线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两两平行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则在过直线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的平面中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有且只有一个平面与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均平行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41557" y="2426483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97541" y="3546557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841157" y="4763406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968949" y="5904383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512783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直线</a:t>
            </a:r>
            <a:r>
              <a:rPr lang="zh-CN" altLang="zh-CN" dirty="0"/>
              <a:t>与平面平行的判定定理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6787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所在平面外一点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MAC.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ZMG2TRA75A.eps" descr="id:214749036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816821" y="2595353"/>
            <a:ext cx="2736304" cy="339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698634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MO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BDP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的中位线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MO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MO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MAC.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ZMG2TRA75.eps" descr="id:214749037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104853" y="2545902"/>
            <a:ext cx="2880320" cy="361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3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719807"/>
            <a:ext cx="10807700" cy="1162351"/>
            <a:chOff x="361950" y="869301"/>
            <a:chExt cx="10807700" cy="1162351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869301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426871"/>
              <a:ext cx="10807700" cy="604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利用直线与平面平行的判定定理证线面平行的步骤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6" name="21C17.eps" descr="id:2147501680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168749" y="1943943"/>
            <a:ext cx="4176464" cy="2626194"/>
          </a:xfrm>
          <a:prstGeom prst="rect">
            <a:avLst/>
          </a:prstGeom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361950" y="460823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上面的第一步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是证题的关键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其常用方法有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利用三角形、梯形中位线的性质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利用平行四边形的性质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利用平行线分线段成比例定理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基本事实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等证明两直线平行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50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729967"/>
            <a:ext cx="14406750" cy="1865126"/>
            <a:chOff x="361950" y="1556928"/>
            <a:chExt cx="14406750" cy="1865126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556928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和四边形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ACEF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所在平面相交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.EF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       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EF=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AF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BDE.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2221361"/>
                </p:ext>
              </p:extLst>
            </p:nvPr>
          </p:nvGraphicFramePr>
          <p:xfrm>
            <a:off x="3096741" y="2203924"/>
            <a:ext cx="11671959" cy="534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文档" r:id="rId4" imgW="3826872" imgH="175377" progId="Word.Document.12">
                    <p:embed/>
                  </p:oleObj>
                </mc:Choice>
                <mc:Fallback>
                  <p:oleObj name="文档" r:id="rId4" imgW="3826872" imgH="1753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096741" y="2203924"/>
                          <a:ext cx="11671959" cy="534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/>
        </p:nvGrpSpPr>
        <p:grpSpPr>
          <a:xfrm>
            <a:off x="361950" y="2519119"/>
            <a:ext cx="11756111" cy="3744416"/>
            <a:chOff x="361950" y="2468319"/>
            <a:chExt cx="11756111" cy="3744416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2468319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交于点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EG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 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图略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EF=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根据已知条件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9570310"/>
                </p:ext>
              </p:extLst>
            </p:nvPr>
          </p:nvGraphicFramePr>
          <p:xfrm>
            <a:off x="446102" y="3668786"/>
            <a:ext cx="11671959" cy="723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文档" r:id="rId7" imgW="3826872" imgH="237190" progId="Word.Document.12">
                    <p:embed/>
                  </p:oleObj>
                </mc:Choice>
                <mc:Fallback>
                  <p:oleObj name="文档" r:id="rId7" imgW="3826872" imgH="2371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6102" y="3668786"/>
                          <a:ext cx="11671959" cy="7234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361950" y="440416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所以四边形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AGEF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为平行四边形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AF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EG.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AF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⊄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EG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AF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BDE.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14" name="ZMG2TRA76.eps" descr="id:2147490385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7633245" y="1489933"/>
            <a:ext cx="3066294" cy="2761014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888829" y="3759751"/>
            <a:ext cx="2822952" cy="683264"/>
            <a:chOff x="3888829" y="3759751"/>
            <a:chExt cx="2822952" cy="68326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88829" y="3759751"/>
              <a:ext cx="2822952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EF     AG. </a:t>
              </a:r>
              <a:endParaRPr lang="zh-CN" altLang="en-US" dirty="0"/>
            </a:p>
          </p:txBody>
        </p:sp>
        <p:pic>
          <p:nvPicPr>
            <p:cNvPr id="15" name="图片 14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5357650" y="3882919"/>
              <a:ext cx="408150" cy="3700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262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直线</a:t>
            </a:r>
            <a:r>
              <a:rPr lang="zh-CN" altLang="zh-CN" dirty="0"/>
              <a:t>与平面平行的性质定理</a:t>
            </a: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132484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在四面体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用平行于棱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的平面截此四面体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截面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MNPQ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是平行四边形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2626504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MNPQ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MNPQ=MN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由线面平行的性质定理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PQ.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同理可得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NP.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所以截面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MNPQ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是平行四边形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21C18.eps" descr="id:214750170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281317" y="2447999"/>
            <a:ext cx="2304256" cy="254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732886"/>
            <a:ext cx="10807700" cy="1243499"/>
            <a:chOff x="361950" y="940139"/>
            <a:chExt cx="10807700" cy="1243499"/>
          </a:xfrm>
        </p:grpSpPr>
        <p:pic>
          <p:nvPicPr>
            <p:cNvPr id="5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556928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利用线面平行的性质定理解题的步骤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21C19.eps" descr="id:2147501715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520677" y="1985412"/>
            <a:ext cx="6336704" cy="3182913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5190798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运用线面平行的性质定理时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应先确定线面平行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再寻找过已知直线的平面与这个平面相交的交线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然后确定线线平行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92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31641"/>
            <a:ext cx="10807700" cy="60928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如果一条直线和两个相交平面都平行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那么这条直线和它们的交线平行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交平面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交平面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9" name="ZMG2TRA78.eps" descr="id:214749041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753458" y="2375991"/>
            <a:ext cx="3544083" cy="341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6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077" y="719807"/>
            <a:ext cx="11480990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直线</a:t>
            </a:r>
            <a:r>
              <a:rPr lang="zh-CN" altLang="zh-CN" dirty="0"/>
              <a:t>与平面平行的判定定理与性质定理的综合运用</a:t>
            </a: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131918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已知三棱锥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被一平面所截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截面为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MS Gothic" panose="020B0609070205080204" pitchFamily="49" charset="-128"/>
                <a:cs typeface="MS Gothic" panose="020B0609070205080204" pitchFamily="49" charset="-128"/>
              </a:rPr>
              <a:t>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EFGH.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C18A.eps" descr="id:214750173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913165" y="1934111"/>
            <a:ext cx="2232248" cy="2120566"/>
          </a:xfrm>
          <a:prstGeom prst="rect">
            <a:avLst/>
          </a:prstGeom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361950" y="3324990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EFGH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GH.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GH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BCD=CD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EFGH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EFGH.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62812" y="1511895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2096535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EH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EFGH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EH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EH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FG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EH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EH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ABC=AB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EH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22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410391"/>
            <a:ext cx="2259558" cy="531552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2022145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关于线面平行关系的综合应用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判定和性质之间的推理关系是由线线平行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线面平行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线线平行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既体现了线线平行与线面平行之间的相互联系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也体现了空间与平面之间的相互转化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3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MG2TRA73.eps" descr="id:214750175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72805" y="2540564"/>
            <a:ext cx="3528392" cy="3219803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731992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是平行四边形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外一点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上取一点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作平面交平面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GH.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GH.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47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73655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MO.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是平行四边形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OM.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BMD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BMD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BMD.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PAHG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BMD=GH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PAHG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根据直线与平面平行的性质定理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GH.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6" name="21C46A.eps" descr="id:214750176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057181" y="1458019"/>
            <a:ext cx="3168352" cy="292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78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11977"/>
            <a:ext cx="10807700" cy="60928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运用直线与平面平行的判定定理时表达不到位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是不在同一平面内的三条线段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EFG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EFG.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错解</a:t>
            </a:r>
            <a:r>
              <a:rPr lang="en-US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EFG.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同理可证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EFG.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ZMG2TRA81.eps" descr="id:214749045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633245" y="1762399"/>
            <a:ext cx="3168352" cy="331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64351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定理的运用应注重定理成立的条件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应强调直线与平面平行的判定定理成立的三个条件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两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条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直线互相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平行线中的一条在平面内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平行线中的另一条在平面外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EFG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EFG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EFG.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同理可证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EFG.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02543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223863"/>
            <a:ext cx="10807700" cy="3678892"/>
            <a:chOff x="361950" y="1792856"/>
            <a:chExt cx="10807700" cy="3678892"/>
          </a:xfrm>
        </p:grpSpPr>
        <p:pic>
          <p:nvPicPr>
            <p:cNvPr id="3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792856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424760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用直线与平面平行的判定定理判定直线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和平面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平行时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必须同时具备三个条件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在平面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外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⊄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在平面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两直线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平行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066411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50754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的重心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不在平面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ZMG2TRA93.eps" descr="id:214749046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00797" y="2235453"/>
            <a:ext cx="3240360" cy="316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0014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1091517"/>
            <a:ext cx="11793866" cy="3938938"/>
            <a:chOff x="361950" y="1101349"/>
            <a:chExt cx="11793866" cy="393893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10134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AM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AN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并延长分别交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于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两点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PQ.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分别是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ADB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ADC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的重心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2740207"/>
                </p:ext>
              </p:extLst>
            </p:nvPr>
          </p:nvGraphicFramePr>
          <p:xfrm>
            <a:off x="483857" y="3466468"/>
            <a:ext cx="11671959" cy="783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7" name="文档" r:id="rId4" imgW="3826872" imgH="256956" progId="Word.Document.12">
                    <p:embed/>
                  </p:oleObj>
                </mc:Choice>
                <mc:Fallback>
                  <p:oleObj name="文档" r:id="rId4" imgW="3826872" imgH="25695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3857" y="3466468"/>
                          <a:ext cx="11671959" cy="78371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4341569"/>
              <a:ext cx="4987263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PQ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MN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⊄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MN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 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9" name="ZMG2TRA82.eps" descr="id:2147490476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561237" y="1840431"/>
              <a:ext cx="3240360" cy="31998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21921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14906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已知两条相交直线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的位置关系是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相交或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9023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过平面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外的直线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作一组平面与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如果所得的交线为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则这些交线的位置关系为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都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					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都相交且一定交于同一点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都相交但不一定交于同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一点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都平行或交于同一点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⊄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=A.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则由线面平行的性质定理可知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由基本事实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交于点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0975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13615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下列说法正确的是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平行于平面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内的一条直线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外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平行于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内的无数条直线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时也可以满足条件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不平行于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直线在平面外包括直线与平面平行和直线与平面相交两种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情况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缺少直线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不在平面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内这一条件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02474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7771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ABCD-A'B'C'D'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A'B'C'D'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则正方体的六个面所在的平面中与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平行的平面有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71466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是梯形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分别交于点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21C20.eps" descr="id:214750181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545013" y="1902658"/>
            <a:ext cx="2664296" cy="2132504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3963351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=MN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是梯形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的中位线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05416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1147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试作出过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且与直线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平行的截面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并说明理由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C170.eps" descr="id:214750182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456781" y="2058616"/>
            <a:ext cx="3672408" cy="355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3551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16234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MA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MC</a:t>
            </a:r>
            <a:r>
              <a:rPr lang="en-US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MO</a:t>
            </a:r>
            <a:r>
              <a:rPr lang="en-US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截面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即为所求作的截面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理由如下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的中位线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MO.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MAC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截面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为过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且与直线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平行的截面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21C194.eps" descr="id:214750182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057181" y="1460138"/>
            <a:ext cx="3600400" cy="348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9619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79</TotalTime>
  <Words>1976</Words>
  <Application>Microsoft Office PowerPoint</Application>
  <PresentationFormat>自定义</PresentationFormat>
  <Paragraphs>157</Paragraphs>
  <Slides>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8" baseType="lpstr">
      <vt:lpstr>MS Gothic</vt:lpstr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22</cp:revision>
  <dcterms:created xsi:type="dcterms:W3CDTF">2020-09-12T05:36:12Z</dcterms:created>
  <dcterms:modified xsi:type="dcterms:W3CDTF">2025-09-04T06:27:19Z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