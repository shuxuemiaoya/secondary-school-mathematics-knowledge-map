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86" r:id="rId9"/>
    <p:sldId id="787" r:id="rId10"/>
    <p:sldId id="759" r:id="rId11"/>
    <p:sldId id="761" r:id="rId12"/>
    <p:sldId id="762" r:id="rId13"/>
    <p:sldId id="763" r:id="rId14"/>
    <p:sldId id="764" r:id="rId15"/>
    <p:sldId id="765" r:id="rId16"/>
    <p:sldId id="766" r:id="rId17"/>
    <p:sldId id="767" r:id="rId18"/>
    <p:sldId id="737" r:id="rId19"/>
    <p:sldId id="750" r:id="rId20"/>
    <p:sldId id="788" r:id="rId21"/>
    <p:sldId id="768" r:id="rId22"/>
    <p:sldId id="769" r:id="rId23"/>
    <p:sldId id="755" r:id="rId24"/>
    <p:sldId id="772" r:id="rId25"/>
    <p:sldId id="773" r:id="rId26"/>
    <p:sldId id="774" r:id="rId27"/>
    <p:sldId id="780" r:id="rId28"/>
    <p:sldId id="781" r:id="rId29"/>
    <p:sldId id="782" r:id="rId30"/>
    <p:sldId id="783" r:id="rId31"/>
    <p:sldId id="785" r:id="rId32"/>
    <p:sldId id="784" r:id="rId33"/>
    <p:sldId id="747" r:id="rId34"/>
    <p:sldId id="751" r:id="rId35"/>
    <p:sldId id="775" r:id="rId36"/>
    <p:sldId id="776" r:id="rId37"/>
    <p:sldId id="748" r:id="rId38"/>
    <p:sldId id="752" r:id="rId39"/>
    <p:sldId id="777" r:id="rId40"/>
    <p:sldId id="778" r:id="rId41"/>
    <p:sldId id="779" r:id="rId42"/>
    <p:sldId id="735" r:id="rId43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42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7.xml"/><Relationship Id="rId5" Type="http://schemas.openxmlformats.org/officeDocument/2006/relationships/slide" Target="slide33.xml"/><Relationship Id="rId4" Type="http://schemas.openxmlformats.org/officeDocument/2006/relationships/slide" Target="slide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2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3.docx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4.docx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jpeg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5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1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package" Target="../embeddings/Microsoft_Word___6.docx"/><Relationship Id="rId5" Type="http://schemas.openxmlformats.org/officeDocument/2006/relationships/oleObject" Target="../embeddings/oleObject6.bin"/><Relationship Id="rId4" Type="http://schemas.openxmlformats.org/officeDocument/2006/relationships/image" Target="../media/image23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jpeg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7.docx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8.bin"/><Relationship Id="rId7" Type="http://schemas.openxmlformats.org/officeDocument/2006/relationships/package" Target="../embeddings/Microsoft_Word___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8.docx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1656725"/>
            <a:ext cx="10807700" cy="295151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8.1</a:t>
            </a:r>
            <a:r>
              <a:rPr lang="zh-CN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基本立体图形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圆柱、圆锥、圆台、球的结构特征简单组合体的结构特征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791815"/>
            <a:ext cx="10729192" cy="5060491"/>
            <a:chOff x="360437" y="791815"/>
            <a:chExt cx="10729192" cy="5060491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791815"/>
              <a:ext cx="10729192" cy="5060491"/>
              <a:chOff x="360437" y="1511895"/>
              <a:chExt cx="10729192" cy="345638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11895"/>
                <a:ext cx="10729192" cy="345638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573017"/>
                <a:ext cx="0" cy="3312368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962108"/>
              <a:ext cx="8496944" cy="47632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认识圆柱、圆锥、圆台、球的结构特征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并比较相关概念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知道简单组合体的组合方式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并能说出其结构特征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能运用几何体的特征描述现实生活中简单物体的结构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经历从物体到几何体的抽象过程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体验研究几何体的方法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提升直观想象和数学抽象素养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20154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一、圆柱、圆锥、圆台的概念及结构特征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下面四个实物图抽象出的几何体与多面体有何不同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它们是不是旋转体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WMG2TRA24.eps" descr="id:214749227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1440557" y="2843202"/>
            <a:ext cx="7848872" cy="1693518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4557593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它们不是由平面多边形围成的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是旋转体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00143"/>
            <a:ext cx="395653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圆柱的结构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特征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29810"/>
              </p:ext>
            </p:extLst>
          </p:nvPr>
        </p:nvGraphicFramePr>
        <p:xfrm>
          <a:off x="-8822" y="1367805"/>
          <a:ext cx="11478155" cy="538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文档" r:id="rId4" imgW="4345557" imgH="2050585" progId="Word.Document.12">
                  <p:embed/>
                </p:oleObj>
              </mc:Choice>
              <mc:Fallback>
                <p:oleObj name="文档" r:id="rId4" imgW="4345557" imgH="20505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8822" y="1367805"/>
                        <a:ext cx="11478155" cy="5381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1479885" y="1951504"/>
            <a:ext cx="1729551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78598" y="3582822"/>
            <a:ext cx="1080120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78597" y="4038646"/>
            <a:ext cx="1377983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98261" y="4496078"/>
            <a:ext cx="1377983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3561470" y="4937958"/>
            <a:ext cx="1377983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9165077" y="5626183"/>
            <a:ext cx="1377983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24104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00143"/>
            <a:ext cx="3546164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圆锥的结构特征</a:t>
            </a:r>
            <a:endParaRPr lang="zh-CN" altLang="en-US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847456"/>
              </p:ext>
            </p:extLst>
          </p:nvPr>
        </p:nvGraphicFramePr>
        <p:xfrm>
          <a:off x="105698" y="1338309"/>
          <a:ext cx="11478155" cy="538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文档" r:id="rId4" imgW="4401704" imgH="2064634" progId="Word.Document.12">
                  <p:embed/>
                </p:oleObj>
              </mc:Choice>
              <mc:Fallback>
                <p:oleObj name="文档" r:id="rId4" imgW="4401704" imgH="20646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698" y="1338309"/>
                        <a:ext cx="11478155" cy="5381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3581134" y="1922008"/>
            <a:ext cx="1729551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88430" y="3789014"/>
            <a:ext cx="1080120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17925" y="4244838"/>
            <a:ext cx="1377983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27757" y="4692438"/>
            <a:ext cx="1377983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3561470" y="5144150"/>
            <a:ext cx="1377983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9165077" y="5626183"/>
            <a:ext cx="1377983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35499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46295"/>
            <a:ext cx="3546164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圆台的结构特征</a:t>
            </a:r>
            <a:endParaRPr lang="zh-CN" altLang="en-US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770015"/>
              </p:ext>
            </p:extLst>
          </p:nvPr>
        </p:nvGraphicFramePr>
        <p:xfrm>
          <a:off x="105698" y="1184461"/>
          <a:ext cx="11478155" cy="538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文档" r:id="rId4" imgW="4349470" imgH="2061759" progId="Word.Document.12">
                  <p:embed/>
                </p:oleObj>
              </mc:Choice>
              <mc:Fallback>
                <p:oleObj name="文档" r:id="rId4" imgW="4349470" imgH="20617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698" y="1184461"/>
                        <a:ext cx="11478155" cy="5381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1782759" y="1777992"/>
            <a:ext cx="2466110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30040" y="2214652"/>
            <a:ext cx="1817125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940941" y="5556534"/>
            <a:ext cx="1377983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52778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1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65959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下列说法正确的是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圆柱的底面是圆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经过圆柱任意两条母线的截面是一个矩形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连接圆柱上、下底面圆周上两点的线段是圆柱的母线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圆柱的任意两条母线互相平行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本题的判断依据是圆柱的定义及结构特征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中圆柱的底面是圆面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而不是圆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圆柱有无数条母线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它们平行且相等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并且母线都与底面垂直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中连接圆柱上、下底面圆周上两点的线段不一定与圆柱的轴平行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4752925" y="5777624"/>
            <a:ext cx="181812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817576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04849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二、球的概念及结构特征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下面实物图抽象出的几何体是不是旋转体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如何形成上述几何体的曲面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WMG2TRA28.eps" descr="id:214749229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960837" y="2633041"/>
            <a:ext cx="2232248" cy="2327754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61950" y="4937297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半圆以它的直径所在直线为旋转轴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旋转一周而成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19744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05287"/>
            <a:ext cx="333745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球的结构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特征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604756"/>
              </p:ext>
            </p:extLst>
          </p:nvPr>
        </p:nvGraphicFramePr>
        <p:xfrm>
          <a:off x="206589" y="1229691"/>
          <a:ext cx="11088688" cy="553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文档" r:id="rId4" imgW="3999683" imgH="2002629" progId="Word.Document.12">
                  <p:embed/>
                </p:oleObj>
              </mc:Choice>
              <mc:Fallback>
                <p:oleObj name="文档" r:id="rId4" imgW="3999683" imgH="20026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6589" y="1229691"/>
                        <a:ext cx="11088688" cy="553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1594405" y="1871935"/>
            <a:ext cx="2582456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820262" y="3825160"/>
            <a:ext cx="772424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478992" y="4300543"/>
            <a:ext cx="702204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545013" y="4300542"/>
            <a:ext cx="702204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610561" y="5243295"/>
            <a:ext cx="702204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925611" y="5232698"/>
            <a:ext cx="702204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24917" y="5708023"/>
            <a:ext cx="702204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04003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2692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平面中的阴影部分绕中间轴旋转一周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形成的几何体形状为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一个球体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一个球体中间挖去一个圆柱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一个圆柱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一个球体中间挖去一个长方体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圆面旋转一周形成球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圆中的矩形旋转一周形成一个圆柱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WMG2TRA30.eps" descr="id:214749231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273205" y="1387762"/>
            <a:ext cx="2160240" cy="273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6661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47799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三、简单组合体的概念及结构特征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天宫空间站飞行器的部分结构示意图如图所示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图中标注的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①②③④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部分分别为什么几何体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5750535"/>
            <a:ext cx="8146782" cy="6443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为圆柱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为圆柱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为圆台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为圆柱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pic>
        <p:nvPicPr>
          <p:cNvPr id="7" name="24Z08.eps" descr="id:2147492715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608909" y="2453694"/>
            <a:ext cx="1700029" cy="325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7665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151595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简单几何体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组合而成的几何体称作简单组合体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简单组合体的构成有两种基本形式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一种是由简单几何体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拼接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而成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另一种是由简单几何体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截去或挖去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一部分而成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31631" y="2210683"/>
            <a:ext cx="202698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1627085" y="2674781"/>
            <a:ext cx="20246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79663" y="339508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475073" y="385918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294069" y="3373369"/>
            <a:ext cx="202698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6289523" y="3837467"/>
            <a:ext cx="20246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92869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52487"/>
            <a:ext cx="108077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组合体是由哪些几何体组成的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WMG2TRA32.eps" descr="id:214749232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952725" y="1381003"/>
            <a:ext cx="4608512" cy="2526681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61950" y="398447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由两个几何体组合而成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分别为球、圆柱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由三个几何体组合而成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分别为圆柱、圆台、圆柱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由三个几何体组合而成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分别为圆锥、圆柱、圆台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19224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01647"/>
            <a:ext cx="10807700" cy="49109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圆台的任意两条母线的延长线可能相交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也可能不相交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球面上任意三点可能在一条直线上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圆锥侧面的母线长有可能大于圆锥底面圆直径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经过圆锥任意两条母线的截面是等腰三角形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329815" y="3312095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479397" y="3888159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504742" y="4475374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9073405" y="5051438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368403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801605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圆柱</a:t>
            </a:r>
            <a:r>
              <a:rPr lang="zh-CN" altLang="zh-CN" dirty="0"/>
              <a:t>、圆锥、圆台的结构特征</a:t>
            </a: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361950" y="1521685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下列说法正确的是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夹在圆柱的两个截面间的几何体还是一个旋转体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圆锥顶点与底面圆周上任意一点的连线是圆锥的母线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在圆台上、下底面圆周上各取一点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则这两点的连线是圆台的母线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以等腰三角形的底边上的高所在直线为旋转轴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其余各边旋转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形成的曲面围成的几何体是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圆锥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79506"/>
            <a:ext cx="10807700" cy="478086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根据题意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依次分析选项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夹在圆柱的两个截面间的几何体不一定是旋转体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由圆锥的定义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圆锥顶点与底面圆周上任意一点的连线是圆锥的母线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在圆台上、下底面圆周上各取一点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则这两点的连线不一定是圆台的母线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以等腰三角形的底边上的高所在直线为旋转轴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其余各边旋转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形成的曲面围成的几何体是圆锥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70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050846"/>
            <a:ext cx="10807700" cy="4252187"/>
            <a:chOff x="361950" y="940139"/>
            <a:chExt cx="10807700" cy="4252187"/>
          </a:xfrm>
        </p:grpSpPr>
        <p:pic>
          <p:nvPicPr>
            <p:cNvPr id="6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1554407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注意掌握圆柱、圆锥、圆台的结构特征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还应注意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圆柱母线与底面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垂直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以直角三角形斜边所在的直线为旋转轴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其余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两边旋转成的曲面围成的旋转体不是圆锥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圆台也可以看作是等腰梯形以其上、下底边的中点所在的直线为轴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各边旋转半周形成的曲面所围的几何体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976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51937"/>
            <a:ext cx="10807700" cy="59627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以下说法正确的有</a:t>
            </a:r>
            <a:r>
              <a:rPr lang="zh-CN" altLang="zh-CN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填序号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圆台上底面的面积与下底面的面积之比一定不等于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1;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矩形绕任意一条直线旋转都可以围成圆柱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圆锥侧面的母线长一定大于圆锥底面圆的直径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圆台的上、下底面不一定平行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但过圆台侧面上每一点的母线都相等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圆台上、下底面不等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所以面积比不等于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矩形绕其一边所在直线旋转才可以围成圆柱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圆锥母线不一定大于底面直径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圆台的上、下底面一定平行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不正确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7921277" y="5770199"/>
            <a:ext cx="165942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dirty="0" smtClean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5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 smtClean="0"/>
              <a:t>探究</a:t>
            </a:r>
            <a:r>
              <a:rPr lang="zh-CN" altLang="en-US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组合体</a:t>
            </a:r>
            <a:r>
              <a:rPr lang="zh-CN" altLang="zh-CN" dirty="0"/>
              <a:t>的结构特征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417559"/>
            <a:ext cx="8711455" cy="2456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例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已知在梯形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AD&lt;BC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当梯形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所在直线旋转一周时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其他各边旋转围成一个几何体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试描述该几何体的结构特征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WMG2TRA38.eps" descr="id:214749241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9433445" y="1377711"/>
            <a:ext cx="837091" cy="2416112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361950" y="3892801"/>
            <a:ext cx="10151615" cy="2303556"/>
            <a:chOff x="361950" y="3979352"/>
            <a:chExt cx="10151615" cy="2303556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4342156"/>
              <a:ext cx="8711455" cy="12741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旋转所得的几何体是两个圆锥和一个圆柱拼接成的组合体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WMG2TRA39.eps" descr="id:2147492417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9221851" y="3979352"/>
              <a:ext cx="1291714" cy="23035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1950" y="1786031"/>
            <a:ext cx="10807700" cy="2390160"/>
            <a:chOff x="361950" y="1642015"/>
            <a:chExt cx="10807700" cy="2390160"/>
          </a:xfrm>
        </p:grpSpPr>
        <p:pic>
          <p:nvPicPr>
            <p:cNvPr id="8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642015"/>
              <a:ext cx="2259558" cy="531552"/>
            </a:xfrm>
            <a:prstGeom prst="rect">
              <a:avLst/>
            </a:prstGeom>
          </p:spPr>
        </p:pic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61950" y="2223603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判断组合旋转体结构特征的方法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　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明确由哪些基本平面图形旋转而成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明确旋转轴是哪条直线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7931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47799"/>
            <a:ext cx="108077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训练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观察下列几何体的结构特点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完成以下问题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WMG2TRA40.eps" descr="id:214749243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736701" y="1233695"/>
            <a:ext cx="4536504" cy="1629781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2827074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所示几何体是由哪些简单几何体构成的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试画出一个几何图形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可旋转该图形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后得到几何体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所示几何体的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结构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特征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试画出一个几何图形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可旋转该图形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得到几何体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所示几何体是由哪些简单几何体构成的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并说明该几何体的面数、棱数、顶点数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52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766249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题图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是由圆锥和圆台组合而成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可旋转如下图形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得到几何体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题图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是由一个圆台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从上而下挖去一个圆锥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圆锥的顶点恰为圆台底面圆的圆心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旋转如下图形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得到几何体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题图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是由一个四棱锥与一个四棱柱组合而成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且四棱锥的底面与四棱柱底面相同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,9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个顶点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,16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条棱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8" name="WMG2TRA41.eps" descr="id:214749243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993285" y="677295"/>
            <a:ext cx="864096" cy="1816188"/>
          </a:xfrm>
          <a:prstGeom prst="rect">
            <a:avLst/>
          </a:prstGeom>
        </p:spPr>
      </p:pic>
      <p:pic>
        <p:nvPicPr>
          <p:cNvPr id="9" name="WMG2TRA42.eps" descr="id:2147492445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9721477" y="2463987"/>
            <a:ext cx="864096" cy="210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12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燕尾形 4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 smtClean="0"/>
              <a:t>探究</a:t>
            </a:r>
            <a:r>
              <a:rPr lang="zh-CN" altLang="en-US" dirty="0" smtClean="0"/>
              <a:t>三  </a:t>
            </a:r>
            <a:r>
              <a:rPr lang="zh-CN" altLang="zh-CN" dirty="0" smtClean="0"/>
              <a:t>旋转体</a:t>
            </a:r>
            <a:r>
              <a:rPr lang="zh-CN" altLang="zh-CN" dirty="0"/>
              <a:t>中的计算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5950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用一个平行于圆锥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底面的平面截这个圆锥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截得圆台上、下底面的面积之比为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截去的圆锥的母线长是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 cm,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求圆台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O'O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的母线长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21N38.eps" descr="id:214749985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608909" y="3168079"/>
            <a:ext cx="2016224" cy="2479724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5667467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过圆锥的轴作截面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利用三角形相似来解决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05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945663"/>
            <a:ext cx="11716509" cy="4574610"/>
            <a:chOff x="361950" y="681701"/>
            <a:chExt cx="11716509" cy="4574610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681701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设圆台的母线长为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cm,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由截得圆台上、下底面面积之比为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16,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可设截得圆台的上、下底面的半径分别为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cm,4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cm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过轴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SO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作截面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SO'A'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∽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SOA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6399855"/>
                </p:ext>
              </p:extLst>
            </p:nvPr>
          </p:nvGraphicFramePr>
          <p:xfrm>
            <a:off x="373401" y="3724479"/>
            <a:ext cx="11705058" cy="735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文档" r:id="rId4" imgW="3826872" imgH="240784" progId="Word.Document.12">
                    <p:embed/>
                  </p:oleObj>
                </mc:Choice>
                <mc:Fallback>
                  <p:oleObj name="文档" r:id="rId4" imgW="3826872" imgH="24078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73401" y="3724479"/>
                          <a:ext cx="11705058" cy="73573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4573047"/>
              <a:ext cx="5997155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l=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9,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故圆台的母线长为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cm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 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21N39.eps" descr="id:2147499859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993285" y="2274783"/>
            <a:ext cx="2520280" cy="259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49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667463"/>
            <a:ext cx="2740119" cy="499725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14643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本例中若圆台的上底面半径为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cm,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其他条件不变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试求圆台的高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O'O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61950" y="2360737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圆台的上底面半径为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cm,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下底面半径为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cm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在截面图中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过点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A'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A'H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A'H=O'O.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2" name="21N40.eps" descr="id:2147499873;Founde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8281317" y="2168178"/>
            <a:ext cx="2448272" cy="259676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695670"/>
              </p:ext>
            </p:extLst>
          </p:nvPr>
        </p:nvGraphicFramePr>
        <p:xfrm>
          <a:off x="432445" y="4706074"/>
          <a:ext cx="11705058" cy="1558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文档" r:id="rId6" imgW="3837724" imgH="510934" progId="Word.Document.12">
                  <p:embed/>
                </p:oleObj>
              </mc:Choice>
              <mc:Fallback>
                <p:oleObj name="文档" r:id="rId6" imgW="3837724" imgH="5109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2445" y="4706074"/>
                        <a:ext cx="11705058" cy="15583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494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1497999"/>
            <a:ext cx="2259558" cy="531552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2136728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旋转体中有关底面半径、母线、高的计算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可利用轴截面求解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即将立体问题平面化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利用球的截面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将立体问题转化为平面问题是解决球的有关问题的关键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601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943943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已知球的两个平行截面截球所得两个圆面的面积分别为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它们位于球心的同侧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且距离等于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求这个球的半径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559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7365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设这两个截面圆的半径分别为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球心到截面圆的距离分别为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球的半径为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501748"/>
              </p:ext>
            </p:extLst>
          </p:nvPr>
        </p:nvGraphicFramePr>
        <p:xfrm>
          <a:off x="412564" y="2140672"/>
          <a:ext cx="11705058" cy="3624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文档" r:id="rId4" imgW="3837724" imgH="1188452" progId="Word.Document.12">
                  <p:embed/>
                </p:oleObj>
              </mc:Choice>
              <mc:Fallback>
                <p:oleObj name="文档" r:id="rId4" imgW="3837724" imgH="11884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2564" y="2140672"/>
                        <a:ext cx="11705058" cy="36247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21N41.eps" descr="id:2147499887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993285" y="1727919"/>
            <a:ext cx="2520280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1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MG2TRA43.eps" descr="id:214749245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824933" y="2666644"/>
            <a:ext cx="1656184" cy="2445651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647799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分类讨论思想在旋转体综合题中的运用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3048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绕边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所在直线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旋转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在射线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请说明形成的几何体的结构特征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61950" y="518430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审题</a:t>
            </a: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视角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所得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几何体的结构特征与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的大小有关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应分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AD&gt;BC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AD=BC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&lt;AD&lt;BC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三种情况讨论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439887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AD&gt;BC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旋转一周所得几何体为底面半径为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的圆柱和圆锥拼成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AD=BC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旋转一周所得几何体为圆柱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&lt;AD&lt;BC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旋转一周所得几何体为圆柱中挖去一个同底的圆锥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23465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223863"/>
            <a:ext cx="10807700" cy="3656954"/>
            <a:chOff x="361950" y="1007839"/>
            <a:chExt cx="10807700" cy="3656954"/>
          </a:xfrm>
        </p:grpSpPr>
        <p:pic>
          <p:nvPicPr>
            <p:cNvPr id="3" name="方法点睛H.eps" descr="id:214749903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007839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617805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点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射线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DE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上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应该注意分类讨论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注意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分类</a:t>
              </a:r>
              <a:r>
                <a:rPr lang="zh-CN" altLang="en-US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讨论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数学思想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识记常见的组合体有三种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多面体与多面体的组合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多面体与旋转体的组合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旋转体与旋转体的组合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其基本形式实质上有两种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一种是由简单几何体拼接而成的简单组合体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另一种是由简单几何体截去或挖去一部分而成的简单组合体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881892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83487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圆锥的母线有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B.2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C.3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无数条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正方形绕其一条对角线所在直线旋转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所得几何体是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圆锥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两个共底面的圆锥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62319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下列叙述正确的是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以直角三角形的一边所在直线为轴旋转所得的旋转体是圆锥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以直角梯形的一腰所在直线为轴旋转所得的旋转体是圆台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圆柱、圆锥、圆台的底面都是圆面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球的半径是球面上任意一点和球心的连线段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中应以直角三角形的直角边所在直线为轴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中应以直角梯形中的直角腰所在直线为轴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,C,D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54581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84015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该组合体的结构特征是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两个四棱锥组合成的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一个三棱锥和一个四棱锥组合成的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一个四棱锥和一个四棱柱组合成的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一个四棱锥和一个四棱台组合成的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该组合体是由上、下两个四棱锥组合而成的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WMG2TRA44.eps" descr="id:214749248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8065293" y="1511895"/>
            <a:ext cx="2232248" cy="244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2656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4194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一个与球心距离为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的平面截球所得的圆面面积为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则球的直径为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474833"/>
              </p:ext>
            </p:extLst>
          </p:nvPr>
        </p:nvGraphicFramePr>
        <p:xfrm>
          <a:off x="442277" y="2674407"/>
          <a:ext cx="11705058" cy="1092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文档" r:id="rId4" imgW="3837724" imgH="358050" progId="Word.Document.12">
                  <p:embed/>
                </p:oleObj>
              </mc:Choice>
              <mc:Fallback>
                <p:oleObj name="文档" r:id="rId4" imgW="3837724" imgH="3580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2277" y="2674407"/>
                        <a:ext cx="11705058" cy="10920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9736193"/>
              </p:ext>
            </p:extLst>
          </p:nvPr>
        </p:nvGraphicFramePr>
        <p:xfrm>
          <a:off x="442277" y="3818209"/>
          <a:ext cx="11705058" cy="564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文档" r:id="rId7" imgW="3837724" imgH="184975" progId="Word.Document.12">
                  <p:embed/>
                </p:oleObj>
              </mc:Choice>
              <mc:Fallback>
                <p:oleObj name="文档" r:id="rId7" imgW="3837724" imgH="1849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2277" y="3818209"/>
                        <a:ext cx="11705058" cy="5641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96393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106</TotalTime>
  <Words>1655</Words>
  <Application>Microsoft Office PowerPoint</Application>
  <PresentationFormat>自定义</PresentationFormat>
  <Paragraphs>144</Paragraphs>
  <Slides>42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8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28</cp:revision>
  <dcterms:created xsi:type="dcterms:W3CDTF">2020-09-12T05:36:12Z</dcterms:created>
  <dcterms:modified xsi:type="dcterms:W3CDTF">2025-09-04T06:12:10Z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