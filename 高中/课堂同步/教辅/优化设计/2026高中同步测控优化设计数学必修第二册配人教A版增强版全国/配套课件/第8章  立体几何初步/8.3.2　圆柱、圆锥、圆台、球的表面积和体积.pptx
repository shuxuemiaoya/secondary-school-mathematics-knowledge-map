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80" r:id="rId11"/>
    <p:sldId id="760" r:id="rId12"/>
    <p:sldId id="761" r:id="rId13"/>
    <p:sldId id="762" r:id="rId14"/>
    <p:sldId id="763" r:id="rId15"/>
    <p:sldId id="764" r:id="rId16"/>
    <p:sldId id="765" r:id="rId17"/>
    <p:sldId id="781" r:id="rId18"/>
    <p:sldId id="782" r:id="rId19"/>
    <p:sldId id="783" r:id="rId20"/>
    <p:sldId id="766" r:id="rId21"/>
    <p:sldId id="737" r:id="rId22"/>
    <p:sldId id="750" r:id="rId23"/>
    <p:sldId id="784" r:id="rId24"/>
    <p:sldId id="767" r:id="rId25"/>
    <p:sldId id="768" r:id="rId26"/>
    <p:sldId id="785" r:id="rId27"/>
    <p:sldId id="754" r:id="rId28"/>
    <p:sldId id="769" r:id="rId29"/>
    <p:sldId id="770" r:id="rId30"/>
    <p:sldId id="771" r:id="rId31"/>
    <p:sldId id="786" r:id="rId32"/>
    <p:sldId id="787" r:id="rId33"/>
    <p:sldId id="747" r:id="rId34"/>
    <p:sldId id="751" r:id="rId35"/>
    <p:sldId id="772" r:id="rId36"/>
    <p:sldId id="773" r:id="rId37"/>
    <p:sldId id="748" r:id="rId38"/>
    <p:sldId id="752" r:id="rId39"/>
    <p:sldId id="776" r:id="rId40"/>
    <p:sldId id="777" r:id="rId41"/>
    <p:sldId id="778" r:id="rId42"/>
    <p:sldId id="779" r:id="rId43"/>
    <p:sldId id="735" r:id="rId4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43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3.xml"/><Relationship Id="rId4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1.docx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jpeg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6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7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3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4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6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17.docx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8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9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0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2.jpeg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2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4.docx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5.jpeg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3.docx"/><Relationship Id="rId9" Type="http://schemas.openxmlformats.org/officeDocument/2006/relationships/image" Target="../media/image34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5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6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7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29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1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4.docx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7.jpeg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3.docx"/><Relationship Id="rId9" Type="http://schemas.openxmlformats.org/officeDocument/2006/relationships/image" Target="../media/image4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35.docx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988517"/>
            <a:ext cx="10807700" cy="19932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圆柱、圆锥、圆台、球的表面积和体积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19807"/>
            <a:ext cx="10729192" cy="5544616"/>
            <a:chOff x="360437" y="1233694"/>
            <a:chExt cx="10729192" cy="554461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233694"/>
              <a:ext cx="10729192" cy="5544616"/>
              <a:chOff x="360437" y="1813704"/>
              <a:chExt cx="10729192" cy="378704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13704"/>
                <a:ext cx="10729192" cy="378704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56918"/>
                <a:ext cx="0" cy="362925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3196502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14906"/>
              <a:ext cx="8496944" cy="53541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知道圆柱、圆锥、圆台表面与展开图的关系及表面积的计算方法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能识记圆柱、圆锥、圆台、球的表面积和体积的计算公式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并能用这些公式计算一些简单几何体的表面积和体积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能用柱、锥、台、球的表面积和体积公式解决简单的实际问题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用运动变化的观点观察柱、锥、台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体会它们的相互转化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发展直观想象和数学运算素养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  错  辨  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31740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一、圆柱、圆锥、圆台的表面积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如何根据圆柱的展开图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求圆柱的表面积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圆柱的侧面展开图是矩形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一边长是圆柱底面圆周长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另一边长是圆柱的高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设圆柱的底面半径为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母线长为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圆柱侧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圆柱表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r+l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N54.eps" descr="id:214750064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3878728"/>
            <a:ext cx="3528392" cy="18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117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如何根据圆锥的展开图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求圆锥的表面积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N55.eps" descr="id:2147500648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16821" y="1399247"/>
            <a:ext cx="2376264" cy="264029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61950" y="4199187"/>
            <a:ext cx="19696433" cy="1808572"/>
            <a:chOff x="361950" y="3957526"/>
            <a:chExt cx="19696433" cy="1808572"/>
          </a:xfrm>
        </p:grpSpPr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3957526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圆锥的侧面展开图为一个扇形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半径是圆锥的母线长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弧长等于圆锥底面周长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侧面展开图扇形面积为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圆锥侧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rl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圆锥表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r+l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为圆锥底面半径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为母线长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6072096"/>
                </p:ext>
              </p:extLst>
            </p:nvPr>
          </p:nvGraphicFramePr>
          <p:xfrm>
            <a:off x="8353325" y="4488734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" name="文档" r:id="rId5" imgW="3837724" imgH="237979" progId="Word.Document.12">
                    <p:embed/>
                  </p:oleObj>
                </mc:Choice>
                <mc:Fallback>
                  <p:oleObj name="文档" r:id="rId5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353325" y="4488734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045145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22450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如何根据圆台的展开图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求圆台的表面积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20970"/>
              </p:ext>
            </p:extLst>
          </p:nvPr>
        </p:nvGraphicFramePr>
        <p:xfrm>
          <a:off x="440556" y="1476424"/>
          <a:ext cx="10640962" cy="23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4" imgW="3837724" imgH="834729" progId="Word.Document.12">
                  <p:embed/>
                </p:oleObj>
              </mc:Choice>
              <mc:Fallback>
                <p:oleObj name="文档" r:id="rId4" imgW="3837724" imgH="8347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556" y="1476424"/>
                        <a:ext cx="10640962" cy="231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1N56.eps" descr="id:214750065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672805" y="3800730"/>
            <a:ext cx="3024336" cy="200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054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9975"/>
            <a:ext cx="553869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圆柱、圆锥、圆台的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表面积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945607"/>
              </p:ext>
            </p:extLst>
          </p:nvPr>
        </p:nvGraphicFramePr>
        <p:xfrm>
          <a:off x="288429" y="1358047"/>
          <a:ext cx="10944332" cy="537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文档" r:id="rId4" imgW="3947136" imgH="1937365" progId="Word.Document.12">
                  <p:embed/>
                </p:oleObj>
              </mc:Choice>
              <mc:Fallback>
                <p:oleObj name="文档" r:id="rId4" imgW="3947136" imgH="1937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358047"/>
                        <a:ext cx="10944332" cy="537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550125" y="2518204"/>
            <a:ext cx="121902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48603" y="4547382"/>
            <a:ext cx="1004522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1015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097580"/>
              </p:ext>
            </p:extLst>
          </p:nvPr>
        </p:nvGraphicFramePr>
        <p:xfrm>
          <a:off x="361321" y="1655911"/>
          <a:ext cx="10944332" cy="304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文档" r:id="rId4" imgW="3947136" imgH="1099030" progId="Word.Document.12">
                  <p:embed/>
                </p:oleObj>
              </mc:Choice>
              <mc:Fallback>
                <p:oleObj name="文档" r:id="rId4" imgW="3947136" imgH="10990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321" y="1655911"/>
                        <a:ext cx="10944332" cy="304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865725" y="2559335"/>
            <a:ext cx="22715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717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919434"/>
            <a:ext cx="12311416" cy="2456057"/>
            <a:chOff x="361950" y="965997"/>
            <a:chExt cx="12311416" cy="245605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965997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圆锥的底面半径为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高为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则圆锥的表面积为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若圆台的上、下底面半径分别是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母线长为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则其表面积等于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4410842"/>
                </p:ext>
              </p:extLst>
            </p:nvPr>
          </p:nvGraphicFramePr>
          <p:xfrm>
            <a:off x="968308" y="1054402"/>
            <a:ext cx="11705058" cy="546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5" name="文档" r:id="rId4" imgW="3837724" imgH="179205" progId="Word.Document.12">
                    <p:embed/>
                  </p:oleObj>
                </mc:Choice>
                <mc:Fallback>
                  <p:oleObj name="文档" r:id="rId4" imgW="3837724" imgH="1792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68308" y="1054402"/>
                          <a:ext cx="11705058" cy="546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21N60.eps" descr="id:214750067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104853" y="3390944"/>
            <a:ext cx="2736304" cy="211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70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430055"/>
            <a:ext cx="11788135" cy="2304256"/>
            <a:chOff x="361950" y="1223863"/>
            <a:chExt cx="11788135" cy="2304256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0788660"/>
                </p:ext>
              </p:extLst>
            </p:nvPr>
          </p:nvGraphicFramePr>
          <p:xfrm>
            <a:off x="445027" y="1223863"/>
            <a:ext cx="11705058" cy="995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2" name="文档" r:id="rId4" imgW="3837724" imgH="326320" progId="Word.Document.12">
                    <p:embed/>
                  </p:oleObj>
                </mc:Choice>
                <mc:Fallback>
                  <p:oleObj name="文档" r:id="rId4" imgW="3837724" imgH="32632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5027" y="1223863"/>
                          <a:ext cx="11705058" cy="9952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31047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故圆锥的表面积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圆锥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圆台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67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843135"/>
            <a:ext cx="36792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(1)3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2)67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658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217934" y="761335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二、圆柱、圆锥、圆台的体积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试回想圆柱和圆锥的体积公式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323211"/>
              </p:ext>
            </p:extLst>
          </p:nvPr>
        </p:nvGraphicFramePr>
        <p:xfrm>
          <a:off x="310843" y="2076613"/>
          <a:ext cx="11705058" cy="125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8" name="文档" r:id="rId4" imgW="3837724" imgH="412136" progId="Word.Document.12">
                  <p:embed/>
                </p:oleObj>
              </mc:Choice>
              <mc:Fallback>
                <p:oleObj name="文档" r:id="rId4" imgW="3837724" imgH="412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0843" y="2076613"/>
                        <a:ext cx="11705058" cy="125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17934" y="338574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根据上一节棱台的体积公式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试推导圆台的体积公式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448141"/>
              </p:ext>
            </p:extLst>
          </p:nvPr>
        </p:nvGraphicFramePr>
        <p:xfrm>
          <a:off x="216421" y="4012206"/>
          <a:ext cx="11705058" cy="201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name="文档" r:id="rId7" imgW="3826872" imgH="660898" progId="Word.Document.12">
                  <p:embed/>
                </p:oleObj>
              </mc:Choice>
              <mc:Fallback>
                <p:oleObj name="文档" r:id="rId7" imgW="3826872" imgH="660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421" y="4012206"/>
                        <a:ext cx="11705058" cy="2018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519027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90087"/>
              </p:ext>
            </p:extLst>
          </p:nvPr>
        </p:nvGraphicFramePr>
        <p:xfrm>
          <a:off x="144413" y="858856"/>
          <a:ext cx="11705058" cy="50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4" imgW="3837724" imgH="1647824" progId="Word.Document.12">
                  <p:embed/>
                </p:oleObj>
              </mc:Choice>
              <mc:Fallback>
                <p:oleObj name="文档" r:id="rId4" imgW="3837724" imgH="16478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413" y="858856"/>
                        <a:ext cx="11705058" cy="502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239477" y="1367879"/>
            <a:ext cx="8491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34887" y="1831977"/>
            <a:ext cx="84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55559" y="1943943"/>
            <a:ext cx="1471309" cy="66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250970" y="2611821"/>
            <a:ext cx="14696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34887" y="3868495"/>
            <a:ext cx="56571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230297" y="4332593"/>
            <a:ext cx="5650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30298" y="4477288"/>
            <a:ext cx="1074356" cy="66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225708" y="5145166"/>
            <a:ext cx="10731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9208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已知圆柱的高为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若它的轴截面为正方形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则该圆柱的体积为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412574"/>
              </p:ext>
            </p:extLst>
          </p:nvPr>
        </p:nvGraphicFramePr>
        <p:xfrm>
          <a:off x="504453" y="2317152"/>
          <a:ext cx="11705058" cy="145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文档" r:id="rId4" imgW="3837724" imgH="477400" progId="Word.Document.12">
                  <p:embed/>
                </p:oleObj>
              </mc:Choice>
              <mc:Fallback>
                <p:oleObj name="文档" r:id="rId4" imgW="3837724" imgH="477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317152"/>
                        <a:ext cx="11705058" cy="145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382264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若圆锥的底面圆半径为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母线长为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则该圆锥的体积为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220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181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设圆柱的底面半径为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baseline="-250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h=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826775"/>
              </p:ext>
            </p:extLst>
          </p:nvPr>
        </p:nvGraphicFramePr>
        <p:xfrm>
          <a:off x="412781" y="2734571"/>
          <a:ext cx="11705058" cy="23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文档" r:id="rId4" imgW="3837724" imgH="759369" progId="Word.Document.12">
                  <p:embed/>
                </p:oleObj>
              </mc:Choice>
              <mc:Fallback>
                <p:oleObj name="文档" r:id="rId4" imgW="3837724" imgH="7593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781" y="2734571"/>
                        <a:ext cx="11705058" cy="231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25181"/>
              </p:ext>
            </p:extLst>
          </p:nvPr>
        </p:nvGraphicFramePr>
        <p:xfrm>
          <a:off x="430271" y="5162705"/>
          <a:ext cx="11705058" cy="794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文档" r:id="rId7" imgW="3837724" imgH="260335" progId="Word.Document.12">
                  <p:embed/>
                </p:oleObj>
              </mc:Choice>
              <mc:Fallback>
                <p:oleObj name="文档" r:id="rId7" imgW="3837724" imgH="260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71" y="5162705"/>
                        <a:ext cx="11705058" cy="794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21831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8348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三、球的表面积与体积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古人在计算圆周率时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一般是用割圆术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即用圆的内接或外切正多边形的周长来逼近圆的周长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理论上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只要取得圆内接正多边形的边数越多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圆周率就越精确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直到无穷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这种思想就是朴素的极限思想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运用上述思想能否计算球的表面积与体积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运用分割、求近似值、再由近似值转化的数学思想方法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4444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1664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设球的半径为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则球的表面积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S= 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设球的半径为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则球的体积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V=________</a:t>
            </a:r>
            <a:r>
              <a:rPr lang="en-US" altLang="zh-CN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029779"/>
              </p:ext>
            </p:extLst>
          </p:nvPr>
        </p:nvGraphicFramePr>
        <p:xfrm>
          <a:off x="6409109" y="2657166"/>
          <a:ext cx="11705058" cy="72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文档" r:id="rId4" imgW="3837724" imgH="238340" progId="Word.Document.12">
                  <p:embed/>
                </p:oleObj>
              </mc:Choice>
              <mc:Fallback>
                <p:oleObj name="文档" r:id="rId4" imgW="3837724" imgH="23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9109" y="2657166"/>
                        <a:ext cx="11705058" cy="72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006381" y="2217262"/>
            <a:ext cx="9047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001791" y="2681360"/>
            <a:ext cx="9037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9422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90651" y="647799"/>
            <a:ext cx="11260301" cy="3050947"/>
            <a:chOff x="-90651" y="863823"/>
            <a:chExt cx="11260301" cy="305094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63823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如果两个球的半径之比为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那么两个球的表面积之比为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A.1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9	B.1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27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C.1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	D.1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已知球的体积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      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则它的表面积为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3852853"/>
                </p:ext>
              </p:extLst>
            </p:nvPr>
          </p:nvGraphicFramePr>
          <p:xfrm>
            <a:off x="-90651" y="3195098"/>
            <a:ext cx="8794184" cy="719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4" name="文档" r:id="rId4" imgW="3837724" imgH="314060" progId="Word.Document.12">
                    <p:embed/>
                  </p:oleObj>
                </mc:Choice>
                <mc:Fallback>
                  <p:oleObj name="文档" r:id="rId4" imgW="3837724" imgH="3140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90651" y="3195098"/>
                          <a:ext cx="8794184" cy="7196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361950" y="3795027"/>
            <a:ext cx="11775553" cy="2021894"/>
            <a:chOff x="361950" y="3827860"/>
            <a:chExt cx="11775553" cy="2021894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7046942"/>
                </p:ext>
              </p:extLst>
            </p:nvPr>
          </p:nvGraphicFramePr>
          <p:xfrm>
            <a:off x="432445" y="382786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5" name="文档" r:id="rId7" imgW="3837724" imgH="238700" progId="Word.Document.12">
                    <p:embed/>
                  </p:oleObj>
                </mc:Choice>
                <mc:Fallback>
                  <p:oleObj name="文档" r:id="rId7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2445" y="382786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457555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27,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球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矩形 10"/>
          <p:cNvSpPr>
            <a:spLocks noChangeAspect="1"/>
          </p:cNvSpPr>
          <p:nvPr/>
        </p:nvSpPr>
        <p:spPr>
          <a:xfrm>
            <a:off x="361950" y="5771897"/>
            <a:ext cx="354616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2)36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1902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9471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锥体的体积公式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为底面面积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圆柱和圆锥都可以看作是圆台退化而成的几何体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圆柱可以看作是上下底面全等的圆台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圆锥可看作是上底面退化成一点的圆台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把球的表面积扩大为原来的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则它的体积扩大为原来的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60989" y="2613420"/>
            <a:ext cx="6331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01474" y="4330039"/>
            <a:ext cx="5232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512565" y="5544343"/>
            <a:ext cx="5232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3223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66469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4968949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圆柱</a:t>
            </a:r>
            <a:r>
              <a:rPr lang="zh-CN" altLang="zh-CN" dirty="0"/>
              <a:t>、圆锥、圆台的表面积和体积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496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的三边长分别是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所在直线为轴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将此三角形旋转一周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求所得旋转体的表面积和体积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N143.eps" descr="id:214750069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9433445" y="3212051"/>
            <a:ext cx="1800200" cy="2900526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3129088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垂足为点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+BC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AC=AB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871309"/>
              </p:ext>
            </p:extLst>
          </p:nvPr>
        </p:nvGraphicFramePr>
        <p:xfrm>
          <a:off x="394691" y="921754"/>
          <a:ext cx="11703050" cy="473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文档" r:id="rId4" imgW="3826872" imgH="1555034" progId="Word.Document.12">
                  <p:embed/>
                </p:oleObj>
              </mc:Choice>
              <mc:Fallback>
                <p:oleObj name="文档" r:id="rId4" imgW="3826872" imgH="1555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691" y="921754"/>
                        <a:ext cx="11703050" cy="473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733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791695"/>
            <a:ext cx="10807700" cy="2384496"/>
            <a:chOff x="361950" y="940139"/>
            <a:chExt cx="10807700" cy="2384496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1606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对于与旋转体有关的组合体问题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要根据条件分清各个简单几何体的底面半径、母线长及高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再分别代入表面积或体积公式求解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83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63796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已知圆台的高为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在轴截面中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母线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与底面圆直径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轴截面中的一条对角线垂直于腰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求圆台的体积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241531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作轴截面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设圆台的上、下底面半径和母线长分别为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WMG2TRA103.eps" descr="id:214750071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6409109" y="3077087"/>
            <a:ext cx="3744416" cy="2395248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883144"/>
              </p:ext>
            </p:extLst>
          </p:nvPr>
        </p:nvGraphicFramePr>
        <p:xfrm>
          <a:off x="392900" y="4806694"/>
          <a:ext cx="11705058" cy="1519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文档" r:id="rId5" imgW="3837724" imgH="498313" progId="Word.Document.12">
                  <p:embed/>
                </p:oleObj>
              </mc:Choice>
              <mc:Fallback>
                <p:oleObj name="文档" r:id="rId5" imgW="3837724" imgH="4983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900" y="4806694"/>
                        <a:ext cx="11705058" cy="1519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762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370065"/>
              </p:ext>
            </p:extLst>
          </p:nvPr>
        </p:nvGraphicFramePr>
        <p:xfrm>
          <a:off x="288429" y="1555380"/>
          <a:ext cx="11705058" cy="290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文档" r:id="rId4" imgW="3837724" imgH="953719" progId="Word.Document.12">
                  <p:embed/>
                </p:oleObj>
              </mc:Choice>
              <mc:Fallback>
                <p:oleObj name="文档" r:id="rId4" imgW="3837724" imgH="9537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555380"/>
                        <a:ext cx="11705058" cy="2908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186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8047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球</a:t>
            </a:r>
            <a:r>
              <a:rPr lang="zh-CN" altLang="zh-CN" dirty="0"/>
              <a:t>的表面积与体积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18453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若圆锥与球的体积相等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且圆锥底面半径与球的直径相等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求圆锥侧面积与球面面积之比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249239"/>
              </p:ext>
            </p:extLst>
          </p:nvPr>
        </p:nvGraphicFramePr>
        <p:xfrm>
          <a:off x="494621" y="2418503"/>
          <a:ext cx="11705058" cy="4012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文档" r:id="rId4" imgW="3837724" imgH="1315735" progId="Word.Document.12">
                  <p:embed/>
                </p:oleObj>
              </mc:Choice>
              <mc:Fallback>
                <p:oleObj name="文档" r:id="rId4" imgW="3837724" imgH="13157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621" y="2418503"/>
                        <a:ext cx="11705058" cy="4012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940866"/>
            <a:ext cx="10807700" cy="4737661"/>
            <a:chOff x="361950" y="729639"/>
            <a:chExt cx="10807700" cy="4737661"/>
          </a:xfrm>
        </p:grpSpPr>
        <p:pic>
          <p:nvPicPr>
            <p:cNvPr id="9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296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295004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有关球的体积与表面积的问题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求球的体积或表面积时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必须知道半径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或者通过条件能求出半径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然后代入体积或表面积公式求解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半径和球心是球的最关键要素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把握住了这两点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计算球的表面积或体积的相关题目也就容易了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球的体积比等于半径比的立方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表面积比等于半径比的平方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77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63823"/>
            <a:ext cx="10807700" cy="3019930"/>
            <a:chOff x="361950" y="906335"/>
            <a:chExt cx="10807700" cy="3019930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935831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个直径都为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记它们的体积之和为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表面积之和为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一个直径为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记其体积为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表面积为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=V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=S</a:t>
              </a:r>
              <a:r>
                <a:rPr lang="zh-CN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6793211"/>
                </p:ext>
              </p:extLst>
            </p:nvPr>
          </p:nvGraphicFramePr>
          <p:xfrm>
            <a:off x="1656581" y="906335"/>
            <a:ext cx="8794184" cy="653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0" name="文档" r:id="rId4" imgW="3837724" imgH="285214" progId="Word.Document.12">
                    <p:embed/>
                  </p:oleObj>
                </mc:Choice>
                <mc:Fallback>
                  <p:oleObj name="文档" r:id="rId4" imgW="3837724" imgH="28521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56581" y="906335"/>
                          <a:ext cx="8794184" cy="6535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417461"/>
              </p:ext>
            </p:extLst>
          </p:nvPr>
        </p:nvGraphicFramePr>
        <p:xfrm>
          <a:off x="388741" y="3913249"/>
          <a:ext cx="11705058" cy="125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文档" r:id="rId7" imgW="3837724" imgH="412136" progId="Word.Document.12">
                  <p:embed/>
                </p:oleObj>
              </mc:Choice>
              <mc:Fallback>
                <p:oleObj name="文档" r:id="rId7" imgW="3837724" imgH="412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8741" y="3913249"/>
                        <a:ext cx="11705058" cy="125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08093" y="5225556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5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燕尾形 4"/>
          <p:cNvSpPr/>
          <p:nvPr/>
        </p:nvSpPr>
        <p:spPr>
          <a:xfrm>
            <a:off x="1239655" y="68047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与</a:t>
            </a:r>
            <a:r>
              <a:rPr lang="zh-CN" altLang="zh-CN" dirty="0"/>
              <a:t>球有关的切接问题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663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若一个球的外切圆锥的高是这个球的半径的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则圆锥的侧面面积和球的表面积之比为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1950" y="3027247"/>
            <a:ext cx="11807799" cy="2711171"/>
            <a:chOff x="361950" y="3027247"/>
            <a:chExt cx="11807799" cy="2711171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027247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设球的半径为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r.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作轴截面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PO=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CPB=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315833"/>
                </p:ext>
              </p:extLst>
            </p:nvPr>
          </p:nvGraphicFramePr>
          <p:xfrm>
            <a:off x="464691" y="3652471"/>
            <a:ext cx="11705058" cy="794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7" name="文档" r:id="rId4" imgW="3837724" imgH="260335" progId="Word.Document.12">
                    <p:embed/>
                  </p:oleObj>
                </mc:Choice>
                <mc:Fallback>
                  <p:oleObj name="文档" r:id="rId4" imgW="3837724" imgH="26033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4691" y="3652471"/>
                          <a:ext cx="11705058" cy="794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446422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圆锥侧面积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S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·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CB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·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PB=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6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球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的表面积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S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S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S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3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.</a:t>
              </a:r>
              <a:endParaRPr lang="zh-CN" altLang="en-US" dirty="0">
                <a:latin typeface="+mn-lt"/>
              </a:endParaRPr>
            </a:p>
          </p:txBody>
        </p:sp>
      </p:grpSp>
      <p:sp>
        <p:nvSpPr>
          <p:cNvPr id="12" name="矩形 11"/>
          <p:cNvSpPr>
            <a:spLocks noChangeAspect="1"/>
          </p:cNvSpPr>
          <p:nvPr/>
        </p:nvSpPr>
        <p:spPr>
          <a:xfrm>
            <a:off x="361950" y="5755570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4" name="21N120.eps" descr="id:214750074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633245" y="3721143"/>
            <a:ext cx="2370112" cy="21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9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3751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球的内切问题处理的注意事项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解决与球有关的内切问题主要是指球内切于多面体或旋转体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解答时首先要找准切点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通过作截面来解决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若球内切于多面体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则作截面时主要抓住多面体过球心的对角面来作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球的外接问题处理的注意事项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把一个多面体的几个顶点放在球面上即为球的外接问题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解决这类问题的关键是抓住外接的特点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即球心到多面体的顶点的距离等于球的半径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742655"/>
            <a:ext cx="2259558" cy="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5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542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设三棱柱的侧棱垂直于底面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所有棱的长都为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顶点都在一个球面上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则该球的表面积为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172901"/>
              </p:ext>
            </p:extLst>
          </p:nvPr>
        </p:nvGraphicFramePr>
        <p:xfrm>
          <a:off x="432445" y="1871935"/>
          <a:ext cx="11705058" cy="1453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文档" r:id="rId4" imgW="3837724" imgH="476679" progId="Word.Document.12">
                  <p:embed/>
                </p:oleObj>
              </mc:Choice>
              <mc:Fallback>
                <p:oleObj name="文档" r:id="rId4" imgW="3837724" imgH="4766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71935"/>
                        <a:ext cx="11705058" cy="1453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N144.eps" descr="id:214750075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9361437" y="1297885"/>
            <a:ext cx="2016224" cy="2016224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88429" y="3374271"/>
            <a:ext cx="11775553" cy="2962160"/>
            <a:chOff x="288429" y="3374271"/>
            <a:chExt cx="11775553" cy="296216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288429" y="337427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该三棱柱为正三棱柱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且侧棱与底面边长相等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均为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为三棱柱上底面的中心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为球心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436263"/>
                </p:ext>
              </p:extLst>
            </p:nvPr>
          </p:nvGraphicFramePr>
          <p:xfrm>
            <a:off x="358924" y="4565833"/>
            <a:ext cx="11705058" cy="1770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7" name="文档" r:id="rId8" imgW="3837724" imgH="580524" progId="Word.Document.12">
                    <p:embed/>
                  </p:oleObj>
                </mc:Choice>
                <mc:Fallback>
                  <p:oleObj name="文档" r:id="rId8" imgW="3837724" imgH="5805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58924" y="4565833"/>
                          <a:ext cx="11705058" cy="17705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9574559" y="551898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  错  辨  析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3796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考虑问题不全面致错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把长和宽分别为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的矩形卷成一个圆柱的侧面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求这个圆柱的体积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091784"/>
              </p:ext>
            </p:extLst>
          </p:nvPr>
        </p:nvGraphicFramePr>
        <p:xfrm>
          <a:off x="504453" y="2494906"/>
          <a:ext cx="11705058" cy="137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文档" r:id="rId4" imgW="3837724" imgH="450357" progId="Word.Document.12">
                  <p:embed/>
                </p:oleObj>
              </mc:Choice>
              <mc:Fallback>
                <p:oleObj name="文档" r:id="rId4" imgW="3837724" imgH="4503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494906"/>
                        <a:ext cx="11705058" cy="137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390703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把矩形卷成圆柱时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为底面周长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为底面周长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容易漏掉一种情况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404070"/>
              </p:ext>
            </p:extLst>
          </p:nvPr>
        </p:nvGraphicFramePr>
        <p:xfrm>
          <a:off x="432445" y="1007839"/>
          <a:ext cx="11705058" cy="440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文档" r:id="rId4" imgW="3837724" imgH="1443739" progId="Word.Document.12">
                  <p:embed/>
                </p:oleObj>
              </mc:Choice>
              <mc:Fallback>
                <p:oleObj name="文档" r:id="rId4" imgW="3837724" imgH="14437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1705058" cy="4403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022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230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错解的原因是把宽当成母线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沿着矩形的长卷成圆柱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没有考虑到也可以沿着矩形的宽卷成圆柱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解决此类问题一定要考虑全面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防范措施H.eps" descr="id:214750076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727919"/>
            <a:ext cx="2259558" cy="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259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801848"/>
              </p:ext>
            </p:extLst>
          </p:nvPr>
        </p:nvGraphicFramePr>
        <p:xfrm>
          <a:off x="504453" y="1076451"/>
          <a:ext cx="11705058" cy="192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8" name="文档" r:id="rId4" imgW="3837724" imgH="631005" progId="Word.Document.12">
                  <p:embed/>
                </p:oleObj>
              </mc:Choice>
              <mc:Fallback>
                <p:oleObj name="文档" r:id="rId4" imgW="3837724" imgH="6310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76451"/>
                        <a:ext cx="11705058" cy="1924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37687"/>
              </p:ext>
            </p:extLst>
          </p:nvPr>
        </p:nvGraphicFramePr>
        <p:xfrm>
          <a:off x="504453" y="3073024"/>
          <a:ext cx="11705058" cy="125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9" name="文档" r:id="rId7" imgW="3837724" imgH="412136" progId="Word.Document.12">
                  <p:embed/>
                </p:oleObj>
              </mc:Choice>
              <mc:Fallback>
                <p:oleObj name="文档" r:id="rId7" imgW="3837724" imgH="412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073024"/>
                        <a:ext cx="11705058" cy="125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91446" y="436685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886410"/>
              </p:ext>
            </p:extLst>
          </p:nvPr>
        </p:nvGraphicFramePr>
        <p:xfrm>
          <a:off x="422613" y="981395"/>
          <a:ext cx="10640962" cy="1489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文档" r:id="rId4" imgW="3837724" imgH="537256" progId="Word.Document.12">
                  <p:embed/>
                </p:oleObj>
              </mc:Choice>
              <mc:Fallback>
                <p:oleObj name="文档" r:id="rId4" imgW="3837724" imgH="5372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981395"/>
                        <a:ext cx="10640962" cy="1489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734210"/>
              </p:ext>
            </p:extLst>
          </p:nvPr>
        </p:nvGraphicFramePr>
        <p:xfrm>
          <a:off x="418725" y="2565571"/>
          <a:ext cx="11705058" cy="2229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文档" r:id="rId7" imgW="3837724" imgH="730884" progId="Word.Document.12">
                  <p:embed/>
                </p:oleObj>
              </mc:Choice>
              <mc:Fallback>
                <p:oleObj name="文档" r:id="rId7" imgW="3837724" imgH="7308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8725" y="2565571"/>
                        <a:ext cx="11705058" cy="2229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52118" y="485124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071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279676" y="9854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已知棱长为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的正方体的体积与球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的体积相等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714567"/>
              </p:ext>
            </p:extLst>
          </p:nvPr>
        </p:nvGraphicFramePr>
        <p:xfrm>
          <a:off x="363187" y="2222788"/>
          <a:ext cx="11705058" cy="9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文档" r:id="rId4" imgW="3837724" imgH="326320" progId="Word.Document.12">
                  <p:embed/>
                </p:oleObj>
              </mc:Choice>
              <mc:Fallback>
                <p:oleObj name="文档" r:id="rId4" imgW="3837724" imgH="326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3187" y="2222788"/>
                        <a:ext cx="11705058" cy="995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903795"/>
              </p:ext>
            </p:extLst>
          </p:nvPr>
        </p:nvGraphicFramePr>
        <p:xfrm>
          <a:off x="392683" y="3344775"/>
          <a:ext cx="11705058" cy="9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name="文档" r:id="rId7" imgW="3837724" imgH="326320" progId="Word.Document.12">
                  <p:embed/>
                </p:oleObj>
              </mc:Choice>
              <mc:Fallback>
                <p:oleObj name="文档" r:id="rId7" imgW="3837724" imgH="326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683" y="3344775"/>
                        <a:ext cx="11705058" cy="995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318761" y="434005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0143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4308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已知一圆台上底面的半径为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下底面的半径为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截得此圆台的圆锥的高为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则此圆台的体积为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274823"/>
              </p:ext>
            </p:extLst>
          </p:nvPr>
        </p:nvGraphicFramePr>
        <p:xfrm>
          <a:off x="430213" y="2281130"/>
          <a:ext cx="11709400" cy="211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文档" r:id="rId4" imgW="3837724" imgH="694466" progId="Word.Document.12">
                  <p:embed/>
                </p:oleObj>
              </mc:Choice>
              <mc:Fallback>
                <p:oleObj name="文档" r:id="rId4" imgW="3837724" imgH="6944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281130"/>
                        <a:ext cx="11709400" cy="2112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21N63.eps" descr="id:214750078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425333" y="2404737"/>
            <a:ext cx="2232248" cy="2310717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662282"/>
              </p:ext>
            </p:extLst>
          </p:nvPr>
        </p:nvGraphicFramePr>
        <p:xfrm>
          <a:off x="502818" y="4394092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文档" r:id="rId8" imgW="3837724" imgH="238700" progId="Word.Document.12">
                  <p:embed/>
                </p:oleObj>
              </mc:Choice>
              <mc:Fallback>
                <p:oleObj name="文档" r:id="rId8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2818" y="4394092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012661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6460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已知正四棱柱的底面边长为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个顶点都在一个球的球面上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则该球的表面积是多少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562691"/>
              </p:ext>
            </p:extLst>
          </p:nvPr>
        </p:nvGraphicFramePr>
        <p:xfrm>
          <a:off x="445461" y="2856490"/>
          <a:ext cx="11705058" cy="1319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文档" r:id="rId4" imgW="3837724" imgH="432689" progId="Word.Document.12">
                  <p:embed/>
                </p:oleObj>
              </mc:Choice>
              <mc:Fallback>
                <p:oleObj name="文档" r:id="rId4" imgW="3837724" imgH="4326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461" y="2856490"/>
                        <a:ext cx="11705058" cy="1319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97087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223</TotalTime>
  <Words>1663</Words>
  <Application>Microsoft Office PowerPoint</Application>
  <PresentationFormat>自定义</PresentationFormat>
  <Paragraphs>101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36</cp:revision>
  <dcterms:created xsi:type="dcterms:W3CDTF">2020-09-12T05:36:12Z</dcterms:created>
  <dcterms:modified xsi:type="dcterms:W3CDTF">2025-09-04T06:24:42Z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