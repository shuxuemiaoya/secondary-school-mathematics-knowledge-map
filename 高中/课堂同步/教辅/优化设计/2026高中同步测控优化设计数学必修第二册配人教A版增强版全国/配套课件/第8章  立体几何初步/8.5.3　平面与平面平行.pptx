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7"/>
  </p:notesMasterIdLst>
  <p:sldIdLst>
    <p:sldId id="731" r:id="rId2"/>
    <p:sldId id="753" r:id="rId3"/>
    <p:sldId id="736" r:id="rId4"/>
    <p:sldId id="744" r:id="rId5"/>
    <p:sldId id="746" r:id="rId6"/>
    <p:sldId id="749" r:id="rId7"/>
    <p:sldId id="786" r:id="rId8"/>
    <p:sldId id="757" r:id="rId9"/>
    <p:sldId id="758" r:id="rId10"/>
    <p:sldId id="759" r:id="rId11"/>
    <p:sldId id="760" r:id="rId12"/>
    <p:sldId id="761" r:id="rId13"/>
    <p:sldId id="762" r:id="rId14"/>
    <p:sldId id="763" r:id="rId15"/>
    <p:sldId id="764" r:id="rId16"/>
    <p:sldId id="765" r:id="rId17"/>
    <p:sldId id="766" r:id="rId18"/>
    <p:sldId id="737" r:id="rId19"/>
    <p:sldId id="750" r:id="rId20"/>
    <p:sldId id="767" r:id="rId21"/>
    <p:sldId id="768" r:id="rId22"/>
    <p:sldId id="769" r:id="rId23"/>
    <p:sldId id="770" r:id="rId24"/>
    <p:sldId id="754" r:id="rId25"/>
    <p:sldId id="771" r:id="rId26"/>
    <p:sldId id="772" r:id="rId27"/>
    <p:sldId id="773" r:id="rId28"/>
    <p:sldId id="755" r:id="rId29"/>
    <p:sldId id="774" r:id="rId30"/>
    <p:sldId id="776" r:id="rId31"/>
    <p:sldId id="775" r:id="rId32"/>
    <p:sldId id="777" r:id="rId33"/>
    <p:sldId id="778" r:id="rId34"/>
    <p:sldId id="779" r:id="rId35"/>
    <p:sldId id="747" r:id="rId36"/>
    <p:sldId id="751" r:id="rId37"/>
    <p:sldId id="780" r:id="rId38"/>
    <p:sldId id="781" r:id="rId39"/>
    <p:sldId id="748" r:id="rId40"/>
    <p:sldId id="752" r:id="rId41"/>
    <p:sldId id="782" r:id="rId42"/>
    <p:sldId id="783" r:id="rId43"/>
    <p:sldId id="784" r:id="rId44"/>
    <p:sldId id="785" r:id="rId45"/>
    <p:sldId id="735" r:id="rId46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591" autoAdjust="0"/>
  </p:normalViewPr>
  <p:slideViewPr>
    <p:cSldViewPr>
      <p:cViewPr varScale="1">
        <p:scale>
          <a:sx n="97" d="100"/>
          <a:sy n="97" d="100"/>
        </p:scale>
        <p:origin x="504" y="78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45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audio" Target="../media/audio1.wav"/><Relationship Id="rId5" Type="http://schemas.openxmlformats.org/officeDocument/2006/relationships/slideLayout" Target="../slideLayouts/slideLayout5.xml"/><Relationship Id="rId10" Type="http://schemas.openxmlformats.org/officeDocument/2006/relationships/slide" Target="../slides/slide4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0" action="ppaction://hlinksldjump">
              <a:snd r:embed="rId11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5.xml"/><Relationship Id="rId1" Type="http://schemas.openxmlformats.org/officeDocument/2006/relationships/slideLayout" Target="../slideLayouts/slideLayout3.xml"/><Relationship Id="rId6" Type="http://schemas.openxmlformats.org/officeDocument/2006/relationships/slide" Target="slide39.xml"/><Relationship Id="rId5" Type="http://schemas.openxmlformats.org/officeDocument/2006/relationships/slide" Target="slide35.xml"/><Relationship Id="rId4" Type="http://schemas.openxmlformats.org/officeDocument/2006/relationships/slide" Target="slide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__1.docx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2.doc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8.emf"/><Relationship Id="rId4" Type="http://schemas.openxmlformats.org/officeDocument/2006/relationships/package" Target="../embeddings/Microsoft_Word___3.docx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slide" Target="slide19.xml"/><Relationship Id="rId1" Type="http://schemas.openxmlformats.org/officeDocument/2006/relationships/slideLayout" Target="../slideLayouts/slideLayout4.xml"/><Relationship Id="rId4" Type="http://schemas.openxmlformats.org/officeDocument/2006/relationships/slide" Target="slide2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20.emf"/><Relationship Id="rId5" Type="http://schemas.openxmlformats.org/officeDocument/2006/relationships/package" Target="../embeddings/Microsoft_Word___4.docx"/><Relationship Id="rId4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5.docx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287649"/>
            <a:ext cx="10807700" cy="10964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6000" i="1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平面与平面平行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360437" y="1610086"/>
            <a:ext cx="10729192" cy="3142169"/>
            <a:chOff x="360437" y="1610086"/>
            <a:chExt cx="10729192" cy="3142169"/>
          </a:xfrm>
        </p:grpSpPr>
        <p:grpSp>
          <p:nvGrpSpPr>
            <p:cNvPr id="13" name="组合 12"/>
            <p:cNvGrpSpPr/>
            <p:nvPr/>
          </p:nvGrpSpPr>
          <p:grpSpPr>
            <a:xfrm>
              <a:off x="360437" y="1610086"/>
              <a:ext cx="10729192" cy="3142169"/>
              <a:chOff x="360437" y="2070785"/>
              <a:chExt cx="10729192" cy="2146144"/>
            </a:xfrm>
          </p:grpSpPr>
          <p:sp>
            <p:nvSpPr>
              <p:cNvPr id="2" name="圆角矩形 1"/>
              <p:cNvSpPr/>
              <p:nvPr/>
            </p:nvSpPr>
            <p:spPr>
              <a:xfrm>
                <a:off x="360437" y="2070785"/>
                <a:ext cx="10729192" cy="2146144"/>
              </a:xfrm>
              <a:prstGeom prst="roundRect">
                <a:avLst/>
              </a:prstGeo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2448669" y="2104612"/>
                <a:ext cx="0" cy="2056720"/>
              </a:xfrm>
              <a:prstGeom prst="line">
                <a:avLst/>
              </a:prstGeom>
            </p:spPr>
            <p:style>
              <a:lnRef idx="3">
                <a:schemeClr val="accent4"/>
              </a:lnRef>
              <a:fillRef idx="0">
                <a:schemeClr val="accent4"/>
              </a:fillRef>
              <a:effectRef idx="2">
                <a:schemeClr val="accent4"/>
              </a:effectRef>
              <a:fontRef idx="minor">
                <a:schemeClr val="tx1"/>
              </a:fontRef>
            </p:style>
          </p:cxnSp>
        </p:grpSp>
        <p:sp>
          <p:nvSpPr>
            <p:cNvPr id="14" name="矩形 13"/>
            <p:cNvSpPr>
              <a:spLocks noChangeAspect="1"/>
            </p:cNvSpPr>
            <p:nvPr/>
          </p:nvSpPr>
          <p:spPr>
            <a:xfrm>
              <a:off x="360437" y="2447999"/>
              <a:ext cx="2086719" cy="119571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课标定位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 algn="ctr"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素养阐释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15" name="矩形 14"/>
            <p:cNvSpPr>
              <a:spLocks noChangeAspect="1"/>
            </p:cNvSpPr>
            <p:nvPr/>
          </p:nvSpPr>
          <p:spPr>
            <a:xfrm>
              <a:off x="2552207" y="1679981"/>
              <a:ext cx="8496944" cy="29904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探究并理解平面与平面平行的判定定理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理解并掌握平面与平面平行的性质定理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能准确使用数学符号语言、文字语言和图形语言表达平面与平面平行的判定定理及性质定理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并能运用这些定理进行逻辑推理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0740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50378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导学</a:t>
            </a: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1871935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</a:t>
            </a:r>
            <a:r>
              <a:rPr lang="zh-CN" altLang="zh-CN" sz="44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解惑</a:t>
            </a:r>
          </a:p>
        </p:txBody>
      </p:sp>
      <p:sp>
        <p:nvSpPr>
          <p:cNvPr id="7" name="图文框 6">
            <a:hlinkClick r:id="rId5" action="ppaction://hlinksldjump">
              <a:snd r:embed="rId3" name="chimes.wav"/>
            </a:hlinkClick>
          </p:cNvPr>
          <p:cNvSpPr/>
          <p:nvPr/>
        </p:nvSpPr>
        <p:spPr>
          <a:xfrm>
            <a:off x="1728589" y="3279437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8" name="图文框 7">
            <a:hlinkClick r:id="rId6" action="ppaction://hlinksldjump">
              <a:snd r:embed="rId3" name="chimes.wav"/>
            </a:hlinkClick>
          </p:cNvPr>
          <p:cNvSpPr/>
          <p:nvPr/>
        </p:nvSpPr>
        <p:spPr>
          <a:xfrm>
            <a:off x="1728589" y="4647589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自主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预习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新知导学</a:t>
            </a: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361950" y="1228856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一、平面与平面平行的判定定理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三角板的一条边所在直线与平面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这个三角板所在平面与平面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三角板的两条边所在直线分别与平面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这个三角板所在平面与平面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5173886"/>
              </p:ext>
            </p:extLst>
          </p:nvPr>
        </p:nvGraphicFramePr>
        <p:xfrm>
          <a:off x="-382904" y="1842439"/>
          <a:ext cx="12038765" cy="408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5" name="文档" r:id="rId4" imgW="3947136" imgH="1340254" progId="Word.Document.12">
                  <p:embed/>
                </p:oleObj>
              </mc:Choice>
              <mc:Fallback>
                <p:oleObj name="文档" r:id="rId4" imgW="3947136" imgH="13402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382904" y="1842439"/>
                        <a:ext cx="12038765" cy="4082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762989" y="3347578"/>
            <a:ext cx="244715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7524418" y="3510774"/>
            <a:ext cx="1519491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456550" y="4050625"/>
            <a:ext cx="93610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7462088" y="4624699"/>
            <a:ext cx="1029714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079847"/>
            <a:ext cx="5538696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平面与平面平行的判定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562013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81983"/>
            <a:ext cx="10807700" cy="537179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一个平面内两条直线都平行于另一平面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那么这两个平面平行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如果一个平面内任何一条直线都平行于另一个平面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那么这两个平面平行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平行于同一直线的两个平面一定相互平行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如果一个平面内的无数多条直线都平行于另一平面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那么这两个平面平行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74201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27919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二、平面与平面平行的性质定理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教室天花板所在平面与地面所在平面平行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黑板所在平面与两平面分别相交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它们的交线是什么位置关系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629280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259683"/>
            <a:ext cx="10807700" cy="683264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与平面平行的性质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zh-CN" altLang="en-US" dirty="0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4798165"/>
              </p:ext>
            </p:extLst>
          </p:nvPr>
        </p:nvGraphicFramePr>
        <p:xfrm>
          <a:off x="-105356" y="1942678"/>
          <a:ext cx="11833225" cy="424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5" name="文档" r:id="rId4" imgW="3894589" imgH="1399388" progId="Word.Document.12">
                  <p:embed/>
                </p:oleObj>
              </mc:Choice>
              <mc:Fallback>
                <p:oleObj name="文档" r:id="rId4" imgW="3894589" imgH="13993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05356" y="1942678"/>
                        <a:ext cx="11833225" cy="4249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/>
          <p:nvPr/>
        </p:nvSpPr>
        <p:spPr>
          <a:xfrm>
            <a:off x="3640088" y="3507741"/>
            <a:ext cx="76665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376661" y="4030545"/>
            <a:ext cx="843325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7790277" y="3411033"/>
            <a:ext cx="1555200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7790277" y="4022155"/>
            <a:ext cx="1555200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3185586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87525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过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的顶点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的平面与底面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所在的平面的交线为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的位置关系是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B=l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34874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720134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方正正中黑简体"/>
                <a:cs typeface="Times New Roman" panose="02020603050405020304" pitchFamily="18" charset="0"/>
              </a:rPr>
              <a:t>三、直线与平面、平面与平面之间位置关系的相互转化</a:t>
            </a:r>
            <a:endParaRPr lang="zh-CN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证明两个平面平行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一般先从什么证起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要证明两个平面平行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先证明线线平行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再证明线面平行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最后证明面面平行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72736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70651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直线与直线平行可以判定直线与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由直线与平面平行的性质可以得到直线与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由直线与平面平行可以判定平面与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由平面与平面平行的定义及性质可以得到直线与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平行、直线与</a:t>
            </a:r>
            <a:r>
              <a:rPr lang="zh-CN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这种直线、平面之间位置关系的相互转化是立体几何中的重要思想方法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VMG2TRA85.eps" descr="id:214749057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04453" y="3889491"/>
            <a:ext cx="10449173" cy="1736692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895429" y="925073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/>
          <p:cNvCxnSpPr/>
          <p:nvPr/>
        </p:nvCxnSpPr>
        <p:spPr>
          <a:xfrm>
            <a:off x="6890839" y="1389171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775459" y="151189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直接连接符 7"/>
          <p:cNvCxnSpPr/>
          <p:nvPr/>
        </p:nvCxnSpPr>
        <p:spPr>
          <a:xfrm>
            <a:off x="5770869" y="197599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327187" y="210947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/>
          <p:cNvCxnSpPr/>
          <p:nvPr/>
        </p:nvCxnSpPr>
        <p:spPr>
          <a:xfrm>
            <a:off x="3322597" y="257357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344113" y="271451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" name="直接连接符 11"/>
          <p:cNvCxnSpPr/>
          <p:nvPr/>
        </p:nvCxnSpPr>
        <p:spPr>
          <a:xfrm>
            <a:off x="3339523" y="317861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矩形 12"/>
          <p:cNvSpPr/>
          <p:nvPr/>
        </p:nvSpPr>
        <p:spPr>
          <a:xfrm>
            <a:off x="6586648" y="2685342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/>
          <p:cNvCxnSpPr/>
          <p:nvPr/>
        </p:nvCxnSpPr>
        <p:spPr>
          <a:xfrm>
            <a:off x="6582058" y="3149440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428259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8578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在棱长为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的长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VMG2TRA86.eps" descr="id:2147490584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049069" y="2073679"/>
            <a:ext cx="3384376" cy="3339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3550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73919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由题意知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经过点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PQ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VMG2TRA87.eps" descr="id:214749059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176861" y="1137337"/>
            <a:ext cx="2520280" cy="2486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8801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667463"/>
            <a:ext cx="11807799" cy="5609119"/>
            <a:chOff x="361950" y="1161687"/>
            <a:chExt cx="11807799" cy="5609119"/>
          </a:xfrm>
        </p:grpSpPr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957903851"/>
                </p:ext>
              </p:extLst>
            </p:nvPr>
          </p:nvGraphicFramePr>
          <p:xfrm>
            <a:off x="497790" y="1161687"/>
            <a:ext cx="11671959" cy="78919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9" name="文档" r:id="rId4" imgW="3826872" imgH="258753" progId="Word.Document.12">
                    <p:embed/>
                  </p:oleObj>
                </mc:Choice>
                <mc:Fallback>
                  <p:oleObj name="文档" r:id="rId4" imgW="3826872" imgH="25875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97790" y="1161687"/>
                          <a:ext cx="11671959" cy="78919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007579"/>
              <a:ext cx="10807700" cy="476322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dirty="0" smtClean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⊄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同理可证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内两条相交直线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EE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EF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82269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69071"/>
            <a:ext cx="10807700" cy="491096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错误的画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一个平面内两条相交直线与另一个平面内的两条相交直线分别平行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则这两个平面平行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若两个平面都与第三个平面平行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则这三个平面平行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若两个平面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内的直线与平面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内所有直线要么异面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要么平行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09109" y="3353139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441557" y="3932510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3456781" y="5113614"/>
            <a:ext cx="432759" cy="420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96662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合作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探究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释疑解惑</a:t>
            </a:r>
          </a:p>
        </p:txBody>
      </p:sp>
      <p:sp>
        <p:nvSpPr>
          <p:cNvPr id="3" name="圆角矩形 2">
            <a:hlinkClick r:id="rId2" action="ppaction://hlinksldjump"/>
          </p:cNvPr>
          <p:cNvSpPr/>
          <p:nvPr/>
        </p:nvSpPr>
        <p:spPr>
          <a:xfrm>
            <a:off x="20166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/>
              <a:t>探究一</a:t>
            </a:r>
            <a:endParaRPr lang="zh-CN" altLang="en-US" sz="2400"/>
          </a:p>
        </p:txBody>
      </p:sp>
      <p:sp>
        <p:nvSpPr>
          <p:cNvPr id="4" name="圆角矩形 3">
            <a:hlinkClick r:id="rId3" action="ppaction://hlinksldjump"/>
          </p:cNvPr>
          <p:cNvSpPr/>
          <p:nvPr/>
        </p:nvSpPr>
        <p:spPr>
          <a:xfrm>
            <a:off x="38168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二</a:t>
            </a:r>
            <a:endParaRPr lang="zh-CN" altLang="en-US" sz="2400" dirty="0"/>
          </a:p>
        </p:txBody>
      </p:sp>
      <p:sp>
        <p:nvSpPr>
          <p:cNvPr id="5" name="圆角矩形 4">
            <a:hlinkClick r:id="rId4" action="ppaction://hlinksldjump"/>
          </p:cNvPr>
          <p:cNvSpPr/>
          <p:nvPr/>
        </p:nvSpPr>
        <p:spPr>
          <a:xfrm>
            <a:off x="5617021" y="4392215"/>
            <a:ext cx="1440160" cy="432048"/>
          </a:xfrm>
          <a:prstGeom prst="roundRect">
            <a:avLst/>
          </a:prstGeom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400" dirty="0" smtClean="0"/>
              <a:t>探究</a:t>
            </a:r>
            <a:r>
              <a:rPr lang="zh-CN" altLang="en-US" sz="2400" dirty="0" smtClean="0"/>
              <a:t>三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2963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一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与平面平行的判定定理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289942" y="1377711"/>
            <a:ext cx="10943703" cy="18651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已知四棱锥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P-ABCD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MA=BN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ND=PQ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VMG2TRA88.eps" descr="id:214749061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816821" y="3177911"/>
            <a:ext cx="3240360" cy="2945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536463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PM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MA=BN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ND=PQ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∶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BP.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BP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NQ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MQ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NQ=Q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根据平面与平面平行的判定定理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PBC.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957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反思感悟H.eps" descr="id:2147490797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61950" y="724115"/>
            <a:ext cx="2259558" cy="531552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1245225"/>
            <a:ext cx="10807700" cy="62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利用平面与平面平行的判定定理证明两个平面平行的步骤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21C21.eps" descr="id:2147501977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2880717" y="1854078"/>
            <a:ext cx="5472608" cy="3381888"/>
          </a:xfrm>
          <a:prstGeom prst="rect">
            <a:avLst/>
          </a:prstGeom>
        </p:spPr>
      </p:pic>
      <p:sp>
        <p:nvSpPr>
          <p:cNvPr id="7" name="矩形 6"/>
          <p:cNvSpPr>
            <a:spLocks noChangeAspect="1"/>
          </p:cNvSpPr>
          <p:nvPr/>
        </p:nvSpPr>
        <p:spPr>
          <a:xfrm>
            <a:off x="361950" y="5233310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面面平行的判定定理充分体现了等价转化思想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即把面面平行转化为线面平行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451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739471"/>
            <a:ext cx="10807700" cy="541071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i="1" dirty="0" smtClean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6" name="VMG2TRA89.eps" descr="id:2147490626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888829" y="1901431"/>
            <a:ext cx="3096344" cy="305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518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05862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分别是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SD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FG=G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VMG2TRA90.eps" descr="id:2147490633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561237" y="1223863"/>
            <a:ext cx="3024336" cy="302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49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19807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二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与平面平行的判定定理的运用</a:t>
            </a:r>
          </a:p>
        </p:txBody>
      </p:sp>
      <p:sp>
        <p:nvSpPr>
          <p:cNvPr id="5" name="矩形 4"/>
          <p:cNvSpPr>
            <a:spLocks noChangeAspect="1"/>
          </p:cNvSpPr>
          <p:nvPr/>
        </p:nvSpPr>
        <p:spPr>
          <a:xfrm>
            <a:off x="361950" y="1335199"/>
            <a:ext cx="10807700" cy="180857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为底面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上的点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Q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在什么位置时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BQ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PAO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并说明理由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VMG2TRA91.eps" descr="id:214750200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3816821" y="3153603"/>
            <a:ext cx="3168352" cy="3126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9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1950" y="523447"/>
            <a:ext cx="10807700" cy="6001643"/>
            <a:chOff x="361950" y="523447"/>
            <a:chExt cx="10807700" cy="6001643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523447"/>
              <a:ext cx="10807700" cy="600164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BQ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PAO.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理由如下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PQ.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PQ     DC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DC     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PQ     AB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ABQP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为平行四边形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PAO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QB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⊄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PAO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BQ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PAO.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连接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经过点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且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O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的中点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PO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PO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PAO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⊄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PAO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PAO.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BQ=B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BQ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BQ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i="1" dirty="0" smtClean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BQ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PAO.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7" name="图片 6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7263373" y="1819591"/>
              <a:ext cx="432048" cy="391692"/>
            </a:xfrm>
            <a:prstGeom prst="rect">
              <a:avLst/>
            </a:prstGeom>
          </p:spPr>
        </p:pic>
        <p:pic>
          <p:nvPicPr>
            <p:cNvPr id="8" name="图片 7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1440557" y="2383667"/>
              <a:ext cx="432048" cy="391692"/>
            </a:xfrm>
            <a:prstGeom prst="rect">
              <a:avLst/>
            </a:prstGeom>
          </p:spPr>
        </p:pic>
        <p:pic>
          <p:nvPicPr>
            <p:cNvPr id="9" name="图片 8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528789" y="2393499"/>
              <a:ext cx="432048" cy="391692"/>
            </a:xfrm>
            <a:prstGeom prst="rect">
              <a:avLst/>
            </a:prstGeom>
          </p:spPr>
        </p:pic>
      </p:grpSp>
      <p:pic>
        <p:nvPicPr>
          <p:cNvPr id="11" name="21C49.eps" descr="id:2147502012;FounderCES"/>
          <p:cNvPicPr/>
          <p:nvPr/>
        </p:nvPicPr>
        <p:blipFill>
          <a:blip r:embed="rId3"/>
          <a:stretch>
            <a:fillRect/>
          </a:stretch>
        </p:blipFill>
        <p:spPr>
          <a:xfrm>
            <a:off x="8569349" y="1171519"/>
            <a:ext cx="2448272" cy="2289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06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延伸探究H.eps" descr="id:214749083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4317062" y="876839"/>
            <a:ext cx="2524095" cy="460328"/>
          </a:xfrm>
          <a:prstGeom prst="rect">
            <a:avLst/>
          </a:prstGeom>
        </p:spPr>
      </p:pic>
      <p:sp>
        <p:nvSpPr>
          <p:cNvPr id="2" name="矩形 1"/>
          <p:cNvSpPr>
            <a:spLocks noChangeAspect="1"/>
          </p:cNvSpPr>
          <p:nvPr/>
        </p:nvSpPr>
        <p:spPr>
          <a:xfrm>
            <a:off x="361950" y="1394895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若将本例改为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分别是棱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EFGH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及其内部运动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则当点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满足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请填空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PN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易证平面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FHNP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故只要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即可保证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MN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FH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43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1439887"/>
            <a:ext cx="10807700" cy="3020028"/>
            <a:chOff x="361950" y="940139"/>
            <a:chExt cx="10807700" cy="3020028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560664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平面与平面平行的判定定理的综合运用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注意运用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“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线在面中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面中有线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”;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有中点条件时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常构造平行四边形、三角形中位线等找平行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或先猜想、尝试线面平行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线线平行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再来论证结论正确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5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940139"/>
              <a:ext cx="2259558" cy="53155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5551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燕尾形 2"/>
          <p:cNvSpPr/>
          <p:nvPr/>
        </p:nvSpPr>
        <p:spPr>
          <a:xfrm>
            <a:off x="1239655" y="729639"/>
            <a:ext cx="862583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探究</a:t>
            </a:r>
            <a:r>
              <a:rPr lang="zh-CN" altLang="zh-CN" dirty="0" smtClean="0"/>
              <a:t>三</a:t>
            </a:r>
            <a:r>
              <a:rPr lang="en-US" altLang="zh-CN" dirty="0" smtClean="0"/>
              <a:t>  </a:t>
            </a:r>
            <a:r>
              <a:rPr lang="zh-CN" altLang="zh-CN" dirty="0" smtClean="0"/>
              <a:t>平面</a:t>
            </a:r>
            <a:r>
              <a:rPr lang="zh-CN" altLang="zh-CN" dirty="0"/>
              <a:t>与平面平行的性质定理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359269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试找出体对角线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E=EF=FC.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VMG2TRA92.eps" descr="id:2147490675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6913165" y="1973439"/>
            <a:ext cx="2952328" cy="2913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60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361950" y="1002175"/>
            <a:ext cx="10807700" cy="4228850"/>
            <a:chOff x="361950" y="1002175"/>
            <a:chExt cx="10807700" cy="4228850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002175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因为在正方体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ABCD-A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中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AD    B</a:t>
              </a:r>
              <a:r>
                <a:rPr lang="en-US" altLang="zh-CN" baseline="-25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四边形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是平行四边形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又因为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⊄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同理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NEU-BZ-S92"/>
                  <a:cs typeface="Times New Roman" panose="02020603050405020304" pitchFamily="18" charset="0"/>
                </a:rPr>
                <a:t>⊂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</a:t>
              </a:r>
              <a:r>
                <a:rPr lang="en-US" altLang="zh-CN" baseline="-25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BD.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" name="图片 2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8323829" y="1191183"/>
              <a:ext cx="336142" cy="3047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3055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806402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如图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的交线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en-US" altLang="zh-CN" i="1" dirty="0">
              <a:solidFill>
                <a:srgbClr val="000000"/>
              </a:solidFill>
              <a:latin typeface="NEU-BZ-S9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就是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VMG2TRA93.eps" descr="id:2147490682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705253" y="1536314"/>
            <a:ext cx="2880320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4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906335"/>
            <a:ext cx="10807700" cy="481978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下面证明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E=EF=FC.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=EO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BD=C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宋体" panose="02010600030101010101" pitchFamily="2" charset="-122"/>
                <a:cs typeface="Cambria Math" panose="02040503050406030204" pitchFamily="18" charset="0"/>
              </a:rPr>
              <a:t>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E=EF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OF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CE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的中点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CF=FE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E=EF=FC.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490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672647"/>
            <a:ext cx="10807700" cy="5835501"/>
            <a:chOff x="361950" y="672647"/>
            <a:chExt cx="10807700" cy="5835501"/>
          </a:xfrm>
        </p:grpSpPr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1073199"/>
              <a:ext cx="10807700" cy="5434949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面面平行的性质定理的注意事项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定理的条件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两平面平行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第三个平面与这两个平面均相交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定理的实质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面面平行转化为线线平行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体现了转化思想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可实现线面、线线、面面平行间的相互转化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面面平行的性质定理的几个推论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两个平面平行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其中一个平面内的任意一条直线平行于另一个平面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夹在两平行平面间的平行线段相等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经过平面外的一点有且只有一个平面与已知平面平行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ts val="42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两条直线被三个平行平面所截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截得的对应线段成比例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3" name="反思感悟H.eps" descr="id:214749079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81614" y="672647"/>
              <a:ext cx="2086719" cy="4908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1083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687127"/>
            <a:ext cx="11742454" cy="5497791"/>
            <a:chOff x="361950" y="647799"/>
            <a:chExt cx="11742454" cy="5497791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647799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【变式训练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cs typeface="Times New Roman" panose="02020603050405020304" pitchFamily="18" charset="0"/>
                </a:rPr>
                <a:t>】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Arial" panose="020B0604020202020204" pitchFamily="34" charset="0"/>
                  <a:cs typeface="Times New Roman" panose="02020603050405020304" pitchFamily="18" charset="0"/>
                </a:rPr>
                <a:t> 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所在平面外一点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分别交线段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PC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于点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B'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C'.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VMG2TRA94.eps" descr="id:2147490696;FounderCES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3779157" y="1865440"/>
              <a:ext cx="3638064" cy="3246855"/>
            </a:xfrm>
            <a:prstGeom prst="rect">
              <a:avLst/>
            </a:prstGeom>
          </p:spPr>
        </p:pic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9044411"/>
                </p:ext>
              </p:extLst>
            </p:nvPr>
          </p:nvGraphicFramePr>
          <p:xfrm>
            <a:off x="432445" y="5184303"/>
            <a:ext cx="11671959" cy="961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2" name="文档" r:id="rId5" imgW="3826872" imgH="315176" progId="Word.Document.12">
                    <p:embed/>
                  </p:oleObj>
                </mc:Choice>
                <mc:Fallback>
                  <p:oleObj name="文档" r:id="rId5" imgW="3826872" imgH="31517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432445" y="5184303"/>
                          <a:ext cx="11671959" cy="9612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080845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361950" y="801647"/>
            <a:ext cx="11671959" cy="5112568"/>
            <a:chOff x="361950" y="647799"/>
            <a:chExt cx="11671959" cy="5112568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47799"/>
              <a:ext cx="10807700" cy="422885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Microsoft Yi Baiti" panose="03000500000000000000" pitchFamily="66" charset="0"/>
                  <a:cs typeface="Times New Roman" panose="02020603050405020304" pitchFamily="18" charset="0"/>
                </a:rPr>
                <a:t>α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=A'B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'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∩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平面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ABC=AB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A'B'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AB.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同理可证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B'C'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A'C'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AC.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B'A'C'=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BAC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A'B'C'=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∠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A'B'C'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∽</a:t>
              </a:r>
              <a:r>
                <a:rPr lang="en-US" altLang="zh-CN" dirty="0">
                  <a:solidFill>
                    <a:srgbClr val="000000"/>
                  </a:solidFill>
                  <a:latin typeface="Cambria Math" panose="02040503050406030204" pitchFamily="18" charset="0"/>
                  <a:ea typeface="宋体" panose="02010600030101010101" pitchFamily="2" charset="-122"/>
                  <a:cs typeface="Cambria Math" panose="02040503050406030204" pitchFamily="18" charset="0"/>
                </a:rPr>
                <a:t>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ABC.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∵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PA'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PA'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PA=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5,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A'B'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AB=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65907625"/>
                </p:ext>
              </p:extLst>
            </p:nvPr>
          </p:nvGraphicFramePr>
          <p:xfrm>
            <a:off x="361950" y="4799080"/>
            <a:ext cx="11671959" cy="961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136" name="文档" r:id="rId4" imgW="3826872" imgH="315176" progId="Word.Document.12">
                    <p:embed/>
                  </p:oleObj>
                </mc:Choice>
                <mc:Fallback>
                  <p:oleObj name="文档" r:id="rId4" imgW="3826872" imgH="31517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1950" y="4799080"/>
                          <a:ext cx="11671959" cy="96128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72273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思  想  方  法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61990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MG2TRA95.eps" descr="id:2147490710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7201197" y="2385823"/>
            <a:ext cx="2592288" cy="3428392"/>
          </a:xfrm>
          <a:prstGeom prst="rect">
            <a:avLst/>
          </a:prstGeom>
        </p:spPr>
      </p:pic>
      <p:sp>
        <p:nvSpPr>
          <p:cNvPr id="5" name="矩形 4"/>
          <p:cNvSpPr>
            <a:spLocks noChangeAspect="1"/>
          </p:cNvSpPr>
          <p:nvPr/>
        </p:nvSpPr>
        <p:spPr>
          <a:xfrm>
            <a:off x="361950" y="608471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转化与化归思想在解决立体几何平行关系中的应用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【典例】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</a:t>
            </a:r>
            <a:r>
              <a:rPr lang="zh-CN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两条异面直线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与三个平行平面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分别相交于点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的交点分别为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>
            <a:spLocks noChangeAspect="1"/>
          </p:cNvSpPr>
          <p:nvPr/>
        </p:nvSpPr>
        <p:spPr>
          <a:xfrm>
            <a:off x="361950" y="5190798"/>
            <a:ext cx="10807700" cy="127419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EHFG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审题</a:t>
            </a: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视角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面面平行的性质推线线平行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3944478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361950" y="3514950"/>
            <a:ext cx="10807700" cy="1813369"/>
            <a:chOff x="361950" y="1511895"/>
            <a:chExt cx="10807700" cy="1813369"/>
          </a:xfrm>
        </p:grpSpPr>
        <p:pic>
          <p:nvPicPr>
            <p:cNvPr id="5" name="方法点睛H.eps" descr="id:2147490717;FounderCES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361950" y="1511895"/>
              <a:ext cx="2259558" cy="531552"/>
            </a:xfrm>
            <a:prstGeom prst="rect">
              <a:avLst/>
            </a:prstGeom>
          </p:spPr>
        </p:pic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2107623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立体几何中常见的平行关系是线线平行、线面平行和面面平行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这三种平行关系不是孤立的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仿宋" panose="02010609060101010101" pitchFamily="49" charset="-122"/>
                  <a:cs typeface="Times New Roman" panose="02020603050405020304" pitchFamily="18" charset="0"/>
                </a:rPr>
                <a:t>而是相互联系、相互转化的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" name="矩形 2"/>
          <p:cNvSpPr>
            <a:spLocks noChangeAspect="1"/>
          </p:cNvSpPr>
          <p:nvPr/>
        </p:nvSpPr>
        <p:spPr>
          <a:xfrm>
            <a:off x="361950" y="1005172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证明</a:t>
            </a:r>
            <a:r>
              <a:rPr lang="en-US" altLang="zh-CN" dirty="0" smtClean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i="1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=AC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=EG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HF.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EG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HF.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FG.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EHFG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为平行四边形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2142612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272394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cs typeface="Times New Roman" panose="02020603050405020304" pitchFamily="18" charset="0"/>
              </a:rPr>
              <a:t>【变式训练】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已知平面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求证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证明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内取两条相交直线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分别过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作平面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φ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δ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使它们与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分别交于两相交直线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图略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b'.</a:t>
            </a:r>
            <a:endParaRPr lang="zh-CN" altLang="zh-CN" dirty="0">
              <a:solidFill>
                <a:srgbClr val="000000"/>
              </a:solidFill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又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同理在平面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内存在两相交直线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″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″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使得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a'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″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'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″</a:t>
            </a:r>
            <a:r>
              <a:rPr lang="en-US" altLang="zh-CN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方正书宋_GBK" panose="03000509000000000000" pitchFamily="65" charset="-122"/>
                <a:cs typeface="Times New Roman" panose="02020603050405020304" pitchFamily="18" charset="0"/>
              </a:rPr>
              <a:t>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Microsoft Yi Baiti" panose="03000500000000000000" pitchFamily="66" charset="0"/>
                <a:cs typeface="Times New Roman" panose="02020603050405020304" pitchFamily="18" charset="0"/>
              </a:rPr>
              <a:t>γ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9045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367879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随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堂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练</a:t>
            </a:r>
            <a:r>
              <a:rPr lang="en-US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zh-CN" sz="6600" dirty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习</a:t>
            </a:r>
          </a:p>
        </p:txBody>
      </p:sp>
    </p:spTree>
    <p:extLst>
      <p:ext uri="{BB962C8B-B14F-4D97-AF65-F5344CB8AC3E}">
        <p14:creationId xmlns:p14="http://schemas.microsoft.com/office/powerpoint/2010/main" val="407551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439887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的充要条件是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AD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CB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四点共面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40624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070015"/>
            <a:ext cx="10807700" cy="417229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下列说法正确的是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经过直线外一点有且只有一个平面与已知直线平行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经过两条平行线中一条有且只有一个平面与另一条直线平行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经过平面外一点有且只有一条直线与已知平面平行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经过平面外一点有且只有一个平面与已知平面平行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051988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70890"/>
            <a:ext cx="10807700" cy="358136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已知长方体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ABCD-A'B'C'D'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AC=EF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A'C'=E'F'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E'F'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的位置关系是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异面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不确定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A'C'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EF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E'F'.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6225525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46295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设直线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下列条件能得出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β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B.2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C.3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	D.0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en-US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l</a:t>
            </a:r>
            <a:r>
              <a:rPr lang="en-US" altLang="zh-CN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不一定相交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一个平面内有两条平行直线平行于另一个平面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这两个平面可能相交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③</a:t>
            </a:r>
            <a:r>
              <a:rPr lang="zh-CN" altLang="en-US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不能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两个平面可能相交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zh-CN" altLang="zh-CN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④</a:t>
            </a:r>
            <a:r>
              <a:rPr lang="zh-CN" altLang="en-US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能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2262022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03783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该几何体三个侧面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都是平行四边形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的位置关系是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因为侧面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是平行四边形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⊄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同理可证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又因为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∩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BC=B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BC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⊂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所以平面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ABC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∥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平面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平行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3" name="VMG2TRA195.eps" descr="id:2147490731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8353325" y="1757415"/>
            <a:ext cx="2160240" cy="281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77494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110</TotalTime>
  <Words>2141</Words>
  <Application>Microsoft Office PowerPoint</Application>
  <PresentationFormat>自定义</PresentationFormat>
  <Paragraphs>207</Paragraphs>
  <Slides>45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62" baseType="lpstr">
      <vt:lpstr>NEU-BZ-S92</vt:lpstr>
      <vt:lpstr>方正书宋_GBK</vt:lpstr>
      <vt:lpstr>方正正中黑简体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26</cp:revision>
  <dcterms:created xsi:type="dcterms:W3CDTF">2020-09-12T05:36:12Z</dcterms:created>
  <dcterms:modified xsi:type="dcterms:W3CDTF">2025-09-04T06:27:59Z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