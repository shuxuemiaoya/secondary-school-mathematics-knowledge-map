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731" r:id="rId2"/>
    <p:sldId id="753" r:id="rId3"/>
    <p:sldId id="736" r:id="rId4"/>
    <p:sldId id="744" r:id="rId5"/>
    <p:sldId id="746" r:id="rId6"/>
    <p:sldId id="749" r:id="rId7"/>
    <p:sldId id="756" r:id="rId8"/>
    <p:sldId id="757" r:id="rId9"/>
    <p:sldId id="783" r:id="rId10"/>
    <p:sldId id="758" r:id="rId11"/>
    <p:sldId id="784" r:id="rId12"/>
    <p:sldId id="759" r:id="rId13"/>
    <p:sldId id="761" r:id="rId14"/>
    <p:sldId id="762" r:id="rId15"/>
    <p:sldId id="763" r:id="rId16"/>
    <p:sldId id="764" r:id="rId17"/>
    <p:sldId id="765" r:id="rId18"/>
    <p:sldId id="766" r:id="rId19"/>
    <p:sldId id="767" r:id="rId20"/>
    <p:sldId id="768" r:id="rId21"/>
    <p:sldId id="769" r:id="rId22"/>
    <p:sldId id="737" r:id="rId23"/>
    <p:sldId id="750" r:id="rId24"/>
    <p:sldId id="770" r:id="rId25"/>
    <p:sldId id="771" r:id="rId26"/>
    <p:sldId id="772" r:id="rId27"/>
    <p:sldId id="754" r:id="rId28"/>
    <p:sldId id="773" r:id="rId29"/>
    <p:sldId id="774" r:id="rId30"/>
    <p:sldId id="785" r:id="rId31"/>
    <p:sldId id="786" r:id="rId32"/>
    <p:sldId id="755" r:id="rId33"/>
    <p:sldId id="787" r:id="rId34"/>
    <p:sldId id="788" r:id="rId35"/>
    <p:sldId id="789" r:id="rId36"/>
    <p:sldId id="775" r:id="rId37"/>
    <p:sldId id="790" r:id="rId38"/>
    <p:sldId id="776" r:id="rId39"/>
    <p:sldId id="791" r:id="rId40"/>
    <p:sldId id="747" r:id="rId41"/>
    <p:sldId id="751" r:id="rId42"/>
    <p:sldId id="777" r:id="rId43"/>
    <p:sldId id="778" r:id="rId44"/>
    <p:sldId id="779" r:id="rId45"/>
    <p:sldId id="748" r:id="rId46"/>
    <p:sldId id="752" r:id="rId47"/>
    <p:sldId id="780" r:id="rId48"/>
    <p:sldId id="781" r:id="rId49"/>
    <p:sldId id="782" r:id="rId50"/>
    <p:sldId id="735" r:id="rId51"/>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50</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package" Target="../embeddings/Microsoft_Word___1.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package" Target="../embeddings/Microsoft_Word___2.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3.xml"/><Relationship Id="rId1" Type="http://schemas.openxmlformats.org/officeDocument/2006/relationships/slideLayout" Target="../slideLayouts/slideLayout4.xml"/><Relationship Id="rId4" Type="http://schemas.openxmlformats.org/officeDocument/2006/relationships/slide" Target="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package" Target="../embeddings/Microsoft_Word___3.docx"/><Relationship Id="rId4"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18.emf"/><Relationship Id="rId4" Type="http://schemas.openxmlformats.org/officeDocument/2006/relationships/package" Target="../embeddings/Microsoft_Word___4.docx"/></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20.jpeg"/><Relationship Id="rId5" Type="http://schemas.openxmlformats.org/officeDocument/2006/relationships/image" Target="../media/image19.emf"/><Relationship Id="rId4" Type="http://schemas.openxmlformats.org/officeDocument/2006/relationships/package" Target="../embeddings/Microsoft_Word___5.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22.jpeg"/><Relationship Id="rId5" Type="http://schemas.openxmlformats.org/officeDocument/2006/relationships/image" Target="../media/image21.emf"/><Relationship Id="rId4" Type="http://schemas.openxmlformats.org/officeDocument/2006/relationships/package" Target="../embeddings/Microsoft_Word___6.docx"/></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27.emf"/><Relationship Id="rId4" Type="http://schemas.openxmlformats.org/officeDocument/2006/relationships/package" Target="../embeddings/Microsoft_Word___7.docx"/></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278597" y="1990353"/>
            <a:ext cx="11015711" cy="1865126"/>
          </a:xfrm>
          <a:prstGeom prst="rect">
            <a:avLst/>
          </a:prstGeom>
        </p:spPr>
        <p:txBody>
          <a:bodyPr wrap="square">
            <a:spAutoFit/>
          </a:bodyPr>
          <a:lstStyle/>
          <a:p>
            <a:pPr algn="ctr">
              <a:lnSpc>
                <a:spcPct val="120000"/>
              </a:lnSpc>
              <a:spcAft>
                <a:spcPts val="0"/>
              </a:spcAft>
              <a:tabLst>
                <a:tab pos="1029335" algn="l"/>
                <a:tab pos="1850390" algn="l"/>
                <a:tab pos="2538095" algn="l"/>
                <a:tab pos="3221990" algn="l"/>
              </a:tabLst>
            </a:pPr>
            <a:r>
              <a:rPr lang="en-US" altLang="zh-CN" sz="4800" dirty="0">
                <a:solidFill>
                  <a:srgbClr val="002060"/>
                </a:solidFill>
                <a:ea typeface="宋体" panose="02010600030101010101" pitchFamily="2" charset="-122"/>
                <a:cs typeface="Times New Roman" panose="02020603050405020304" pitchFamily="18" charset="0"/>
              </a:rPr>
              <a:t>8.1</a:t>
            </a:r>
            <a:r>
              <a:rPr lang="zh-CN" altLang="zh-CN" sz="4800" dirty="0">
                <a:solidFill>
                  <a:srgbClr val="002060"/>
                </a:solidFill>
                <a:ea typeface="宋体" panose="02010600030101010101" pitchFamily="2" charset="-122"/>
                <a:cs typeface="Times New Roman" panose="02020603050405020304" pitchFamily="18" charset="0"/>
              </a:rPr>
              <a:t>　</a:t>
            </a:r>
            <a:r>
              <a:rPr lang="zh-CN" altLang="zh-CN" sz="4800" dirty="0">
                <a:solidFill>
                  <a:srgbClr val="002060"/>
                </a:solidFill>
                <a:latin typeface="Arial" panose="020B0604020202020204" pitchFamily="34" charset="0"/>
                <a:cs typeface="Times New Roman" panose="02020603050405020304" pitchFamily="18" charset="0"/>
              </a:rPr>
              <a:t>基本立体图形</a:t>
            </a:r>
            <a:endParaRPr lang="zh-CN" altLang="zh-CN" sz="48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4800" dirty="0">
                <a:solidFill>
                  <a:srgbClr val="002060"/>
                </a:solidFill>
                <a:latin typeface="Arial" panose="020B0604020202020204" pitchFamily="34" charset="0"/>
                <a:cs typeface="Times New Roman" panose="02020603050405020304" pitchFamily="18" charset="0"/>
              </a:rPr>
              <a:t>第</a:t>
            </a:r>
            <a:r>
              <a:rPr lang="en-US" altLang="zh-CN" sz="4800" dirty="0">
                <a:solidFill>
                  <a:srgbClr val="002060"/>
                </a:solidFill>
                <a:ea typeface="宋体" panose="02010600030101010101" pitchFamily="2" charset="-122"/>
                <a:cs typeface="Times New Roman" panose="02020603050405020304" pitchFamily="18" charset="0"/>
              </a:rPr>
              <a:t>1</a:t>
            </a:r>
            <a:r>
              <a:rPr lang="zh-CN" altLang="zh-CN" sz="4800" dirty="0">
                <a:solidFill>
                  <a:srgbClr val="002060"/>
                </a:solidFill>
                <a:latin typeface="Arial" panose="020B0604020202020204" pitchFamily="34" charset="0"/>
                <a:cs typeface="Times New Roman" panose="02020603050405020304" pitchFamily="18" charset="0"/>
              </a:rPr>
              <a:t>课时</a:t>
            </a:r>
            <a:r>
              <a:rPr lang="zh-CN" altLang="zh-CN" sz="4800" dirty="0">
                <a:solidFill>
                  <a:srgbClr val="002060"/>
                </a:solidFill>
                <a:ea typeface="宋体" panose="02010600030101010101" pitchFamily="2" charset="-122"/>
                <a:cs typeface="Times New Roman" panose="02020603050405020304" pitchFamily="18" charset="0"/>
              </a:rPr>
              <a:t>　</a:t>
            </a:r>
            <a:r>
              <a:rPr lang="zh-CN" altLang="zh-CN" sz="4800" dirty="0">
                <a:solidFill>
                  <a:srgbClr val="002060"/>
                </a:solidFill>
                <a:latin typeface="Arial" panose="020B0604020202020204" pitchFamily="34" charset="0"/>
                <a:cs typeface="Times New Roman" panose="02020603050405020304" pitchFamily="18" charset="0"/>
              </a:rPr>
              <a:t>棱柱、棱锥、棱台的结构特征</a:t>
            </a:r>
            <a:endParaRPr lang="zh-CN" altLang="zh-CN" sz="48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015902"/>
            <a:ext cx="10729192" cy="4600449"/>
            <a:chOff x="360437" y="497294"/>
            <a:chExt cx="10729192" cy="4600449"/>
          </a:xfrm>
        </p:grpSpPr>
        <p:grpSp>
          <p:nvGrpSpPr>
            <p:cNvPr id="13" name="组合 12"/>
            <p:cNvGrpSpPr/>
            <p:nvPr/>
          </p:nvGrpSpPr>
          <p:grpSpPr>
            <a:xfrm>
              <a:off x="360437" y="497294"/>
              <a:ext cx="10729192" cy="4600449"/>
              <a:chOff x="360437" y="1310731"/>
              <a:chExt cx="10729192" cy="3142168"/>
            </a:xfrm>
          </p:grpSpPr>
          <p:sp>
            <p:nvSpPr>
              <p:cNvPr id="2" name="圆角矩形 1"/>
              <p:cNvSpPr/>
              <p:nvPr/>
            </p:nvSpPr>
            <p:spPr>
              <a:xfrm>
                <a:off x="360437" y="1310731"/>
                <a:ext cx="10729192" cy="314216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365306"/>
                <a:ext cx="0" cy="3011244"/>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1960396"/>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01013" y="683093"/>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利用实物、计算机软件等观察空间图形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知道多面体和旋转体的结构特征</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认识棱柱、棱锥、棱台的结构特征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能运用这些特征描述现实生活中简单物体的结构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经历从物体到几何体的抽象过程</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体验研究几何体的方法</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提升直观想象和数学</a:t>
              </a:r>
              <a:r>
                <a:rPr lang="zh-CN" altLang="zh-CN" dirty="0" smtClean="0">
                  <a:solidFill>
                    <a:srgbClr val="000000"/>
                  </a:solidFill>
                  <a:ea typeface="楷体" panose="02010609060101010101" pitchFamily="49" charset="-122"/>
                  <a:cs typeface="Times New Roman" panose="02020603050405020304" pitchFamily="18" charset="0"/>
                </a:rPr>
                <a:t>抽象</a:t>
              </a:r>
              <a:r>
                <a:rPr lang="zh-CN" altLang="en-US" dirty="0" smtClean="0">
                  <a:solidFill>
                    <a:srgbClr val="000000"/>
                  </a:solidFill>
                  <a:ea typeface="楷体" panose="02010609060101010101" pitchFamily="49" charset="-122"/>
                  <a:cs typeface="Times New Roman" panose="02020603050405020304" pitchFamily="18" charset="0"/>
                </a:rPr>
                <a:t>的核心</a:t>
              </a:r>
              <a:r>
                <a:rPr lang="zh-CN" altLang="zh-CN" dirty="0" smtClean="0">
                  <a:solidFill>
                    <a:srgbClr val="000000"/>
                  </a:solidFill>
                  <a:ea typeface="楷体" panose="02010609060101010101" pitchFamily="49" charset="-122"/>
                  <a:cs typeface="Times New Roman" panose="02020603050405020304" pitchFamily="18" charset="0"/>
                </a:rPr>
                <a:t>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463"/>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一、多面体、旋转体的概念及结构特征</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smtClean="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观察下列图片中的每一个物体</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将它们抽象成空间几何体</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图片</a:t>
            </a:r>
            <a:r>
              <a:rPr lang="en-US" altLang="zh-CN" dirty="0">
                <a:solidFill>
                  <a:srgbClr val="000000"/>
                </a:solidFill>
                <a:ea typeface="宋体" panose="02010600030101010101" pitchFamily="2" charset="-122"/>
              </a:rPr>
              <a:t>(2)(4)(5)(6)</a:t>
            </a:r>
            <a:r>
              <a:rPr lang="zh-CN" altLang="zh-CN" dirty="0">
                <a:solidFill>
                  <a:srgbClr val="000000"/>
                </a:solidFill>
                <a:ea typeface="宋体" panose="02010600030101010101" pitchFamily="2" charset="-122"/>
                <a:cs typeface="Times New Roman" panose="02020603050405020304" pitchFamily="18" charset="0"/>
              </a:rPr>
              <a:t>中的物体的形状与</a:t>
            </a:r>
            <a:r>
              <a:rPr lang="en-US" altLang="zh-CN" dirty="0">
                <a:solidFill>
                  <a:srgbClr val="000000"/>
                </a:solidFill>
                <a:ea typeface="宋体" panose="02010600030101010101" pitchFamily="2" charset="-122"/>
              </a:rPr>
              <a:t>(1)(3)</a:t>
            </a:r>
            <a:r>
              <a:rPr lang="zh-CN" altLang="zh-CN" dirty="0">
                <a:solidFill>
                  <a:srgbClr val="000000"/>
                </a:solidFill>
                <a:ea typeface="宋体" panose="02010600030101010101" pitchFamily="2" charset="-122"/>
                <a:cs typeface="Times New Roman" panose="02020603050405020304" pitchFamily="18" charset="0"/>
              </a:rPr>
              <a:t>中的物体的形状有何不同</a:t>
            </a:r>
            <a:r>
              <a:rPr lang="en-US" altLang="zh-CN" dirty="0">
                <a:solidFill>
                  <a:srgbClr val="000000"/>
                </a:solidFill>
                <a:ea typeface="宋体" panose="02010600030101010101" pitchFamily="2" charset="-122"/>
              </a:rPr>
              <a:t>?</a:t>
            </a:r>
            <a:endParaRPr lang="zh-CN" altLang="en-US" dirty="0"/>
          </a:p>
        </p:txBody>
      </p:sp>
      <p:sp>
        <p:nvSpPr>
          <p:cNvPr id="4" name="矩形 3"/>
          <p:cNvSpPr>
            <a:spLocks noChangeAspect="1"/>
          </p:cNvSpPr>
          <p:nvPr/>
        </p:nvSpPr>
        <p:spPr>
          <a:xfrm>
            <a:off x="361950" y="5158118"/>
            <a:ext cx="10807700" cy="123527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(2)(4)(5)(6)</a:t>
            </a:r>
            <a:r>
              <a:rPr lang="zh-CN" altLang="zh-CN" dirty="0">
                <a:solidFill>
                  <a:srgbClr val="000000"/>
                </a:solidFill>
                <a:ea typeface="楷体" panose="02010609060101010101" pitchFamily="49" charset="-122"/>
                <a:cs typeface="Times New Roman" panose="02020603050405020304" pitchFamily="18" charset="0"/>
              </a:rPr>
              <a:t>中的物体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围成它们的面不全是平面图形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有些面是曲面</a:t>
            </a:r>
            <a:r>
              <a:rPr lang="en-US" altLang="zh-CN" dirty="0">
                <a:solidFill>
                  <a:srgbClr val="000000"/>
                </a:solidFill>
                <a:ea typeface="宋体" panose="02010600030101010101" pitchFamily="2" charset="-122"/>
                <a:cs typeface="Times New Roman" panose="02020603050405020304" pitchFamily="18" charset="0"/>
              </a:rPr>
              <a:t>;(1)(3)</a:t>
            </a:r>
            <a:r>
              <a:rPr lang="zh-CN" altLang="zh-CN" dirty="0">
                <a:solidFill>
                  <a:srgbClr val="000000"/>
                </a:solidFill>
                <a:ea typeface="楷体" panose="02010609060101010101" pitchFamily="49" charset="-122"/>
                <a:cs typeface="Times New Roman" panose="02020603050405020304" pitchFamily="18" charset="0"/>
              </a:rPr>
              <a:t>中的物体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围成它们的每个面都是平面图形</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pic>
        <p:nvPicPr>
          <p:cNvPr id="5" name="WMG2TRA01.eps" descr="id:2147492357;FounderCES"/>
          <p:cNvPicPr/>
          <p:nvPr/>
        </p:nvPicPr>
        <p:blipFill>
          <a:blip r:embed="rId2"/>
          <a:stretch>
            <a:fillRect/>
          </a:stretch>
        </p:blipFill>
        <p:spPr>
          <a:xfrm>
            <a:off x="1584573" y="3123520"/>
            <a:ext cx="7632848" cy="1915058"/>
          </a:xfrm>
          <a:prstGeom prst="rect">
            <a:avLst/>
          </a:prstGeom>
        </p:spPr>
      </p:pic>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872788"/>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如果只考虑物体的</a:t>
            </a:r>
            <a:r>
              <a:rPr lang="zh-CN" altLang="zh-CN" dirty="0">
                <a:ea typeface="宋体" panose="02010600030101010101" pitchFamily="2" charset="-122"/>
                <a:cs typeface="Times New Roman" panose="02020603050405020304" pitchFamily="18" charset="0"/>
              </a:rPr>
              <a:t>形状</a:t>
            </a:r>
            <a:r>
              <a:rPr lang="zh-CN" altLang="zh-CN" dirty="0">
                <a:solidFill>
                  <a:srgbClr val="000000"/>
                </a:solidFill>
                <a:ea typeface="宋体" panose="02010600030101010101" pitchFamily="2" charset="-122"/>
                <a:cs typeface="Times New Roman" panose="02020603050405020304" pitchFamily="18" charset="0"/>
              </a:rPr>
              <a:t>和</a:t>
            </a:r>
            <a:r>
              <a:rPr lang="zh-CN" altLang="zh-CN" dirty="0">
                <a:ea typeface="宋体" panose="02010600030101010101" pitchFamily="2" charset="-122"/>
                <a:cs typeface="Times New Roman" panose="02020603050405020304" pitchFamily="18" charset="0"/>
              </a:rPr>
              <a:t>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而不考虑其他因素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那么由这些物体抽象出来的空间图形就叫做空间几何体</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由若干个</a:t>
            </a:r>
            <a:r>
              <a:rPr lang="zh-CN" altLang="zh-CN" dirty="0">
                <a:ea typeface="宋体" panose="02010600030101010101" pitchFamily="2" charset="-122"/>
                <a:cs typeface="Times New Roman" panose="02020603050405020304" pitchFamily="18" charset="0"/>
              </a:rPr>
              <a:t>平面多边形</a:t>
            </a:r>
            <a:r>
              <a:rPr lang="zh-CN" altLang="zh-CN" dirty="0">
                <a:solidFill>
                  <a:srgbClr val="000000"/>
                </a:solidFill>
                <a:ea typeface="宋体" panose="02010600030101010101" pitchFamily="2" charset="-122"/>
                <a:cs typeface="Times New Roman" panose="02020603050405020304" pitchFamily="18" charset="0"/>
              </a:rPr>
              <a:t>围成的几何体叫做多面体</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围成多面体的各个多边形叫做多面体的</a:t>
            </a:r>
            <a:r>
              <a:rPr lang="zh-CN" altLang="zh-CN" dirty="0">
                <a:ea typeface="宋体" panose="02010600030101010101" pitchFamily="2" charset="-122"/>
                <a:cs typeface="Times New Roman" panose="02020603050405020304" pitchFamily="18" charset="0"/>
              </a:rPr>
              <a:t>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两个面的</a:t>
            </a:r>
            <a:r>
              <a:rPr lang="zh-CN" altLang="zh-CN" dirty="0">
                <a:ea typeface="宋体" panose="02010600030101010101" pitchFamily="2" charset="-122"/>
                <a:cs typeface="Times New Roman" panose="02020603050405020304" pitchFamily="18" charset="0"/>
              </a:rPr>
              <a:t>公共边</a:t>
            </a:r>
            <a:r>
              <a:rPr lang="zh-CN" altLang="zh-CN" dirty="0">
                <a:solidFill>
                  <a:srgbClr val="000000"/>
                </a:solidFill>
                <a:ea typeface="宋体" panose="02010600030101010101" pitchFamily="2" charset="-122"/>
                <a:cs typeface="Times New Roman" panose="02020603050405020304" pitchFamily="18" charset="0"/>
              </a:rPr>
              <a:t>叫做多面体的棱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棱与棱的</a:t>
            </a:r>
            <a:r>
              <a:rPr lang="zh-CN" altLang="zh-CN" dirty="0">
                <a:ea typeface="宋体" panose="02010600030101010101" pitchFamily="2" charset="-122"/>
                <a:cs typeface="Times New Roman" panose="02020603050405020304" pitchFamily="18" charset="0"/>
              </a:rPr>
              <a:t>公共点</a:t>
            </a:r>
            <a:r>
              <a:rPr lang="zh-CN" altLang="zh-CN" dirty="0">
                <a:solidFill>
                  <a:srgbClr val="000000"/>
                </a:solidFill>
                <a:ea typeface="宋体" panose="02010600030101010101" pitchFamily="2" charset="-122"/>
                <a:cs typeface="Times New Roman" panose="02020603050405020304" pitchFamily="18" charset="0"/>
              </a:rPr>
              <a:t>叫做多面体的顶点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一条</a:t>
            </a:r>
            <a:r>
              <a:rPr lang="zh-CN" altLang="zh-CN" dirty="0">
                <a:ea typeface="宋体" panose="02010600030101010101" pitchFamily="2" charset="-122"/>
                <a:cs typeface="Times New Roman" panose="02020603050405020304" pitchFamily="18" charset="0"/>
              </a:rPr>
              <a:t>平面曲线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包括直线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绕它所在平面内的一条定直线旋转所形成的曲面叫做</a:t>
            </a:r>
            <a:r>
              <a:rPr lang="zh-CN" altLang="zh-CN" dirty="0">
                <a:ea typeface="宋体" panose="02010600030101010101" pitchFamily="2" charset="-122"/>
                <a:cs typeface="Times New Roman" panose="02020603050405020304" pitchFamily="18" charset="0"/>
              </a:rPr>
              <a:t>旋转面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封闭</a:t>
            </a:r>
            <a:r>
              <a:rPr lang="zh-CN" altLang="zh-CN" dirty="0">
                <a:solidFill>
                  <a:srgbClr val="000000"/>
                </a:solidFill>
                <a:ea typeface="宋体" panose="02010600030101010101" pitchFamily="2" charset="-122"/>
                <a:cs typeface="Times New Roman" panose="02020603050405020304" pitchFamily="18" charset="0"/>
              </a:rPr>
              <a:t>的旋转面围成的几何体叫做旋转体</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这条定直线叫做旋转体的</a:t>
            </a:r>
            <a:r>
              <a:rPr lang="zh-CN" altLang="zh-CN" dirty="0">
                <a:ea typeface="宋体" panose="02010600030101010101" pitchFamily="2" charset="-122"/>
                <a:cs typeface="Times New Roman" panose="02020603050405020304" pitchFamily="18" charset="0"/>
              </a:rPr>
              <a:t>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511995" y="92529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507405" y="1389395"/>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5722503" y="922788"/>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5717913" y="1386886"/>
            <a:ext cx="776265"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3888829" y="2098941"/>
            <a:ext cx="202698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884283" y="2563039"/>
            <a:ext cx="2024689"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6949141" y="2693223"/>
            <a:ext cx="43867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6944359" y="3157321"/>
            <a:ext cx="438181"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9156171" y="269322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9151400" y="3157321"/>
            <a:ext cx="1196942"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4696481" y="3284560"/>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4691710" y="3748658"/>
            <a:ext cx="1196942"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1768323" y="3898917"/>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763777" y="4363015"/>
            <a:ext cx="1593130"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4124835" y="4437407"/>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4120064" y="4901505"/>
            <a:ext cx="1196942" cy="0"/>
          </a:xfrm>
          <a:prstGeom prst="line">
            <a:avLst/>
          </a:prstGeom>
        </p:spPr>
        <p:style>
          <a:lnRef idx="2">
            <a:schemeClr val="dk1"/>
          </a:lnRef>
          <a:fillRef idx="0">
            <a:schemeClr val="dk1"/>
          </a:fillRef>
          <a:effectRef idx="1">
            <a:schemeClr val="dk1"/>
          </a:effectRef>
          <a:fontRef idx="minor">
            <a:schemeClr val="tx1"/>
          </a:fontRef>
        </p:style>
      </p:cxnSp>
      <p:sp>
        <p:nvSpPr>
          <p:cNvPr id="23" name="矩形 22"/>
          <p:cNvSpPr/>
          <p:nvPr/>
        </p:nvSpPr>
        <p:spPr>
          <a:xfrm>
            <a:off x="5457657" y="444283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5453067" y="4906935"/>
            <a:ext cx="776265"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6645073" y="5018771"/>
            <a:ext cx="3987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6640268" y="5482869"/>
            <a:ext cx="39834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9480106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20"/>
                                        </p:tgtEl>
                                      </p:cBhvr>
                                    </p:animEffect>
                                    <p:set>
                                      <p:cBhvr>
                                        <p:cTn id="42" dur="1" fill="hold">
                                          <p:stCondLst>
                                            <p:cond delay="499"/>
                                          </p:stCondLst>
                                        </p:cTn>
                                        <p:tgtEl>
                                          <p:spTgt spid="2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4" presetClass="exit" presetSubtype="10" fill="hold" grpId="0" nodeType="clickEffect">
                                  <p:stCondLst>
                                    <p:cond delay="0"/>
                                  </p:stCondLst>
                                  <p:childTnLst>
                                    <p:animEffect transition="out" filter="randombar(horizontal)">
                                      <p:cBhvr>
                                        <p:cTn id="46" dur="500"/>
                                        <p:tgtEl>
                                          <p:spTgt spid="23"/>
                                        </p:tgtEl>
                                      </p:cBhvr>
                                    </p:animEffect>
                                    <p:set>
                                      <p:cBhvr>
                                        <p:cTn id="47" dur="1" fill="hold">
                                          <p:stCondLst>
                                            <p:cond delay="499"/>
                                          </p:stCondLst>
                                        </p:cTn>
                                        <p:tgtEl>
                                          <p:spTgt spid="2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4" presetClass="exit" presetSubtype="10" fill="hold" grpId="0" nodeType="clickEffect">
                                  <p:stCondLst>
                                    <p:cond delay="0"/>
                                  </p:stCondLst>
                                  <p:childTnLst>
                                    <p:animEffect transition="out" filter="randombar(horizontal)">
                                      <p:cBhvr>
                                        <p:cTn id="51" dur="500"/>
                                        <p:tgtEl>
                                          <p:spTgt spid="25"/>
                                        </p:tgtEl>
                                      </p:cBhvr>
                                    </p:animEffect>
                                    <p:set>
                                      <p:cBhvr>
                                        <p:cTn id="52"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P spid="14" grpId="0" animBg="1"/>
      <p:bldP spid="18" grpId="0" animBg="1"/>
      <p:bldP spid="20" grpId="0" animBg="1"/>
      <p:bldP spid="23"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99927"/>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请举出两个生活中的几何体为多面体的例子</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粉笔盒、钻石等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请举出两个生活中的几何体为旋转体的例子</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乒乓球</a:t>
            </a:r>
            <a:r>
              <a:rPr lang="zh-CN" altLang="zh-CN" dirty="0" smtClean="0">
                <a:solidFill>
                  <a:srgbClr val="000000"/>
                </a:solidFill>
                <a:ea typeface="楷体" panose="02010609060101010101" pitchFamily="49" charset="-122"/>
                <a:cs typeface="Times New Roman" panose="02020603050405020304" pitchFamily="18" charset="0"/>
              </a:rPr>
              <a:t>、</a:t>
            </a:r>
            <a:r>
              <a:rPr lang="zh-CN" altLang="en-US" dirty="0">
                <a:solidFill>
                  <a:srgbClr val="000000"/>
                </a:solidFill>
                <a:ea typeface="楷体" panose="02010609060101010101" pitchFamily="49" charset="-122"/>
                <a:cs typeface="Times New Roman" panose="02020603050405020304" pitchFamily="18" charset="0"/>
              </a:rPr>
              <a:t>保温杯</a:t>
            </a:r>
            <a:r>
              <a:rPr lang="zh-CN" altLang="zh-CN" dirty="0" smtClean="0">
                <a:solidFill>
                  <a:srgbClr val="000000"/>
                </a:solidFill>
                <a:ea typeface="楷体" panose="02010609060101010101" pitchFamily="49" charset="-122"/>
                <a:cs typeface="Times New Roman" panose="02020603050405020304" pitchFamily="18" charset="0"/>
              </a:rPr>
              <a:t>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2424477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489243"/>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二、棱柱的概念及结构特征</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观察教科书中</a:t>
            </a:r>
            <a:r>
              <a:rPr lang="en-US" altLang="zh-CN" dirty="0">
                <a:solidFill>
                  <a:srgbClr val="000000"/>
                </a:solidFill>
                <a:ea typeface="宋体" panose="02010600030101010101" pitchFamily="2" charset="-122"/>
                <a:cs typeface="Times New Roman" panose="02020603050405020304" pitchFamily="18" charset="0"/>
              </a:rPr>
              <a:t>97</a:t>
            </a:r>
            <a:r>
              <a:rPr lang="zh-CN" altLang="zh-CN" dirty="0">
                <a:solidFill>
                  <a:srgbClr val="000000"/>
                </a:solidFill>
                <a:ea typeface="宋体" panose="02010600030101010101" pitchFamily="2" charset="-122"/>
                <a:cs typeface="Times New Roman" panose="02020603050405020304" pitchFamily="18" charset="0"/>
              </a:rPr>
              <a:t>页图</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中的纸箱、茶叶盒</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思考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它的不同的面之间有什么位置关系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有两个面互相平行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其余各面都是四边形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每相邻两个四边形的公共边都互相平行</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5552067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844159"/>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棱柱的结构特征</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宋体" panose="02010600030101010101" pitchFamily="2" charset="-122"/>
                <a:cs typeface="Times New Roman" panose="02020603050405020304" pitchFamily="18" charset="0"/>
              </a:rPr>
              <a:t>定义</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一般地</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有两个面互相</a:t>
            </a:r>
            <a:r>
              <a:rPr lang="zh-CN" altLang="zh-CN" dirty="0" smtClean="0">
                <a:uFill>
                  <a:solidFill>
                    <a:srgbClr val="000000"/>
                  </a:solidFill>
                </a:uFill>
                <a:ea typeface="宋体" panose="02010600030101010101" pitchFamily="2" charset="-122"/>
                <a:cs typeface="Times New Roman" panose="02020603050405020304" pitchFamily="18" charset="0"/>
              </a:rPr>
              <a:t>平行</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其余各面都是</a:t>
            </a:r>
            <a:r>
              <a:rPr lang="zh-CN" altLang="zh-CN" dirty="0" smtClean="0">
                <a:uFill>
                  <a:solidFill>
                    <a:srgbClr val="000000"/>
                  </a:solidFill>
                </a:uFill>
                <a:ea typeface="宋体" panose="02010600030101010101" pitchFamily="2" charset="-122"/>
                <a:cs typeface="Times New Roman" panose="02020603050405020304" pitchFamily="18" charset="0"/>
              </a:rPr>
              <a:t>四边形</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并且相邻两个四边形的公共边都互相</a:t>
            </a:r>
            <a:r>
              <a:rPr lang="zh-CN" altLang="zh-CN" dirty="0" smtClean="0">
                <a:uFill>
                  <a:solidFill>
                    <a:srgbClr val="000000"/>
                  </a:solidFill>
                </a:uFill>
                <a:ea typeface="宋体" panose="02010600030101010101" pitchFamily="2" charset="-122"/>
                <a:cs typeface="Times New Roman" panose="02020603050405020304" pitchFamily="18" charset="0"/>
              </a:rPr>
              <a:t>平行</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由这些面所围成的多面体叫做棱柱</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smtClean="0">
                <a:solidFill>
                  <a:srgbClr val="000000"/>
                </a:solidFill>
                <a:ea typeface="宋体" panose="02010600030101010101" pitchFamily="2" charset="-122"/>
                <a:cs typeface="Times New Roman" panose="02020603050405020304" pitchFamily="18" charset="0"/>
              </a:rPr>
              <a:t>相关概念</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两个互相</a:t>
            </a:r>
            <a:r>
              <a:rPr lang="zh-CN" altLang="zh-CN" dirty="0" smtClean="0">
                <a:uFill>
                  <a:solidFill>
                    <a:srgbClr val="000000"/>
                  </a:solidFill>
                </a:uFill>
                <a:ea typeface="宋体" panose="02010600030101010101" pitchFamily="2" charset="-122"/>
                <a:cs typeface="Times New Roman" panose="02020603050405020304" pitchFamily="18" charset="0"/>
              </a:rPr>
              <a:t>平行</a:t>
            </a:r>
            <a:r>
              <a:rPr lang="zh-CN" altLang="zh-CN" dirty="0" smtClean="0">
                <a:solidFill>
                  <a:srgbClr val="000000"/>
                </a:solidFill>
                <a:ea typeface="宋体" panose="02010600030101010101" pitchFamily="2" charset="-122"/>
                <a:cs typeface="Times New Roman" panose="02020603050405020304" pitchFamily="18" charset="0"/>
              </a:rPr>
              <a:t>的面叫做棱柱的底面</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它们是</a:t>
            </a:r>
            <a:r>
              <a:rPr lang="zh-CN" altLang="zh-CN" dirty="0" smtClean="0">
                <a:uFill>
                  <a:solidFill>
                    <a:srgbClr val="000000"/>
                  </a:solidFill>
                </a:uFill>
                <a:ea typeface="宋体" panose="02010600030101010101" pitchFamily="2" charset="-122"/>
                <a:cs typeface="Times New Roman" panose="02020603050405020304" pitchFamily="18" charset="0"/>
              </a:rPr>
              <a:t>全等</a:t>
            </a:r>
            <a:r>
              <a:rPr lang="zh-CN" altLang="zh-CN" dirty="0" smtClean="0">
                <a:solidFill>
                  <a:srgbClr val="000000"/>
                </a:solidFill>
                <a:ea typeface="宋体" panose="02010600030101010101" pitchFamily="2" charset="-122"/>
                <a:cs typeface="Times New Roman" panose="02020603050405020304" pitchFamily="18" charset="0"/>
              </a:rPr>
              <a:t>的多边形</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其余各面叫做棱柱的侧面</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它们都是</a:t>
            </a:r>
            <a:r>
              <a:rPr lang="zh-CN" altLang="zh-CN" dirty="0" smtClean="0">
                <a:uFill>
                  <a:solidFill>
                    <a:srgbClr val="000000"/>
                  </a:solidFill>
                </a:uFill>
                <a:ea typeface="宋体" panose="02010600030101010101" pitchFamily="2" charset="-122"/>
                <a:cs typeface="Times New Roman" panose="02020603050405020304" pitchFamily="18" charset="0"/>
              </a:rPr>
              <a:t>平行四边形</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相邻侧面的</a:t>
            </a:r>
            <a:r>
              <a:rPr lang="zh-CN" altLang="zh-CN" dirty="0" smtClean="0">
                <a:uFill>
                  <a:solidFill>
                    <a:srgbClr val="000000"/>
                  </a:solidFill>
                </a:uFill>
                <a:ea typeface="宋体" panose="02010600030101010101" pitchFamily="2" charset="-122"/>
                <a:cs typeface="Times New Roman" panose="02020603050405020304" pitchFamily="18" charset="0"/>
              </a:rPr>
              <a:t>公共边</a:t>
            </a:r>
            <a:r>
              <a:rPr lang="zh-CN" altLang="zh-CN" dirty="0" smtClean="0">
                <a:solidFill>
                  <a:srgbClr val="000000"/>
                </a:solidFill>
                <a:ea typeface="宋体" panose="02010600030101010101" pitchFamily="2" charset="-122"/>
                <a:cs typeface="Times New Roman" panose="02020603050405020304" pitchFamily="18" charset="0"/>
              </a:rPr>
              <a:t>叫做棱柱的侧棱</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侧面与底面的</a:t>
            </a:r>
            <a:r>
              <a:rPr lang="zh-CN" altLang="zh-CN" dirty="0" smtClean="0">
                <a:uFill>
                  <a:solidFill>
                    <a:srgbClr val="000000"/>
                  </a:solidFill>
                </a:uFill>
                <a:ea typeface="宋体" panose="02010600030101010101" pitchFamily="2" charset="-122"/>
                <a:cs typeface="Times New Roman" panose="02020603050405020304" pitchFamily="18" charset="0"/>
              </a:rPr>
              <a:t>公共顶点</a:t>
            </a:r>
            <a:r>
              <a:rPr lang="zh-CN" altLang="zh-CN" dirty="0" smtClean="0">
                <a:solidFill>
                  <a:srgbClr val="000000"/>
                </a:solidFill>
                <a:ea typeface="宋体" panose="02010600030101010101" pitchFamily="2" charset="-122"/>
                <a:cs typeface="Times New Roman" panose="02020603050405020304" pitchFamily="18" charset="0"/>
              </a:rPr>
              <a:t>叫做棱柱的顶点</a:t>
            </a:r>
            <a:endParaRPr lang="zh-CN" altLang="en-US" dirty="0"/>
          </a:p>
        </p:txBody>
      </p:sp>
      <p:sp>
        <p:nvSpPr>
          <p:cNvPr id="12" name="矩形 11"/>
          <p:cNvSpPr/>
          <p:nvPr/>
        </p:nvSpPr>
        <p:spPr>
          <a:xfrm>
            <a:off x="5184973" y="1479215"/>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5180383" y="1943313"/>
            <a:ext cx="776265"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8569349" y="1479839"/>
            <a:ext cx="115212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8564759" y="1943937"/>
            <a:ext cx="1150825"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6173421" y="208795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6168831" y="2552057"/>
            <a:ext cx="776265"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3878997" y="324991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3874407" y="3714017"/>
            <a:ext cx="776265"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9683953" y="324991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9679363" y="3714017"/>
            <a:ext cx="776265"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8045629" y="3825983"/>
            <a:ext cx="203588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8041039" y="4290081"/>
            <a:ext cx="2033586"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1708925" y="4415063"/>
            <a:ext cx="118162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704335" y="4879161"/>
            <a:ext cx="1180288" cy="0"/>
          </a:xfrm>
          <a:prstGeom prst="line">
            <a:avLst/>
          </a:prstGeom>
        </p:spPr>
        <p:style>
          <a:lnRef idx="2">
            <a:schemeClr val="dk1"/>
          </a:lnRef>
          <a:fillRef idx="0">
            <a:schemeClr val="dk1"/>
          </a:fillRef>
          <a:effectRef idx="1">
            <a:schemeClr val="dk1"/>
          </a:effectRef>
          <a:fontRef idx="minor">
            <a:schemeClr val="tx1"/>
          </a:fontRef>
        </p:style>
      </p:cxnSp>
      <p:sp>
        <p:nvSpPr>
          <p:cNvPr id="28" name="矩形 27"/>
          <p:cNvSpPr/>
          <p:nvPr/>
        </p:nvSpPr>
        <p:spPr>
          <a:xfrm>
            <a:off x="8343493" y="4433706"/>
            <a:ext cx="159400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8338903" y="4897804"/>
            <a:ext cx="159220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374346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8"/>
                                        </p:tgtEl>
                                      </p:cBhvr>
                                    </p:animEffect>
                                    <p:set>
                                      <p:cBhvr>
                                        <p:cTn id="22" dur="1" fill="hold">
                                          <p:stCondLst>
                                            <p:cond delay="499"/>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20"/>
                                        </p:tgtEl>
                                      </p:cBhvr>
                                    </p:animEffect>
                                    <p:set>
                                      <p:cBhvr>
                                        <p:cTn id="27" dur="1" fill="hold">
                                          <p:stCondLst>
                                            <p:cond delay="499"/>
                                          </p:stCondLst>
                                        </p:cTn>
                                        <p:tgtEl>
                                          <p:spTgt spid="2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25"/>
                                        </p:tgtEl>
                                      </p:cBhvr>
                                    </p:animEffect>
                                    <p:set>
                                      <p:cBhvr>
                                        <p:cTn id="37" dur="1" fill="hold">
                                          <p:stCondLst>
                                            <p:cond delay="499"/>
                                          </p:stCondLst>
                                        </p:cTn>
                                        <p:tgtEl>
                                          <p:spTgt spid="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28"/>
                                        </p:tgtEl>
                                      </p:cBhvr>
                                    </p:animEffect>
                                    <p:set>
                                      <p:cBhvr>
                                        <p:cTn id="42"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5"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21N25.eps"/>
          <p:cNvPicPr/>
          <p:nvPr/>
        </p:nvPicPr>
        <p:blipFill>
          <a:blip r:embed="rId2"/>
          <a:stretch>
            <a:fillRect/>
          </a:stretch>
        </p:blipFill>
        <p:spPr>
          <a:xfrm>
            <a:off x="3960837" y="2438167"/>
            <a:ext cx="3528392" cy="2670809"/>
          </a:xfrm>
          <a:prstGeom prst="rect">
            <a:avLst/>
          </a:prstGeom>
        </p:spPr>
      </p:pic>
      <p:sp>
        <p:nvSpPr>
          <p:cNvPr id="3" name="矩形 2"/>
          <p:cNvSpPr>
            <a:spLocks noChangeAspect="1"/>
          </p:cNvSpPr>
          <p:nvPr/>
        </p:nvSpPr>
        <p:spPr>
          <a:xfrm>
            <a:off x="361950" y="645049"/>
            <a:ext cx="10807700" cy="186512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图形及表示</a:t>
            </a:r>
            <a:r>
              <a:rPr lang="en-US" altLang="zh-CN" dirty="0">
                <a:solidFill>
                  <a:srgbClr val="000000"/>
                </a:solidFill>
                <a:latin typeface="Arial" panose="020B0604020202020204" pitchFamily="34" charset="0"/>
                <a:cs typeface="Times New Roman" panose="02020603050405020304" pitchFamily="18" charset="0"/>
              </a:rPr>
              <a:t> </a:t>
            </a:r>
            <a:endParaRPr lang="zh-CN" altLang="en-US" dirty="0"/>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宋体" panose="02010600030101010101" pitchFamily="2" charset="-122"/>
                <a:cs typeface="Times New Roman" panose="02020603050405020304" pitchFamily="18" charset="0"/>
              </a:rPr>
              <a:t>棱柱用表示底面</a:t>
            </a:r>
            <a:r>
              <a:rPr lang="zh-CN" altLang="zh-CN" dirty="0" smtClean="0">
                <a:ea typeface="宋体" panose="02010600030101010101" pitchFamily="2" charset="-122"/>
                <a:cs typeface="Times New Roman" panose="02020603050405020304" pitchFamily="18" charset="0"/>
              </a:rPr>
              <a:t>各顶点的字母</a:t>
            </a:r>
            <a:r>
              <a:rPr lang="zh-CN" altLang="zh-CN" dirty="0" smtClean="0">
                <a:solidFill>
                  <a:srgbClr val="000000"/>
                </a:solidFill>
                <a:ea typeface="宋体" panose="02010600030101010101" pitchFamily="2" charset="-122"/>
                <a:cs typeface="Times New Roman" panose="02020603050405020304" pitchFamily="18" charset="0"/>
              </a:rPr>
              <a:t>来表示</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smtClean="0">
                <a:solidFill>
                  <a:srgbClr val="000000"/>
                </a:solidFill>
                <a:ea typeface="宋体" panose="02010600030101010101" pitchFamily="2" charset="-122"/>
                <a:cs typeface="Times New Roman" panose="02020603050405020304" pitchFamily="18" charset="0"/>
              </a:rPr>
              <a:t>如图</a:t>
            </a:r>
            <a:r>
              <a:rPr lang="en-US" altLang="zh-CN" dirty="0" smtClean="0">
                <a:solidFill>
                  <a:srgbClr val="000000"/>
                </a:solidFill>
                <a:ea typeface="宋体" panose="02010600030101010101" pitchFamily="2" charset="-122"/>
              </a:rPr>
              <a:t>,</a:t>
            </a:r>
            <a:r>
              <a:rPr lang="zh-CN" altLang="zh-CN" dirty="0" smtClean="0">
                <a:solidFill>
                  <a:srgbClr val="000000"/>
                </a:solidFill>
                <a:ea typeface="宋体" panose="02010600030101010101" pitchFamily="2" charset="-122"/>
                <a:cs typeface="Times New Roman" panose="02020603050405020304" pitchFamily="18" charset="0"/>
              </a:rPr>
              <a:t>可记作棱柱</a:t>
            </a:r>
            <a:r>
              <a:rPr lang="en-US" altLang="zh-CN" i="1" dirty="0" smtClean="0">
                <a:solidFill>
                  <a:srgbClr val="000000"/>
                </a:solidFill>
                <a:ea typeface="宋体" panose="02010600030101010101" pitchFamily="2" charset="-122"/>
              </a:rPr>
              <a:t>ABCDEF-A'B'C'D'E'F'</a:t>
            </a:r>
            <a:endParaRPr lang="zh-CN" altLang="en-US" dirty="0"/>
          </a:p>
        </p:txBody>
      </p:sp>
      <p:sp>
        <p:nvSpPr>
          <p:cNvPr id="5" name="矩形 4"/>
          <p:cNvSpPr>
            <a:spLocks noChangeAspect="1"/>
          </p:cNvSpPr>
          <p:nvPr/>
        </p:nvSpPr>
        <p:spPr>
          <a:xfrm>
            <a:off x="361950" y="5161302"/>
            <a:ext cx="10807700" cy="1217641"/>
          </a:xfrm>
          <a:prstGeom prst="rect">
            <a:avLst/>
          </a:prstGeom>
        </p:spPr>
        <p:txBody>
          <a:bodyPr>
            <a:spAutoFit/>
          </a:bodyPr>
          <a:lstStyle/>
          <a:p>
            <a:pPr>
              <a:lnSpc>
                <a:spcPct val="120000"/>
              </a:lnSpc>
            </a:pPr>
            <a:r>
              <a:rPr lang="zh-CN" altLang="zh-CN" dirty="0">
                <a:solidFill>
                  <a:srgbClr val="000000"/>
                </a:solidFill>
                <a:ea typeface="宋体" panose="02010600030101010101" pitchFamily="2" charset="-122"/>
                <a:cs typeface="Times New Roman" panose="02020603050405020304" pitchFamily="18" charset="0"/>
              </a:rPr>
              <a:t>分类</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按底面多边形的边数分为三棱柱、四棱柱、五棱柱</a:t>
            </a:r>
            <a:r>
              <a:rPr lang="en-US" altLang="zh-CN" dirty="0">
                <a:solidFill>
                  <a:srgbClr val="000000"/>
                </a:solidFill>
                <a:ea typeface="宋体" panose="02010600030101010101" pitchFamily="2" charset="-122"/>
                <a:cs typeface="Times New Roman" panose="02020603050405020304" pitchFamily="18" charset="0"/>
              </a:rPr>
              <a:t>……</a:t>
            </a:r>
            <a:endParaRPr lang="zh-CN" altLang="en-US" dirty="0"/>
          </a:p>
        </p:txBody>
      </p:sp>
      <p:sp>
        <p:nvSpPr>
          <p:cNvPr id="8" name="矩形 7"/>
          <p:cNvSpPr/>
          <p:nvPr/>
        </p:nvSpPr>
        <p:spPr>
          <a:xfrm>
            <a:off x="3312765" y="1288217"/>
            <a:ext cx="243844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308175" y="1752315"/>
            <a:ext cx="243568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842446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01781"/>
            <a:ext cx="10807700" cy="2990434"/>
          </a:xfrm>
          <a:prstGeom prst="rect">
            <a:avLst/>
          </a:prstGeom>
        </p:spPr>
        <p:txBody>
          <a:bodyPr>
            <a:spAutoFit/>
          </a:bodyPr>
          <a:lstStyle/>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特殊的棱柱</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侧棱垂直于底面的棱柱叫做</a:t>
            </a:r>
            <a:r>
              <a:rPr lang="zh-CN" altLang="zh-CN" dirty="0">
                <a:uFill>
                  <a:solidFill>
                    <a:srgbClr val="000000"/>
                  </a:solidFill>
                </a:uFill>
                <a:ea typeface="宋体" panose="02010600030101010101" pitchFamily="2" charset="-122"/>
                <a:cs typeface="Times New Roman" panose="02020603050405020304" pitchFamily="18" charset="0"/>
              </a:rPr>
              <a:t>直棱柱</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侧棱不垂直于底面的棱柱叫做</a:t>
            </a:r>
            <a:r>
              <a:rPr lang="zh-CN" altLang="zh-CN" dirty="0">
                <a:uFill>
                  <a:solidFill>
                    <a:srgbClr val="000000"/>
                  </a:solidFill>
                </a:uFill>
                <a:ea typeface="宋体" panose="02010600030101010101" pitchFamily="2" charset="-122"/>
                <a:cs typeface="Times New Roman" panose="02020603050405020304" pitchFamily="18" charset="0"/>
              </a:rPr>
              <a:t>斜棱柱</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底面是正多边形的直棱柱叫做</a:t>
            </a:r>
            <a:r>
              <a:rPr lang="zh-CN" altLang="zh-CN" dirty="0">
                <a:uFill>
                  <a:solidFill>
                    <a:srgbClr val="000000"/>
                  </a:solidFill>
                </a:uFill>
                <a:ea typeface="宋体" panose="02010600030101010101" pitchFamily="2" charset="-122"/>
                <a:cs typeface="Times New Roman" panose="02020603050405020304" pitchFamily="18" charset="0"/>
              </a:rPr>
              <a:t>正棱柱</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底面是平行四边形的四棱柱也叫做</a:t>
            </a:r>
            <a:r>
              <a:rPr lang="zh-CN" altLang="zh-CN" dirty="0">
                <a:uFill>
                  <a:solidFill>
                    <a:srgbClr val="000000"/>
                  </a:solidFill>
                </a:uFill>
                <a:ea typeface="宋体" panose="02010600030101010101" pitchFamily="2" charset="-122"/>
                <a:cs typeface="Times New Roman" panose="02020603050405020304" pitchFamily="18" charset="0"/>
              </a:rPr>
              <a:t>平行六面体</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4" name="矩形 23"/>
          <p:cNvSpPr/>
          <p:nvPr/>
        </p:nvSpPr>
        <p:spPr>
          <a:xfrm>
            <a:off x="5636685" y="2045447"/>
            <a:ext cx="120447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5632095" y="2509545"/>
            <a:ext cx="1203110" cy="0"/>
          </a:xfrm>
          <a:prstGeom prst="line">
            <a:avLst/>
          </a:prstGeom>
        </p:spPr>
        <p:style>
          <a:lnRef idx="2">
            <a:schemeClr val="dk1"/>
          </a:lnRef>
          <a:fillRef idx="0">
            <a:schemeClr val="dk1"/>
          </a:fillRef>
          <a:effectRef idx="1">
            <a:schemeClr val="dk1"/>
          </a:effectRef>
          <a:fontRef idx="minor">
            <a:schemeClr val="tx1"/>
          </a:fontRef>
        </p:style>
      </p:cxnSp>
      <p:sp>
        <p:nvSpPr>
          <p:cNvPr id="27" name="矩形 26"/>
          <p:cNvSpPr/>
          <p:nvPr/>
        </p:nvSpPr>
        <p:spPr>
          <a:xfrm>
            <a:off x="6029405" y="2643187"/>
            <a:ext cx="120447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a:off x="6024815" y="3107285"/>
            <a:ext cx="1203110" cy="0"/>
          </a:xfrm>
          <a:prstGeom prst="line">
            <a:avLst/>
          </a:prstGeom>
        </p:spPr>
        <p:style>
          <a:lnRef idx="2">
            <a:schemeClr val="dk1"/>
          </a:lnRef>
          <a:fillRef idx="0">
            <a:schemeClr val="dk1"/>
          </a:fillRef>
          <a:effectRef idx="1">
            <a:schemeClr val="dk1"/>
          </a:effectRef>
          <a:fontRef idx="minor">
            <a:schemeClr val="tx1"/>
          </a:fontRef>
        </p:style>
      </p:cxnSp>
      <p:sp>
        <p:nvSpPr>
          <p:cNvPr id="29" name="矩形 28"/>
          <p:cNvSpPr/>
          <p:nvPr/>
        </p:nvSpPr>
        <p:spPr>
          <a:xfrm>
            <a:off x="6034647" y="3217500"/>
            <a:ext cx="120447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6030057" y="3681598"/>
            <a:ext cx="1203110" cy="0"/>
          </a:xfrm>
          <a:prstGeom prst="line">
            <a:avLst/>
          </a:prstGeom>
        </p:spPr>
        <p:style>
          <a:lnRef idx="2">
            <a:schemeClr val="dk1"/>
          </a:lnRef>
          <a:fillRef idx="0">
            <a:schemeClr val="dk1"/>
          </a:fillRef>
          <a:effectRef idx="1">
            <a:schemeClr val="dk1"/>
          </a:effectRef>
          <a:fontRef idx="minor">
            <a:schemeClr val="tx1"/>
          </a:fontRef>
        </p:style>
      </p:cxnSp>
      <p:sp>
        <p:nvSpPr>
          <p:cNvPr id="31" name="矩形 30"/>
          <p:cNvSpPr/>
          <p:nvPr/>
        </p:nvSpPr>
        <p:spPr>
          <a:xfrm>
            <a:off x="6845747" y="3798686"/>
            <a:ext cx="199197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a:off x="6841157" y="4262784"/>
            <a:ext cx="198971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9873887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7"/>
                                        </p:tgtEl>
                                      </p:cBhvr>
                                    </p:animEffect>
                                    <p:set>
                                      <p:cBhvr>
                                        <p:cTn id="12" dur="1" fill="hold">
                                          <p:stCondLst>
                                            <p:cond delay="499"/>
                                          </p:stCondLst>
                                        </p:cTn>
                                        <p:tgtEl>
                                          <p:spTgt spid="2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9"/>
                                        </p:tgtEl>
                                      </p:cBhvr>
                                    </p:animEffect>
                                    <p:set>
                                      <p:cBhvr>
                                        <p:cTn id="17" dur="1" fill="hold">
                                          <p:stCondLst>
                                            <p:cond delay="499"/>
                                          </p:stCondLst>
                                        </p:cTn>
                                        <p:tgtEl>
                                          <p:spTgt spid="2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31"/>
                                        </p:tgtEl>
                                      </p:cBhvr>
                                    </p:animEffect>
                                    <p:set>
                                      <p:cBhvr>
                                        <p:cTn id="22"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P spid="29"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35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下列</a:t>
            </a:r>
            <a:r>
              <a:rPr lang="zh-CN" altLang="zh-CN" dirty="0">
                <a:solidFill>
                  <a:srgbClr val="000000"/>
                </a:solidFill>
                <a:ea typeface="宋体" panose="02010600030101010101" pitchFamily="2" charset="-122"/>
                <a:cs typeface="Times New Roman" panose="02020603050405020304" pitchFamily="18" charset="0"/>
              </a:rPr>
              <a:t>几何体是棱柱的有</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Times New Roman" panose="02020603050405020304" pitchFamily="18" charset="0"/>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Times New Roman" panose="02020603050405020304" pitchFamily="18" charset="0"/>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Times New Roman" panose="02020603050405020304" pitchFamily="18" charset="0"/>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endParaRPr lang="en-US" altLang="zh-CN" i="1"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Times New Roman" panose="02020603050405020304" pitchFamily="18" charset="0"/>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Times New Roman" panose="02020603050405020304" pitchFamily="18" charset="0"/>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A.5</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B.4</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C.3</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	D.2</a:t>
            </a:r>
            <a:r>
              <a:rPr lang="zh-CN" altLang="zh-CN" dirty="0">
                <a:solidFill>
                  <a:srgbClr val="000000"/>
                </a:solidFill>
                <a:ea typeface="宋体" panose="02010600030101010101" pitchFamily="2" charset="-122"/>
                <a:cs typeface="Times New Roman" panose="02020603050405020304" pitchFamily="18" charset="0"/>
              </a:rPr>
              <a:t>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WMG2TRA03.eps" descr="id:2147492010;FounderCES"/>
          <p:cNvPicPr/>
          <p:nvPr/>
        </p:nvPicPr>
        <p:blipFill>
          <a:blip r:embed="rId2"/>
          <a:stretch>
            <a:fillRect/>
          </a:stretch>
        </p:blipFill>
        <p:spPr>
          <a:xfrm>
            <a:off x="2952725" y="1343529"/>
            <a:ext cx="4968552" cy="3470992"/>
          </a:xfrm>
          <a:prstGeom prst="rect">
            <a:avLst/>
          </a:prstGeom>
        </p:spPr>
      </p:pic>
    </p:spTree>
    <p:extLst>
      <p:ext uri="{BB962C8B-B14F-4D97-AF65-F5344CB8AC3E}">
        <p14:creationId xmlns:p14="http://schemas.microsoft.com/office/powerpoint/2010/main" val="204864046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randombar(horizontal)">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11895"/>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三、棱锥的概念及结构特征</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观察教科书中</a:t>
            </a:r>
            <a:r>
              <a:rPr lang="en-US" altLang="zh-CN" dirty="0">
                <a:solidFill>
                  <a:srgbClr val="000000"/>
                </a:solidFill>
                <a:ea typeface="宋体" panose="02010600030101010101" pitchFamily="2" charset="-122"/>
                <a:cs typeface="Times New Roman" panose="02020603050405020304" pitchFamily="18" charset="0"/>
              </a:rPr>
              <a:t>97</a:t>
            </a:r>
            <a:r>
              <a:rPr lang="zh-CN" altLang="zh-CN" dirty="0">
                <a:solidFill>
                  <a:srgbClr val="000000"/>
                </a:solidFill>
                <a:ea typeface="宋体" panose="02010600030101010101" pitchFamily="2" charset="-122"/>
                <a:cs typeface="Times New Roman" panose="02020603050405020304" pitchFamily="18" charset="0"/>
              </a:rPr>
              <a:t>页图</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中金字塔这样的多面体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它由什么样的面围成的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这些面之间有什么位置关系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均</a:t>
            </a:r>
            <a:r>
              <a:rPr lang="zh-CN" altLang="zh-CN" dirty="0">
                <a:solidFill>
                  <a:srgbClr val="000000"/>
                </a:solidFill>
                <a:ea typeface="楷体" panose="02010609060101010101" pitchFamily="49" charset="-122"/>
                <a:cs typeface="Times New Roman" panose="02020603050405020304" pitchFamily="18" charset="0"/>
              </a:rPr>
              <a:t>由平面图形围成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其中一个面是多边形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其余各面是有公共顶点的三角形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8542800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ChangeAspect="1"/>
          </p:cNvSpPr>
          <p:nvPr/>
        </p:nvSpPr>
        <p:spPr>
          <a:xfrm>
            <a:off x="361950" y="667791"/>
            <a:ext cx="3885679" cy="683264"/>
          </a:xfrm>
          <a:prstGeom prst="rect">
            <a:avLst/>
          </a:prstGeom>
        </p:spPr>
        <p:txBody>
          <a:bodyPr wrap="none">
            <a:spAutoFit/>
          </a:bodyPr>
          <a:lstStyle/>
          <a:p>
            <a:pPr indent="26797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棱锥的结构特征</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3330857507"/>
              </p:ext>
            </p:extLst>
          </p:nvPr>
        </p:nvGraphicFramePr>
        <p:xfrm>
          <a:off x="216421" y="1320118"/>
          <a:ext cx="11234730" cy="5579736"/>
        </p:xfrm>
        <a:graphic>
          <a:graphicData uri="http://schemas.openxmlformats.org/presentationml/2006/ole">
            <mc:AlternateContent xmlns:mc="http://schemas.openxmlformats.org/markup-compatibility/2006">
              <mc:Choice xmlns:v="urn:schemas-microsoft-com:vml" Requires="v">
                <p:oleObj spid="_x0000_s2063" name="文档" r:id="rId4" imgW="4051870" imgH="2012364" progId="Word.Document.12">
                  <p:embed/>
                </p:oleObj>
              </mc:Choice>
              <mc:Fallback>
                <p:oleObj name="文档" r:id="rId4" imgW="4051870" imgH="2012364" progId="Word.Document.12">
                  <p:embed/>
                  <p:pic>
                    <p:nvPicPr>
                      <p:cNvPr id="0" name=""/>
                      <p:cNvPicPr/>
                      <p:nvPr/>
                    </p:nvPicPr>
                    <p:blipFill>
                      <a:blip r:embed="rId5"/>
                      <a:stretch>
                        <a:fillRect/>
                      </a:stretch>
                    </p:blipFill>
                    <p:spPr>
                      <a:xfrm>
                        <a:off x="216421" y="1320118"/>
                        <a:ext cx="11234730" cy="5579736"/>
                      </a:xfrm>
                      <a:prstGeom prst="rect">
                        <a:avLst/>
                      </a:prstGeom>
                    </p:spPr>
                  </p:pic>
                </p:oleObj>
              </mc:Fallback>
            </mc:AlternateContent>
          </a:graphicData>
        </a:graphic>
      </p:graphicFrame>
      <p:sp>
        <p:nvSpPr>
          <p:cNvPr id="19" name="矩形 18"/>
          <p:cNvSpPr/>
          <p:nvPr/>
        </p:nvSpPr>
        <p:spPr>
          <a:xfrm>
            <a:off x="4366497" y="1941013"/>
            <a:ext cx="109497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894320" y="2418503"/>
            <a:ext cx="109497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808709" y="3590831"/>
            <a:ext cx="109497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916278" y="4064024"/>
            <a:ext cx="148471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903684" y="4549398"/>
            <a:ext cx="109497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151492" y="5028410"/>
            <a:ext cx="148471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980303" y="5219727"/>
            <a:ext cx="74788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8610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0"/>
                                        </p:tgtEl>
                                      </p:cBhvr>
                                    </p:animEffect>
                                    <p:set>
                                      <p:cBhvr>
                                        <p:cTn id="12" dur="1" fill="hold">
                                          <p:stCondLst>
                                            <p:cond delay="499"/>
                                          </p:stCondLst>
                                        </p:cTn>
                                        <p:tgtEl>
                                          <p:spTgt spid="2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1"/>
                                        </p:tgtEl>
                                      </p:cBhvr>
                                    </p:animEffect>
                                    <p:set>
                                      <p:cBhvr>
                                        <p:cTn id="17" dur="1" fill="hold">
                                          <p:stCondLst>
                                            <p:cond delay="499"/>
                                          </p:stCondLst>
                                        </p:cTn>
                                        <p:tgtEl>
                                          <p:spTgt spid="2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22"/>
                                        </p:tgtEl>
                                      </p:cBhvr>
                                    </p:animEffect>
                                    <p:set>
                                      <p:cBhvr>
                                        <p:cTn id="22" dur="1" fill="hold">
                                          <p:stCondLst>
                                            <p:cond delay="499"/>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23"/>
                                        </p:tgtEl>
                                      </p:cBhvr>
                                    </p:animEffect>
                                    <p:set>
                                      <p:cBhvr>
                                        <p:cTn id="27" dur="1" fill="hold">
                                          <p:stCondLst>
                                            <p:cond delay="499"/>
                                          </p:stCondLst>
                                        </p:cTn>
                                        <p:tgtEl>
                                          <p:spTgt spid="2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26"/>
                                        </p:tgtEl>
                                      </p:cBhvr>
                                    </p:animEffect>
                                    <p:set>
                                      <p:cBhvr>
                                        <p:cTn id="37"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89954302"/>
              </p:ext>
            </p:extLst>
          </p:nvPr>
        </p:nvGraphicFramePr>
        <p:xfrm>
          <a:off x="216421" y="1655911"/>
          <a:ext cx="11090030" cy="3240267"/>
        </p:xfrm>
        <a:graphic>
          <a:graphicData uri="http://schemas.openxmlformats.org/presentationml/2006/ole">
            <mc:AlternateContent xmlns:mc="http://schemas.openxmlformats.org/markup-compatibility/2006">
              <mc:Choice xmlns:v="urn:schemas-microsoft-com:vml" Requires="v">
                <p:oleObj spid="_x0000_s3087" name="文档" r:id="rId4" imgW="3999683" imgH="1168621" progId="Word.Document.12">
                  <p:embed/>
                </p:oleObj>
              </mc:Choice>
              <mc:Fallback>
                <p:oleObj name="文档" r:id="rId4" imgW="3999683" imgH="1168621" progId="Word.Document.12">
                  <p:embed/>
                  <p:pic>
                    <p:nvPicPr>
                      <p:cNvPr id="0" name=""/>
                      <p:cNvPicPr/>
                      <p:nvPr/>
                    </p:nvPicPr>
                    <p:blipFill>
                      <a:blip r:embed="rId5"/>
                      <a:stretch>
                        <a:fillRect/>
                      </a:stretch>
                    </p:blipFill>
                    <p:spPr>
                      <a:xfrm>
                        <a:off x="216421" y="1655911"/>
                        <a:ext cx="11090030" cy="3240267"/>
                      </a:xfrm>
                      <a:prstGeom prst="rect">
                        <a:avLst/>
                      </a:prstGeom>
                    </p:spPr>
                  </p:pic>
                </p:oleObj>
              </mc:Fallback>
            </mc:AlternateContent>
          </a:graphicData>
        </a:graphic>
      </p:graphicFrame>
      <p:sp>
        <p:nvSpPr>
          <p:cNvPr id="5" name="矩形 4"/>
          <p:cNvSpPr/>
          <p:nvPr/>
        </p:nvSpPr>
        <p:spPr>
          <a:xfrm>
            <a:off x="2197918" y="3217493"/>
            <a:ext cx="148471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241989" y="3227325"/>
            <a:ext cx="108000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3822516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94394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棱锥最少有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个面</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五</a:t>
            </a:r>
            <a:r>
              <a:rPr lang="zh-CN" altLang="zh-CN" dirty="0">
                <a:solidFill>
                  <a:srgbClr val="000000"/>
                </a:solidFill>
                <a:ea typeface="宋体" panose="02010600030101010101" pitchFamily="2" charset="-122"/>
                <a:cs typeface="Times New Roman" panose="02020603050405020304" pitchFamily="18" charset="0"/>
              </a:rPr>
              <a:t>棱锥一共有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条棱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2)10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858892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99927"/>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四、棱台的概念及结构特征</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用一个平行于棱锥底面的平面去截棱锥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底面与截面之间的部分有何特征</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上下面平行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侧面都是梯形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各侧棱延长后交于一点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6656430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37967"/>
            <a:ext cx="10807700" cy="3046988"/>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用一个</a:t>
            </a:r>
            <a:r>
              <a:rPr lang="zh-CN" altLang="zh-CN" dirty="0">
                <a:uFill>
                  <a:solidFill>
                    <a:srgbClr val="000000"/>
                  </a:solidFill>
                </a:uFill>
                <a:ea typeface="宋体" panose="02010600030101010101" pitchFamily="2" charset="-122"/>
                <a:cs typeface="Times New Roman" panose="02020603050405020304" pitchFamily="18" charset="0"/>
              </a:rPr>
              <a:t>平行于棱锥底面</a:t>
            </a:r>
            <a:r>
              <a:rPr lang="zh-CN" altLang="zh-CN" dirty="0">
                <a:solidFill>
                  <a:srgbClr val="000000"/>
                </a:solidFill>
                <a:ea typeface="宋体" panose="02010600030101010101" pitchFamily="2" charset="-122"/>
                <a:cs typeface="Times New Roman" panose="02020603050405020304" pitchFamily="18" charset="0"/>
              </a:rPr>
              <a:t>的平面去截棱锥</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底面与截面之间那部分多面体叫做棱台</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原</a:t>
            </a:r>
            <a:r>
              <a:rPr lang="zh-CN" altLang="zh-CN" dirty="0">
                <a:solidFill>
                  <a:srgbClr val="000000"/>
                </a:solidFill>
                <a:ea typeface="宋体" panose="02010600030101010101" pitchFamily="2" charset="-122"/>
                <a:cs typeface="Times New Roman" panose="02020603050405020304" pitchFamily="18" charset="0"/>
              </a:rPr>
              <a:t>棱锥的底面和截面分别叫做棱台的</a:t>
            </a:r>
            <a:r>
              <a:rPr lang="zh-CN" altLang="zh-CN" dirty="0">
                <a:ea typeface="宋体" panose="02010600030101010101" pitchFamily="2" charset="-122"/>
                <a:cs typeface="Times New Roman" panose="02020603050405020304" pitchFamily="18" charset="0"/>
              </a:rPr>
              <a:t>下底面</a:t>
            </a:r>
            <a:r>
              <a:rPr lang="zh-CN" altLang="zh-CN" dirty="0">
                <a:solidFill>
                  <a:srgbClr val="000000"/>
                </a:solidFill>
                <a:ea typeface="宋体" panose="02010600030101010101" pitchFamily="2" charset="-122"/>
                <a:cs typeface="Times New Roman" panose="02020603050405020304" pitchFamily="18" charset="0"/>
              </a:rPr>
              <a:t>和</a:t>
            </a:r>
            <a:r>
              <a:rPr lang="zh-CN" altLang="zh-CN" dirty="0">
                <a:ea typeface="宋体" panose="02010600030101010101" pitchFamily="2" charset="-122"/>
                <a:cs typeface="Times New Roman" panose="02020603050405020304" pitchFamily="18" charset="0"/>
              </a:rPr>
              <a:t>上底面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棱台的表示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棱台用表示底面各顶点的字母来表示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可记作</a:t>
            </a:r>
            <a:r>
              <a:rPr lang="zh-CN" altLang="zh-CN" dirty="0">
                <a:uFill>
                  <a:solidFill>
                    <a:srgbClr val="000000"/>
                  </a:solidFill>
                </a:uFill>
                <a:ea typeface="宋体" panose="02010600030101010101" pitchFamily="2" charset="-122"/>
                <a:cs typeface="Times New Roman" panose="02020603050405020304" pitchFamily="18" charset="0"/>
              </a:rPr>
              <a:t>棱台</a:t>
            </a:r>
            <a:r>
              <a:rPr lang="en-US" altLang="zh-CN" i="1" dirty="0" smtClean="0">
                <a:uFill>
                  <a:solidFill>
                    <a:srgbClr val="000000"/>
                  </a:solidFill>
                </a:uFill>
                <a:ea typeface="宋体" panose="02010600030101010101" pitchFamily="2" charset="-122"/>
              </a:rPr>
              <a:t>ABCD-A'B'C'D‘ </a:t>
            </a:r>
            <a:r>
              <a:rPr lang="en-US" altLang="zh-CN" i="1" dirty="0" smtClean="0">
                <a:solidFill>
                  <a:srgbClr val="000000"/>
                </a:solidFill>
                <a:ea typeface="宋体" panose="02010600030101010101" pitchFamily="2" charset="-122"/>
              </a:rPr>
              <a:t>.</a:t>
            </a:r>
            <a:endParaRPr lang="zh-CN" altLang="en-US" dirty="0"/>
          </a:p>
        </p:txBody>
      </p:sp>
      <p:pic>
        <p:nvPicPr>
          <p:cNvPr id="4" name="WMG2TRA05.eps" descr="id:2147492024;FounderCES"/>
          <p:cNvPicPr/>
          <p:nvPr/>
        </p:nvPicPr>
        <p:blipFill>
          <a:blip r:embed="rId2"/>
          <a:stretch>
            <a:fillRect/>
          </a:stretch>
        </p:blipFill>
        <p:spPr>
          <a:xfrm>
            <a:off x="6880483" y="2987740"/>
            <a:ext cx="2624970" cy="2326678"/>
          </a:xfrm>
          <a:prstGeom prst="rect">
            <a:avLst/>
          </a:prstGeom>
        </p:spPr>
      </p:pic>
      <p:sp>
        <p:nvSpPr>
          <p:cNvPr id="5" name="矩形 4"/>
          <p:cNvSpPr/>
          <p:nvPr/>
        </p:nvSpPr>
        <p:spPr>
          <a:xfrm>
            <a:off x="2466231" y="702314"/>
            <a:ext cx="28513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461685" y="1166412"/>
            <a:ext cx="2848118"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6985173" y="1874584"/>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6980402" y="2338682"/>
            <a:ext cx="1196942"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598325" y="1874584"/>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593554" y="2338682"/>
            <a:ext cx="1196942"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1286709" y="3054189"/>
            <a:ext cx="361023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282163" y="3518287"/>
            <a:ext cx="3606147"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a:spLocks noChangeAspect="1"/>
          </p:cNvSpPr>
          <p:nvPr/>
        </p:nvSpPr>
        <p:spPr>
          <a:xfrm>
            <a:off x="361950" y="5227723"/>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zh-CN" altLang="zh-CN" dirty="0">
                <a:solidFill>
                  <a:srgbClr val="000000"/>
                </a:solidFill>
                <a:ea typeface="宋体" panose="02010600030101010101" pitchFamily="2" charset="-122"/>
                <a:cs typeface="Times New Roman" panose="02020603050405020304" pitchFamily="18" charset="0"/>
              </a:rPr>
              <a:t>分类</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由三棱锥、四棱锥、五棱锥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截得的棱台分别叫做三棱台、四棱台、五棱台</a:t>
            </a:r>
            <a:r>
              <a:rPr lang="en-US" altLang="zh-CN" dirty="0">
                <a:solidFill>
                  <a:srgbClr val="000000"/>
                </a:solidFill>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223392573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2963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有两个面平行的多面体不可能是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棱柱</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棱台</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以上都错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具有下列哪个条件的多面体是棱台</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两底面是相似多边形的多面体</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侧面是梯形的多面体</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两底面平行的多面体</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两底面平行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侧棱延长后交于一点的多面体</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(1)B</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826444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randombar(horizontal)">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23447"/>
            <a:ext cx="10807700" cy="596233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有两个平面互相平行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其余各面都是平行四边形的多面体是棱柱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用一个平面去截棱锥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底面和截面之间的部分组成的几何体叫棱台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棱锥的侧面只能是三角形</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两个底面平行且相似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其余各面都是梯形的多面体是棱台</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117483" y="3003018"/>
            <a:ext cx="47603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2476690" y="4165433"/>
            <a:ext cx="47603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5810574" y="4730739"/>
            <a:ext cx="47603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10319057" y="5882867"/>
            <a:ext cx="47603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8345182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978105"/>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棱柱</a:t>
            </a:r>
            <a:r>
              <a:rPr lang="zh-CN" altLang="zh-CN" dirty="0"/>
              <a:t>的结构特征</a:t>
            </a:r>
          </a:p>
        </p:txBody>
      </p:sp>
      <p:sp>
        <p:nvSpPr>
          <p:cNvPr id="2" name="矩形 1"/>
          <p:cNvSpPr>
            <a:spLocks noChangeAspect="1"/>
          </p:cNvSpPr>
          <p:nvPr/>
        </p:nvSpPr>
        <p:spPr>
          <a:xfrm>
            <a:off x="361950" y="1674946"/>
            <a:ext cx="10807700" cy="3581365"/>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下列关于棱柱的说法正确的是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所有的面都是平行四边形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每一个面都不会是三角形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两底面平行</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各侧棱互相平行且相等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棱柱至少有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个面</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33695"/>
            <a:ext cx="10807700" cy="3637919"/>
          </a:xfrm>
          <a:prstGeom prst="rect">
            <a:avLst/>
          </a:prstGeom>
        </p:spPr>
        <p:txBody>
          <a:bodyPr>
            <a:spAutoFit/>
          </a:bodyPr>
          <a:lstStyle/>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棱柱的底面不一定是平行四边形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棱柱的底面可以是三角形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由棱柱的定义易知</a:t>
            </a:r>
            <a:r>
              <a:rPr lang="en-US" altLang="zh-CN" dirty="0">
                <a:solidFill>
                  <a:srgbClr val="000000"/>
                </a:solidFill>
                <a:ea typeface="宋体" panose="02010600030101010101" pitchFamily="2" charset="-122"/>
                <a:cs typeface="Times New Roman" panose="02020603050405020304" pitchFamily="18" charset="0"/>
              </a:rPr>
              <a:t>,C,D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棱柱底面有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楷体" panose="02010609060101010101" pitchFamily="49" charset="-122"/>
                <a:cs typeface="Times New Roman" panose="02020603050405020304" pitchFamily="18" charset="0"/>
              </a:rPr>
              <a:t>个</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棱柱</a:t>
            </a:r>
            <a:r>
              <a:rPr lang="zh-CN" altLang="zh-CN" dirty="0">
                <a:solidFill>
                  <a:srgbClr val="000000"/>
                </a:solidFill>
                <a:ea typeface="楷体" panose="02010609060101010101" pitchFamily="49" charset="-122"/>
                <a:cs typeface="Times New Roman" panose="02020603050405020304" pitchFamily="18" charset="0"/>
              </a:rPr>
              <a:t>底面为多边形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边数最少的是三角形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那么侧面至少</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于是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棱柱至少有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(1)CD</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(2)5</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295039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反思感悟H.eps" descr="id:2147490797;FounderCES"/>
          <p:cNvPicPr/>
          <p:nvPr/>
        </p:nvPicPr>
        <p:blipFill>
          <a:blip r:embed="rId2"/>
          <a:stretch>
            <a:fillRect/>
          </a:stretch>
        </p:blipFill>
        <p:spPr>
          <a:xfrm>
            <a:off x="361950" y="706791"/>
            <a:ext cx="2259558" cy="531552"/>
          </a:xfrm>
          <a:prstGeom prst="rect">
            <a:avLst/>
          </a:prstGeom>
        </p:spPr>
      </p:pic>
      <p:sp>
        <p:nvSpPr>
          <p:cNvPr id="4" name="矩形 3"/>
          <p:cNvSpPr>
            <a:spLocks noChangeAspect="1"/>
          </p:cNvSpPr>
          <p:nvPr/>
        </p:nvSpPr>
        <p:spPr>
          <a:xfrm>
            <a:off x="361950" y="1254819"/>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理解棱柱的结构特征应注意以下三个方面</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侧棱互相平行且相等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侧面都是平行四边形</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过不相邻的两条侧棱的截面是平行四边形</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rPr>
              <a:t>(3)</a:t>
            </a:r>
            <a:r>
              <a:rPr lang="zh-CN" altLang="zh-CN" dirty="0">
                <a:solidFill>
                  <a:srgbClr val="000000"/>
                </a:solidFill>
                <a:ea typeface="仿宋" panose="02010609060101010101" pitchFamily="49" charset="-122"/>
                <a:cs typeface="Times New Roman" panose="02020603050405020304" pitchFamily="18" charset="0"/>
              </a:rPr>
              <a:t>有两个面平行</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其余各面都是平行四边形的几何体不一定是棱柱</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如图所示</a:t>
            </a:r>
            <a:r>
              <a:rPr lang="en-US" altLang="zh-CN" i="1" dirty="0" smtClean="0">
                <a:solidFill>
                  <a:srgbClr val="000000"/>
                </a:solidFill>
                <a:ea typeface="宋体" panose="02010600030101010101" pitchFamily="2" charset="-122"/>
              </a:rPr>
              <a:t>.</a:t>
            </a:r>
            <a:endParaRPr lang="zh-CN" altLang="en-US" dirty="0"/>
          </a:p>
        </p:txBody>
      </p:sp>
      <p:pic>
        <p:nvPicPr>
          <p:cNvPr id="8" name="WMG2TRA06.eps" descr="id:2147499454;FounderCES"/>
          <p:cNvPicPr/>
          <p:nvPr/>
        </p:nvPicPr>
        <p:blipFill>
          <a:blip r:embed="rId3"/>
          <a:stretch>
            <a:fillRect/>
          </a:stretch>
        </p:blipFill>
        <p:spPr>
          <a:xfrm>
            <a:off x="5256981" y="3729731"/>
            <a:ext cx="2736304" cy="2554356"/>
          </a:xfrm>
          <a:prstGeom prst="rect">
            <a:avLst/>
          </a:prstGeom>
        </p:spPr>
      </p:pic>
    </p:spTree>
    <p:extLst>
      <p:ext uri="{BB962C8B-B14F-4D97-AF65-F5344CB8AC3E}">
        <p14:creationId xmlns:p14="http://schemas.microsoft.com/office/powerpoint/2010/main" val="96649448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49407"/>
            <a:ext cx="10807700" cy="491096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下列四个命题中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假命题为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棱柱中两个互相平行的平面一定是棱柱的底面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棱柱的各个侧面都是平行四边形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棱柱的两底面是全等的多边形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棱柱的面中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至少有两个面互相平行</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a:t>
            </a:r>
            <a:r>
              <a:rPr lang="zh-CN" altLang="en-US" dirty="0" smtClean="0">
                <a:solidFill>
                  <a:srgbClr val="000000"/>
                </a:solidFill>
                <a:ea typeface="楷体" panose="02010609060101010101" pitchFamily="49" charset="-122"/>
                <a:cs typeface="Times New Roman" panose="02020603050405020304" pitchFamily="18" charset="0"/>
              </a:rPr>
              <a:t>是假命题</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正六棱柱的两个相对的侧面互相平行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但不是棱柱的底面</a:t>
            </a:r>
            <a:r>
              <a:rPr lang="en-US" altLang="zh-CN" dirty="0">
                <a:solidFill>
                  <a:srgbClr val="000000"/>
                </a:solidFill>
                <a:ea typeface="宋体" panose="02010600030101010101" pitchFamily="2" charset="-122"/>
                <a:cs typeface="Times New Roman" panose="02020603050405020304" pitchFamily="18" charset="0"/>
              </a:rPr>
              <a:t>,B,C,D</a:t>
            </a:r>
            <a:r>
              <a:rPr lang="zh-CN" altLang="zh-CN" dirty="0">
                <a:solidFill>
                  <a:srgbClr val="000000"/>
                </a:solidFill>
                <a:ea typeface="楷体" panose="02010609060101010101" pitchFamily="49" charset="-122"/>
                <a:cs typeface="Times New Roman" panose="02020603050405020304" pitchFamily="18" charset="0"/>
              </a:rPr>
              <a:t>是</a:t>
            </a:r>
            <a:r>
              <a:rPr lang="zh-CN" altLang="zh-CN" dirty="0" smtClean="0">
                <a:solidFill>
                  <a:srgbClr val="000000"/>
                </a:solidFill>
                <a:ea typeface="楷体" panose="02010609060101010101" pitchFamily="49" charset="-122"/>
                <a:cs typeface="Times New Roman" panose="02020603050405020304" pitchFamily="18" charset="0"/>
              </a:rPr>
              <a:t>正</a:t>
            </a:r>
            <a:r>
              <a:rPr lang="zh-CN" altLang="en-US" dirty="0" smtClean="0">
                <a:solidFill>
                  <a:srgbClr val="000000"/>
                </a:solidFill>
                <a:ea typeface="楷体" panose="02010609060101010101" pitchFamily="49" charset="-122"/>
                <a:cs typeface="Times New Roman" panose="02020603050405020304" pitchFamily="18" charset="0"/>
              </a:rPr>
              <a:t>真命题</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4743597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69031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棱锥</a:t>
            </a:r>
            <a:r>
              <a:rPr lang="zh-CN" altLang="zh-CN" dirty="0"/>
              <a:t>、棱台的结构特征</a:t>
            </a:r>
          </a:p>
        </p:txBody>
      </p:sp>
      <p:sp>
        <p:nvSpPr>
          <p:cNvPr id="4" name="矩形 3"/>
          <p:cNvSpPr>
            <a:spLocks noChangeAspect="1"/>
          </p:cNvSpPr>
          <p:nvPr/>
        </p:nvSpPr>
        <p:spPr>
          <a:xfrm>
            <a:off x="361950" y="1266375"/>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下列关于棱锥的说法正确的是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六棱锥的侧面都是三角形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由四个平面围成的封闭图形只能是三棱锥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棱锥被平面截成的两部分不可能都是棱锥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由六个平面围成的封闭图形只能是五棱锥</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361950" y="4056671"/>
            <a:ext cx="9071495" cy="2456057"/>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四棱锥</a:t>
            </a:r>
            <a:r>
              <a:rPr lang="en-US" altLang="zh-CN" i="1" dirty="0">
                <a:solidFill>
                  <a:srgbClr val="000000"/>
                </a:solidFill>
                <a:ea typeface="宋体" panose="02010600030101010101" pitchFamily="2" charset="-122"/>
                <a:cs typeface="Times New Roman" panose="02020603050405020304" pitchFamily="18" charset="0"/>
              </a:rPr>
              <a:t>A-BCDE</a:t>
            </a:r>
            <a:r>
              <a:rPr lang="zh-CN" altLang="zh-CN" dirty="0">
                <a:solidFill>
                  <a:srgbClr val="000000"/>
                </a:solidFill>
                <a:ea typeface="楷体" panose="02010609060101010101" pitchFamily="49" charset="-122"/>
                <a:cs typeface="Times New Roman" panose="02020603050405020304" pitchFamily="18" charset="0"/>
              </a:rPr>
              <a:t>被平面</a:t>
            </a:r>
            <a:r>
              <a:rPr lang="en-US" altLang="zh-CN" i="1" dirty="0">
                <a:solidFill>
                  <a:srgbClr val="000000"/>
                </a:solidFill>
                <a:ea typeface="宋体" panose="02010600030101010101" pitchFamily="2" charset="-122"/>
                <a:cs typeface="Times New Roman" panose="02020603050405020304" pitchFamily="18" charset="0"/>
              </a:rPr>
              <a:t>AGF</a:t>
            </a:r>
            <a:r>
              <a:rPr lang="zh-CN" altLang="zh-CN" dirty="0">
                <a:solidFill>
                  <a:srgbClr val="000000"/>
                </a:solidFill>
                <a:ea typeface="楷体" panose="02010609060101010101" pitchFamily="49" charset="-122"/>
                <a:cs typeface="Times New Roman" panose="02020603050405020304" pitchFamily="18" charset="0"/>
              </a:rPr>
              <a:t>截成的两部分都是棱锥</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由六个平面围成的封闭图形有可能是四棱柱</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WMG2TRA07.eps" descr="id:2147499468;FounderCES"/>
          <p:cNvPicPr/>
          <p:nvPr/>
        </p:nvPicPr>
        <p:blipFill>
          <a:blip r:embed="rId2"/>
          <a:stretch>
            <a:fillRect/>
          </a:stretch>
        </p:blipFill>
        <p:spPr>
          <a:xfrm>
            <a:off x="9289429" y="4176191"/>
            <a:ext cx="1872208" cy="2104431"/>
          </a:xfrm>
          <a:prstGeom prst="rect">
            <a:avLst/>
          </a:prstGeom>
        </p:spPr>
      </p:pic>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2386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判断棱锥、棱台的方法</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举反例法</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zh-CN" altLang="zh-CN" dirty="0">
                <a:solidFill>
                  <a:srgbClr val="000000"/>
                </a:solidFill>
                <a:ea typeface="仿宋" panose="02010609060101010101" pitchFamily="49" charset="-122"/>
                <a:cs typeface="Times New Roman" panose="02020603050405020304" pitchFamily="18" charset="0"/>
              </a:rPr>
              <a:t>结合棱锥、棱台的定义举反例直接排除关于棱锥、棱台结构特征的某些不正确说法</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直接法</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反思感悟H.eps" descr="id:2147490797;FounderCES"/>
          <p:cNvPicPr/>
          <p:nvPr/>
        </p:nvPicPr>
        <p:blipFill>
          <a:blip r:embed="rId3"/>
          <a:stretch>
            <a:fillRect/>
          </a:stretch>
        </p:blipFill>
        <p:spPr>
          <a:xfrm>
            <a:off x="360062" y="700143"/>
            <a:ext cx="2259558" cy="531552"/>
          </a:xfrm>
          <a:prstGeom prst="rect">
            <a:avLst/>
          </a:prstGeom>
        </p:spPr>
      </p:pic>
      <p:graphicFrame>
        <p:nvGraphicFramePr>
          <p:cNvPr id="9" name="对象 8"/>
          <p:cNvGraphicFramePr>
            <a:graphicFrameLocks noChangeAspect="1"/>
          </p:cNvGraphicFramePr>
          <p:nvPr>
            <p:extLst>
              <p:ext uri="{D42A27DB-BD31-4B8C-83A1-F6EECF244321}">
                <p14:modId xmlns:p14="http://schemas.microsoft.com/office/powerpoint/2010/main" val="2775247129"/>
              </p:ext>
            </p:extLst>
          </p:nvPr>
        </p:nvGraphicFramePr>
        <p:xfrm>
          <a:off x="289313" y="4204465"/>
          <a:ext cx="10944332" cy="2795366"/>
        </p:xfrm>
        <a:graphic>
          <a:graphicData uri="http://schemas.openxmlformats.org/presentationml/2006/ole">
            <mc:AlternateContent xmlns:mc="http://schemas.openxmlformats.org/markup-compatibility/2006">
              <mc:Choice xmlns:v="urn:schemas-microsoft-com:vml" Requires="v">
                <p:oleObj spid="_x0000_s4108" name="文档" r:id="rId5" imgW="3947136" imgH="1008165" progId="Word.Document.12">
                  <p:embed/>
                </p:oleObj>
              </mc:Choice>
              <mc:Fallback>
                <p:oleObj name="文档" r:id="rId5" imgW="3947136" imgH="1008165" progId="Word.Document.12">
                  <p:embed/>
                  <p:pic>
                    <p:nvPicPr>
                      <p:cNvPr id="0" name=""/>
                      <p:cNvPicPr/>
                      <p:nvPr/>
                    </p:nvPicPr>
                    <p:blipFill>
                      <a:blip r:embed="rId6"/>
                      <a:stretch>
                        <a:fillRect/>
                      </a:stretch>
                    </p:blipFill>
                    <p:spPr>
                      <a:xfrm>
                        <a:off x="289313" y="4204465"/>
                        <a:ext cx="10944332" cy="2795366"/>
                      </a:xfrm>
                      <a:prstGeom prst="rect">
                        <a:avLst/>
                      </a:prstGeom>
                    </p:spPr>
                  </p:pic>
                </p:oleObj>
              </mc:Fallback>
            </mc:AlternateContent>
          </a:graphicData>
        </a:graphic>
      </p:graphicFrame>
    </p:spTree>
    <p:extLst>
      <p:ext uri="{BB962C8B-B14F-4D97-AF65-F5344CB8AC3E}">
        <p14:creationId xmlns:p14="http://schemas.microsoft.com/office/powerpoint/2010/main" val="126860336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10807700" cy="488903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有一个面是多边形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其余各面都是三角形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由这些面围成的几何体是棱锥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棱台的两个底面相似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且侧棱长都相等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如果一个棱锥的各个侧面都是等边三角形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那么这个棱锥不可能为六棱锥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底面是正多边形的棱锥的顶点在底面的射影一定是底面正多边形的中心</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995776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19527"/>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如果一个多面体的一个面是多边形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其余各面都是有一个公共顶点的三角形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才是棱锥</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a:t>
            </a:r>
            <a:r>
              <a:rPr lang="zh-CN" altLang="zh-CN" dirty="0" smtClean="0">
                <a:solidFill>
                  <a:srgbClr val="000000"/>
                </a:solidFill>
                <a:ea typeface="楷体" panose="02010609060101010101" pitchFamily="49" charset="-122"/>
                <a:cs typeface="Times New Roman" panose="02020603050405020304" pitchFamily="18" charset="0"/>
              </a:rPr>
              <a:t>图</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不是棱锥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endParaRPr lang="en-US" altLang="zh-CN"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endParaRPr lang="en-US" altLang="zh-CN"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endParaRPr lang="en-US" altLang="zh-CN"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棱台的两个底面相似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但侧棱长不一定都相等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21N27.eps" descr="id:2147499490;FounderCES"/>
          <p:cNvPicPr/>
          <p:nvPr/>
        </p:nvPicPr>
        <p:blipFill>
          <a:blip r:embed="rId2"/>
          <a:stretch>
            <a:fillRect/>
          </a:stretch>
        </p:blipFill>
        <p:spPr>
          <a:xfrm>
            <a:off x="4541664" y="2408628"/>
            <a:ext cx="2448272" cy="2237437"/>
          </a:xfrm>
          <a:prstGeom prst="rect">
            <a:avLst/>
          </a:prstGeom>
        </p:spPr>
      </p:pic>
    </p:spTree>
    <p:extLst>
      <p:ext uri="{BB962C8B-B14F-4D97-AF65-F5344CB8AC3E}">
        <p14:creationId xmlns:p14="http://schemas.microsoft.com/office/powerpoint/2010/main" val="413227797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0956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当棱锥的各个侧面的顶角之和是</a:t>
            </a:r>
            <a:r>
              <a:rPr lang="en-US" altLang="zh-CN" dirty="0">
                <a:solidFill>
                  <a:srgbClr val="000000"/>
                </a:solidFill>
                <a:ea typeface="宋体" panose="02010600030101010101" pitchFamily="2" charset="-122"/>
                <a:cs typeface="Times New Roman" panose="02020603050405020304" pitchFamily="18" charset="0"/>
              </a:rPr>
              <a:t>360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各侧面构成平面图形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构不成棱锥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由此推导出如果一个棱锥的各个侧面都是等边三角形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那么这个棱锥不可能为六棱锥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底面是正多边形的棱锥的顶点在底面的射影不一定是底面正多边形的中心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a:t>
            </a:r>
            <a:r>
              <a:rPr lang="zh-CN" altLang="zh-CN" dirty="0" smtClean="0">
                <a:solidFill>
                  <a:srgbClr val="000000"/>
                </a:solidFill>
                <a:ea typeface="楷体" panose="02010609060101010101" pitchFamily="49" charset="-122"/>
                <a:cs typeface="Times New Roman" panose="02020603050405020304" pitchFamily="18" charset="0"/>
              </a:rPr>
              <a:t>图</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21N28.eps" descr="id:2147499497;FounderCES"/>
          <p:cNvPicPr/>
          <p:nvPr/>
        </p:nvPicPr>
        <p:blipFill>
          <a:blip r:embed="rId2"/>
          <a:stretch>
            <a:fillRect/>
          </a:stretch>
        </p:blipFill>
        <p:spPr>
          <a:xfrm>
            <a:off x="4320877" y="3698620"/>
            <a:ext cx="2016224" cy="2104259"/>
          </a:xfrm>
          <a:prstGeom prst="rect">
            <a:avLst/>
          </a:prstGeom>
        </p:spPr>
      </p:pic>
    </p:spTree>
    <p:extLst>
      <p:ext uri="{BB962C8B-B14F-4D97-AF65-F5344CB8AC3E}">
        <p14:creationId xmlns:p14="http://schemas.microsoft.com/office/powerpoint/2010/main" val="2475168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91815"/>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smtClean="0"/>
              <a:t>探究三</a:t>
            </a:r>
            <a:r>
              <a:rPr lang="en-US" altLang="zh-CN" dirty="0" smtClean="0"/>
              <a:t>  </a:t>
            </a:r>
            <a:r>
              <a:rPr lang="zh-CN" altLang="zh-CN" dirty="0" smtClean="0"/>
              <a:t>空间</a:t>
            </a:r>
            <a:r>
              <a:rPr lang="zh-CN" altLang="zh-CN" dirty="0"/>
              <a:t>几何体的平面展开图</a:t>
            </a:r>
          </a:p>
        </p:txBody>
      </p:sp>
      <p:sp>
        <p:nvSpPr>
          <p:cNvPr id="2" name="矩形 1"/>
          <p:cNvSpPr>
            <a:spLocks noChangeAspect="1"/>
          </p:cNvSpPr>
          <p:nvPr/>
        </p:nvSpPr>
        <p:spPr>
          <a:xfrm>
            <a:off x="361950" y="1467983"/>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某同学制作了一个对面图案均相同的正方体礼品盒</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则这个正方体礼品盒的表面展开图应该</a:t>
            </a:r>
            <a:r>
              <a:rPr lang="zh-CN" altLang="zh-CN" dirty="0" smtClean="0">
                <a:solidFill>
                  <a:srgbClr val="000000"/>
                </a:solidFill>
                <a:ea typeface="宋体" panose="02010600030101010101" pitchFamily="2" charset="-122"/>
                <a:cs typeface="Times New Roman" panose="02020603050405020304" pitchFamily="18" charset="0"/>
              </a:rPr>
              <a:t>为</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 </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5" name="21N29.eps" descr="id:2147499511;FounderCES"/>
          <p:cNvPicPr/>
          <p:nvPr/>
        </p:nvPicPr>
        <p:blipFill>
          <a:blip r:embed="rId2"/>
          <a:stretch>
            <a:fillRect/>
          </a:stretch>
        </p:blipFill>
        <p:spPr>
          <a:xfrm>
            <a:off x="1944613" y="3401260"/>
            <a:ext cx="1219185" cy="1052173"/>
          </a:xfrm>
          <a:prstGeom prst="rect">
            <a:avLst/>
          </a:prstGeom>
        </p:spPr>
      </p:pic>
      <p:pic>
        <p:nvPicPr>
          <p:cNvPr id="6" name="21N30.eps" descr="id:2147499518;FounderCES"/>
          <p:cNvPicPr/>
          <p:nvPr/>
        </p:nvPicPr>
        <p:blipFill>
          <a:blip r:embed="rId3"/>
          <a:stretch>
            <a:fillRect/>
          </a:stretch>
        </p:blipFill>
        <p:spPr>
          <a:xfrm>
            <a:off x="4680917" y="2821969"/>
            <a:ext cx="4032448" cy="3082414"/>
          </a:xfrm>
          <a:prstGeom prst="rect">
            <a:avLst/>
          </a:prstGeom>
        </p:spPr>
      </p:pic>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936158"/>
            <a:ext cx="10807700" cy="245605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其展开图是沿盒子的棱剪开</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无论从哪条棱剪开</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剪开的相邻面在展开图中不相邻</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但未剪开的相邻面在展开图中一定相邻</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又盒子上相对的面是相同的图案</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展开后不能相邻</a:t>
            </a:r>
            <a:r>
              <a:rPr lang="en-US" altLang="zh-CN" i="1" dirty="0" smtClean="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9774022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60072"/>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在长方体</a:t>
            </a:r>
            <a:r>
              <a:rPr lang="en-US" altLang="zh-CN" i="1" dirty="0">
                <a:solidFill>
                  <a:srgbClr val="000000"/>
                </a:solidFill>
                <a:ea typeface="宋体" panose="02010600030101010101" pitchFamily="2" charset="-122"/>
                <a:cs typeface="Times New Roman" panose="02020603050405020304" pitchFamily="18" charset="0"/>
              </a:rPr>
              <a:t>ABCD-A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BC=</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一只蚂蚁从点</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出发沿表面爬行到点</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求蚂蚁爬行的最短路线长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21N31.eps" descr="id:2147499525;FounderCES"/>
          <p:cNvPicPr/>
          <p:nvPr/>
        </p:nvPicPr>
        <p:blipFill>
          <a:blip r:embed="rId2"/>
          <a:stretch>
            <a:fillRect/>
          </a:stretch>
        </p:blipFill>
        <p:spPr>
          <a:xfrm>
            <a:off x="3888829" y="1996287"/>
            <a:ext cx="2736304" cy="4104456"/>
          </a:xfrm>
          <a:prstGeom prst="rect">
            <a:avLst/>
          </a:prstGeom>
        </p:spPr>
      </p:pic>
    </p:spTree>
    <p:extLst>
      <p:ext uri="{BB962C8B-B14F-4D97-AF65-F5344CB8AC3E}">
        <p14:creationId xmlns:p14="http://schemas.microsoft.com/office/powerpoint/2010/main" val="104154338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33279"/>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沿长方体</a:t>
            </a:r>
            <a:r>
              <a:rPr lang="zh-CN" altLang="zh-CN" dirty="0" smtClean="0">
                <a:solidFill>
                  <a:srgbClr val="000000"/>
                </a:solidFill>
                <a:ea typeface="楷体" panose="02010609060101010101" pitchFamily="49" charset="-122"/>
                <a:cs typeface="Times New Roman" panose="02020603050405020304" pitchFamily="18" charset="0"/>
              </a:rPr>
              <a:t>的棱</a:t>
            </a:r>
            <a:r>
              <a:rPr lang="zh-CN" altLang="zh-CN" dirty="0">
                <a:solidFill>
                  <a:srgbClr val="000000"/>
                </a:solidFill>
                <a:ea typeface="楷体" panose="02010609060101010101" pitchFamily="49" charset="-122"/>
                <a:cs typeface="Times New Roman" panose="02020603050405020304" pitchFamily="18" charset="0"/>
              </a:rPr>
              <a:t>剪开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使</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展在同一平面上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求线段</a:t>
            </a:r>
            <a:r>
              <a:rPr lang="en-US" altLang="zh-CN" i="1" dirty="0">
                <a:solidFill>
                  <a:srgbClr val="000000"/>
                </a:solidFill>
                <a:ea typeface="宋体" panose="02010600030101010101" pitchFamily="2" charset="-122"/>
                <a:cs typeface="Times New Roman" panose="02020603050405020304" pitchFamily="18" charset="0"/>
              </a:rPr>
              <a:t>AC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的长即可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有如图所示的三种剪法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91551726"/>
              </p:ext>
            </p:extLst>
          </p:nvPr>
        </p:nvGraphicFramePr>
        <p:xfrm>
          <a:off x="380101" y="1747583"/>
          <a:ext cx="10640962" cy="4664945"/>
        </p:xfrm>
        <a:graphic>
          <a:graphicData uri="http://schemas.openxmlformats.org/presentationml/2006/ole">
            <mc:AlternateContent xmlns:mc="http://schemas.openxmlformats.org/markup-compatibility/2006">
              <mc:Choice xmlns:v="urn:schemas-microsoft-com:vml" Requires="v">
                <p:oleObj spid="_x0000_s5130" name="文档" r:id="rId4" imgW="3826872" imgH="1679739" progId="Word.Document.12">
                  <p:embed/>
                </p:oleObj>
              </mc:Choice>
              <mc:Fallback>
                <p:oleObj name="文档" r:id="rId4" imgW="3826872" imgH="1679739" progId="Word.Document.12">
                  <p:embed/>
                  <p:pic>
                    <p:nvPicPr>
                      <p:cNvPr id="0" name=""/>
                      <p:cNvPicPr/>
                      <p:nvPr/>
                    </p:nvPicPr>
                    <p:blipFill>
                      <a:blip r:embed="rId5"/>
                      <a:stretch>
                        <a:fillRect/>
                      </a:stretch>
                    </p:blipFill>
                    <p:spPr>
                      <a:xfrm>
                        <a:off x="380101" y="1747583"/>
                        <a:ext cx="10640962" cy="4664945"/>
                      </a:xfrm>
                      <a:prstGeom prst="rect">
                        <a:avLst/>
                      </a:prstGeom>
                    </p:spPr>
                  </p:pic>
                </p:oleObj>
              </mc:Fallback>
            </mc:AlternateContent>
          </a:graphicData>
        </a:graphic>
      </p:graphicFrame>
    </p:spTree>
    <p:extLst>
      <p:ext uri="{BB962C8B-B14F-4D97-AF65-F5344CB8AC3E}">
        <p14:creationId xmlns:p14="http://schemas.microsoft.com/office/powerpoint/2010/main" val="266650643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反思感悟H.eps" descr="id:2147490797;FounderCES"/>
          <p:cNvPicPr/>
          <p:nvPr/>
        </p:nvPicPr>
        <p:blipFill>
          <a:blip r:embed="rId2"/>
          <a:stretch>
            <a:fillRect/>
          </a:stretch>
        </p:blipFill>
        <p:spPr>
          <a:xfrm>
            <a:off x="361950" y="761452"/>
            <a:ext cx="2259558" cy="531552"/>
          </a:xfrm>
          <a:prstGeom prst="rect">
            <a:avLst/>
          </a:prstGeom>
        </p:spPr>
      </p:pic>
      <p:sp>
        <p:nvSpPr>
          <p:cNvPr id="2" name="矩形 1"/>
          <p:cNvSpPr>
            <a:spLocks noChangeAspect="1"/>
          </p:cNvSpPr>
          <p:nvPr/>
        </p:nvSpPr>
        <p:spPr>
          <a:xfrm>
            <a:off x="361950" y="1337516"/>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绘制展开图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绘制多面体的平面展开图要结合多面体的几何特征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发挥空间想象力或者是亲手制作多面体模型</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在解题过程中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常常给多面体的顶点标上字母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先把多面体的底面画出来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然后依次画出各侧面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便可得到其平面展开图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由展开图复原几何体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若是给出多面体的平面展开图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来判断是由哪一个多面体展开的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则可把上述过程逆推</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同一个几何体的平面展开图可能是</a:t>
            </a:r>
            <a:r>
              <a:rPr lang="zh-CN" altLang="zh-CN" dirty="0" smtClean="0">
                <a:solidFill>
                  <a:srgbClr val="000000"/>
                </a:solidFill>
                <a:ea typeface="仿宋" panose="02010609060101010101" pitchFamily="49" charset="-122"/>
                <a:cs typeface="Times New Roman" panose="02020603050405020304" pitchFamily="18" charset="0"/>
              </a:rPr>
              <a:t>不一样的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也就是说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一个多面体可有多个平面展开图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2958308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15159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求从几何体的表面上一点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沿几何体表面运动到另一点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所走过的最短距离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常将几何体沿某条棱剪开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使两点展在一个平面上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转化为求平面上两点间的最短距离问题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182055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83487"/>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已知正三棱柱</a:t>
            </a:r>
            <a:r>
              <a:rPr lang="en-US" altLang="zh-CN" i="1" dirty="0">
                <a:solidFill>
                  <a:srgbClr val="000000"/>
                </a:solidFill>
                <a:ea typeface="宋体" panose="02010600030101010101" pitchFamily="2" charset="-122"/>
                <a:cs typeface="Times New Roman" panose="02020603050405020304" pitchFamily="18" charset="0"/>
              </a:rPr>
              <a:t>ABC-A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的底面边长为</a:t>
            </a:r>
            <a:r>
              <a:rPr lang="en-US" altLang="zh-CN" dirty="0">
                <a:solidFill>
                  <a:srgbClr val="000000"/>
                </a:solidFill>
                <a:ea typeface="宋体" panose="02010600030101010101" pitchFamily="2" charset="-122"/>
                <a:cs typeface="Times New Roman" panose="02020603050405020304" pitchFamily="18" charset="0"/>
              </a:rPr>
              <a:t>4 cm,</a:t>
            </a:r>
            <a:r>
              <a:rPr lang="zh-CN" altLang="zh-CN" dirty="0">
                <a:solidFill>
                  <a:srgbClr val="000000"/>
                </a:solidFill>
                <a:ea typeface="宋体" panose="02010600030101010101" pitchFamily="2" charset="-122"/>
                <a:cs typeface="Times New Roman" panose="02020603050405020304" pitchFamily="18" charset="0"/>
              </a:rPr>
              <a:t>高为</a:t>
            </a:r>
            <a:r>
              <a:rPr lang="en-US" altLang="zh-CN" dirty="0">
                <a:solidFill>
                  <a:srgbClr val="000000"/>
                </a:solidFill>
                <a:ea typeface="宋体" panose="02010600030101010101" pitchFamily="2" charset="-122"/>
                <a:cs typeface="Times New Roman" panose="02020603050405020304" pitchFamily="18" charset="0"/>
              </a:rPr>
              <a:t>10 cm,</a:t>
            </a:r>
            <a:r>
              <a:rPr lang="zh-CN" altLang="zh-CN" dirty="0">
                <a:solidFill>
                  <a:srgbClr val="000000"/>
                </a:solidFill>
                <a:ea typeface="宋体" panose="02010600030101010101" pitchFamily="2" charset="-122"/>
                <a:cs typeface="Times New Roman" panose="02020603050405020304" pitchFamily="18" charset="0"/>
              </a:rPr>
              <a:t>则一质点自点</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出发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沿着三棱柱的侧面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绕行两周到达点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的最短路线的长为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85265308"/>
              </p:ext>
            </p:extLst>
          </p:nvPr>
        </p:nvGraphicFramePr>
        <p:xfrm>
          <a:off x="504453" y="4061900"/>
          <a:ext cx="11705058" cy="1070059"/>
        </p:xfrm>
        <a:graphic>
          <a:graphicData uri="http://schemas.openxmlformats.org/presentationml/2006/ole">
            <mc:AlternateContent xmlns:mc="http://schemas.openxmlformats.org/markup-compatibility/2006">
              <mc:Choice xmlns:v="urn:schemas-microsoft-com:vml" Requires="v">
                <p:oleObj spid="_x0000_s6154" name="文档" r:id="rId4" imgW="3837724" imgH="350839" progId="Word.Document.12">
                  <p:embed/>
                </p:oleObj>
              </mc:Choice>
              <mc:Fallback>
                <p:oleObj name="文档" r:id="rId4" imgW="3837724" imgH="350839" progId="Word.Document.12">
                  <p:embed/>
                  <p:pic>
                    <p:nvPicPr>
                      <p:cNvPr id="0" name=""/>
                      <p:cNvPicPr/>
                      <p:nvPr/>
                    </p:nvPicPr>
                    <p:blipFill>
                      <a:blip r:embed="rId5"/>
                      <a:stretch>
                        <a:fillRect/>
                      </a:stretch>
                    </p:blipFill>
                    <p:spPr>
                      <a:xfrm>
                        <a:off x="504453" y="4061900"/>
                        <a:ext cx="11705058" cy="1070059"/>
                      </a:xfrm>
                      <a:prstGeom prst="rect">
                        <a:avLst/>
                      </a:prstGeom>
                    </p:spPr>
                  </p:pic>
                </p:oleObj>
              </mc:Fallback>
            </mc:AlternateContent>
          </a:graphicData>
        </a:graphic>
      </p:graphicFrame>
      <p:pic>
        <p:nvPicPr>
          <p:cNvPr id="7" name="21N32.eps" descr="id:2147499539;FounderCES"/>
          <p:cNvPicPr/>
          <p:nvPr/>
        </p:nvPicPr>
        <p:blipFill>
          <a:blip r:embed="rId6"/>
          <a:stretch>
            <a:fillRect/>
          </a:stretch>
        </p:blipFill>
        <p:spPr>
          <a:xfrm>
            <a:off x="7705253" y="2251639"/>
            <a:ext cx="2448272" cy="2793099"/>
          </a:xfrm>
          <a:prstGeom prst="rect">
            <a:avLst/>
          </a:prstGeom>
        </p:spPr>
      </p:pic>
    </p:spTree>
    <p:extLst>
      <p:ext uri="{BB962C8B-B14F-4D97-AF65-F5344CB8AC3E}">
        <p14:creationId xmlns:p14="http://schemas.microsoft.com/office/powerpoint/2010/main" val="421670089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900080"/>
            <a:ext cx="13935793" cy="4150367"/>
            <a:chOff x="361950" y="889920"/>
            <a:chExt cx="13935793" cy="4150367"/>
          </a:xfrm>
        </p:grpSpPr>
        <p:sp>
          <p:nvSpPr>
            <p:cNvPr id="2" name="矩形 1"/>
            <p:cNvSpPr>
              <a:spLocks noChangeAspect="1"/>
            </p:cNvSpPr>
            <p:nvPr/>
          </p:nvSpPr>
          <p:spPr>
            <a:xfrm>
              <a:off x="361950" y="889920"/>
              <a:ext cx="10807700" cy="415036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将正三棱柱</a:t>
              </a:r>
              <a:r>
                <a:rPr lang="en-US" altLang="zh-CN" i="1" dirty="0">
                  <a:solidFill>
                    <a:srgbClr val="000000"/>
                  </a:solidFill>
                  <a:ea typeface="宋体" panose="02010600030101010101" pitchFamily="2" charset="-122"/>
                  <a:cs typeface="Times New Roman" panose="02020603050405020304" pitchFamily="18" charset="0"/>
                </a:rPr>
                <a:t>ABC-A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沿侧棱展开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再拼接一次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最短距离是六个小矩形拼成的矩形对角线的长度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即为三棱柱的侧面上所求路线的最小值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由已知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拼成的矩形的长等于</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24(cm),</a:t>
              </a:r>
              <a:r>
                <a:rPr lang="zh-CN" altLang="zh-CN" dirty="0">
                  <a:solidFill>
                    <a:srgbClr val="000000"/>
                  </a:solidFill>
                  <a:ea typeface="楷体" panose="02010609060101010101" pitchFamily="49" charset="-122"/>
                  <a:cs typeface="Times New Roman" panose="02020603050405020304" pitchFamily="18" charset="0"/>
                </a:rPr>
                <a:t>宽等于</a:t>
              </a:r>
              <a:r>
                <a:rPr lang="en-US" altLang="zh-CN" dirty="0">
                  <a:solidFill>
                    <a:srgbClr val="000000"/>
                  </a:solidFill>
                  <a:ea typeface="宋体" panose="02010600030101010101" pitchFamily="2" charset="-122"/>
                  <a:cs typeface="Times New Roman" panose="02020603050405020304" pitchFamily="18" charset="0"/>
                </a:rPr>
                <a:t>10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楷体" panose="02010609060101010101" pitchFamily="49" charset="-122"/>
                  <a:cs typeface="Times New Roman" panose="02020603050405020304" pitchFamily="18" charset="0"/>
                </a:rPr>
                <a:t>故最短路线长为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599585932"/>
                </p:ext>
              </p:extLst>
            </p:nvPr>
          </p:nvGraphicFramePr>
          <p:xfrm>
            <a:off x="2592685" y="4454646"/>
            <a:ext cx="11705058" cy="554273"/>
          </p:xfrm>
          <a:graphic>
            <a:graphicData uri="http://schemas.openxmlformats.org/presentationml/2006/ole">
              <mc:AlternateContent xmlns:mc="http://schemas.openxmlformats.org/markup-compatibility/2006">
                <mc:Choice xmlns:v="urn:schemas-microsoft-com:vml" Requires="v">
                  <p:oleObj spid="_x0000_s7178" name="文档" r:id="rId4" imgW="3837724" imgH="181729" progId="Word.Document.12">
                    <p:embed/>
                  </p:oleObj>
                </mc:Choice>
                <mc:Fallback>
                  <p:oleObj name="文档" r:id="rId4" imgW="3837724" imgH="181729" progId="Word.Document.12">
                    <p:embed/>
                    <p:pic>
                      <p:nvPicPr>
                        <p:cNvPr id="0" name=""/>
                        <p:cNvPicPr/>
                        <p:nvPr/>
                      </p:nvPicPr>
                      <p:blipFill>
                        <a:blip r:embed="rId5"/>
                        <a:stretch>
                          <a:fillRect/>
                        </a:stretch>
                      </p:blipFill>
                      <p:spPr>
                        <a:xfrm>
                          <a:off x="2592685" y="4454646"/>
                          <a:ext cx="11705058" cy="554273"/>
                        </a:xfrm>
                        <a:prstGeom prst="rect">
                          <a:avLst/>
                        </a:prstGeom>
                      </p:spPr>
                    </p:pic>
                  </p:oleObj>
                </mc:Fallback>
              </mc:AlternateContent>
            </a:graphicData>
          </a:graphic>
        </p:graphicFrame>
      </p:grpSp>
      <p:pic>
        <p:nvPicPr>
          <p:cNvPr id="10" name="21N33.eps" descr="id:2147499546;FounderCES"/>
          <p:cNvPicPr/>
          <p:nvPr/>
        </p:nvPicPr>
        <p:blipFill>
          <a:blip r:embed="rId6"/>
          <a:stretch>
            <a:fillRect/>
          </a:stretch>
        </p:blipFill>
        <p:spPr>
          <a:xfrm>
            <a:off x="4248869" y="1620160"/>
            <a:ext cx="2520280" cy="1046557"/>
          </a:xfrm>
          <a:prstGeom prst="rect">
            <a:avLst/>
          </a:prstGeom>
        </p:spPr>
      </p:pic>
      <p:sp>
        <p:nvSpPr>
          <p:cNvPr id="11" name="矩形 10"/>
          <p:cNvSpPr>
            <a:spLocks noChangeAspect="1"/>
          </p:cNvSpPr>
          <p:nvPr/>
        </p:nvSpPr>
        <p:spPr>
          <a:xfrm>
            <a:off x="361950" y="5053438"/>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773112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19807"/>
            <a:ext cx="10807700" cy="5501891"/>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判别棱台只凭图形主观臆断</a:t>
            </a:r>
            <a:r>
              <a:rPr lang="zh-CN" altLang="zh-CN" dirty="0" smtClean="0">
                <a:solidFill>
                  <a:srgbClr val="000000"/>
                </a:solidFill>
                <a:latin typeface="Arial" panose="020B0604020202020204" pitchFamily="34" charset="0"/>
                <a:cs typeface="Times New Roman" panose="02020603050405020304" pitchFamily="18" charset="0"/>
              </a:rPr>
              <a:t>致</a:t>
            </a:r>
            <a:r>
              <a:rPr lang="zh-CN" altLang="en-US" dirty="0" smtClean="0">
                <a:solidFill>
                  <a:srgbClr val="000000"/>
                </a:solidFill>
                <a:latin typeface="Arial" panose="020B0604020202020204" pitchFamily="34" charset="0"/>
                <a:cs typeface="Times New Roman" panose="02020603050405020304" pitchFamily="18" charset="0"/>
              </a:rPr>
              <a:t>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这个几何体不是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四棱台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六面体</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四棱柱</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由四棱柱截去一个三棱柱得到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WMG2TRA09.eps" descr="id:2147492115;FounderCES"/>
          <p:cNvPicPr/>
          <p:nvPr/>
        </p:nvPicPr>
        <p:blipFill>
          <a:blip r:embed="rId2"/>
          <a:stretch>
            <a:fillRect/>
          </a:stretch>
        </p:blipFill>
        <p:spPr>
          <a:xfrm>
            <a:off x="6985173" y="2087959"/>
            <a:ext cx="2880320" cy="2362430"/>
          </a:xfrm>
          <a:prstGeom prst="rect">
            <a:avLst/>
          </a:prstGeom>
        </p:spPr>
      </p:pic>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0930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棱台的侧棱的延长线能交于一点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若是棱台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不能主观臆断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要进行适当操作判断侧棱能不能交于一点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因为侧棱的延长线不能交于一点</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所以</a:t>
            </a:r>
            <a:r>
              <a:rPr lang="en-US" altLang="zh-CN" dirty="0">
                <a:solidFill>
                  <a:srgbClr val="000000"/>
                </a:solidFill>
                <a:ea typeface="宋体" panose="02010600030101010101" pitchFamily="2" charset="-122"/>
              </a:rPr>
              <a:t>A</a:t>
            </a:r>
            <a:r>
              <a:rPr lang="zh-CN" altLang="zh-CN" dirty="0">
                <a:solidFill>
                  <a:srgbClr val="000000"/>
                </a:solidFill>
                <a:ea typeface="宋体" panose="02010600030101010101" pitchFamily="2" charset="-122"/>
                <a:cs typeface="Times New Roman" panose="02020603050405020304" pitchFamily="18" charset="0"/>
              </a:rPr>
              <a:t>项符合题意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因为有六个面</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属于六面体的范围</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所以</a:t>
            </a:r>
            <a:r>
              <a:rPr lang="en-US" altLang="zh-CN" dirty="0">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Times New Roman" panose="02020603050405020304" pitchFamily="18" charset="0"/>
              </a:rPr>
              <a:t>项不符合题意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如果把几何体放倒就会发现是一个四棱柱</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所以</a:t>
            </a:r>
            <a:r>
              <a:rPr lang="en-US" altLang="zh-CN" dirty="0">
                <a:solidFill>
                  <a:srgbClr val="000000"/>
                </a:solidFill>
                <a:ea typeface="宋体" panose="02010600030101010101" pitchFamily="2" charset="-122"/>
              </a:rPr>
              <a:t>C</a:t>
            </a:r>
            <a:r>
              <a:rPr lang="zh-CN" altLang="zh-CN" dirty="0">
                <a:solidFill>
                  <a:srgbClr val="000000"/>
                </a:solidFill>
                <a:ea typeface="宋体" panose="02010600030101010101" pitchFamily="2" charset="-122"/>
                <a:cs typeface="Times New Roman" panose="02020603050405020304" pitchFamily="18" charset="0"/>
              </a:rPr>
              <a:t>项不符合题意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易知</a:t>
            </a:r>
            <a:r>
              <a:rPr lang="en-US" altLang="zh-CN" dirty="0">
                <a:solidFill>
                  <a:srgbClr val="000000"/>
                </a:solidFill>
                <a:ea typeface="宋体" panose="02010600030101010101" pitchFamily="2" charset="-122"/>
              </a:rPr>
              <a:t>D</a:t>
            </a:r>
            <a:r>
              <a:rPr lang="zh-CN" altLang="zh-CN" dirty="0">
                <a:solidFill>
                  <a:srgbClr val="000000"/>
                </a:solidFill>
                <a:ea typeface="宋体" panose="02010600030101010101" pitchFamily="2" charset="-122"/>
                <a:cs typeface="Times New Roman" panose="02020603050405020304" pitchFamily="18" charset="0"/>
              </a:rPr>
              <a:t>项也不符合题意</a:t>
            </a:r>
            <a:r>
              <a:rPr lang="en-US" altLang="zh-CN" i="1" dirty="0" smtClean="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435909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774652"/>
            <a:ext cx="10807700" cy="2401539"/>
            <a:chOff x="361950" y="1792856"/>
            <a:chExt cx="10807700" cy="2401539"/>
          </a:xfrm>
        </p:grpSpPr>
        <p:pic>
          <p:nvPicPr>
            <p:cNvPr id="3" name="防范措施H.eps" descr="id:2147490860;FounderCES"/>
            <p:cNvPicPr/>
            <p:nvPr/>
          </p:nvPicPr>
          <p:blipFill>
            <a:blip r:embed="rId2"/>
            <a:stretch>
              <a:fillRect/>
            </a:stretch>
          </p:blipFill>
          <p:spPr>
            <a:xfrm>
              <a:off x="361950" y="1792856"/>
              <a:ext cx="2259558" cy="531552"/>
            </a:xfrm>
            <a:prstGeom prst="rect">
              <a:avLst/>
            </a:prstGeom>
          </p:spPr>
        </p:pic>
        <p:sp>
          <p:nvSpPr>
            <p:cNvPr id="4" name="矩形 3"/>
            <p:cNvSpPr>
              <a:spLocks noChangeAspect="1"/>
            </p:cNvSpPr>
            <p:nvPr/>
          </p:nvSpPr>
          <p:spPr>
            <a:xfrm>
              <a:off x="361950" y="2385823"/>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解答过程中易忽视棱台侧棱的延长线不能交于一点</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解答空间几何体概念的判断题时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要注意紧扣定义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切忌只凭图形主观臆断</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389809427"/>
      </p:ext>
    </p:extLst>
  </p:cSld>
  <p:clrMapOvr>
    <a:masterClrMapping/>
  </p:clrMapOvr>
  <p:transition spd="slow">
    <p:randomBar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89303"/>
            <a:ext cx="10807700" cy="1808572"/>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长方体</a:t>
            </a:r>
            <a:r>
              <a:rPr lang="en-US" altLang="zh-CN" i="1" dirty="0">
                <a:solidFill>
                  <a:srgbClr val="000000"/>
                </a:solidFill>
                <a:ea typeface="宋体" panose="02010600030101010101" pitchFamily="2" charset="-122"/>
              </a:rPr>
              <a:t>ABCD-A'B'C'D'</a:t>
            </a:r>
            <a:r>
              <a:rPr lang="zh-CN" altLang="zh-CN" dirty="0">
                <a:solidFill>
                  <a:srgbClr val="000000"/>
                </a:solidFill>
                <a:ea typeface="宋体" panose="02010600030101010101" pitchFamily="2" charset="-122"/>
                <a:cs typeface="Times New Roman" panose="02020603050405020304" pitchFamily="18" charset="0"/>
              </a:rPr>
              <a:t>被截去一部分</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rPr>
              <a:t>EH</a:t>
            </a:r>
            <a:r>
              <a:rPr lang="zh-CN" altLang="zh-CN"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rPr>
              <a:t>B'C'</a:t>
            </a:r>
            <a:r>
              <a:rPr lang="zh-CN" altLang="zh-CN"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rPr>
              <a:t>FG</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则剩下的几何体是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截去的几何体是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rPr>
              <a:t>.</a:t>
            </a:r>
            <a:r>
              <a:rPr lang="en-US" altLang="zh-CN" i="1" dirty="0">
                <a:solidFill>
                  <a:srgbClr val="000000"/>
                </a:solidFill>
                <a:latin typeface="宋体" panose="02010600030101010101" pitchFamily="2" charset="-122"/>
                <a:cs typeface="Times New Roman" panose="02020603050405020304" pitchFamily="18" charset="0"/>
              </a:rPr>
              <a:t> </a:t>
            </a:r>
            <a:endParaRPr lang="zh-CN" altLang="en-US" dirty="0"/>
          </a:p>
        </p:txBody>
      </p:sp>
      <p:pic>
        <p:nvPicPr>
          <p:cNvPr id="6" name="WMG2TRA10.eps" descr="id:2147492129;FounderCES"/>
          <p:cNvPicPr/>
          <p:nvPr/>
        </p:nvPicPr>
        <p:blipFill>
          <a:blip r:embed="rId2"/>
          <a:stretch>
            <a:fillRect/>
          </a:stretch>
        </p:blipFill>
        <p:spPr>
          <a:xfrm>
            <a:off x="3528789" y="2597875"/>
            <a:ext cx="3600400" cy="2410150"/>
          </a:xfrm>
          <a:prstGeom prst="rect">
            <a:avLst/>
          </a:prstGeom>
        </p:spPr>
      </p:pic>
      <p:sp>
        <p:nvSpPr>
          <p:cNvPr id="7" name="矩形 6"/>
          <p:cNvSpPr>
            <a:spLocks noChangeAspect="1"/>
          </p:cNvSpPr>
          <p:nvPr/>
        </p:nvSpPr>
        <p:spPr>
          <a:xfrm>
            <a:off x="366997" y="5077103"/>
            <a:ext cx="413125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五棱柱</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三</a:t>
            </a:r>
            <a:r>
              <a:rPr lang="zh-CN" altLang="zh-CN" dirty="0" smtClean="0">
                <a:solidFill>
                  <a:srgbClr val="000000"/>
                </a:solidFill>
                <a:ea typeface="宋体" panose="02010600030101010101" pitchFamily="2" charset="-122"/>
                <a:cs typeface="Times New Roman" panose="02020603050405020304" pitchFamily="18" charset="0"/>
              </a:rPr>
              <a:t>棱柱</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6234837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09343"/>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下列图形中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不是三棱柱的展开图的是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WMG2TRA12.eps" descr="id:2147492143;FounderCES"/>
          <p:cNvPicPr/>
          <p:nvPr/>
        </p:nvPicPr>
        <p:blipFill>
          <a:blip r:embed="rId2"/>
          <a:stretch>
            <a:fillRect/>
          </a:stretch>
        </p:blipFill>
        <p:spPr>
          <a:xfrm>
            <a:off x="1440557" y="1801908"/>
            <a:ext cx="7920880" cy="2259763"/>
          </a:xfrm>
          <a:prstGeom prst="rect">
            <a:avLst/>
          </a:prstGeom>
        </p:spPr>
      </p:pic>
      <p:sp>
        <p:nvSpPr>
          <p:cNvPr id="4" name="矩形 3"/>
          <p:cNvSpPr>
            <a:spLocks noChangeAspect="1"/>
          </p:cNvSpPr>
          <p:nvPr/>
        </p:nvSpPr>
        <p:spPr>
          <a:xfrm>
            <a:off x="361950" y="4160663"/>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25526"/>
            <a:ext cx="10807700" cy="594508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棱锥的各个侧面都是三角形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四面体的任何一个面都可以作为棱锥的底面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棱台只有两个面互相平行</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各侧棱都相等的棱锥为正棱锥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由棱锥的定义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知棱锥的各个侧面都是三角形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四面体就是由四个三角形所围成的几何体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因此四面体的任何一个面都可以作为三棱锥的底面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由棱台的定义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知棱台只有两个面互相平行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即上、下底面平行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由正棱锥的定义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6193085" y="5756725"/>
            <a:ext cx="2114681" cy="683264"/>
          </a:xfrm>
          <a:prstGeom prst="rect">
            <a:avLst/>
          </a:prstGeom>
        </p:spPr>
        <p:txBody>
          <a:bodyPr wrap="none">
            <a:spAutoFit/>
          </a:bodyPr>
          <a:lstStyle/>
          <a:p>
            <a:pPr>
              <a:lnSpc>
                <a:spcPct val="120000"/>
              </a:lnSpc>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ABC </a:t>
            </a:r>
            <a:endParaRPr lang="zh-CN" altLang="en-US" dirty="0"/>
          </a:p>
        </p:txBody>
      </p:sp>
    </p:spTree>
    <p:extLst>
      <p:ext uri="{BB962C8B-B14F-4D97-AF65-F5344CB8AC3E}">
        <p14:creationId xmlns:p14="http://schemas.microsoft.com/office/powerpoint/2010/main" val="173034186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down)">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42847"/>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一个棱柱有</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个顶点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所有的侧棱长的和为</a:t>
            </a:r>
            <a:r>
              <a:rPr lang="en-US" altLang="zh-CN" dirty="0">
                <a:solidFill>
                  <a:srgbClr val="000000"/>
                </a:solidFill>
                <a:ea typeface="宋体" panose="02010600030101010101" pitchFamily="2" charset="-122"/>
                <a:cs typeface="Times New Roman" panose="02020603050405020304" pitchFamily="18" charset="0"/>
              </a:rPr>
              <a:t>60 cm,</a:t>
            </a:r>
            <a:r>
              <a:rPr lang="zh-CN" altLang="zh-CN" dirty="0">
                <a:solidFill>
                  <a:srgbClr val="000000"/>
                </a:solidFill>
                <a:ea typeface="宋体" panose="02010600030101010101" pitchFamily="2" charset="-122"/>
                <a:cs typeface="Times New Roman" panose="02020603050405020304" pitchFamily="18" charset="0"/>
              </a:rPr>
              <a:t>则每条侧棱长为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cm</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361950" y="2605830"/>
            <a:ext cx="15630886" cy="1329305"/>
            <a:chOff x="361950" y="2424998"/>
            <a:chExt cx="15630886" cy="1329305"/>
          </a:xfrm>
        </p:grpSpPr>
        <p:sp>
          <p:nvSpPr>
            <p:cNvPr id="3" name="矩形 2"/>
            <p:cNvSpPr>
              <a:spLocks noChangeAspect="1"/>
            </p:cNvSpPr>
            <p:nvPr/>
          </p:nvSpPr>
          <p:spPr>
            <a:xfrm>
              <a:off x="361950" y="242499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因为棱柱有</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个顶点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所以该棱柱为五棱柱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共有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条侧棱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所以每条侧棱长为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215035350"/>
                </p:ext>
              </p:extLst>
            </p:nvPr>
          </p:nvGraphicFramePr>
          <p:xfrm>
            <a:off x="4320877" y="2957433"/>
            <a:ext cx="11671959" cy="796870"/>
          </p:xfrm>
          <a:graphic>
            <a:graphicData uri="http://schemas.openxmlformats.org/presentationml/2006/ole">
              <mc:AlternateContent xmlns:mc="http://schemas.openxmlformats.org/markup-compatibility/2006">
                <mc:Choice xmlns:v="urn:schemas-microsoft-com:vml" Requires="v">
                  <p:oleObj spid="_x0000_s1042"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4320877" y="2957433"/>
                          <a:ext cx="11671959" cy="796870"/>
                        </a:xfrm>
                        <a:prstGeom prst="rect">
                          <a:avLst/>
                        </a:prstGeom>
                      </p:spPr>
                    </p:pic>
                  </p:oleObj>
                </mc:Fallback>
              </mc:AlternateContent>
            </a:graphicData>
          </a:graphic>
        </p:graphicFrame>
      </p:grpSp>
      <p:sp>
        <p:nvSpPr>
          <p:cNvPr id="9" name="矩形 8"/>
          <p:cNvSpPr>
            <a:spLocks noChangeAspect="1"/>
          </p:cNvSpPr>
          <p:nvPr/>
        </p:nvSpPr>
        <p:spPr>
          <a:xfrm>
            <a:off x="361950" y="3935135"/>
            <a:ext cx="165782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12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8393080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01767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直四棱柱</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是长方体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正四棱柱</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是正方体</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不一定</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smtClean="0">
                <a:solidFill>
                  <a:srgbClr val="000000"/>
                </a:solidFill>
                <a:ea typeface="宋体" panose="02010600030101010101" pitchFamily="2" charset="-122"/>
                <a:cs typeface="Times New Roman" panose="02020603050405020304" pitchFamily="18" charset="0"/>
              </a:rPr>
              <a:t>或</a:t>
            </a:r>
            <a:r>
              <a:rPr lang="en-US" altLang="zh-CN"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一定不</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根据定义知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长方体一定是直四棱柱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但是直四棱柱不一定是长方体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正方体一定是正四棱柱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但是正四棱柱不一定是正方体</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不一定</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不一定</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2994770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136</TotalTime>
  <Words>2093</Words>
  <Application>Microsoft Office PowerPoint</Application>
  <PresentationFormat>自定义</PresentationFormat>
  <Paragraphs>174</Paragraphs>
  <Slides>50</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5"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31</cp:revision>
  <dcterms:created xsi:type="dcterms:W3CDTF">2020-09-12T05:36:12Z</dcterms:created>
  <dcterms:modified xsi:type="dcterms:W3CDTF">2025-09-04T06:11:01Z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