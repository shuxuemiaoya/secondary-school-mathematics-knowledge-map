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sldIdLst>
    <p:sldId id="731" r:id="rId2"/>
    <p:sldId id="753" r:id="rId3"/>
    <p:sldId id="736" r:id="rId4"/>
    <p:sldId id="744" r:id="rId5"/>
    <p:sldId id="746" r:id="rId6"/>
    <p:sldId id="749" r:id="rId7"/>
    <p:sldId id="787" r:id="rId8"/>
    <p:sldId id="788" r:id="rId9"/>
    <p:sldId id="757" r:id="rId10"/>
    <p:sldId id="758" r:id="rId11"/>
    <p:sldId id="759" r:id="rId12"/>
    <p:sldId id="760" r:id="rId13"/>
    <p:sldId id="761" r:id="rId14"/>
    <p:sldId id="762" r:id="rId15"/>
    <p:sldId id="763" r:id="rId16"/>
    <p:sldId id="764" r:id="rId17"/>
    <p:sldId id="765" r:id="rId18"/>
    <p:sldId id="737" r:id="rId19"/>
    <p:sldId id="750" r:id="rId20"/>
    <p:sldId id="767" r:id="rId21"/>
    <p:sldId id="768" r:id="rId22"/>
    <p:sldId id="754" r:id="rId23"/>
    <p:sldId id="769" r:id="rId24"/>
    <p:sldId id="770" r:id="rId25"/>
    <p:sldId id="755" r:id="rId26"/>
    <p:sldId id="771" r:id="rId27"/>
    <p:sldId id="772" r:id="rId28"/>
    <p:sldId id="773" r:id="rId29"/>
    <p:sldId id="774" r:id="rId30"/>
    <p:sldId id="775" r:id="rId31"/>
    <p:sldId id="747" r:id="rId32"/>
    <p:sldId id="751" r:id="rId33"/>
    <p:sldId id="776" r:id="rId34"/>
    <p:sldId id="777" r:id="rId35"/>
    <p:sldId id="778" r:id="rId36"/>
    <p:sldId id="779" r:id="rId37"/>
    <p:sldId id="780" r:id="rId38"/>
    <p:sldId id="748" r:id="rId39"/>
    <p:sldId id="752" r:id="rId40"/>
    <p:sldId id="781" r:id="rId41"/>
    <p:sldId id="782" r:id="rId42"/>
    <p:sldId id="785" r:id="rId43"/>
    <p:sldId id="786" r:id="rId44"/>
    <p:sldId id="735" r:id="rId45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image" Target="../media/image2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44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8.xml"/><Relationship Id="rId5" Type="http://schemas.openxmlformats.org/officeDocument/2006/relationships/slide" Target="slide31.xml"/><Relationship Id="rId4" Type="http://schemas.openxmlformats.org/officeDocument/2006/relationships/slide" Target="slide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3.docx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.emf"/><Relationship Id="rId5" Type="http://schemas.openxmlformats.org/officeDocument/2006/relationships/package" Target="../embeddings/Microsoft_Word___4.docx"/><Relationship Id="rId4" Type="http://schemas.openxmlformats.org/officeDocument/2006/relationships/oleObject" Target="../embeddings/oleObject4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4.xml"/><Relationship Id="rId4" Type="http://schemas.openxmlformats.org/officeDocument/2006/relationships/slide" Target="slide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5.docx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7.jpeg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6.docx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7.docx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8.docx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oleObject" Target="../embeddings/oleObject9.bin"/><Relationship Id="rId7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9.docx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11.docx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8.jpeg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12.docx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13.docx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-61779" y="1925786"/>
            <a:ext cx="11665693" cy="2086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直线与平面垂直</a:t>
            </a:r>
            <a:endParaRPr lang="zh-CN" altLang="zh-CN" sz="54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</a:t>
            </a: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课时</a:t>
            </a:r>
            <a:r>
              <a:rPr lang="zh-CN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直线与平面垂直的判定定理</a:t>
            </a:r>
            <a:endParaRPr lang="zh-CN" altLang="zh-CN" sz="54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017670"/>
            <a:ext cx="10729192" cy="4600446"/>
            <a:chOff x="360437" y="1017670"/>
            <a:chExt cx="10729192" cy="4600446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017670"/>
              <a:ext cx="10729192" cy="4600446"/>
              <a:chOff x="360437" y="1666157"/>
              <a:chExt cx="10729192" cy="3142167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666157"/>
                <a:ext cx="10729192" cy="3142167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720733"/>
                <a:ext cx="0" cy="3011244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162741"/>
              <a:ext cx="8496944" cy="42288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理解直线与平面互相垂直的定义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探索并掌握直线与平面垂直的判定定理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能运用判定定理进行合理逻辑推理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理解点到平面的距离、直线与平面所成角的概念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会求直线与平面所成的角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在直观感知直线与平面互相垂直、直线与平面所成角过程中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应学会归纳与总结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268765" y="1943943"/>
            <a:ext cx="10943703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一、直线与平面互相垂直的定义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过平面上一点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是否有无数条直线垂直于平面呢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有且只有一条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72151"/>
            <a:ext cx="471475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直线与平面垂直的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定义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8276976"/>
              </p:ext>
            </p:extLst>
          </p:nvPr>
        </p:nvGraphicFramePr>
        <p:xfrm>
          <a:off x="361950" y="1407618"/>
          <a:ext cx="10944332" cy="514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文档" r:id="rId4" imgW="3947136" imgH="1855515" progId="Word.Document.12">
                  <p:embed/>
                </p:oleObj>
              </mc:Choice>
              <mc:Fallback>
                <p:oleObj name="文档" r:id="rId4" imgW="3947136" imgH="185551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1950" y="1407618"/>
                        <a:ext cx="10944332" cy="5144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5545013" y="1509840"/>
            <a:ext cx="1440160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762757" y="3014231"/>
            <a:ext cx="762592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919557" y="3014231"/>
            <a:ext cx="69326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593917" y="3485607"/>
            <a:ext cx="69326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493983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7917218"/>
              </p:ext>
            </p:extLst>
          </p:nvPr>
        </p:nvGraphicFramePr>
        <p:xfrm>
          <a:off x="360437" y="1439887"/>
          <a:ext cx="10800629" cy="375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文档" r:id="rId4" imgW="3895309" imgH="1354677" progId="Word.Document.12">
                  <p:embed/>
                </p:oleObj>
              </mc:Choice>
              <mc:Fallback>
                <p:oleObj name="文档" r:id="rId4" imgW="3895309" imgH="1354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439887"/>
                        <a:ext cx="10800629" cy="3756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7027685" y="2529839"/>
            <a:ext cx="2232248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967673" y="3070357"/>
            <a:ext cx="744048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593917" y="3510726"/>
            <a:ext cx="1119448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593790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871935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不可能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相交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异面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垂直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70174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42285" y="565959"/>
            <a:ext cx="10871695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二、直线与平面垂直的判定定理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鲁班是我国古代一位出色的发明家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他在做木匠活时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常常遇到有关直角的问题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虽然他手头有画直角的矩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但用起来很费事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于是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鲁班对矩进行改进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做成一把叫做曲尺的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“L”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形木尺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现在木工要检查一根木棒是否和板面垂直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只需用曲尺在不同的方向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但不是相反的方向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检查两次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如上图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如果两次检查时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曲尺的两边都分别与木棒和板面密合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便可以判定木棒与板面垂直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“L”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形木尺检查一次能判定木棒与板面垂直吗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不能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VMG2TRA159.eps" descr="id:2147491350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7109525" y="684269"/>
            <a:ext cx="1872208" cy="116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1704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45663"/>
            <a:ext cx="5436104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直线与平面垂直的判定定理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7314268"/>
              </p:ext>
            </p:extLst>
          </p:nvPr>
        </p:nvGraphicFramePr>
        <p:xfrm>
          <a:off x="305725" y="1649239"/>
          <a:ext cx="10945330" cy="3549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文档" r:id="rId4" imgW="3947496" imgH="1280038" progId="Word.Document.12">
                  <p:embed/>
                </p:oleObj>
              </mc:Choice>
              <mc:Fallback>
                <p:oleObj name="文档" r:id="rId4" imgW="3947496" imgH="128003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5725" y="1649239"/>
                        <a:ext cx="10945330" cy="35491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1718757" y="2886949"/>
            <a:ext cx="2232248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8115785" y="3043727"/>
            <a:ext cx="1605692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7993285" y="3525189"/>
            <a:ext cx="1061902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8011503" y="4009581"/>
            <a:ext cx="1061902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766203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17671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一条直线垂直于一个平面内的下列各种情况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能保证该直线与平面垂直的是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平行四边形的两条对角线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梯形的两条边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圆的两条直径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正六边形的两条边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95764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727919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三、直线与平面所成的角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类比用异面直线所成角刻画异面直线不同的倾斜程度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能用角来表示直线与平面相交时不同的倾斜程度吗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能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17255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36753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一条直线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与一个平面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相交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但不与这个平面垂直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这条直线叫做这个平面的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斜线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斜线和平面的交点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叫做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斜足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过斜线上斜足以外的一点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引垂线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PO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过垂足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和斜足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AO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叫做斜线在这个平面上的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射影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平面的一条斜线和它在平面上的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射影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所成的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叫做这条直线和这个平面所成的角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PA O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就是斜线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所成的角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VMG2TRA161.eps" descr="id:2147491365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032845" y="3689081"/>
            <a:ext cx="3024336" cy="1826579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4138939" y="1381935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4134349" y="1846033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9400113" y="1381935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9395523" y="1846033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7006285" y="2541523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7001695" y="3005621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3330603" y="3135346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3326013" y="3599444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5344767" y="3148919"/>
            <a:ext cx="3987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5339962" y="3613017"/>
            <a:ext cx="398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1400823" y="5463354"/>
            <a:ext cx="122413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1396233" y="5927452"/>
            <a:ext cx="122275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268707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1" grpId="0" animBg="1"/>
      <p:bldP spid="13" grpId="0" animBg="1"/>
      <p:bldP spid="15" grpId="0" animBg="1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655911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一条直线垂直于平面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我们说它们所成的角是</a:t>
            </a:r>
            <a:r>
              <a:rPr lang="en-US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uFill>
                  <a:solidFill>
                    <a:srgbClr val="000000"/>
                  </a:solidFill>
                </a:u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一条直线和平面平行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或在平面内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我们说它们所成的角是</a:t>
            </a:r>
            <a:r>
              <a:rPr lang="en-US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uFill>
                  <a:solidFill>
                    <a:srgbClr val="000000"/>
                  </a:solidFill>
                </a:u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直线与平面所成的角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的取值范围是</a:t>
            </a:r>
            <a:r>
              <a:rPr lang="en-US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uFill>
                  <a:solidFill>
                    <a:srgbClr val="000000"/>
                  </a:solidFill>
                </a:u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°≤</a:t>
            </a:r>
            <a:r>
              <a:rPr lang="en-US" altLang="zh-CN" i="1" dirty="0">
                <a:uFill>
                  <a:solidFill>
                    <a:srgbClr val="000000"/>
                  </a:solidFill>
                </a:u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uFill>
                  <a:solidFill>
                    <a:srgbClr val="000000"/>
                  </a:solidFill>
                </a:u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uFill>
                  <a:solidFill>
                    <a:srgbClr val="000000"/>
                  </a:solidFill>
                </a:u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769785" y="1700789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8765195" y="2164887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424629" y="2880047"/>
            <a:ext cx="58388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419930" y="3344145"/>
            <a:ext cx="5832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7248255" y="3466869"/>
            <a:ext cx="240853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7243709" y="3930967"/>
            <a:ext cx="240581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152001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VMG2TRA162.eps" descr="id:2147491372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5827881" y="3142105"/>
            <a:ext cx="3317532" cy="2958638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748874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的斜线段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其长为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它在平面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内的射影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A'B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的长为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则垂线段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A'A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的长度为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在三棱锥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P-ABC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PA=AB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所成的角为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1815020"/>
              </p:ext>
            </p:extLst>
          </p:nvPr>
        </p:nvGraphicFramePr>
        <p:xfrm>
          <a:off x="361950" y="5085490"/>
          <a:ext cx="11671959" cy="991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文档" r:id="rId5" imgW="3826872" imgH="325238" progId="Word.Document.12">
                  <p:embed/>
                </p:oleObj>
              </mc:Choice>
              <mc:Fallback>
                <p:oleObj name="文档" r:id="rId5" imgW="3826872" imgH="32523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1950" y="5085490"/>
                        <a:ext cx="11671959" cy="991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4896141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33279"/>
            <a:ext cx="10807700" cy="59623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若直线垂直于平面内的无数条直线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则直线与平面垂直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如果一条直线与一个平面内的某一条直线不垂直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那么这条直线一定不与这个平面垂直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若直线与平面所成的角为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则直线与平面平行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如果一条直线与一个平面不垂直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那么这条直线一定不与这个平面内任何一条直线垂直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329815" y="3063797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193085" y="4187342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792774" y="4763013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193084" y="5904383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838654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680479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直线</a:t>
            </a:r>
            <a:r>
              <a:rPr lang="zh-CN" altLang="zh-CN" dirty="0"/>
              <a:t>与平面垂直的定义</a:t>
            </a: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1161687"/>
            <a:ext cx="10807700" cy="550189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下列命题中的真命题是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内的两条直线垂直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不垂直于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内没有与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垂直的直线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不垂直于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内也可以有无数条直线与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垂直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过一点和已知平面垂直的直线有且只有一条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内的两条直线垂直时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不能保证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错误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不垂直时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也可以与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内的无数条直线垂直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错误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218339"/>
            <a:ext cx="10807700" cy="3652646"/>
            <a:chOff x="361950" y="940139"/>
            <a:chExt cx="10807700" cy="3652646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545797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直线与平面垂直的定义的理解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直线与平面垂直的定义具有两重性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既是判定又是性质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判定定理中要注意必须是平面内两相交直线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直线与平面内任意直线都垂直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不是有限条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也不是无数条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(4)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直线与平面不垂直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也可以与平面内无数条直线垂直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3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1681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161687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的关系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相交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不相交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		</a:t>
            </a: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不一定垂直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空间想象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有相交垂直和异面垂直两种情况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63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直线</a:t>
            </a:r>
            <a:r>
              <a:rPr lang="zh-CN" altLang="zh-CN" dirty="0"/>
              <a:t>与平面垂直的判定定理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306154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直角三角形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所在平面外有一点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SA=SB=SC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为斜边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SA=SC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Rt</a:t>
            </a:r>
            <a:r>
              <a:rPr lang="en-US" altLang="zh-CN" dirty="0" err="1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AD=DC=BD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SA=SB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SD=SD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ADS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≌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BDS.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BDS=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ADS=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BD=D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VMG2TRA163.eps" descr="id:214749140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8137301" y="3096071"/>
            <a:ext cx="2664296" cy="218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延伸探究H.eps" descr="id:2147490832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317062" y="1439887"/>
            <a:ext cx="2524095" cy="460328"/>
          </a:xfrm>
          <a:prstGeom prst="rect">
            <a:avLst/>
          </a:prstGeom>
        </p:spPr>
      </p:pic>
      <p:sp>
        <p:nvSpPr>
          <p:cNvPr id="6" name="矩形 5"/>
          <p:cNvSpPr>
            <a:spLocks noChangeAspect="1"/>
          </p:cNvSpPr>
          <p:nvPr/>
        </p:nvSpPr>
        <p:spPr>
          <a:xfrm>
            <a:off x="361950" y="1950200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若本例中添加条件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AB=BC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此时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SAC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又如何证明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AB=BC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又由上题可知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于是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垂直于平面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SAC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内的两条相交直线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SAC.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610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1950" y="1021979"/>
            <a:ext cx="10807700" cy="4228710"/>
            <a:chOff x="361950" y="940139"/>
            <a:chExt cx="10807700" cy="4228710"/>
          </a:xfrm>
        </p:grpSpPr>
        <p:pic>
          <p:nvPicPr>
            <p:cNvPr id="4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530930"/>
              <a:ext cx="10807700" cy="363791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应用线面垂直的判定定理时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应注意事项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要判定一条直线和一个平面是否垂直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取决于在这个平面内能否找到两条相交直线和已知直线垂直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至于这两条相交直线是否和已知直线有公共点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这是无关紧要的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判定定理在应用时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切实要抓住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相交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二字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它把线面垂直转化为线线垂直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⊂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⊂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∩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⇒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6168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30563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直线</a:t>
            </a:r>
            <a:r>
              <a:rPr lang="zh-CN" altLang="zh-CN" dirty="0"/>
              <a:t>与平面所成的角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378635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在正方体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ABCD-A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所成的角的正弦值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VMG2TRA192.eps" descr="id:2147491435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456781" y="2654191"/>
            <a:ext cx="3240360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647799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</a:t>
            </a:r>
            <a:r>
              <a:rPr lang="en-US" altLang="zh-CN" dirty="0" smtClean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取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AA</a:t>
            </a:r>
            <a:r>
              <a:rPr lang="en-US" altLang="zh-CN" baseline="-25000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EM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BM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四边形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为正方形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又在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正方体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ABCD-A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ABB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ABB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从而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为直线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BE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在平面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ABB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上的射影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EBM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即为直线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BE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ABB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所成的角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VMG2TRA164.eps" descr="id:2147491442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176861" y="3638233"/>
            <a:ext cx="2664296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418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5549071"/>
              </p:ext>
            </p:extLst>
          </p:nvPr>
        </p:nvGraphicFramePr>
        <p:xfrm>
          <a:off x="360437" y="1263269"/>
          <a:ext cx="11705058" cy="3560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文档" r:id="rId4" imgW="3837724" imgH="1167539" progId="Word.Document.12">
                  <p:embed/>
                </p:oleObj>
              </mc:Choice>
              <mc:Fallback>
                <p:oleObj name="文档" r:id="rId4" imgW="3837724" imgH="116753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263269"/>
                        <a:ext cx="11705058" cy="35609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39272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801647"/>
            <a:ext cx="10807700" cy="5401369"/>
            <a:chOff x="361950" y="940139"/>
            <a:chExt cx="10807700" cy="5401369"/>
          </a:xfrm>
        </p:grpSpPr>
        <p:pic>
          <p:nvPicPr>
            <p:cNvPr id="3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521727"/>
              <a:ext cx="10807700" cy="481978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求斜线与平面所成角的步骤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作图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作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或找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出斜线在平面内的射影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作射影要过斜线上斜足以外的一点作平面的垂线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再过垂足和斜足作直线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注意斜线上点的选取以及垂足的位置要与问题中已知量有关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才能便于计算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证明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证明某平面角就是斜线与平面所成的角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计算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通常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</a:t>
              </a:r>
              <a:r>
                <a:rPr lang="zh-CN" altLang="en-US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垂线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段、斜线和射影所组成的直角三角形中计算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6579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98007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在正方体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ABCD-A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成角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的正切值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所成的角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61950" y="2880047"/>
            <a:ext cx="11705971" cy="2599229"/>
            <a:chOff x="361950" y="2526502"/>
            <a:chExt cx="11705971" cy="2599229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2526502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连接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AC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 smtClean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直线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CA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为直线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与平面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所成的角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55628896"/>
                </p:ext>
              </p:extLst>
            </p:nvPr>
          </p:nvGraphicFramePr>
          <p:xfrm>
            <a:off x="395962" y="4336534"/>
            <a:ext cx="11671959" cy="789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5" name="文档" r:id="rId4" imgW="3826872" imgH="258753" progId="Word.Document.12">
                    <p:embed/>
                  </p:oleObj>
                </mc:Choice>
                <mc:Fallback>
                  <p:oleObj name="文档" r:id="rId4" imgW="3826872" imgH="25875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95962" y="4336534"/>
                          <a:ext cx="11671959" cy="7891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9" name="VMG2TRA165.eps" descr="id:2147491456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8353325" y="2715246"/>
            <a:ext cx="2749722" cy="268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114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61950" y="667463"/>
            <a:ext cx="11745623" cy="5583944"/>
            <a:chOff x="361950" y="647799"/>
            <a:chExt cx="11745623" cy="5583944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647799"/>
              <a:ext cx="10807700" cy="35813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连接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交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于点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O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连接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BO.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在正方形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⊂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i="1" dirty="0" smtClean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∩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BDD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垂足为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O.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BO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为直线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与平面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BDD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所成的角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06332372"/>
                </p:ext>
              </p:extLst>
            </p:nvPr>
          </p:nvGraphicFramePr>
          <p:xfrm>
            <a:off x="435614" y="4227217"/>
            <a:ext cx="11671959" cy="723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9" name="文档" r:id="rId4" imgW="3826872" imgH="237190" progId="Word.Document.12">
                    <p:embed/>
                  </p:oleObj>
                </mc:Choice>
                <mc:Fallback>
                  <p:oleObj name="文档" r:id="rId4" imgW="3826872" imgH="23719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5614" y="4227217"/>
                          <a:ext cx="11671959" cy="72342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4996853"/>
              <a:ext cx="10807700" cy="123489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BO=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与平面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BDD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所成的角为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4103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MG2TRA166.eps" descr="id:2147491470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72805" y="2607492"/>
            <a:ext cx="3384376" cy="3267395"/>
          </a:xfrm>
          <a:prstGeom prst="rect">
            <a:avLst/>
          </a:prstGeom>
        </p:spPr>
      </p:pic>
      <p:sp>
        <p:nvSpPr>
          <p:cNvPr id="3" name="矩形 2"/>
          <p:cNvSpPr>
            <a:spLocks noChangeAspect="1"/>
          </p:cNvSpPr>
          <p:nvPr/>
        </p:nvSpPr>
        <p:spPr>
          <a:xfrm>
            <a:off x="361950" y="762319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运用直线与平面垂直的判定定理时表达不严密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【典例】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在正方体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ABCD-A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是底面正方形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628135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错解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设正方体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ABCD-A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的棱长为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易证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AE=CE.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AO=OC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在正方体中易求出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VMG2TRA167.eps" descr="id:214749147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176861" y="3148415"/>
            <a:ext cx="3240360" cy="3197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82045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9423617"/>
              </p:ext>
            </p:extLst>
          </p:nvPr>
        </p:nvGraphicFramePr>
        <p:xfrm>
          <a:off x="425782" y="863823"/>
          <a:ext cx="11671959" cy="49719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文档" r:id="rId4" imgW="3826872" imgH="1630144" progId="Word.Document.12">
                  <p:embed/>
                </p:oleObj>
              </mc:Choice>
              <mc:Fallback>
                <p:oleObj name="文档" r:id="rId4" imgW="3826872" imgH="16301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5782" y="863823"/>
                        <a:ext cx="11671959" cy="49719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9259208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23863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易漏掉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AC=O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而直接证明出线面垂直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定理运用不严密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易失分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正解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前面增加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AC=O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其余不变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19180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727919"/>
            <a:ext cx="10807700" cy="2439889"/>
            <a:chOff x="361950" y="1792856"/>
            <a:chExt cx="10807700" cy="2439889"/>
          </a:xfrm>
        </p:grpSpPr>
        <p:pic>
          <p:nvPicPr>
            <p:cNvPr id="3" name="防范措施H.eps" descr="id:2147490860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792856"/>
              <a:ext cx="2259558" cy="531552"/>
            </a:xfrm>
            <a:prstGeom prst="rect">
              <a:avLst/>
            </a:prstGeom>
          </p:spPr>
        </p:pic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2367619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判定定理的条件中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,“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平面内两条相交直线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是关键性词语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此处强调相交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若两条直线不相交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即平行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即使直线垂直于平面内无数条直线也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不能</a:t>
              </a:r>
              <a:r>
                <a:rPr lang="zh-CN" altLang="en-US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判定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直线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与平面垂直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227842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19807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000000"/>
                </a:solidFill>
                <a:latin typeface="Segoe UI Symbol" panose="020B0502040204020203" pitchFamily="34" charset="0"/>
                <a:ea typeface="宋体" panose="02010600030101010101" pitchFamily="2" charset="-122"/>
                <a:cs typeface="Segoe UI Symbol" panose="020B0502040204020203" pitchFamily="34" charset="0"/>
              </a:rPr>
              <a:t>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的直径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000000"/>
                </a:solidFill>
                <a:latin typeface="Segoe UI Symbol" panose="020B0502040204020203" pitchFamily="34" charset="0"/>
                <a:ea typeface="宋体" panose="02010600030101010101" pitchFamily="2" charset="-122"/>
                <a:cs typeface="Segoe UI Symbol" panose="020B0502040204020203" pitchFamily="34" charset="0"/>
              </a:rPr>
              <a:t>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上不同于点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的任意一点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过点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000000"/>
                </a:solidFill>
                <a:latin typeface="Segoe UI Symbol" panose="020B0502040204020203" pitchFamily="34" charset="0"/>
                <a:ea typeface="宋体" panose="02010600030101010101" pitchFamily="2" charset="-122"/>
                <a:cs typeface="Segoe UI Symbol" panose="020B0502040204020203" pitchFamily="34" charset="0"/>
              </a:rPr>
              <a:t>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的直径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AC=A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PAC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BC=C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PBC.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VMG2TRA196.eps" descr="id:2147491491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8199477" y="2560440"/>
            <a:ext cx="2664296" cy="2894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96716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73655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已知两条直线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两个平面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则下列说法正确的是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en-US" altLang="zh-CN" i="1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en-US" altLang="zh-CN" i="1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可由直线与平面垂直的定义和判定推证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中条件可知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平行或异面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相交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错误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2090094"/>
              </p:ext>
            </p:extLst>
          </p:nvPr>
        </p:nvGraphicFramePr>
        <p:xfrm>
          <a:off x="154245" y="916167"/>
          <a:ext cx="10640962" cy="1039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文档" r:id="rId4" imgW="3837724" imgH="374997" progId="Word.Document.12">
                  <p:embed/>
                </p:oleObj>
              </mc:Choice>
              <mc:Fallback>
                <p:oleObj name="文档" r:id="rId4" imgW="3837724" imgH="37499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4245" y="916167"/>
                        <a:ext cx="10640962" cy="1039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7819866"/>
              </p:ext>
            </p:extLst>
          </p:nvPr>
        </p:nvGraphicFramePr>
        <p:xfrm>
          <a:off x="175529" y="1996287"/>
          <a:ext cx="11705058" cy="2695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" name="文档" r:id="rId7" imgW="3837724" imgH="883767" progId="Word.Document.12">
                  <p:embed/>
                </p:oleObj>
              </mc:Choice>
              <mc:Fallback>
                <p:oleObj name="文档" r:id="rId7" imgW="3837724" imgH="8837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5529" y="1996287"/>
                        <a:ext cx="11705058" cy="26954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154245" y="4769407"/>
            <a:ext cx="2173993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79422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36787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Rt</a:t>
            </a:r>
            <a:r>
              <a:rPr lang="en-US" altLang="zh-CN" dirty="0" err="1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是斜边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ED=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-1583779" y="2505596"/>
            <a:ext cx="12753429" cy="1297565"/>
            <a:chOff x="-1583779" y="2793628"/>
            <a:chExt cx="12753429" cy="1297565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2873552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CD=    AB=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Rt</a:t>
              </a:r>
              <a:r>
                <a:rPr lang="en-US" altLang="zh-CN" dirty="0" err="1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ECD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的斜边长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利用勾股定理即得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2304567"/>
                </p:ext>
              </p:extLst>
            </p:nvPr>
          </p:nvGraphicFramePr>
          <p:xfrm>
            <a:off x="-1583779" y="2793628"/>
            <a:ext cx="7994713" cy="727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7" name="文档" r:id="rId4" imgW="3837724" imgH="349036" progId="Word.Document.12">
                    <p:embed/>
                  </p:oleObj>
                </mc:Choice>
                <mc:Fallback>
                  <p:oleObj name="文档" r:id="rId4" imgW="3837724" imgH="34903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-1583779" y="2793628"/>
                          <a:ext cx="7994713" cy="72710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矩形 7"/>
          <p:cNvSpPr>
            <a:spLocks noChangeAspect="1"/>
          </p:cNvSpPr>
          <p:nvPr/>
        </p:nvSpPr>
        <p:spPr>
          <a:xfrm>
            <a:off x="361950" y="3803161"/>
            <a:ext cx="1657826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13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63199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361950" y="838098"/>
            <a:ext cx="12894582" cy="4819781"/>
            <a:chOff x="361950" y="647799"/>
            <a:chExt cx="12894582" cy="4819781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647799"/>
              <a:ext cx="10807700" cy="481978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 smtClean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四棱锥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P-ABCD</a:t>
              </a: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的底面是边长为</a:t>
              </a: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的正方形</a:t>
              </a: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PA</a:t>
              </a:r>
              <a:r>
                <a:rPr lang="zh-CN" altLang="zh-CN" dirty="0">
                  <a:solidFill>
                    <a:srgbClr val="000000"/>
                  </a:solidFill>
                  <a:effectLst/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CD</a:t>
              </a:r>
              <a:r>
                <a:rPr lang="en-US" altLang="zh-CN" dirty="0" smtClean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n-US" altLang="zh-CN" i="1" dirty="0" smtClean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PA=</a:t>
              </a:r>
              <a:r>
                <a:rPr lang="en-US" altLang="zh-CN" dirty="0" smtClean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 smtClean="0">
                <a:solidFill>
                  <a:srgbClr val="000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 smtClean="0">
                <a:solidFill>
                  <a:srgbClr val="000000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求证</a:t>
              </a: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PA</a:t>
              </a:r>
              <a:r>
                <a:rPr lang="zh-CN" altLang="zh-CN" dirty="0">
                  <a:solidFill>
                    <a:srgbClr val="000000"/>
                  </a:solidFill>
                  <a:effectLst/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ABCD</a:t>
              </a: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求四棱锥</a:t>
              </a:r>
              <a:r>
                <a:rPr lang="en-US" altLang="zh-CN" i="1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P-ABCD</a:t>
              </a:r>
              <a:r>
                <a:rPr lang="zh-CN" altLang="zh-CN" dirty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的体积</a:t>
              </a:r>
              <a:r>
                <a:rPr lang="en-US" altLang="zh-CN" i="1" dirty="0" smtClean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33134849"/>
                </p:ext>
              </p:extLst>
            </p:nvPr>
          </p:nvGraphicFramePr>
          <p:xfrm>
            <a:off x="1584573" y="1285711"/>
            <a:ext cx="11671959" cy="534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1" name="文档" r:id="rId4" imgW="3826872" imgH="175377" progId="Word.Document.12">
                    <p:embed/>
                  </p:oleObj>
                </mc:Choice>
                <mc:Fallback>
                  <p:oleObj name="文档" r:id="rId4" imgW="3826872" imgH="17537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584573" y="1285711"/>
                          <a:ext cx="11671959" cy="534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2" name="VMG2TRA169.eps" descr="id:2147491505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6193085" y="1511895"/>
              <a:ext cx="3384376" cy="34854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0920767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99476"/>
              </p:ext>
            </p:extLst>
          </p:nvPr>
        </p:nvGraphicFramePr>
        <p:xfrm>
          <a:off x="425782" y="1275551"/>
          <a:ext cx="11671959" cy="39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文档" r:id="rId4" imgW="3826872" imgH="1285500" progId="Word.Document.12">
                  <p:embed/>
                </p:oleObj>
              </mc:Choice>
              <mc:Fallback>
                <p:oleObj name="文档" r:id="rId4" imgW="3826872" imgH="12855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5782" y="1275551"/>
                        <a:ext cx="11671959" cy="3920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35893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72</TotalTime>
  <Words>1981</Words>
  <Application>Microsoft Office PowerPoint</Application>
  <PresentationFormat>自定义</PresentationFormat>
  <Paragraphs>148</Paragraphs>
  <Slides>44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62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Segoe UI Symbol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20</cp:revision>
  <dcterms:created xsi:type="dcterms:W3CDTF">2020-09-12T05:36:12Z</dcterms:created>
  <dcterms:modified xsi:type="dcterms:W3CDTF">2025-09-04T06:30:35Z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