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84" r:id="rId11"/>
    <p:sldId id="759" r:id="rId12"/>
    <p:sldId id="737" r:id="rId13"/>
    <p:sldId id="750" r:id="rId14"/>
    <p:sldId id="767" r:id="rId15"/>
    <p:sldId id="785" r:id="rId16"/>
    <p:sldId id="786" r:id="rId17"/>
    <p:sldId id="768" r:id="rId18"/>
    <p:sldId id="769" r:id="rId19"/>
    <p:sldId id="754" r:id="rId20"/>
    <p:sldId id="787" r:id="rId21"/>
    <p:sldId id="771" r:id="rId22"/>
    <p:sldId id="788" r:id="rId23"/>
    <p:sldId id="795" r:id="rId24"/>
    <p:sldId id="755" r:id="rId25"/>
    <p:sldId id="773" r:id="rId26"/>
    <p:sldId id="777" r:id="rId27"/>
    <p:sldId id="789" r:id="rId28"/>
    <p:sldId id="790" r:id="rId29"/>
    <p:sldId id="747" r:id="rId30"/>
    <p:sldId id="751" r:id="rId31"/>
    <p:sldId id="778" r:id="rId32"/>
    <p:sldId id="779" r:id="rId33"/>
    <p:sldId id="780" r:id="rId34"/>
    <p:sldId id="748" r:id="rId35"/>
    <p:sldId id="752" r:id="rId36"/>
    <p:sldId id="791" r:id="rId37"/>
    <p:sldId id="792" r:id="rId38"/>
    <p:sldId id="793" r:id="rId39"/>
    <p:sldId id="794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7.docx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8.doc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2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3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4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5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0.jpeg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17.docx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18.docx"/><Relationship Id="rId9" Type="http://schemas.openxmlformats.org/officeDocument/2006/relationships/image" Target="../media/image34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0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7.jpeg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1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22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0.emf"/><Relationship Id="rId5" Type="http://schemas.openxmlformats.org/officeDocument/2006/relationships/package" Target="../embeddings/Microsoft_Word___24.docx"/><Relationship Id="rId4" Type="http://schemas.openxmlformats.org/officeDocument/2006/relationships/oleObject" Target="../embeddings/oleObject24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87959"/>
            <a:ext cx="10807700" cy="19932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棱柱、棱锥、棱台的表面积和体积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151855"/>
            <a:ext cx="10729192" cy="4239736"/>
            <a:chOff x="360437" y="1151855"/>
            <a:chExt cx="10729192" cy="423973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151855"/>
              <a:ext cx="10729192" cy="4182224"/>
              <a:chOff x="360437" y="1757807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57807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06433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知道棱柱、棱锥、棱台的表面积的含义及求法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知道棱柱、棱锥、棱台的体积公式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并能用公式解决简单的实际问题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用运动变化的观点研究棱柱、棱锥和棱台的体积公式之间的关系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发展数学运算和直观想象素养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30360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一、棱柱、棱锥、棱台的表面积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的正方体的表面积公式如何表示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长、宽、高分别为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的长方体的表面积公式又如何表示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根据这些表面积公式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推测棱柱的表面积如何计算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长方体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ab+bc+ac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棱柱的表面积就是各个面的面积的和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多面体的表面积就是围成多面体各个面的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面积的和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棱柱、棱锥、棱台的表面积就是围成它们的各个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面的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面积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的和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正三棱锥的所有棱长均为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则该三棱锥的表面积为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796069"/>
              </p:ext>
            </p:extLst>
          </p:nvPr>
        </p:nvGraphicFramePr>
        <p:xfrm>
          <a:off x="402515" y="3489160"/>
          <a:ext cx="11705058" cy="534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文档" r:id="rId4" imgW="3837724" imgH="175239" progId="Word.Document.12">
                  <p:embed/>
                </p:oleObj>
              </mc:Choice>
              <mc:Fallback>
                <p:oleObj name="文档" r:id="rId4" imgW="3837724" imgH="1752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2515" y="3489160"/>
                        <a:ext cx="11705058" cy="534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574584"/>
              </p:ext>
            </p:extLst>
          </p:nvPr>
        </p:nvGraphicFramePr>
        <p:xfrm>
          <a:off x="392683" y="4083997"/>
          <a:ext cx="11705058" cy="790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文档" r:id="rId7" imgW="3837724" imgH="259253" progId="Word.Document.12">
                  <p:embed/>
                </p:oleObj>
              </mc:Choice>
              <mc:Fallback>
                <p:oleObj name="文档" r:id="rId7" imgW="3837724" imgH="259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683" y="4083997"/>
                        <a:ext cx="11705058" cy="790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278597" y="487471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79181" y="1071269"/>
            <a:ext cx="15841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574635" y="1535367"/>
            <a:ext cx="15823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12347" y="2233229"/>
            <a:ext cx="164360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407868" y="2697327"/>
            <a:ext cx="16417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6608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835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二、棱柱、棱锥、棱台的体积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长方体、正方体的体积公式如何表示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根据这些体积公式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推测棱柱的体积计算公式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设长方体的长、宽、高分别为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正方体的棱长为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长方体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根据这些体积公式可知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设棱柱的底面面积为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高为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则棱柱的体积公式为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棱柱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=Sh.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04143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575791"/>
            <a:ext cx="512672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棱柱、棱锥、棱台的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体积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824825"/>
              </p:ext>
            </p:extLst>
          </p:nvPr>
        </p:nvGraphicFramePr>
        <p:xfrm>
          <a:off x="361950" y="1219727"/>
          <a:ext cx="10944332" cy="3469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4" imgW="3935975" imgH="1248843" progId="Word.Document.12">
                  <p:embed/>
                </p:oleObj>
              </mc:Choice>
              <mc:Fallback>
                <p:oleObj name="文档" r:id="rId4" imgW="3935975" imgH="12488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219727"/>
                        <a:ext cx="10944332" cy="3469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61950" y="4062232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棱柱、棱锥、棱台的体积公式之间的关系如图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21N43.eps" descr="id:214750040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376661" y="4688941"/>
            <a:ext cx="6192688" cy="164667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384541" y="1829677"/>
            <a:ext cx="110296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394125" y="1829677"/>
            <a:ext cx="35143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384541" y="2415554"/>
            <a:ext cx="110296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394125" y="2415554"/>
            <a:ext cx="35143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497341" y="3016646"/>
            <a:ext cx="241877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390604" y="3490636"/>
            <a:ext cx="35143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05444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5122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棱台的上、下底面面积分别是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则棱台的体积等于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00938"/>
              </p:ext>
            </p:extLst>
          </p:nvPr>
        </p:nvGraphicFramePr>
        <p:xfrm>
          <a:off x="432445" y="2788528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4" name="文档" r:id="rId4" imgW="3837724" imgH="238700" progId="Word.Document.12">
                  <p:embed/>
                </p:oleObj>
              </mc:Choice>
              <mc:Fallback>
                <p:oleObj name="文档" r:id="rId4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788528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340842"/>
              </p:ext>
            </p:extLst>
          </p:nvPr>
        </p:nvGraphicFramePr>
        <p:xfrm>
          <a:off x="432445" y="3651345"/>
          <a:ext cx="11705058" cy="564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5" name="文档" r:id="rId7" imgW="3837724" imgH="184975" progId="Word.Document.12">
                  <p:embed/>
                </p:oleObj>
              </mc:Choice>
              <mc:Fallback>
                <p:oleObj name="文档" r:id="rId7" imgW="3837724" imgH="1849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651345"/>
                        <a:ext cx="11705058" cy="564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919020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80298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棱柱、棱锥、棱台的侧面展开图的面积就是它们的表面积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棱锥的体积等于底面面积与高之积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棱台的体积可转化为两个锥体的体积之差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69797" y="3537951"/>
            <a:ext cx="5308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489229" y="4104183"/>
            <a:ext cx="5308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602029" y="4699911"/>
            <a:ext cx="5308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458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15185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棱柱</a:t>
            </a:r>
            <a:r>
              <a:rPr lang="zh-CN" altLang="zh-CN" dirty="0"/>
              <a:t>、棱锥、棱台的表面积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1911263"/>
            <a:ext cx="10807700" cy="29685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已知一个三棱台上、下底面分别是边长为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侧面是全等的等腰梯形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侧棱长为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求此三棱台的表面积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侧面等腰梯形的面积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上、下底面面积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三棱台的表面积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0655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因为等腰梯形的上底长为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下底长为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腰长为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等腰梯形的高为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129285"/>
              </p:ext>
            </p:extLst>
          </p:nvPr>
        </p:nvGraphicFramePr>
        <p:xfrm>
          <a:off x="422179" y="2034031"/>
          <a:ext cx="11705058" cy="3768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文档" r:id="rId4" imgW="3837724" imgH="1235688" progId="Word.Document.12">
                  <p:embed/>
                </p:oleObj>
              </mc:Choice>
              <mc:Fallback>
                <p:oleObj name="文档" r:id="rId4" imgW="3837724" imgH="12356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179" y="2034031"/>
                        <a:ext cx="11705058" cy="3768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701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699487"/>
            <a:ext cx="2740119" cy="49972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361950" y="1203543"/>
            <a:ext cx="19408401" cy="1217641"/>
            <a:chOff x="361950" y="1295871"/>
            <a:chExt cx="19408401" cy="1217641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29587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本例条件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侧棱长为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13”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改为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三棱台的</a:t>
              </a:r>
              <a:r>
                <a:rPr lang="zh-CN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高为</a:t>
              </a: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其他条件不变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求此三棱台的表面积</a:t>
              </a:r>
              <a:r>
                <a:rPr lang="en-US" altLang="zh-CN" i="1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058521"/>
                </p:ext>
              </p:extLst>
            </p:nvPr>
          </p:nvGraphicFramePr>
          <p:xfrm>
            <a:off x="8065293" y="1367879"/>
            <a:ext cx="11705058" cy="534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4" name="文档" r:id="rId5" imgW="3837724" imgH="175239" progId="Word.Document.12">
                    <p:embed/>
                  </p:oleObj>
                </mc:Choice>
                <mc:Fallback>
                  <p:oleObj name="文档" r:id="rId5" imgW="3837724" imgH="17523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065293" y="1367879"/>
                          <a:ext cx="11705058" cy="5344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2400864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在三棱台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ABC-A'B'C'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分别为上、下底面的中心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B'C'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是等腰梯形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BCC'B'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OO'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是三棱台的高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ODD'O'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是直角梯形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21N44.eps" descr="id:2147500437;FounderCES"/>
          <p:cNvPicPr/>
          <p:nvPr/>
        </p:nvPicPr>
        <p:blipFill>
          <a:blip r:embed="rId7"/>
          <a:stretch>
            <a:fillRect/>
          </a:stretch>
        </p:blipFill>
        <p:spPr>
          <a:xfrm>
            <a:off x="4175573" y="4162124"/>
            <a:ext cx="2449560" cy="210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4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861595"/>
              </p:ext>
            </p:extLst>
          </p:nvPr>
        </p:nvGraphicFramePr>
        <p:xfrm>
          <a:off x="360437" y="935831"/>
          <a:ext cx="11705058" cy="447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文档" r:id="rId4" imgW="3837724" imgH="1467537" progId="Word.Document.12">
                  <p:embed/>
                </p:oleObj>
              </mc:Choice>
              <mc:Fallback>
                <p:oleObj name="文档" r:id="rId4" imgW="3837724" imgH="14675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935831"/>
                        <a:ext cx="11705058" cy="4475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546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496539"/>
            <a:ext cx="10807700" cy="3020028"/>
            <a:chOff x="361950" y="1372187"/>
            <a:chExt cx="10807700" cy="302002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992712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求解正棱台的表面积时注意棱台的四个基本量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底面边长、高、斜高、侧棱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并注意两个直角梯形的应用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高、侧棱、上下底面多边形的中心与顶点连线所成的直角梯形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高、斜高、上下底面边心距所成的直角梯形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372187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431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2131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已知正六棱柱的高为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则该正六棱柱的表面积为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49" y="2038952"/>
            <a:ext cx="1094370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因为正六棱柱的高为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底面边长为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所以正六棱柱的底由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个全等的等边三角形构成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则正六棱柱的侧面积为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正六棱柱的底面积为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035041"/>
              </p:ext>
            </p:extLst>
          </p:nvPr>
        </p:nvGraphicFramePr>
        <p:xfrm>
          <a:off x="504453" y="3828051"/>
          <a:ext cx="11705058" cy="1290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文档" r:id="rId4" imgW="3837724" imgH="422953" progId="Word.Document.12">
                  <p:embed/>
                </p:oleObj>
              </mc:Choice>
              <mc:Fallback>
                <p:oleObj name="文档" r:id="rId4" imgW="3837724" imgH="4229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3828051"/>
                        <a:ext cx="11705058" cy="1290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465587"/>
              </p:ext>
            </p:extLst>
          </p:nvPr>
        </p:nvGraphicFramePr>
        <p:xfrm>
          <a:off x="526867" y="5188563"/>
          <a:ext cx="11705058" cy="56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文档" r:id="rId7" imgW="3837724" imgH="184253" progId="Word.Document.12">
                  <p:embed/>
                </p:oleObj>
              </mc:Choice>
              <mc:Fallback>
                <p:oleObj name="文档" r:id="rId7" imgW="3837724" imgH="184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6867" y="5188563"/>
                        <a:ext cx="11705058" cy="561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113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棱柱</a:t>
            </a:r>
            <a:r>
              <a:rPr lang="zh-CN" altLang="zh-CN" dirty="0"/>
              <a:t>、棱锥、棱台的体积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135906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是棱长为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求三棱锥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21N45.eps" descr="id:2147500458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888829" y="2617683"/>
            <a:ext cx="3096344" cy="2897164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824915"/>
              </p:ext>
            </p:extLst>
          </p:nvPr>
        </p:nvGraphicFramePr>
        <p:xfrm>
          <a:off x="452109" y="5545828"/>
          <a:ext cx="11705058" cy="63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文档" r:id="rId5" imgW="3837724" imgH="208772" progId="Word.Document.12">
                  <p:embed/>
                </p:oleObj>
              </mc:Choice>
              <mc:Fallback>
                <p:oleObj name="文档" r:id="rId5" imgW="3837724" imgH="2087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2109" y="5545828"/>
                        <a:ext cx="11705058" cy="636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978301"/>
              </p:ext>
            </p:extLst>
          </p:nvPr>
        </p:nvGraphicFramePr>
        <p:xfrm>
          <a:off x="288429" y="2015951"/>
          <a:ext cx="11705058" cy="2109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4" imgW="3837724" imgH="691581" progId="Word.Document.12">
                  <p:embed/>
                </p:oleObj>
              </mc:Choice>
              <mc:Fallback>
                <p:oleObj name="文档" r:id="rId4" imgW="3837724" imgH="691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2015951"/>
                        <a:ext cx="11705058" cy="2109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947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781983"/>
            <a:ext cx="10807700" cy="5293053"/>
            <a:chOff x="361950" y="1007839"/>
            <a:chExt cx="10807700" cy="5293053"/>
          </a:xfrm>
        </p:grpSpPr>
        <p:grpSp>
          <p:nvGrpSpPr>
            <p:cNvPr id="9" name="组合 8"/>
            <p:cNvGrpSpPr/>
            <p:nvPr/>
          </p:nvGrpSpPr>
          <p:grpSpPr>
            <a:xfrm>
              <a:off x="361950" y="1007839"/>
              <a:ext cx="10807700" cy="1201030"/>
              <a:chOff x="361950" y="1719026"/>
              <a:chExt cx="10807700" cy="1201030"/>
            </a:xfrm>
          </p:grpSpPr>
          <p:sp>
            <p:nvSpPr>
              <p:cNvPr id="7" name="矩形 6"/>
              <p:cNvSpPr>
                <a:spLocks noChangeAspect="1"/>
              </p:cNvSpPr>
              <p:nvPr/>
            </p:nvSpPr>
            <p:spPr>
              <a:xfrm>
                <a:off x="361950" y="2315275"/>
                <a:ext cx="10807700" cy="60478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求几何体体积的常用方法</a:t>
                </a:r>
                <a:r>
                  <a:rPr lang="zh-CN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　　　　　　　　　　　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8" name="反思感悟H.eps" descr="id:2147490797;FounderCES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1950" y="1719026"/>
                <a:ext cx="2259558" cy="531552"/>
              </a:xfrm>
              <a:prstGeom prst="rect">
                <a:avLst/>
              </a:prstGeom>
            </p:spPr>
          </p:pic>
        </p:grpSp>
        <p:pic>
          <p:nvPicPr>
            <p:cNvPr id="6" name="21N46.eps" descr="id:2147500472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944613" y="2250370"/>
              <a:ext cx="7704856" cy="40505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398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1855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正四棱台的底面边长分别为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 cm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侧面面积为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780 cm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求其体积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8" name="24Z20.eps" descr="id:214749344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880717" y="2437475"/>
            <a:ext cx="4968552" cy="245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7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21737" y="667463"/>
            <a:ext cx="11160125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正四棱台的大致图形如图所示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为斜高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分别是上、下底面的中心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EOO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为直角梯形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653891"/>
              </p:ext>
            </p:extLst>
          </p:nvPr>
        </p:nvGraphicFramePr>
        <p:xfrm>
          <a:off x="229422" y="2539671"/>
          <a:ext cx="11671959" cy="3690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文档" r:id="rId4" imgW="3826872" imgH="1210030" progId="Word.Document.12">
                  <p:embed/>
                </p:oleObj>
              </mc:Choice>
              <mc:Fallback>
                <p:oleObj name="文档" r:id="rId4" imgW="3826872" imgH="12100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422" y="2539671"/>
                        <a:ext cx="11671959" cy="3690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762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5438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简单</a:t>
            </a:r>
            <a:r>
              <a:rPr lang="zh-CN" altLang="zh-CN" dirty="0"/>
              <a:t>组合体的表面积与体积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134032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现需要设计一个仓库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它由上下两部分组成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上部的形状是正四棱锥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下部的形状是正四棱柱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并要求正四棱柱的高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是正四棱锥的高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 m,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则仓库的容积是多少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21N48.eps" descr="id:214750049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497341" y="3706663"/>
            <a:ext cx="2088232" cy="2552284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/>
        </p:nvSpPr>
        <p:spPr>
          <a:xfrm>
            <a:off x="361950" y="5062236"/>
            <a:ext cx="7775351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仓库由正四棱锥和正四棱柱组成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其容积就是正四棱锥和正四棱柱的体积之和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88175"/>
            <a:ext cx="11847561" cy="4376583"/>
            <a:chOff x="361950" y="1151855"/>
            <a:chExt cx="11847561" cy="437658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151855"/>
              <a:ext cx="10807700" cy="437658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=AB=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PO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PO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所以正四棱锥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P-A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体积</a:t>
              </a:r>
              <a:endPara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正四棱柱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ABCD-A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体积</a:t>
              </a:r>
              <a:endPara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zh-CN" baseline="-250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=AB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·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288(m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所以仓库的容积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V=V</a:t>
              </a:r>
              <a:r>
                <a:rPr lang="zh-CN" altLang="zh-CN" baseline="-250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+V</a:t>
              </a:r>
              <a:r>
                <a:rPr lang="zh-CN" altLang="zh-CN" baseline="-250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288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312(m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故仓库的容积是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312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8811065"/>
                </p:ext>
              </p:extLst>
            </p:nvPr>
          </p:nvGraphicFramePr>
          <p:xfrm>
            <a:off x="504453" y="2383532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9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383532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1374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492964"/>
            <a:ext cx="10807700" cy="3043267"/>
            <a:chOff x="361950" y="940139"/>
            <a:chExt cx="10807700" cy="3043267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83903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求组合体的表面积或体积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首先应弄清它的组成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其表面有哪些底面和侧面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各个面应该怎样求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然后再根据公式求出各面的面积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最后再相加或相减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求体积时也要先弄清组成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求出各简单几何体的体积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然后再相加或相减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37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0931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正方体的棱长为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以其所有面的中心为顶点的多面体的表面积为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N49.eps" descr="id:214750050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797" y="2131940"/>
            <a:ext cx="3384376" cy="334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79244"/>
              </p:ext>
            </p:extLst>
          </p:nvPr>
        </p:nvGraphicFramePr>
        <p:xfrm>
          <a:off x="432445" y="1276207"/>
          <a:ext cx="10640962" cy="28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文档" r:id="rId4" imgW="3826872" imgH="1035012" progId="Word.Document.12">
                  <p:embed/>
                </p:oleObj>
              </mc:Choice>
              <mc:Fallback>
                <p:oleObj name="文档" r:id="rId4" imgW="3826872" imgH="10350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76207"/>
                        <a:ext cx="10640962" cy="28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5298"/>
              </p:ext>
            </p:extLst>
          </p:nvPr>
        </p:nvGraphicFramePr>
        <p:xfrm>
          <a:off x="432445" y="4238367"/>
          <a:ext cx="11705058" cy="56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文档" r:id="rId7" imgW="3837724" imgH="184253" progId="Word.Document.12">
                  <p:embed/>
                </p:oleObj>
              </mc:Choice>
              <mc:Fallback>
                <p:oleObj name="文档" r:id="rId7" imgW="3837724" imgH="184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4238367"/>
                        <a:ext cx="11705058" cy="561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089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1N50.eps" descr="id:214750052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489229" y="2595167"/>
            <a:ext cx="2520280" cy="2186193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725673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转化与化归思想在多面体的体积问题中的应用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在多面体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上任意一点到平面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求该多面体的体积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362923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审题视角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将不规则的多面体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转化为规则的棱锥求解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求三棱锥的体积时常通过转换顶点和底面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转化为底面积和高都易求的形式求解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527820"/>
              </p:ext>
            </p:extLst>
          </p:nvPr>
        </p:nvGraphicFramePr>
        <p:xfrm>
          <a:off x="432445" y="1017671"/>
          <a:ext cx="11705058" cy="4292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文档" r:id="rId4" imgW="3837724" imgH="1407321" progId="Word.Document.12">
                  <p:embed/>
                </p:oleObj>
              </mc:Choice>
              <mc:Fallback>
                <p:oleObj name="文档" r:id="rId4" imgW="3837724" imgH="14073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17671"/>
                        <a:ext cx="11705058" cy="4292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21N51.eps" descr="id:214750052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273205" y="1192801"/>
            <a:ext cx="3168352" cy="27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755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方法点睛H.eps" descr="id:214750053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04453" y="1655911"/>
            <a:ext cx="2142676" cy="504056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220873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转换顶点和底面是求三棱锥体积的一种常用的方法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对于给出的一个不规则的几何体不能直接套用公式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常常需要运用分割法转化为规则几何体求解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通过识别几何体的结构特征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提升直观想象的数学核心素养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6944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6678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ABC-A'B'C'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是体积为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的棱柱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则四棱锥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C-AA'B'B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的体积是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073526"/>
              </p:ext>
            </p:extLst>
          </p:nvPr>
        </p:nvGraphicFramePr>
        <p:xfrm>
          <a:off x="504453" y="2710999"/>
          <a:ext cx="11705058" cy="145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文档" r:id="rId4" imgW="3837724" imgH="477400" progId="Word.Document.12">
                  <p:embed/>
                </p:oleObj>
              </mc:Choice>
              <mc:Fallback>
                <p:oleObj name="文档" r:id="rId4" imgW="3837724" imgH="477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710999"/>
                        <a:ext cx="11705058" cy="1456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280839"/>
              </p:ext>
            </p:extLst>
          </p:nvPr>
        </p:nvGraphicFramePr>
        <p:xfrm>
          <a:off x="392683" y="4287220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文档" r:id="rId7" imgW="3837724" imgH="238700" progId="Word.Document.12">
                  <p:embed/>
                </p:oleObj>
              </mc:Choice>
              <mc:Fallback>
                <p:oleObj name="文档" r:id="rId7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683" y="4287220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WMG2TRA105.eps" descr="id:2147500542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6409109" y="1367879"/>
            <a:ext cx="2808312" cy="2846632"/>
          </a:xfrm>
          <a:prstGeom prst="rect">
            <a:avLst/>
          </a:prstGeom>
        </p:spPr>
      </p:pic>
      <p:sp>
        <p:nvSpPr>
          <p:cNvPr id="10" name="矩形 9"/>
          <p:cNvSpPr>
            <a:spLocks noChangeAspect="1"/>
          </p:cNvSpPr>
          <p:nvPr/>
        </p:nvSpPr>
        <p:spPr>
          <a:xfrm>
            <a:off x="318909" y="508726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2091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143988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已知长方体同一顶点上的三条棱长分别是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2,3,4,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则该长方体的表面积是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A.36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C.52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D.26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143988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已知三棱锥的底面为直角边长分别是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则该三棱锥的体积为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A.4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B.6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C.12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D.24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003744"/>
              </p:ext>
            </p:extLst>
          </p:nvPr>
        </p:nvGraphicFramePr>
        <p:xfrm>
          <a:off x="445027" y="3240087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文档" r:id="rId4" imgW="3837724" imgH="238700" progId="Word.Document.12">
                  <p:embed/>
                </p:oleObj>
              </mc:Choice>
              <mc:Fallback>
                <p:oleObj name="文档" r:id="rId4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027" y="3240087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614" y="4039495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57377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6595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已知一个正三棱台的两个底面的边长分别为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侧棱长为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则该棱台的侧面积为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A.80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B.240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C.320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D.640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1950" y="2880047"/>
            <a:ext cx="11775553" cy="3446704"/>
            <a:chOff x="361950" y="2880047"/>
            <a:chExt cx="11775553" cy="3446704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880047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作出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一个侧面等腰梯形的高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也是棱台的斜高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则由等腰梯形的性质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765239"/>
                </p:ext>
              </p:extLst>
            </p:nvPr>
          </p:nvGraphicFramePr>
          <p:xfrm>
            <a:off x="432445" y="4077760"/>
            <a:ext cx="11705058" cy="2248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5" name="文档" r:id="rId4" imgW="3837724" imgH="737374" progId="Word.Document.12">
                    <p:embed/>
                  </p:oleObj>
                </mc:Choice>
                <mc:Fallback>
                  <p:oleObj name="文档" r:id="rId4" imgW="3837724" imgH="73737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4077760"/>
                          <a:ext cx="11705058" cy="22489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" name="21N52.eps" descr="id:214750055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849269" y="3600127"/>
            <a:ext cx="2520280" cy="1808370"/>
          </a:xfrm>
          <a:prstGeom prst="rect">
            <a:avLst/>
          </a:prstGeom>
        </p:spPr>
      </p:pic>
      <p:sp>
        <p:nvSpPr>
          <p:cNvPr id="13" name="矩形 12"/>
          <p:cNvSpPr>
            <a:spLocks noChangeAspect="1"/>
          </p:cNvSpPr>
          <p:nvPr/>
        </p:nvSpPr>
        <p:spPr>
          <a:xfrm>
            <a:off x="7417221" y="565331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3735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1361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已知底面是菱形的直棱柱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它的侧棱长是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体对角线的长分别是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则这个直棱柱的表面积是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79336"/>
              </p:ext>
            </p:extLst>
          </p:nvPr>
        </p:nvGraphicFramePr>
        <p:xfrm>
          <a:off x="445319" y="1626438"/>
          <a:ext cx="10640962" cy="484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文档" r:id="rId4" imgW="3837724" imgH="1746982" progId="Word.Document.12">
                  <p:embed/>
                </p:oleObj>
              </mc:Choice>
              <mc:Fallback>
                <p:oleObj name="文档" r:id="rId4" imgW="3837724" imgH="17469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319" y="1626438"/>
                        <a:ext cx="10640962" cy="4843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000024"/>
              </p:ext>
            </p:extLst>
          </p:nvPr>
        </p:nvGraphicFramePr>
        <p:xfrm>
          <a:off x="8621037" y="5869579"/>
          <a:ext cx="11705058" cy="56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name="文档" r:id="rId7" imgW="3837724" imgH="184253" progId="Word.Document.12">
                  <p:embed/>
                </p:oleObj>
              </mc:Choice>
              <mc:Fallback>
                <p:oleObj name="文档" r:id="rId7" imgW="3837724" imgH="184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21037" y="5869579"/>
                        <a:ext cx="11705058" cy="561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469561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95257"/>
            <a:ext cx="842342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在棱长为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截去三棱锥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求剩余的几何体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-DBC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的表面积和体积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N53.eps" descr="id:2147500563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8785373" y="694522"/>
            <a:ext cx="2520280" cy="2358157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14956"/>
              </p:ext>
            </p:extLst>
          </p:nvPr>
        </p:nvGraphicFramePr>
        <p:xfrm>
          <a:off x="432445" y="3076407"/>
          <a:ext cx="10640962" cy="3104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文档" r:id="rId5" imgW="3837724" imgH="1119583" progId="Word.Document.12">
                  <p:embed/>
                </p:oleObj>
              </mc:Choice>
              <mc:Fallback>
                <p:oleObj name="文档" r:id="rId5" imgW="3837724" imgH="11195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3076407"/>
                        <a:ext cx="10640962" cy="3104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15205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69</TotalTime>
  <Words>1537</Words>
  <Application>Microsoft Office PowerPoint</Application>
  <PresentationFormat>自定义</PresentationFormat>
  <Paragraphs>90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27</cp:revision>
  <dcterms:created xsi:type="dcterms:W3CDTF">2020-09-12T05:36:12Z</dcterms:created>
  <dcterms:modified xsi:type="dcterms:W3CDTF">2025-09-04T06:14:06Z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