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84" r:id="rId12"/>
    <p:sldId id="785" r:id="rId13"/>
    <p:sldId id="763" r:id="rId14"/>
    <p:sldId id="764" r:id="rId15"/>
    <p:sldId id="737" r:id="rId16"/>
    <p:sldId id="750" r:id="rId17"/>
    <p:sldId id="765" r:id="rId18"/>
    <p:sldId id="766" r:id="rId19"/>
    <p:sldId id="767" r:id="rId20"/>
    <p:sldId id="768" r:id="rId21"/>
    <p:sldId id="787" r:id="rId22"/>
    <p:sldId id="754" r:id="rId23"/>
    <p:sldId id="769" r:id="rId24"/>
    <p:sldId id="770" r:id="rId25"/>
    <p:sldId id="771" r:id="rId26"/>
    <p:sldId id="772" r:id="rId27"/>
    <p:sldId id="755" r:id="rId28"/>
    <p:sldId id="773" r:id="rId29"/>
    <p:sldId id="774" r:id="rId30"/>
    <p:sldId id="775" r:id="rId31"/>
    <p:sldId id="747" r:id="rId32"/>
    <p:sldId id="751" r:id="rId33"/>
    <p:sldId id="776" r:id="rId34"/>
    <p:sldId id="777" r:id="rId35"/>
    <p:sldId id="778" r:id="rId36"/>
    <p:sldId id="779" r:id="rId37"/>
    <p:sldId id="748" r:id="rId38"/>
    <p:sldId id="752" r:id="rId39"/>
    <p:sldId id="780" r:id="rId40"/>
    <p:sldId id="781" r:id="rId41"/>
    <p:sldId id="783" r:id="rId42"/>
    <p:sldId id="786" r:id="rId43"/>
    <p:sldId id="735" r:id="rId44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43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1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2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jpeg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3.docx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Word___4.docx"/><Relationship Id="rId4" Type="http://schemas.openxmlformats.org/officeDocument/2006/relationships/oleObject" Target="../embeddings/oleObject4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5.docx"/><Relationship Id="rId4" Type="http://schemas.openxmlformats.org/officeDocument/2006/relationships/oleObject" Target="../embeddings/oleObject5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emf"/><Relationship Id="rId5" Type="http://schemas.openxmlformats.org/officeDocument/2006/relationships/package" Target="../embeddings/Microsoft_Word___6.docx"/><Relationship Id="rId4" Type="http://schemas.openxmlformats.org/officeDocument/2006/relationships/oleObject" Target="../embeddings/oleObject6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jpeg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7.docx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8.docx"/><Relationship Id="rId9" Type="http://schemas.openxmlformats.org/officeDocument/2006/relationships/image" Target="../media/image28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0.jpeg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10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11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2.emf"/><Relationship Id="rId5" Type="http://schemas.openxmlformats.org/officeDocument/2006/relationships/package" Target="../embeddings/Microsoft_Word___12.docx"/><Relationship Id="rId4" Type="http://schemas.openxmlformats.org/officeDocument/2006/relationships/oleObject" Target="../embeddings/oleObject12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emf"/><Relationship Id="rId5" Type="http://schemas.openxmlformats.org/officeDocument/2006/relationships/package" Target="../embeddings/Microsoft_Word___13.docx"/><Relationship Id="rId4" Type="http://schemas.openxmlformats.org/officeDocument/2006/relationships/oleObject" Target="../embeddings/oleObject13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oleObject" Target="../embeddings/oleObject14.bin"/><Relationship Id="rId7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14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__16.docx"/><Relationship Id="rId4" Type="http://schemas.openxmlformats.org/officeDocument/2006/relationships/oleObject" Target="../embeddings/oleObject16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05788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8.2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立体图形的直观图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338116"/>
            <a:ext cx="10729192" cy="3764347"/>
            <a:chOff x="360437" y="1131924"/>
            <a:chExt cx="10729192" cy="3764347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131924"/>
              <a:ext cx="10729192" cy="3764347"/>
              <a:chOff x="360437" y="1744194"/>
              <a:chExt cx="10729192" cy="257110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744194"/>
                <a:ext cx="10729192" cy="257110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805316"/>
                <a:ext cx="0" cy="246397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162741"/>
              <a:ext cx="8496944" cy="36379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能用斜二测画法画出平面基本图形的直观图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能用斜二测画法画出简单空间图形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长方体、球、圆柱、圆锥、棱柱及其简单组合体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的直观图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能通过直观图识别空间图形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抽象和直观想象素养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9946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一、水平放置的平面图形的直观图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在美术画图中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空间图形或实物在画板上画的既富有立体感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又能表达出各主要部分的位置关系和度量关系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在画板上画实物图时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其中的直角在图中一定画成直角吗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正方形、矩形、圆等平面图形在画实物图时应画成什么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为什么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为了直观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不一定画成直角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平行四边形、平行四边形、椭圆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为增加直观性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用斜二测画法画水平放置的平面图形的直观图的步骤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在已知图形中取互相垂直的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两轴相交于点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画直观图时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把它们画成对应的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两轴相交于点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且使</a:t>
            </a:r>
            <a:r>
              <a:rPr lang="zh-CN" altLang="zh-CN" dirty="0"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x'O'y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'=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135</a:t>
            </a:r>
            <a:r>
              <a:rPr lang="en-US" altLang="zh-CN" dirty="0" smtClean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它们确定的平面表示水平面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已知图形中平行于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在直观图中分别画成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轴的线段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已知图形中平行于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在直观图中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保持原长度不变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轴的线段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在直观图中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长度为原来的一半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5251" y="2717938"/>
            <a:ext cx="416570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870705" y="3182036"/>
            <a:ext cx="41609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71375" y="382980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66785" y="429389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155519" y="4432074"/>
            <a:ext cx="284058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150973" y="4896172"/>
            <a:ext cx="28373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645997" y="5019245"/>
            <a:ext cx="320062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5641451" y="5483343"/>
            <a:ext cx="319700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22645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0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40980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A'B'C'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　　</a:t>
            </a:r>
            <a:endParaRPr lang="en-US" altLang="zh-CN" i="1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等腰三角形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直角三角形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等腰直角三角形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钝角三角形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A'B'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A'C'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所以把直观图还原成实际图形后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的长度为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A'C'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长度的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倍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为直角三角形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WMG2TRA56.eps" descr="id:214749259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384773" y="1180441"/>
            <a:ext cx="2808312" cy="168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5406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9992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二、几何体的直观图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简单几何体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长方体、球、圆柱、圆锥、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棱柱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的直观图如何用斜二测画法画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由斜二测画法画底面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再确定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04162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用斜二测画法画几何体的直观图的步骤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与画平面图形的直观图相比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只是多画了一个与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轴都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直观图中与之对应的是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画底面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O'x'y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中使用平面图形的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斜二测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画法画底面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画侧棱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已知图形中平行于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在直观图中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平行性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长度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都不变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成图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去掉辅助线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被遮挡的部分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改为虚线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70053" y="225159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187263" y="271569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7715085" y="2847325"/>
            <a:ext cx="12241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7710495" y="3311423"/>
            <a:ext cx="12227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67817" y="4006731"/>
            <a:ext cx="12241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63227" y="4470829"/>
            <a:ext cx="12227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538423" y="4006731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2533833" y="4470829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360205" y="4625307"/>
            <a:ext cx="242860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4355615" y="5089405"/>
            <a:ext cx="24258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09939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5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11895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对于圆锥的直观图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一般先画圆锥的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再借助于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圆锥的轴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确定圆锥的顶点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最后画出两侧的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两条母线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画球的直观图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一般需要画出球的轮廓线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它是一个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同时还经常画出经过球心的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截面圆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它们的直观图是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椭圆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用以衬托球的立体性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153443" y="157151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7148853" y="203561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9710157" y="1571517"/>
            <a:ext cx="123545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9705567" y="2035615"/>
            <a:ext cx="123405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57221" y="2159967"/>
            <a:ext cx="39744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52631" y="2624065"/>
            <a:ext cx="396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6662403" y="2154396"/>
            <a:ext cx="161367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6657813" y="2618494"/>
            <a:ext cx="161184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718732" y="2745863"/>
            <a:ext cx="3295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9713888" y="3209961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551323" y="3321927"/>
            <a:ext cx="117179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4546733" y="3786025"/>
            <a:ext cx="117046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8717955" y="334221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8713365" y="380631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75889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4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3" grpId="0" animBg="1"/>
      <p:bldP spid="15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7147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把一个侧面母线长为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 cm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的圆柱的底面画在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O'x'y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则圆柱的母线应画成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轴且长度为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 cm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轴且长度为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cm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且长度为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 cm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且长度为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cm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203136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61950" y="758832"/>
            <a:ext cx="10807700" cy="5371407"/>
            <a:chOff x="361950" y="628135"/>
            <a:chExt cx="10807700" cy="5371407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628135"/>
              <a:ext cx="10807700" cy="537140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错误的画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关于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斜二测画法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原图形中平行于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轴的线段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其对应线段平行于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x'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长度不变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关于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斜二测画法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原图形中平行于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轴的线段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其对应线段平行于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长度变为原来的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关于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斜二测画法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在画与直角坐标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系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Oxy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对应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O'x'y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x'O'y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必须是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latin typeface="+mn-lt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059352"/>
                </p:ext>
              </p:extLst>
            </p:nvPr>
          </p:nvGraphicFramePr>
          <p:xfrm>
            <a:off x="1872605" y="4104183"/>
            <a:ext cx="7972105" cy="6498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文档" r:id="rId4" imgW="3826872" imgH="311941" progId="Word.Document.12">
                    <p:embed/>
                  </p:oleObj>
                </mc:Choice>
                <mc:Fallback>
                  <p:oleObj name="文档" r:id="rId4" imgW="3826872" imgH="3119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72605" y="4104183"/>
                          <a:ext cx="7972105" cy="6498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矩形 4"/>
          <p:cNvSpPr/>
          <p:nvPr/>
        </p:nvSpPr>
        <p:spPr>
          <a:xfrm>
            <a:off x="4968949" y="323408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481117" y="4403366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320877" y="561635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96907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38248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斜二测画法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在画直观图时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由于选轴的不同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所得的直观图可能不同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44813" y="309607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12173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935831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水平</a:t>
            </a:r>
            <a:r>
              <a:rPr lang="zh-CN" altLang="zh-CN" dirty="0"/>
              <a:t>放置的平面图形的直观图的画法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585059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用斜二测画法画出水平放置的正五边形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pic>
        <p:nvPicPr>
          <p:cNvPr id="4" name="WMG2TRA59.eps" descr="id:214749262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744813" y="2786743"/>
            <a:ext cx="2952328" cy="275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97" y="556127"/>
            <a:ext cx="11886470" cy="5822816"/>
            <a:chOff x="397" y="647799"/>
            <a:chExt cx="11886470" cy="582281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144413" y="647799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画法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在图</a:t>
              </a:r>
              <a:r>
                <a:rPr lang="zh-CN" altLang="zh-CN" i="1" dirty="0">
                  <a:solidFill>
                    <a:srgbClr val="000000"/>
                  </a:solidFill>
                  <a:latin typeface="NEU-BZ-S92" panose="02020503000000020003" pitchFamily="18" charset="-12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AG</a:t>
              </a:r>
              <a:r>
                <a:rPr lang="zh-CN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垂足为点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DH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垂足为点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在图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中画相应的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两轴相交于点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</a:t>
              </a:r>
              <a:r>
                <a:rPr lang="zh-CN" altLang="zh-CN" dirty="0">
                  <a:solidFill>
                    <a:srgbClr val="000000"/>
                  </a:solidFill>
                  <a:latin typeface="+mn-ea"/>
                  <a:ea typeface="+mn-ea"/>
                  <a:cs typeface="宋体" panose="02010600030101010101" pitchFamily="2" charset="-122"/>
                </a:rPr>
                <a:t>∠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x'O'y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70520673"/>
                </p:ext>
              </p:extLst>
            </p:nvPr>
          </p:nvGraphicFramePr>
          <p:xfrm>
            <a:off x="214908" y="3055668"/>
            <a:ext cx="11671959" cy="2209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" name="文档" r:id="rId4" imgW="3826872" imgH="725946" progId="Word.Document.12">
                    <p:embed/>
                  </p:oleObj>
                </mc:Choice>
                <mc:Fallback>
                  <p:oleObj name="文档" r:id="rId4" imgW="3826872" imgH="72594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4908" y="3055668"/>
                          <a:ext cx="11671959" cy="22097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97" y="5196420"/>
              <a:ext cx="11596118" cy="12741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A'B'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A'E'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E'D'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D'C'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并擦去辅助线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G'A'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H'D'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便得到水平放置的正五边形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ABCDE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的直观图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A'B'C'D'E'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884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432445" y="1188529"/>
            <a:ext cx="10585176" cy="3904102"/>
            <a:chOff x="432445" y="1295729"/>
            <a:chExt cx="10585176" cy="3904102"/>
          </a:xfrm>
        </p:grpSpPr>
        <p:pic>
          <p:nvPicPr>
            <p:cNvPr id="9" name="WMG2TRA60.eps" descr="id:2147492635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32445" y="1295729"/>
              <a:ext cx="3312368" cy="3096486"/>
            </a:xfrm>
            <a:prstGeom prst="rect">
              <a:avLst/>
            </a:prstGeom>
          </p:spPr>
        </p:pic>
        <p:pic>
          <p:nvPicPr>
            <p:cNvPr id="10" name="WMG2TRA61.eps" descr="id:2147492642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211372" y="2649896"/>
              <a:ext cx="3312368" cy="1742319"/>
            </a:xfrm>
            <a:prstGeom prst="rect">
              <a:avLst/>
            </a:prstGeom>
          </p:spPr>
        </p:pic>
        <p:pic>
          <p:nvPicPr>
            <p:cNvPr id="11" name="WMG2TRA62.eps" descr="id:2147492649;FounderCES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8315828" y="2955184"/>
              <a:ext cx="2701793" cy="1437031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1686916" y="4516567"/>
              <a:ext cx="803425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5360375" y="4516567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9248807" y="4516567"/>
              <a:ext cx="596637" cy="60478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040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883487"/>
            <a:ext cx="10807700" cy="4794942"/>
            <a:chOff x="361950" y="940139"/>
            <a:chExt cx="10807700" cy="4794942"/>
          </a:xfrm>
        </p:grpSpPr>
        <p:pic>
          <p:nvPicPr>
            <p:cNvPr id="1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06231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画水平放置的平面图形的直观图的原则</a:t>
              </a:r>
              <a:endParaRPr lang="zh-CN" altLang="en-US" dirty="0"/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在画水平放置的平面图形的直观图时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选取适当的坐标系是关键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一般要使得平面多边形尽可能多的顶点在坐标轴上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以便于画点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画平面图形的直观图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首先画与坐标轴平行的线段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平行性不变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与坐标轴不平行的线段通过与坐标轴平行的线段确定它的两个端点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然后连接成线段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7526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用斜二测画法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边长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 cm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的水平放置的正三角形的直观图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361950" y="1858530"/>
            <a:ext cx="19457470" cy="3046988"/>
            <a:chOff x="361950" y="1858530"/>
            <a:chExt cx="19457470" cy="304698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858530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(1)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边所在的直线为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BC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边上的高线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AO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所在的直线为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作平面直角坐标系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Oxy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画对应的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使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x'O'y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轴上截取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O'B'=O'C'=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cm,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轴上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截取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A'B'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A'C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所示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70932560"/>
                </p:ext>
              </p:extLst>
            </p:nvPr>
          </p:nvGraphicFramePr>
          <p:xfrm>
            <a:off x="8147461" y="3559487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文档" r:id="rId4" imgW="3826872" imgH="237190" progId="Word.Document.12">
                    <p:embed/>
                  </p:oleObj>
                </mc:Choice>
                <mc:Fallback>
                  <p:oleObj name="文档" r:id="rId4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147461" y="3559487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5081597" y="4384609"/>
            <a:ext cx="1728192" cy="2023830"/>
            <a:chOff x="4104853" y="4752255"/>
            <a:chExt cx="1728192" cy="2023830"/>
          </a:xfrm>
        </p:grpSpPr>
        <p:pic>
          <p:nvPicPr>
            <p:cNvPr id="9" name="WMG2TRA63.eps" descr="id:2147492663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4104853" y="4752255"/>
              <a:ext cx="1728192" cy="1547500"/>
            </a:xfrm>
            <a:prstGeom prst="rect">
              <a:avLst/>
            </a:prstGeom>
          </p:spPr>
        </p:pic>
        <p:sp>
          <p:nvSpPr>
            <p:cNvPr id="12" name="矩形 11"/>
            <p:cNvSpPr>
              <a:spLocks noChangeAspect="1"/>
            </p:cNvSpPr>
            <p:nvPr/>
          </p:nvSpPr>
          <p:spPr>
            <a:xfrm>
              <a:off x="4607037" y="6299416"/>
              <a:ext cx="649537" cy="4766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400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en-US" altLang="zh-CN" sz="2400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endParaRPr lang="zh-CN" altLang="zh-CN" sz="24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067341" y="4455522"/>
            <a:ext cx="2366104" cy="1952917"/>
            <a:chOff x="7715413" y="4824262"/>
            <a:chExt cx="2366104" cy="1952917"/>
          </a:xfrm>
        </p:grpSpPr>
        <p:pic>
          <p:nvPicPr>
            <p:cNvPr id="10" name="WMG2TRA64.eps" descr="id:2147492670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7715413" y="4824262"/>
              <a:ext cx="2366104" cy="1411887"/>
            </a:xfrm>
            <a:prstGeom prst="rect">
              <a:avLst/>
            </a:prstGeom>
          </p:spPr>
        </p:pic>
        <p:sp>
          <p:nvSpPr>
            <p:cNvPr id="13" name="矩形 12"/>
            <p:cNvSpPr>
              <a:spLocks noChangeAspect="1"/>
            </p:cNvSpPr>
            <p:nvPr/>
          </p:nvSpPr>
          <p:spPr>
            <a:xfrm>
              <a:off x="8651442" y="6300510"/>
              <a:ext cx="494045" cy="47666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sz="2400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②</a:t>
              </a:r>
              <a:endParaRPr lang="zh-CN" altLang="zh-CN" sz="24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371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392885" y="2667751"/>
            <a:ext cx="1872208" cy="1796472"/>
            <a:chOff x="5184973" y="3024063"/>
            <a:chExt cx="1872208" cy="1796472"/>
          </a:xfrm>
        </p:grpSpPr>
        <p:pic>
          <p:nvPicPr>
            <p:cNvPr id="15" name="24Z36.eps" descr="id:2147493031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184973" y="3024063"/>
              <a:ext cx="1872208" cy="1174761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5761037" y="4176191"/>
              <a:ext cx="596637" cy="6443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宋体" panose="02010600030101010101" pitchFamily="2" charset="-122"/>
                  <a:cs typeface="宋体" panose="02010600030101010101" pitchFamily="2" charset="-122"/>
                </a:rPr>
                <a:t>③</a:t>
              </a:r>
              <a:endParaRPr lang="zh-CN" altLang="zh-CN" dirty="0">
                <a:solidFill>
                  <a:srgbClr val="000000"/>
                </a:solidFill>
                <a:effectLst/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61950" y="1289862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擦去辅助线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A'B'C'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为正三角形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66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简单</a:t>
            </a:r>
            <a:r>
              <a:rPr lang="zh-CN" altLang="zh-CN" dirty="0"/>
              <a:t>几何体的直观图的画法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48215"/>
            <a:ext cx="10807700" cy="241675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用斜二测画法画棱长为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cm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ABCD-A'B'C'D'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三轴相交于点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xOy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xOz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WMG2TRA65.eps" descr="id:214749268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76861" y="3740744"/>
            <a:ext cx="2520280" cy="255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74237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为中心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轴上取线段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轴上取线段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轴的平行线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轴的平行线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设它们的交点分别为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就是正方体的底面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画侧棱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各点分别作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轴的平行线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并在这些平行线上分别截取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长的线段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DD'.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顺次连接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并加以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整理</a:t>
            </a:r>
            <a:endParaRPr lang="en-US" altLang="zh-CN" dirty="0" smtClean="0">
              <a:solidFill>
                <a:srgbClr val="00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去掉辅助线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将被遮挡的部分改为虚线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得到正方体的直观图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WMG2TRA66.eps" descr="id:214749269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569349" y="3777410"/>
            <a:ext cx="2232248" cy="215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8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-2591891" y="1007839"/>
            <a:ext cx="13761541" cy="4228710"/>
            <a:chOff x="-2591891" y="940139"/>
            <a:chExt cx="13761541" cy="4228710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30930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画简单几何体的直观图的原则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作空间图形的直观图时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轴的线段画成平行于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并且长度不变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轴的线段画成平行于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且线段长度画成原来的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轴的线段画成平行于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并且长度不变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6902684"/>
                </p:ext>
              </p:extLst>
            </p:nvPr>
          </p:nvGraphicFramePr>
          <p:xfrm>
            <a:off x="-2591891" y="3811256"/>
            <a:ext cx="8769315" cy="714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1" name="文档" r:id="rId5" imgW="3826872" imgH="311941" progId="Word.Document.12">
                    <p:embed/>
                  </p:oleObj>
                </mc:Choice>
                <mc:Fallback>
                  <p:oleObj name="文档" r:id="rId5" imgW="3826872" imgH="31194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-2591891" y="3811256"/>
                          <a:ext cx="8769315" cy="71481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0876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410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画出底面是正方形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侧棱均相等的四棱锥的直观图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三轴相交于点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xOy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</a:rPr>
              <a:t>xOz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pic>
        <p:nvPicPr>
          <p:cNvPr id="9" name="WMG2TRA67.eps" descr="id:214749270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960837" y="3159313"/>
            <a:ext cx="3096344" cy="294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56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119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为中心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Oxy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画出正方形的直观图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画顶点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轴上截取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的长度是原四棱锥的高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顺次连接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并擦去辅助线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将被遮住的部分改为虚线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得四棱锥的直观图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WMG2TRA68.eps" descr="id:214749271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320877" y="3701630"/>
            <a:ext cx="2520280" cy="245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99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69948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直观图</a:t>
            </a:r>
            <a:r>
              <a:rPr lang="zh-CN" altLang="zh-CN" dirty="0"/>
              <a:t>的还原和计算问题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6717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水平放置的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的直观图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A'B'C'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A'C'=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B'C'=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则原图中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边上的中线的实际长度为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i="1" u="sng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pic>
        <p:nvPicPr>
          <p:cNvPr id="4" name="WMG2TRA69.eps" descr="id:2147492726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672805" y="2427679"/>
            <a:ext cx="3096344" cy="2064918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61950" y="4443903"/>
            <a:ext cx="17359078" cy="1274195"/>
            <a:chOff x="361950" y="4597485"/>
            <a:chExt cx="17359078" cy="1274195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597485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把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直观图还原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原图为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Rt</a:t>
              </a:r>
              <a:r>
                <a:rPr lang="en-US" altLang="zh-CN" dirty="0" err="1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en-US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边上的中线为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9810312"/>
                </p:ext>
              </p:extLst>
            </p:nvPr>
          </p:nvGraphicFramePr>
          <p:xfrm>
            <a:off x="6049069" y="5116053"/>
            <a:ext cx="11671959" cy="7234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5" name="文档" r:id="rId5" imgW="3826872" imgH="237190" progId="Word.Document.12">
                    <p:embed/>
                  </p:oleObj>
                </mc:Choice>
                <mc:Fallback>
                  <p:oleObj name="文档" r:id="rId5" imgW="3826872" imgH="23719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049069" y="5116053"/>
                          <a:ext cx="11671959" cy="72342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61950" y="5664215"/>
            <a:ext cx="176041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1718087"/>
            <a:ext cx="2524095" cy="460328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361950" y="2311065"/>
            <a:ext cx="19231286" cy="1808572"/>
            <a:chOff x="361950" y="1215491"/>
            <a:chExt cx="19231286" cy="1808572"/>
          </a:xfrm>
        </p:grpSpPr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361950" y="121549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本例改为以梯形为背景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en-US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如</a:t>
              </a:r>
              <a:r>
                <a:rPr lang="zh-CN" altLang="en-US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图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梯形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是一平面图形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的直观图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O'y'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                          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=O'D</a:t>
              </a:r>
              <a:r>
                <a:rPr lang="en-US" altLang="zh-CN" baseline="-25000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 </a:t>
              </a:r>
              <a:r>
                <a:rPr lang="en-US" altLang="zh-CN" i="1" dirty="0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试画出原四边形的形状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并求原图形的面积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9660768"/>
                </p:ext>
              </p:extLst>
            </p:nvPr>
          </p:nvGraphicFramePr>
          <p:xfrm>
            <a:off x="7921277" y="1784473"/>
            <a:ext cx="11671959" cy="725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58" name="文档" r:id="rId5" imgW="3826872" imgH="237909" progId="Word.Document.12">
                    <p:embed/>
                  </p:oleObj>
                </mc:Choice>
                <mc:Fallback>
                  <p:oleObj name="文档" r:id="rId5" imgW="3826872" imgH="2379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921277" y="1784473"/>
                          <a:ext cx="11671959" cy="72562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36893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67991"/>
            <a:ext cx="11742454" cy="4964384"/>
            <a:chOff x="361950" y="867991"/>
            <a:chExt cx="11742454" cy="496438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67991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建立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直角坐标系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Oxy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轴上截取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OD=O'D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OC=O'C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轴的平行线上截取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轴的平行线上截取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即得到了原图形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由作法可知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原四边形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是直角梯形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上、下底长度分别为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直角腰长度为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6977040"/>
                </p:ext>
              </p:extLst>
            </p:nvPr>
          </p:nvGraphicFramePr>
          <p:xfrm>
            <a:off x="432445" y="5030024"/>
            <a:ext cx="11671959" cy="802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2" name="文档" r:id="rId4" imgW="3826872" imgH="263066" progId="Word.Document.12">
                    <p:embed/>
                  </p:oleObj>
                </mc:Choice>
                <mc:Fallback>
                  <p:oleObj name="文档" r:id="rId4" imgW="3826872" imgH="26306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5030024"/>
                          <a:ext cx="11671959" cy="8023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9" name="WMG2TRA70.eps" descr="id:2147492740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8209309" y="1151855"/>
              <a:ext cx="3024336" cy="22042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3799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367879"/>
            <a:ext cx="10807700" cy="3020028"/>
            <a:chOff x="361950" y="940139"/>
            <a:chExt cx="10807700" cy="3020028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60664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由直观图还原为平面图的关键是找与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轴平行的直线或线段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轴的线段还原时长度不变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平行于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轴的线段还原时放大为直观图中相应线段长的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由此确定图形的各个顶点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顺次连接即可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5637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2015827" y="711435"/>
            <a:ext cx="14264247" cy="5501300"/>
            <a:chOff x="-2015827" y="711435"/>
            <a:chExt cx="14264247" cy="5501300"/>
          </a:xfrm>
        </p:grpSpPr>
        <p:grpSp>
          <p:nvGrpSpPr>
            <p:cNvPr id="9" name="组合 8"/>
            <p:cNvGrpSpPr/>
            <p:nvPr/>
          </p:nvGrpSpPr>
          <p:grpSpPr>
            <a:xfrm>
              <a:off x="-2015827" y="711435"/>
              <a:ext cx="14264247" cy="3752788"/>
              <a:chOff x="-2015827" y="711435"/>
              <a:chExt cx="14264247" cy="375278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-2015827" y="711435"/>
                <a:ext cx="13185477" cy="1808572"/>
                <a:chOff x="-2015827" y="711435"/>
                <a:chExt cx="13185477" cy="1808572"/>
              </a:xfrm>
            </p:grpSpPr>
            <p:sp>
              <p:nvSpPr>
                <p:cNvPr id="3" name="矩形 2"/>
                <p:cNvSpPr>
                  <a:spLocks noChangeAspect="1"/>
                </p:cNvSpPr>
                <p:nvPr/>
              </p:nvSpPr>
              <p:spPr>
                <a:xfrm>
                  <a:off x="361950" y="711435"/>
                  <a:ext cx="10807700" cy="1808572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 algn="ctr">
                    <a:lnSpc>
                      <a:spcPct val="120000"/>
                    </a:lnSpc>
                    <a:spcAft>
                      <a:spcPts val="0"/>
                    </a:spcAft>
                    <a:tabLst>
                      <a:tab pos="1188085" algn="l"/>
                      <a:tab pos="2163445" algn="l"/>
                      <a:tab pos="3142615" algn="l"/>
                      <a:tab pos="4190365" algn="l"/>
                    </a:tabLst>
                  </a:pPr>
                  <a:r>
                    <a:rPr lang="zh-CN" altLang="zh-CN" dirty="0">
                      <a:solidFill>
                        <a:srgbClr val="000000"/>
                      </a:solidFill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平面图形的直观图还原致错</a:t>
                  </a:r>
                  <a:endParaRPr lang="zh-CN" altLang="zh-CN" dirty="0">
                    <a:solidFill>
                      <a:srgbClr val="000000"/>
                    </a:solidFill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dirty="0" smtClean="0">
                      <a:solidFill>
                        <a:srgbClr val="000000"/>
                      </a:solidFill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【典例】</a:t>
                  </a:r>
                  <a:r>
                    <a:rPr lang="zh-CN" altLang="zh-CN" dirty="0" smtClean="0">
                      <a:solidFill>
                        <a:srgbClr val="000000"/>
                      </a:solidFill>
                      <a:latin typeface="NEU-BZ-S92"/>
                      <a:ea typeface="Arial" panose="020B060402020202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如图所示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一梯形的直观图是一个等腰梯形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且梯形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OA'B'C'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的面积为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     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则原梯形的面积为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(</a:t>
                  </a:r>
                  <a:r>
                    <a:rPr lang="zh-CN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　　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)</a:t>
                  </a:r>
                  <a:endParaRPr lang="zh-CN" altLang="zh-CN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4" name="对象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25909469"/>
                    </p:ext>
                  </p:extLst>
                </p:nvPr>
              </p:nvGraphicFramePr>
              <p:xfrm>
                <a:off x="-2015827" y="1975243"/>
                <a:ext cx="11671959" cy="54476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8218" name="文档" r:id="rId4" imgW="3826872" imgH="178611" progId="Word.Document.12">
                        <p:embed/>
                      </p:oleObj>
                    </mc:Choice>
                    <mc:Fallback>
                      <p:oleObj name="文档" r:id="rId4" imgW="3826872" imgH="178611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-2015827" y="1975243"/>
                              <a:ext cx="11671959" cy="544764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aphicFrame>
            <p:nvGraphicFramePr>
              <p:cNvPr id="7" name="对象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15168144"/>
                  </p:ext>
                </p:extLst>
              </p:nvPr>
            </p:nvGraphicFramePr>
            <p:xfrm>
              <a:off x="576461" y="3251930"/>
              <a:ext cx="11671959" cy="121229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19" name="文档" r:id="rId7" imgW="3826872" imgH="397473" progId="Word.Document.12">
                      <p:embed/>
                    </p:oleObj>
                  </mc:Choice>
                  <mc:Fallback>
                    <p:oleObj name="文档" r:id="rId7" imgW="3826872" imgH="397473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576461" y="3251930"/>
                            <a:ext cx="11671959" cy="121229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pic>
            <p:nvPicPr>
              <p:cNvPr id="8" name="WMG2TRA71.eps" descr="id:2147492761;FounderCES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37808" y="2551310"/>
                <a:ext cx="2515517" cy="1885712"/>
              </a:xfrm>
              <a:prstGeom prst="rect">
                <a:avLst/>
              </a:prstGeom>
            </p:spPr>
          </p:pic>
        </p:grpSp>
        <p:sp>
          <p:nvSpPr>
            <p:cNvPr id="10" name="矩形 9"/>
            <p:cNvSpPr>
              <a:spLocks noChangeAspect="1"/>
            </p:cNvSpPr>
            <p:nvPr/>
          </p:nvSpPr>
          <p:spPr>
            <a:xfrm>
              <a:off x="361950" y="440416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错解</a:t>
              </a:r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以上解答过程中都有哪些错误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出错的原因是什么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你如何改正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你如何防范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?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61950" y="729967"/>
            <a:ext cx="17287070" cy="1266724"/>
            <a:chOff x="361950" y="2147859"/>
            <a:chExt cx="17287070" cy="1266724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14785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提示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解答此类问题时要注意角度的变化以及长度的变化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直观图面积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S'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与原图形面积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满足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3790491"/>
                </p:ext>
              </p:extLst>
            </p:nvPr>
          </p:nvGraphicFramePr>
          <p:xfrm>
            <a:off x="5977061" y="2625386"/>
            <a:ext cx="11671959" cy="789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0" name="文档" r:id="rId4" imgW="3826872" imgH="258753" progId="Word.Document.12">
                    <p:embed/>
                  </p:oleObj>
                </mc:Choice>
                <mc:Fallback>
                  <p:oleObj name="文档" r:id="rId4" imgW="3826872" imgH="2587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977061" y="2625386"/>
                          <a:ext cx="11671959" cy="7891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361950" y="2117741"/>
            <a:ext cx="10807700" cy="4228850"/>
            <a:chOff x="361950" y="719807"/>
            <a:chExt cx="10807700" cy="4228850"/>
          </a:xfrm>
        </p:grpSpPr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361950" y="719807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由斜二测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画法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的规则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en-US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原梯形与直观图中的梯形上、下底边的长度是一样的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但两个梯形的高不一样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6" name="WMG2TRA72.eps" descr="id:2147492768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2520677" y="1350670"/>
              <a:ext cx="5976664" cy="2351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947093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366559"/>
              </p:ext>
            </p:extLst>
          </p:nvPr>
        </p:nvGraphicFramePr>
        <p:xfrm>
          <a:off x="432445" y="1151855"/>
          <a:ext cx="11671959" cy="3168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文档" r:id="rId4" imgW="3826872" imgH="1038965" progId="Word.Document.12">
                  <p:embed/>
                </p:oleObj>
              </mc:Choice>
              <mc:Fallback>
                <p:oleObj name="文档" r:id="rId4" imgW="3826872" imgH="10389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151855"/>
                        <a:ext cx="11671959" cy="3168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17925" y="4337359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9787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-199140" y="1727919"/>
            <a:ext cx="11671959" cy="2439889"/>
            <a:chOff x="-199140" y="1792856"/>
            <a:chExt cx="11671959" cy="2439889"/>
          </a:xfrm>
        </p:grpSpPr>
        <p:pic>
          <p:nvPicPr>
            <p:cNvPr id="4" name="防范措施H.eps" descr="id:2147490860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36761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原梯形与直观图中梯形上、下底边的长度一样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但高的长度不一样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原梯形的高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OC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是直观图中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O'C'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的长度的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O'C'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的长度是直观图中梯形的高的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倍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此处易出错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3522907"/>
                </p:ext>
              </p:extLst>
            </p:nvPr>
          </p:nvGraphicFramePr>
          <p:xfrm>
            <a:off x="-199140" y="3593056"/>
            <a:ext cx="11671959" cy="5447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name="文档" r:id="rId5" imgW="3826872" imgH="178611" progId="Word.Document.12">
                    <p:embed/>
                  </p:oleObj>
                </mc:Choice>
                <mc:Fallback>
                  <p:oleObj name="文档" r:id="rId5" imgW="3826872" imgH="1786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-199140" y="3593056"/>
                          <a:ext cx="11671959" cy="5447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4792350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5763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O'A'B'C'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的边长为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它是水平放置的一个平面图形的直观图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则原图形的周长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WMG2TRA73.eps" descr="id:214749278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6769149" y="1881767"/>
            <a:ext cx="2448272" cy="2087702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442813"/>
              </p:ext>
            </p:extLst>
          </p:nvPr>
        </p:nvGraphicFramePr>
        <p:xfrm>
          <a:off x="365125" y="3672135"/>
          <a:ext cx="11672888" cy="200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文档" r:id="rId5" imgW="3826872" imgH="681742" progId="Word.Document.12">
                  <p:embed/>
                </p:oleObj>
              </mc:Choice>
              <mc:Fallback>
                <p:oleObj name="文档" r:id="rId5" imgW="3826872" imgH="68174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5125" y="3672135"/>
                        <a:ext cx="11672888" cy="2001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288429" y="5693879"/>
            <a:ext cx="2079415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5403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用斜二测画法画水平放置的平面图形的直观图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对其中的线段的说法错误的是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原来相交的仍相交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原来垂直的仍垂直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原来平行的仍平行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原来共点的仍共点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按斜二测画法画直观图时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角度要发生改变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其余均正确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75791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利用斜二测画法得到的直观图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三角形的直观图是三角形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平行四边形的直观图是平行四边形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正方形的直观图是正方形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菱形的直观图是菱形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根据斜二测画法的规则知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相交的线段仍然相交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线段的平行性不改变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轴的线段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长度变为原来的一半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C,D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不正确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178511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942167"/>
            <a:ext cx="11814462" cy="2726472"/>
            <a:chOff x="361950" y="863823"/>
            <a:chExt cx="11814462" cy="272647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86382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一个水平放置的平面图形的直观图是一个底角为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腰和上底长均为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的等腰梯形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则该平面图形的面积等于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7374134"/>
                </p:ext>
              </p:extLst>
            </p:nvPr>
          </p:nvGraphicFramePr>
          <p:xfrm>
            <a:off x="504453" y="2123706"/>
            <a:ext cx="11671959" cy="1466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4" name="文档" r:id="rId4" imgW="3826872" imgH="480849" progId="Word.Document.12">
                    <p:embed/>
                  </p:oleObj>
                </mc:Choice>
                <mc:Fallback>
                  <p:oleObj name="文档" r:id="rId4" imgW="3826872" imgH="48084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2123706"/>
                          <a:ext cx="11671959" cy="146658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61950" y="3678471"/>
            <a:ext cx="18335822" cy="1274195"/>
            <a:chOff x="361950" y="3600127"/>
            <a:chExt cx="18335822" cy="1274195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3600127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平面图形是上底长为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下底长为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高为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的直角梯形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0015075"/>
                </p:ext>
              </p:extLst>
            </p:nvPr>
          </p:nvGraphicFramePr>
          <p:xfrm>
            <a:off x="7025813" y="3666352"/>
            <a:ext cx="11671959" cy="534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35" name="文档" r:id="rId7" imgW="3826872" imgH="175377" progId="Word.Document.12">
                    <p:embed/>
                  </p:oleObj>
                </mc:Choice>
                <mc:Fallback>
                  <p:oleObj name="文档" r:id="rId7" imgW="3826872" imgH="17537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25813" y="3666352"/>
                          <a:ext cx="11671959" cy="534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490260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08667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89481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用斜二测画法画出的直观图如图所示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的面积是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A.8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B.16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C.32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D.64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9" name="WMG2TRA74.eps" descr="id:2147492796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5833045" y="1362239"/>
            <a:ext cx="3168352" cy="2613544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361950" y="4319470"/>
            <a:ext cx="13830686" cy="1338563"/>
            <a:chOff x="361950" y="4177889"/>
            <a:chExt cx="13830686" cy="133856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417788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由题图可知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AOB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的底边长为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高为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16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</a:p>
            <a:p>
              <a:pPr>
                <a:lnSpc>
                  <a:spcPct val="120000"/>
                </a:lnSpc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面积为</a:t>
              </a:r>
              <a:endParaRPr lang="zh-CN" altLang="en-US" dirty="0"/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4399436"/>
                </p:ext>
              </p:extLst>
            </p:nvPr>
          </p:nvGraphicFramePr>
          <p:xfrm>
            <a:off x="2520677" y="4721775"/>
            <a:ext cx="11671959" cy="794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2" name="文档" r:id="rId5" imgW="3826872" imgH="260550" progId="Word.Document.12">
                    <p:embed/>
                  </p:oleObj>
                </mc:Choice>
                <mc:Fallback>
                  <p:oleObj name="文档" r:id="rId5" imgW="3826872" imgH="2605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20677" y="4721775"/>
                          <a:ext cx="11671959" cy="79467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5668193"/>
            <a:ext cx="154401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56285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386914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已知两个圆锥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底面重合在一起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底面平行于水平面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其中一个圆锥顶点到底面的距离为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另一个圆锥顶点到底面的距离为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 cm,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则其直观图中这两个顶点之间的距离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cm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由几何体直观图的画法知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轴上或平行于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轴的线段长度保持不变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故两顶点间的距离为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5(cm)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61969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82</TotalTime>
  <Words>2343</Words>
  <Application>Microsoft Office PowerPoint</Application>
  <PresentationFormat>自定义</PresentationFormat>
  <Paragraphs>150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2025-09-04T06:13:19Z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