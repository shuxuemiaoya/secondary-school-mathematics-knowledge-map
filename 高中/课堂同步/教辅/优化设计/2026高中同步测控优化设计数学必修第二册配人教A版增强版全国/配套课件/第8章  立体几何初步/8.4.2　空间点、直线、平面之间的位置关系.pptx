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62" r:id="rId14"/>
    <p:sldId id="763" r:id="rId15"/>
    <p:sldId id="764" r:id="rId16"/>
    <p:sldId id="765" r:id="rId17"/>
    <p:sldId id="766" r:id="rId18"/>
    <p:sldId id="737" r:id="rId19"/>
    <p:sldId id="750" r:id="rId20"/>
    <p:sldId id="767" r:id="rId21"/>
    <p:sldId id="768" r:id="rId22"/>
    <p:sldId id="769" r:id="rId23"/>
    <p:sldId id="754" r:id="rId24"/>
    <p:sldId id="770" r:id="rId25"/>
    <p:sldId id="771" r:id="rId26"/>
    <p:sldId id="772" r:id="rId27"/>
    <p:sldId id="755" r:id="rId28"/>
    <p:sldId id="773" r:id="rId29"/>
    <p:sldId id="774" r:id="rId30"/>
    <p:sldId id="747" r:id="rId31"/>
    <p:sldId id="751" r:id="rId32"/>
    <p:sldId id="775" r:id="rId33"/>
    <p:sldId id="776" r:id="rId34"/>
    <p:sldId id="748" r:id="rId35"/>
    <p:sldId id="752" r:id="rId36"/>
    <p:sldId id="777" r:id="rId37"/>
    <p:sldId id="778" r:id="rId38"/>
    <p:sldId id="779" r:id="rId39"/>
    <p:sldId id="735" r:id="rId40"/>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39</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4.xml"/><Relationship Id="rId5" Type="http://schemas.openxmlformats.org/officeDocument/2006/relationships/slide" Target="slide30.xml"/><Relationship Id="rId4"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package" Target="../embeddings/Microsoft_Word___2.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package" Target="../embeddings/Microsoft_Word___3.docx"/></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19.xml"/><Relationship Id="rId1" Type="http://schemas.openxmlformats.org/officeDocument/2006/relationships/slideLayout" Target="../slideLayouts/slideLayout4.xml"/><Relationship Id="rId4" Type="http://schemas.openxmlformats.org/officeDocument/2006/relationships/slide" Target="slide2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971741"/>
            <a:ext cx="10807700" cy="2204450"/>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8</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4</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空间点、直线、</a:t>
            </a:r>
            <a:r>
              <a:rPr lang="zh-CN"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rPr>
              <a:t>平面</a:t>
            </a:r>
            <a:endParaRPr lang="en-US"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rPr>
              <a:t>之间</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的位置关系</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91815"/>
            <a:ext cx="10729192" cy="5060491"/>
            <a:chOff x="360437" y="791815"/>
            <a:chExt cx="10729192" cy="5060491"/>
          </a:xfrm>
        </p:grpSpPr>
        <p:grpSp>
          <p:nvGrpSpPr>
            <p:cNvPr id="13" name="组合 12"/>
            <p:cNvGrpSpPr/>
            <p:nvPr/>
          </p:nvGrpSpPr>
          <p:grpSpPr>
            <a:xfrm>
              <a:off x="360437" y="791815"/>
              <a:ext cx="10729192" cy="5060491"/>
              <a:chOff x="360437" y="1511895"/>
              <a:chExt cx="10729192" cy="3456384"/>
            </a:xfrm>
          </p:grpSpPr>
          <p:sp>
            <p:nvSpPr>
              <p:cNvPr id="2" name="圆角矩形 1"/>
              <p:cNvSpPr/>
              <p:nvPr/>
            </p:nvSpPr>
            <p:spPr>
              <a:xfrm>
                <a:off x="360437" y="1511895"/>
                <a:ext cx="10729192"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73017"/>
                <a:ext cx="0" cy="331236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162741"/>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理解空间点、直线、平面之间的位置关系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了解它们的分类情况</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能用文字、符号、图形三种语言表述空间点、直线、平面之间的位置关系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能利用某些特殊空间图形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如长方体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理解空间点、直线、平面之间的位置关系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提升空间想象和数学抽象素养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68184"/>
            <a:ext cx="10807700" cy="3637919"/>
          </a:xfrm>
          <a:prstGeom prst="rect">
            <a:avLst/>
          </a:prstGeom>
        </p:spPr>
        <p:txBody>
          <a:bodyPr>
            <a:spAutoFit/>
          </a:bodyPr>
          <a:lstStyle/>
          <a:p>
            <a:pPr>
              <a:lnSpc>
                <a:spcPct val="120000"/>
              </a:lnSpc>
            </a:pPr>
            <a:r>
              <a:rPr lang="zh-CN" altLang="zh-CN" dirty="0">
                <a:solidFill>
                  <a:srgbClr val="000000"/>
                </a:solidFill>
                <a:latin typeface="NEU-BZ-S92"/>
                <a:ea typeface="方正正中黑简体"/>
                <a:cs typeface="Times New Roman" panose="02020603050405020304" pitchFamily="18" charset="0"/>
              </a:rPr>
              <a:t>一、空间中直线与直线的位置关系</a:t>
            </a:r>
            <a:endParaRPr lang="zh-CN" altLang="en-US" dirty="0"/>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在浩瀚的夜空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两颗流星飞逝而过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假设它们的轨迹为直线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请分析这两颗流星运动轨迹的位置关系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可能平行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也可能相交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还有一种位置关系不平行也不相交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就像教室内的日光灯管所在的直线与黑板的左右两侧所在的直线一样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68723"/>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我们把不同在</a:t>
            </a:r>
            <a:r>
              <a:rPr lang="zh-CN" altLang="zh-CN" dirty="0">
                <a:ea typeface="宋体" panose="02010600030101010101" pitchFamily="2" charset="-122"/>
                <a:cs typeface="Times New Roman" panose="02020603050405020304" pitchFamily="18" charset="0"/>
              </a:rPr>
              <a:t>任何一个平面内</a:t>
            </a:r>
            <a:r>
              <a:rPr lang="zh-CN" altLang="zh-CN" dirty="0">
                <a:solidFill>
                  <a:srgbClr val="000000"/>
                </a:solidFill>
                <a:ea typeface="宋体" panose="02010600030101010101" pitchFamily="2" charset="-122"/>
                <a:cs typeface="Times New Roman" panose="02020603050405020304" pitchFamily="18" charset="0"/>
              </a:rPr>
              <a:t>的两条直线叫做异面直线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空间两条直线的位置关系</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168211016"/>
              </p:ext>
            </p:extLst>
          </p:nvPr>
        </p:nvGraphicFramePr>
        <p:xfrm>
          <a:off x="-251225" y="2412523"/>
          <a:ext cx="11844910" cy="3419852"/>
        </p:xfrm>
        <a:graphic>
          <a:graphicData uri="http://schemas.openxmlformats.org/presentationml/2006/ole">
            <mc:AlternateContent xmlns:mc="http://schemas.openxmlformats.org/markup-compatibility/2006">
              <mc:Choice xmlns:v="urn:schemas-microsoft-com:vml" Requires="v">
                <p:oleObj spid="_x0000_s1037" name="文档" r:id="rId4" imgW="3883577" imgH="1121263" progId="Word.Document.12">
                  <p:embed/>
                </p:oleObj>
              </mc:Choice>
              <mc:Fallback>
                <p:oleObj name="文档" r:id="rId4" imgW="3883577" imgH="1121263" progId="Word.Document.12">
                  <p:embed/>
                  <p:pic>
                    <p:nvPicPr>
                      <p:cNvPr id="0" name=""/>
                      <p:cNvPicPr/>
                      <p:nvPr/>
                    </p:nvPicPr>
                    <p:blipFill>
                      <a:blip r:embed="rId5"/>
                      <a:stretch>
                        <a:fillRect/>
                      </a:stretch>
                    </p:blipFill>
                    <p:spPr>
                      <a:xfrm>
                        <a:off x="-251225" y="2412523"/>
                        <a:ext cx="11844910" cy="3419852"/>
                      </a:xfrm>
                      <a:prstGeom prst="rect">
                        <a:avLst/>
                      </a:prstGeom>
                    </p:spPr>
                  </p:pic>
                </p:oleObj>
              </mc:Fallback>
            </mc:AlternateContent>
          </a:graphicData>
        </a:graphic>
      </p:graphicFrame>
      <p:sp>
        <p:nvSpPr>
          <p:cNvPr id="5" name="矩形 4"/>
          <p:cNvSpPr/>
          <p:nvPr/>
        </p:nvSpPr>
        <p:spPr>
          <a:xfrm>
            <a:off x="3677351" y="1233271"/>
            <a:ext cx="286501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3672805" y="1697369"/>
            <a:ext cx="286177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7632666" y="3200362"/>
            <a:ext cx="84332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6038747" y="383846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4695819" y="4491305"/>
            <a:ext cx="243337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7663147" y="449197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2335140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07839"/>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zh-CN" altLang="zh-CN" dirty="0">
                <a:solidFill>
                  <a:srgbClr val="000000"/>
                </a:solidFill>
                <a:ea typeface="宋体" panose="02010600030101010101" pitchFamily="2" charset="-122"/>
                <a:cs typeface="Times New Roman" panose="02020603050405020304" pitchFamily="18" charset="0"/>
              </a:rPr>
              <a:t>如果直线</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Times New Roman" panose="02020603050405020304" pitchFamily="18" charset="0"/>
              </a:rPr>
              <a:t>为异面直线</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为了表示它们不共面的特点</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作图时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通常用一个或两个平面衬托</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i="1" dirty="0">
                <a:solidFill>
                  <a:srgbClr val="000000"/>
                </a:solidFill>
                <a:ea typeface="宋体" panose="02010600030101010101" pitchFamily="2" charset="-122"/>
              </a:rPr>
              <a:t>.</a:t>
            </a:r>
            <a:endParaRPr lang="zh-CN" altLang="en-US" dirty="0"/>
          </a:p>
        </p:txBody>
      </p:sp>
      <p:pic>
        <p:nvPicPr>
          <p:cNvPr id="5" name="ZMG2TRA26.eps" descr="id:2147493636;FounderCES"/>
          <p:cNvPicPr/>
          <p:nvPr/>
        </p:nvPicPr>
        <p:blipFill>
          <a:blip r:embed="rId2"/>
          <a:stretch>
            <a:fillRect/>
          </a:stretch>
        </p:blipFill>
        <p:spPr>
          <a:xfrm>
            <a:off x="1584573" y="2225479"/>
            <a:ext cx="7704856" cy="2816703"/>
          </a:xfrm>
          <a:prstGeom prst="rect">
            <a:avLst/>
          </a:prstGeom>
        </p:spPr>
      </p:pic>
    </p:spTree>
    <p:extLst>
      <p:ext uri="{BB962C8B-B14F-4D97-AF65-F5344CB8AC3E}">
        <p14:creationId xmlns:p14="http://schemas.microsoft.com/office/powerpoint/2010/main" val="3635588159"/>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42373"/>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不平行的两条直线的位置关系是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相交</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异面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平行</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相交或异面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正方体</a:t>
            </a:r>
            <a:r>
              <a:rPr lang="en-US" altLang="zh-CN" i="1" dirty="0">
                <a:solidFill>
                  <a:srgbClr val="000000"/>
                </a:solidFill>
                <a:ea typeface="宋体" panose="02010600030101010101" pitchFamily="2" charset="-122"/>
                <a:cs typeface="Times New Roman" panose="02020603050405020304" pitchFamily="18" charset="0"/>
              </a:rPr>
              <a:t>AC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E</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zh-CN" altLang="zh-CN" dirty="0">
                <a:solidFill>
                  <a:srgbClr val="000000"/>
                </a:solidFill>
                <a:ea typeface="宋体" panose="02010600030101010101" pitchFamily="2" charset="-122"/>
                <a:cs typeface="Times New Roman" panose="02020603050405020304" pitchFamily="18" charset="0"/>
              </a:rPr>
              <a:t>分别是线段</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D</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BC</a:t>
            </a:r>
            <a:r>
              <a:rPr lang="zh-CN" altLang="zh-CN" dirty="0">
                <a:solidFill>
                  <a:srgbClr val="000000"/>
                </a:solidFill>
                <a:ea typeface="宋体" panose="02010600030101010101" pitchFamily="2" charset="-122"/>
                <a:cs typeface="Times New Roman" panose="02020603050405020304" pitchFamily="18" charset="0"/>
              </a:rPr>
              <a:t>的中点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EF</a:t>
            </a:r>
            <a:r>
              <a:rPr lang="zh-CN" altLang="zh-CN" dirty="0">
                <a:solidFill>
                  <a:srgbClr val="000000"/>
                </a:solidFill>
                <a:ea typeface="宋体" panose="02010600030101010101" pitchFamily="2" charset="-122"/>
                <a:cs typeface="Times New Roman" panose="02020603050405020304" pitchFamily="18" charset="0"/>
              </a:rPr>
              <a:t>的位置关系是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ZMG2TRA27.eps" descr="id:2147493643;FounderCES"/>
          <p:cNvPicPr/>
          <p:nvPr/>
        </p:nvPicPr>
        <p:blipFill>
          <a:blip r:embed="rId2"/>
          <a:stretch>
            <a:fillRect/>
          </a:stretch>
        </p:blipFill>
        <p:spPr>
          <a:xfrm>
            <a:off x="3528789" y="3603311"/>
            <a:ext cx="3024336" cy="2666152"/>
          </a:xfrm>
          <a:prstGeom prst="rect">
            <a:avLst/>
          </a:prstGeom>
        </p:spPr>
      </p:pic>
    </p:spTree>
    <p:extLst>
      <p:ext uri="{BB962C8B-B14F-4D97-AF65-F5344CB8AC3E}">
        <p14:creationId xmlns:p14="http://schemas.microsoft.com/office/powerpoint/2010/main" val="3258256386"/>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648126"/>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若两直线不平行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则可能相交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也可能异面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连接</a:t>
            </a:r>
            <a:r>
              <a:rPr lang="en-US" altLang="zh-CN" i="1" dirty="0">
                <a:solidFill>
                  <a:srgbClr val="000000"/>
                </a:solidFill>
                <a:ea typeface="宋体" panose="02010600030101010101" pitchFamily="2" charset="-122"/>
                <a:cs typeface="Times New Roman" panose="02020603050405020304" pitchFamily="18" charset="0"/>
              </a:rPr>
              <a:t>CD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与其外一点</a:t>
            </a:r>
            <a:r>
              <a:rPr lang="en-US" altLang="zh-CN" i="1" dirty="0">
                <a:solidFill>
                  <a:srgbClr val="000000"/>
                </a:solidFill>
                <a:ea typeface="宋体" panose="02010600030101010101" pitchFamily="2" charset="-122"/>
                <a:cs typeface="Times New Roman" panose="02020603050405020304" pitchFamily="18" charset="0"/>
              </a:rPr>
              <a:t>E</a:t>
            </a:r>
            <a:r>
              <a:rPr lang="zh-CN" altLang="zh-CN" dirty="0">
                <a:solidFill>
                  <a:srgbClr val="000000"/>
                </a:solidFill>
                <a:ea typeface="楷体" panose="02010609060101010101" pitchFamily="49" charset="-122"/>
                <a:cs typeface="Times New Roman" panose="02020603050405020304" pitchFamily="18" charset="0"/>
              </a:rPr>
              <a:t>确定的平面为</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BCD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EF</a:t>
            </a:r>
            <a:r>
              <a:rPr lang="en-US" altLang="zh-CN" dirty="0">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BCD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EF</a:t>
            </a:r>
            <a:r>
              <a:rPr lang="zh-CN" altLang="zh-CN" dirty="0">
                <a:solidFill>
                  <a:srgbClr val="000000"/>
                </a:solidFill>
                <a:ea typeface="楷体" panose="02010609060101010101" pitchFamily="49" charset="-122"/>
                <a:cs typeface="Times New Roman" panose="02020603050405020304" pitchFamily="18" charset="0"/>
              </a:rPr>
              <a:t>不平行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EF</a:t>
            </a:r>
            <a:r>
              <a:rPr lang="zh-CN" altLang="zh-CN" dirty="0">
                <a:solidFill>
                  <a:srgbClr val="000000"/>
                </a:solidFill>
                <a:ea typeface="楷体" panose="02010609060101010101" pitchFamily="49" charset="-122"/>
                <a:cs typeface="Times New Roman" panose="02020603050405020304" pitchFamily="18" charset="0"/>
              </a:rPr>
              <a:t>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(1)D</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相交</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4445094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463"/>
            <a:ext cx="10807700" cy="2456057"/>
          </a:xfrm>
          <a:prstGeom prst="rect">
            <a:avLst/>
          </a:prstGeom>
        </p:spPr>
        <p:txBody>
          <a:bodyPr>
            <a:spAutoFit/>
          </a:bodyPr>
          <a:lstStyle/>
          <a:p>
            <a:pPr>
              <a:lnSpc>
                <a:spcPct val="120000"/>
              </a:lnSpc>
            </a:pPr>
            <a:r>
              <a:rPr lang="zh-CN" altLang="zh-CN" dirty="0">
                <a:solidFill>
                  <a:srgbClr val="000000"/>
                </a:solidFill>
                <a:latin typeface="NEU-BZ-S92"/>
                <a:ea typeface="方正正中黑简体"/>
                <a:cs typeface="Times New Roman" panose="02020603050405020304" pitchFamily="18" charset="0"/>
              </a:rPr>
              <a:t>二、空间中直线与平面的位置关系</a:t>
            </a:r>
            <a:endParaRPr lang="zh-CN" altLang="en-US" dirty="0"/>
          </a:p>
          <a:p>
            <a:pPr>
              <a:lnSpc>
                <a:spcPct val="120000"/>
              </a:lnSpc>
            </a:pPr>
            <a:r>
              <a:rPr lang="en-US" altLang="zh-CN" dirty="0" smtClean="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在长方体</a:t>
            </a:r>
            <a:r>
              <a:rPr lang="en-US" altLang="zh-CN" i="1" dirty="0">
                <a:solidFill>
                  <a:srgbClr val="000000"/>
                </a:solidFill>
                <a:ea typeface="宋体" panose="02010600030101010101" pitchFamily="2" charset="-122"/>
              </a:rPr>
              <a:t>ABCD-A'B'C'D'</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你能发现</a:t>
            </a:r>
            <a:r>
              <a:rPr lang="en-US" altLang="zh-CN" i="1" dirty="0">
                <a:solidFill>
                  <a:srgbClr val="000000"/>
                </a:solidFill>
                <a:ea typeface="宋体" panose="02010600030101010101" pitchFamily="2" charset="-122"/>
              </a:rPr>
              <a:t>A'B</a:t>
            </a:r>
            <a:r>
              <a:rPr lang="zh-CN" altLang="zh-CN" dirty="0">
                <a:solidFill>
                  <a:srgbClr val="000000"/>
                </a:solidFill>
                <a:ea typeface="宋体" panose="02010600030101010101" pitchFamily="2" charset="-122"/>
                <a:cs typeface="Times New Roman" panose="02020603050405020304" pitchFamily="18" charset="0"/>
              </a:rPr>
              <a:t>所在的直线与长方体</a:t>
            </a:r>
            <a:r>
              <a:rPr lang="en-US" altLang="zh-CN" i="1" dirty="0">
                <a:solidFill>
                  <a:srgbClr val="000000"/>
                </a:solidFill>
                <a:ea typeface="宋体" panose="02010600030101010101" pitchFamily="2" charset="-122"/>
              </a:rPr>
              <a:t>ABCD-A'B'C'D'</a:t>
            </a:r>
            <a:r>
              <a:rPr lang="zh-CN" altLang="zh-CN" dirty="0">
                <a:solidFill>
                  <a:srgbClr val="000000"/>
                </a:solidFill>
                <a:ea typeface="宋体" panose="02010600030101010101" pitchFamily="2" charset="-122"/>
                <a:cs typeface="Times New Roman" panose="02020603050405020304" pitchFamily="18" charset="0"/>
              </a:rPr>
              <a:t>的六个面所在的平面有几种位置关系</a:t>
            </a:r>
            <a:r>
              <a:rPr lang="en-US" altLang="zh-CN" dirty="0">
                <a:solidFill>
                  <a:srgbClr val="000000"/>
                </a:solidFill>
                <a:ea typeface="宋体" panose="02010600030101010101" pitchFamily="2" charset="-122"/>
              </a:rPr>
              <a:t>?</a:t>
            </a:r>
            <a:endParaRPr lang="zh-CN" altLang="en-US" dirty="0"/>
          </a:p>
        </p:txBody>
      </p:sp>
      <p:pic>
        <p:nvPicPr>
          <p:cNvPr id="4" name="ZMG2TRA28.eps" descr="id:2147493650;FounderCES"/>
          <p:cNvPicPr/>
          <p:nvPr/>
        </p:nvPicPr>
        <p:blipFill>
          <a:blip r:embed="rId2"/>
          <a:stretch>
            <a:fillRect/>
          </a:stretch>
        </p:blipFill>
        <p:spPr>
          <a:xfrm>
            <a:off x="3816821" y="2827703"/>
            <a:ext cx="3384376" cy="2255644"/>
          </a:xfrm>
          <a:prstGeom prst="rect">
            <a:avLst/>
          </a:prstGeom>
        </p:spPr>
      </p:pic>
      <p:sp>
        <p:nvSpPr>
          <p:cNvPr id="5" name="矩形 4"/>
          <p:cNvSpPr>
            <a:spLocks noChangeAspect="1"/>
          </p:cNvSpPr>
          <p:nvPr/>
        </p:nvSpPr>
        <p:spPr>
          <a:xfrm>
            <a:off x="361950" y="5072703"/>
            <a:ext cx="10807700" cy="1217641"/>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三种</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直线在平面内</a:t>
            </a: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直线与平面平行</a:t>
            </a:r>
            <a:r>
              <a:rPr lang="en-US" altLang="zh-CN" dirty="0">
                <a:solidFill>
                  <a:srgbClr val="000000"/>
                </a:solidFill>
                <a:ea typeface="宋体" panose="02010600030101010101" pitchFamily="2" charset="-122"/>
              </a:rPr>
              <a:t>;(3)</a:t>
            </a:r>
            <a:r>
              <a:rPr lang="zh-CN" altLang="zh-CN" dirty="0">
                <a:solidFill>
                  <a:srgbClr val="000000"/>
                </a:solidFill>
                <a:ea typeface="楷体" panose="02010609060101010101" pitchFamily="49" charset="-122"/>
                <a:cs typeface="Times New Roman" panose="02020603050405020304" pitchFamily="18" charset="0"/>
              </a:rPr>
              <a:t>直线与平面相交</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63914578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4714752" cy="683264"/>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2</a:t>
            </a:r>
            <a:r>
              <a:rPr lang="en-US" altLang="zh-CN" i="1"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直线</a:t>
            </a:r>
            <a:r>
              <a:rPr lang="zh-CN" altLang="zh-CN" dirty="0">
                <a:solidFill>
                  <a:srgbClr val="000000"/>
                </a:solidFill>
                <a:ea typeface="宋体" panose="02010600030101010101" pitchFamily="2" charset="-122"/>
                <a:cs typeface="Times New Roman" panose="02020603050405020304" pitchFamily="18" charset="0"/>
              </a:rPr>
              <a:t>与平面的位置</a:t>
            </a:r>
            <a:r>
              <a:rPr lang="zh-CN" altLang="zh-CN" dirty="0" smtClean="0">
                <a:solidFill>
                  <a:srgbClr val="000000"/>
                </a:solidFill>
                <a:ea typeface="宋体" panose="02010600030101010101" pitchFamily="2" charset="-122"/>
                <a:cs typeface="Times New Roman" panose="02020603050405020304" pitchFamily="18" charset="0"/>
              </a:rPr>
              <a:t>关系</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607561425"/>
              </p:ext>
            </p:extLst>
          </p:nvPr>
        </p:nvGraphicFramePr>
        <p:xfrm>
          <a:off x="-153451" y="1265449"/>
          <a:ext cx="12004724" cy="5637275"/>
        </p:xfrm>
        <a:graphic>
          <a:graphicData uri="http://schemas.openxmlformats.org/presentationml/2006/ole">
            <mc:AlternateContent xmlns:mc="http://schemas.openxmlformats.org/markup-compatibility/2006">
              <mc:Choice xmlns:v="urn:schemas-microsoft-com:vml" Requires="v">
                <p:oleObj spid="_x0000_s2061" name="文档" r:id="rId4" imgW="3935975" imgH="1848287" progId="Word.Document.12">
                  <p:embed/>
                </p:oleObj>
              </mc:Choice>
              <mc:Fallback>
                <p:oleObj name="文档" r:id="rId4" imgW="3935975" imgH="1848287" progId="Word.Document.12">
                  <p:embed/>
                  <p:pic>
                    <p:nvPicPr>
                      <p:cNvPr id="0" name=""/>
                      <p:cNvPicPr/>
                      <p:nvPr/>
                    </p:nvPicPr>
                    <p:blipFill>
                      <a:blip r:embed="rId5"/>
                      <a:stretch>
                        <a:fillRect/>
                      </a:stretch>
                    </p:blipFill>
                    <p:spPr>
                      <a:xfrm>
                        <a:off x="-153451" y="1265449"/>
                        <a:ext cx="12004724" cy="5637275"/>
                      </a:xfrm>
                      <a:prstGeom prst="rect">
                        <a:avLst/>
                      </a:prstGeom>
                    </p:spPr>
                  </p:pic>
                </p:oleObj>
              </mc:Fallback>
            </mc:AlternateContent>
          </a:graphicData>
        </a:graphic>
      </p:graphicFrame>
      <p:sp>
        <p:nvSpPr>
          <p:cNvPr id="4" name="矩形 3"/>
          <p:cNvSpPr/>
          <p:nvPr/>
        </p:nvSpPr>
        <p:spPr>
          <a:xfrm>
            <a:off x="2679248" y="2696297"/>
            <a:ext cx="123471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6758175" y="2696297"/>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8468365" y="3002547"/>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4922370" y="3936334"/>
            <a:ext cx="141473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0579076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07839"/>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已知</a:t>
            </a:r>
            <a:r>
              <a:rPr lang="en-US" altLang="zh-CN" i="1" dirty="0">
                <a:solidFill>
                  <a:srgbClr val="000000"/>
                </a:solidFill>
                <a:latin typeface="+mn-lt"/>
                <a:ea typeface="宋体" panose="02010600030101010101" pitchFamily="2" charset="-122"/>
                <a:cs typeface="Times New Roman" panose="02020603050405020304" pitchFamily="18" charset="0"/>
              </a:rPr>
              <a:t>M</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l</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N</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l</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M</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l</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err="1" smtClean="0">
                <a:solidFill>
                  <a:srgbClr val="000000"/>
                </a:solidFill>
                <a:latin typeface="+mn-lt"/>
                <a:ea typeface="宋体" panose="02010600030101010101" pitchFamily="2" charset="-122"/>
                <a:cs typeface="Times New Roman" panose="02020603050405020304" pitchFamily="18" charset="0"/>
              </a:rPr>
              <a:t>B.</a:t>
            </a:r>
            <a:r>
              <a:rPr lang="en-US" altLang="zh-CN" i="1" dirty="0" err="1" smtClean="0">
                <a:solidFill>
                  <a:srgbClr val="000000"/>
                </a:solidFill>
                <a:latin typeface="+mn-lt"/>
                <a:ea typeface="宋体" panose="02010600030101010101" pitchFamily="2" charset="-122"/>
                <a:cs typeface="Times New Roman" panose="02020603050405020304" pitchFamily="18" charset="0"/>
              </a:rPr>
              <a:t>l</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latin typeface="+mn-lt"/>
                <a:ea typeface="宋体" panose="02010600030101010101" pitchFamily="2" charset="-122"/>
                <a:cs typeface="Times New Roman" panose="02020603050405020304" pitchFamily="18" charset="0"/>
              </a:rPr>
              <a:t>C.</a:t>
            </a:r>
            <a:r>
              <a:rPr lang="en-US" altLang="zh-CN" i="1" dirty="0" err="1">
                <a:solidFill>
                  <a:srgbClr val="000000"/>
                </a:solidFill>
                <a:latin typeface="+mn-lt"/>
                <a:ea typeface="宋体" panose="02010600030101010101" pitchFamily="2" charset="-122"/>
                <a:cs typeface="Times New Roman" panose="02020603050405020304" pitchFamily="18" charset="0"/>
              </a:rPr>
              <a:t>l</a:t>
            </a:r>
            <a:r>
              <a:rPr lang="zh-CN" altLang="zh-CN" dirty="0">
                <a:solidFill>
                  <a:srgbClr val="000000"/>
                </a:solidFill>
                <a:latin typeface="+mn-lt"/>
                <a:ea typeface="宋体" panose="02010600030101010101" pitchFamily="2" charset="-122"/>
                <a:cs typeface="Times New Roman" panose="02020603050405020304" pitchFamily="18" charset="0"/>
              </a:rPr>
              <a:t>与</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宋体" panose="02010600030101010101" pitchFamily="2" charset="-122"/>
                <a:cs typeface="Times New Roman" panose="02020603050405020304" pitchFamily="18" charset="0"/>
              </a:rPr>
              <a:t>相交</a:t>
            </a:r>
            <a:r>
              <a:rPr lang="en-US" altLang="zh-CN" dirty="0">
                <a:solidFill>
                  <a:srgbClr val="000000"/>
                </a:solidFill>
                <a:latin typeface="+mn-lt"/>
                <a:ea typeface="宋体" panose="02010600030101010101" pitchFamily="2" charset="-122"/>
                <a:cs typeface="Times New Roman" panose="02020603050405020304" pitchFamily="18" charset="0"/>
              </a:rPr>
              <a:t>	D.</a:t>
            </a:r>
            <a:r>
              <a:rPr lang="zh-CN" altLang="zh-CN" dirty="0">
                <a:solidFill>
                  <a:srgbClr val="000000"/>
                </a:solidFill>
                <a:latin typeface="+mn-lt"/>
                <a:ea typeface="宋体" panose="02010600030101010101" pitchFamily="2" charset="-122"/>
                <a:cs typeface="Times New Roman" panose="02020603050405020304" pitchFamily="18" charset="0"/>
              </a:rPr>
              <a:t>以上都有可能</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已知</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两直线平行于平面</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那么</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的位置关系是</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smtClean="0">
                <a:solidFill>
                  <a:srgbClr val="000000"/>
                </a:solidFill>
                <a:latin typeface="+mn-lt"/>
                <a:ea typeface="宋体" panose="02010600030101010101" pitchFamily="2" charset="-122"/>
                <a:cs typeface="Times New Roman" panose="02020603050405020304" pitchFamily="18" charset="0"/>
              </a:rPr>
              <a:t>平行</a:t>
            </a:r>
            <a:r>
              <a:rPr lang="en-US" altLang="zh-CN" dirty="0" smtClean="0">
                <a:solidFill>
                  <a:srgbClr val="000000"/>
                </a:solidFill>
                <a:latin typeface="+mn-lt"/>
                <a:ea typeface="方正书宋_GBK" panose="03000509000000000000" pitchFamily="65"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相交</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异</a:t>
            </a:r>
            <a:r>
              <a:rPr lang="zh-CN" altLang="zh-CN" dirty="0" smtClean="0">
                <a:solidFill>
                  <a:srgbClr val="000000"/>
                </a:solidFill>
                <a:latin typeface="+mn-lt"/>
                <a:ea typeface="宋体" panose="02010600030101010101" pitchFamily="2" charset="-122"/>
                <a:cs typeface="Times New Roman" panose="02020603050405020304" pitchFamily="18" charset="0"/>
              </a:rPr>
              <a:t>面</a:t>
            </a:r>
            <a:r>
              <a:rPr lang="en-US" altLang="zh-CN" dirty="0" smtClean="0">
                <a:solidFill>
                  <a:srgbClr val="000000"/>
                </a:solidFill>
                <a:latin typeface="+mn-lt"/>
                <a:ea typeface="方正书宋_GBK" panose="03000509000000000000" pitchFamily="65"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D</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可能平行、可能相交、可能异面</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(1)C</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(2)D</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5466328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99927"/>
            <a:ext cx="10807700" cy="2456057"/>
          </a:xfrm>
          <a:prstGeom prst="rect">
            <a:avLst/>
          </a:prstGeom>
        </p:spPr>
        <p:txBody>
          <a:bodyPr>
            <a:spAutoFit/>
          </a:bodyPr>
          <a:lstStyle/>
          <a:p>
            <a:pPr>
              <a:lnSpc>
                <a:spcPct val="120000"/>
              </a:lnSpc>
            </a:pPr>
            <a:r>
              <a:rPr lang="zh-CN" altLang="zh-CN" dirty="0">
                <a:solidFill>
                  <a:srgbClr val="000000"/>
                </a:solidFill>
                <a:latin typeface="NEU-BZ-S92"/>
                <a:ea typeface="方正正中黑简体"/>
                <a:cs typeface="Times New Roman" panose="02020603050405020304" pitchFamily="18" charset="0"/>
              </a:rPr>
              <a:t>三、空间中平面与平面的位置关系</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观察拿在手中的两本书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我们可以想象两本书为两个平面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这两本书所在的平面可能平行吗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可能相交吗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都有可能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5492639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63283" y="809239"/>
            <a:ext cx="12004724" cy="5713720"/>
            <a:chOff x="-163283" y="766455"/>
            <a:chExt cx="12004724" cy="5713720"/>
          </a:xfrm>
        </p:grpSpPr>
        <p:sp>
          <p:nvSpPr>
            <p:cNvPr id="2" name="矩形 1"/>
            <p:cNvSpPr>
              <a:spLocks noChangeAspect="1"/>
            </p:cNvSpPr>
            <p:nvPr/>
          </p:nvSpPr>
          <p:spPr>
            <a:xfrm>
              <a:off x="361950" y="766455"/>
              <a:ext cx="4302781" cy="683264"/>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2</a:t>
              </a:r>
              <a:r>
                <a:rPr lang="en-US" altLang="zh-CN" i="1"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两</a:t>
              </a:r>
              <a:r>
                <a:rPr lang="zh-CN" altLang="zh-CN" dirty="0">
                  <a:solidFill>
                    <a:srgbClr val="000000"/>
                  </a:solidFill>
                  <a:ea typeface="宋体" panose="02010600030101010101" pitchFamily="2" charset="-122"/>
                  <a:cs typeface="Times New Roman" panose="02020603050405020304" pitchFamily="18" charset="0"/>
                </a:rPr>
                <a:t>个平面的位置</a:t>
              </a:r>
              <a:r>
                <a:rPr lang="zh-CN" altLang="zh-CN" dirty="0" smtClean="0">
                  <a:solidFill>
                    <a:srgbClr val="000000"/>
                  </a:solidFill>
                  <a:ea typeface="宋体" panose="02010600030101010101" pitchFamily="2" charset="-122"/>
                  <a:cs typeface="Times New Roman" panose="02020603050405020304" pitchFamily="18" charset="0"/>
                </a:rPr>
                <a:t>关系</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24691860"/>
                </p:ext>
              </p:extLst>
            </p:nvPr>
          </p:nvGraphicFramePr>
          <p:xfrm>
            <a:off x="-163283" y="1420545"/>
            <a:ext cx="12004724" cy="5059630"/>
          </p:xfrm>
          <a:graphic>
            <a:graphicData uri="http://schemas.openxmlformats.org/presentationml/2006/ole">
              <mc:AlternateContent xmlns:mc="http://schemas.openxmlformats.org/markup-compatibility/2006">
                <mc:Choice xmlns:v="urn:schemas-microsoft-com:vml" Requires="v">
                  <p:oleObj spid="_x0000_s3085" name="文档" r:id="rId4" imgW="3935975" imgH="1658895" progId="Word.Document.12">
                    <p:embed/>
                  </p:oleObj>
                </mc:Choice>
                <mc:Fallback>
                  <p:oleObj name="文档" r:id="rId4" imgW="3935975" imgH="1658895" progId="Word.Document.12">
                    <p:embed/>
                    <p:pic>
                      <p:nvPicPr>
                        <p:cNvPr id="0" name=""/>
                        <p:cNvPicPr/>
                        <p:nvPr/>
                      </p:nvPicPr>
                      <p:blipFill>
                        <a:blip r:embed="rId5"/>
                        <a:stretch>
                          <a:fillRect/>
                        </a:stretch>
                      </p:blipFill>
                      <p:spPr>
                        <a:xfrm>
                          <a:off x="-163283" y="1420545"/>
                          <a:ext cx="12004724" cy="5059630"/>
                        </a:xfrm>
                        <a:prstGeom prst="rect">
                          <a:avLst/>
                        </a:prstGeom>
                      </p:spPr>
                    </p:pic>
                  </p:oleObj>
                </mc:Fallback>
              </mc:AlternateContent>
            </a:graphicData>
          </a:graphic>
        </p:graphicFrame>
      </p:grpSp>
      <p:sp>
        <p:nvSpPr>
          <p:cNvPr id="6" name="矩形 5"/>
          <p:cNvSpPr/>
          <p:nvPr/>
        </p:nvSpPr>
        <p:spPr>
          <a:xfrm>
            <a:off x="6326343" y="2736031"/>
            <a:ext cx="927657"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7921277" y="2736031"/>
            <a:ext cx="216024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6319045" y="4513484"/>
            <a:ext cx="117018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62379984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3583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如</a:t>
            </a:r>
            <a:r>
              <a:rPr lang="zh-CN" altLang="zh-CN" dirty="0">
                <a:solidFill>
                  <a:srgbClr val="000000"/>
                </a:solidFill>
                <a:latin typeface="+mn-lt"/>
                <a:ea typeface="宋体" panose="02010600030101010101" pitchFamily="2" charset="-122"/>
                <a:cs typeface="Times New Roman" panose="02020603050405020304" pitchFamily="18" charset="0"/>
              </a:rPr>
              <a:t>图所示</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图中直</a:t>
            </a:r>
            <a:r>
              <a:rPr lang="zh-CN" altLang="zh-CN" dirty="0">
                <a:solidFill>
                  <a:srgbClr val="000000"/>
                </a:solidFill>
                <a:latin typeface="+mn-lt"/>
                <a:ea typeface="宋体" panose="02010600030101010101" pitchFamily="2" charset="-122"/>
                <a:cs typeface="Times New Roman" panose="02020603050405020304" pitchFamily="18" charset="0"/>
              </a:rPr>
              <a:t>线、平面之间的位置关系用符号语言可表示为</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i="1" dirty="0">
                <a:solidFill>
                  <a:srgbClr val="000000"/>
                </a:solidFill>
                <a:latin typeface="+mn-lt"/>
                <a:ea typeface="宋体" panose="02010600030101010101" pitchFamily="2" charset="-122"/>
                <a:cs typeface="Times New Roman" panose="02020603050405020304" pitchFamily="18" charset="0"/>
              </a:rPr>
              <a:t>=l</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l</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latin typeface="+mn-lt"/>
                <a:ea typeface="宋体" panose="02010600030101010101" pitchFamily="2" charset="-122"/>
                <a:cs typeface="Times New Roman" panose="02020603050405020304" pitchFamily="18" charset="0"/>
              </a:rPr>
              <a:t>C.</a:t>
            </a:r>
            <a:r>
              <a:rPr lang="en-US" altLang="zh-CN" i="1" dirty="0" err="1">
                <a:solidFill>
                  <a:srgbClr val="000000"/>
                </a:solidFill>
                <a:latin typeface="+mn-lt"/>
                <a:ea typeface="宋体" panose="02010600030101010101" pitchFamily="2" charset="-122"/>
                <a:cs typeface="Times New Roman" panose="02020603050405020304" pitchFamily="18" charset="0"/>
              </a:rPr>
              <a:t>l</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l</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D.</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l</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D</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pic>
        <p:nvPicPr>
          <p:cNvPr id="6" name="ZMG2TRA34.eps" descr="id:2147493673;FounderCES"/>
          <p:cNvPicPr/>
          <p:nvPr/>
        </p:nvPicPr>
        <p:blipFill>
          <a:blip r:embed="rId2"/>
          <a:stretch>
            <a:fillRect/>
          </a:stretch>
        </p:blipFill>
        <p:spPr>
          <a:xfrm>
            <a:off x="5184973" y="2293999"/>
            <a:ext cx="2280448" cy="2022040"/>
          </a:xfrm>
          <a:prstGeom prst="rect">
            <a:avLst/>
          </a:prstGeom>
        </p:spPr>
      </p:pic>
    </p:spTree>
    <p:extLst>
      <p:ext uri="{BB962C8B-B14F-4D97-AF65-F5344CB8AC3E}">
        <p14:creationId xmlns:p14="http://schemas.microsoft.com/office/powerpoint/2010/main" val="262015975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6435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若直线</a:t>
            </a:r>
            <a:r>
              <a:rPr lang="en-US" altLang="zh-CN" i="1" dirty="0" smtClean="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异面</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共面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异面</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若直线</a:t>
            </a:r>
            <a:r>
              <a:rPr lang="en-US" altLang="zh-CN" i="1" dirty="0" smtClean="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也相交</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若两个平面有无数个公共点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则这两个平面重合</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不同在某一个平面内的两条直线是异面直线</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8002406" y="296281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7581116" y="3550028"/>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9649469" y="412569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9084163" y="473073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5642573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93583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直线</a:t>
            </a:r>
            <a:r>
              <a:rPr lang="zh-CN" altLang="zh-CN" dirty="0"/>
              <a:t>与直线的位置关系</a:t>
            </a:r>
          </a:p>
        </p:txBody>
      </p:sp>
      <p:sp>
        <p:nvSpPr>
          <p:cNvPr id="2" name="矩形 1"/>
          <p:cNvSpPr>
            <a:spLocks noChangeAspect="1"/>
          </p:cNvSpPr>
          <p:nvPr/>
        </p:nvSpPr>
        <p:spPr>
          <a:xfrm>
            <a:off x="361950" y="1660904"/>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在正方体</a:t>
            </a:r>
            <a:r>
              <a:rPr lang="en-US" altLang="zh-CN" i="1" dirty="0">
                <a:solidFill>
                  <a:srgbClr val="000000"/>
                </a:solidFill>
                <a:ea typeface="宋体" panose="02010600030101010101" pitchFamily="2" charset="-122"/>
                <a:cs typeface="Times New Roman" panose="02020603050405020304" pitchFamily="18" charset="0"/>
              </a:rPr>
              <a:t>ABCD-A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判断</a:t>
            </a:r>
            <a:r>
              <a:rPr lang="zh-CN" altLang="zh-CN" dirty="0" smtClean="0">
                <a:solidFill>
                  <a:srgbClr val="000000"/>
                </a:solidFill>
                <a:ea typeface="宋体" panose="02010600030101010101" pitchFamily="2" charset="-122"/>
                <a:cs typeface="Times New Roman" panose="02020603050405020304" pitchFamily="18" charset="0"/>
              </a:rPr>
              <a:t>下列</a:t>
            </a:r>
            <a:r>
              <a:rPr lang="zh-CN" altLang="en-US" dirty="0" smtClean="0">
                <a:solidFill>
                  <a:srgbClr val="000000"/>
                </a:solidFill>
                <a:ea typeface="宋体" panose="02010600030101010101" pitchFamily="2" charset="-122"/>
                <a:cs typeface="Times New Roman" panose="02020603050405020304" pitchFamily="18" charset="0"/>
              </a:rPr>
              <a:t>各组</a:t>
            </a:r>
            <a:r>
              <a:rPr lang="zh-CN" altLang="zh-CN" dirty="0" smtClean="0">
                <a:solidFill>
                  <a:srgbClr val="000000"/>
                </a:solidFill>
                <a:ea typeface="宋体" panose="02010600030101010101" pitchFamily="2" charset="-122"/>
                <a:cs typeface="Times New Roman" panose="02020603050405020304" pitchFamily="18" charset="0"/>
              </a:rPr>
              <a:t>直线</a:t>
            </a:r>
            <a:r>
              <a:rPr lang="zh-CN" altLang="zh-CN" dirty="0">
                <a:solidFill>
                  <a:srgbClr val="000000"/>
                </a:solidFill>
                <a:ea typeface="宋体" panose="02010600030101010101" pitchFamily="2" charset="-122"/>
                <a:cs typeface="Times New Roman" panose="02020603050405020304" pitchFamily="18" charset="0"/>
              </a:rPr>
              <a:t>的位置关系</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的位置关系是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的位置关系是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的位置关系是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的位置关系是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G2TRA35.eps" descr="id:2147493694;FounderCES"/>
          <p:cNvPicPr/>
          <p:nvPr/>
        </p:nvPicPr>
        <p:blipFill>
          <a:blip r:embed="rId2"/>
          <a:stretch>
            <a:fillRect/>
          </a:stretch>
        </p:blipFill>
        <p:spPr>
          <a:xfrm>
            <a:off x="9039116" y="2778543"/>
            <a:ext cx="2338545" cy="2232248"/>
          </a:xfrm>
          <a:prstGeom prst="rect">
            <a:avLst/>
          </a:prstGeom>
        </p:spPr>
      </p:pic>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在平面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BCD</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且没有交点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故两直线平行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应该填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在平面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BB</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而点</a:t>
            </a:r>
            <a:r>
              <a:rPr lang="en-US" altLang="zh-CN" i="1" dirty="0" smtClean="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不在平面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BB</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则直线</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同理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latin typeface="NEU-BZ-S92"/>
                <a:ea typeface="宋体" panose="02010600030101010101" pitchFamily="2" charset="-122"/>
                <a:cs typeface="宋体" panose="02010600030101010101" pitchFamily="2" charset="-122"/>
              </a:rPr>
              <a:t>②④</a:t>
            </a:r>
            <a:r>
              <a:rPr lang="zh-CN" altLang="zh-CN" dirty="0">
                <a:solidFill>
                  <a:srgbClr val="000000"/>
                </a:solidFill>
                <a:ea typeface="楷体" panose="02010609060101010101" pitchFamily="49" charset="-122"/>
                <a:cs typeface="Times New Roman" panose="02020603050405020304" pitchFamily="18" charset="0"/>
              </a:rPr>
              <a:t>应该填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与直线</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相交于点</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应该填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相交</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平行</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异面</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相交</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异面</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584661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367879"/>
            <a:ext cx="10807700" cy="3020028"/>
            <a:chOff x="361950" y="940139"/>
            <a:chExt cx="10807700" cy="3020028"/>
          </a:xfrm>
        </p:grpSpPr>
        <p:pic>
          <p:nvPicPr>
            <p:cNvPr id="3"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60664"/>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判断直线平行、相交可用平面几何中的定义和方法来处理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判定异面直线的方法有反证法和定义法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其中定义法往往根据与一个平面相交的直线和这个平面内不经过交点的直线是异面直线来判断</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17517072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681701"/>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已知直线</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及</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外一点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画出各种可能的图形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共面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则可能的图形如图所示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则可能的图形如图所示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ZMG2TRA36.eps" descr="id:2147493708;FounderCES"/>
          <p:cNvPicPr/>
          <p:nvPr/>
        </p:nvPicPr>
        <p:blipFill>
          <a:blip r:embed="rId2"/>
          <a:stretch>
            <a:fillRect/>
          </a:stretch>
        </p:blipFill>
        <p:spPr>
          <a:xfrm>
            <a:off x="1440557" y="2435146"/>
            <a:ext cx="8208912" cy="1227668"/>
          </a:xfrm>
          <a:prstGeom prst="rect">
            <a:avLst/>
          </a:prstGeom>
        </p:spPr>
      </p:pic>
      <p:pic>
        <p:nvPicPr>
          <p:cNvPr id="8" name="ZMG2TRA37.eps" descr="id:2147493715;FounderCES"/>
          <p:cNvPicPr/>
          <p:nvPr/>
        </p:nvPicPr>
        <p:blipFill>
          <a:blip r:embed="rId3"/>
          <a:stretch>
            <a:fillRect/>
          </a:stretch>
        </p:blipFill>
        <p:spPr>
          <a:xfrm>
            <a:off x="2664693" y="4202722"/>
            <a:ext cx="5688632" cy="2084252"/>
          </a:xfrm>
          <a:prstGeom prst="rect">
            <a:avLst/>
          </a:prstGeom>
        </p:spPr>
      </p:pic>
    </p:spTree>
    <p:extLst>
      <p:ext uri="{BB962C8B-B14F-4D97-AF65-F5344CB8AC3E}">
        <p14:creationId xmlns:p14="http://schemas.microsoft.com/office/powerpoint/2010/main" val="39635060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7" dur="500"/>
                                        <p:tgtEl>
                                          <p:spTgt spid="6">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randombar(horizontal)">
                                      <p:cBhvr>
                                        <p:cTn id="10" dur="500"/>
                                        <p:tgtEl>
                                          <p:spTgt spid="6">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randombar(horizontal)">
                                      <p:cBhvr>
                                        <p:cTn id="13" dur="500"/>
                                        <p:tgtEl>
                                          <p:spTgt spid="6">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直线</a:t>
            </a:r>
            <a:r>
              <a:rPr lang="zh-CN" altLang="zh-CN" dirty="0"/>
              <a:t>与平面的位置关系</a:t>
            </a:r>
          </a:p>
        </p:txBody>
      </p:sp>
      <p:sp>
        <p:nvSpPr>
          <p:cNvPr id="2" name="矩形 1"/>
          <p:cNvSpPr>
            <a:spLocks noChangeAspect="1"/>
          </p:cNvSpPr>
          <p:nvPr/>
        </p:nvSpPr>
        <p:spPr>
          <a:xfrm>
            <a:off x="361950" y="1382466"/>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cs typeface="Times New Roman" panose="02020603050405020304" pitchFamily="18" charset="0"/>
              </a:rPr>
              <a:t>【例</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多选题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给出以下命题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其中</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表示直线</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宋体" panose="02010600030101010101" pitchFamily="2" charset="-122"/>
                <a:cs typeface="Times New Roman" panose="02020603050405020304" pitchFamily="18" charset="0"/>
              </a:rPr>
              <a:t>表示平面</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其中是假命题的为</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D.</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Microsoft Yi Baiti" panose="03000500000000000000" pitchFamily="66" charset="0"/>
              </a:rPr>
              <a:t>α</a:t>
            </a:r>
            <a:r>
              <a:rPr lang="zh-CN" altLang="zh-CN" dirty="0">
                <a:solidFill>
                  <a:srgbClr val="000000"/>
                </a:solidFill>
                <a:ea typeface="宋体" panose="02010600030101010101" pitchFamily="2" charset="-122"/>
                <a:cs typeface="Times New Roman" panose="02020603050405020304" pitchFamily="18" charset="0"/>
              </a:rPr>
              <a:t>相交</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b</a:t>
            </a:r>
            <a:r>
              <a:rPr lang="en-US" altLang="zh-CN" dirty="0">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en-US" altLang="zh-CN" i="1" dirty="0">
                <a:solidFill>
                  <a:srgbClr val="000000"/>
                </a:solidFill>
                <a:ea typeface="Microsoft Yi Baiti" panose="03000500000000000000" pitchFamily="66" charset="0"/>
              </a:rPr>
              <a:t>α</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Times New Roman" panose="02020603050405020304" pitchFamily="18" charset="0"/>
              </a:rPr>
              <a:t>相交或异面</a:t>
            </a:r>
            <a:endParaRPr lang="zh-CN" altLang="en-US" dirty="0"/>
          </a:p>
          <a:p>
            <a:pPr>
              <a:lnSpc>
                <a:spcPct val="120000"/>
              </a:lnSpc>
              <a:spcAft>
                <a:spcPts val="0"/>
              </a:spcAft>
              <a:tabLst>
                <a:tab pos="1188085" algn="l"/>
                <a:tab pos="2163445" algn="l"/>
                <a:tab pos="3142615" algn="l"/>
                <a:tab pos="4190365" algn="l"/>
              </a:tabLst>
            </a:pPr>
            <a:r>
              <a:rPr lang="zh-CN" altLang="zh-CN" dirty="0" smtClean="0">
                <a:latin typeface="+mn-lt"/>
                <a:cs typeface="Times New Roman" panose="02020603050405020304" pitchFamily="18" charset="0"/>
              </a:rPr>
              <a:t>分析</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作出一个长方体</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找出满足条件的直线和平面</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对比结论判断正误</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09975"/>
            <a:ext cx="10807700" cy="4172296"/>
          </a:xfrm>
          <a:prstGeom prst="rect">
            <a:avLst/>
          </a:prstGeom>
        </p:spPr>
        <p:txBody>
          <a:bodyPr>
            <a:spAutoFit/>
          </a:bodyPr>
          <a:lstStyle/>
          <a:p>
            <a:pPr>
              <a:lnSpc>
                <a:spcPct val="120000"/>
              </a:lnSpc>
            </a:pPr>
            <a:r>
              <a:rPr lang="zh-CN" altLang="zh-CN" dirty="0" smtClean="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在长方体</a:t>
            </a:r>
            <a:r>
              <a:rPr lang="en-US" altLang="zh-CN" i="1" dirty="0">
                <a:solidFill>
                  <a:srgbClr val="000000"/>
                </a:solidFill>
                <a:ea typeface="宋体" panose="02010600030101010101" pitchFamily="2" charset="-122"/>
              </a:rPr>
              <a:t>ABCD-A'B'C'D'</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A'B'</a:t>
            </a:r>
            <a:r>
              <a:rPr lang="zh-CN" altLang="zh-CN" dirty="0">
                <a:solidFill>
                  <a:srgbClr val="000000"/>
                </a:solidFill>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smtClean="0">
                <a:solidFill>
                  <a:srgbClr val="000000"/>
                </a:solidFill>
                <a:ea typeface="宋体" panose="02010600030101010101" pitchFamily="2" charset="-122"/>
              </a:rPr>
              <a:t>, </a:t>
            </a:r>
            <a:r>
              <a:rPr lang="en-US" altLang="zh-CN" i="1" dirty="0" smtClean="0">
                <a:solidFill>
                  <a:srgbClr val="000000"/>
                </a:solidFill>
                <a:ea typeface="宋体" panose="02010600030101010101" pitchFamily="2" charset="-122"/>
              </a:rPr>
              <a:t>B'C</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但</a:t>
            </a:r>
            <a:r>
              <a:rPr lang="en-US" altLang="zh-CN" i="1" dirty="0">
                <a:solidFill>
                  <a:srgbClr val="000000"/>
                </a:solidFill>
                <a:ea typeface="宋体" panose="02010600030101010101" pitchFamily="2" charset="-122"/>
              </a:rPr>
              <a:t>A'B'</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rPr>
              <a:t>B'C'</a:t>
            </a:r>
            <a:r>
              <a:rPr lang="zh-CN" altLang="zh-CN" dirty="0">
                <a:solidFill>
                  <a:srgbClr val="000000"/>
                </a:solidFill>
                <a:ea typeface="楷体" panose="02010609060101010101" pitchFamily="49" charset="-122"/>
                <a:cs typeface="Times New Roman" panose="02020603050405020304" pitchFamily="18" charset="0"/>
              </a:rPr>
              <a:t>相交</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为假命题</a:t>
            </a:r>
            <a:r>
              <a:rPr lang="en-US" altLang="zh-CN" dirty="0" smtClean="0">
                <a:solidFill>
                  <a:srgbClr val="000000"/>
                </a:solidFill>
                <a:ea typeface="宋体" panose="02010600030101010101" pitchFamily="2" charset="-122"/>
              </a:rPr>
              <a:t>; </a:t>
            </a:r>
            <a:r>
              <a:rPr lang="en-US" altLang="zh-CN" i="1" dirty="0" smtClean="0">
                <a:solidFill>
                  <a:srgbClr val="000000"/>
                </a:solidFill>
                <a:ea typeface="宋体" panose="02010600030101010101" pitchFamily="2" charset="-122"/>
              </a:rPr>
              <a:t>AB</a:t>
            </a:r>
            <a:r>
              <a:rPr lang="zh-CN" altLang="zh-CN"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rPr>
              <a:t>A'B</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rPr>
              <a:t>,</a:t>
            </a:r>
            <a:r>
              <a:rPr lang="en-US" altLang="zh-CN" i="1" dirty="0" smtClean="0">
                <a:solidFill>
                  <a:srgbClr val="000000"/>
                </a:solidFill>
                <a:ea typeface="宋体" panose="02010600030101010101" pitchFamily="2" charset="-122"/>
              </a:rPr>
              <a:t>A'B</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但</a:t>
            </a:r>
            <a:r>
              <a:rPr lang="en-US" altLang="zh-CN" i="1" dirty="0">
                <a:solidFill>
                  <a:srgbClr val="000000"/>
                </a:solidFill>
                <a:ea typeface="宋体" panose="02010600030101010101" pitchFamily="2" charset="-122"/>
              </a:rPr>
              <a:t>AB</a:t>
            </a:r>
            <a:r>
              <a:rPr lang="en-US" altLang="zh-CN" dirty="0">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为假命题</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A'B'</a:t>
            </a:r>
            <a:r>
              <a:rPr lang="zh-CN" altLang="zh-CN" dirty="0">
                <a:solidFill>
                  <a:srgbClr val="000000"/>
                </a:solidFill>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BC</a:t>
            </a:r>
            <a:r>
              <a:rPr lang="en-US" altLang="zh-CN" dirty="0">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rPr>
              <a:t>ABCD</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但</a:t>
            </a:r>
            <a:r>
              <a:rPr lang="en-US" altLang="zh-CN" i="1" dirty="0">
                <a:solidFill>
                  <a:srgbClr val="000000"/>
                </a:solidFill>
                <a:ea typeface="宋体" panose="02010600030101010101" pitchFamily="2" charset="-122"/>
              </a:rPr>
              <a:t>A'B'</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rPr>
              <a:t>BC</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rPr>
              <a:t>C</a:t>
            </a:r>
            <a:r>
              <a:rPr lang="zh-CN" altLang="zh-CN" dirty="0">
                <a:solidFill>
                  <a:srgbClr val="000000"/>
                </a:solidFill>
                <a:ea typeface="楷体" panose="02010609060101010101" pitchFamily="49" charset="-122"/>
                <a:cs typeface="Times New Roman" panose="02020603050405020304" pitchFamily="18" charset="0"/>
              </a:rPr>
              <a:t>为假命题</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当直线</a:t>
            </a:r>
            <a:r>
              <a:rPr lang="en-US" altLang="zh-CN" i="1" dirty="0">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经过直线</a:t>
            </a:r>
            <a:r>
              <a:rPr lang="en-US" altLang="zh-CN" i="1"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Microsoft Yi Baiti" panose="03000500000000000000" pitchFamily="66" charset="0"/>
              </a:rPr>
              <a:t>α</a:t>
            </a:r>
            <a:r>
              <a:rPr lang="zh-CN" altLang="zh-CN" dirty="0">
                <a:solidFill>
                  <a:srgbClr val="000000"/>
                </a:solidFill>
                <a:ea typeface="楷体" panose="02010609060101010101" pitchFamily="49" charset="-122"/>
                <a:cs typeface="Times New Roman" panose="02020603050405020304" pitchFamily="18" charset="0"/>
              </a:rPr>
              <a:t>的交点时</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相交</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当直线</a:t>
            </a:r>
            <a:r>
              <a:rPr lang="en-US" altLang="zh-CN" i="1" dirty="0">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不经过直线</a:t>
            </a:r>
            <a:r>
              <a:rPr lang="en-US" altLang="zh-CN" i="1"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Microsoft Yi Baiti" panose="03000500000000000000" pitchFamily="66" charset="0"/>
              </a:rPr>
              <a:t>α</a:t>
            </a:r>
            <a:r>
              <a:rPr lang="zh-CN" altLang="zh-CN" dirty="0">
                <a:solidFill>
                  <a:srgbClr val="000000"/>
                </a:solidFill>
                <a:ea typeface="楷体" panose="02010609060101010101" pitchFamily="49" charset="-122"/>
                <a:cs typeface="Times New Roman" panose="02020603050405020304" pitchFamily="18" charset="0"/>
              </a:rPr>
              <a:t>的交点时</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zh-CN" altLang="zh-CN" dirty="0">
                <a:solidFill>
                  <a:srgbClr val="000000"/>
                </a:solidFill>
                <a:ea typeface="楷体" panose="02010609060101010101" pitchFamily="49" charset="-122"/>
                <a:cs typeface="Times New Roman" panose="02020603050405020304" pitchFamily="18" charset="0"/>
              </a:rPr>
              <a:t>异面</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易知</a:t>
            </a:r>
            <a:r>
              <a:rPr lang="en-US" altLang="zh-CN" dirty="0">
                <a:solidFill>
                  <a:srgbClr val="000000"/>
                </a:solidFill>
                <a:ea typeface="宋体" panose="02010600030101010101" pitchFamily="2" charset="-122"/>
              </a:rPr>
              <a:t>D</a:t>
            </a:r>
            <a:r>
              <a:rPr lang="zh-CN" altLang="zh-CN" dirty="0">
                <a:solidFill>
                  <a:srgbClr val="000000"/>
                </a:solidFill>
                <a:ea typeface="楷体" panose="02010609060101010101" pitchFamily="49" charset="-122"/>
                <a:cs typeface="Times New Roman" panose="02020603050405020304" pitchFamily="18" charset="0"/>
              </a:rPr>
              <a:t>为真命题</a:t>
            </a:r>
            <a:r>
              <a:rPr lang="en-US" altLang="zh-CN" i="1" dirty="0" smtClean="0">
                <a:solidFill>
                  <a:srgbClr val="000000"/>
                </a:solidFill>
                <a:ea typeface="宋体" panose="02010600030101010101" pitchFamily="2" charset="-122"/>
              </a:rPr>
              <a:t>.</a:t>
            </a:r>
            <a:endParaRPr lang="zh-CN" altLang="en-US" dirty="0"/>
          </a:p>
        </p:txBody>
      </p:sp>
      <p:pic>
        <p:nvPicPr>
          <p:cNvPr id="6" name="21C192.eps" descr="id:2147501239;FounderCES"/>
          <p:cNvPicPr/>
          <p:nvPr/>
        </p:nvPicPr>
        <p:blipFill>
          <a:blip r:embed="rId2"/>
          <a:stretch>
            <a:fillRect/>
          </a:stretch>
        </p:blipFill>
        <p:spPr>
          <a:xfrm>
            <a:off x="5473005" y="4248199"/>
            <a:ext cx="2736304" cy="2026474"/>
          </a:xfrm>
          <a:prstGeom prst="rect">
            <a:avLst/>
          </a:prstGeom>
        </p:spPr>
      </p:pic>
      <p:sp>
        <p:nvSpPr>
          <p:cNvPr id="3" name="矩形 2"/>
          <p:cNvSpPr>
            <a:spLocks noChangeAspect="1"/>
          </p:cNvSpPr>
          <p:nvPr/>
        </p:nvSpPr>
        <p:spPr>
          <a:xfrm>
            <a:off x="72405" y="5534511"/>
            <a:ext cx="2383986" cy="683264"/>
          </a:xfrm>
          <a:prstGeom prst="rect">
            <a:avLst/>
          </a:prstGeom>
        </p:spPr>
        <p:txBody>
          <a:bodyPr wrap="none">
            <a:spAutoFit/>
          </a:bodyPr>
          <a:lstStyle/>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ABC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1375687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021979"/>
            <a:ext cx="10807700" cy="4172156"/>
            <a:chOff x="361950" y="940139"/>
            <a:chExt cx="10807700" cy="4172156"/>
          </a:xfrm>
        </p:grpSpPr>
        <p:pic>
          <p:nvPicPr>
            <p:cNvPr id="6"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30930"/>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空间中直线与平面只有三种位置关系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直线在平面内、直线与平面相交、直线与平面平行</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在判断直线与平面的位置关系时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这三种情况都要考虑到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避免遗漏</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正方体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长方体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是立体几何中的重要模型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直线与平面的位置关系都可以在这个模型中得到反映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故我们可以把要判断位置关系的直线、平面放在正方体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长方体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以便作出正确判断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避免凭空臆断</a:t>
              </a:r>
              <a:r>
                <a:rPr lang="en-US" altLang="zh-CN" i="1"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3990253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19527"/>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以下说法正确的个数是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若直线</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在平面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如果</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是两条直线</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平行于经过</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的任何一个平面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若直线</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平行于平面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内的无数条直线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直线</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楷体" panose="02010609060101010101" pitchFamily="49" charset="-122"/>
                <a:cs typeface="Times New Roman" panose="02020603050405020304" pitchFamily="18" charset="0"/>
              </a:rPr>
              <a:t>还可能相交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zh-CN" altLang="en-US" dirty="0" smtClean="0">
                <a:solidFill>
                  <a:srgbClr val="000000"/>
                </a:solidFill>
                <a:ea typeface="楷体" panose="02010609060101010101" pitchFamily="49" charset="-122"/>
                <a:cs typeface="Times New Roman" panose="02020603050405020304" pitchFamily="18" charset="0"/>
              </a:rPr>
              <a:t>错误</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在同一平面内时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结论不成立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zh-CN" altLang="zh-CN" dirty="0" smtClean="0">
                <a:solidFill>
                  <a:srgbClr val="000000"/>
                </a:solidFill>
                <a:latin typeface="NEU-BZ-S92"/>
                <a:ea typeface="宋体" panose="02010600030101010101" pitchFamily="2" charset="-122"/>
                <a:cs typeface="宋体" panose="02010600030101010101" pitchFamily="2" charset="-122"/>
              </a:rPr>
              <a:t>②</a:t>
            </a:r>
            <a:r>
              <a:rPr lang="zh-CN" altLang="en-US" dirty="0">
                <a:solidFill>
                  <a:srgbClr val="000000"/>
                </a:solidFill>
                <a:ea typeface="楷体" panose="02010609060101010101" pitchFamily="49" charset="-122"/>
                <a:cs typeface="Times New Roman" panose="02020603050405020304" pitchFamily="18" charset="0"/>
              </a:rPr>
              <a:t>错误</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471898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randombar(horizontal)">
                                      <p:cBhvr>
                                        <p:cTn id="7" dur="500"/>
                                        <p:tgtEl>
                                          <p:spTgt spid="4">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1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平面</a:t>
            </a:r>
            <a:r>
              <a:rPr lang="zh-CN" altLang="zh-CN" dirty="0"/>
              <a:t>与平面的位置关系</a:t>
            </a:r>
          </a:p>
        </p:txBody>
      </p:sp>
      <p:sp>
        <p:nvSpPr>
          <p:cNvPr id="2" name="矩形 1"/>
          <p:cNvSpPr>
            <a:spLocks noChangeAspect="1"/>
          </p:cNvSpPr>
          <p:nvPr/>
        </p:nvSpPr>
        <p:spPr>
          <a:xfrm>
            <a:off x="361950" y="1377711"/>
            <a:ext cx="10807700" cy="491096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以下命题中</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smtClean="0">
                <a:solidFill>
                  <a:srgbClr val="000000"/>
                </a:solidFill>
                <a:ea typeface="宋体" panose="02010600030101010101" pitchFamily="2" charset="-122"/>
                <a:cs typeface="Times New Roman" panose="02020603050405020304" pitchFamily="18" charset="0"/>
              </a:rPr>
              <a:t>真</a:t>
            </a:r>
            <a:r>
              <a:rPr lang="zh-CN" altLang="zh-CN" dirty="0" smtClean="0">
                <a:solidFill>
                  <a:srgbClr val="000000"/>
                </a:solidFill>
                <a:ea typeface="宋体" panose="02010600030101010101" pitchFamily="2" charset="-122"/>
                <a:cs typeface="Times New Roman" panose="02020603050405020304" pitchFamily="18" charset="0"/>
              </a:rPr>
              <a:t>命题</a:t>
            </a:r>
            <a:r>
              <a:rPr lang="zh-CN" altLang="zh-CN" dirty="0">
                <a:solidFill>
                  <a:srgbClr val="000000"/>
                </a:solidFill>
                <a:ea typeface="宋体" panose="02010600030101010101" pitchFamily="2"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如果平面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有</a:t>
            </a:r>
            <a:r>
              <a:rPr lang="zh-CN" altLang="zh-CN" dirty="0" smtClean="0">
                <a:solidFill>
                  <a:srgbClr val="000000"/>
                </a:solidFill>
                <a:ea typeface="宋体" panose="02010600030101010101" pitchFamily="2" charset="-122"/>
                <a:cs typeface="Times New Roman" panose="02020603050405020304" pitchFamily="18" charset="0"/>
              </a:rPr>
              <a:t>无数</a:t>
            </a:r>
            <a:r>
              <a:rPr lang="zh-CN" altLang="en-US" dirty="0" smtClean="0">
                <a:solidFill>
                  <a:srgbClr val="000000"/>
                </a:solidFill>
                <a:ea typeface="宋体" panose="02010600030101010101" pitchFamily="2" charset="-122"/>
                <a:cs typeface="Times New Roman" panose="02020603050405020304" pitchFamily="18" charset="0"/>
              </a:rPr>
              <a:t>个</a:t>
            </a:r>
            <a:r>
              <a:rPr lang="zh-CN" altLang="zh-CN" dirty="0" smtClean="0">
                <a:solidFill>
                  <a:srgbClr val="000000"/>
                </a:solidFill>
                <a:ea typeface="宋体" panose="02010600030101010101" pitchFamily="2" charset="-122"/>
                <a:cs typeface="Times New Roman" panose="02020603050405020304" pitchFamily="18" charset="0"/>
              </a:rPr>
              <a:t>点</a:t>
            </a:r>
            <a:r>
              <a:rPr lang="zh-CN" altLang="zh-CN" dirty="0">
                <a:solidFill>
                  <a:srgbClr val="000000"/>
                </a:solidFill>
                <a:ea typeface="宋体" panose="02010600030101010101" pitchFamily="2" charset="-122"/>
                <a:cs typeface="Times New Roman" panose="02020603050405020304" pitchFamily="18" charset="0"/>
              </a:rPr>
              <a:t>不在平面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那么这两个平面平行</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如果平面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有</a:t>
            </a:r>
            <a:r>
              <a:rPr lang="zh-CN" altLang="zh-CN" dirty="0" smtClean="0">
                <a:solidFill>
                  <a:srgbClr val="000000"/>
                </a:solidFill>
                <a:ea typeface="宋体" panose="02010600030101010101" pitchFamily="2" charset="-122"/>
                <a:cs typeface="Times New Roman" panose="02020603050405020304" pitchFamily="18" charset="0"/>
              </a:rPr>
              <a:t>无数</a:t>
            </a:r>
            <a:r>
              <a:rPr lang="zh-CN" altLang="en-US" dirty="0" smtClean="0">
                <a:solidFill>
                  <a:srgbClr val="000000"/>
                </a:solidFill>
                <a:ea typeface="宋体" panose="02010600030101010101" pitchFamily="2" charset="-122"/>
                <a:cs typeface="Times New Roman" panose="02020603050405020304" pitchFamily="18" charset="0"/>
              </a:rPr>
              <a:t>个</a:t>
            </a:r>
            <a:r>
              <a:rPr lang="zh-CN" altLang="zh-CN" dirty="0" smtClean="0">
                <a:solidFill>
                  <a:srgbClr val="000000"/>
                </a:solidFill>
                <a:ea typeface="宋体" panose="02010600030101010101" pitchFamily="2" charset="-122"/>
                <a:cs typeface="Times New Roman" panose="02020603050405020304" pitchFamily="18" charset="0"/>
              </a:rPr>
              <a:t>点</a:t>
            </a:r>
            <a:r>
              <a:rPr lang="zh-CN" altLang="zh-CN" dirty="0">
                <a:solidFill>
                  <a:srgbClr val="000000"/>
                </a:solidFill>
                <a:ea typeface="宋体" panose="02010600030101010101" pitchFamily="2" charset="-122"/>
                <a:cs typeface="Times New Roman" panose="02020603050405020304" pitchFamily="18" charset="0"/>
              </a:rPr>
              <a:t>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那么这两个平面相交</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如果平面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有相交的两条直线在平面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那么这两个平面重合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	B.1</a:t>
            </a:r>
            <a:r>
              <a:rPr lang="zh-CN" altLang="zh-CN" dirty="0">
                <a:solidFill>
                  <a:srgbClr val="000000"/>
                </a:solidFill>
                <a:ea typeface="宋体" panose="02010600030101010101" pitchFamily="2" charset="-122"/>
                <a:cs typeface="Times New Roman" panose="02020603050405020304" pitchFamily="18" charset="0"/>
              </a:rPr>
              <a:t>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C.2</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	D.3</a:t>
            </a:r>
            <a:r>
              <a:rPr lang="zh-CN" altLang="zh-CN" dirty="0">
                <a:solidFill>
                  <a:srgbClr val="000000"/>
                </a:solidFill>
                <a:ea typeface="宋体" panose="02010600030101010101" pitchFamily="2" charset="-122"/>
                <a:cs typeface="Times New Roman" panose="02020603050405020304" pitchFamily="18" charset="0"/>
              </a:rPr>
              <a:t>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367879"/>
            <a:ext cx="10807700" cy="3063014"/>
            <a:chOff x="361950" y="940139"/>
            <a:chExt cx="10807700" cy="3063014"/>
          </a:xfrm>
        </p:grpSpPr>
        <p:pic>
          <p:nvPicPr>
            <p:cNvPr id="4" name="反思感悟H.eps" descr="id:2147490797;FounderCES"/>
            <p:cNvPicPr/>
            <p:nvPr/>
          </p:nvPicPr>
          <p:blipFill>
            <a:blip r:embed="rId2"/>
            <a:stretch>
              <a:fillRect/>
            </a:stretch>
          </p:blipFill>
          <p:spPr>
            <a:xfrm>
              <a:off x="361950" y="940139"/>
              <a:ext cx="2259558" cy="531552"/>
            </a:xfrm>
            <a:prstGeom prst="rect">
              <a:avLst/>
            </a:prstGeom>
          </p:spPr>
        </p:pic>
        <p:sp>
          <p:nvSpPr>
            <p:cNvPr id="5" name="矩形 4"/>
            <p:cNvSpPr>
              <a:spLocks noChangeAspect="1"/>
            </p:cNvSpPr>
            <p:nvPr/>
          </p:nvSpPr>
          <p:spPr>
            <a:xfrm>
              <a:off x="361950" y="1547096"/>
              <a:ext cx="10807700" cy="245605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平面与平面的位置关系的判断方法</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平面与平面相交的判断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主要以基本事实</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为依据找出一个交点</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平面与平面平行的判断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主要说明两个平面没有公共点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33949447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26066"/>
            <a:ext cx="10807700" cy="481978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平面</a:t>
            </a:r>
            <a:r>
              <a:rPr lang="en-US" altLang="zh-CN" i="1" dirty="0">
                <a:solidFill>
                  <a:srgbClr val="000000"/>
                </a:solidFill>
                <a:ea typeface="宋体" panose="02010600030101010101" pitchFamily="2" charset="-122"/>
              </a:rPr>
              <a:t>ABC</a:t>
            </a:r>
            <a:r>
              <a:rPr lang="zh-CN" altLang="zh-CN" dirty="0">
                <a:solidFill>
                  <a:srgbClr val="000000"/>
                </a:solidFill>
                <a:ea typeface="宋体" panose="02010600030101010101" pitchFamily="2" charset="-122"/>
                <a:cs typeface="Times New Roman" panose="02020603050405020304" pitchFamily="18" charset="0"/>
              </a:rPr>
              <a:t>与三棱柱</a:t>
            </a:r>
            <a:r>
              <a:rPr lang="en-US" altLang="zh-CN" i="1" dirty="0">
                <a:solidFill>
                  <a:srgbClr val="000000"/>
                </a:solidFill>
                <a:ea typeface="宋体" panose="02010600030101010101" pitchFamily="2" charset="-122"/>
              </a:rPr>
              <a:t>ABC-A</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B</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C</a:t>
            </a:r>
            <a:r>
              <a:rPr lang="en-US" altLang="zh-CN" baseline="-25000"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的其他面所在的平面之间有什么位置关系</a:t>
            </a:r>
            <a:r>
              <a:rPr lang="en-US" altLang="zh-CN"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i="1"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无公共点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平行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宋体" panose="02010600030101010101" pitchFamily="2" charset="-122"/>
                <a:cs typeface="Times New Roman" panose="02020603050405020304" pitchFamily="18" charset="0"/>
              </a:rPr>
              <a:t>ABB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有公共直线</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宋体" panose="02010600030101010101" pitchFamily="2" charset="-122"/>
                <a:cs typeface="Times New Roman" panose="02020603050405020304" pitchFamily="18" charset="0"/>
              </a:rPr>
              <a:t>ABB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相交</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同理可得平面</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宋体" panose="02010600030101010101" pitchFamily="2" charset="-122"/>
                <a:cs typeface="Times New Roman" panose="02020603050405020304" pitchFamily="18" charset="0"/>
              </a:rPr>
              <a:t>ACC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及平面</a:t>
            </a:r>
            <a:r>
              <a:rPr lang="en-US" altLang="zh-CN" i="1" dirty="0">
                <a:solidFill>
                  <a:srgbClr val="000000"/>
                </a:solidFill>
                <a:ea typeface="宋体" panose="02010600030101010101" pitchFamily="2" charset="-122"/>
                <a:cs typeface="Times New Roman" panose="02020603050405020304" pitchFamily="18" charset="0"/>
              </a:rPr>
              <a:t>BCC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均相交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ZMG2TRA40.eps" descr="id:2147493757;FounderCES"/>
          <p:cNvPicPr/>
          <p:nvPr/>
        </p:nvPicPr>
        <p:blipFill>
          <a:blip r:embed="rId2"/>
          <a:stretch>
            <a:fillRect/>
          </a:stretch>
        </p:blipFill>
        <p:spPr>
          <a:xfrm>
            <a:off x="8137301" y="1473687"/>
            <a:ext cx="2592288" cy="2785087"/>
          </a:xfrm>
          <a:prstGeom prst="rect">
            <a:avLst/>
          </a:prstGeom>
        </p:spPr>
      </p:pic>
    </p:spTree>
    <p:extLst>
      <p:ext uri="{BB962C8B-B14F-4D97-AF65-F5344CB8AC3E}">
        <p14:creationId xmlns:p14="http://schemas.microsoft.com/office/powerpoint/2010/main" val="30753646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41691"/>
            <a:ext cx="10807700" cy="4908844"/>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内三角形的三个顶点到平面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的距离相等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与平面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的位置关系为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审题</a:t>
            </a:r>
            <a:r>
              <a:rPr lang="zh-CN" altLang="zh-CN" dirty="0" smtClean="0">
                <a:latin typeface="Arial" panose="020B0604020202020204" pitchFamily="34" charset="0"/>
                <a:cs typeface="Times New Roman" panose="02020603050405020304" pitchFamily="18" charset="0"/>
              </a:rPr>
              <a:t>视角</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分</a:t>
            </a:r>
            <a:r>
              <a:rPr lang="zh-CN" altLang="zh-CN" dirty="0">
                <a:solidFill>
                  <a:srgbClr val="000000"/>
                </a:solidFill>
                <a:ea typeface="宋体" panose="02010600030101010101" pitchFamily="2" charset="-122"/>
                <a:cs typeface="Times New Roman" panose="02020603050405020304" pitchFamily="18" charset="0"/>
              </a:rPr>
              <a:t>三角形的三个顶点在平面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的同侧还是异侧两种情况讨论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当三角形的三个顶点在平面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楷体" panose="02010609060101010101" pitchFamily="49" charset="-122"/>
                <a:cs typeface="Times New Roman" panose="02020603050405020304" pitchFamily="18" charset="0"/>
              </a:rPr>
              <a:t>同侧时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楷体" panose="02010609060101010101" pitchFamily="49" charset="-122"/>
                <a:cs typeface="Times New Roman" panose="02020603050405020304" pitchFamily="18" charset="0"/>
              </a:rPr>
              <a:t>的位置关系为平行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当三角形的三个顶点在平面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楷体" panose="02010609060101010101" pitchFamily="49" charset="-122"/>
                <a:cs typeface="Times New Roman" panose="02020603050405020304" pitchFamily="18" charset="0"/>
              </a:rPr>
              <a:t>异侧时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平面</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楷体" panose="02010609060101010101" pitchFamily="49" charset="-122"/>
                <a:cs typeface="Times New Roman" panose="02020603050405020304" pitchFamily="18" charset="0"/>
              </a:rPr>
              <a:t>与平面</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楷体" panose="02010609060101010101" pitchFamily="49" charset="-122"/>
                <a:cs typeface="Times New Roman" panose="02020603050405020304" pitchFamily="18" charset="0"/>
              </a:rPr>
              <a:t>的位置关系为相交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平行或相交</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91815"/>
            <a:ext cx="10807700" cy="5358326"/>
            <a:chOff x="361950" y="935831"/>
            <a:chExt cx="10807700" cy="5358326"/>
          </a:xfrm>
        </p:grpSpPr>
        <p:pic>
          <p:nvPicPr>
            <p:cNvPr id="3" name="方法点睛H.eps" descr="id:2147499037;FounderCES"/>
            <p:cNvPicPr/>
            <p:nvPr/>
          </p:nvPicPr>
          <p:blipFill>
            <a:blip r:embed="rId2"/>
            <a:stretch>
              <a:fillRect/>
            </a:stretch>
          </p:blipFill>
          <p:spPr>
            <a:xfrm>
              <a:off x="361950" y="935831"/>
              <a:ext cx="2259558" cy="531552"/>
            </a:xfrm>
            <a:prstGeom prst="rect">
              <a:avLst/>
            </a:prstGeom>
          </p:spPr>
        </p:pic>
        <p:sp>
          <p:nvSpPr>
            <p:cNvPr id="4" name="矩形 3"/>
            <p:cNvSpPr>
              <a:spLocks noChangeAspect="1"/>
            </p:cNvSpPr>
            <p:nvPr/>
          </p:nvSpPr>
          <p:spPr>
            <a:xfrm>
              <a:off x="361950" y="1530930"/>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定义法判断两个平面的位置关系</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判断两个平面的位置关系就是观察两个平面是否有公共点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常转化为一个平面内的直线与另一个平面是平行还是相交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当一个平面内有两条相交直线都与另一个平面平行时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这两个平面平行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当一个平面内有一条直线与另一个平面相交时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这两个平面相交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27726613"/>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经过平面外两点可作该平面的平行平面的个数是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若平面外两点所在直线与该平面相交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则过这两个点不存在平面与已知平面平行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若平面外两点所在直线与该平面平行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则过这两个点存在唯一的平面与已知平面平行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3809927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75791"/>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如果在两个平面内分别有一条直线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这两条直线互相平行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那么两个平面的位置关系一定是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平行</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相交</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平行或相交</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不能确定</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6" name="组合 5"/>
          <p:cNvGrpSpPr/>
          <p:nvPr/>
        </p:nvGrpSpPr>
        <p:grpSpPr>
          <a:xfrm>
            <a:off x="361950" y="2284319"/>
            <a:ext cx="10807700" cy="3637919"/>
            <a:chOff x="361950" y="2439627"/>
            <a:chExt cx="10807700" cy="3637919"/>
          </a:xfrm>
        </p:grpSpPr>
        <p:sp>
          <p:nvSpPr>
            <p:cNvPr id="4" name="矩形 3"/>
            <p:cNvSpPr>
              <a:spLocks noChangeAspect="1"/>
            </p:cNvSpPr>
            <p:nvPr/>
          </p:nvSpPr>
          <p:spPr>
            <a:xfrm>
              <a:off x="361950" y="2439627"/>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由图可知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两个平面平行或相交</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ZMG2TRA41.eps" descr="id:2147493785;FounderCES"/>
            <p:cNvPicPr/>
            <p:nvPr/>
          </p:nvPicPr>
          <p:blipFill>
            <a:blip r:embed="rId2"/>
            <a:stretch>
              <a:fillRect/>
            </a:stretch>
          </p:blipFill>
          <p:spPr>
            <a:xfrm>
              <a:off x="3816821" y="2690372"/>
              <a:ext cx="5112568" cy="2637947"/>
            </a:xfrm>
            <a:prstGeom prst="rect">
              <a:avLst/>
            </a:prstGeom>
          </p:spPr>
        </p:pic>
      </p:grpSp>
      <p:sp>
        <p:nvSpPr>
          <p:cNvPr id="7" name="矩形 6"/>
          <p:cNvSpPr>
            <a:spLocks noChangeAspect="1"/>
          </p:cNvSpPr>
          <p:nvPr/>
        </p:nvSpPr>
        <p:spPr>
          <a:xfrm>
            <a:off x="361950" y="5787079"/>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39082"/>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如果一条直线与两个平行平面中的一个平行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那么这条直线与另一个平面的位置关系为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smtClean="0">
                <a:solidFill>
                  <a:srgbClr val="000000"/>
                </a:solidFill>
                <a:ea typeface="宋体" panose="02010600030101010101" pitchFamily="2" charset="-122"/>
                <a:cs typeface="Times New Roman" panose="02020603050405020304" pitchFamily="18" charset="0"/>
              </a:rPr>
              <a:t>平行</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相交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直线在平面</a:t>
            </a:r>
            <a:r>
              <a:rPr lang="zh-CN" altLang="zh-CN" dirty="0" smtClean="0">
                <a:solidFill>
                  <a:srgbClr val="000000"/>
                </a:solidFill>
                <a:ea typeface="宋体" panose="02010600030101010101" pitchFamily="2" charset="-122"/>
                <a:cs typeface="Times New Roman" panose="02020603050405020304" pitchFamily="18" charset="0"/>
              </a:rPr>
              <a:t>内</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平行或直线在平面内</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若一条直线与两个平行平面中的一个平面平行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则这条直线与另一个平面的位置关系是一定不能相交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是平行或在这个平面内</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22282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一个正方体的平面展开图如图所示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则在正方体中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CD</a:t>
            </a:r>
            <a:r>
              <a:rPr lang="zh-CN" altLang="zh-CN" dirty="0">
                <a:solidFill>
                  <a:srgbClr val="000000"/>
                </a:solidFill>
                <a:ea typeface="宋体" panose="02010600030101010101" pitchFamily="2" charset="-122"/>
                <a:cs typeface="Times New Roman" panose="02020603050405020304" pitchFamily="18" charset="0"/>
              </a:rPr>
              <a:t>的位置关系为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相交</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平行</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异面</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无法判断</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3" name="ZMG2TRA43.eps" descr="id:2147493792;FounderCES"/>
          <p:cNvPicPr/>
          <p:nvPr/>
        </p:nvPicPr>
        <p:blipFill>
          <a:blip r:embed="rId2"/>
          <a:stretch>
            <a:fillRect/>
          </a:stretch>
        </p:blipFill>
        <p:spPr>
          <a:xfrm>
            <a:off x="5545013" y="1968684"/>
            <a:ext cx="3096344" cy="2119790"/>
          </a:xfrm>
          <a:prstGeom prst="rect">
            <a:avLst/>
          </a:prstGeom>
        </p:spPr>
      </p:pic>
    </p:spTree>
    <p:extLst>
      <p:ext uri="{BB962C8B-B14F-4D97-AF65-F5344CB8AC3E}">
        <p14:creationId xmlns:p14="http://schemas.microsoft.com/office/powerpoint/2010/main" val="193472621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16167"/>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在底面为正六边形的六棱柱中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互相平行的面视为一组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则共有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组互相平行的面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与其中一个侧面相交的面共有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个</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六棱柱的两个底面互相平行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每个侧面与其直接相对的侧面平行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故共有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组互相平行的面</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六棱柱共由</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个面围成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在其余的</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楷体" panose="02010609060101010101" pitchFamily="49" charset="-122"/>
                <a:cs typeface="Times New Roman" panose="02020603050405020304" pitchFamily="18" charset="0"/>
              </a:rPr>
              <a:t>个面中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与该侧面平行的面有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其余</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个面与该侧面均为相交的关系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5910426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113</TotalTime>
  <Words>1562</Words>
  <Application>Microsoft Office PowerPoint</Application>
  <PresentationFormat>自定义</PresentationFormat>
  <Paragraphs>141</Paragraphs>
  <Slides>39</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6"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22</cp:revision>
  <dcterms:created xsi:type="dcterms:W3CDTF">2020-09-12T05:36:12Z</dcterms:created>
  <dcterms:modified xsi:type="dcterms:W3CDTF">2025-09-04T06:26:02Z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