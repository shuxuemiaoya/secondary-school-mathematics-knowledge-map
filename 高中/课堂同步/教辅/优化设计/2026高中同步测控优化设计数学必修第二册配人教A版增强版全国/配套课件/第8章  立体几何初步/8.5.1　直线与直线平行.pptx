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72" r:id="rId11"/>
    <p:sldId id="759" r:id="rId12"/>
    <p:sldId id="737" r:id="rId13"/>
    <p:sldId id="750" r:id="rId14"/>
    <p:sldId id="773" r:id="rId15"/>
    <p:sldId id="761" r:id="rId16"/>
    <p:sldId id="754" r:id="rId17"/>
    <p:sldId id="764" r:id="rId18"/>
    <p:sldId id="765" r:id="rId19"/>
    <p:sldId id="766" r:id="rId20"/>
    <p:sldId id="755" r:id="rId21"/>
    <p:sldId id="774" r:id="rId22"/>
    <p:sldId id="767" r:id="rId23"/>
    <p:sldId id="775" r:id="rId24"/>
    <p:sldId id="776" r:id="rId25"/>
    <p:sldId id="748" r:id="rId26"/>
    <p:sldId id="752" r:id="rId27"/>
    <p:sldId id="768" r:id="rId28"/>
    <p:sldId id="769" r:id="rId29"/>
    <p:sldId id="777" r:id="rId30"/>
    <p:sldId id="770" r:id="rId31"/>
    <p:sldId id="735" r:id="rId32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31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5" Type="http://schemas.openxmlformats.org/officeDocument/2006/relationships/slide" Target="slide25.xml"/><Relationship Id="rId4" Type="http://schemas.openxmlformats.org/officeDocument/2006/relationships/slide" Target="slide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2.docx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4.xml"/><Relationship Id="rId4" Type="http://schemas.openxmlformats.org/officeDocument/2006/relationships/slide" Target="slide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4.docx"/><Relationship Id="rId3" Type="http://schemas.openxmlformats.org/officeDocument/2006/relationships/image" Target="../media/image8.jpeg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emf"/><Relationship Id="rId5" Type="http://schemas.openxmlformats.org/officeDocument/2006/relationships/package" Target="../embeddings/Microsoft_Word___3.docx"/><Relationship Id="rId4" Type="http://schemas.openxmlformats.org/officeDocument/2006/relationships/oleObject" Target="../embeddings/oleObject3.bin"/><Relationship Id="rId9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../embeddings/oleObject5.bin"/><Relationship Id="rId7" Type="http://schemas.openxmlformats.org/officeDocument/2006/relationships/package" Target="../embeddings/Microsoft_Word___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5.docx"/><Relationship Id="rId9" Type="http://schemas.openxmlformats.org/officeDocument/2006/relationships/image" Target="../media/image15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8.jpeg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7.docx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0.jpeg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8.docx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2.jpeg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9.docx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5.jpeg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10.docx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375991"/>
            <a:ext cx="10807700" cy="10964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直线与直线平行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286039"/>
            <a:ext cx="10729192" cy="3802024"/>
            <a:chOff x="360437" y="1526295"/>
            <a:chExt cx="10729192" cy="3802024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526295"/>
              <a:ext cx="10729192" cy="3802024"/>
              <a:chOff x="360437" y="2013556"/>
              <a:chExt cx="10729192" cy="2596834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2013556"/>
                <a:ext cx="10729192" cy="2596834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2056772"/>
                <a:ext cx="0" cy="2488632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617805"/>
              <a:ext cx="8496944" cy="3581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借助长方体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通过直观感知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了解直线与直线的平行关系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理解基本事实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能运用基本事实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证明空间中的线线平行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通过直观感知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了解空间中两个角的两条边分别对应平行的有关定理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并学会运用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100783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248065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8" name="图文框 7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403217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13615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一、基本事实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我们知道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在同一平面内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若两条直线都与第三条直线平行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两条直线互相平行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在空间中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是否也有类似结论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61950" y="2775359"/>
            <a:ext cx="2448106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基本事实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4 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0808275"/>
              </p:ext>
            </p:extLst>
          </p:nvPr>
        </p:nvGraphicFramePr>
        <p:xfrm>
          <a:off x="308093" y="3423431"/>
          <a:ext cx="10944332" cy="3603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文档" r:id="rId4" imgW="3947136" imgH="1299509" progId="Word.Document.12">
                  <p:embed/>
                </p:oleObj>
              </mc:Choice>
              <mc:Fallback>
                <p:oleObj name="文档" r:id="rId4" imgW="3947136" imgH="12995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08093" y="3423431"/>
                        <a:ext cx="10944332" cy="36031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7144133" y="3549742"/>
            <a:ext cx="777144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833045" y="4804199"/>
            <a:ext cx="777144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174909" y="5863830"/>
            <a:ext cx="1194640" cy="347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868578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是两条异面直线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那么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的位置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关系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一定是异面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一定是相交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不可能平行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不可能相交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而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基本事实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这与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是两条异面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矛盾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不可能平行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15107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858746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方正正中黑简体"/>
                <a:cs typeface="Times New Roman" panose="02020603050405020304" pitchFamily="18" charset="0"/>
              </a:rPr>
              <a:t>二、空间中两个角的两条边分别对应平行的定理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观察下图中的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AOB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A'O'B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'.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 smtClean="0">
              <a:solidFill>
                <a:srgbClr val="000000"/>
              </a:solidFill>
              <a:latin typeface="+mn-lt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这两个角对应的两条边之间有什么样的位置关系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测量一下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这两个角的大小关系如何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分别对应平行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相等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ZMG2TRA54.eps" descr="id:214749387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6913165" y="1434810"/>
            <a:ext cx="3168352" cy="236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35272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ChangeAspect="1"/>
          </p:cNvSpPr>
          <p:nvPr/>
        </p:nvSpPr>
        <p:spPr>
          <a:xfrm>
            <a:off x="361950" y="575791"/>
            <a:ext cx="865622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467241"/>
              </p:ext>
            </p:extLst>
          </p:nvPr>
        </p:nvGraphicFramePr>
        <p:xfrm>
          <a:off x="433329" y="1202501"/>
          <a:ext cx="10944332" cy="57057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文档" r:id="rId4" imgW="3947136" imgH="2060681" progId="Word.Document.12">
                  <p:embed/>
                </p:oleObj>
              </mc:Choice>
              <mc:Fallback>
                <p:oleObj name="文档" r:id="rId4" imgW="3947136" imgH="20606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3329" y="1202501"/>
                        <a:ext cx="10944332" cy="57057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1579853" y="1777927"/>
            <a:ext cx="2001280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99268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087959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和角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的两边分别对应平行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则当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72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72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108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37368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19807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空间四条直线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基本事实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表明了平行的传递性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它可以作为判断两直线平行的依据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329815" y="3169398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519966" y="4372551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361950" y="4856044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如果两个角相等或互补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那么这两个角的两边分别对应平行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96541" y="5586878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008273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67064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基本</a:t>
            </a:r>
            <a:r>
              <a:rPr lang="zh-CN" altLang="zh-CN" dirty="0"/>
              <a:t>事实</a:t>
            </a:r>
            <a:r>
              <a:rPr lang="en-US" altLang="zh-CN" dirty="0"/>
              <a:t>4</a:t>
            </a:r>
            <a:r>
              <a:rPr lang="zh-CN" altLang="zh-CN" dirty="0"/>
              <a:t>的应用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132191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已知正方体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ABCD-A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分别为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棱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AA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CC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GE.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BG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BG=C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BGC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为平行四边形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EG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EG=A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EG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EG=C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EGC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为平行四边形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ZMG2TRA95.eps" descr="id:2147493898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9073406" y="3312095"/>
            <a:ext cx="2341332" cy="223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延伸探究H.eps" descr="id:214749206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062812" y="647799"/>
            <a:ext cx="2740119" cy="499725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61950" y="1099511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将本例条件</a:t>
            </a:r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分别为棱</a:t>
            </a:r>
            <a:r>
              <a:rPr lang="en-US" altLang="zh-CN" i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AA</a:t>
            </a:r>
            <a:r>
              <a:rPr lang="en-US" altLang="zh-CN" baseline="-250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CC</a:t>
            </a:r>
            <a:r>
              <a:rPr lang="en-US" altLang="zh-CN" baseline="-250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改为</a:t>
            </a:r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分别是棱</a:t>
            </a:r>
            <a:r>
              <a:rPr lang="en-US" altLang="zh-CN" i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其他条件不变</a:t>
            </a:r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四边形</a:t>
            </a:r>
            <a:r>
              <a:rPr lang="en-US" altLang="zh-CN" i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MNA</a:t>
            </a:r>
            <a:r>
              <a:rPr lang="en-US" altLang="zh-CN" baseline="-250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是梯形</a:t>
            </a:r>
            <a:r>
              <a:rPr lang="en-US" altLang="zh-CN" i="1" dirty="0">
                <a:solidFill>
                  <a:schemeClr val="tx1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chemeClr val="tx1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30013" y="2308151"/>
            <a:ext cx="11139637" cy="4172296"/>
            <a:chOff x="30013" y="2308151"/>
            <a:chExt cx="11139637" cy="4172296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>
            <a:xfrm>
              <a:off x="361950" y="2308151"/>
              <a:ext cx="10807700" cy="417229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证明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连接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分别是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的中点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MN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的中位线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MN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MN=  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AC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由正方体的性质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AC=A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MN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MN=   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MN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四边形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MNA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是梯形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4742845"/>
                </p:ext>
              </p:extLst>
            </p:nvPr>
          </p:nvGraphicFramePr>
          <p:xfrm>
            <a:off x="30013" y="4038806"/>
            <a:ext cx="7994713" cy="6519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8" name="文档" r:id="rId5" imgW="3837724" imgH="312978" progId="Word.Document.12">
                    <p:embed/>
                  </p:oleObj>
                </mc:Choice>
                <mc:Fallback>
                  <p:oleObj name="文档" r:id="rId5" imgW="3837724" imgH="31297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0013" y="4038806"/>
                          <a:ext cx="7994713" cy="65199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49414024"/>
                </p:ext>
              </p:extLst>
            </p:nvPr>
          </p:nvGraphicFramePr>
          <p:xfrm>
            <a:off x="288429" y="5209877"/>
            <a:ext cx="7994713" cy="6519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9" name="文档" r:id="rId8" imgW="3837724" imgH="312978" progId="Word.Document.12">
                    <p:embed/>
                  </p:oleObj>
                </mc:Choice>
                <mc:Fallback>
                  <p:oleObj name="文档" r:id="rId8" imgW="3837724" imgH="31297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88429" y="5209877"/>
                          <a:ext cx="7994713" cy="65199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4" name="21C45.eps" descr="id:2147501410;FounderCES"/>
          <p:cNvPicPr/>
          <p:nvPr/>
        </p:nvPicPr>
        <p:blipFill>
          <a:blip r:embed="rId9"/>
          <a:stretch>
            <a:fillRect/>
          </a:stretch>
        </p:blipFill>
        <p:spPr>
          <a:xfrm>
            <a:off x="8209309" y="2472327"/>
            <a:ext cx="2880320" cy="284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665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992712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证明两条直线平行的方法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　　　　　　　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平行线定义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三角形中位线定理、平行四边形性质等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基本事实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8" name="方法总结H.eps" descr="id:214750141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1377461"/>
            <a:ext cx="2259558" cy="531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927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72151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等角</a:t>
            </a:r>
            <a:r>
              <a:rPr lang="zh-CN" altLang="zh-CN" dirty="0"/>
              <a:t>定理的应用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492682"/>
            <a:ext cx="10807700" cy="43200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分别是正方体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ABCD-A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BEC=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分别是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AE=A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是平行四边形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=EE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ZMG2TRA104.eps" descr="id:2147493933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057181" y="2644359"/>
            <a:ext cx="3096344" cy="2976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367879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=BB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=BB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是平行四边形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同理可证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CE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BEC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的两对应边方向都相同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BEC=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08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61950" y="1799927"/>
            <a:ext cx="10807700" cy="2425361"/>
            <a:chOff x="361950" y="3911070"/>
            <a:chExt cx="10807700" cy="2425361"/>
          </a:xfrm>
        </p:grpSpPr>
        <p:pic>
          <p:nvPicPr>
            <p:cNvPr id="3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3911070"/>
              <a:ext cx="2259558" cy="531552"/>
            </a:xfrm>
            <a:prstGeom prst="rect">
              <a:avLst/>
            </a:prstGeom>
          </p:spPr>
        </p:pic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4527859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在立体几何中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常利用等角定理来证明两个角相等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此时要证明它们的两边分别对应平行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且注意观察这两个角的两对应边方向都相同或都相反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9482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0755616"/>
              </p:ext>
            </p:extLst>
          </p:nvPr>
        </p:nvGraphicFramePr>
        <p:xfrm>
          <a:off x="430213" y="673100"/>
          <a:ext cx="11677650" cy="208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文档" r:id="rId4" imgW="3936699" imgH="702038" progId="Word.Document.12">
                  <p:embed/>
                </p:oleObj>
              </mc:Choice>
              <mc:Fallback>
                <p:oleObj name="文档" r:id="rId4" imgW="3936699" imgH="70203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673100"/>
                        <a:ext cx="11677650" cy="2081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8300355"/>
              </p:ext>
            </p:extLst>
          </p:nvPr>
        </p:nvGraphicFramePr>
        <p:xfrm>
          <a:off x="357188" y="2726199"/>
          <a:ext cx="11666537" cy="3730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文档" r:id="rId7" imgW="3837724" imgH="1258404" progId="Word.Document.12">
                  <p:embed/>
                </p:oleObj>
              </mc:Choice>
              <mc:Fallback>
                <p:oleObj name="文档" r:id="rId7" imgW="3837724" imgH="125840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7188" y="2726199"/>
                        <a:ext cx="11666537" cy="3730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ZMG2TRA58.eps" descr="id:2147493947;FounderCES"/>
          <p:cNvPicPr/>
          <p:nvPr/>
        </p:nvPicPr>
        <p:blipFill>
          <a:blip r:embed="rId9"/>
          <a:stretch>
            <a:fillRect/>
          </a:stretch>
        </p:blipFill>
        <p:spPr>
          <a:xfrm>
            <a:off x="9217421" y="2251313"/>
            <a:ext cx="2088232" cy="271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767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空间</a:t>
            </a:r>
            <a:r>
              <a:rPr lang="zh-CN" altLang="zh-CN" dirty="0"/>
              <a:t>中直线与直线平行的应用</a:t>
            </a: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361950" y="1325367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在空间四边形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DF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FC=DG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EFGH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是梯形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21C13.eps" descr="id:2147501459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72805" y="3133939"/>
            <a:ext cx="2880320" cy="307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1223863"/>
            <a:ext cx="12207601" cy="3637919"/>
            <a:chOff x="361950" y="1223863"/>
            <a:chExt cx="12207601" cy="3637919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223863"/>
              <a:ext cx="10807700" cy="363791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证明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连接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分别为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的中点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上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上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且有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DF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FC=DG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HE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GF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HE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H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四点共面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                                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HE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所以四边形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EFGH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是梯形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0032276"/>
                </p:ext>
              </p:extLst>
            </p:nvPr>
          </p:nvGraphicFramePr>
          <p:xfrm>
            <a:off x="864493" y="3520746"/>
            <a:ext cx="11705058" cy="728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01" name="文档" r:id="rId4" imgW="3837724" imgH="238700" progId="Word.Document.12">
                    <p:embed/>
                  </p:oleObj>
                </mc:Choice>
                <mc:Fallback>
                  <p:oleObj name="文档" r:id="rId4" imgW="3837724" imgH="23870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864493" y="3520746"/>
                          <a:ext cx="11705058" cy="7280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9" name="21C47.eps" descr="id:2147501466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7849269" y="1867153"/>
            <a:ext cx="2664296" cy="2904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548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1439887"/>
            <a:ext cx="10807700" cy="3020028"/>
            <a:chOff x="361950" y="1516203"/>
            <a:chExt cx="10807700" cy="3020028"/>
          </a:xfrm>
        </p:grpSpPr>
        <p:pic>
          <p:nvPicPr>
            <p:cNvPr id="5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516203"/>
              <a:ext cx="2259558" cy="531552"/>
            </a:xfrm>
            <a:prstGeom prst="rect">
              <a:avLst/>
            </a:prstGeom>
          </p:spPr>
        </p:pic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2136728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根据三角形中位线定理、基本事实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证明两条直线平行是常用的方法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基本事实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表明了平行线的传递性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它可以作为判断两条直线平行的依据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同时也给出了空间两直线平行的一种证明方法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3554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815885"/>
            <a:ext cx="19928481" cy="1808572"/>
            <a:chOff x="361950" y="1556928"/>
            <a:chExt cx="19928481" cy="1808572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556928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正方形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ABED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直角梯形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EFGD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直角梯形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ADGC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DG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DA=DE=DG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AC=EF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EF=  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求证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G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四点共面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41049759"/>
                </p:ext>
              </p:extLst>
            </p:nvPr>
          </p:nvGraphicFramePr>
          <p:xfrm>
            <a:off x="9649469" y="2151608"/>
            <a:ext cx="10640962" cy="6598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24" name="文档" r:id="rId4" imgW="3837724" imgH="237979" progId="Word.Document.12">
                    <p:embed/>
                  </p:oleObj>
                </mc:Choice>
                <mc:Fallback>
                  <p:oleObj name="文档" r:id="rId4" imgW="3837724" imgH="23797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9649469" y="2151608"/>
                          <a:ext cx="10640962" cy="65985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9" name="21C14.eps" descr="id:2147501480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3816821" y="2624457"/>
            <a:ext cx="3240360" cy="305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08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0190329"/>
              </p:ext>
            </p:extLst>
          </p:nvPr>
        </p:nvGraphicFramePr>
        <p:xfrm>
          <a:off x="376659" y="690311"/>
          <a:ext cx="10640962" cy="56417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文档" r:id="rId4" imgW="3826872" imgH="2031571" progId="Word.Document.12">
                  <p:embed/>
                </p:oleObj>
              </mc:Choice>
              <mc:Fallback>
                <p:oleObj name="文档" r:id="rId4" imgW="3826872" imgH="203157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6659" y="690311"/>
                        <a:ext cx="10640962" cy="56417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21C48.eps" descr="id:2147501487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8353325" y="1583903"/>
            <a:ext cx="2880320" cy="269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37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074183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是长方体的一条棱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这个长方体中与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平行的棱的条数是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　　　　　　</a:t>
            </a:r>
            <a:endParaRPr lang="en-US" altLang="zh-CN" i="1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　　　　　　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A.3	B.4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C.5	D.6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ZMG2TRA61.eps" descr="id:214749398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608909" y="1847236"/>
            <a:ext cx="3960440" cy="2827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583903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已知直线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的位置关系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相交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异面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不确定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369185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19807"/>
            <a:ext cx="10807700" cy="53322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下列命题是真命题的为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如果一个角的两边与另一个角的两边分别对应平行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那么这两个角相等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如果两条相交直线和另两条相交直线分别平行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那么这两组直线所成的锐角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或直角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相等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如果一个角的两边和另一个角的两边分别垂直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那么这两个角相等或互补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如果两条直线同时平行于第三条直线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那么这两条直线互相平行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63693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766856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由等角定理知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为假命题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为真命题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如果一个角的两边和另一个角的两边分别垂直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那么这两个角的大小关系是不确定的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为假命题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由基本事实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为真命题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80046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618303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在正方体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ABCD-A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分别为棱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CC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BB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DD</a:t>
            </a:r>
            <a:r>
              <a:rPr lang="en-US" altLang="zh-CN" baseline="-25000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试证明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BGC=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∠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FD</a:t>
            </a:r>
            <a:r>
              <a:rPr lang="en-US" altLang="zh-CN" baseline="-25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E.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61950" y="1855608"/>
            <a:ext cx="11742454" cy="4599553"/>
            <a:chOff x="361950" y="1865440"/>
            <a:chExt cx="11742454" cy="4599553"/>
          </a:xfrm>
        </p:grpSpPr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4000407"/>
                </p:ext>
              </p:extLst>
            </p:nvPr>
          </p:nvGraphicFramePr>
          <p:xfrm>
            <a:off x="432445" y="1865440"/>
            <a:ext cx="11671959" cy="22097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09" name="文档" r:id="rId4" imgW="3826872" imgH="724509" progId="Word.Document.12">
                    <p:embed/>
                  </p:oleObj>
                </mc:Choice>
                <mc:Fallback>
                  <p:oleObj name="文档" r:id="rId4" imgW="3826872" imgH="72450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1865440"/>
                          <a:ext cx="11671959" cy="220975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4008936"/>
              <a:ext cx="10807700" cy="245605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四边形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GBF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为平行四边形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GB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同理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GC.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BGC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FD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E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的两对应边方向都相同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</a:rPr>
                <a:t>,</a:t>
              </a:r>
              <a:endParaRPr lang="zh-CN" altLang="en-US">
                <a:latin typeface="+mn-lt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zh-CN" altLang="zh-CN" smtClean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BGC=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FD</a:t>
              </a:r>
              <a:r>
                <a:rPr lang="en-US" altLang="zh-CN" baseline="-25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E.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9" name="ZMG2TRA99.eps" descr="id:2147493989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7417221" y="1487549"/>
            <a:ext cx="3168352" cy="3019186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2709294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762606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93</TotalTime>
  <Words>1151</Words>
  <Application>Microsoft Office PowerPoint</Application>
  <PresentationFormat>自定义</PresentationFormat>
  <Paragraphs>110</Paragraphs>
  <Slides>31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8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24</cp:revision>
  <dcterms:created xsi:type="dcterms:W3CDTF">2020-09-12T05:36:12Z</dcterms:created>
  <dcterms:modified xsi:type="dcterms:W3CDTF">2025-09-04T06:26:35Z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