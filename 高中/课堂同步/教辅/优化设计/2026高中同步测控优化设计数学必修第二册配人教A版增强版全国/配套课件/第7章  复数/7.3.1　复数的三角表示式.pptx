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8"/>
  </p:notesMasterIdLst>
  <p:sldIdLst>
    <p:sldId id="731" r:id="rId2"/>
    <p:sldId id="753" r:id="rId3"/>
    <p:sldId id="736" r:id="rId4"/>
    <p:sldId id="744" r:id="rId5"/>
    <p:sldId id="746" r:id="rId6"/>
    <p:sldId id="749" r:id="rId7"/>
    <p:sldId id="756" r:id="rId8"/>
    <p:sldId id="757" r:id="rId9"/>
    <p:sldId id="758" r:id="rId10"/>
    <p:sldId id="759" r:id="rId11"/>
    <p:sldId id="760" r:id="rId12"/>
    <p:sldId id="761" r:id="rId13"/>
    <p:sldId id="737" r:id="rId14"/>
    <p:sldId id="750" r:id="rId15"/>
    <p:sldId id="762" r:id="rId16"/>
    <p:sldId id="763" r:id="rId17"/>
    <p:sldId id="764" r:id="rId18"/>
    <p:sldId id="765" r:id="rId19"/>
    <p:sldId id="766" r:id="rId20"/>
    <p:sldId id="767" r:id="rId21"/>
    <p:sldId id="768" r:id="rId22"/>
    <p:sldId id="754" r:id="rId23"/>
    <p:sldId id="769" r:id="rId24"/>
    <p:sldId id="770" r:id="rId25"/>
    <p:sldId id="771" r:id="rId26"/>
    <p:sldId id="772" r:id="rId27"/>
    <p:sldId id="773" r:id="rId28"/>
    <p:sldId id="774" r:id="rId29"/>
    <p:sldId id="755" r:id="rId30"/>
    <p:sldId id="775" r:id="rId31"/>
    <p:sldId id="776" r:id="rId32"/>
    <p:sldId id="777" r:id="rId33"/>
    <p:sldId id="778" r:id="rId34"/>
    <p:sldId id="747" r:id="rId35"/>
    <p:sldId id="751" r:id="rId36"/>
    <p:sldId id="779" r:id="rId37"/>
    <p:sldId id="780" r:id="rId38"/>
    <p:sldId id="781" r:id="rId39"/>
    <p:sldId id="782" r:id="rId40"/>
    <p:sldId id="748" r:id="rId41"/>
    <p:sldId id="752" r:id="rId42"/>
    <p:sldId id="783" r:id="rId43"/>
    <p:sldId id="784" r:id="rId44"/>
    <p:sldId id="785" r:id="rId45"/>
    <p:sldId id="786" r:id="rId46"/>
    <p:sldId id="735" r:id="rId47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84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image" Target="../media/image17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image" Target="../media/image25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image" Target="../media/image31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e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image" Target="../media/image36.e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image" Target="../media/image38.e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image" Target="../media/image41.emf"/><Relationship Id="rId1" Type="http://schemas.openxmlformats.org/officeDocument/2006/relationships/image" Target="../media/image4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46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40.xml"/><Relationship Id="rId5" Type="http://schemas.openxmlformats.org/officeDocument/2006/relationships/slide" Target="slide34.xml"/><Relationship Id="rId4" Type="http://schemas.openxmlformats.org/officeDocument/2006/relationships/slide" Target="slide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emf"/><Relationship Id="rId5" Type="http://schemas.openxmlformats.org/officeDocument/2006/relationships/package" Target="../embeddings/Microsoft_Word___1.docx"/><Relationship Id="rId4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jpeg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__2.docx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7.emf"/><Relationship Id="rId4" Type="http://schemas.openxmlformats.org/officeDocument/2006/relationships/package" Target="../embeddings/Microsoft_Word___3.docx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8.emf"/><Relationship Id="rId4" Type="http://schemas.openxmlformats.org/officeDocument/2006/relationships/package" Target="../embeddings/Microsoft_Word___4.docx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9.emf"/><Relationship Id="rId4" Type="http://schemas.openxmlformats.org/officeDocument/2006/relationships/package" Target="../embeddings/Microsoft_Word___5.docx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slide" Target="slide14.xml"/><Relationship Id="rId1" Type="http://schemas.openxmlformats.org/officeDocument/2006/relationships/slideLayout" Target="../slideLayouts/slideLayout4.xml"/><Relationship Id="rId4" Type="http://schemas.openxmlformats.org/officeDocument/2006/relationships/slide" Target="slide2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0.emf"/><Relationship Id="rId4" Type="http://schemas.openxmlformats.org/officeDocument/2006/relationships/package" Target="../embeddings/Microsoft_Word___6.docx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1.emf"/><Relationship Id="rId4" Type="http://schemas.openxmlformats.org/officeDocument/2006/relationships/package" Target="../embeddings/Microsoft_Word___7.docx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2.emf"/><Relationship Id="rId4" Type="http://schemas.openxmlformats.org/officeDocument/2006/relationships/package" Target="../embeddings/Microsoft_Word___8.docx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3.emf"/><Relationship Id="rId4" Type="http://schemas.openxmlformats.org/officeDocument/2006/relationships/package" Target="../embeddings/Microsoft_Word___9.docx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5.emf"/><Relationship Id="rId4" Type="http://schemas.openxmlformats.org/officeDocument/2006/relationships/package" Target="../embeddings/Microsoft_Word___10.docx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16.emf"/><Relationship Id="rId4" Type="http://schemas.openxmlformats.org/officeDocument/2006/relationships/package" Target="../embeddings/Microsoft_Word___11.docx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3" Type="http://schemas.openxmlformats.org/officeDocument/2006/relationships/oleObject" Target="../embeddings/oleObject12.bin"/><Relationship Id="rId7" Type="http://schemas.openxmlformats.org/officeDocument/2006/relationships/package" Target="../embeddings/Microsoft_Word___13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17.emf"/><Relationship Id="rId4" Type="http://schemas.openxmlformats.org/officeDocument/2006/relationships/package" Target="../embeddings/Microsoft_Word___12.docx"/><Relationship Id="rId9" Type="http://schemas.openxmlformats.org/officeDocument/2006/relationships/image" Target="../media/image19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22.jpeg"/><Relationship Id="rId5" Type="http://schemas.openxmlformats.org/officeDocument/2006/relationships/image" Target="../media/image21.emf"/><Relationship Id="rId4" Type="http://schemas.openxmlformats.org/officeDocument/2006/relationships/package" Target="../embeddings/Microsoft_Word___14.docx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24.jpeg"/><Relationship Id="rId5" Type="http://schemas.openxmlformats.org/officeDocument/2006/relationships/image" Target="../media/image23.emf"/><Relationship Id="rId4" Type="http://schemas.openxmlformats.org/officeDocument/2006/relationships/package" Target="../embeddings/Microsoft_Word___15.docx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3" Type="http://schemas.openxmlformats.org/officeDocument/2006/relationships/oleObject" Target="../embeddings/oleObject16.bin"/><Relationship Id="rId7" Type="http://schemas.openxmlformats.org/officeDocument/2006/relationships/package" Target="../embeddings/Microsoft_Word___17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25.emf"/><Relationship Id="rId4" Type="http://schemas.openxmlformats.org/officeDocument/2006/relationships/package" Target="../embeddings/Microsoft_Word___16.docx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27.emf"/><Relationship Id="rId4" Type="http://schemas.openxmlformats.org/officeDocument/2006/relationships/package" Target="../embeddings/Microsoft_Word___18.docx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28.emf"/><Relationship Id="rId4" Type="http://schemas.openxmlformats.org/officeDocument/2006/relationships/package" Target="../embeddings/Microsoft_Word___19.docx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29.emf"/><Relationship Id="rId4" Type="http://schemas.openxmlformats.org/officeDocument/2006/relationships/package" Target="../embeddings/Microsoft_Word___20.docx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30.emf"/><Relationship Id="rId4" Type="http://schemas.openxmlformats.org/officeDocument/2006/relationships/package" Target="../embeddings/Microsoft_Word___21.docx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3" Type="http://schemas.openxmlformats.org/officeDocument/2006/relationships/oleObject" Target="../embeddings/oleObject22.bin"/><Relationship Id="rId7" Type="http://schemas.openxmlformats.org/officeDocument/2006/relationships/package" Target="../embeddings/Microsoft_Word___23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23.bin"/><Relationship Id="rId5" Type="http://schemas.openxmlformats.org/officeDocument/2006/relationships/image" Target="../media/image31.emf"/><Relationship Id="rId4" Type="http://schemas.openxmlformats.org/officeDocument/2006/relationships/package" Target="../embeddings/Microsoft_Word___22.docx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1.vml"/><Relationship Id="rId5" Type="http://schemas.openxmlformats.org/officeDocument/2006/relationships/image" Target="../media/image33.emf"/><Relationship Id="rId4" Type="http://schemas.openxmlformats.org/officeDocument/2006/relationships/package" Target="../embeddings/Microsoft_Word___24.docx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2.vml"/><Relationship Id="rId5" Type="http://schemas.openxmlformats.org/officeDocument/2006/relationships/image" Target="../media/image34.emf"/><Relationship Id="rId4" Type="http://schemas.openxmlformats.org/officeDocument/2006/relationships/package" Target="../embeddings/Microsoft_Word___25.docx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emf"/><Relationship Id="rId3" Type="http://schemas.openxmlformats.org/officeDocument/2006/relationships/oleObject" Target="../embeddings/oleObject26.bin"/><Relationship Id="rId7" Type="http://schemas.openxmlformats.org/officeDocument/2006/relationships/package" Target="../embeddings/Microsoft_Word___27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27.bin"/><Relationship Id="rId5" Type="http://schemas.openxmlformats.org/officeDocument/2006/relationships/image" Target="../media/image36.emf"/><Relationship Id="rId4" Type="http://schemas.openxmlformats.org/officeDocument/2006/relationships/package" Target="../embeddings/Microsoft_Word___26.docx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emf"/><Relationship Id="rId3" Type="http://schemas.openxmlformats.org/officeDocument/2006/relationships/oleObject" Target="../embeddings/oleObject28.bin"/><Relationship Id="rId7" Type="http://schemas.openxmlformats.org/officeDocument/2006/relationships/package" Target="../embeddings/Microsoft_Word___29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29.bin"/><Relationship Id="rId5" Type="http://schemas.openxmlformats.org/officeDocument/2006/relationships/image" Target="../media/image38.emf"/><Relationship Id="rId4" Type="http://schemas.openxmlformats.org/officeDocument/2006/relationships/package" Target="../embeddings/Microsoft_Word___28.docx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emf"/><Relationship Id="rId3" Type="http://schemas.openxmlformats.org/officeDocument/2006/relationships/oleObject" Target="../embeddings/oleObject30.bin"/><Relationship Id="rId7" Type="http://schemas.openxmlformats.org/officeDocument/2006/relationships/package" Target="../embeddings/Microsoft_Word___31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5.vml"/><Relationship Id="rId6" Type="http://schemas.openxmlformats.org/officeDocument/2006/relationships/oleObject" Target="../embeddings/oleObject31.bin"/><Relationship Id="rId11" Type="http://schemas.openxmlformats.org/officeDocument/2006/relationships/image" Target="../media/image42.emf"/><Relationship Id="rId5" Type="http://schemas.openxmlformats.org/officeDocument/2006/relationships/image" Target="../media/image40.emf"/><Relationship Id="rId10" Type="http://schemas.openxmlformats.org/officeDocument/2006/relationships/package" Target="../embeddings/Microsoft_Word___32.docx"/><Relationship Id="rId4" Type="http://schemas.openxmlformats.org/officeDocument/2006/relationships/package" Target="../embeddings/Microsoft_Word___30.docx"/><Relationship Id="rId9" Type="http://schemas.openxmlformats.org/officeDocument/2006/relationships/oleObject" Target="../embeddings/oleObject32.bin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2359657"/>
            <a:ext cx="10807700" cy="109645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en-US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复数的三角表示式</a:t>
            </a:r>
            <a:endParaRPr lang="zh-CN" altLang="zh-CN" sz="60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1233695"/>
            <a:ext cx="10729192" cy="3802025"/>
            <a:chOff x="360437" y="1699803"/>
            <a:chExt cx="10729192" cy="3802025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1699803"/>
              <a:ext cx="10729192" cy="3802025"/>
              <a:chOff x="360437" y="2132059"/>
              <a:chExt cx="10729192" cy="2596835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2132059"/>
                <a:ext cx="10729192" cy="2596835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2175273"/>
                <a:ext cx="0" cy="2488631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447999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1776688"/>
              <a:ext cx="8496944" cy="3581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通过复数的几何意义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了解复数的三角表示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了解复数的代数表示式与三角表示式之间的关系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会进行复数三角形式和代数形式之间的互化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了解两个用三角形式表示的复数相等的条件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5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提升直观想象、逻辑推理和数学运算素养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289942" y="791815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复数的三角表示式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的终边上一点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到原点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的距离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|OP|=r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那么怎样用角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表示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3" name="EMG2TRA10.eps" descr="id:2147491675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3888829" y="2650684"/>
            <a:ext cx="2592288" cy="2482476"/>
          </a:xfrm>
          <a:prstGeom prst="rect">
            <a:avLst/>
          </a:prstGeom>
        </p:spPr>
      </p:pic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5639249"/>
              </p:ext>
            </p:extLst>
          </p:nvPr>
        </p:nvGraphicFramePr>
        <p:xfrm>
          <a:off x="288429" y="5197748"/>
          <a:ext cx="11671959" cy="742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" name="文档" r:id="rId5" imgW="3826872" imgH="243300" progId="Word.Document.12">
                  <p:embed/>
                </p:oleObj>
              </mc:Choice>
              <mc:Fallback>
                <p:oleObj name="文档" r:id="rId5" imgW="3826872" imgH="2433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8429" y="5197748"/>
                        <a:ext cx="11671959" cy="7420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179571"/>
              </p:ext>
            </p:extLst>
          </p:nvPr>
        </p:nvGraphicFramePr>
        <p:xfrm>
          <a:off x="506319" y="812296"/>
          <a:ext cx="10640962" cy="270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6" name="文档" r:id="rId4" imgW="3837724" imgH="976074" progId="Word.Document.12">
                  <p:embed/>
                </p:oleObj>
              </mc:Choice>
              <mc:Fallback>
                <p:oleObj name="文档" r:id="rId4" imgW="3837724" imgH="97607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6319" y="812296"/>
                        <a:ext cx="10640962" cy="2706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EMG2TRA11.eps" descr="id:2147499097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7767429" y="3080850"/>
            <a:ext cx="2808312" cy="2689349"/>
          </a:xfrm>
          <a:prstGeom prst="rect">
            <a:avLst/>
          </a:prstGeom>
        </p:spPr>
      </p:pic>
      <p:sp>
        <p:nvSpPr>
          <p:cNvPr id="9" name="矩形 8"/>
          <p:cNvSpPr>
            <a:spLocks noChangeAspect="1"/>
          </p:cNvSpPr>
          <p:nvPr/>
        </p:nvSpPr>
        <p:spPr>
          <a:xfrm>
            <a:off x="416113" y="4464619"/>
            <a:ext cx="10807700" cy="127419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能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由题图得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i="1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a+b</a:t>
            </a:r>
            <a:r>
              <a:rPr lang="en-US" altLang="zh-CN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i="1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=r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458351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361950" y="791815"/>
            <a:ext cx="14406750" cy="5410712"/>
            <a:chOff x="361950" y="535358"/>
            <a:chExt cx="14406750" cy="5410712"/>
          </a:xfrm>
        </p:grpSpPr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361950" y="535358"/>
              <a:ext cx="10807700" cy="541071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复数的辐角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轴的非负半轴为始边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向量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    </a:t>
              </a:r>
              <a:r>
                <a:rPr lang="en-US" altLang="zh-CN" dirty="0" smtClean="0">
                  <a:ea typeface="宋体" panose="02010600030101010101" pitchFamily="2" charset="-122"/>
                  <a:cs typeface="Times New Roman" panose="02020603050405020304" pitchFamily="18" charset="0"/>
                </a:rPr>
                <a:t>   </a:t>
              </a:r>
              <a:r>
                <a:rPr lang="zh-CN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所在射线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射线</a:t>
              </a:r>
              <a:r>
                <a:rPr lang="en-US" altLang="zh-CN" i="1" dirty="0">
                  <a:ea typeface="宋体" panose="02010600030101010101" pitchFamily="2" charset="-122"/>
                  <a:cs typeface="Times New Roman" panose="02020603050405020304" pitchFamily="18" charset="0"/>
                </a:rPr>
                <a:t>OZ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为终边的角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叫做复数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z=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a+b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的辐角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我们规定在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dirty="0"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i="1" dirty="0">
                  <a:ea typeface="Microsoft Yi Baiti" panose="03000500000000000000" pitchFamily="66" charset="0"/>
                  <a:cs typeface="Times New Roman" panose="02020603050405020304" pitchFamily="18" charset="0"/>
                </a:rPr>
                <a:t>θ</a:t>
              </a:r>
              <a:r>
                <a:rPr lang="en-US" altLang="zh-CN" i="1" dirty="0">
                  <a:ea typeface="宋体" panose="02010600030101010101" pitchFamily="2" charset="-122"/>
                  <a:cs typeface="Times New Roman" panose="02020603050405020304" pitchFamily="18" charset="0"/>
                </a:rPr>
                <a:t>&lt;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ea typeface="Microsoft Yi Baiti" panose="03000500000000000000" pitchFamily="66" charset="0"/>
                  <a:cs typeface="Times New Roman" panose="02020603050405020304" pitchFamily="18" charset="0"/>
                </a:rPr>
                <a:t>π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范围内的辐角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θ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的值为辐角的主值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通常记作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arg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z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dirty="0"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arg </a:t>
              </a:r>
              <a:r>
                <a:rPr lang="en-US" altLang="zh-CN" i="1" dirty="0" smtClean="0">
                  <a:ea typeface="宋体" panose="02010600030101010101" pitchFamily="2" charset="-122"/>
                  <a:cs typeface="Times New Roman" panose="02020603050405020304" pitchFamily="18" charset="0"/>
                </a:rPr>
                <a:t>z&lt;</a:t>
              </a:r>
              <a:r>
                <a:rPr lang="en-US" altLang="zh-CN" dirty="0" smtClean="0"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 smtClean="0">
                  <a:ea typeface="Microsoft Yi Baiti" panose="03000500000000000000" pitchFamily="66" charset="0"/>
                  <a:cs typeface="Times New Roman" panose="02020603050405020304" pitchFamily="18" charset="0"/>
                </a:rPr>
                <a:t>π 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i="1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 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复数的三角形式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一般地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任何一个复数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z=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a+b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都可以表示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成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 smtClean="0">
                  <a:ea typeface="宋体" panose="02010600030101010101" pitchFamily="2" charset="-122"/>
                  <a:cs typeface="Times New Roman" panose="02020603050405020304" pitchFamily="18" charset="0"/>
                </a:rPr>
                <a:t>r</a:t>
              </a:r>
              <a:r>
                <a:rPr lang="en-US" altLang="zh-CN" dirty="0" smtClean="0">
                  <a:ea typeface="宋体" panose="02010600030101010101" pitchFamily="2" charset="-122"/>
                  <a:cs typeface="Times New Roman" panose="02020603050405020304" pitchFamily="18" charset="0"/>
                </a:rPr>
                <a:t>(cos </a:t>
              </a:r>
              <a:r>
                <a:rPr lang="en-US" altLang="zh-CN" i="1" dirty="0" err="1">
                  <a:ea typeface="Microsoft Yi Baiti" panose="03000500000000000000" pitchFamily="66" charset="0"/>
                  <a:cs typeface="Times New Roman" panose="02020603050405020304" pitchFamily="18" charset="0"/>
                </a:rPr>
                <a:t>θ</a:t>
              </a:r>
              <a:r>
                <a:rPr lang="en-US" altLang="zh-CN" i="1" dirty="0" err="1"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 err="1">
                  <a:ea typeface="宋体" panose="02010600030101010101" pitchFamily="2" charset="-122"/>
                  <a:cs typeface="Times New Roman" panose="02020603050405020304" pitchFamily="18" charset="0"/>
                </a:rPr>
                <a:t>isin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>
                  <a:ea typeface="Microsoft Yi Baiti" panose="03000500000000000000" pitchFamily="66" charset="0"/>
                  <a:cs typeface="Times New Roman" panose="02020603050405020304" pitchFamily="18" charset="0"/>
                </a:rPr>
                <a:t>θ</a:t>
              </a:r>
              <a:r>
                <a:rPr lang="en-US" altLang="zh-CN" dirty="0" smtClean="0">
                  <a:ea typeface="宋体" panose="02010600030101010101" pitchFamily="2" charset="-122"/>
                  <a:cs typeface="Times New Roman" panose="02020603050405020304" pitchFamily="18" charset="0"/>
                </a:rPr>
                <a:t>) 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形式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其中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r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是复数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z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</a:t>
              </a:r>
              <a:r>
                <a:rPr lang="zh-CN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模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θ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是复数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z=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a+b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的辐角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 </a:t>
              </a:r>
              <a:r>
                <a:rPr lang="en-US" altLang="zh-CN" i="1" dirty="0" smtClean="0">
                  <a:ea typeface="宋体" panose="02010600030101010101" pitchFamily="2" charset="-122"/>
                  <a:cs typeface="Times New Roman" panose="02020603050405020304" pitchFamily="18" charset="0"/>
                </a:rPr>
                <a:t>r</a:t>
              </a:r>
              <a:r>
                <a:rPr lang="en-US" altLang="zh-CN" dirty="0" smtClean="0">
                  <a:ea typeface="宋体" panose="02010600030101010101" pitchFamily="2" charset="-122"/>
                  <a:cs typeface="Times New Roman" panose="02020603050405020304" pitchFamily="18" charset="0"/>
                </a:rPr>
                <a:t>(cos </a:t>
              </a:r>
              <a:r>
                <a:rPr lang="en-US" altLang="zh-CN" i="1" dirty="0" err="1">
                  <a:ea typeface="Microsoft Yi Baiti" panose="03000500000000000000" pitchFamily="66" charset="0"/>
                  <a:cs typeface="Times New Roman" panose="02020603050405020304" pitchFamily="18" charset="0"/>
                </a:rPr>
                <a:t>θ</a:t>
              </a:r>
              <a:r>
                <a:rPr lang="en-US" altLang="zh-CN" i="1" dirty="0" err="1"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 err="1">
                  <a:ea typeface="宋体" panose="02010600030101010101" pitchFamily="2" charset="-122"/>
                  <a:cs typeface="Times New Roman" panose="02020603050405020304" pitchFamily="18" charset="0"/>
                </a:rPr>
                <a:t>isin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>
                  <a:ea typeface="Microsoft Yi Baiti" panose="03000500000000000000" pitchFamily="66" charset="0"/>
                  <a:cs typeface="Times New Roman" panose="02020603050405020304" pitchFamily="18" charset="0"/>
                </a:rPr>
                <a:t>θ</a:t>
              </a:r>
              <a:r>
                <a:rPr lang="en-US" altLang="zh-CN" dirty="0" smtClean="0">
                  <a:ea typeface="宋体" panose="02010600030101010101" pitchFamily="2" charset="-122"/>
                  <a:cs typeface="Times New Roman" panose="02020603050405020304" pitchFamily="18" charset="0"/>
                </a:rPr>
                <a:t>) 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叫做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复数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z=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a+b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的三角表示式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简称三角形式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为了与三角形式区分开来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 </a:t>
              </a:r>
              <a:r>
                <a:rPr lang="en-US" altLang="zh-CN" i="1" dirty="0" err="1" smtClean="0">
                  <a:ea typeface="宋体" panose="02010600030101010101" pitchFamily="2" charset="-122"/>
                  <a:cs typeface="Times New Roman" panose="02020603050405020304" pitchFamily="18" charset="0"/>
                </a:rPr>
                <a:t>a+b</a:t>
              </a:r>
              <a:r>
                <a:rPr lang="en-US" altLang="zh-CN" dirty="0" err="1" smtClean="0"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r>
                <a:rPr lang="en-US" altLang="zh-CN" dirty="0" smtClean="0"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叫做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复数的代数表示式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简称代数形式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i="1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 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0" name="对象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83211778"/>
                </p:ext>
              </p:extLst>
            </p:nvPr>
          </p:nvGraphicFramePr>
          <p:xfrm>
            <a:off x="3096741" y="592705"/>
            <a:ext cx="11671959" cy="5491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0" name="文档" r:id="rId4" imgW="3826872" imgH="180049" progId="Word.Document.12">
                    <p:embed/>
                  </p:oleObj>
                </mc:Choice>
                <mc:Fallback>
                  <p:oleObj name="文档" r:id="rId4" imgW="3826872" imgH="18004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096741" y="592705"/>
                          <a:ext cx="11671959" cy="54914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" name="矩形 4"/>
          <p:cNvSpPr/>
          <p:nvPr/>
        </p:nvSpPr>
        <p:spPr>
          <a:xfrm>
            <a:off x="7833495" y="868371"/>
            <a:ext cx="318412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7828949" y="1332469"/>
            <a:ext cx="318052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464719" y="1458014"/>
            <a:ext cx="159493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460173" y="1922112"/>
            <a:ext cx="159313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361949" y="2045103"/>
            <a:ext cx="1584529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357392" y="2509201"/>
            <a:ext cx="158273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391122" y="2652329"/>
            <a:ext cx="2201563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/>
        </p:nvCxnSpPr>
        <p:spPr>
          <a:xfrm>
            <a:off x="386565" y="3116427"/>
            <a:ext cx="219907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930300" y="3804269"/>
            <a:ext cx="2526481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连接符 17"/>
          <p:cNvCxnSpPr/>
          <p:nvPr/>
        </p:nvCxnSpPr>
        <p:spPr>
          <a:xfrm>
            <a:off x="925743" y="4268367"/>
            <a:ext cx="252362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7681317" y="3782753"/>
            <a:ext cx="39879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连接符 19"/>
          <p:cNvCxnSpPr/>
          <p:nvPr/>
        </p:nvCxnSpPr>
        <p:spPr>
          <a:xfrm>
            <a:off x="7676512" y="4246851"/>
            <a:ext cx="39834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1822113" y="4376508"/>
            <a:ext cx="2526481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连接符 21"/>
          <p:cNvCxnSpPr/>
          <p:nvPr/>
        </p:nvCxnSpPr>
        <p:spPr>
          <a:xfrm>
            <a:off x="1817556" y="4840606"/>
            <a:ext cx="252362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6388759" y="4936181"/>
            <a:ext cx="9403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连接符 23"/>
          <p:cNvCxnSpPr/>
          <p:nvPr/>
        </p:nvCxnSpPr>
        <p:spPr>
          <a:xfrm>
            <a:off x="6384261" y="5400279"/>
            <a:ext cx="93928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689116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3" grpId="0" animBg="1"/>
      <p:bldP spid="15" grpId="0" animBg="1"/>
      <p:bldP spid="17" grpId="0" animBg="1"/>
      <p:bldP spid="19" grpId="0" animBg="1"/>
      <p:bldP spid="21" grpId="0" animBg="1"/>
      <p:bldP spid="2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2526502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两个用三角形式表示的复数相等的充要条件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两个非零复数相等当且仅当它们的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模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辐角的主值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分别相等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518774" y="3168303"/>
            <a:ext cx="39879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4513969" y="3632401"/>
            <a:ext cx="39834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5339747" y="3168303"/>
            <a:ext cx="2026982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5335201" y="3632401"/>
            <a:ext cx="202468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971735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4506459"/>
              </p:ext>
            </p:extLst>
          </p:nvPr>
        </p:nvGraphicFramePr>
        <p:xfrm>
          <a:off x="432445" y="1007839"/>
          <a:ext cx="11671959" cy="44688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4" name="文档" r:id="rId4" imgW="3826872" imgH="1465189" progId="Word.Document.12">
                  <p:embed/>
                </p:oleObj>
              </mc:Choice>
              <mc:Fallback>
                <p:oleObj name="文档" r:id="rId4" imgW="3826872" imgH="146518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007839"/>
                        <a:ext cx="11671959" cy="44688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8468468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0176016"/>
              </p:ext>
            </p:extLst>
          </p:nvPr>
        </p:nvGraphicFramePr>
        <p:xfrm>
          <a:off x="365876" y="680479"/>
          <a:ext cx="11644312" cy="521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8" name="文档" r:id="rId4" imgW="3837724" imgH="1723545" progId="Word.Document.12">
                  <p:embed/>
                </p:oleObj>
              </mc:Choice>
              <mc:Fallback>
                <p:oleObj name="文档" r:id="rId4" imgW="3837724" imgH="172354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5876" y="680479"/>
                        <a:ext cx="11644312" cy="5213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08093" y="5759429"/>
            <a:ext cx="3185487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(1)A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2)B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229761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502145"/>
            <a:ext cx="10807700" cy="609282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【思考辨析】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正确的在后面的括号内画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错误的画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复数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的辐角的主值是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任何一个复数的辐角有无限多个值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且这些值相差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的整数倍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非零复数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的辐角主值是确定的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且唯一的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在复数的三角形式中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辐角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的值可以用弧度表示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也可以用角度表示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可以是主值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也可以是主值加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·360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为整数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400997" y="2397507"/>
            <a:ext cx="476035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644868" y="3600520"/>
            <a:ext cx="476035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8569349" y="4176191"/>
            <a:ext cx="476035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1811355" y="5915534"/>
            <a:ext cx="476035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7780973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  <p:sp>
        <p:nvSpPr>
          <p:cNvPr id="3" name="圆角矩形 2">
            <a:hlinkClick r:id="rId2" action="ppaction://hlinksldjump"/>
          </p:cNvPr>
          <p:cNvSpPr/>
          <p:nvPr/>
        </p:nvSpPr>
        <p:spPr>
          <a:xfrm>
            <a:off x="20166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/>
              <a:t>探究一</a:t>
            </a:r>
            <a:endParaRPr lang="zh-CN" altLang="en-US" sz="2400"/>
          </a:p>
        </p:txBody>
      </p:sp>
      <p:sp>
        <p:nvSpPr>
          <p:cNvPr id="4" name="圆角矩形 3">
            <a:hlinkClick r:id="rId3" action="ppaction://hlinksldjump"/>
          </p:cNvPr>
          <p:cNvSpPr/>
          <p:nvPr/>
        </p:nvSpPr>
        <p:spPr>
          <a:xfrm>
            <a:off x="38168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二</a:t>
            </a:r>
            <a:endParaRPr lang="zh-CN" altLang="en-US" sz="2400" dirty="0"/>
          </a:p>
        </p:txBody>
      </p:sp>
      <p:sp>
        <p:nvSpPr>
          <p:cNvPr id="5" name="圆角矩形 4">
            <a:hlinkClick r:id="rId4" action="ppaction://hlinksldjump"/>
          </p:cNvPr>
          <p:cNvSpPr/>
          <p:nvPr/>
        </p:nvSpPr>
        <p:spPr>
          <a:xfrm>
            <a:off x="56170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三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81983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复数的三角形式</a:t>
            </a:r>
            <a:endParaRPr lang="zh-CN" altLang="zh-CN" dirty="0"/>
          </a:p>
        </p:txBody>
      </p:sp>
      <p:grpSp>
        <p:nvGrpSpPr>
          <p:cNvPr id="5" name="组合 4"/>
          <p:cNvGrpSpPr/>
          <p:nvPr/>
        </p:nvGrpSpPr>
        <p:grpSpPr>
          <a:xfrm>
            <a:off x="361950" y="1780263"/>
            <a:ext cx="11814462" cy="3240360"/>
            <a:chOff x="361950" y="1367879"/>
            <a:chExt cx="11814462" cy="3240360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367879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下列复数是不是三角形式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若不是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把它们转化为三角形式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64170656"/>
                </p:ext>
              </p:extLst>
            </p:nvPr>
          </p:nvGraphicFramePr>
          <p:xfrm>
            <a:off x="504453" y="2664843"/>
            <a:ext cx="11671959" cy="19433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62" name="文档" r:id="rId4" imgW="3826872" imgH="637179" progId="Word.Document.12">
                    <p:embed/>
                  </p:oleObj>
                </mc:Choice>
                <mc:Fallback>
                  <p:oleObj name="文档" r:id="rId4" imgW="3826872" imgH="63717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04453" y="2664843"/>
                          <a:ext cx="11671959" cy="194339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9893586"/>
              </p:ext>
            </p:extLst>
          </p:nvPr>
        </p:nvGraphicFramePr>
        <p:xfrm>
          <a:off x="504825" y="871130"/>
          <a:ext cx="11645900" cy="4951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6" name="文档" r:id="rId4" imgW="3837724" imgH="1634843" progId="Word.Document.12">
                  <p:embed/>
                </p:oleObj>
              </mc:Choice>
              <mc:Fallback>
                <p:oleObj name="文档" r:id="rId4" imgW="3837724" imgH="163484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825" y="871130"/>
                        <a:ext cx="11645900" cy="4951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70035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0552274"/>
              </p:ext>
            </p:extLst>
          </p:nvPr>
        </p:nvGraphicFramePr>
        <p:xfrm>
          <a:off x="432445" y="647799"/>
          <a:ext cx="11671959" cy="57929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0" name="文档" r:id="rId4" imgW="3826872" imgH="1899319" progId="Word.Document.12">
                  <p:embed/>
                </p:oleObj>
              </mc:Choice>
              <mc:Fallback>
                <p:oleObj name="文档" r:id="rId4" imgW="3826872" imgH="189931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647799"/>
                        <a:ext cx="11671959" cy="57929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59434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8896764"/>
              </p:ext>
            </p:extLst>
          </p:nvPr>
        </p:nvGraphicFramePr>
        <p:xfrm>
          <a:off x="350605" y="1633313"/>
          <a:ext cx="11671959" cy="27589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4" name="文档" r:id="rId4" imgW="3826872" imgH="904558" progId="Word.Document.12">
                  <p:embed/>
                </p:oleObj>
              </mc:Choice>
              <mc:Fallback>
                <p:oleObj name="文档" r:id="rId4" imgW="3826872" imgH="90455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0605" y="1633313"/>
                        <a:ext cx="11671959" cy="27589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71539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1011518"/>
            <a:ext cx="10807700" cy="4172785"/>
            <a:chOff x="361950" y="1011518"/>
            <a:chExt cx="10807700" cy="4172785"/>
          </a:xfrm>
        </p:grpSpPr>
        <p:pic>
          <p:nvPicPr>
            <p:cNvPr id="3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1011518"/>
              <a:ext cx="2259558" cy="531552"/>
            </a:xfrm>
            <a:prstGeom prst="rect">
              <a:avLst/>
            </a:prstGeom>
          </p:spPr>
        </p:pic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1602938"/>
              <a:ext cx="10807700" cy="358136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复数三角形式的判断依据和变形步骤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判断依据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三角形式的结构特征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模非负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角相同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余弦前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加号连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变形步骤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首先确定复数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z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对应点所在的象限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此处可假定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θ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为锐角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其次判断是否要变换三角函数名称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最后确定辐角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此步骤可简称为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定点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→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定名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→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定角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62756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61950" y="1295871"/>
            <a:ext cx="11814462" cy="3421595"/>
            <a:chOff x="361950" y="1186644"/>
            <a:chExt cx="11814462" cy="3421595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186644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【变式训练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下列复数是不是三角形式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若不是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把它们转化为三角形式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80872237"/>
                </p:ext>
              </p:extLst>
            </p:nvPr>
          </p:nvGraphicFramePr>
          <p:xfrm>
            <a:off x="504453" y="2453292"/>
            <a:ext cx="11671959" cy="21549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8" name="文档" r:id="rId4" imgW="3826872" imgH="706540" progId="Word.Document.12">
                    <p:embed/>
                  </p:oleObj>
                </mc:Choice>
                <mc:Fallback>
                  <p:oleObj name="文档" r:id="rId4" imgW="3826872" imgH="70654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04453" y="2453292"/>
                          <a:ext cx="11671959" cy="215494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190354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6250855"/>
              </p:ext>
            </p:extLst>
          </p:nvPr>
        </p:nvGraphicFramePr>
        <p:xfrm>
          <a:off x="432445" y="766026"/>
          <a:ext cx="11671959" cy="5324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2" name="文档" r:id="rId4" imgW="3826872" imgH="1745864" progId="Word.Document.12">
                  <p:embed/>
                </p:oleObj>
              </mc:Choice>
              <mc:Fallback>
                <p:oleObj name="文档" r:id="rId4" imgW="3826872" imgH="174586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766026"/>
                        <a:ext cx="11671959" cy="53248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16595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565461"/>
            <a:ext cx="10807700" cy="299043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模非负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不是三角形式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复平面上的点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在第三象限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假定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为锐角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余弦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已在前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不需要变换三角函数名称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因此可用诱导公式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将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变换到第三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象限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2(cos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2[cos(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isin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)]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2280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复数</a:t>
            </a:r>
            <a:r>
              <a:rPr lang="zh-CN" altLang="zh-CN" dirty="0"/>
              <a:t>的代数形式转化为三角形式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361950" y="1447640"/>
            <a:ext cx="11814462" cy="1841260"/>
            <a:chOff x="361950" y="1348215"/>
            <a:chExt cx="11814462" cy="1841260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348215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在复平面内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画出下列复数对应的向量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指出它们的模和辐角的主值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并把这些复数转化为三角形式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2550028"/>
                </p:ext>
              </p:extLst>
            </p:nvPr>
          </p:nvGraphicFramePr>
          <p:xfrm>
            <a:off x="504453" y="2585520"/>
            <a:ext cx="11671959" cy="6039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22" name="文档" r:id="rId4" imgW="3826872" imgH="198018" progId="Word.Document.12">
                    <p:embed/>
                  </p:oleObj>
                </mc:Choice>
                <mc:Fallback>
                  <p:oleObj name="文档" r:id="rId4" imgW="3826872" imgH="19801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04453" y="2585520"/>
                          <a:ext cx="11671959" cy="60395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7"/>
          <p:cNvGrpSpPr/>
          <p:nvPr/>
        </p:nvGrpSpPr>
        <p:grpSpPr>
          <a:xfrm>
            <a:off x="504825" y="3321050"/>
            <a:ext cx="11645900" cy="2963037"/>
            <a:chOff x="504825" y="3221625"/>
            <a:chExt cx="11645900" cy="2963037"/>
          </a:xfrm>
        </p:grpSpPr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30037709"/>
                </p:ext>
              </p:extLst>
            </p:nvPr>
          </p:nvGraphicFramePr>
          <p:xfrm>
            <a:off x="504825" y="3221625"/>
            <a:ext cx="11645900" cy="274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23" name="文档" r:id="rId7" imgW="3837724" imgH="907565" progId="Word.Document.12">
                    <p:embed/>
                  </p:oleObj>
                </mc:Choice>
                <mc:Fallback>
                  <p:oleObj name="文档" r:id="rId7" imgW="3837724" imgH="90756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04825" y="3221625"/>
                          <a:ext cx="11645900" cy="274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7" name="EMG2TRA12.eps" descr="id:2147491717;FounderCES"/>
            <p:cNvPicPr/>
            <p:nvPr/>
          </p:nvPicPr>
          <p:blipFill>
            <a:blip r:embed="rId9"/>
            <a:stretch>
              <a:fillRect/>
            </a:stretch>
          </p:blipFill>
          <p:spPr>
            <a:xfrm>
              <a:off x="7705253" y="3339775"/>
              <a:ext cx="2160240" cy="28448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863823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在复平面内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复数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对应的向量如图所示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dirty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dirty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则模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对应的点在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轴的负半轴上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arg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10(cos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11" name="EMG2TRA13.eps" descr="id:2147491724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2880717" y="1553737"/>
            <a:ext cx="5400600" cy="267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861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0096802"/>
              </p:ext>
            </p:extLst>
          </p:nvPr>
        </p:nvGraphicFramePr>
        <p:xfrm>
          <a:off x="504825" y="1050351"/>
          <a:ext cx="11645900" cy="3878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0" name="文档" r:id="rId4" imgW="3837724" imgH="1283283" progId="Word.Document.12">
                  <p:embed/>
                </p:oleObj>
              </mc:Choice>
              <mc:Fallback>
                <p:oleObj name="文档" r:id="rId4" imgW="3837724" imgH="128328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825" y="1050351"/>
                        <a:ext cx="11645900" cy="38782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EMG2TRA14.eps" descr="id:2147491731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7561237" y="2489622"/>
            <a:ext cx="3672408" cy="3231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650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730066"/>
              </p:ext>
            </p:extLst>
          </p:nvPr>
        </p:nvGraphicFramePr>
        <p:xfrm>
          <a:off x="430213" y="714375"/>
          <a:ext cx="11645900" cy="2513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4" name="文档" r:id="rId4" imgW="3837724" imgH="831123" progId="Word.Document.12">
                  <p:embed/>
                </p:oleObj>
              </mc:Choice>
              <mc:Fallback>
                <p:oleObj name="文档" r:id="rId4" imgW="3837724" imgH="8311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0213" y="714375"/>
                        <a:ext cx="11645900" cy="2513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EMG2TRA15.eps" descr="id:2147491738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3888829" y="3246332"/>
            <a:ext cx="2592288" cy="296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003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1228171"/>
            <a:ext cx="10807700" cy="3596092"/>
            <a:chOff x="361950" y="1156163"/>
            <a:chExt cx="10807700" cy="3596092"/>
          </a:xfrm>
        </p:grpSpPr>
        <p:pic>
          <p:nvPicPr>
            <p:cNvPr id="4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1156163"/>
              <a:ext cx="2259558" cy="531552"/>
            </a:xfrm>
            <a:prstGeom prst="rect">
              <a:avLst/>
            </a:prstGeom>
          </p:spPr>
        </p:pic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761821"/>
              <a:ext cx="10807700" cy="299043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复数的代数形式化成三角形式的步骤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　　　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先求复数的模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决定辐角所在的象限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根据象限求出辐角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常取它的主值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(4)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写出复数的三角形式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51021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8521774"/>
              </p:ext>
            </p:extLst>
          </p:nvPr>
        </p:nvGraphicFramePr>
        <p:xfrm>
          <a:off x="504453" y="709975"/>
          <a:ext cx="11671959" cy="2019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2" name="文档" r:id="rId4" imgW="3826872" imgH="661977" progId="Word.Document.12">
                  <p:embed/>
                </p:oleObj>
              </mc:Choice>
              <mc:Fallback>
                <p:oleObj name="文档" r:id="rId4" imgW="3826872" imgH="6619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709975"/>
                        <a:ext cx="11671959" cy="20190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7"/>
          <p:cNvGrpSpPr/>
          <p:nvPr/>
        </p:nvGrpSpPr>
        <p:grpSpPr>
          <a:xfrm>
            <a:off x="361950" y="2765374"/>
            <a:ext cx="11777663" cy="3446514"/>
            <a:chOff x="361950" y="2876710"/>
            <a:chExt cx="11777663" cy="3446514"/>
          </a:xfrm>
        </p:grpSpPr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2876710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模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r=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在复平面内对应的点在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轴的正半轴上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arg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cos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isin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07429618"/>
                </p:ext>
              </p:extLst>
            </p:nvPr>
          </p:nvGraphicFramePr>
          <p:xfrm>
            <a:off x="493713" y="4115011"/>
            <a:ext cx="11645900" cy="2208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93" name="文档" r:id="rId7" imgW="3837724" imgH="731605" progId="Word.Document.12">
                    <p:embed/>
                  </p:oleObj>
                </mc:Choice>
                <mc:Fallback>
                  <p:oleObj name="文档" r:id="rId7" imgW="3837724" imgH="73160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93713" y="4115011"/>
                          <a:ext cx="11645900" cy="22082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939093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566044"/>
              </p:ext>
            </p:extLst>
          </p:nvPr>
        </p:nvGraphicFramePr>
        <p:xfrm>
          <a:off x="432445" y="791815"/>
          <a:ext cx="11705058" cy="44616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1" name="文档" r:id="rId4" imgW="3837724" imgH="1462849" progId="Word.Document.12">
                  <p:embed/>
                </p:oleObj>
              </mc:Choice>
              <mc:Fallback>
                <p:oleObj name="文档" r:id="rId4" imgW="3837724" imgH="146284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791815"/>
                        <a:ext cx="11705058" cy="44616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4943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935831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三</a:t>
            </a:r>
            <a:r>
              <a:rPr lang="en-US" altLang="zh-CN" dirty="0" smtClean="0"/>
              <a:t>  </a:t>
            </a:r>
            <a:r>
              <a:rPr lang="zh-CN" altLang="zh-CN" dirty="0" smtClean="0"/>
              <a:t>把</a:t>
            </a:r>
            <a:r>
              <a:rPr lang="zh-CN" altLang="zh-CN" dirty="0"/>
              <a:t>复数转化为代数形式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583903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分别指出下列复数的模和一个辐角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并把这些复数转化为代数形式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2904282"/>
              </p:ext>
            </p:extLst>
          </p:nvPr>
        </p:nvGraphicFramePr>
        <p:xfrm>
          <a:off x="474957" y="2827215"/>
          <a:ext cx="11671959" cy="22229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4" name="文档" r:id="rId4" imgW="3826872" imgH="728821" progId="Word.Document.12">
                  <p:embed/>
                </p:oleObj>
              </mc:Choice>
              <mc:Fallback>
                <p:oleObj name="文档" r:id="rId4" imgW="3826872" imgH="72882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4957" y="2827215"/>
                        <a:ext cx="11671959" cy="22229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6456676"/>
              </p:ext>
            </p:extLst>
          </p:nvPr>
        </p:nvGraphicFramePr>
        <p:xfrm>
          <a:off x="504825" y="1079847"/>
          <a:ext cx="11618913" cy="417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8" name="文档" r:id="rId4" imgW="3826872" imgH="1376422" progId="Word.Document.12">
                  <p:embed/>
                </p:oleObj>
              </mc:Choice>
              <mc:Fallback>
                <p:oleObj name="文档" r:id="rId4" imgW="3826872" imgH="137642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825" y="1079847"/>
                        <a:ext cx="11618913" cy="4173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3149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8603559"/>
              </p:ext>
            </p:extLst>
          </p:nvPr>
        </p:nvGraphicFramePr>
        <p:xfrm>
          <a:off x="432445" y="1727919"/>
          <a:ext cx="11671959" cy="2677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2" name="文档" r:id="rId4" imgW="3826872" imgH="877963" progId="Word.Document.12">
                  <p:embed/>
                </p:oleObj>
              </mc:Choice>
              <mc:Fallback>
                <p:oleObj name="文档" r:id="rId4" imgW="3826872" imgH="87796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727919"/>
                        <a:ext cx="11671959" cy="26777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13953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反思感悟H.eps" descr="id:2147490797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61950" y="1329675"/>
            <a:ext cx="2259558" cy="531552"/>
          </a:xfrm>
          <a:prstGeom prst="rect">
            <a:avLst/>
          </a:prstGeom>
        </p:spPr>
      </p:pic>
      <p:sp>
        <p:nvSpPr>
          <p:cNvPr id="4" name="矩形 3"/>
          <p:cNvSpPr>
            <a:spLocks noChangeAspect="1"/>
          </p:cNvSpPr>
          <p:nvPr/>
        </p:nvSpPr>
        <p:spPr>
          <a:xfrm>
            <a:off x="361950" y="1920704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类似三角形式的复数求模和辐角时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注意三角形式的结构特征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模非负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角相同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余弦前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加号连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将复数的三角形式转化为代数形式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直接求出角的三角函数值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化简即可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1608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9290005"/>
              </p:ext>
            </p:extLst>
          </p:nvPr>
        </p:nvGraphicFramePr>
        <p:xfrm>
          <a:off x="370270" y="742655"/>
          <a:ext cx="11671959" cy="28126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0" name="文档" r:id="rId4" imgW="3826872" imgH="922167" progId="Word.Document.12">
                  <p:embed/>
                </p:oleObj>
              </mc:Choice>
              <mc:Fallback>
                <p:oleObj name="文档" r:id="rId4" imgW="3826872" imgH="92216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70270" y="742655"/>
                        <a:ext cx="11671959" cy="28126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4700392"/>
              </p:ext>
            </p:extLst>
          </p:nvPr>
        </p:nvGraphicFramePr>
        <p:xfrm>
          <a:off x="370269" y="3540998"/>
          <a:ext cx="11671959" cy="26317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1" name="文档" r:id="rId7" imgW="3826872" imgH="862870" progId="Word.Document.12">
                  <p:embed/>
                </p:oleObj>
              </mc:Choice>
              <mc:Fallback>
                <p:oleObj name="文档" r:id="rId7" imgW="3826872" imgH="86287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70269" y="3540998"/>
                        <a:ext cx="11671959" cy="26317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9026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503783"/>
            <a:ext cx="11742454" cy="5904656"/>
            <a:chOff x="361950" y="503783"/>
            <a:chExt cx="11742454" cy="5904656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503783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忽视角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θ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的范围而致错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【典例】</a:t>
              </a:r>
              <a:r>
                <a:rPr lang="zh-CN" altLang="zh-CN" dirty="0" smtClean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求复数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z=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cos </a:t>
              </a:r>
              <a:r>
                <a:rPr lang="en-US" altLang="zh-CN" i="1" dirty="0" err="1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θ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isin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θ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π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&lt;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θ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&lt;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的模与辐角的主值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9402431"/>
                </p:ext>
              </p:extLst>
            </p:nvPr>
          </p:nvGraphicFramePr>
          <p:xfrm>
            <a:off x="432445" y="2284319"/>
            <a:ext cx="11671959" cy="30219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20" name="文档" r:id="rId4" imgW="3826872" imgH="990809" progId="Word.Document.12">
                    <p:embed/>
                  </p:oleObj>
                </mc:Choice>
                <mc:Fallback>
                  <p:oleObj name="文档" r:id="rId4" imgW="3826872" imgH="99080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32445" y="2284319"/>
                          <a:ext cx="11671959" cy="302196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5190798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以上解答过程中都有哪些错误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出错的原因是什么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你如何改正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你如何防范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spect="1"/>
          </p:cNvSpPr>
          <p:nvPr/>
        </p:nvSpPr>
        <p:spPr>
          <a:xfrm>
            <a:off x="361950" y="2382486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错解中忽视了条件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导致没有转化为标准的三角形式就直接下结论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886976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1904602"/>
              </p:ext>
            </p:extLst>
          </p:nvPr>
        </p:nvGraphicFramePr>
        <p:xfrm>
          <a:off x="504453" y="659515"/>
          <a:ext cx="11705058" cy="56769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4" name="文档" r:id="rId4" imgW="3837724" imgH="1861284" progId="Word.Document.12">
                  <p:embed/>
                </p:oleObj>
              </mc:Choice>
              <mc:Fallback>
                <p:oleObj name="文档" r:id="rId4" imgW="3837724" imgH="186128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659515"/>
                        <a:ext cx="11705058" cy="56769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5046405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1799927"/>
            <a:ext cx="10807700" cy="2448261"/>
            <a:chOff x="361950" y="1792856"/>
            <a:chExt cx="10807700" cy="2448261"/>
          </a:xfrm>
        </p:grpSpPr>
        <p:pic>
          <p:nvPicPr>
            <p:cNvPr id="3" name="防范措施H.eps" descr="id:2147490860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1792856"/>
              <a:ext cx="2259558" cy="531552"/>
            </a:xfrm>
            <a:prstGeom prst="rect">
              <a:avLst/>
            </a:prstGeom>
          </p:spPr>
        </p:pic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2375991"/>
              <a:ext cx="10807700" cy="186512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在表示复数的三角形式时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要严格套用复数三角形式的四个结构</a:t>
              </a:r>
              <a:r>
                <a:rPr lang="zh-CN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特征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注意复数辐角的主值范围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[0,2</a:t>
              </a:r>
              <a:r>
                <a:rPr lang="en-US" altLang="zh-CN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7583619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61950" y="575791"/>
            <a:ext cx="11804650" cy="2313906"/>
            <a:chOff x="361950" y="1511895"/>
            <a:chExt cx="11804650" cy="2313906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511895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【变式训练】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复数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z=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cos </a:t>
              </a:r>
              <a:r>
                <a:rPr lang="en-US" altLang="zh-CN" i="1" dirty="0" err="1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θ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isin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θ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π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&lt;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θ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&lt;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的辐角的主值为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34261927"/>
                </p:ext>
              </p:extLst>
            </p:nvPr>
          </p:nvGraphicFramePr>
          <p:xfrm>
            <a:off x="504825" y="2803451"/>
            <a:ext cx="11661775" cy="1022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82" name="文档" r:id="rId4" imgW="3826872" imgH="339254" progId="Word.Document.12">
                    <p:embed/>
                  </p:oleObj>
                </mc:Choice>
                <mc:Fallback>
                  <p:oleObj name="文档" r:id="rId4" imgW="3826872" imgH="33925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04825" y="2803451"/>
                          <a:ext cx="11661775" cy="10223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1001295"/>
              </p:ext>
            </p:extLst>
          </p:nvPr>
        </p:nvGraphicFramePr>
        <p:xfrm>
          <a:off x="406118" y="2601847"/>
          <a:ext cx="11671959" cy="32335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3" name="文档" r:id="rId7" imgW="3826872" imgH="1060169" progId="Word.Document.12">
                  <p:embed/>
                </p:oleObj>
              </mc:Choice>
              <mc:Fallback>
                <p:oleObj name="文档" r:id="rId7" imgW="3826872" imgH="106016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06118" y="2601847"/>
                        <a:ext cx="11671959" cy="32335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>
            <a:spLocks noChangeAspect="1"/>
          </p:cNvSpPr>
          <p:nvPr/>
        </p:nvSpPr>
        <p:spPr>
          <a:xfrm>
            <a:off x="366997" y="5751852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336663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7396115"/>
              </p:ext>
            </p:extLst>
          </p:nvPr>
        </p:nvGraphicFramePr>
        <p:xfrm>
          <a:off x="432445" y="863823"/>
          <a:ext cx="11671959" cy="22656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6" name="文档" r:id="rId4" imgW="3826872" imgH="742837" progId="Word.Document.12">
                  <p:embed/>
                </p:oleObj>
              </mc:Choice>
              <mc:Fallback>
                <p:oleObj name="文档" r:id="rId4" imgW="3826872" imgH="74283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863823"/>
                        <a:ext cx="11671959" cy="22656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6339926"/>
              </p:ext>
            </p:extLst>
          </p:nvPr>
        </p:nvGraphicFramePr>
        <p:xfrm>
          <a:off x="430213" y="3154099"/>
          <a:ext cx="11645900" cy="227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7" name="文档" r:id="rId7" imgW="3837724" imgH="752158" progId="Word.Document.12">
                  <p:embed/>
                </p:oleObj>
              </mc:Choice>
              <mc:Fallback>
                <p:oleObj name="文档" r:id="rId7" imgW="3837724" imgH="75215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0213" y="3154099"/>
                        <a:ext cx="11645900" cy="2270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51035" y="5332455"/>
            <a:ext cx="1521570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61950" y="1084015"/>
            <a:ext cx="10807700" cy="417229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复数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 100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icos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100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的辐角的主值是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A.80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B.100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C.190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D.260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190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190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arg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190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7020784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61950" y="895636"/>
            <a:ext cx="10807700" cy="476322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两个复数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的模与辐角分别相等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=z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成立的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充分不必要条件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必要不充分条件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充要条件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既不充分又不必要条件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由两个复数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的模与辐角分别相等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可得出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=z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=z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得不出两个复数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的模与辐角分别相等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4943576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3627230"/>
              </p:ext>
            </p:extLst>
          </p:nvPr>
        </p:nvGraphicFramePr>
        <p:xfrm>
          <a:off x="504453" y="1670003"/>
          <a:ext cx="11705058" cy="7313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0" name="文档" r:id="rId4" imgW="3837724" imgH="239782" progId="Word.Document.12">
                  <p:embed/>
                </p:oleObj>
              </mc:Choice>
              <mc:Fallback>
                <p:oleObj name="文档" r:id="rId4" imgW="3837724" imgH="23978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1670003"/>
                        <a:ext cx="11705058" cy="7313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8642229"/>
              </p:ext>
            </p:extLst>
          </p:nvPr>
        </p:nvGraphicFramePr>
        <p:xfrm>
          <a:off x="504453" y="2469989"/>
          <a:ext cx="11705058" cy="7940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1" name="文档" r:id="rId7" imgW="3837724" imgH="260335" progId="Word.Document.12">
                  <p:embed/>
                </p:oleObj>
              </mc:Choice>
              <mc:Fallback>
                <p:oleObj name="文档" r:id="rId7" imgW="3837724" imgH="26033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4453" y="2469989"/>
                        <a:ext cx="11705058" cy="7940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5819990"/>
              </p:ext>
            </p:extLst>
          </p:nvPr>
        </p:nvGraphicFramePr>
        <p:xfrm>
          <a:off x="504453" y="3398195"/>
          <a:ext cx="11705058" cy="5619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2" name="文档" r:id="rId10" imgW="3837724" imgH="184253" progId="Word.Document.12">
                  <p:embed/>
                </p:oleObj>
              </mc:Choice>
              <mc:Fallback>
                <p:oleObj name="文档" r:id="rId10" imgW="3837724" imgH="18425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04453" y="3398195"/>
                        <a:ext cx="11705058" cy="5619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86644229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287825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复数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2(sin 10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icos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10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的三角形式为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2(sin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2[cos(270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isin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(270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)]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2(cos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2(cos 260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isin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260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8837139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105</TotalTime>
  <Words>970</Words>
  <Application>Microsoft Office PowerPoint</Application>
  <PresentationFormat>自定义</PresentationFormat>
  <Paragraphs>93</Paragraphs>
  <Slides>46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63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微软雅黑</vt:lpstr>
      <vt:lpstr>Arial</vt:lpstr>
      <vt:lpstr>Calibri</vt:lpstr>
      <vt:lpstr>Cambria Math</vt:lpstr>
      <vt:lpstr>Microsoft Yi Baiti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26</cp:revision>
  <dcterms:created xsi:type="dcterms:W3CDTF">2020-09-12T05:36:12Z</dcterms:created>
  <dcterms:modified xsi:type="dcterms:W3CDTF">2025-09-04T06:09:15Z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