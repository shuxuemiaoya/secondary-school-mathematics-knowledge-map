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wav" ContentType="audio/x-wav"/>
  <Default Extension="docx" ContentType="application/vnd.openxmlformats-officedocument.wordprocessingml.document"/>
  <Default Extension="vml" ContentType="application/vnd.openxmlformats-officedocument.vmlDrawing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41"/>
  </p:notesMasterIdLst>
  <p:sldIdLst>
    <p:sldId id="731" r:id="rId2"/>
    <p:sldId id="753" r:id="rId3"/>
    <p:sldId id="736" r:id="rId4"/>
    <p:sldId id="744" r:id="rId5"/>
    <p:sldId id="746" r:id="rId6"/>
    <p:sldId id="749" r:id="rId7"/>
    <p:sldId id="756" r:id="rId8"/>
    <p:sldId id="757" r:id="rId9"/>
    <p:sldId id="758" r:id="rId10"/>
    <p:sldId id="759" r:id="rId11"/>
    <p:sldId id="779" r:id="rId12"/>
    <p:sldId id="760" r:id="rId13"/>
    <p:sldId id="761" r:id="rId14"/>
    <p:sldId id="762" r:id="rId15"/>
    <p:sldId id="763" r:id="rId16"/>
    <p:sldId id="737" r:id="rId17"/>
    <p:sldId id="750" r:id="rId18"/>
    <p:sldId id="764" r:id="rId19"/>
    <p:sldId id="765" r:id="rId20"/>
    <p:sldId id="766" r:id="rId21"/>
    <p:sldId id="767" r:id="rId22"/>
    <p:sldId id="754" r:id="rId23"/>
    <p:sldId id="768" r:id="rId24"/>
    <p:sldId id="769" r:id="rId25"/>
    <p:sldId id="770" r:id="rId26"/>
    <p:sldId id="755" r:id="rId27"/>
    <p:sldId id="771" r:id="rId28"/>
    <p:sldId id="772" r:id="rId29"/>
    <p:sldId id="773" r:id="rId30"/>
    <p:sldId id="747" r:id="rId31"/>
    <p:sldId id="751" r:id="rId32"/>
    <p:sldId id="774" r:id="rId33"/>
    <p:sldId id="775" r:id="rId34"/>
    <p:sldId id="748" r:id="rId35"/>
    <p:sldId id="752" r:id="rId36"/>
    <p:sldId id="776" r:id="rId37"/>
    <p:sldId id="777" r:id="rId38"/>
    <p:sldId id="778" r:id="rId39"/>
    <p:sldId id="735" r:id="rId40"/>
  </p:sldIdLst>
  <p:sldSz cx="11522075" cy="6480175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buFont typeface="Arial" panose="020B0604020202020204" pitchFamily="34" charset="0"/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buFont typeface="Arial" panose="020B0604020202020204" pitchFamily="34" charset="0"/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buFont typeface="Arial" panose="020B0604020202020204" pitchFamily="34" charset="0"/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buFont typeface="Arial" panose="020B0604020202020204" pitchFamily="34" charset="0"/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buFont typeface="Arial" panose="020B0604020202020204" pitchFamily="34" charset="0"/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5pPr>
    <a:lvl6pPr marL="2286000" algn="l" defTabSz="914400" rtl="0" eaLnBrk="1" latinLnBrk="0" hangingPunct="1"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6pPr>
    <a:lvl7pPr marL="2743200" algn="l" defTabSz="914400" rtl="0" eaLnBrk="1" latinLnBrk="0" hangingPunct="1"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7pPr>
    <a:lvl8pPr marL="3200400" algn="l" defTabSz="914400" rtl="0" eaLnBrk="1" latinLnBrk="0" hangingPunct="1"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8pPr>
    <a:lvl9pPr marL="3657600" algn="l" defTabSz="914400" rtl="0" eaLnBrk="1" latinLnBrk="0" hangingPunct="1"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059">
          <p15:clr>
            <a:srgbClr val="A4A3A4"/>
          </p15:clr>
        </p15:guide>
        <p15:guide id="2" pos="3629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6600"/>
    <a:srgbClr val="FF9933"/>
    <a:srgbClr val="FF3399"/>
    <a:srgbClr val="FF7C80"/>
    <a:srgbClr val="FFFFFF"/>
    <a:srgbClr val="C6A7DD"/>
    <a:srgbClr val="9E5ECE"/>
    <a:srgbClr val="D60093"/>
    <a:srgbClr val="934BC9"/>
    <a:srgbClr val="3399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4" autoAdjust="0"/>
    <p:restoredTop sz="94591" autoAdjust="0"/>
  </p:normalViewPr>
  <p:slideViewPr>
    <p:cSldViewPr>
      <p:cViewPr varScale="1">
        <p:scale>
          <a:sx n="97" d="100"/>
          <a:sy n="97" d="100"/>
        </p:scale>
        <p:origin x="504" y="78"/>
      </p:cViewPr>
      <p:guideLst>
        <p:guide orient="horz" pos="2059"/>
        <p:guide pos="3629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30" d="100"/>
        <a:sy n="13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0" Type="http://schemas.openxmlformats.org/officeDocument/2006/relationships/slide" Target="slides/slide19.xml"/><Relationship Id="rId41" Type="http://schemas.openxmlformats.org/officeDocument/2006/relationships/notesMaster" Target="notesMasters/notes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emf"/></Relationships>
</file>

<file path=ppt/drawings/_rels/vmlDrawing2.v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image" Target="../media/image5.emf"/><Relationship Id="rId1" Type="http://schemas.openxmlformats.org/officeDocument/2006/relationships/image" Target="../media/image4.emf"/><Relationship Id="rId4" Type="http://schemas.openxmlformats.org/officeDocument/2006/relationships/image" Target="../media/image7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emf"/></Relationships>
</file>

<file path=ppt/drawings/_rels/vmlDrawing4.vml.rels><?xml version="1.0" encoding="UTF-8" standalone="yes"?>
<Relationships xmlns="http://schemas.openxmlformats.org/package/2006/relationships"><Relationship Id="rId2" Type="http://schemas.openxmlformats.org/officeDocument/2006/relationships/image" Target="../media/image10.emf"/><Relationship Id="rId1" Type="http://schemas.openxmlformats.org/officeDocument/2006/relationships/image" Target="../media/image9.e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.emf"/></Relationships>
</file>

<file path=ppt/drawings/_rels/vmlDrawing6.vml.rels><?xml version="1.0" encoding="UTF-8" standalone="yes"?>
<Relationships xmlns="http://schemas.openxmlformats.org/package/2006/relationships"><Relationship Id="rId2" Type="http://schemas.openxmlformats.org/officeDocument/2006/relationships/image" Target="../media/image13.emf"/><Relationship Id="rId1" Type="http://schemas.openxmlformats.org/officeDocument/2006/relationships/image" Target="../media/image12.e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14.e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15.emf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../media/image16.emf"/></Relationships>
</file>

<file path=ppt/drawings/_rels/vmlDrawing10.vml.rels><?xml version="1.0" encoding="UTF-8" standalone="yes"?>
<Relationships xmlns="http://schemas.openxmlformats.org/package/2006/relationships"><Relationship Id="rId1" Type="http://schemas.openxmlformats.org/officeDocument/2006/relationships/image" Target="../media/image18.emf"/></Relationships>
</file>

<file path=ppt/drawings/_rels/vmlDrawing1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9.emf"/></Relationships>
</file>

<file path=ppt/drawings/_rels/vmlDrawing12.vml.rels><?xml version="1.0" encoding="UTF-8" standalone="yes"?>
<Relationships xmlns="http://schemas.openxmlformats.org/package/2006/relationships"><Relationship Id="rId1" Type="http://schemas.openxmlformats.org/officeDocument/2006/relationships/image" Target="../media/image20.emf"/></Relationships>
</file>

<file path=ppt/drawings/_rels/vmlDrawing13.vml.rels><?xml version="1.0" encoding="UTF-8" standalone="yes"?>
<Relationships xmlns="http://schemas.openxmlformats.org/package/2006/relationships"><Relationship Id="rId1" Type="http://schemas.openxmlformats.org/officeDocument/2006/relationships/image" Target="../media/image21.emf"/></Relationships>
</file>

<file path=ppt/drawings/_rels/vmlDrawing14.vml.rels><?xml version="1.0" encoding="UTF-8" standalone="yes"?>
<Relationships xmlns="http://schemas.openxmlformats.org/package/2006/relationships"><Relationship Id="rId1" Type="http://schemas.openxmlformats.org/officeDocument/2006/relationships/image" Target="../media/image22.emf"/></Relationships>
</file>

<file path=ppt/drawings/_rels/vmlDrawing15.vml.rels><?xml version="1.0" encoding="UTF-8" standalone="yes"?>
<Relationships xmlns="http://schemas.openxmlformats.org/package/2006/relationships"><Relationship Id="rId2" Type="http://schemas.openxmlformats.org/officeDocument/2006/relationships/image" Target="../media/image24.emf"/><Relationship Id="rId1" Type="http://schemas.openxmlformats.org/officeDocument/2006/relationships/image" Target="../media/image23.emf"/></Relationships>
</file>

<file path=ppt/drawings/_rels/vmlDrawing16.vml.rels><?xml version="1.0" encoding="UTF-8" standalone="yes"?>
<Relationships xmlns="http://schemas.openxmlformats.org/package/2006/relationships"><Relationship Id="rId1" Type="http://schemas.openxmlformats.org/officeDocument/2006/relationships/image" Target="../media/image25.emf"/></Relationships>
</file>

<file path=ppt/drawings/_rels/vmlDrawing17.vml.rels><?xml version="1.0" encoding="UTF-8" standalone="yes"?>
<Relationships xmlns="http://schemas.openxmlformats.org/package/2006/relationships"><Relationship Id="rId1" Type="http://schemas.openxmlformats.org/officeDocument/2006/relationships/image" Target="../media/image26.emf"/></Relationships>
</file>

<file path=ppt/drawings/_rels/vmlDrawing18.vml.rels><?xml version="1.0" encoding="UTF-8" standalone="yes"?>
<Relationships xmlns="http://schemas.openxmlformats.org/package/2006/relationships"><Relationship Id="rId1" Type="http://schemas.openxmlformats.org/officeDocument/2006/relationships/image" Target="../media/image27.emf"/></Relationships>
</file>

<file path=ppt/drawings/_rels/vmlDrawing19.vml.rels><?xml version="1.0" encoding="UTF-8" standalone="yes"?>
<Relationships xmlns="http://schemas.openxmlformats.org/package/2006/relationships"><Relationship Id="rId2" Type="http://schemas.openxmlformats.org/officeDocument/2006/relationships/image" Target="../media/image29.emf"/><Relationship Id="rId1" Type="http://schemas.openxmlformats.org/officeDocument/2006/relationships/image" Target="../media/image28.emf"/></Relationships>
</file>

<file path=ppt/drawings/_rels/vmlDrawing20.vml.rels><?xml version="1.0" encoding="UTF-8" standalone="yes"?>
<Relationships xmlns="http://schemas.openxmlformats.org/package/2006/relationships"><Relationship Id="rId1" Type="http://schemas.openxmlformats.org/officeDocument/2006/relationships/image" Target="../media/image30.emf"/></Relationships>
</file>

<file path=ppt/drawings/_rels/vmlDrawing21.vml.rels><?xml version="1.0" encoding="UTF-8" standalone="yes"?>
<Relationships xmlns="http://schemas.openxmlformats.org/package/2006/relationships"><Relationship Id="rId3" Type="http://schemas.openxmlformats.org/officeDocument/2006/relationships/image" Target="../media/image34.emf"/><Relationship Id="rId2" Type="http://schemas.openxmlformats.org/officeDocument/2006/relationships/image" Target="../media/image33.emf"/><Relationship Id="rId1" Type="http://schemas.openxmlformats.org/officeDocument/2006/relationships/image" Target="../media/image32.emf"/><Relationship Id="rId4" Type="http://schemas.openxmlformats.org/officeDocument/2006/relationships/image" Target="../media/image35.emf"/></Relationships>
</file>

<file path=ppt/drawings/_rels/vmlDrawing22.vml.rels><?xml version="1.0" encoding="UTF-8" standalone="yes"?>
<Relationships xmlns="http://schemas.openxmlformats.org/package/2006/relationships"><Relationship Id="rId2" Type="http://schemas.openxmlformats.org/officeDocument/2006/relationships/image" Target="../media/image37.emf"/><Relationship Id="rId1" Type="http://schemas.openxmlformats.org/officeDocument/2006/relationships/image" Target="../media/image36.emf"/></Relationships>
</file>

<file path=ppt/drawings/_rels/vmlDrawing23.vml.rels><?xml version="1.0" encoding="UTF-8" standalone="yes"?>
<Relationships xmlns="http://schemas.openxmlformats.org/package/2006/relationships"><Relationship Id="rId2" Type="http://schemas.openxmlformats.org/officeDocument/2006/relationships/image" Target="../media/image39.emf"/><Relationship Id="rId1" Type="http://schemas.openxmlformats.org/officeDocument/2006/relationships/image" Target="../media/image38.emf"/></Relationships>
</file>

<file path=ppt/drawings/_rels/vmlDrawing24.vml.rels><?xml version="1.0" encoding="UTF-8" standalone="yes"?>
<Relationships xmlns="http://schemas.openxmlformats.org/package/2006/relationships"><Relationship Id="rId2" Type="http://schemas.openxmlformats.org/officeDocument/2006/relationships/image" Target="../media/image41.emf"/><Relationship Id="rId1" Type="http://schemas.openxmlformats.org/officeDocument/2006/relationships/image" Target="../media/image40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buFontTx/>
              <a:buNone/>
              <a:defRPr sz="1200" b="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buFontTx/>
              <a:buNone/>
              <a:defRPr sz="1200" b="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124" name="幻灯片图像占位符 3"/>
          <p:cNvSpPr>
            <a:spLocks noGrp="1" noRot="1" noChangeAspect="1" noChangeArrowheads="1"/>
          </p:cNvSpPr>
          <p:nvPr>
            <p:ph type="sldImg" idx="4294967295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buFontTx/>
              <a:buNone/>
              <a:defRPr sz="1200" b="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noProof="1" dirty="0">
                <a:ea typeface="黑体" panose="02010609060101010101" pitchFamily="49" charset="-122"/>
              </a:defRPr>
            </a:lvl1pPr>
          </a:lstStyle>
          <a:p>
            <a:fld id="{A64CA497-71E0-4184-919F-D45F39379D11}" type="slidenum">
              <a:rPr lang="zh-CN" altLang="en-US"/>
              <a:pPr/>
              <a:t>‹#›</a:t>
            </a:fld>
            <a:endParaRPr lang="zh-CN" altLang="en-US"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747822530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4CA497-71E0-4184-919F-D45F39379D11}" type="slidenum">
              <a:rPr lang="zh-CN" altLang="en-US" smtClean="0"/>
              <a:pPr/>
              <a:t>39</a:t>
            </a:fld>
            <a:endParaRPr lang="zh-CN" altLang="en-US"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8581476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标题幻灯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61196167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标题幻灯片">
    <p:bg>
      <p:bgPr>
        <a:pattFill prst="lgGrid">
          <a:fgClr>
            <a:schemeClr val="bg2">
              <a:lumMod val="90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云形标注 7"/>
          <p:cNvSpPr/>
          <p:nvPr userDrawn="1"/>
        </p:nvSpPr>
        <p:spPr>
          <a:xfrm>
            <a:off x="8868398" y="132726"/>
            <a:ext cx="2460413" cy="1360458"/>
          </a:xfrm>
          <a:prstGeom prst="cloudCallou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6600" dirty="0" smtClean="0">
                <a:solidFill>
                  <a:srgbClr val="FF0000"/>
                </a:solidFill>
              </a:rPr>
              <a:t>   </a:t>
            </a:r>
            <a:r>
              <a:rPr lang="zh-CN" altLang="en-US" sz="8800" dirty="0" smtClean="0">
                <a:solidFill>
                  <a:srgbClr val="FF0000"/>
                </a:solidFill>
              </a:rPr>
              <a:t>？</a:t>
            </a:r>
            <a:endParaRPr lang="zh-CN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92716598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2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7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<p:cBhvr>
                                        <p:cTn id="8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1" animBg="1"/>
    </p:bld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标题幻灯片">
    <p:bg>
      <p:bgPr>
        <a:pattFill prst="pct5">
          <a:fgClr>
            <a:schemeClr val="bg2">
              <a:lumMod val="75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75108201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5246955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4103702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128942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标题幻灯片">
    <p:bg>
      <p:bgPr>
        <a:gradFill>
          <a:gsLst>
            <a:gs pos="61000">
              <a:schemeClr val="bg2">
                <a:lumMod val="90000"/>
              </a:schemeClr>
            </a:gs>
            <a:gs pos="100000">
              <a:schemeClr val="bg2">
                <a:lumMod val="50000"/>
              </a:schemeClr>
            </a:gs>
            <a:gs pos="0">
              <a:schemeClr val="bg2">
                <a:lumMod val="50000"/>
              </a:schemeClr>
            </a:gs>
            <a:gs pos="40000">
              <a:schemeClr val="bg2">
                <a:lumMod val="9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801617" y="1129203"/>
            <a:ext cx="10071988" cy="3046988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zh-CN" altLang="en-US" sz="9600" dirty="0" smtClean="0">
                <a:solidFill>
                  <a:schemeClr val="accent2"/>
                </a:solidFill>
                <a:effectLst>
                  <a:outerShdw dist="50800" dir="5400000" algn="ctr" rotWithShape="0">
                    <a:srgbClr val="000000">
                      <a:alpha val="60000"/>
                    </a:srgbClr>
                  </a:outerShdw>
                </a:effectLst>
                <a:latin typeface="隶书" panose="02010509060101010101" pitchFamily="49" charset="-122"/>
                <a:ea typeface="隶书" panose="02010509060101010101" pitchFamily="49" charset="-122"/>
              </a:rPr>
              <a:t>十年寒窗磨利剑，</a:t>
            </a:r>
            <a:endParaRPr lang="en-US" altLang="zh-CN" sz="9600" dirty="0" smtClean="0">
              <a:solidFill>
                <a:schemeClr val="accent2"/>
              </a:solidFill>
              <a:effectLst>
                <a:outerShdw dist="50800" dir="5400000" algn="ctr" rotWithShape="0">
                  <a:srgbClr val="000000">
                    <a:alpha val="60000"/>
                  </a:srgbClr>
                </a:outerShdw>
              </a:effectLst>
              <a:latin typeface="隶书" panose="02010509060101010101" pitchFamily="49" charset="-122"/>
              <a:ea typeface="隶书" panose="02010509060101010101" pitchFamily="49" charset="-122"/>
            </a:endParaRPr>
          </a:p>
          <a:p>
            <a:r>
              <a:rPr lang="zh-CN" altLang="en-US" sz="9600" dirty="0" smtClean="0">
                <a:solidFill>
                  <a:schemeClr val="accent2"/>
                </a:solidFill>
                <a:effectLst>
                  <a:outerShdw dist="50800" dir="5400000" algn="ctr" rotWithShape="0">
                    <a:srgbClr val="000000">
                      <a:alpha val="60000"/>
                    </a:srgbClr>
                  </a:outerShdw>
                </a:effectLst>
                <a:latin typeface="隶书" panose="02010509060101010101" pitchFamily="49" charset="-122"/>
                <a:ea typeface="隶书" panose="02010509060101010101" pitchFamily="49" charset="-122"/>
              </a:rPr>
              <a:t>一朝折桂展宏图！</a:t>
            </a:r>
            <a:endParaRPr lang="en-US" altLang="zh-CN" sz="9600" dirty="0" smtClean="0">
              <a:solidFill>
                <a:schemeClr val="accent2"/>
              </a:solidFill>
              <a:effectLst>
                <a:outerShdw dist="50800" dir="5400000" algn="ctr" rotWithShape="0">
                  <a:srgbClr val="000000">
                    <a:alpha val="60000"/>
                  </a:srgbClr>
                </a:outerShdw>
              </a:effectLst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26079027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audio" Target="../media/audio1.wav"/><Relationship Id="rId5" Type="http://schemas.openxmlformats.org/officeDocument/2006/relationships/slideLayout" Target="../slideLayouts/slideLayout5.xml"/><Relationship Id="rId10" Type="http://schemas.openxmlformats.org/officeDocument/2006/relationships/slide" Target="../slides/slide4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 userDrawn="1"/>
        </p:nvGrpSpPr>
        <p:grpSpPr>
          <a:xfrm>
            <a:off x="-1" y="36116"/>
            <a:ext cx="11522075" cy="611683"/>
            <a:chOff x="-1" y="36116"/>
            <a:chExt cx="11522075" cy="611683"/>
          </a:xfrm>
        </p:grpSpPr>
        <p:sp>
          <p:nvSpPr>
            <p:cNvPr id="7" name="矩形 6"/>
            <p:cNvSpPr/>
            <p:nvPr userDrawn="1"/>
          </p:nvSpPr>
          <p:spPr>
            <a:xfrm>
              <a:off x="-1" y="359767"/>
              <a:ext cx="11522075" cy="288032"/>
            </a:xfrm>
            <a:prstGeom prst="rect">
              <a:avLst/>
            </a:prstGeom>
            <a:gradFill flip="none" rotWithShape="1">
              <a:gsLst>
                <a:gs pos="65000">
                  <a:schemeClr val="bg2">
                    <a:lumMod val="90000"/>
                  </a:schemeClr>
                </a:gs>
                <a:gs pos="38000">
                  <a:schemeClr val="bg2">
                    <a:lumMod val="75000"/>
                  </a:schemeClr>
                </a:gs>
                <a:gs pos="1000">
                  <a:srgbClr val="0070C0"/>
                </a:gs>
                <a:gs pos="100000">
                  <a:schemeClr val="bg1"/>
                </a:gs>
              </a:gsLst>
              <a:path path="circle">
                <a:fillToRect r="100000" b="100000"/>
              </a:path>
              <a:tileRect l="-100000" t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8" name="图片 7"/>
            <p:cNvPicPr>
              <a:picLocks noChangeAspect="1"/>
            </p:cNvPicPr>
            <p:nvPr userDrawn="1"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88429" y="36116"/>
              <a:ext cx="576064" cy="576064"/>
            </a:xfrm>
            <a:prstGeom prst="rect">
              <a:avLst/>
            </a:prstGeom>
          </p:spPr>
        </p:pic>
      </p:grpSp>
      <p:sp>
        <p:nvSpPr>
          <p:cNvPr id="9" name="矩形 8"/>
          <p:cNvSpPr/>
          <p:nvPr userDrawn="1"/>
        </p:nvSpPr>
        <p:spPr>
          <a:xfrm>
            <a:off x="-9728" y="6404527"/>
            <a:ext cx="11522074" cy="72008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chemeClr val="bg2">
                    <a:lumMod val="50000"/>
                  </a:schemeClr>
                </a:solidFill>
              </a:ln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10" name="云形标注 9">
            <a:hlinkClick r:id="rId10" action="ppaction://hlinksldjump">
              <a:snd r:embed="rId11" name="camera.wav"/>
            </a:hlinkClick>
          </p:cNvPr>
          <p:cNvSpPr/>
          <p:nvPr userDrawn="1"/>
        </p:nvSpPr>
        <p:spPr>
          <a:xfrm>
            <a:off x="10441557" y="42551"/>
            <a:ext cx="864096" cy="432048"/>
          </a:xfrm>
          <a:prstGeom prst="cloudCallou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 smtClean="0"/>
              <a:t>  </a:t>
            </a:r>
            <a:r>
              <a:rPr lang="zh-CN" altLang="en-US" dirty="0" smtClean="0">
                <a:solidFill>
                  <a:srgbClr val="FF0000"/>
                </a:solidFill>
              </a:rPr>
              <a:t>？</a:t>
            </a:r>
            <a:endParaRPr lang="zh-CN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455861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95" r:id="rId2"/>
    <p:sldLayoutId id="2147483697" r:id="rId3"/>
    <p:sldLayoutId id="2147483690" r:id="rId4"/>
    <p:sldLayoutId id="2147483691" r:id="rId5"/>
    <p:sldLayoutId id="2147483692" r:id="rId6"/>
    <p:sldLayoutId id="2147483694" r:id="rId7"/>
  </p:sldLayoutIdLst>
  <p:timing>
    <p:tnLst>
      <p:par>
        <p:cTn id="1" dur="indefinite" restart="never" nodeType="tmRoot"/>
      </p:par>
    </p:tnLst>
  </p:timing>
  <p:txStyles>
    <p:titleStyle>
      <a:lvl1pPr algn="ctr" rtl="0" eaLnBrk="1" fontAlgn="base" hangingPunct="1">
        <a:spcBef>
          <a:spcPct val="0"/>
        </a:spcBef>
        <a:spcAft>
          <a:spcPct val="0"/>
        </a:spcAft>
        <a:defRPr sz="4158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158">
          <a:solidFill>
            <a:schemeClr val="tx1"/>
          </a:solidFill>
          <a:latin typeface="Arial" charset="0"/>
          <a:ea typeface="黑体" pitchFamily="2" charset="-122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158">
          <a:solidFill>
            <a:schemeClr val="tx1"/>
          </a:solidFill>
          <a:latin typeface="Arial" charset="0"/>
          <a:ea typeface="黑体" pitchFamily="2" charset="-122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158">
          <a:solidFill>
            <a:schemeClr val="tx1"/>
          </a:solidFill>
          <a:latin typeface="Arial" charset="0"/>
          <a:ea typeface="黑体" pitchFamily="2" charset="-122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158">
          <a:solidFill>
            <a:schemeClr val="tx1"/>
          </a:solidFill>
          <a:latin typeface="Arial" charset="0"/>
          <a:ea typeface="黑体" pitchFamily="2" charset="-122"/>
        </a:defRPr>
      </a:lvl5pPr>
      <a:lvl6pPr marL="432008" algn="ctr" rtl="0" eaLnBrk="1" fontAlgn="base" hangingPunct="1">
        <a:spcBef>
          <a:spcPct val="0"/>
        </a:spcBef>
        <a:spcAft>
          <a:spcPct val="0"/>
        </a:spcAft>
        <a:defRPr sz="4158">
          <a:solidFill>
            <a:schemeClr val="tx1"/>
          </a:solidFill>
          <a:latin typeface="Arial" charset="0"/>
          <a:ea typeface="黑体" pitchFamily="2" charset="-122"/>
        </a:defRPr>
      </a:lvl6pPr>
      <a:lvl7pPr marL="864017" algn="ctr" rtl="0" eaLnBrk="1" fontAlgn="base" hangingPunct="1">
        <a:spcBef>
          <a:spcPct val="0"/>
        </a:spcBef>
        <a:spcAft>
          <a:spcPct val="0"/>
        </a:spcAft>
        <a:defRPr sz="4158">
          <a:solidFill>
            <a:schemeClr val="tx1"/>
          </a:solidFill>
          <a:latin typeface="Arial" charset="0"/>
          <a:ea typeface="黑体" pitchFamily="2" charset="-122"/>
        </a:defRPr>
      </a:lvl7pPr>
      <a:lvl8pPr marL="1296025" algn="ctr" rtl="0" eaLnBrk="1" fontAlgn="base" hangingPunct="1">
        <a:spcBef>
          <a:spcPct val="0"/>
        </a:spcBef>
        <a:spcAft>
          <a:spcPct val="0"/>
        </a:spcAft>
        <a:defRPr sz="4158">
          <a:solidFill>
            <a:schemeClr val="tx1"/>
          </a:solidFill>
          <a:latin typeface="Arial" charset="0"/>
          <a:ea typeface="黑体" pitchFamily="2" charset="-122"/>
        </a:defRPr>
      </a:lvl8pPr>
      <a:lvl9pPr marL="1728033" algn="ctr" rtl="0" eaLnBrk="1" fontAlgn="base" hangingPunct="1">
        <a:spcBef>
          <a:spcPct val="0"/>
        </a:spcBef>
        <a:spcAft>
          <a:spcPct val="0"/>
        </a:spcAft>
        <a:defRPr sz="4158">
          <a:solidFill>
            <a:schemeClr val="tx1"/>
          </a:solidFill>
          <a:latin typeface="Arial" charset="0"/>
          <a:ea typeface="黑体" pitchFamily="2" charset="-122"/>
        </a:defRPr>
      </a:lvl9pPr>
    </p:titleStyle>
    <p:bodyStyle>
      <a:lvl1pPr marL="324006" indent="-324006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3024" kern="1200">
          <a:solidFill>
            <a:schemeClr val="tx1"/>
          </a:solidFill>
          <a:latin typeface="+mn-lt"/>
          <a:ea typeface="+mn-ea"/>
          <a:cs typeface="+mn-cs"/>
        </a:defRPr>
      </a:lvl1pPr>
      <a:lvl2pPr marL="702013" indent="-270005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646" kern="1200">
          <a:solidFill>
            <a:schemeClr val="tx1"/>
          </a:solidFill>
          <a:latin typeface="+mn-lt"/>
          <a:ea typeface="+mn-ea"/>
          <a:cs typeface="+mn-cs"/>
        </a:defRPr>
      </a:lvl2pPr>
      <a:lvl3pPr marL="1080021" indent="-216004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2268" kern="1200">
          <a:solidFill>
            <a:schemeClr val="tx1"/>
          </a:solidFill>
          <a:latin typeface="+mn-lt"/>
          <a:ea typeface="+mn-ea"/>
          <a:cs typeface="+mn-cs"/>
        </a:defRPr>
      </a:lvl3pPr>
      <a:lvl4pPr marL="1512029" indent="-216004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1890" kern="1200">
          <a:solidFill>
            <a:schemeClr val="tx1"/>
          </a:solidFill>
          <a:latin typeface="+mn-lt"/>
          <a:ea typeface="+mn-ea"/>
          <a:cs typeface="+mn-cs"/>
        </a:defRPr>
      </a:lvl4pPr>
      <a:lvl5pPr marL="1944037" indent="-216004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sz="1890" kern="1200">
          <a:solidFill>
            <a:schemeClr val="tx1"/>
          </a:solidFill>
          <a:latin typeface="+mn-lt"/>
          <a:ea typeface="+mn-ea"/>
          <a:cs typeface="+mn-cs"/>
        </a:defRPr>
      </a:lvl5pPr>
      <a:lvl6pPr marL="2376046" indent="-216004" algn="l" defTabSz="864017" rtl="0" eaLnBrk="1" latinLnBrk="0" hangingPunct="1">
        <a:spcBef>
          <a:spcPct val="20000"/>
        </a:spcBef>
        <a:buFont typeface="Arial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6pPr>
      <a:lvl7pPr marL="2808054" indent="-216004" algn="l" defTabSz="864017" rtl="0" eaLnBrk="1" latinLnBrk="0" hangingPunct="1">
        <a:spcBef>
          <a:spcPct val="20000"/>
        </a:spcBef>
        <a:buFont typeface="Arial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7pPr>
      <a:lvl8pPr marL="3240062" indent="-216004" algn="l" defTabSz="864017" rtl="0" eaLnBrk="1" latinLnBrk="0" hangingPunct="1">
        <a:spcBef>
          <a:spcPct val="20000"/>
        </a:spcBef>
        <a:buFont typeface="Arial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8pPr>
      <a:lvl9pPr marL="3672070" indent="-216004" algn="l" defTabSz="864017" rtl="0" eaLnBrk="1" latinLnBrk="0" hangingPunct="1">
        <a:spcBef>
          <a:spcPct val="20000"/>
        </a:spcBef>
        <a:buFont typeface="Arial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1pPr>
      <a:lvl2pPr marL="432008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2pPr>
      <a:lvl3pPr marL="864017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3pPr>
      <a:lvl4pPr marL="1296025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4pPr>
      <a:lvl5pPr marL="1728033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5pPr>
      <a:lvl6pPr marL="2160041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6pPr>
      <a:lvl7pPr marL="2592050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7pPr>
      <a:lvl8pPr marL="3024058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8pPr>
      <a:lvl9pPr marL="3456066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audio" Target="../media/audio2.wav"/><Relationship Id="rId2" Type="http://schemas.openxmlformats.org/officeDocument/2006/relationships/slide" Target="slide5.xml"/><Relationship Id="rId1" Type="http://schemas.openxmlformats.org/officeDocument/2006/relationships/slideLayout" Target="../slideLayouts/slideLayout3.xml"/><Relationship Id="rId6" Type="http://schemas.openxmlformats.org/officeDocument/2006/relationships/slide" Target="slide34.xml"/><Relationship Id="rId5" Type="http://schemas.openxmlformats.org/officeDocument/2006/relationships/slide" Target="slide30.xml"/><Relationship Id="rId4" Type="http://schemas.openxmlformats.org/officeDocument/2006/relationships/slide" Target="slide1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5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3.emf"/><Relationship Id="rId4" Type="http://schemas.openxmlformats.org/officeDocument/2006/relationships/package" Target="../embeddings/Microsoft_Word___1.docx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emf"/><Relationship Id="rId13" Type="http://schemas.openxmlformats.org/officeDocument/2006/relationships/package" Target="../embeddings/Microsoft_Word___5.docx"/><Relationship Id="rId3" Type="http://schemas.openxmlformats.org/officeDocument/2006/relationships/oleObject" Target="../embeddings/oleObject2.bin"/><Relationship Id="rId7" Type="http://schemas.openxmlformats.org/officeDocument/2006/relationships/package" Target="../embeddings/Microsoft_Word___3.docx"/><Relationship Id="rId12" Type="http://schemas.openxmlformats.org/officeDocument/2006/relationships/oleObject" Target="../embeddings/oleObject5.bin"/><Relationship Id="rId2" Type="http://schemas.openxmlformats.org/officeDocument/2006/relationships/slideLayout" Target="../slideLayouts/slideLayout5.xml"/><Relationship Id="rId1" Type="http://schemas.openxmlformats.org/officeDocument/2006/relationships/vmlDrawing" Target="../drawings/vmlDrawing2.vml"/><Relationship Id="rId6" Type="http://schemas.openxmlformats.org/officeDocument/2006/relationships/oleObject" Target="../embeddings/oleObject3.bin"/><Relationship Id="rId11" Type="http://schemas.openxmlformats.org/officeDocument/2006/relationships/image" Target="../media/image6.emf"/><Relationship Id="rId5" Type="http://schemas.openxmlformats.org/officeDocument/2006/relationships/image" Target="../media/image4.emf"/><Relationship Id="rId10" Type="http://schemas.openxmlformats.org/officeDocument/2006/relationships/package" Target="../embeddings/Microsoft_Word___4.docx"/><Relationship Id="rId4" Type="http://schemas.openxmlformats.org/officeDocument/2006/relationships/package" Target="../embeddings/Microsoft_Word___2.docx"/><Relationship Id="rId9" Type="http://schemas.openxmlformats.org/officeDocument/2006/relationships/oleObject" Target="../embeddings/oleObject4.bin"/><Relationship Id="rId14" Type="http://schemas.openxmlformats.org/officeDocument/2006/relationships/image" Target="../media/image7.emf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Layout" Target="../slideLayouts/slideLayout5.xml"/><Relationship Id="rId1" Type="http://schemas.openxmlformats.org/officeDocument/2006/relationships/vmlDrawing" Target="../drawings/vmlDrawing3.vml"/><Relationship Id="rId5" Type="http://schemas.openxmlformats.org/officeDocument/2006/relationships/image" Target="../media/image8.emf"/><Relationship Id="rId4" Type="http://schemas.openxmlformats.org/officeDocument/2006/relationships/package" Target="../embeddings/Microsoft_Word___6.docx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emf"/><Relationship Id="rId3" Type="http://schemas.openxmlformats.org/officeDocument/2006/relationships/oleObject" Target="../embeddings/oleObject7.bin"/><Relationship Id="rId7" Type="http://schemas.openxmlformats.org/officeDocument/2006/relationships/package" Target="../embeddings/Microsoft_Word___8.docx"/><Relationship Id="rId2" Type="http://schemas.openxmlformats.org/officeDocument/2006/relationships/slideLayout" Target="../slideLayouts/slideLayout5.xml"/><Relationship Id="rId1" Type="http://schemas.openxmlformats.org/officeDocument/2006/relationships/vmlDrawing" Target="../drawings/vmlDrawing4.vml"/><Relationship Id="rId6" Type="http://schemas.openxmlformats.org/officeDocument/2006/relationships/oleObject" Target="../embeddings/oleObject8.bin"/><Relationship Id="rId5" Type="http://schemas.openxmlformats.org/officeDocument/2006/relationships/image" Target="../media/image9.emf"/><Relationship Id="rId4" Type="http://schemas.openxmlformats.org/officeDocument/2006/relationships/package" Target="../embeddings/Microsoft_Word___7.docx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.bin"/><Relationship Id="rId2" Type="http://schemas.openxmlformats.org/officeDocument/2006/relationships/slideLayout" Target="../slideLayouts/slideLayout5.xml"/><Relationship Id="rId1" Type="http://schemas.openxmlformats.org/officeDocument/2006/relationships/vmlDrawing" Target="../drawings/vmlDrawing5.vml"/><Relationship Id="rId5" Type="http://schemas.openxmlformats.org/officeDocument/2006/relationships/image" Target="../media/image11.emf"/><Relationship Id="rId4" Type="http://schemas.openxmlformats.org/officeDocument/2006/relationships/package" Target="../embeddings/Microsoft_Word___9.docx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emf"/><Relationship Id="rId3" Type="http://schemas.openxmlformats.org/officeDocument/2006/relationships/oleObject" Target="../embeddings/oleObject10.bin"/><Relationship Id="rId7" Type="http://schemas.openxmlformats.org/officeDocument/2006/relationships/package" Target="../embeddings/Microsoft_Word___11.docx"/><Relationship Id="rId2" Type="http://schemas.openxmlformats.org/officeDocument/2006/relationships/slideLayout" Target="../slideLayouts/slideLayout5.xml"/><Relationship Id="rId1" Type="http://schemas.openxmlformats.org/officeDocument/2006/relationships/vmlDrawing" Target="../drawings/vmlDrawing6.vml"/><Relationship Id="rId6" Type="http://schemas.openxmlformats.org/officeDocument/2006/relationships/oleObject" Target="../embeddings/oleObject11.bin"/><Relationship Id="rId5" Type="http://schemas.openxmlformats.org/officeDocument/2006/relationships/image" Target="../media/image12.emf"/><Relationship Id="rId4" Type="http://schemas.openxmlformats.org/officeDocument/2006/relationships/package" Target="../embeddings/Microsoft_Word___10.docx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2.bin"/><Relationship Id="rId2" Type="http://schemas.openxmlformats.org/officeDocument/2006/relationships/slideLayout" Target="../slideLayouts/slideLayout5.xml"/><Relationship Id="rId1" Type="http://schemas.openxmlformats.org/officeDocument/2006/relationships/vmlDrawing" Target="../drawings/vmlDrawing7.vml"/><Relationship Id="rId5" Type="http://schemas.openxmlformats.org/officeDocument/2006/relationships/image" Target="../media/image14.emf"/><Relationship Id="rId4" Type="http://schemas.openxmlformats.org/officeDocument/2006/relationships/package" Target="../embeddings/Microsoft_Word___12.docx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" Target="slide22.xml"/><Relationship Id="rId2" Type="http://schemas.openxmlformats.org/officeDocument/2006/relationships/slide" Target="slide17.xml"/><Relationship Id="rId1" Type="http://schemas.openxmlformats.org/officeDocument/2006/relationships/slideLayout" Target="../slideLayouts/slideLayout4.xml"/><Relationship Id="rId4" Type="http://schemas.openxmlformats.org/officeDocument/2006/relationships/slide" Target="slide2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3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8.vml"/><Relationship Id="rId5" Type="http://schemas.openxmlformats.org/officeDocument/2006/relationships/image" Target="../media/image15.emf"/><Relationship Id="rId4" Type="http://schemas.openxmlformats.org/officeDocument/2006/relationships/package" Target="../embeddings/Microsoft_Word___13.docx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4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9.vml"/><Relationship Id="rId5" Type="http://schemas.openxmlformats.org/officeDocument/2006/relationships/image" Target="../media/image16.emf"/><Relationship Id="rId4" Type="http://schemas.openxmlformats.org/officeDocument/2006/relationships/package" Target="../embeddings/Microsoft_Word___14.docx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5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0.vml"/><Relationship Id="rId5" Type="http://schemas.openxmlformats.org/officeDocument/2006/relationships/image" Target="../media/image18.emf"/><Relationship Id="rId4" Type="http://schemas.openxmlformats.org/officeDocument/2006/relationships/package" Target="../embeddings/Microsoft_Word___15.docx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6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1.vml"/><Relationship Id="rId5" Type="http://schemas.openxmlformats.org/officeDocument/2006/relationships/image" Target="../media/image19.emf"/><Relationship Id="rId4" Type="http://schemas.openxmlformats.org/officeDocument/2006/relationships/package" Target="../embeddings/Microsoft_Word___16.docx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7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2.vml"/><Relationship Id="rId5" Type="http://schemas.openxmlformats.org/officeDocument/2006/relationships/image" Target="../media/image20.emf"/><Relationship Id="rId4" Type="http://schemas.openxmlformats.org/officeDocument/2006/relationships/package" Target="../embeddings/Microsoft_Word___17.docx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8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3.vml"/><Relationship Id="rId5" Type="http://schemas.openxmlformats.org/officeDocument/2006/relationships/image" Target="../media/image21.emf"/><Relationship Id="rId4" Type="http://schemas.openxmlformats.org/officeDocument/2006/relationships/package" Target="../embeddings/Microsoft_Word___18.docx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4.vml"/><Relationship Id="rId6" Type="http://schemas.openxmlformats.org/officeDocument/2006/relationships/image" Target="../media/image22.emf"/><Relationship Id="rId5" Type="http://schemas.openxmlformats.org/officeDocument/2006/relationships/package" Target="../embeddings/Microsoft_Word___19.docx"/><Relationship Id="rId4" Type="http://schemas.openxmlformats.org/officeDocument/2006/relationships/oleObject" Target="../embeddings/oleObject19.bin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emf"/><Relationship Id="rId3" Type="http://schemas.openxmlformats.org/officeDocument/2006/relationships/oleObject" Target="../embeddings/oleObject20.bin"/><Relationship Id="rId7" Type="http://schemas.openxmlformats.org/officeDocument/2006/relationships/package" Target="../embeddings/Microsoft_Word___21.docx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5.vml"/><Relationship Id="rId6" Type="http://schemas.openxmlformats.org/officeDocument/2006/relationships/oleObject" Target="../embeddings/oleObject21.bin"/><Relationship Id="rId5" Type="http://schemas.openxmlformats.org/officeDocument/2006/relationships/image" Target="../media/image23.emf"/><Relationship Id="rId4" Type="http://schemas.openxmlformats.org/officeDocument/2006/relationships/package" Target="../embeddings/Microsoft_Word___20.docx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2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6.vml"/><Relationship Id="rId5" Type="http://schemas.openxmlformats.org/officeDocument/2006/relationships/image" Target="../media/image25.emf"/><Relationship Id="rId4" Type="http://schemas.openxmlformats.org/officeDocument/2006/relationships/package" Target="../embeddings/Microsoft_Word___22.docx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7.vml"/><Relationship Id="rId6" Type="http://schemas.openxmlformats.org/officeDocument/2006/relationships/image" Target="../media/image26.emf"/><Relationship Id="rId5" Type="http://schemas.openxmlformats.org/officeDocument/2006/relationships/package" Target="../embeddings/Microsoft_Word___23.docx"/><Relationship Id="rId4" Type="http://schemas.openxmlformats.org/officeDocument/2006/relationships/oleObject" Target="../embeddings/oleObject23.bin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4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8.vml"/><Relationship Id="rId5" Type="http://schemas.openxmlformats.org/officeDocument/2006/relationships/image" Target="../media/image27.emf"/><Relationship Id="rId4" Type="http://schemas.openxmlformats.org/officeDocument/2006/relationships/package" Target="../embeddings/Microsoft_Word___24.docx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emf"/><Relationship Id="rId3" Type="http://schemas.openxmlformats.org/officeDocument/2006/relationships/oleObject" Target="../embeddings/oleObject25.bin"/><Relationship Id="rId7" Type="http://schemas.openxmlformats.org/officeDocument/2006/relationships/package" Target="../embeddings/Microsoft_Word___26.docx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9.vml"/><Relationship Id="rId6" Type="http://schemas.openxmlformats.org/officeDocument/2006/relationships/oleObject" Target="../embeddings/oleObject26.bin"/><Relationship Id="rId5" Type="http://schemas.openxmlformats.org/officeDocument/2006/relationships/image" Target="../media/image28.emf"/><Relationship Id="rId4" Type="http://schemas.openxmlformats.org/officeDocument/2006/relationships/package" Target="../embeddings/Microsoft_Word___25.docx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7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20.vml"/><Relationship Id="rId6" Type="http://schemas.openxmlformats.org/officeDocument/2006/relationships/image" Target="../media/image31.jpeg"/><Relationship Id="rId5" Type="http://schemas.openxmlformats.org/officeDocument/2006/relationships/image" Target="../media/image30.emf"/><Relationship Id="rId4" Type="http://schemas.openxmlformats.org/officeDocument/2006/relationships/package" Target="../embeddings/Microsoft_Word___27.docx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emf"/><Relationship Id="rId13" Type="http://schemas.openxmlformats.org/officeDocument/2006/relationships/package" Target="../embeddings/Microsoft_Word___31.docx"/><Relationship Id="rId3" Type="http://schemas.openxmlformats.org/officeDocument/2006/relationships/oleObject" Target="../embeddings/oleObject28.bin"/><Relationship Id="rId7" Type="http://schemas.openxmlformats.org/officeDocument/2006/relationships/package" Target="../embeddings/Microsoft_Word___29.docx"/><Relationship Id="rId12" Type="http://schemas.openxmlformats.org/officeDocument/2006/relationships/oleObject" Target="../embeddings/oleObject31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21.vml"/><Relationship Id="rId6" Type="http://schemas.openxmlformats.org/officeDocument/2006/relationships/oleObject" Target="../embeddings/oleObject29.bin"/><Relationship Id="rId11" Type="http://schemas.openxmlformats.org/officeDocument/2006/relationships/image" Target="../media/image34.emf"/><Relationship Id="rId5" Type="http://schemas.openxmlformats.org/officeDocument/2006/relationships/image" Target="../media/image32.emf"/><Relationship Id="rId10" Type="http://schemas.openxmlformats.org/officeDocument/2006/relationships/package" Target="../embeddings/Microsoft_Word___30.docx"/><Relationship Id="rId4" Type="http://schemas.openxmlformats.org/officeDocument/2006/relationships/package" Target="../embeddings/Microsoft_Word___28.docx"/><Relationship Id="rId9" Type="http://schemas.openxmlformats.org/officeDocument/2006/relationships/oleObject" Target="../embeddings/oleObject30.bin"/><Relationship Id="rId14" Type="http://schemas.openxmlformats.org/officeDocument/2006/relationships/image" Target="../media/image35.emf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emf"/><Relationship Id="rId3" Type="http://schemas.openxmlformats.org/officeDocument/2006/relationships/oleObject" Target="../embeddings/oleObject32.bin"/><Relationship Id="rId7" Type="http://schemas.openxmlformats.org/officeDocument/2006/relationships/package" Target="../embeddings/Microsoft_Word___33.docx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22.vml"/><Relationship Id="rId6" Type="http://schemas.openxmlformats.org/officeDocument/2006/relationships/oleObject" Target="../embeddings/oleObject33.bin"/><Relationship Id="rId5" Type="http://schemas.openxmlformats.org/officeDocument/2006/relationships/image" Target="../media/image36.emf"/><Relationship Id="rId4" Type="http://schemas.openxmlformats.org/officeDocument/2006/relationships/package" Target="../embeddings/Microsoft_Word___32.docx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emf"/><Relationship Id="rId3" Type="http://schemas.openxmlformats.org/officeDocument/2006/relationships/oleObject" Target="../embeddings/oleObject34.bin"/><Relationship Id="rId7" Type="http://schemas.openxmlformats.org/officeDocument/2006/relationships/package" Target="../embeddings/Microsoft_Word___35.docx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23.vml"/><Relationship Id="rId6" Type="http://schemas.openxmlformats.org/officeDocument/2006/relationships/oleObject" Target="../embeddings/oleObject35.bin"/><Relationship Id="rId5" Type="http://schemas.openxmlformats.org/officeDocument/2006/relationships/image" Target="../media/image38.emf"/><Relationship Id="rId4" Type="http://schemas.openxmlformats.org/officeDocument/2006/relationships/package" Target="../embeddings/Microsoft_Word___34.docx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emf"/><Relationship Id="rId3" Type="http://schemas.openxmlformats.org/officeDocument/2006/relationships/oleObject" Target="../embeddings/oleObject36.bin"/><Relationship Id="rId7" Type="http://schemas.openxmlformats.org/officeDocument/2006/relationships/package" Target="../embeddings/Microsoft_Word___37.docx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24.vml"/><Relationship Id="rId6" Type="http://schemas.openxmlformats.org/officeDocument/2006/relationships/oleObject" Target="../embeddings/oleObject37.bin"/><Relationship Id="rId5" Type="http://schemas.openxmlformats.org/officeDocument/2006/relationships/image" Target="../media/image40.emf"/><Relationship Id="rId4" Type="http://schemas.openxmlformats.org/officeDocument/2006/relationships/package" Target="../embeddings/Microsoft_Word___36.docx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3513369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lgGrid">
          <a:fgClr>
            <a:schemeClr val="bg2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>
            <a:spLocks noChangeAspect="1"/>
          </p:cNvSpPr>
          <p:nvPr/>
        </p:nvSpPr>
        <p:spPr>
          <a:xfrm>
            <a:off x="361950" y="2297481"/>
            <a:ext cx="10807700" cy="1096454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sz="6000" dirty="0">
                <a:solidFill>
                  <a:srgbClr val="00206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7</a:t>
            </a:r>
            <a:r>
              <a:rPr lang="en-US" altLang="zh-CN" sz="6000" i="1" dirty="0">
                <a:solidFill>
                  <a:srgbClr val="00206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sz="6000" dirty="0">
                <a:solidFill>
                  <a:srgbClr val="00206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sz="6000" i="1" dirty="0">
                <a:solidFill>
                  <a:srgbClr val="00206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sz="6000" dirty="0">
                <a:solidFill>
                  <a:srgbClr val="00206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zh-CN" sz="6000" i="1" dirty="0">
                <a:solidFill>
                  <a:srgbClr val="00206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　</a:t>
            </a:r>
            <a:r>
              <a:rPr lang="zh-CN" altLang="zh-CN" sz="6000" dirty="0">
                <a:solidFill>
                  <a:srgbClr val="00206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复数的乘、除运算</a:t>
            </a:r>
            <a:endParaRPr lang="zh-CN" altLang="zh-CN" sz="6000" dirty="0">
              <a:solidFill>
                <a:srgbClr val="00206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54233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:checker/>
      </p:transition>
    </mc:Choice>
    <mc:Fallback xmlns="">
      <p:transition spd="slow">
        <p:checker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/>
        </p:nvGrpSpPr>
        <p:grpSpPr>
          <a:xfrm>
            <a:off x="360437" y="1664553"/>
            <a:ext cx="10729192" cy="2856517"/>
            <a:chOff x="360437" y="1664553"/>
            <a:chExt cx="10729192" cy="2856517"/>
          </a:xfrm>
        </p:grpSpPr>
        <p:grpSp>
          <p:nvGrpSpPr>
            <p:cNvPr id="13" name="组合 12"/>
            <p:cNvGrpSpPr/>
            <p:nvPr/>
          </p:nvGrpSpPr>
          <p:grpSpPr>
            <a:xfrm>
              <a:off x="360437" y="1664553"/>
              <a:ext cx="10729192" cy="2856517"/>
              <a:chOff x="360437" y="2107986"/>
              <a:chExt cx="10729192" cy="1951040"/>
            </a:xfrm>
          </p:grpSpPr>
          <p:sp>
            <p:nvSpPr>
              <p:cNvPr id="2" name="圆角矩形 1"/>
              <p:cNvSpPr/>
              <p:nvPr/>
            </p:nvSpPr>
            <p:spPr>
              <a:xfrm>
                <a:off x="360437" y="2107986"/>
                <a:ext cx="10729192" cy="1951040"/>
              </a:xfrm>
              <a:prstGeom prst="roundRect">
                <a:avLst/>
              </a:prstGeom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12" name="直接连接符 11"/>
              <p:cNvCxnSpPr/>
              <p:nvPr/>
            </p:nvCxnSpPr>
            <p:spPr>
              <a:xfrm>
                <a:off x="2448669" y="2137747"/>
                <a:ext cx="0" cy="1869745"/>
              </a:xfrm>
              <a:prstGeom prst="line">
                <a:avLst/>
              </a:prstGeom>
            </p:spPr>
            <p:style>
              <a:lnRef idx="3">
                <a:schemeClr val="accent4"/>
              </a:lnRef>
              <a:fillRef idx="0">
                <a:schemeClr val="accent4"/>
              </a:fillRef>
              <a:effectRef idx="2">
                <a:schemeClr val="accent4"/>
              </a:effectRef>
              <a:fontRef idx="minor">
                <a:schemeClr val="tx1"/>
              </a:fontRef>
            </p:style>
          </p:cxnSp>
        </p:grpSp>
        <p:sp>
          <p:nvSpPr>
            <p:cNvPr id="14" name="矩形 13"/>
            <p:cNvSpPr>
              <a:spLocks noChangeAspect="1"/>
            </p:cNvSpPr>
            <p:nvPr/>
          </p:nvSpPr>
          <p:spPr>
            <a:xfrm>
              <a:off x="360437" y="2447999"/>
              <a:ext cx="2086719" cy="119571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dirty="0">
                  <a:solidFill>
                    <a:srgbClr val="000000"/>
                  </a:solidFill>
                  <a:latin typeface="Arial" panose="020B0604020202020204" pitchFamily="34" charset="0"/>
                  <a:cs typeface="Times New Roman" panose="02020603050405020304" pitchFamily="18" charset="0"/>
                </a:rPr>
                <a:t>课标定位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 algn="ctr"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dirty="0">
                  <a:solidFill>
                    <a:srgbClr val="000000"/>
                  </a:solidFill>
                  <a:latin typeface="Arial" panose="020B0604020202020204" pitchFamily="34" charset="0"/>
                  <a:cs typeface="Times New Roman" panose="02020603050405020304" pitchFamily="18" charset="0"/>
                </a:rPr>
                <a:t>素养阐释</a:t>
              </a:r>
              <a:endParaRPr lang="zh-CN" altLang="zh-CN" dirty="0">
                <a:solidFill>
                  <a:srgbClr val="000000"/>
                </a:solidFill>
                <a:effectLst/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  <p:sp>
          <p:nvSpPr>
            <p:cNvPr id="15" name="矩形 14"/>
            <p:cNvSpPr>
              <a:spLocks noChangeAspect="1"/>
            </p:cNvSpPr>
            <p:nvPr/>
          </p:nvSpPr>
          <p:spPr>
            <a:xfrm>
              <a:off x="2552207" y="1825848"/>
              <a:ext cx="8496944" cy="245605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1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掌握复数代数表示式的乘、除运算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2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了解复数乘法的交换律、结合律和乘法对加法的分配律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</a:rPr>
                <a:t>3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</a:rPr>
                <a:t>.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提升逻辑推理素养和数学运算素养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</a:rPr>
                <a:t>.</a:t>
              </a:r>
              <a:endParaRPr lang="zh-CN" altLang="en-US" dirty="0"/>
            </a:p>
          </p:txBody>
        </p:sp>
      </p:grpSp>
      <p:sp>
        <p:nvSpPr>
          <p:cNvPr id="4" name="矩形 3"/>
          <p:cNvSpPr>
            <a:spLocks noChangeAspect="1"/>
          </p:cNvSpPr>
          <p:nvPr/>
        </p:nvSpPr>
        <p:spPr>
          <a:xfrm>
            <a:off x="361950" y="1556928"/>
            <a:ext cx="10807700" cy="631711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4307408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文框 2">
            <a:hlinkClick r:id="rId2" action="ppaction://hlinksldjump">
              <a:snd r:embed="rId3" name="chimes.wav"/>
            </a:hlinkClick>
          </p:cNvPr>
          <p:cNvSpPr/>
          <p:nvPr/>
        </p:nvSpPr>
        <p:spPr>
          <a:xfrm>
            <a:off x="1728589" y="503783"/>
            <a:ext cx="8136904" cy="1008112"/>
          </a:xfrm>
          <a:prstGeom prst="frame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sz="44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自主</a:t>
            </a:r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预习</a:t>
            </a:r>
            <a:r>
              <a:rPr lang="en-US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·</a:t>
            </a:r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新知</a:t>
            </a:r>
            <a:r>
              <a:rPr lang="zh-CN" altLang="zh-CN" sz="44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导学</a:t>
            </a:r>
          </a:p>
        </p:txBody>
      </p:sp>
      <p:sp>
        <p:nvSpPr>
          <p:cNvPr id="4" name="图文框 3">
            <a:hlinkClick r:id="rId4" action="ppaction://hlinksldjump">
              <a:snd r:embed="rId3" name="chimes.wav"/>
            </a:hlinkClick>
          </p:cNvPr>
          <p:cNvSpPr/>
          <p:nvPr/>
        </p:nvSpPr>
        <p:spPr>
          <a:xfrm>
            <a:off x="1728589" y="1871935"/>
            <a:ext cx="8136904" cy="1008112"/>
          </a:xfrm>
          <a:prstGeom prst="frame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sz="44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合作</a:t>
            </a:r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探究</a:t>
            </a:r>
            <a:r>
              <a:rPr lang="en-US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·</a:t>
            </a:r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释疑</a:t>
            </a:r>
            <a:r>
              <a:rPr lang="zh-CN" altLang="zh-CN" sz="44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解惑</a:t>
            </a:r>
          </a:p>
        </p:txBody>
      </p:sp>
      <p:sp>
        <p:nvSpPr>
          <p:cNvPr id="7" name="图文框 6">
            <a:hlinkClick r:id="rId5" action="ppaction://hlinksldjump">
              <a:snd r:embed="rId3" name="chimes.wav"/>
            </a:hlinkClick>
          </p:cNvPr>
          <p:cNvSpPr/>
          <p:nvPr/>
        </p:nvSpPr>
        <p:spPr>
          <a:xfrm>
            <a:off x="1728589" y="3279437"/>
            <a:ext cx="8136904" cy="1008112"/>
          </a:xfrm>
          <a:prstGeom prst="frame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易</a:t>
            </a:r>
            <a:r>
              <a:rPr lang="en-US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错</a:t>
            </a:r>
            <a:r>
              <a:rPr lang="en-US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辨</a:t>
            </a:r>
            <a:r>
              <a:rPr lang="en-US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析</a:t>
            </a:r>
            <a:endParaRPr lang="zh-CN" altLang="zh-CN" sz="4400" dirty="0">
              <a:solidFill>
                <a:srgbClr val="0070C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8" name="图文框 7">
            <a:hlinkClick r:id="rId6" action="ppaction://hlinksldjump">
              <a:snd r:embed="rId3" name="chimes.wav"/>
            </a:hlinkClick>
          </p:cNvPr>
          <p:cNvSpPr/>
          <p:nvPr/>
        </p:nvSpPr>
        <p:spPr>
          <a:xfrm>
            <a:off x="1728589" y="4647589"/>
            <a:ext cx="8136904" cy="1008112"/>
          </a:xfrm>
          <a:prstGeom prst="frame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随</a:t>
            </a:r>
            <a:r>
              <a:rPr lang="en-US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堂</a:t>
            </a:r>
            <a:r>
              <a:rPr lang="en-US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练</a:t>
            </a:r>
            <a:r>
              <a:rPr lang="en-US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习</a:t>
            </a:r>
            <a:endParaRPr lang="zh-CN" altLang="zh-CN" sz="4400" dirty="0">
              <a:solidFill>
                <a:srgbClr val="0070C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621409961"/>
      </p:ext>
    </p:extLst>
  </p:cSld>
  <p:clrMapOvr>
    <a:masterClrMapping/>
  </p:clrMapOvr>
  <p:transition spd="med">
    <p:pull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虚尾箭头 3"/>
          <p:cNvSpPr/>
          <p:nvPr/>
        </p:nvSpPr>
        <p:spPr>
          <a:xfrm>
            <a:off x="432445" y="1295871"/>
            <a:ext cx="10657184" cy="3528392"/>
          </a:xfrm>
          <a:prstGeom prst="stripedRightArrow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zh-CN" sz="66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66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自主</a:t>
            </a:r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预习</a:t>
            </a:r>
            <a:r>
              <a:rPr lang="en-US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·</a:t>
            </a:r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新知导学</a:t>
            </a:r>
          </a:p>
        </p:txBody>
      </p:sp>
    </p:spTree>
    <p:extLst>
      <p:ext uri="{BB962C8B-B14F-4D97-AF65-F5344CB8AC3E}">
        <p14:creationId xmlns:p14="http://schemas.microsoft.com/office/powerpoint/2010/main" val="27222246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61950" y="940586"/>
            <a:ext cx="10807700" cy="4819781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 smtClean="0">
                <a:solidFill>
                  <a:srgbClr val="000000"/>
                </a:solidFill>
                <a:latin typeface="NEU-BZ-S92"/>
                <a:ea typeface="方正正中黑简体"/>
                <a:cs typeface="Times New Roman" panose="02020603050405020304" pitchFamily="18" charset="0"/>
              </a:rPr>
              <a:t>一、复数的乘法法则及其运算律</a:t>
            </a:r>
            <a:endParaRPr lang="zh-CN" altLang="zh-CN" dirty="0" smtClean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设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z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=a+b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i,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z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c+d</a:t>
            </a: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</a:t>
            </a: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d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∈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R),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类比两个多项式相乘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应如何规定两复数相乘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?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提示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两个复数相乘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类似于两个多项式相乘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只要在所得的结果中把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baseline="30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换成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并且把实部与虚部分别合并即可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即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z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z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a+b</a:t>
            </a: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)(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c+d</a:t>
            </a: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=ac+bc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+ad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+bd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baseline="30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ac-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bd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+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bc+ad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复数的乘法满足交换律和结合律吗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?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提示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满足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64289175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61950" y="1029642"/>
            <a:ext cx="10807700" cy="1865126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复数的乘法法则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: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设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z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=a+b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i,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z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c+d</a:t>
            </a: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</a:t>
            </a: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d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∈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R)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是任意两个复数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那么它们的积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a+b</a:t>
            </a: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)(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c+d</a:t>
            </a: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 </a:t>
            </a:r>
            <a:r>
              <a:rPr lang="en-US" altLang="zh-CN" dirty="0" smtClean="0"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ea typeface="宋体" panose="02010600030101010101" pitchFamily="2" charset="-122"/>
                <a:cs typeface="Times New Roman" panose="02020603050405020304" pitchFamily="18" charset="0"/>
              </a:rPr>
              <a:t>ac-</a:t>
            </a:r>
            <a:r>
              <a:rPr lang="en-US" altLang="zh-CN" i="1" dirty="0" err="1">
                <a:ea typeface="宋体" panose="02010600030101010101" pitchFamily="2" charset="-122"/>
                <a:cs typeface="Times New Roman" panose="02020603050405020304" pitchFamily="18" charset="0"/>
              </a:rPr>
              <a:t>bd</a:t>
            </a:r>
            <a:r>
              <a:rPr lang="en-US" altLang="zh-CN" dirty="0"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en-US" altLang="zh-CN" i="1" dirty="0">
                <a:ea typeface="宋体" panose="02010600030101010101" pitchFamily="2" charset="-122"/>
                <a:cs typeface="Times New Roman" panose="02020603050405020304" pitchFamily="18" charset="0"/>
              </a:rPr>
              <a:t>+</a:t>
            </a:r>
            <a:r>
              <a:rPr lang="en-US" altLang="zh-CN" dirty="0"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 err="1" smtClean="0">
                <a:ea typeface="宋体" panose="02010600030101010101" pitchFamily="2" charset="-122"/>
                <a:cs typeface="Times New Roman" panose="02020603050405020304" pitchFamily="18" charset="0"/>
              </a:rPr>
              <a:t>ad+bc</a:t>
            </a:r>
            <a:r>
              <a:rPr lang="en-US" altLang="zh-CN" dirty="0" smtClean="0"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en-US" altLang="zh-CN" dirty="0" err="1" smtClean="0">
                <a:ea typeface="宋体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dirty="0" smtClean="0"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(2)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复数乘法满足的运算律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: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对于任意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</a:rPr>
              <a:t>z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</a:rPr>
              <a:t>1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</a:rPr>
              <a:t>z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</a:rPr>
              <a:t>2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</a:rPr>
              <a:t>z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</a:rPr>
              <a:t>3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宋体" panose="02010600030101010101" pitchFamily="2" charset="-122"/>
              </a:rPr>
              <a:t>∈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C,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有</a:t>
            </a:r>
            <a:endParaRPr lang="zh-CN" altLang="en-US" dirty="0"/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79878622"/>
              </p:ext>
            </p:extLst>
          </p:nvPr>
        </p:nvGraphicFramePr>
        <p:xfrm>
          <a:off x="-647675" y="2841010"/>
          <a:ext cx="12004724" cy="277534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3" name="文档" r:id="rId4" imgW="3935975" imgH="909948" progId="Word.Document.12">
                  <p:embed/>
                </p:oleObj>
              </mc:Choice>
              <mc:Fallback>
                <p:oleObj name="文档" r:id="rId4" imgW="3935975" imgH="909948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-647675" y="2841010"/>
                        <a:ext cx="12004724" cy="277534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矩形 4"/>
          <p:cNvSpPr/>
          <p:nvPr/>
        </p:nvSpPr>
        <p:spPr>
          <a:xfrm>
            <a:off x="6520445" y="1697353"/>
            <a:ext cx="2952328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6" name="直接连接符 5"/>
          <p:cNvCxnSpPr/>
          <p:nvPr/>
        </p:nvCxnSpPr>
        <p:spPr>
          <a:xfrm>
            <a:off x="6515899" y="2161451"/>
            <a:ext cx="2948989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" name="矩形 6"/>
          <p:cNvSpPr/>
          <p:nvPr/>
        </p:nvSpPr>
        <p:spPr>
          <a:xfrm>
            <a:off x="6686383" y="2959739"/>
            <a:ext cx="777144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8" name="直接连接符 7"/>
          <p:cNvCxnSpPr/>
          <p:nvPr/>
        </p:nvCxnSpPr>
        <p:spPr>
          <a:xfrm>
            <a:off x="6681793" y="3423837"/>
            <a:ext cx="776265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9" name="矩形 8"/>
          <p:cNvSpPr/>
          <p:nvPr/>
        </p:nvSpPr>
        <p:spPr>
          <a:xfrm>
            <a:off x="7262447" y="3588743"/>
            <a:ext cx="1450918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0" name="直接连接符 9"/>
          <p:cNvCxnSpPr/>
          <p:nvPr/>
        </p:nvCxnSpPr>
        <p:spPr>
          <a:xfrm>
            <a:off x="7257857" y="4052841"/>
            <a:ext cx="1449277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2" name="矩形 11"/>
          <p:cNvSpPr/>
          <p:nvPr/>
        </p:nvSpPr>
        <p:spPr>
          <a:xfrm>
            <a:off x="7571995" y="4238151"/>
            <a:ext cx="1656184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3" name="直接连接符 12"/>
          <p:cNvCxnSpPr/>
          <p:nvPr/>
        </p:nvCxnSpPr>
        <p:spPr>
          <a:xfrm>
            <a:off x="7567405" y="4702249"/>
            <a:ext cx="1654311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36019021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2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 animBg="1"/>
      <p:bldP spid="9" grpId="0" animBg="1"/>
      <p:bldP spid="12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>
            <a:spLocks noChangeAspect="1"/>
          </p:cNvSpPr>
          <p:nvPr/>
        </p:nvSpPr>
        <p:spPr>
          <a:xfrm>
            <a:off x="361950" y="1473789"/>
            <a:ext cx="10807700" cy="3046988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4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若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复数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z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+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i,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z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i,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则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z</a:t>
            </a:r>
            <a:r>
              <a:rPr lang="en-US" altLang="zh-CN" baseline="-25000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·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z</a:t>
            </a:r>
            <a:r>
              <a:rPr lang="en-US" altLang="zh-CN" baseline="-25000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等于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　　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A.4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+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2i	B.2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+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i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C.2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+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2i	D.3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+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4i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解析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z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·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z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+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i)(3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i)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+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3i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baseline="30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4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+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2i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答案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06286682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61950" y="863823"/>
            <a:ext cx="10807700" cy="644344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latin typeface="NEU-BZ-S92"/>
                <a:ea typeface="方正正中黑简体"/>
                <a:cs typeface="Times New Roman" panose="02020603050405020304" pitchFamily="18" charset="0"/>
              </a:rPr>
              <a:t>二、复数的除法</a:t>
            </a:r>
            <a:r>
              <a:rPr lang="zh-CN" altLang="zh-CN" dirty="0" smtClean="0">
                <a:solidFill>
                  <a:srgbClr val="000000"/>
                </a:solidFill>
                <a:latin typeface="NEU-BZ-S92"/>
                <a:ea typeface="方正正中黑简体"/>
                <a:cs typeface="Times New Roman" panose="02020603050405020304" pitchFamily="18" charset="0"/>
              </a:rPr>
              <a:t>法则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09758998"/>
              </p:ext>
            </p:extLst>
          </p:nvPr>
        </p:nvGraphicFramePr>
        <p:xfrm>
          <a:off x="361950" y="1574071"/>
          <a:ext cx="11671959" cy="121119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78" name="文档" r:id="rId4" imgW="3826872" imgH="397114" progId="Word.Document.12">
                  <p:embed/>
                </p:oleObj>
              </mc:Choice>
              <mc:Fallback>
                <p:oleObj name="文档" r:id="rId4" imgW="3826872" imgH="397114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361950" y="1574071"/>
                        <a:ext cx="11671959" cy="121119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04626841"/>
              </p:ext>
            </p:extLst>
          </p:nvPr>
        </p:nvGraphicFramePr>
        <p:xfrm>
          <a:off x="361950" y="2812241"/>
          <a:ext cx="11671959" cy="605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79" name="文档" r:id="rId7" imgW="3826872" imgH="198377" progId="Word.Document.12">
                  <p:embed/>
                </p:oleObj>
              </mc:Choice>
              <mc:Fallback>
                <p:oleObj name="文档" r:id="rId7" imgW="3826872" imgH="198377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361950" y="2812241"/>
                        <a:ext cx="11671959" cy="6050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98104296"/>
              </p:ext>
            </p:extLst>
          </p:nvPr>
        </p:nvGraphicFramePr>
        <p:xfrm>
          <a:off x="361949" y="3427123"/>
          <a:ext cx="11671959" cy="142493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80" name="文档" r:id="rId10" imgW="3826872" imgH="467193" progId="Word.Document.12">
                  <p:embed/>
                </p:oleObj>
              </mc:Choice>
              <mc:Fallback>
                <p:oleObj name="文档" r:id="rId10" imgW="3826872" imgH="467193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361949" y="3427123"/>
                        <a:ext cx="11671959" cy="142493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31610550"/>
              </p:ext>
            </p:extLst>
          </p:nvPr>
        </p:nvGraphicFramePr>
        <p:xfrm>
          <a:off x="361949" y="4819552"/>
          <a:ext cx="11671959" cy="9843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81" name="文档" r:id="rId13" imgW="3826872" imgH="322723" progId="Word.Document.12">
                  <p:embed/>
                </p:oleObj>
              </mc:Choice>
              <mc:Fallback>
                <p:oleObj name="文档" r:id="rId13" imgW="3826872" imgH="322723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361949" y="4819552"/>
                        <a:ext cx="11671959" cy="98430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504587311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>
            <a:spLocks noChangeAspect="1"/>
          </p:cNvSpPr>
          <p:nvPr/>
        </p:nvSpPr>
        <p:spPr>
          <a:xfrm>
            <a:off x="361950" y="1002429"/>
            <a:ext cx="10807700" cy="626710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(1)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复数除法的法则是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: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8" name="对象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94274084"/>
              </p:ext>
            </p:extLst>
          </p:nvPr>
        </p:nvGraphicFramePr>
        <p:xfrm>
          <a:off x="393351" y="1633835"/>
          <a:ext cx="11671959" cy="96347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7" name="文档" r:id="rId4" imgW="3826872" imgH="315894" progId="Word.Document.12">
                  <p:embed/>
                </p:oleObj>
              </mc:Choice>
              <mc:Fallback>
                <p:oleObj name="文档" r:id="rId4" imgW="3826872" imgH="315894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393351" y="1633835"/>
                        <a:ext cx="11671959" cy="96347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矩形 6"/>
          <p:cNvSpPr/>
          <p:nvPr/>
        </p:nvSpPr>
        <p:spPr>
          <a:xfrm>
            <a:off x="4277845" y="1667475"/>
            <a:ext cx="2768578" cy="86806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2" name="直接连接符 11"/>
          <p:cNvCxnSpPr/>
          <p:nvPr/>
        </p:nvCxnSpPr>
        <p:spPr>
          <a:xfrm>
            <a:off x="4273299" y="2536649"/>
            <a:ext cx="2765446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" name="矩形 3"/>
          <p:cNvSpPr>
            <a:spLocks noChangeAspect="1"/>
          </p:cNvSpPr>
          <p:nvPr/>
        </p:nvSpPr>
        <p:spPr>
          <a:xfrm>
            <a:off x="361950" y="2650616"/>
            <a:ext cx="10807700" cy="2399503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由此可见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两个复数相除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除数不为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0),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所得的商是一个确定的</a:t>
            </a:r>
            <a:r>
              <a:rPr lang="zh-CN" altLang="zh-CN" dirty="0">
                <a:uFill>
                  <a:solidFill>
                    <a:srgbClr val="000000"/>
                  </a:solidFill>
                </a:uFill>
                <a:ea typeface="宋体" panose="02010600030101010101" pitchFamily="2" charset="-122"/>
                <a:cs typeface="Times New Roman" panose="02020603050405020304" pitchFamily="18" charset="0"/>
              </a:rPr>
              <a:t>复数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(2)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本质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: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复数的除法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其实质是分母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“</a:t>
            </a:r>
            <a:r>
              <a:rPr lang="zh-CN" altLang="zh-CN" dirty="0">
                <a:uFill>
                  <a:solidFill>
                    <a:srgbClr val="000000"/>
                  </a:solidFill>
                </a:uFill>
                <a:ea typeface="宋体" panose="02010600030101010101" pitchFamily="2" charset="-122"/>
                <a:cs typeface="Times New Roman" panose="02020603050405020304" pitchFamily="18" charset="0"/>
              </a:rPr>
              <a:t>实数化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”,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即分子分母都乘分母的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“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实数化因式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”(</a:t>
            </a:r>
            <a:r>
              <a:rPr lang="zh-CN" altLang="zh-CN" dirty="0">
                <a:uFill>
                  <a:solidFill>
                    <a:srgbClr val="000000"/>
                  </a:solidFill>
                </a:uFill>
                <a:ea typeface="宋体" panose="02010600030101010101" pitchFamily="2" charset="-122"/>
                <a:cs typeface="Times New Roman" panose="02020603050405020304" pitchFamily="18" charset="0"/>
              </a:rPr>
              <a:t>共轭复数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475706" y="3289877"/>
            <a:ext cx="777144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4" name="直接连接符 13"/>
          <p:cNvCxnSpPr/>
          <p:nvPr/>
        </p:nvCxnSpPr>
        <p:spPr>
          <a:xfrm>
            <a:off x="471116" y="3753975"/>
            <a:ext cx="776265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5" name="矩形 14"/>
          <p:cNvSpPr/>
          <p:nvPr/>
        </p:nvSpPr>
        <p:spPr>
          <a:xfrm>
            <a:off x="6677515" y="3878327"/>
            <a:ext cx="1171754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6" name="直接连接符 15"/>
          <p:cNvCxnSpPr/>
          <p:nvPr/>
        </p:nvCxnSpPr>
        <p:spPr>
          <a:xfrm>
            <a:off x="6672925" y="4342425"/>
            <a:ext cx="1170429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7" name="矩形 16"/>
          <p:cNvSpPr/>
          <p:nvPr/>
        </p:nvSpPr>
        <p:spPr>
          <a:xfrm>
            <a:off x="4253459" y="4504181"/>
            <a:ext cx="1631930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8" name="直接连接符 17"/>
          <p:cNvCxnSpPr/>
          <p:nvPr/>
        </p:nvCxnSpPr>
        <p:spPr>
          <a:xfrm>
            <a:off x="4248869" y="4968279"/>
            <a:ext cx="1630085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81616160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2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3" grpId="0" animBg="1"/>
      <p:bldP spid="15" grpId="0" animBg="1"/>
      <p:bldP spid="17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对象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06794806"/>
              </p:ext>
            </p:extLst>
          </p:nvPr>
        </p:nvGraphicFramePr>
        <p:xfrm>
          <a:off x="380101" y="1655911"/>
          <a:ext cx="11671959" cy="8966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586" name="文档" r:id="rId4" imgW="3826872" imgH="293972" progId="Word.Document.12">
                  <p:embed/>
                </p:oleObj>
              </mc:Choice>
              <mc:Fallback>
                <p:oleObj name="文档" r:id="rId4" imgW="3826872" imgH="293972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380101" y="1655911"/>
                        <a:ext cx="11671959" cy="89661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33492491"/>
              </p:ext>
            </p:extLst>
          </p:nvPr>
        </p:nvGraphicFramePr>
        <p:xfrm>
          <a:off x="361950" y="2586165"/>
          <a:ext cx="11671959" cy="9843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587" name="文档" r:id="rId7" imgW="3826872" imgH="322723" progId="Word.Document.12">
                  <p:embed/>
                </p:oleObj>
              </mc:Choice>
              <mc:Fallback>
                <p:oleObj name="文档" r:id="rId7" imgW="3826872" imgH="322723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361950" y="2586165"/>
                        <a:ext cx="11671959" cy="98430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矩形 10"/>
          <p:cNvSpPr>
            <a:spLocks noChangeAspect="1"/>
          </p:cNvSpPr>
          <p:nvPr/>
        </p:nvSpPr>
        <p:spPr>
          <a:xfrm>
            <a:off x="276249" y="3608161"/>
            <a:ext cx="1544012" cy="68326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答案</a:t>
            </a:r>
            <a:r>
              <a:rPr lang="en-US" altLang="zh-CN" dirty="0" smtClean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I 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6544978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61950" y="1223863"/>
            <a:ext cx="10807700" cy="3637919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latin typeface="NEU-BZ-S92"/>
                <a:ea typeface="方正正中黑简体"/>
                <a:cs typeface="Times New Roman" panose="02020603050405020304" pitchFamily="18" charset="0"/>
              </a:rPr>
              <a:t>三、实系数一元二次方程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ax</a:t>
            </a:r>
            <a:r>
              <a:rPr lang="en-US" altLang="zh-CN" baseline="30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+bx+c=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≠0)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方正正中黑简体"/>
                <a:cs typeface="Times New Roman" panose="02020603050405020304" pitchFamily="18" charset="0"/>
              </a:rPr>
              <a:t>的求根公式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一元二次方程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baseline="30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+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在实数范围内有解吗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?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引入虚数单位</a:t>
            </a: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后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方程的解是什么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?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提示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没有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.x=</a:t>
            </a:r>
            <a:r>
              <a:rPr lang="en-US" altLang="zh-CN" i="1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±</a:t>
            </a: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你能用虚数单位</a:t>
            </a: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表示方程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x+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1)</a:t>
            </a:r>
            <a:r>
              <a:rPr lang="en-US" altLang="zh-CN" baseline="30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的解吗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?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提示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能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.x=-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±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17156721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>
            <a:spLocks noChangeAspect="1"/>
          </p:cNvSpPr>
          <p:nvPr/>
        </p:nvSpPr>
        <p:spPr>
          <a:xfrm>
            <a:off x="361950" y="1223863"/>
            <a:ext cx="10807700" cy="1217641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在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复数范围内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实系数一元二次方程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ax</a:t>
            </a:r>
            <a:r>
              <a:rPr lang="en-US" altLang="zh-CN" baseline="30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+bx+c=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≠0)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的求根公式为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: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35697856"/>
              </p:ext>
            </p:extLst>
          </p:nvPr>
        </p:nvGraphicFramePr>
        <p:xfrm>
          <a:off x="504453" y="2491748"/>
          <a:ext cx="11671959" cy="23325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5" name="文档" r:id="rId4" imgW="3826872" imgH="764759" progId="Word.Document.12">
                  <p:embed/>
                </p:oleObj>
              </mc:Choice>
              <mc:Fallback>
                <p:oleObj name="文档" r:id="rId4" imgW="3826872" imgH="764759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504453" y="2491748"/>
                        <a:ext cx="11671959" cy="233251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512392445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61950" y="1871935"/>
            <a:ext cx="10807700" cy="683264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4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在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复数范围内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方程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4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baseline="30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+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9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的根为</a:t>
            </a:r>
            <a:r>
              <a:rPr lang="zh-CN" altLang="zh-CN" i="1" u="sng" dirty="0">
                <a:uFill>
                  <a:solidFill>
                    <a:srgbClr val="000000"/>
                  </a:solidFill>
                </a:uFill>
                <a:ea typeface="宋体" panose="02010600030101010101" pitchFamily="2" charset="-122"/>
                <a:cs typeface="Times New Roman" panose="02020603050405020304" pitchFamily="18" charset="0"/>
              </a:rPr>
              <a:t>　　　　　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i="1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 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68548198"/>
              </p:ext>
            </p:extLst>
          </p:nvPr>
        </p:nvGraphicFramePr>
        <p:xfrm>
          <a:off x="422613" y="2535380"/>
          <a:ext cx="11671959" cy="92073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36" name="文档" r:id="rId4" imgW="3826872" imgH="301879" progId="Word.Document.12">
                  <p:embed/>
                </p:oleObj>
              </mc:Choice>
              <mc:Fallback>
                <p:oleObj name="文档" r:id="rId4" imgW="3826872" imgH="301879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22613" y="2535380"/>
                        <a:ext cx="11671959" cy="92073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27262617"/>
              </p:ext>
            </p:extLst>
          </p:nvPr>
        </p:nvGraphicFramePr>
        <p:xfrm>
          <a:off x="371782" y="3517856"/>
          <a:ext cx="11671959" cy="8023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37" name="文档" r:id="rId7" imgW="3826872" imgH="263066" progId="Word.Document.12">
                  <p:embed/>
                </p:oleObj>
              </mc:Choice>
              <mc:Fallback>
                <p:oleObj name="文档" r:id="rId7" imgW="3826872" imgH="263066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371782" y="3517856"/>
                        <a:ext cx="11671959" cy="80235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342720702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组合 7"/>
          <p:cNvGrpSpPr/>
          <p:nvPr/>
        </p:nvGrpSpPr>
        <p:grpSpPr>
          <a:xfrm>
            <a:off x="144413" y="1141569"/>
            <a:ext cx="11701512" cy="3702358"/>
            <a:chOff x="144413" y="1026805"/>
            <a:chExt cx="11701512" cy="3702358"/>
          </a:xfrm>
        </p:grpSpPr>
        <p:sp>
          <p:nvSpPr>
            <p:cNvPr id="3" name="矩形 2"/>
            <p:cNvSpPr>
              <a:spLocks noChangeAspect="1"/>
            </p:cNvSpPr>
            <p:nvPr/>
          </p:nvSpPr>
          <p:spPr>
            <a:xfrm>
              <a:off x="144413" y="1026805"/>
              <a:ext cx="10807700" cy="1808572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zh-CN" altLang="zh-CN" dirty="0">
                  <a:solidFill>
                    <a:srgbClr val="000000"/>
                  </a:solidFill>
                  <a:latin typeface="Arial" panose="020B0604020202020204" pitchFamily="34" charset="0"/>
                  <a:cs typeface="Times New Roman" panose="02020603050405020304" pitchFamily="18" charset="0"/>
                </a:rPr>
                <a:t>【思考辨析】</a:t>
              </a:r>
              <a:r>
                <a:rPr lang="zh-CN" altLang="zh-CN" dirty="0">
                  <a:solidFill>
                    <a:srgbClr val="000000"/>
                  </a:solidFill>
                  <a:latin typeface="NEU-BZ-S92"/>
                  <a:ea typeface="Arial" panose="020B0604020202020204" pitchFamily="34" charset="0"/>
                  <a:cs typeface="Times New Roman" panose="02020603050405020304" pitchFamily="18" charset="0"/>
                </a:rPr>
                <a:t> 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判断下列说法是否正确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正确的在后面的括号内画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“</a:t>
              </a:r>
              <a:r>
                <a:rPr lang="en-US" altLang="zh-CN" dirty="0">
                  <a:solidFill>
                    <a:srgbClr val="000000"/>
                  </a:solidFill>
                  <a:latin typeface="Cambria Math" panose="02040503050406030204" pitchFamily="18" charset="0"/>
                  <a:ea typeface="NEU-BZ-S92"/>
                  <a:cs typeface="Times New Roman" panose="02020603050405020304" pitchFamily="18" charset="0"/>
                </a:rPr>
                <a:t>√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”,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错误的画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“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×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”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effectLst/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7" name="对象 6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912784964"/>
                </p:ext>
              </p:extLst>
            </p:nvPr>
          </p:nvGraphicFramePr>
          <p:xfrm>
            <a:off x="200025" y="2900363"/>
            <a:ext cx="11645900" cy="18288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153" name="文档" r:id="rId4" imgW="3826872" imgH="619570" progId="Word.Document.12">
                    <p:embed/>
                  </p:oleObj>
                </mc:Choice>
                <mc:Fallback>
                  <p:oleObj name="文档" r:id="rId4" imgW="3826872" imgH="619570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5"/>
                        <a:stretch>
                          <a:fillRect/>
                        </a:stretch>
                      </p:blipFill>
                      <p:spPr>
                        <a:xfrm>
                          <a:off x="200025" y="2900363"/>
                          <a:ext cx="11645900" cy="18288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6" name="矩形 5"/>
          <p:cNvSpPr/>
          <p:nvPr/>
        </p:nvSpPr>
        <p:spPr>
          <a:xfrm>
            <a:off x="10637917" y="3066819"/>
            <a:ext cx="476035" cy="42089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9" name="矩形 8"/>
          <p:cNvSpPr/>
          <p:nvPr/>
        </p:nvSpPr>
        <p:spPr>
          <a:xfrm>
            <a:off x="7963789" y="3714891"/>
            <a:ext cx="476035" cy="42089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0" name="矩形 9"/>
          <p:cNvSpPr/>
          <p:nvPr/>
        </p:nvSpPr>
        <p:spPr>
          <a:xfrm>
            <a:off x="9630731" y="4312078"/>
            <a:ext cx="476035" cy="42089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667786622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9" grpId="0" animBg="1"/>
      <p:bldP spid="10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虚尾箭头 1"/>
          <p:cNvSpPr/>
          <p:nvPr/>
        </p:nvSpPr>
        <p:spPr>
          <a:xfrm>
            <a:off x="432445" y="1295871"/>
            <a:ext cx="10657184" cy="3528392"/>
          </a:xfrm>
          <a:prstGeom prst="stripedRightArrow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zh-CN" sz="66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66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合作</a:t>
            </a:r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探究</a:t>
            </a:r>
            <a:r>
              <a:rPr lang="en-US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·</a:t>
            </a:r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释疑解惑</a:t>
            </a:r>
          </a:p>
        </p:txBody>
      </p:sp>
      <p:sp>
        <p:nvSpPr>
          <p:cNvPr id="3" name="圆角矩形 2">
            <a:hlinkClick r:id="rId2" action="ppaction://hlinksldjump"/>
          </p:cNvPr>
          <p:cNvSpPr/>
          <p:nvPr/>
        </p:nvSpPr>
        <p:spPr>
          <a:xfrm>
            <a:off x="2016621" y="4392215"/>
            <a:ext cx="1440160" cy="432048"/>
          </a:xfrm>
          <a:prstGeom prst="round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zh-CN" sz="2400"/>
              <a:t>探究一</a:t>
            </a:r>
            <a:endParaRPr lang="zh-CN" altLang="en-US" sz="2400"/>
          </a:p>
        </p:txBody>
      </p:sp>
      <p:sp>
        <p:nvSpPr>
          <p:cNvPr id="4" name="圆角矩形 3">
            <a:hlinkClick r:id="rId3" action="ppaction://hlinksldjump"/>
          </p:cNvPr>
          <p:cNvSpPr/>
          <p:nvPr/>
        </p:nvSpPr>
        <p:spPr>
          <a:xfrm>
            <a:off x="3816821" y="4392215"/>
            <a:ext cx="1440160" cy="432048"/>
          </a:xfrm>
          <a:prstGeom prst="round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zh-CN" sz="2400" dirty="0" smtClean="0"/>
              <a:t>探究</a:t>
            </a:r>
            <a:r>
              <a:rPr lang="zh-CN" altLang="en-US" sz="2400" dirty="0" smtClean="0"/>
              <a:t>二</a:t>
            </a:r>
            <a:endParaRPr lang="zh-CN" altLang="en-US" sz="2400" dirty="0"/>
          </a:p>
        </p:txBody>
      </p:sp>
      <p:sp>
        <p:nvSpPr>
          <p:cNvPr id="5" name="圆角矩形 4">
            <a:hlinkClick r:id="rId4" action="ppaction://hlinksldjump"/>
          </p:cNvPr>
          <p:cNvSpPr/>
          <p:nvPr/>
        </p:nvSpPr>
        <p:spPr>
          <a:xfrm>
            <a:off x="5617021" y="4392215"/>
            <a:ext cx="1440160" cy="432048"/>
          </a:xfrm>
          <a:prstGeom prst="round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zh-CN" sz="2400" dirty="0" smtClean="0"/>
              <a:t>探究</a:t>
            </a:r>
            <a:r>
              <a:rPr lang="zh-CN" altLang="en-US" sz="2400" dirty="0" smtClean="0"/>
              <a:t>三</a:t>
            </a:r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9169604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500"/>
                            </p:stCondLst>
                            <p:childTnLst>
                              <p:par>
                                <p:cTn id="21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000"/>
                            </p:stCondLst>
                            <p:childTnLst>
                              <p:par>
                                <p:cTn id="26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燕尾形 2"/>
          <p:cNvSpPr/>
          <p:nvPr/>
        </p:nvSpPr>
        <p:spPr>
          <a:xfrm>
            <a:off x="1239655" y="896503"/>
            <a:ext cx="8625838" cy="576064"/>
          </a:xfrm>
          <a:prstGeom prst="chevron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dirty="0"/>
              <a:t>探究</a:t>
            </a:r>
            <a:r>
              <a:rPr lang="zh-CN" altLang="zh-CN" dirty="0" smtClean="0"/>
              <a:t>一</a:t>
            </a:r>
            <a:r>
              <a:rPr lang="en-US" altLang="zh-CN" dirty="0" smtClean="0"/>
              <a:t>  </a:t>
            </a:r>
            <a:r>
              <a:rPr lang="zh-CN" altLang="zh-CN" dirty="0" smtClean="0"/>
              <a:t>复数</a:t>
            </a:r>
            <a:r>
              <a:rPr lang="zh-CN" altLang="zh-CN" dirty="0"/>
              <a:t>的乘法运算</a:t>
            </a:r>
          </a:p>
        </p:txBody>
      </p:sp>
      <p:grpSp>
        <p:nvGrpSpPr>
          <p:cNvPr id="6" name="组合 5"/>
          <p:cNvGrpSpPr/>
          <p:nvPr/>
        </p:nvGrpSpPr>
        <p:grpSpPr>
          <a:xfrm>
            <a:off x="361950" y="1678757"/>
            <a:ext cx="11742454" cy="3855754"/>
            <a:chOff x="361950" y="1359269"/>
            <a:chExt cx="11742454" cy="3855754"/>
          </a:xfrm>
        </p:grpSpPr>
        <p:sp>
          <p:nvSpPr>
            <p:cNvPr id="2" name="矩形 1"/>
            <p:cNvSpPr>
              <a:spLocks noChangeAspect="1"/>
            </p:cNvSpPr>
            <p:nvPr/>
          </p:nvSpPr>
          <p:spPr>
            <a:xfrm>
              <a:off x="361950" y="1359269"/>
              <a:ext cx="10807700" cy="1865126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zh-CN" altLang="zh-CN" dirty="0">
                  <a:solidFill>
                    <a:srgbClr val="000000"/>
                  </a:solidFill>
                  <a:latin typeface="Arial" panose="020B0604020202020204" pitchFamily="34" charset="0"/>
                  <a:cs typeface="Times New Roman" panose="02020603050405020304" pitchFamily="18" charset="0"/>
                </a:rPr>
                <a:t>【例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1</a:t>
              </a:r>
              <a:r>
                <a:rPr lang="zh-CN" altLang="zh-CN" dirty="0">
                  <a:solidFill>
                    <a:srgbClr val="000000"/>
                  </a:solidFill>
                  <a:latin typeface="Arial" panose="020B0604020202020204" pitchFamily="34" charset="0"/>
                  <a:cs typeface="Times New Roman" panose="02020603050405020304" pitchFamily="18" charset="0"/>
                </a:rPr>
                <a:t>】</a:t>
              </a:r>
              <a:r>
                <a:rPr lang="zh-CN" altLang="zh-CN" dirty="0">
                  <a:solidFill>
                    <a:srgbClr val="000000"/>
                  </a:solidFill>
                  <a:latin typeface="NEU-BZ-S92"/>
                  <a:ea typeface="Arial" panose="020B0604020202020204" pitchFamily="34" charset="0"/>
                  <a:cs typeface="Times New Roman" panose="02020603050405020304" pitchFamily="18" charset="0"/>
                </a:rPr>
                <a:t> 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(1)</a:t>
              </a:r>
              <a:r>
                <a:rPr lang="en-US" altLang="zh-CN" dirty="0" err="1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i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(2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+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3i)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=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</a:t>
              </a:r>
              <a:r>
                <a:rPr lang="zh-CN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　　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)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3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-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2i	</a:t>
              </a:r>
              <a:r>
                <a:rPr lang="en-US" altLang="zh-CN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B</a:t>
              </a:r>
              <a:r>
                <a:rPr lang="en-US" altLang="zh-CN" i="1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r>
                <a:rPr lang="en-US" altLang="zh-CN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3</a:t>
              </a:r>
              <a:r>
                <a:rPr lang="en-US" altLang="zh-CN" i="1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+</a:t>
              </a:r>
              <a:r>
                <a:rPr lang="en-US" altLang="zh-CN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2i</a:t>
              </a:r>
              <a:r>
                <a:rPr lang="en-US" altLang="zh-CN" dirty="0" smtClean="0">
                  <a:solidFill>
                    <a:srgbClr val="000000"/>
                  </a:solidFill>
                  <a:latin typeface="NEU-BZ-S92"/>
                  <a:ea typeface="方正书宋_GBK" panose="03000509000000000000" pitchFamily="65" charset="-122"/>
                  <a:cs typeface="Times New Roman" panose="02020603050405020304" pitchFamily="18" charset="0"/>
                </a:rPr>
                <a:t>		</a:t>
              </a:r>
              <a:r>
                <a:rPr lang="en-US" altLang="zh-CN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C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.-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3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-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2i	D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.-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3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+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2i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(2</a:t>
              </a:r>
              <a:r>
                <a:rPr lang="en-US" altLang="zh-CN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)</a:t>
              </a:r>
              <a:r>
                <a:rPr lang="zh-CN" altLang="zh-CN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若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复数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(1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+a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i)(2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+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i)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是纯虚数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则实数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</a:t>
              </a:r>
              <a:r>
                <a:rPr lang="zh-CN" altLang="zh-CN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等于</a:t>
              </a:r>
              <a:r>
                <a:rPr lang="en-US" altLang="zh-CN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</a:t>
              </a:r>
              <a:r>
                <a:rPr lang="zh-CN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　　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)</a:t>
              </a:r>
              <a:endParaRPr lang="zh-CN" altLang="zh-CN" dirty="0">
                <a:solidFill>
                  <a:srgbClr val="000000"/>
                </a:solidFill>
                <a:effectLst/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5" name="对象 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859231997"/>
                </p:ext>
              </p:extLst>
            </p:nvPr>
          </p:nvGraphicFramePr>
          <p:xfrm>
            <a:off x="432445" y="3209148"/>
            <a:ext cx="11671959" cy="20058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177" name="文档" r:id="rId4" imgW="3826872" imgH="657664" progId="Word.Document.12">
                    <p:embed/>
                  </p:oleObj>
                </mc:Choice>
                <mc:Fallback>
                  <p:oleObj name="文档" r:id="rId4" imgW="3826872" imgH="657664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5"/>
                        <a:stretch>
                          <a:fillRect/>
                        </a:stretch>
                      </p:blipFill>
                      <p:spPr>
                        <a:xfrm>
                          <a:off x="432445" y="3209148"/>
                          <a:ext cx="11671959" cy="2005875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20264129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组合 7"/>
          <p:cNvGrpSpPr/>
          <p:nvPr/>
        </p:nvGrpSpPr>
        <p:grpSpPr>
          <a:xfrm>
            <a:off x="361950" y="1439887"/>
            <a:ext cx="11771950" cy="2403239"/>
            <a:chOff x="361950" y="1556928"/>
            <a:chExt cx="11771950" cy="2403239"/>
          </a:xfrm>
        </p:grpSpPr>
        <p:sp>
          <p:nvSpPr>
            <p:cNvPr id="4" name="矩形 3"/>
            <p:cNvSpPr>
              <a:spLocks noChangeAspect="1"/>
            </p:cNvSpPr>
            <p:nvPr/>
          </p:nvSpPr>
          <p:spPr>
            <a:xfrm>
              <a:off x="361950" y="1556928"/>
              <a:ext cx="10807700" cy="1808572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zh-CN" altLang="zh-CN" dirty="0">
                  <a:latin typeface="Arial" panose="020B0604020202020204" pitchFamily="34" charset="0"/>
                  <a:cs typeface="Times New Roman" panose="02020603050405020304" pitchFamily="18" charset="0"/>
                </a:rPr>
                <a:t>解析</a:t>
              </a:r>
              <a:r>
                <a:rPr lang="en-US" altLang="zh-CN" dirty="0">
                  <a:latin typeface="Arial" panose="020B0604020202020204" pitchFamily="34" charset="0"/>
                  <a:cs typeface="Times New Roman" panose="02020603050405020304" pitchFamily="18" charset="0"/>
                </a:rPr>
                <a:t>: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(1)</a:t>
              </a:r>
              <a:r>
                <a:rPr lang="en-US" altLang="zh-CN" dirty="0" err="1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i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(2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+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3i)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=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2i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+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3i</a:t>
              </a:r>
              <a:r>
                <a:rPr lang="en-US" altLang="zh-CN" baseline="30000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2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=-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3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+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2i,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故选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D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(2)(1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+a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i)(2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+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i)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=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2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-a+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(1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+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2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)</a:t>
              </a:r>
              <a:r>
                <a:rPr lang="en-US" altLang="zh-CN" dirty="0" err="1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i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要使复数为纯虚数</a:t>
              </a:r>
              <a:r>
                <a:rPr lang="en-US" altLang="zh-CN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zh-CN" altLang="zh-CN" dirty="0" smtClean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有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2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-a=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0,1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+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2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≠0,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解得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a=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2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effectLst/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7" name="对象 6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110935189"/>
                </p:ext>
              </p:extLst>
            </p:nvPr>
          </p:nvGraphicFramePr>
          <p:xfrm>
            <a:off x="461941" y="3413211"/>
            <a:ext cx="11671959" cy="54695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201" name="文档" r:id="rId4" imgW="3826872" imgH="179330" progId="Word.Document.12">
                    <p:embed/>
                  </p:oleObj>
                </mc:Choice>
                <mc:Fallback>
                  <p:oleObj name="文档" r:id="rId4" imgW="3826872" imgH="179330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5"/>
                        <a:stretch>
                          <a:fillRect/>
                        </a:stretch>
                      </p:blipFill>
                      <p:spPr>
                        <a:xfrm>
                          <a:off x="461941" y="3413211"/>
                          <a:ext cx="11671959" cy="546956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9" name="矩形 8"/>
          <p:cNvSpPr>
            <a:spLocks noChangeAspect="1"/>
          </p:cNvSpPr>
          <p:nvPr/>
        </p:nvSpPr>
        <p:spPr>
          <a:xfrm>
            <a:off x="361950" y="3879942"/>
            <a:ext cx="4599336" cy="68326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答案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(1)D</a:t>
            </a:r>
            <a:r>
              <a:rPr lang="zh-CN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　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(2)A</a:t>
            </a:r>
            <a:r>
              <a:rPr lang="zh-CN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　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3)3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I 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510939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反思感悟H.eps" descr="id:2147490797;FounderCES"/>
          <p:cNvPicPr/>
          <p:nvPr/>
        </p:nvPicPr>
        <p:blipFill>
          <a:blip r:embed="rId2"/>
          <a:stretch>
            <a:fillRect/>
          </a:stretch>
        </p:blipFill>
        <p:spPr>
          <a:xfrm>
            <a:off x="361950" y="853991"/>
            <a:ext cx="2259558" cy="531552"/>
          </a:xfrm>
          <a:prstGeom prst="rect">
            <a:avLst/>
          </a:prstGeom>
        </p:spPr>
      </p:pic>
      <p:sp>
        <p:nvSpPr>
          <p:cNvPr id="2" name="矩形 1"/>
          <p:cNvSpPr>
            <a:spLocks noChangeAspect="1"/>
          </p:cNvSpPr>
          <p:nvPr/>
        </p:nvSpPr>
        <p:spPr>
          <a:xfrm>
            <a:off x="361950" y="1432330"/>
            <a:ext cx="10807700" cy="4189545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两个复数代数表示式乘法运算的一般方法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: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先按多项式的乘法展开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;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再将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baseline="30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换成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1;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最后进行复数的加、减运算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化简为复数的代数形式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常用公式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: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(1)(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a+b</a:t>
            </a: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en-US" altLang="zh-CN" baseline="30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=a</a:t>
            </a:r>
            <a:r>
              <a:rPr lang="en-US" altLang="zh-CN" baseline="30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+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ab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-b</a:t>
            </a:r>
            <a:r>
              <a:rPr lang="en-US" altLang="zh-CN" baseline="30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∈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R);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(2)(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a+b</a:t>
            </a: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a-b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i)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=a</a:t>
            </a:r>
            <a:r>
              <a:rPr lang="en-US" altLang="zh-CN" baseline="30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+b</a:t>
            </a:r>
            <a:r>
              <a:rPr lang="en-US" altLang="zh-CN" baseline="30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∈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R);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(3)(1</a:t>
            </a:r>
            <a:r>
              <a:rPr lang="en-US" altLang="zh-CN" i="1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±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i)</a:t>
            </a:r>
            <a:r>
              <a:rPr lang="en-US" altLang="zh-CN" baseline="30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i="1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±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2i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043882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/>
          <p:cNvGrpSpPr/>
          <p:nvPr/>
        </p:nvGrpSpPr>
        <p:grpSpPr>
          <a:xfrm>
            <a:off x="361950" y="1007839"/>
            <a:ext cx="11742454" cy="4579789"/>
            <a:chOff x="361950" y="1007839"/>
            <a:chExt cx="11742454" cy="4579789"/>
          </a:xfrm>
        </p:grpSpPr>
        <p:sp>
          <p:nvSpPr>
            <p:cNvPr id="3" name="矩形 2"/>
            <p:cNvSpPr>
              <a:spLocks noChangeAspect="1"/>
            </p:cNvSpPr>
            <p:nvPr/>
          </p:nvSpPr>
          <p:spPr>
            <a:xfrm>
              <a:off x="361950" y="1007839"/>
              <a:ext cx="10807700" cy="3046988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zh-CN" altLang="zh-CN" dirty="0">
                  <a:solidFill>
                    <a:srgbClr val="000000"/>
                  </a:solidFill>
                  <a:latin typeface="Arial" panose="020B0604020202020204" pitchFamily="34" charset="0"/>
                  <a:cs typeface="Times New Roman" panose="02020603050405020304" pitchFamily="18" charset="0"/>
                </a:rPr>
                <a:t>【变式训练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1</a:t>
              </a:r>
              <a:r>
                <a:rPr lang="zh-CN" altLang="zh-CN" dirty="0">
                  <a:solidFill>
                    <a:srgbClr val="000000"/>
                  </a:solidFill>
                  <a:latin typeface="Arial" panose="020B0604020202020204" pitchFamily="34" charset="0"/>
                  <a:cs typeface="Times New Roman" panose="02020603050405020304" pitchFamily="18" charset="0"/>
                </a:rPr>
                <a:t>】</a:t>
              </a:r>
              <a:r>
                <a:rPr lang="zh-CN" altLang="zh-CN" dirty="0">
                  <a:solidFill>
                    <a:srgbClr val="000000"/>
                  </a:solidFill>
                  <a:latin typeface="NEU-BZ-S92"/>
                  <a:ea typeface="Arial" panose="020B0604020202020204" pitchFamily="34" charset="0"/>
                  <a:cs typeface="Times New Roman" panose="02020603050405020304" pitchFamily="18" charset="0"/>
                </a:rPr>
                <a:t> 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(1)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复数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(1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+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i)</a:t>
              </a:r>
              <a:r>
                <a:rPr lang="en-US" altLang="zh-CN" baseline="30000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2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(2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+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3i)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的值为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</a:t>
              </a:r>
              <a:r>
                <a:rPr lang="zh-CN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　　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)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A.6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-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4i	B.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-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6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-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4i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C.6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+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4i	D.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-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6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+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4i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(2)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在复平面内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复数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(1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+b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i)(2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+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i)(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b</a:t>
              </a:r>
              <a:r>
                <a:rPr lang="zh-CN" altLang="zh-CN" dirty="0">
                  <a:solidFill>
                    <a:srgbClr val="000000"/>
                  </a:solidFill>
                  <a:latin typeface="NEU-BZ-S92" panose="02020503000000020003" pitchFamily="18" charset="-122"/>
                  <a:ea typeface="宋体" panose="02010600030101010101" pitchFamily="2" charset="-122"/>
                  <a:cs typeface="宋体" panose="02010600030101010101" pitchFamily="2" charset="-122"/>
                </a:rPr>
                <a:t>∈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R)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表示的点在第四象限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则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b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的取值范围是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</a:t>
              </a:r>
              <a:r>
                <a:rPr lang="zh-CN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　　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)</a:t>
              </a:r>
              <a:endParaRPr lang="zh-CN" altLang="zh-CN" dirty="0">
                <a:solidFill>
                  <a:srgbClr val="000000"/>
                </a:solidFill>
                <a:latin typeface="NEU-BZ-S92" panose="02020503000000020003" pitchFamily="18" charset="-122"/>
                <a:ea typeface="NEU-BZ-S92" panose="02020503000000020003" pitchFamily="18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4" name="对象 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156376408"/>
                </p:ext>
              </p:extLst>
            </p:nvPr>
          </p:nvGraphicFramePr>
          <p:xfrm>
            <a:off x="432445" y="3998273"/>
            <a:ext cx="11671959" cy="158935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225" name="文档" r:id="rId4" imgW="3826872" imgH="521100" progId="Word.Document.12">
                    <p:embed/>
                  </p:oleObj>
                </mc:Choice>
                <mc:Fallback>
                  <p:oleObj name="文档" r:id="rId4" imgW="3826872" imgH="521100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5"/>
                        <a:stretch>
                          <a:fillRect/>
                        </a:stretch>
                      </p:blipFill>
                      <p:spPr>
                        <a:xfrm>
                          <a:off x="432445" y="3998273"/>
                          <a:ext cx="11671959" cy="1589355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9758010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/>
          <p:cNvGrpSpPr/>
          <p:nvPr/>
        </p:nvGrpSpPr>
        <p:grpSpPr>
          <a:xfrm>
            <a:off x="361950" y="1276638"/>
            <a:ext cx="11735791" cy="2916705"/>
            <a:chOff x="361950" y="1556928"/>
            <a:chExt cx="11735791" cy="2916705"/>
          </a:xfrm>
        </p:grpSpPr>
        <p:sp>
          <p:nvSpPr>
            <p:cNvPr id="2" name="矩形 1"/>
            <p:cNvSpPr>
              <a:spLocks noChangeAspect="1"/>
            </p:cNvSpPr>
            <p:nvPr/>
          </p:nvSpPr>
          <p:spPr>
            <a:xfrm>
              <a:off x="361950" y="1556928"/>
              <a:ext cx="10807700" cy="1865126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zh-CN" altLang="zh-CN" dirty="0">
                  <a:latin typeface="Arial" panose="020B0604020202020204" pitchFamily="34" charset="0"/>
                  <a:cs typeface="Times New Roman" panose="02020603050405020304" pitchFamily="18" charset="0"/>
                </a:rPr>
                <a:t>解析</a:t>
              </a:r>
              <a:r>
                <a:rPr lang="en-US" altLang="zh-CN" dirty="0">
                  <a:latin typeface="Arial" panose="020B0604020202020204" pitchFamily="34" charset="0"/>
                  <a:cs typeface="Times New Roman" panose="02020603050405020304" pitchFamily="18" charset="0"/>
                </a:rPr>
                <a:t>: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(1)(1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+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i)</a:t>
              </a:r>
              <a:r>
                <a:rPr lang="en-US" altLang="zh-CN" baseline="30000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2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(2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+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3i)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=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2i(2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+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3i)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=-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6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+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4i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</a:rPr>
                <a:t>(2)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因为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</a:rPr>
                <a:t>(1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</a:rPr>
                <a:t>+b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</a:rPr>
                <a:t>i)(2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</a:rPr>
                <a:t>+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</a:rPr>
                <a:t>i)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</a:rPr>
                <a:t>=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</a:rPr>
                <a:t>(2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</a:rPr>
                <a:t>-b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</a:rPr>
                <a:t>)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</a:rPr>
                <a:t>+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</a:rPr>
                <a:t>(1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</a:rPr>
                <a:t>+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</a:rPr>
                <a:t>2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</a:rPr>
                <a:t>b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</a:rPr>
                <a:t>)</a:t>
              </a:r>
              <a:r>
                <a:rPr lang="en-US" altLang="zh-CN" dirty="0" err="1">
                  <a:solidFill>
                    <a:srgbClr val="000000"/>
                  </a:solidFill>
                  <a:ea typeface="宋体" panose="02010600030101010101" pitchFamily="2" charset="-122"/>
                </a:rPr>
                <a:t>i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且在复平面内复数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</a:rPr>
                <a:t>(1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</a:rPr>
                <a:t>+b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</a:rPr>
                <a:t>i)(2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</a:rPr>
                <a:t>+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</a:rPr>
                <a:t>i)(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</a:rPr>
                <a:t>b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宋体" panose="02010600030101010101" pitchFamily="2" charset="-122"/>
                </a:rPr>
                <a:t>∈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</a:rPr>
                <a:t>R)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对应的点在第四象限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</a:rPr>
                <a:t>,</a:t>
              </a:r>
              <a:endParaRPr lang="zh-CN" altLang="en-US" dirty="0"/>
            </a:p>
          </p:txBody>
        </p:sp>
        <p:graphicFrame>
          <p:nvGraphicFramePr>
            <p:cNvPr id="6" name="对象 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09912233"/>
                </p:ext>
              </p:extLst>
            </p:nvPr>
          </p:nvGraphicFramePr>
          <p:xfrm>
            <a:off x="425782" y="3384103"/>
            <a:ext cx="11671959" cy="108953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249" name="文档" r:id="rId4" imgW="3826872" imgH="357223" progId="Word.Document.12">
                    <p:embed/>
                  </p:oleObj>
                </mc:Choice>
                <mc:Fallback>
                  <p:oleObj name="文档" r:id="rId4" imgW="3826872" imgH="357223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5"/>
                        <a:stretch>
                          <a:fillRect/>
                        </a:stretch>
                      </p:blipFill>
                      <p:spPr>
                        <a:xfrm>
                          <a:off x="425782" y="3384103"/>
                          <a:ext cx="11671959" cy="108953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8" name="矩形 7"/>
          <p:cNvSpPr>
            <a:spLocks noChangeAspect="1"/>
          </p:cNvSpPr>
          <p:nvPr/>
        </p:nvSpPr>
        <p:spPr>
          <a:xfrm>
            <a:off x="361950" y="4183511"/>
            <a:ext cx="3185296" cy="68326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答案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(1)D</a:t>
            </a:r>
            <a:r>
              <a:rPr lang="zh-CN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　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2)A 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053506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燕尾形 2"/>
          <p:cNvSpPr/>
          <p:nvPr/>
        </p:nvSpPr>
        <p:spPr>
          <a:xfrm>
            <a:off x="1239655" y="948556"/>
            <a:ext cx="8625838" cy="576064"/>
          </a:xfrm>
          <a:prstGeom prst="chevron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dirty="0"/>
              <a:t>探究</a:t>
            </a:r>
            <a:r>
              <a:rPr lang="zh-CN" altLang="zh-CN" dirty="0" smtClean="0"/>
              <a:t>二</a:t>
            </a:r>
            <a:r>
              <a:rPr lang="en-US" altLang="zh-CN" dirty="0" smtClean="0"/>
              <a:t>  </a:t>
            </a:r>
            <a:r>
              <a:rPr lang="zh-CN" altLang="zh-CN" dirty="0" smtClean="0"/>
              <a:t>复数</a:t>
            </a:r>
            <a:r>
              <a:rPr lang="zh-CN" altLang="zh-CN" dirty="0"/>
              <a:t>的除法运算</a:t>
            </a:r>
          </a:p>
        </p:txBody>
      </p:sp>
      <p:grpSp>
        <p:nvGrpSpPr>
          <p:cNvPr id="5" name="组合 4"/>
          <p:cNvGrpSpPr/>
          <p:nvPr/>
        </p:nvGrpSpPr>
        <p:grpSpPr>
          <a:xfrm>
            <a:off x="361950" y="1717405"/>
            <a:ext cx="11671959" cy="3529074"/>
            <a:chOff x="361950" y="1488656"/>
            <a:chExt cx="11671959" cy="3529074"/>
          </a:xfrm>
        </p:grpSpPr>
        <p:sp>
          <p:nvSpPr>
            <p:cNvPr id="2" name="矩形 1"/>
            <p:cNvSpPr>
              <a:spLocks noChangeAspect="1"/>
            </p:cNvSpPr>
            <p:nvPr/>
          </p:nvSpPr>
          <p:spPr>
            <a:xfrm>
              <a:off x="361950" y="1488656"/>
              <a:ext cx="10807700" cy="1865126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zh-CN" altLang="zh-CN" dirty="0">
                  <a:solidFill>
                    <a:srgbClr val="000000"/>
                  </a:solidFill>
                  <a:latin typeface="Arial" panose="020B0604020202020204" pitchFamily="34" charset="0"/>
                  <a:cs typeface="Times New Roman" panose="02020603050405020304" pitchFamily="18" charset="0"/>
                </a:rPr>
                <a:t>【例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2</a:t>
              </a:r>
              <a:r>
                <a:rPr lang="zh-CN" altLang="zh-CN" dirty="0">
                  <a:solidFill>
                    <a:srgbClr val="000000"/>
                  </a:solidFill>
                  <a:latin typeface="Arial" panose="020B0604020202020204" pitchFamily="34" charset="0"/>
                  <a:cs typeface="Times New Roman" panose="02020603050405020304" pitchFamily="18" charset="0"/>
                </a:rPr>
                <a:t>】</a:t>
              </a:r>
              <a:r>
                <a:rPr lang="zh-CN" altLang="zh-CN" dirty="0">
                  <a:solidFill>
                    <a:srgbClr val="000000"/>
                  </a:solidFill>
                  <a:latin typeface="NEU-BZ-S92"/>
                  <a:ea typeface="Arial" panose="020B0604020202020204" pitchFamily="34" charset="0"/>
                  <a:cs typeface="Times New Roman" panose="02020603050405020304" pitchFamily="18" charset="0"/>
                </a:rPr>
                <a:t> 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(1)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若复数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z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满足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z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(2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-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i)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=</a:t>
              </a:r>
              <a:r>
                <a:rPr lang="en-US" altLang="zh-CN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11</a:t>
              </a:r>
              <a:r>
                <a:rPr lang="en-US" altLang="zh-CN" i="1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+</a:t>
              </a:r>
              <a:r>
                <a:rPr lang="en-US" altLang="zh-CN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7i,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则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z</a:t>
              </a:r>
              <a:r>
                <a:rPr lang="zh-CN" altLang="zh-CN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为</a:t>
              </a:r>
              <a:r>
                <a:rPr lang="en-US" altLang="zh-CN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</a:t>
              </a:r>
              <a:r>
                <a:rPr lang="zh-CN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　　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)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A.3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+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5i	B.3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-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5i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C.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-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3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+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5i	D.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-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3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-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5i</a:t>
              </a:r>
              <a:endParaRPr lang="zh-CN" altLang="zh-CN" dirty="0">
                <a:solidFill>
                  <a:srgbClr val="000000"/>
                </a:solidFill>
                <a:effectLst/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4" name="对象 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100117517"/>
                </p:ext>
              </p:extLst>
            </p:nvPr>
          </p:nvGraphicFramePr>
          <p:xfrm>
            <a:off x="361950" y="3322052"/>
            <a:ext cx="11671959" cy="169567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272" name="文档" r:id="rId4" imgW="3826872" imgH="555960" progId="Word.Document.12">
                    <p:embed/>
                  </p:oleObj>
                </mc:Choice>
                <mc:Fallback>
                  <p:oleObj name="文档" r:id="rId4" imgW="3826872" imgH="555960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5"/>
                        <a:stretch>
                          <a:fillRect/>
                        </a:stretch>
                      </p:blipFill>
                      <p:spPr>
                        <a:xfrm>
                          <a:off x="361950" y="3322052"/>
                          <a:ext cx="11671959" cy="1695678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25849948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9354797"/>
              </p:ext>
            </p:extLst>
          </p:nvPr>
        </p:nvGraphicFramePr>
        <p:xfrm>
          <a:off x="577850" y="935038"/>
          <a:ext cx="11645900" cy="3910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296" name="文档" r:id="rId4" imgW="3826872" imgH="1315328" progId="Word.Document.12">
                  <p:embed/>
                </p:oleObj>
              </mc:Choice>
              <mc:Fallback>
                <p:oleObj name="文档" r:id="rId4" imgW="3826872" imgH="1315328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577850" y="935038"/>
                        <a:ext cx="11645900" cy="391001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矩形 6"/>
          <p:cNvSpPr>
            <a:spLocks noChangeAspect="1"/>
          </p:cNvSpPr>
          <p:nvPr/>
        </p:nvSpPr>
        <p:spPr>
          <a:xfrm>
            <a:off x="471773" y="4870911"/>
            <a:ext cx="3185296" cy="68326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答案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(1)A</a:t>
            </a:r>
            <a:r>
              <a:rPr lang="zh-CN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　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2)A 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433081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/>
          <p:cNvGrpSpPr/>
          <p:nvPr/>
        </p:nvGrpSpPr>
        <p:grpSpPr>
          <a:xfrm>
            <a:off x="361950" y="844159"/>
            <a:ext cx="11742454" cy="5036252"/>
            <a:chOff x="361950" y="940139"/>
            <a:chExt cx="11742454" cy="5036252"/>
          </a:xfrm>
        </p:grpSpPr>
        <p:pic>
          <p:nvPicPr>
            <p:cNvPr id="4" name="反思感悟H.eps" descr="id:2147490797;FounderCES"/>
            <p:cNvPicPr/>
            <p:nvPr/>
          </p:nvPicPr>
          <p:blipFill>
            <a:blip r:embed="rId3"/>
            <a:stretch>
              <a:fillRect/>
            </a:stretch>
          </p:blipFill>
          <p:spPr>
            <a:xfrm>
              <a:off x="361950" y="940139"/>
              <a:ext cx="2259558" cy="531552"/>
            </a:xfrm>
            <a:prstGeom prst="rect">
              <a:avLst/>
            </a:prstGeom>
          </p:spPr>
        </p:pic>
        <p:sp>
          <p:nvSpPr>
            <p:cNvPr id="2" name="矩形 1"/>
            <p:cNvSpPr>
              <a:spLocks noChangeAspect="1"/>
            </p:cNvSpPr>
            <p:nvPr/>
          </p:nvSpPr>
          <p:spPr>
            <a:xfrm>
              <a:off x="361950" y="1521098"/>
              <a:ext cx="10807700" cy="3637919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1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两个复数代数表示式的除法运算步骤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: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(1)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将除式写为分数的形式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;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en-US" altLang="zh-CN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2)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将分子、分母同乘分母的共轭复数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;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(3)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将分子、分母分别进行乘法运算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并将其化为复数的代数形式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2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常用公式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:</a:t>
              </a:r>
              <a:endParaRPr lang="zh-CN" altLang="zh-CN" dirty="0">
                <a:solidFill>
                  <a:srgbClr val="000000"/>
                </a:solidFill>
                <a:effectLst/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3" name="对象 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930642229"/>
                </p:ext>
              </p:extLst>
            </p:nvPr>
          </p:nvGraphicFramePr>
          <p:xfrm>
            <a:off x="432445" y="5071008"/>
            <a:ext cx="11671959" cy="90538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3320" name="文档" r:id="rId5" imgW="3826872" imgH="296847" progId="Word.Document.12">
                    <p:embed/>
                  </p:oleObj>
                </mc:Choice>
                <mc:Fallback>
                  <p:oleObj name="文档" r:id="rId5" imgW="3826872" imgH="296847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432445" y="5071008"/>
                          <a:ext cx="11671959" cy="905383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7354956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对象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43214411"/>
              </p:ext>
            </p:extLst>
          </p:nvPr>
        </p:nvGraphicFramePr>
        <p:xfrm>
          <a:off x="504453" y="628135"/>
          <a:ext cx="11671959" cy="31293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50" name="文档" r:id="rId4" imgW="3837724" imgH="1029439" progId="Word.Document.12">
                  <p:embed/>
                </p:oleObj>
              </mc:Choice>
              <mc:Fallback>
                <p:oleObj name="文档" r:id="rId4" imgW="3837724" imgH="1029439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504453" y="628135"/>
                        <a:ext cx="11671959" cy="312938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15526365"/>
              </p:ext>
            </p:extLst>
          </p:nvPr>
        </p:nvGraphicFramePr>
        <p:xfrm>
          <a:off x="504453" y="3728687"/>
          <a:ext cx="11671959" cy="196422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51" name="文档" r:id="rId7" imgW="3826872" imgH="644008" progId="Word.Document.12">
                  <p:embed/>
                </p:oleObj>
              </mc:Choice>
              <mc:Fallback>
                <p:oleObj name="文档" r:id="rId7" imgW="3826872" imgH="644008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504453" y="3728687"/>
                        <a:ext cx="11671959" cy="196422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矩形 8"/>
          <p:cNvSpPr>
            <a:spLocks noChangeAspect="1"/>
          </p:cNvSpPr>
          <p:nvPr/>
        </p:nvSpPr>
        <p:spPr>
          <a:xfrm>
            <a:off x="444997" y="5686541"/>
            <a:ext cx="3185296" cy="68326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答案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(1)C</a:t>
            </a:r>
            <a:r>
              <a:rPr lang="zh-CN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　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2)A 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684559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燕尾形 2"/>
          <p:cNvSpPr/>
          <p:nvPr/>
        </p:nvSpPr>
        <p:spPr>
          <a:xfrm>
            <a:off x="1239655" y="1223863"/>
            <a:ext cx="8625838" cy="576064"/>
          </a:xfrm>
          <a:prstGeom prst="chevron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dirty="0"/>
              <a:t>探究</a:t>
            </a:r>
            <a:r>
              <a:rPr lang="zh-CN" altLang="zh-CN" dirty="0" smtClean="0"/>
              <a:t>三</a:t>
            </a:r>
            <a:r>
              <a:rPr lang="en-US" altLang="zh-CN" dirty="0" smtClean="0"/>
              <a:t>  </a:t>
            </a:r>
            <a:r>
              <a:rPr lang="zh-CN" altLang="zh-CN" dirty="0" smtClean="0"/>
              <a:t>在</a:t>
            </a:r>
            <a:r>
              <a:rPr lang="zh-CN" altLang="zh-CN" dirty="0"/>
              <a:t>复数范围内解方程</a:t>
            </a:r>
          </a:p>
        </p:txBody>
      </p:sp>
      <p:sp>
        <p:nvSpPr>
          <p:cNvPr id="2" name="矩形 1"/>
          <p:cNvSpPr>
            <a:spLocks noChangeAspect="1"/>
          </p:cNvSpPr>
          <p:nvPr/>
        </p:nvSpPr>
        <p:spPr>
          <a:xfrm>
            <a:off x="361950" y="2001084"/>
            <a:ext cx="10807700" cy="2399503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【例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zh-CN" altLang="zh-CN" dirty="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】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在复数范围内解下列方程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: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(1)2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baseline="30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+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;</a:t>
            </a: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2)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baseline="30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+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x+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4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0;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(3)2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baseline="30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+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x+c=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∈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R)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956077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84298500"/>
              </p:ext>
            </p:extLst>
          </p:nvPr>
        </p:nvGraphicFramePr>
        <p:xfrm>
          <a:off x="504825" y="714375"/>
          <a:ext cx="11645900" cy="5497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68" name="文档" r:id="rId4" imgW="3837724" imgH="1817654" progId="Word.Document.12">
                  <p:embed/>
                </p:oleObj>
              </mc:Choice>
              <mc:Fallback>
                <p:oleObj name="文档" r:id="rId4" imgW="3837724" imgH="1817654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504825" y="714375"/>
                        <a:ext cx="11645900" cy="54975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6922317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/>
          <p:cNvGrpSpPr/>
          <p:nvPr/>
        </p:nvGrpSpPr>
        <p:grpSpPr>
          <a:xfrm>
            <a:off x="361950" y="781983"/>
            <a:ext cx="11671959" cy="5227088"/>
            <a:chOff x="361950" y="791815"/>
            <a:chExt cx="11671959" cy="5227088"/>
          </a:xfrm>
        </p:grpSpPr>
        <p:pic>
          <p:nvPicPr>
            <p:cNvPr id="3" name="反思感悟H.eps" descr="id:2147490797;FounderCES"/>
            <p:cNvPicPr/>
            <p:nvPr/>
          </p:nvPicPr>
          <p:blipFill>
            <a:blip r:embed="rId3"/>
            <a:stretch>
              <a:fillRect/>
            </a:stretch>
          </p:blipFill>
          <p:spPr>
            <a:xfrm>
              <a:off x="361950" y="791815"/>
              <a:ext cx="2259558" cy="531552"/>
            </a:xfrm>
            <a:prstGeom prst="rect">
              <a:avLst/>
            </a:prstGeom>
          </p:spPr>
        </p:pic>
        <p:graphicFrame>
          <p:nvGraphicFramePr>
            <p:cNvPr id="2" name="对象 1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456757744"/>
                </p:ext>
              </p:extLst>
            </p:nvPr>
          </p:nvGraphicFramePr>
          <p:xfrm>
            <a:off x="361950" y="1404293"/>
            <a:ext cx="11671959" cy="461461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6392" name="文档" r:id="rId5" imgW="3826872" imgH="1512987" progId="Word.Document.12">
                    <p:embed/>
                  </p:oleObj>
                </mc:Choice>
                <mc:Fallback>
                  <p:oleObj name="文档" r:id="rId5" imgW="3826872" imgH="1512987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361950" y="1404293"/>
                          <a:ext cx="11671959" cy="461461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5538738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>
            <a:spLocks noChangeAspect="1"/>
          </p:cNvSpPr>
          <p:nvPr/>
        </p:nvSpPr>
        <p:spPr>
          <a:xfrm>
            <a:off x="361950" y="945663"/>
            <a:ext cx="10807700" cy="1217641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【变式训练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zh-CN" altLang="zh-CN" dirty="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】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在复数范围内解下列方程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: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(1)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baseline="30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-x+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0;(2)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baseline="30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+bx+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∈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R)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0426163"/>
              </p:ext>
            </p:extLst>
          </p:nvPr>
        </p:nvGraphicFramePr>
        <p:xfrm>
          <a:off x="422613" y="2215010"/>
          <a:ext cx="11671959" cy="319514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16" name="文档" r:id="rId4" imgW="3826872" imgH="1047590" progId="Word.Document.12">
                  <p:embed/>
                </p:oleObj>
              </mc:Choice>
              <mc:Fallback>
                <p:oleObj name="文档" r:id="rId4" imgW="3826872" imgH="1047590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22613" y="2215010"/>
                        <a:ext cx="11671959" cy="319514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6301869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虚尾箭头 1"/>
          <p:cNvSpPr/>
          <p:nvPr/>
        </p:nvSpPr>
        <p:spPr>
          <a:xfrm>
            <a:off x="432445" y="1295871"/>
            <a:ext cx="10657184" cy="3528392"/>
          </a:xfrm>
          <a:prstGeom prst="stripedRightArrow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易</a:t>
            </a:r>
            <a:r>
              <a:rPr lang="en-US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错</a:t>
            </a:r>
            <a:r>
              <a:rPr lang="en-US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辨</a:t>
            </a:r>
            <a:r>
              <a:rPr lang="en-US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析</a:t>
            </a:r>
          </a:p>
        </p:txBody>
      </p:sp>
    </p:spTree>
    <p:extLst>
      <p:ext uri="{BB962C8B-B14F-4D97-AF65-F5344CB8AC3E}">
        <p14:creationId xmlns:p14="http://schemas.microsoft.com/office/powerpoint/2010/main" val="41619904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/>
        </p:nvGrpSpPr>
        <p:grpSpPr>
          <a:xfrm>
            <a:off x="361950" y="647799"/>
            <a:ext cx="11814462" cy="4477665"/>
            <a:chOff x="361950" y="647799"/>
            <a:chExt cx="11814462" cy="4477665"/>
          </a:xfrm>
        </p:grpSpPr>
        <p:sp>
          <p:nvSpPr>
            <p:cNvPr id="2" name="矩形 1"/>
            <p:cNvSpPr>
              <a:spLocks noChangeAspect="1"/>
            </p:cNvSpPr>
            <p:nvPr/>
          </p:nvSpPr>
          <p:spPr>
            <a:xfrm>
              <a:off x="3369150" y="647799"/>
              <a:ext cx="4793300" cy="68326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zh-CN" altLang="zh-CN" dirty="0">
                  <a:solidFill>
                    <a:srgbClr val="000000"/>
                  </a:solidFill>
                  <a:latin typeface="Arial" panose="020B0604020202020204" pitchFamily="34" charset="0"/>
                  <a:cs typeface="Times New Roman" panose="02020603050405020304" pitchFamily="18" charset="0"/>
                </a:rPr>
                <a:t>记错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i</a:t>
              </a:r>
              <a:r>
                <a:rPr lang="en-US" altLang="zh-CN" i="1" baseline="30000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n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n</a:t>
              </a:r>
              <a:r>
                <a:rPr lang="zh-CN" altLang="zh-CN" dirty="0">
                  <a:solidFill>
                    <a:srgbClr val="000000"/>
                  </a:solidFill>
                  <a:latin typeface="NEU-BZ-S92"/>
                  <a:ea typeface="宋体" panose="02010600030101010101" pitchFamily="2" charset="-122"/>
                  <a:cs typeface="宋体" panose="02010600030101010101" pitchFamily="2" charset="-122"/>
                </a:rPr>
                <a:t>∈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N</a:t>
              </a:r>
              <a:r>
                <a:rPr lang="en-US" altLang="zh-CN" i="1" baseline="30000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*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)</a:t>
              </a:r>
              <a:r>
                <a:rPr lang="zh-CN" altLang="zh-CN" dirty="0">
                  <a:solidFill>
                    <a:srgbClr val="000000"/>
                  </a:solidFill>
                  <a:latin typeface="Arial" panose="020B0604020202020204" pitchFamily="34" charset="0"/>
                  <a:cs typeface="Times New Roman" panose="02020603050405020304" pitchFamily="18" charset="0"/>
                </a:rPr>
                <a:t>的值而</a:t>
              </a:r>
              <a:r>
                <a:rPr lang="zh-CN" altLang="zh-CN" dirty="0" smtClean="0">
                  <a:solidFill>
                    <a:srgbClr val="000000"/>
                  </a:solidFill>
                  <a:latin typeface="Arial" panose="020B0604020202020204" pitchFamily="34" charset="0"/>
                  <a:cs typeface="Times New Roman" panose="02020603050405020304" pitchFamily="18" charset="0"/>
                </a:rPr>
                <a:t>致</a:t>
              </a:r>
              <a:r>
                <a:rPr lang="zh-CN" altLang="en-US" dirty="0" smtClean="0">
                  <a:solidFill>
                    <a:srgbClr val="000000"/>
                  </a:solidFill>
                  <a:latin typeface="Arial" panose="020B0604020202020204" pitchFamily="34" charset="0"/>
                  <a:cs typeface="Times New Roman" panose="02020603050405020304" pitchFamily="18" charset="0"/>
                </a:rPr>
                <a:t>错</a:t>
              </a:r>
              <a:r>
                <a:rPr lang="en-US" altLang="zh-CN" dirty="0" smtClean="0">
                  <a:solidFill>
                    <a:srgbClr val="000000"/>
                  </a:solidFill>
                  <a:latin typeface="Arial" panose="020B0604020202020204" pitchFamily="34" charset="0"/>
                  <a:cs typeface="Times New Roman" panose="02020603050405020304" pitchFamily="18" charset="0"/>
                </a:rPr>
                <a:t> </a:t>
              </a:r>
              <a:endParaRPr lang="zh-CN" altLang="zh-CN" dirty="0">
                <a:solidFill>
                  <a:srgbClr val="000000"/>
                </a:solidFill>
                <a:effectLst/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4" name="对象 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941158970"/>
                </p:ext>
              </p:extLst>
            </p:nvPr>
          </p:nvGraphicFramePr>
          <p:xfrm>
            <a:off x="504453" y="1305703"/>
            <a:ext cx="11671959" cy="268874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8446" name="文档" r:id="rId4" imgW="3826872" imgH="881557" progId="Word.Document.12">
                    <p:embed/>
                  </p:oleObj>
                </mc:Choice>
                <mc:Fallback>
                  <p:oleObj name="文档" r:id="rId4" imgW="3826872" imgH="881557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5"/>
                        <a:stretch>
                          <a:fillRect/>
                        </a:stretch>
                      </p:blipFill>
                      <p:spPr>
                        <a:xfrm>
                          <a:off x="504453" y="1305703"/>
                          <a:ext cx="11671959" cy="2688749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" name="矩形 4"/>
            <p:cNvSpPr>
              <a:spLocks noChangeAspect="1"/>
            </p:cNvSpPr>
            <p:nvPr/>
          </p:nvSpPr>
          <p:spPr>
            <a:xfrm>
              <a:off x="361950" y="3907823"/>
              <a:ext cx="10807700" cy="1217641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以上解答过程中都有哪些错误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?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出错的原因是什么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?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你如何改正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?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你如何防范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?</a:t>
              </a:r>
              <a:endParaRPr lang="zh-CN" altLang="zh-CN" dirty="0">
                <a:solidFill>
                  <a:srgbClr val="000000"/>
                </a:solidFill>
                <a:effectLst/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</p:grpSp>
      <p:graphicFrame>
        <p:nvGraphicFramePr>
          <p:cNvPr id="7" name="对象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66809470"/>
              </p:ext>
            </p:extLst>
          </p:nvPr>
        </p:nvGraphicFramePr>
        <p:xfrm>
          <a:off x="504452" y="5126699"/>
          <a:ext cx="11671959" cy="124627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47" name="文档" r:id="rId7" imgW="3826872" imgH="408614" progId="Word.Document.12">
                  <p:embed/>
                </p:oleObj>
              </mc:Choice>
              <mc:Fallback>
                <p:oleObj name="文档" r:id="rId7" imgW="3826872" imgH="408614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504452" y="5126699"/>
                        <a:ext cx="11671959" cy="124627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343944478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74673595"/>
              </p:ext>
            </p:extLst>
          </p:nvPr>
        </p:nvGraphicFramePr>
        <p:xfrm>
          <a:off x="360437" y="1017671"/>
          <a:ext cx="11671959" cy="101828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64" name="文档" r:id="rId4" imgW="3826872" imgH="333863" progId="Word.Document.12">
                  <p:embed/>
                </p:oleObj>
              </mc:Choice>
              <mc:Fallback>
                <p:oleObj name="文档" r:id="rId4" imgW="3826872" imgH="333863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360437" y="1017671"/>
                        <a:ext cx="11671959" cy="101828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矩形 7"/>
          <p:cNvSpPr>
            <a:spLocks noChangeAspect="1"/>
          </p:cNvSpPr>
          <p:nvPr/>
        </p:nvSpPr>
        <p:spPr>
          <a:xfrm>
            <a:off x="288429" y="2044044"/>
            <a:ext cx="1407758" cy="68326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答案</a:t>
            </a:r>
            <a:r>
              <a:rPr lang="en-US" altLang="zh-CN" dirty="0" smtClean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I 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grpSp>
        <p:nvGrpSpPr>
          <p:cNvPr id="11" name="组合 10"/>
          <p:cNvGrpSpPr/>
          <p:nvPr/>
        </p:nvGrpSpPr>
        <p:grpSpPr>
          <a:xfrm>
            <a:off x="361950" y="2862383"/>
            <a:ext cx="10807700" cy="2403760"/>
            <a:chOff x="361950" y="2564519"/>
            <a:chExt cx="10807700" cy="2403760"/>
          </a:xfrm>
        </p:grpSpPr>
        <p:pic>
          <p:nvPicPr>
            <p:cNvPr id="9" name="防范措施H.eps" descr="id:2147490860;FounderCES"/>
            <p:cNvPicPr/>
            <p:nvPr/>
          </p:nvPicPr>
          <p:blipFill>
            <a:blip r:embed="rId6"/>
            <a:stretch>
              <a:fillRect/>
            </a:stretch>
          </p:blipFill>
          <p:spPr>
            <a:xfrm>
              <a:off x="361950" y="2564519"/>
              <a:ext cx="2259558" cy="531552"/>
            </a:xfrm>
            <a:prstGeom prst="rect">
              <a:avLst/>
            </a:prstGeom>
          </p:spPr>
        </p:pic>
        <p:sp>
          <p:nvSpPr>
            <p:cNvPr id="10" name="矩形 9"/>
            <p:cNvSpPr>
              <a:spLocks noChangeAspect="1"/>
            </p:cNvSpPr>
            <p:nvPr/>
          </p:nvSpPr>
          <p:spPr>
            <a:xfrm>
              <a:off x="361950" y="3159707"/>
              <a:ext cx="10807700" cy="1808572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1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在进行复数的乘除法运算时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灵活运用</a:t>
              </a:r>
              <a:r>
                <a:rPr lang="en-US" altLang="zh-CN" dirty="0" err="1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i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的性质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并注意一些重要结论的灵活运用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2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注意虚数单位</a:t>
              </a:r>
              <a:r>
                <a:rPr lang="en-US" altLang="zh-CN" dirty="0" err="1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i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的周期性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:i</a:t>
              </a:r>
              <a:r>
                <a:rPr lang="en-US" altLang="zh-CN" baseline="30000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4</a:t>
              </a:r>
              <a:r>
                <a:rPr lang="en-US" altLang="zh-CN" i="1" baseline="30000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n+</a:t>
              </a:r>
              <a:r>
                <a:rPr lang="en-US" altLang="zh-CN" baseline="30000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1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=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i,i</a:t>
              </a:r>
              <a:r>
                <a:rPr lang="en-US" altLang="zh-CN" baseline="30000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4</a:t>
              </a:r>
              <a:r>
                <a:rPr lang="en-US" altLang="zh-CN" i="1" baseline="30000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n+</a:t>
              </a:r>
              <a:r>
                <a:rPr lang="en-US" altLang="zh-CN" baseline="30000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2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=-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1,i</a:t>
              </a:r>
              <a:r>
                <a:rPr lang="en-US" altLang="zh-CN" baseline="30000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4</a:t>
              </a:r>
              <a:r>
                <a:rPr lang="en-US" altLang="zh-CN" i="1" baseline="30000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n+</a:t>
              </a:r>
              <a:r>
                <a:rPr lang="en-US" altLang="zh-CN" baseline="30000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3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=-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i,i</a:t>
              </a:r>
              <a:r>
                <a:rPr lang="en-US" altLang="zh-CN" baseline="30000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4</a:t>
              </a:r>
              <a:r>
                <a:rPr lang="en-US" altLang="zh-CN" i="1" baseline="30000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n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=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1(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n</a:t>
              </a:r>
              <a:r>
                <a:rPr lang="zh-CN" altLang="zh-CN" dirty="0">
                  <a:solidFill>
                    <a:srgbClr val="000000"/>
                  </a:solidFill>
                  <a:latin typeface="NEU-BZ-S92"/>
                  <a:ea typeface="宋体" panose="02010600030101010101" pitchFamily="2" charset="-122"/>
                  <a:cs typeface="宋体" panose="02010600030101010101" pitchFamily="2" charset="-122"/>
                </a:rPr>
                <a:t>∈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N</a:t>
              </a:r>
              <a:r>
                <a:rPr lang="en-US" altLang="zh-CN" i="1" baseline="30000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*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)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effectLst/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732130498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>
            <a:spLocks noChangeAspect="1"/>
          </p:cNvSpPr>
          <p:nvPr/>
        </p:nvSpPr>
        <p:spPr>
          <a:xfrm>
            <a:off x="361950" y="1439887"/>
            <a:ext cx="10807700" cy="3008068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【变式训练】</a:t>
            </a:r>
            <a:r>
              <a:rPr lang="zh-CN" altLang="zh-CN" dirty="0">
                <a:solidFill>
                  <a:srgbClr val="000000"/>
                </a:solidFill>
                <a:latin typeface="NEU-BZ-S92" panose="02020503000000020003" pitchFamily="18" charset="-122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为虚数单位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,i</a:t>
            </a:r>
            <a:r>
              <a:rPr lang="en-US" altLang="zh-CN" baseline="30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4 022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的共轭复数为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　　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endParaRPr lang="zh-CN" altLang="zh-CN" dirty="0">
              <a:solidFill>
                <a:srgbClr val="000000"/>
              </a:solidFill>
              <a:latin typeface="NEU-BZ-S92" panose="02020503000000020003" pitchFamily="18" charset="-122"/>
              <a:ea typeface="NEU-BZ-S92" panose="02020503000000020003" pitchFamily="18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A.i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	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	B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	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	C.1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	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	D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endParaRPr lang="zh-CN" altLang="zh-CN" dirty="0">
              <a:solidFill>
                <a:srgbClr val="000000"/>
              </a:solidFill>
              <a:latin typeface="NEU-BZ-S92" panose="02020503000000020003" pitchFamily="18" charset="-122"/>
              <a:ea typeface="NEU-BZ-S92" panose="02020503000000020003" pitchFamily="18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解析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因为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baseline="30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4</a:t>
            </a:r>
            <a:r>
              <a:rPr lang="en-US" altLang="zh-CN" baseline="30000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baseline="30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022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baseline="30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4</a:t>
            </a:r>
            <a:r>
              <a:rPr lang="en-US" altLang="zh-CN" i="1" baseline="30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×</a:t>
            </a:r>
            <a:r>
              <a:rPr lang="en-US" altLang="zh-CN" baseline="30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baseline="30000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baseline="30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005</a:t>
            </a:r>
            <a:r>
              <a:rPr lang="en-US" altLang="zh-CN" i="1" baseline="30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+</a:t>
            </a:r>
            <a:r>
              <a:rPr lang="en-US" altLang="zh-CN" baseline="30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baseline="30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1,</a:t>
            </a:r>
            <a:endParaRPr lang="zh-CN" altLang="zh-CN" dirty="0">
              <a:solidFill>
                <a:srgbClr val="000000"/>
              </a:solidFill>
              <a:latin typeface="NEU-BZ-S92" panose="02020503000000020003" pitchFamily="18" charset="-122"/>
              <a:ea typeface="NEU-BZ-S92" panose="02020503000000020003" pitchFamily="18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所以其共轭复数为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故选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D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 panose="02020503000000020003" pitchFamily="18" charset="-122"/>
              <a:ea typeface="NEU-BZ-S92" panose="02020503000000020003" pitchFamily="18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答案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D</a:t>
            </a:r>
            <a:endParaRPr lang="zh-CN" altLang="zh-CN" dirty="0">
              <a:solidFill>
                <a:srgbClr val="000000"/>
              </a:solidFill>
              <a:effectLst/>
              <a:latin typeface="NEU-BZ-S92" panose="02020503000000020003" pitchFamily="18" charset="-122"/>
              <a:ea typeface="NEU-BZ-S92" panose="02020503000000020003" pitchFamily="18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16260173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虚尾箭头 1"/>
          <p:cNvSpPr/>
          <p:nvPr/>
        </p:nvSpPr>
        <p:spPr>
          <a:xfrm>
            <a:off x="432445" y="1367879"/>
            <a:ext cx="10657184" cy="3528392"/>
          </a:xfrm>
          <a:prstGeom prst="stripedRightArrow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随</a:t>
            </a:r>
            <a:r>
              <a:rPr lang="en-US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堂</a:t>
            </a:r>
            <a:r>
              <a:rPr lang="en-US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练</a:t>
            </a:r>
            <a:r>
              <a:rPr lang="en-US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习</a:t>
            </a:r>
          </a:p>
        </p:txBody>
      </p:sp>
    </p:spTree>
    <p:extLst>
      <p:ext uri="{BB962C8B-B14F-4D97-AF65-F5344CB8AC3E}">
        <p14:creationId xmlns:p14="http://schemas.microsoft.com/office/powerpoint/2010/main" val="40755146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31365260"/>
              </p:ext>
            </p:extLst>
          </p:nvPr>
        </p:nvGraphicFramePr>
        <p:xfrm>
          <a:off x="360437" y="680479"/>
          <a:ext cx="11671959" cy="114214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06" name="文档" r:id="rId4" imgW="3826872" imgH="375551" progId="Word.Document.12">
                  <p:embed/>
                </p:oleObj>
              </mc:Choice>
              <mc:Fallback>
                <p:oleObj name="文档" r:id="rId4" imgW="3826872" imgH="375551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360437" y="680479"/>
                        <a:ext cx="11671959" cy="114214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66408377"/>
              </p:ext>
            </p:extLst>
          </p:nvPr>
        </p:nvGraphicFramePr>
        <p:xfrm>
          <a:off x="360874" y="1820961"/>
          <a:ext cx="11671959" cy="605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07" name="文档" r:id="rId7" imgW="3826872" imgH="198377" progId="Word.Document.12">
                  <p:embed/>
                </p:oleObj>
              </mc:Choice>
              <mc:Fallback>
                <p:oleObj name="文档" r:id="rId7" imgW="3826872" imgH="198377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360874" y="1820961"/>
                        <a:ext cx="11671959" cy="6050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矩形 3"/>
          <p:cNvSpPr>
            <a:spLocks noChangeAspect="1"/>
          </p:cNvSpPr>
          <p:nvPr/>
        </p:nvSpPr>
        <p:spPr>
          <a:xfrm>
            <a:off x="269386" y="2435502"/>
            <a:ext cx="1521379" cy="68326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答案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 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sp>
        <p:nvSpPr>
          <p:cNvPr id="9" name="矩形 8"/>
          <p:cNvSpPr>
            <a:spLocks noChangeAspect="1"/>
          </p:cNvSpPr>
          <p:nvPr/>
        </p:nvSpPr>
        <p:spPr>
          <a:xfrm>
            <a:off x="361950" y="3118766"/>
            <a:ext cx="10807700" cy="1808572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在复平面内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复数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    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的对应点位于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　　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第一象限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	B.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第二象限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第三象限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	D.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第四象限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10" name="对象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58925788"/>
              </p:ext>
            </p:extLst>
          </p:nvPr>
        </p:nvGraphicFramePr>
        <p:xfrm>
          <a:off x="-19664" y="3099443"/>
          <a:ext cx="7994713" cy="6595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08" name="文档" r:id="rId10" imgW="3837724" imgH="316584" progId="Word.Document.12">
                  <p:embed/>
                </p:oleObj>
              </mc:Choice>
              <mc:Fallback>
                <p:oleObj name="文档" r:id="rId10" imgW="3837724" imgH="316584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-19664" y="3099443"/>
                        <a:ext cx="7994713" cy="65950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86906915"/>
              </p:ext>
            </p:extLst>
          </p:nvPr>
        </p:nvGraphicFramePr>
        <p:xfrm>
          <a:off x="445319" y="4895756"/>
          <a:ext cx="10640962" cy="144867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09" name="文档" r:id="rId13" imgW="3837724" imgH="522472" progId="Word.Document.12">
                  <p:embed/>
                </p:oleObj>
              </mc:Choice>
              <mc:Fallback>
                <p:oleObj name="文档" r:id="rId13" imgW="3837724" imgH="522472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445319" y="4895756"/>
                        <a:ext cx="10640962" cy="144867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矩形 11"/>
          <p:cNvSpPr>
            <a:spLocks noChangeAspect="1"/>
          </p:cNvSpPr>
          <p:nvPr/>
        </p:nvSpPr>
        <p:spPr>
          <a:xfrm>
            <a:off x="6553125" y="5702871"/>
            <a:ext cx="1521570" cy="68326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答案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 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62406242"/>
      </p:ext>
    </p:extLst>
  </p:cSld>
  <p:clrMapOvr>
    <a:masterClrMapping/>
  </p:clrMapOvr>
  <p:transition spd="slow">
    <p:comb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12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对象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77503221"/>
              </p:ext>
            </p:extLst>
          </p:nvPr>
        </p:nvGraphicFramePr>
        <p:xfrm>
          <a:off x="432445" y="883487"/>
          <a:ext cx="11671959" cy="134930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18" name="文档" r:id="rId4" imgW="3826872" imgH="442396" progId="Word.Document.12">
                  <p:embed/>
                </p:oleObj>
              </mc:Choice>
              <mc:Fallback>
                <p:oleObj name="文档" r:id="rId4" imgW="3826872" imgH="442396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32445" y="883487"/>
                        <a:ext cx="11671959" cy="134930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53465968"/>
              </p:ext>
            </p:extLst>
          </p:nvPr>
        </p:nvGraphicFramePr>
        <p:xfrm>
          <a:off x="432445" y="2232795"/>
          <a:ext cx="11671959" cy="26657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19" name="文档" r:id="rId7" imgW="3826872" imgH="874010" progId="Word.Document.12">
                  <p:embed/>
                </p:oleObj>
              </mc:Choice>
              <mc:Fallback>
                <p:oleObj name="文档" r:id="rId7" imgW="3826872" imgH="874010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432445" y="2232795"/>
                        <a:ext cx="11671959" cy="266573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矩形 9"/>
          <p:cNvSpPr>
            <a:spLocks noChangeAspect="1"/>
          </p:cNvSpPr>
          <p:nvPr/>
        </p:nvSpPr>
        <p:spPr>
          <a:xfrm>
            <a:off x="216421" y="4952751"/>
            <a:ext cx="1544012" cy="68326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答案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D 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28947024"/>
      </p:ext>
    </p:extLst>
  </p:cSld>
  <p:clrMapOvr>
    <a:masterClrMapping/>
  </p:clrMapOvr>
  <p:transition spd="slow">
    <p:comb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61950" y="1727919"/>
            <a:ext cx="10807700" cy="626710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4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在复数范围内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方程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baseline="30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+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4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的根为</a:t>
            </a:r>
            <a:r>
              <a:rPr lang="zh-CN" altLang="zh-CN" i="1" u="sng" dirty="0">
                <a:uFill>
                  <a:solidFill>
                    <a:srgbClr val="000000"/>
                  </a:solidFill>
                </a:uFill>
                <a:ea typeface="宋体" panose="02010600030101010101" pitchFamily="2" charset="-122"/>
                <a:cs typeface="Times New Roman" panose="02020603050405020304" pitchFamily="18" charset="0"/>
              </a:rPr>
              <a:t>　　　　　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i="1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 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34050422"/>
              </p:ext>
            </p:extLst>
          </p:nvPr>
        </p:nvGraphicFramePr>
        <p:xfrm>
          <a:off x="432445" y="2375991"/>
          <a:ext cx="11671959" cy="87030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42" name="文档" r:id="rId4" imgW="3826872" imgH="285347" progId="Word.Document.12">
                  <p:embed/>
                </p:oleObj>
              </mc:Choice>
              <mc:Fallback>
                <p:oleObj name="文档" r:id="rId4" imgW="3826872" imgH="285347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32445" y="2375991"/>
                        <a:ext cx="11671959" cy="87030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16209585"/>
              </p:ext>
            </p:extLst>
          </p:nvPr>
        </p:nvGraphicFramePr>
        <p:xfrm>
          <a:off x="432444" y="3312095"/>
          <a:ext cx="11671959" cy="87030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43" name="文档" r:id="rId7" imgW="3826872" imgH="285347" progId="Word.Document.12">
                  <p:embed/>
                </p:oleObj>
              </mc:Choice>
              <mc:Fallback>
                <p:oleObj name="文档" r:id="rId7" imgW="3826872" imgH="285347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432444" y="3312095"/>
                        <a:ext cx="11671959" cy="87030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624658232"/>
      </p:ext>
    </p:extLst>
  </p:cSld>
  <p:clrMapOvr>
    <a:masterClrMapping/>
  </p:clrMapOvr>
  <p:transition spd="slow">
    <p:comb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13217718"/>
              </p:ext>
            </p:extLst>
          </p:nvPr>
        </p:nvGraphicFramePr>
        <p:xfrm>
          <a:off x="504453" y="1223863"/>
          <a:ext cx="11671959" cy="208260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566" name="文档" r:id="rId4" imgW="3826872" imgH="682821" progId="Word.Document.12">
                  <p:embed/>
                </p:oleObj>
              </mc:Choice>
              <mc:Fallback>
                <p:oleObj name="文档" r:id="rId4" imgW="3826872" imgH="682821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504453" y="1223863"/>
                        <a:ext cx="11671959" cy="208260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14630066"/>
              </p:ext>
            </p:extLst>
          </p:nvPr>
        </p:nvGraphicFramePr>
        <p:xfrm>
          <a:off x="504452" y="3384103"/>
          <a:ext cx="11671959" cy="142274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567" name="文档" r:id="rId7" imgW="3826872" imgH="466474" progId="Word.Document.12">
                  <p:embed/>
                </p:oleObj>
              </mc:Choice>
              <mc:Fallback>
                <p:oleObj name="文档" r:id="rId7" imgW="3826872" imgH="466474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504452" y="3384103"/>
                        <a:ext cx="11671959" cy="142274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105301335"/>
      </p:ext>
    </p:extLst>
  </p:cSld>
  <p:clrMapOvr>
    <a:masterClrMapping/>
  </p:clrMapOvr>
  <p:transition spd="slow">
    <p:comb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790819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专业教辅课件Q:251490010">
  <a:themeElements>
    <a:clrScheme name="穿越">
      <a:dk1>
        <a:sysClr val="windowText" lastClr="000000"/>
      </a:dk1>
      <a:lt1>
        <a:sysClr val="window" lastClr="FFFFFF"/>
      </a:lt1>
      <a:dk2>
        <a:srgbClr val="4E5B6F"/>
      </a:dk2>
      <a:lt2>
        <a:srgbClr val="D6ECFF"/>
      </a:lt2>
      <a:accent1>
        <a:srgbClr val="7FD13B"/>
      </a:accent1>
      <a:accent2>
        <a:srgbClr val="EA157A"/>
      </a:accent2>
      <a:accent3>
        <a:srgbClr val="FEB80A"/>
      </a:accent3>
      <a:accent4>
        <a:srgbClr val="00ADDC"/>
      </a:accent4>
      <a:accent5>
        <a:srgbClr val="738AC8"/>
      </a:accent5>
      <a:accent6>
        <a:srgbClr val="1AB39F"/>
      </a:accent6>
      <a:hlink>
        <a:srgbClr val="EB8803"/>
      </a:hlink>
      <a:folHlink>
        <a:srgbClr val="5F7791"/>
      </a:folHlink>
    </a:clrScheme>
    <a:fontScheme name="Office 经典">
      <a:majorFont>
        <a:latin typeface="Arial"/>
        <a:ea typeface=""/>
        <a:cs typeface=""/>
        <a:font script="Jpan" typeface="ＭＳ Ｐゴシック"/>
        <a:font script="Hang" typeface="돋움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Times New Roman"/>
        <a:ea typeface=""/>
        <a:cs typeface=""/>
        <a:font script="Jpan" typeface="ＭＳ Ｐ明朝"/>
        <a:font script="Hang" typeface="바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演示文稿3" id="{7F1B58FA-3D69-4926-A2BA-EEBABBAD5E6B}" vid="{76CC91B4-AC1E-4E21-9BDB-923C2B156DCE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新教材 高中同步</Template>
  <TotalTime>142</TotalTime>
  <Words>897</Words>
  <Application>Microsoft Office PowerPoint</Application>
  <PresentationFormat>自定义</PresentationFormat>
  <Paragraphs>100</Paragraphs>
  <Slides>39</Slides>
  <Notes>1</Notes>
  <HiddenSlides>0</HiddenSlides>
  <MMClips>0</MMClips>
  <ScaleCrop>false</ScaleCrop>
  <HeadingPairs>
    <vt:vector size="8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39</vt:i4>
      </vt:variant>
    </vt:vector>
  </HeadingPairs>
  <TitlesOfParts>
    <vt:vector size="55" baseType="lpstr">
      <vt:lpstr>NEU-BZ-S92</vt:lpstr>
      <vt:lpstr>方正书宋_GBK</vt:lpstr>
      <vt:lpstr>方正正中黑简体</vt:lpstr>
      <vt:lpstr>仿宋</vt:lpstr>
      <vt:lpstr>黑体</vt:lpstr>
      <vt:lpstr>华文新魏</vt:lpstr>
      <vt:lpstr>楷体</vt:lpstr>
      <vt:lpstr>隶书</vt:lpstr>
      <vt:lpstr>宋体</vt:lpstr>
      <vt:lpstr>微软雅黑</vt:lpstr>
      <vt:lpstr>Arial</vt:lpstr>
      <vt:lpstr>Calibri</vt:lpstr>
      <vt:lpstr>Cambria Math</vt:lpstr>
      <vt:lpstr>Times New Roman</vt:lpstr>
      <vt:lpstr>专业教辅课件Q:251490010</vt:lpstr>
      <vt:lpstr>文档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微软中国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Administrator</dc:creator>
  <cp:lastModifiedBy>Microsoft</cp:lastModifiedBy>
  <cp:revision>20</cp:revision>
  <dcterms:created xsi:type="dcterms:W3CDTF">2020-09-12T05:36:12Z</dcterms:created>
  <dcterms:modified xsi:type="dcterms:W3CDTF">2025-09-04T05:33:15Z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XTAG2">
    <vt:lpwstr>0008007650000000000001024140</vt:lpwstr>
  </property>
  <property fmtid="{D5CDD505-2E9C-101B-9397-08002B2CF9AE}" pid="3" name="KSOProductBuildVer">
    <vt:lpwstr>2052-10.1.0.7698</vt:lpwstr>
  </property>
</Properties>
</file>