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731" r:id="rId2"/>
    <p:sldId id="753" r:id="rId3"/>
    <p:sldId id="736" r:id="rId4"/>
    <p:sldId id="744" r:id="rId5"/>
    <p:sldId id="746" r:id="rId6"/>
    <p:sldId id="749" r:id="rId7"/>
    <p:sldId id="756" r:id="rId8"/>
    <p:sldId id="757" r:id="rId9"/>
    <p:sldId id="758" r:id="rId10"/>
    <p:sldId id="760" r:id="rId11"/>
    <p:sldId id="761" r:id="rId12"/>
    <p:sldId id="762" r:id="rId13"/>
    <p:sldId id="764" r:id="rId14"/>
    <p:sldId id="765" r:id="rId15"/>
    <p:sldId id="737" r:id="rId16"/>
    <p:sldId id="750" r:id="rId17"/>
    <p:sldId id="766" r:id="rId18"/>
    <p:sldId id="767" r:id="rId19"/>
    <p:sldId id="768" r:id="rId20"/>
    <p:sldId id="769" r:id="rId21"/>
    <p:sldId id="754" r:id="rId22"/>
    <p:sldId id="770" r:id="rId23"/>
    <p:sldId id="771" r:id="rId24"/>
    <p:sldId id="772" r:id="rId25"/>
    <p:sldId id="755" r:id="rId26"/>
    <p:sldId id="773" r:id="rId27"/>
    <p:sldId id="775" r:id="rId28"/>
    <p:sldId id="774" r:id="rId29"/>
    <p:sldId id="783" r:id="rId30"/>
    <p:sldId id="784" r:id="rId31"/>
    <p:sldId id="785" r:id="rId32"/>
    <p:sldId id="747" r:id="rId33"/>
    <p:sldId id="751" r:id="rId34"/>
    <p:sldId id="776" r:id="rId35"/>
    <p:sldId id="777" r:id="rId36"/>
    <p:sldId id="778" r:id="rId37"/>
    <p:sldId id="748" r:id="rId38"/>
    <p:sldId id="752" r:id="rId39"/>
    <p:sldId id="779" r:id="rId40"/>
    <p:sldId id="780" r:id="rId41"/>
    <p:sldId id="781" r:id="rId42"/>
    <p:sldId id="782" r:id="rId43"/>
    <p:sldId id="735" r:id="rId44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5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image" Target="../media/image21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e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e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e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43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7.xml"/><Relationship Id="rId5" Type="http://schemas.openxmlformats.org/officeDocument/2006/relationships/slide" Target="slide32.xml"/><Relationship Id="rId4" Type="http://schemas.openxmlformats.org/officeDocument/2006/relationships/slide" Target="slide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6" Type="http://schemas.openxmlformats.org/officeDocument/2006/relationships/package" Target="../embeddings/Microsoft_Word___210.docx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3.bin"/><Relationship Id="rId7" Type="http://schemas.openxmlformats.org/officeDocument/2006/relationships/package" Target="../embeddings/Microsoft_Word___4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3.docx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package" Target="../embeddings/Microsoft_Word___6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5.docx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oleObject" Target="../embeddings/oleObject7.bin"/><Relationship Id="rId7" Type="http://schemas.openxmlformats.org/officeDocument/2006/relationships/package" Target="../embeddings/Microsoft_Word___8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11" Type="http://schemas.openxmlformats.org/officeDocument/2006/relationships/image" Target="../media/image11.emf"/><Relationship Id="rId5" Type="http://schemas.openxmlformats.org/officeDocument/2006/relationships/image" Target="../media/image9.emf"/><Relationship Id="rId10" Type="http://schemas.openxmlformats.org/officeDocument/2006/relationships/package" Target="../embeddings/Microsoft_Word___9.docx"/><Relationship Id="rId4" Type="http://schemas.openxmlformats.org/officeDocument/2006/relationships/package" Target="../embeddings/Microsoft_Word___7.docx"/><Relationship Id="rId9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1.xml"/><Relationship Id="rId2" Type="http://schemas.openxmlformats.org/officeDocument/2006/relationships/slide" Target="slide16.xml"/><Relationship Id="rId1" Type="http://schemas.openxmlformats.org/officeDocument/2006/relationships/slideLayout" Target="../slideLayouts/slideLayout4.xml"/><Relationship Id="rId5" Type="http://schemas.openxmlformats.org/officeDocument/2006/relationships/slide" Target="slide29.xml"/><Relationship Id="rId4" Type="http://schemas.openxmlformats.org/officeDocument/2006/relationships/slide" Target="slide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5.docx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6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7.docx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3" Type="http://schemas.openxmlformats.org/officeDocument/2006/relationships/oleObject" Target="../embeddings/oleObject18.bin"/><Relationship Id="rId7" Type="http://schemas.openxmlformats.org/officeDocument/2006/relationships/package" Target="../embeddings/Microsoft_Word___1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8.docx"/><Relationship Id="rId9" Type="http://schemas.openxmlformats.org/officeDocument/2006/relationships/image" Target="../media/image23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20.docx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2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5.emf"/><Relationship Id="rId5" Type="http://schemas.openxmlformats.org/officeDocument/2006/relationships/package" Target="../embeddings/Microsoft_Word___21.docx"/><Relationship Id="rId4" Type="http://schemas.openxmlformats.org/officeDocument/2006/relationships/oleObject" Target="../embeddings/oleObject21.bin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22.docx"/><Relationship Id="rId4" Type="http://schemas.openxmlformats.org/officeDocument/2006/relationships/oleObject" Target="../embeddings/oleObject22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28.emf"/><Relationship Id="rId5" Type="http://schemas.openxmlformats.org/officeDocument/2006/relationships/package" Target="../embeddings/Microsoft_Word___23.docx"/><Relationship Id="rId4" Type="http://schemas.openxmlformats.org/officeDocument/2006/relationships/oleObject" Target="../embeddings/oleObject23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oleObject" Target="../embeddings/oleObject24.bin"/><Relationship Id="rId7" Type="http://schemas.openxmlformats.org/officeDocument/2006/relationships/package" Target="../embeddings/Microsoft_Word___25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5.bin"/><Relationship Id="rId5" Type="http://schemas.openxmlformats.org/officeDocument/2006/relationships/image" Target="../media/image28.emf"/><Relationship Id="rId10" Type="http://schemas.openxmlformats.org/officeDocument/2006/relationships/image" Target="../media/image29.emf"/><Relationship Id="rId4" Type="http://schemas.openxmlformats.org/officeDocument/2006/relationships/package" Target="../embeddings/Microsoft_Word___24.docx"/><Relationship Id="rId9" Type="http://schemas.openxmlformats.org/officeDocument/2006/relationships/package" Target="../embeddings/Microsoft_Word___26.docx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7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8.docx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3.emf"/><Relationship Id="rId4" Type="http://schemas.openxmlformats.org/officeDocument/2006/relationships/package" Target="../embeddings/Microsoft_Word___29.docx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4.emf"/><Relationship Id="rId4" Type="http://schemas.openxmlformats.org/officeDocument/2006/relationships/package" Target="../embeddings/Microsoft_Word___30.docx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emf"/><Relationship Id="rId3" Type="http://schemas.openxmlformats.org/officeDocument/2006/relationships/oleObject" Target="../embeddings/oleObject31.bin"/><Relationship Id="rId7" Type="http://schemas.openxmlformats.org/officeDocument/2006/relationships/package" Target="../embeddings/Microsoft_Word___32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32.bin"/><Relationship Id="rId5" Type="http://schemas.openxmlformats.org/officeDocument/2006/relationships/image" Target="../media/image35.emf"/><Relationship Id="rId4" Type="http://schemas.openxmlformats.org/officeDocument/2006/relationships/package" Target="../embeddings/Microsoft_Word___31.docx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37.emf"/><Relationship Id="rId4" Type="http://schemas.openxmlformats.org/officeDocument/2006/relationships/package" Target="../embeddings/Microsoft_Word___33.docx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38.emf"/><Relationship Id="rId4" Type="http://schemas.openxmlformats.org/officeDocument/2006/relationships/package" Target="../embeddings/Microsoft_Word___34.docx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359657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复数的几何意义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935831"/>
            <a:ext cx="10729192" cy="4763227"/>
            <a:chOff x="360437" y="935831"/>
            <a:chExt cx="10729192" cy="4763227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935832"/>
              <a:ext cx="10729192" cy="4752529"/>
              <a:chOff x="360437" y="1610261"/>
              <a:chExt cx="10729192" cy="3246042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1610261"/>
                <a:ext cx="10729192" cy="3246042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1714019"/>
                <a:ext cx="0" cy="3011243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935831"/>
              <a:ext cx="8496944" cy="47632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理解复数的几何意义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知道复数与有序实数对以及平面向量之间一一对应的关系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能画出复数对应的点和向量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知道复数的模的含义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会求复数的模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知道共轭复数的含义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会求一个复数的共轭复数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体会数学抽象的过程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提升直观想象和数学运算素养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42375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方正正中黑简体"/>
                <a:cs typeface="Times New Roman" panose="02020603050405020304" pitchFamily="18" charset="0"/>
              </a:rPr>
              <a:t>一、复数的几何意义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实数可以用数轴上的点来表示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类比一下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复数可用什么来表示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任何一个复数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a+b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都可以由一个有序实数对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唯一确定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复数与复平面内的点有怎样的对应关系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一一对应关系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复数与复平面内以原点为起点的向量有怎样的对应关系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一一对应关系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255385"/>
            <a:ext cx="10807700" cy="3640886"/>
            <a:chOff x="361950" y="519951"/>
            <a:chExt cx="10807700" cy="364088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1995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建立了直角坐标系来表示复数的平面叫做复平面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轴叫做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实轴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y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轴叫做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虚轴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显然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实轴上的点都表示实数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除了</a:t>
              </a:r>
              <a:r>
                <a:rPr lang="zh-CN" altLang="zh-CN" dirty="0">
                  <a:ea typeface="宋体" panose="02010600030101010101" pitchFamily="2" charset="-122"/>
                  <a:cs typeface="Times New Roman" panose="02020603050405020304" pitchFamily="18" charset="0"/>
                </a:rPr>
                <a:t>原点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虚轴上的点都表示纯虚数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中的数与复平面内的点按如下方式建立了一一对应关系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3534127"/>
              <a:ext cx="4921540" cy="6267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这是复数的一种几何意义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9" name="矩形 8"/>
          <p:cNvSpPr/>
          <p:nvPr/>
        </p:nvSpPr>
        <p:spPr>
          <a:xfrm>
            <a:off x="869083" y="190345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864493" y="236755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184097" y="1903457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179507" y="2367555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10052021" y="1899756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10047431" y="2363854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554521"/>
              </p:ext>
            </p:extLst>
          </p:nvPr>
        </p:nvGraphicFramePr>
        <p:xfrm>
          <a:off x="1728589" y="3611329"/>
          <a:ext cx="11671959" cy="5776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4" imgW="3826872" imgH="189393" progId="Word.Document.12">
                  <p:embed/>
                </p:oleObj>
              </mc:Choice>
              <mc:Fallback>
                <p:oleObj name="文档" r:id="rId4" imgW="3826872" imgH="18939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8589" y="3611329"/>
                        <a:ext cx="11671959" cy="5776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2654440" y="3708836"/>
            <a:ext cx="112246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533302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61950" y="1233695"/>
            <a:ext cx="11735791" cy="3744416"/>
            <a:chOff x="361950" y="1223863"/>
            <a:chExt cx="11735791" cy="3744416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122386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复数集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中的数与复平面内以原点为起点的向量建立了一一对应关系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实数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与零向量对应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即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graphicFrame>
              <p:nvGraphicFramePr>
                <p:cNvPr id="4" name="对象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4219137"/>
                    </p:ext>
                  </p:extLst>
                </p:nvPr>
              </p:nvGraphicFramePr>
              <p:xfrm>
                <a:off x="425782" y="2469053"/>
                <a:ext cx="11671959" cy="57764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67" name="文档" r:id="rId4" imgW="3826872" imgH="189393" progId="Word.Document.12">
                        <p:embed/>
                      </p:oleObj>
                    </mc:Choice>
                    <mc:Fallback>
                      <p:oleObj name="文档" r:id="rId4" imgW="3826872" imgH="189393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25782" y="2469053"/>
                              <a:ext cx="11671959" cy="57764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 xmlns="">
            <p:graphicFrame>
              <p:nvGraphicFramePr>
                <p:cNvPr id="4" name="对象 3"/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1744219137"/>
                    </p:ext>
                  </p:extLst>
                </p:nvPr>
              </p:nvGraphicFramePr>
              <p:xfrm>
                <a:off x="425782" y="2469053"/>
                <a:ext cx="11671959" cy="57764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spid="_x0000_s2053" name="文档" r:id="rId6" imgW="3826872" imgH="189393" progId="Word.Document.12">
                        <p:embed/>
                      </p:oleObj>
                    </mc:Choice>
                    <mc:Fallback>
                      <p:oleObj name="文档" r:id="rId6" imgW="3826872" imgH="189393" progId="Word.Document.12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25782" y="2469053"/>
                              <a:ext cx="11671959" cy="57764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/>
                <p:cNvSpPr>
                  <a:spLocks noChangeAspect="1"/>
                </p:cNvSpPr>
                <p:nvPr/>
              </p:nvSpPr>
              <p:spPr>
                <a:xfrm>
                  <a:off x="361950" y="3083981"/>
                  <a:ext cx="10807700" cy="1884298"/>
                </a:xfrm>
                <a:prstGeom prst="rect">
                  <a:avLst/>
                </a:prstGeom>
              </p:spPr>
              <p:txBody>
                <a:bodyPr>
                  <a:spAutoFit/>
                </a:bodyPr>
                <a:lstStyle/>
                <a:p>
                  <a:pPr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这是复数的另一种几何意义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  <a:endParaRPr lang="zh-CN" altLang="zh-CN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  <a:p>
                  <a:pPr>
                    <a:lnSpc>
                      <a:spcPct val="120000"/>
                    </a:lnSpc>
                    <a:spcAft>
                      <a:spcPts val="0"/>
                    </a:spcAft>
                    <a:tabLst>
                      <a:tab pos="1029335" algn="l"/>
                      <a:tab pos="1850390" algn="l"/>
                      <a:tab pos="2538095" algn="l"/>
                      <a:tab pos="3221990" algn="l"/>
                    </a:tabLst>
                  </a:pP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为方便起见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我们常把复数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z=</a:t>
                  </a:r>
                  <a:r>
                    <a:rPr lang="en-US" altLang="zh-CN" i="1" dirty="0" err="1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a+b</a:t>
                  </a:r>
                  <a:r>
                    <a:rPr lang="en-US" altLang="zh-CN" dirty="0" err="1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i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说成点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Z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或说成向量</a:t>
                  </a:r>
                  <a14:m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𝑶𝒁</m:t>
                          </m:r>
                        </m:e>
                      </m:acc>
                    </m:oMath>
                  </a14:m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并且规定</a:t>
                  </a:r>
                  <a:r>
                    <a:rPr lang="en-US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,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相等的向量表示</a:t>
                  </a:r>
                  <a:r>
                    <a:rPr lang="zh-CN" altLang="zh-CN" dirty="0"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同一个</a:t>
                  </a:r>
                  <a:r>
                    <a:rPr lang="zh-CN" altLang="zh-CN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复数</a:t>
                  </a:r>
                  <a:r>
                    <a:rPr lang="en-US" altLang="zh-CN" i="1" dirty="0">
                      <a:solidFill>
                        <a:srgbClr val="000000"/>
                      </a:solidFill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.</a:t>
                  </a:r>
                  <a:endParaRPr lang="zh-CN" altLang="zh-CN" dirty="0">
                    <a:solidFill>
                      <a:srgbClr val="000000"/>
                    </a:solidFill>
                    <a:effectLst/>
                    <a:latin typeface="NEU-BZ-S92"/>
                    <a:ea typeface="方正书宋_GBK" panose="03000509000000000000" pitchFamily="65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" name="矩形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950" y="3083981"/>
                  <a:ext cx="10807700" cy="1884298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 l="-1410" t="-3236" b="-970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矩形 5"/>
          <p:cNvSpPr/>
          <p:nvPr/>
        </p:nvSpPr>
        <p:spPr>
          <a:xfrm>
            <a:off x="4656264" y="441373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4651493" y="487782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301001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647799"/>
            <a:ext cx="11706542" cy="2520280"/>
            <a:chOff x="361950" y="1367879"/>
            <a:chExt cx="11706542" cy="2520280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6787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则复平面内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对应的点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的坐标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(0,1)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1,0)</a:t>
              </a:r>
              <a:r>
                <a:rPr lang="en-US" altLang="zh-CN" dirty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smtClean="0">
                  <a:solidFill>
                    <a:srgbClr val="000000"/>
                  </a:solidFill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rPr>
                <a:t>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(0,0)	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D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(1,1)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91537413"/>
                </p:ext>
              </p:extLst>
            </p:nvPr>
          </p:nvGraphicFramePr>
          <p:xfrm>
            <a:off x="396533" y="2695594"/>
            <a:ext cx="11671959" cy="1192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0" name="文档" r:id="rId4" imgW="3826872" imgH="391005" progId="Word.Document.12">
                    <p:embed/>
                  </p:oleObj>
                </mc:Choice>
                <mc:Fallback>
                  <p:oleObj name="文档" r:id="rId4" imgW="3826872" imgH="39100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96533" y="2695594"/>
                          <a:ext cx="11671959" cy="11925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" name="组合 4"/>
          <p:cNvGrpSpPr/>
          <p:nvPr/>
        </p:nvGrpSpPr>
        <p:grpSpPr>
          <a:xfrm>
            <a:off x="361950" y="3158247"/>
            <a:ext cx="11804630" cy="2553239"/>
            <a:chOff x="361950" y="1439887"/>
            <a:chExt cx="11804630" cy="2553239"/>
          </a:xfrm>
        </p:grpSpPr>
        <p:sp>
          <p:nvSpPr>
            <p:cNvPr id="8" name="矩形 7"/>
            <p:cNvSpPr>
              <a:spLocks noChangeAspect="1"/>
            </p:cNvSpPr>
            <p:nvPr/>
          </p:nvSpPr>
          <p:spPr>
            <a:xfrm>
              <a:off x="361950" y="143988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的实部为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虚部为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所以对应点的坐标为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(0,1)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故选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44946553"/>
                </p:ext>
              </p:extLst>
            </p:nvPr>
          </p:nvGraphicFramePr>
          <p:xfrm>
            <a:off x="494621" y="2682181"/>
            <a:ext cx="11671959" cy="13109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1" name="文档" r:id="rId7" imgW="3826872" imgH="429818" progId="Word.Document.12">
                    <p:embed/>
                  </p:oleObj>
                </mc:Choice>
                <mc:Fallback>
                  <p:oleObj name="文档" r:id="rId7" imgW="3826872" imgH="429818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494621" y="2682181"/>
                          <a:ext cx="11671959" cy="131094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" name="矩形 9"/>
          <p:cNvSpPr>
            <a:spLocks noChangeAspect="1"/>
          </p:cNvSpPr>
          <p:nvPr/>
        </p:nvSpPr>
        <p:spPr>
          <a:xfrm>
            <a:off x="361950" y="5653167"/>
            <a:ext cx="320792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2)C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545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0783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二、复数的模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我们知道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两个复数不一定能比较大小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若两个复数是实数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则可以比较大小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若两个复数是虚数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则不能比较大小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与这两个复数对应的向量的模能比较大小吗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向量的模是非负实数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能比较大小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8538934"/>
              </p:ext>
            </p:extLst>
          </p:nvPr>
        </p:nvGraphicFramePr>
        <p:xfrm>
          <a:off x="417626" y="4050055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4" name="文档" r:id="rId4" imgW="3826872" imgH="214909" progId="Word.Document.12">
                  <p:embed/>
                </p:oleObj>
              </mc:Choice>
              <mc:Fallback>
                <p:oleObj name="文档" r:id="rId4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7626" y="4050055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2678894"/>
              </p:ext>
            </p:extLst>
          </p:nvPr>
        </p:nvGraphicFramePr>
        <p:xfrm>
          <a:off x="376917" y="4725191"/>
          <a:ext cx="11671959" cy="6554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文档" r:id="rId7" imgW="3826872" imgH="214909" progId="Word.Document.12">
                  <p:embed/>
                </p:oleObj>
              </mc:Choice>
              <mc:Fallback>
                <p:oleObj name="文档" r:id="rId7" imgW="3826872" imgH="21490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76917" y="4725191"/>
                        <a:ext cx="11671959" cy="6554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893581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6739131"/>
              </p:ext>
            </p:extLst>
          </p:nvPr>
        </p:nvGraphicFramePr>
        <p:xfrm>
          <a:off x="284163" y="977900"/>
          <a:ext cx="11644312" cy="191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4" name="文档" r:id="rId4" imgW="3837724" imgH="631726" progId="Word.Document.12">
                  <p:embed/>
                </p:oleObj>
              </mc:Choice>
              <mc:Fallback>
                <p:oleObj name="文档" r:id="rId4" imgW="3837724" imgH="63172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4163" y="977900"/>
                        <a:ext cx="11644312" cy="19129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5163373"/>
              </p:ext>
            </p:extLst>
          </p:nvPr>
        </p:nvGraphicFramePr>
        <p:xfrm>
          <a:off x="288428" y="2916332"/>
          <a:ext cx="11671959" cy="639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5" name="文档" r:id="rId7" imgW="3826872" imgH="209518" progId="Word.Document.12">
                  <p:embed/>
                </p:oleObj>
              </mc:Choice>
              <mc:Fallback>
                <p:oleObj name="文档" r:id="rId7" imgW="3826872" imgH="2095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8428" y="2916332"/>
                        <a:ext cx="11671959" cy="6390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662539"/>
              </p:ext>
            </p:extLst>
          </p:nvPr>
        </p:nvGraphicFramePr>
        <p:xfrm>
          <a:off x="288428" y="3567968"/>
          <a:ext cx="11671959" cy="1070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6" name="文档" r:id="rId10" imgW="3826872" imgH="351114" progId="Word.Document.12">
                  <p:embed/>
                </p:oleObj>
              </mc:Choice>
              <mc:Fallback>
                <p:oleObj name="文档" r:id="rId10" imgW="3826872" imgH="3511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88428" y="3567968"/>
                        <a:ext cx="11671959" cy="10708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/>
          <p:nvPr/>
        </p:nvSpPr>
        <p:spPr>
          <a:xfrm>
            <a:off x="6125882" y="1018821"/>
            <a:ext cx="3987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121077" y="1482919"/>
            <a:ext cx="398346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6957292" y="1018821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6952521" y="1482919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9090770" y="1061853"/>
            <a:ext cx="32958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9085926" y="1525951"/>
            <a:ext cx="3292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9805424" y="1061853"/>
            <a:ext cx="900298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9800485" y="1525951"/>
            <a:ext cx="89928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747917" y="2318316"/>
            <a:ext cx="3625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/>
        </p:nvCxnSpPr>
        <p:spPr>
          <a:xfrm>
            <a:off x="4743093" y="2782414"/>
            <a:ext cx="36213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981073" y="2300096"/>
            <a:ext cx="1198297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" name="直接连接符 17"/>
          <p:cNvCxnSpPr/>
          <p:nvPr/>
        </p:nvCxnSpPr>
        <p:spPr>
          <a:xfrm>
            <a:off x="5976302" y="2764194"/>
            <a:ext cx="119694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矩形 18"/>
          <p:cNvSpPr>
            <a:spLocks noChangeAspect="1"/>
          </p:cNvSpPr>
          <p:nvPr/>
        </p:nvSpPr>
        <p:spPr>
          <a:xfrm>
            <a:off x="206589" y="4623539"/>
            <a:ext cx="145264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50727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  <p:bldP spid="13" grpId="0" animBg="1"/>
      <p:bldP spid="15" grpId="0" animBg="1"/>
      <p:bldP spid="17" grpId="0" animBg="1"/>
      <p:bldP spid="1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2963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三、共轭复数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则在复平面内复数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对应的点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的坐标分别是什么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它们有怎样的关系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(1,1),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轴对称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3364019"/>
              </p:ext>
            </p:extLst>
          </p:nvPr>
        </p:nvGraphicFramePr>
        <p:xfrm>
          <a:off x="357188" y="3753975"/>
          <a:ext cx="11645900" cy="2343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81" name="文档" r:id="rId4" imgW="3837724" imgH="774153" progId="Word.Document.12">
                  <p:embed/>
                </p:oleObj>
              </mc:Choice>
              <mc:Fallback>
                <p:oleObj name="文档" r:id="rId4" imgW="3837724" imgH="77415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3753975"/>
                        <a:ext cx="11645900" cy="2343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/>
          <p:nvPr/>
        </p:nvSpPr>
        <p:spPr>
          <a:xfrm>
            <a:off x="5237317" y="3807807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7788140" y="3807807"/>
            <a:ext cx="1188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753157" y="5021185"/>
            <a:ext cx="161645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608971" y="5561784"/>
            <a:ext cx="612000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125512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4417896"/>
              </p:ext>
            </p:extLst>
          </p:nvPr>
        </p:nvGraphicFramePr>
        <p:xfrm>
          <a:off x="353774" y="1007839"/>
          <a:ext cx="11671959" cy="2422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6" name="文档" r:id="rId4" imgW="3826872" imgH="794228" progId="Word.Document.12">
                  <p:embed/>
                </p:oleObj>
              </mc:Choice>
              <mc:Fallback>
                <p:oleObj name="文档" r:id="rId4" imgW="3826872" imgH="79422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3774" y="1007839"/>
                        <a:ext cx="11671959" cy="24223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7366266"/>
              </p:ext>
            </p:extLst>
          </p:nvPr>
        </p:nvGraphicFramePr>
        <p:xfrm>
          <a:off x="349886" y="3426615"/>
          <a:ext cx="11671959" cy="1211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7" name="文档" r:id="rId7" imgW="3826872" imgH="397114" progId="Word.Document.12">
                  <p:embed/>
                </p:oleObj>
              </mc:Choice>
              <mc:Fallback>
                <p:oleObj name="文档" r:id="rId7" imgW="3826872" imgH="39711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9886" y="3426615"/>
                        <a:ext cx="11671959" cy="121119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258918" y="4645055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68583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47618"/>
            <a:ext cx="10807700" cy="43200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虚轴上的点对应的复数都是纯虚数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复数的模一定是正实数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的充要条件是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|&gt;|z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若两个复数互为共轭复数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则它们的模相等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88219" y="2962813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429018" y="3538877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581146" y="4165433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8785373" y="4702156"/>
            <a:ext cx="476035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46731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1224533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024733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4824933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  <p:sp>
        <p:nvSpPr>
          <p:cNvPr id="6" name="圆角矩形 5">
            <a:hlinkClick r:id="rId5" action="ppaction://hlinksldjump"/>
          </p:cNvPr>
          <p:cNvSpPr/>
          <p:nvPr/>
        </p:nvSpPr>
        <p:spPr>
          <a:xfrm>
            <a:off x="6625133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四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948879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</a:t>
            </a:r>
            <a:r>
              <a:rPr lang="zh-CN" altLang="zh-CN" dirty="0"/>
              <a:t>与复平面内的点一一对应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61950" y="1711471"/>
            <a:ext cx="11691623" cy="3649528"/>
            <a:chOff x="361950" y="1632672"/>
            <a:chExt cx="11691623" cy="364952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632672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已知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在复平面内对应的点在第四象限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3,1)	B.(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1,3)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C.(1,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	D.(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3756907"/>
                </p:ext>
              </p:extLst>
            </p:nvPr>
          </p:nvGraphicFramePr>
          <p:xfrm>
            <a:off x="381614" y="4050177"/>
            <a:ext cx="11671959" cy="12320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34" name="文档" r:id="rId4" imgW="3826872" imgH="403942" progId="Word.Document.12">
                    <p:embed/>
                  </p:oleObj>
                </mc:Choice>
                <mc:Fallback>
                  <p:oleObj name="文档" r:id="rId4" imgW="3826872" imgH="403942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81614" y="4050177"/>
                          <a:ext cx="11671959" cy="123202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892401"/>
            <a:ext cx="11742454" cy="4184702"/>
            <a:chOff x="361950" y="855585"/>
            <a:chExt cx="11742454" cy="4184702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855585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解析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对应点的坐标为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且该点在第四象限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8057796"/>
                </p:ext>
              </p:extLst>
            </p:nvPr>
          </p:nvGraphicFramePr>
          <p:xfrm>
            <a:off x="432445" y="2102722"/>
            <a:ext cx="11671959" cy="29375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8" name="文档" r:id="rId4" imgW="3826872" imgH="963136" progId="Word.Document.12">
                    <p:embed/>
                  </p:oleObj>
                </mc:Choice>
                <mc:Fallback>
                  <p:oleObj name="文档" r:id="rId4" imgW="3826872" imgH="96313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2102722"/>
                          <a:ext cx="11671959" cy="293756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" name="矩形 8"/>
          <p:cNvSpPr>
            <a:spLocks noChangeAspect="1"/>
          </p:cNvSpPr>
          <p:nvPr/>
        </p:nvSpPr>
        <p:spPr>
          <a:xfrm>
            <a:off x="328240" y="5024759"/>
            <a:ext cx="311655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(1)A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2)9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9107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156163"/>
            <a:ext cx="10807700" cy="3652646"/>
            <a:chOff x="361950" y="1156163"/>
            <a:chExt cx="10807700" cy="3652646"/>
          </a:xfrm>
        </p:grpSpPr>
        <p:pic>
          <p:nvPicPr>
            <p:cNvPr id="10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15616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761821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利用复数与复平面内点的对应关系解题的步骤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找对应关系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复数的几何表示即复数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可以用复平面内的点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来表示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列出方程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此类问题可寻求复数的实部与虚部应满足的条件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通过解方程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或不等式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求解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1701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54579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为何值时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28)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在复平面内的对应点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位于第四象限内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位于实轴负半轴上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在上半平面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含实轴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528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47799"/>
            <a:ext cx="11160126" cy="5770472"/>
            <a:chOff x="361950" y="647799"/>
            <a:chExt cx="11160126" cy="5770472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07304611"/>
                </p:ext>
              </p:extLst>
            </p:nvPr>
          </p:nvGraphicFramePr>
          <p:xfrm>
            <a:off x="432446" y="647799"/>
            <a:ext cx="11089630" cy="45895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82" name="文档" r:id="rId4" imgW="3837724" imgH="1589050" progId="Word.Document.12">
                    <p:embed/>
                  </p:oleObj>
                </mc:Choice>
                <mc:Fallback>
                  <p:oleObj name="文档" r:id="rId4" imgW="3837724" imgH="158905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6" y="647799"/>
                          <a:ext cx="11089630" cy="458953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5200630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要使点位于上半平面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含实轴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28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7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6947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116213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</a:t>
            </a:r>
            <a:r>
              <a:rPr lang="zh-CN" altLang="zh-CN" dirty="0"/>
              <a:t>与复平面内的向量一一对应</a:t>
            </a: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4124116"/>
              </p:ext>
            </p:extLst>
          </p:nvPr>
        </p:nvGraphicFramePr>
        <p:xfrm>
          <a:off x="288429" y="2021092"/>
          <a:ext cx="11671959" cy="26591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6" name="文档" r:id="rId4" imgW="3826872" imgH="871854" progId="Word.Document.12">
                  <p:embed/>
                </p:oleObj>
              </mc:Choice>
              <mc:Fallback>
                <p:oleObj name="文档" r:id="rId4" imgW="3826872" imgH="8718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2021092"/>
                        <a:ext cx="11671959" cy="26591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4075761"/>
              </p:ext>
            </p:extLst>
          </p:nvPr>
        </p:nvGraphicFramePr>
        <p:xfrm>
          <a:off x="209758" y="970927"/>
          <a:ext cx="11671959" cy="4439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0" name="文档" r:id="rId4" imgW="3826872" imgH="1455486" progId="Word.Document.12">
                  <p:embed/>
                </p:oleObj>
              </mc:Choice>
              <mc:Fallback>
                <p:oleObj name="文档" r:id="rId4" imgW="3826872" imgH="145548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9758" y="970927"/>
                        <a:ext cx="11671959" cy="4439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49700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786291"/>
            <a:ext cx="10807700" cy="5324284"/>
            <a:chOff x="361950" y="796123"/>
            <a:chExt cx="10807700" cy="5324284"/>
          </a:xfrm>
        </p:grpSpPr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796123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357180"/>
              <a:ext cx="10807700" cy="47632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复数与平面向量的对应关系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根据复数与平面向量的对应关系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可知当平面向量的起点在原点时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向量的终点对应的复数即为向量对应的复数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反之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复数对应的点确定后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从原点引出的指向该点的有向线段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即为复数对应的向量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解决复数与平面向量一一对应的问题时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一般以复数与复平面内的点一一对应为工具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实现复数、复平面内的点、向量之间的转化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7915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4668607"/>
              </p:ext>
            </p:extLst>
          </p:nvPr>
        </p:nvGraphicFramePr>
        <p:xfrm>
          <a:off x="357188" y="714375"/>
          <a:ext cx="11645900" cy="1544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文档" r:id="rId4" imgW="3837724" imgH="510573" progId="Word.Document.12">
                  <p:embed/>
                </p:oleObj>
              </mc:Choice>
              <mc:Fallback>
                <p:oleObj name="文档" r:id="rId4" imgW="3837724" imgH="51057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57188" y="714375"/>
                        <a:ext cx="11645900" cy="15446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组合 8"/>
          <p:cNvGrpSpPr/>
          <p:nvPr/>
        </p:nvGrpSpPr>
        <p:grpSpPr>
          <a:xfrm>
            <a:off x="357188" y="2259013"/>
            <a:ext cx="11645900" cy="3886263"/>
            <a:chOff x="357188" y="2249181"/>
            <a:chExt cx="11645900" cy="3886263"/>
          </a:xfrm>
        </p:grpSpPr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60365123"/>
                </p:ext>
              </p:extLst>
            </p:nvPr>
          </p:nvGraphicFramePr>
          <p:xfrm>
            <a:off x="357188" y="2249181"/>
            <a:ext cx="11645900" cy="2197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71" name="文档" r:id="rId7" imgW="3837724" imgH="726557" progId="Word.Document.12">
                    <p:embed/>
                  </p:oleObj>
                </mc:Choice>
                <mc:Fallback>
                  <p:oleObj name="文档" r:id="rId7" imgW="3837724" imgH="72655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57188" y="2249181"/>
                          <a:ext cx="11645900" cy="2197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" name="EMG2TRA02.eps" descr="id:2147491342;FounderCES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7201197" y="3888159"/>
              <a:ext cx="3240360" cy="22472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343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808363" y="71980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复数</a:t>
            </a:r>
            <a:r>
              <a:rPr lang="zh-CN" altLang="zh-CN" dirty="0"/>
              <a:t>的模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73127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|&lt;|z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的取值范围是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A.(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C.(1,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rPr>
              <a:t>			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在复平面内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对应的点为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|z|=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en-US" altLang="zh-CN" i="1" dirty="0" smtClean="0">
              <a:solidFill>
                <a:srgbClr val="000000"/>
              </a:solidFill>
              <a:latin typeface="宋体" panose="02010600030101010101" pitchFamily="2" charset="-12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通过复数的模的公式计算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|z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解关于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根据复数的模的几何意义判断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2841252"/>
              </p:ext>
            </p:extLst>
          </p:nvPr>
        </p:nvGraphicFramePr>
        <p:xfrm>
          <a:off x="473075" y="841375"/>
          <a:ext cx="11645900" cy="437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8" name="文档" r:id="rId4" imgW="3837724" imgH="1445902" progId="Word.Document.12">
                  <p:embed/>
                </p:oleObj>
              </mc:Choice>
              <mc:Fallback>
                <p:oleObj name="文档" r:id="rId4" imgW="3837724" imgH="14459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3075" y="841375"/>
                        <a:ext cx="11645900" cy="4371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361950" y="5195833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(1)B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以原点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为圆心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为半径的圆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683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延伸探究H.eps" descr="id:214749083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4317062" y="709975"/>
            <a:ext cx="2524095" cy="460328"/>
          </a:xfrm>
          <a:prstGeom prst="rect">
            <a:avLst/>
          </a:prstGeom>
        </p:spPr>
      </p:pic>
      <p:sp>
        <p:nvSpPr>
          <p:cNvPr id="6" name="矩形 5"/>
          <p:cNvSpPr>
            <a:spLocks noChangeAspect="1"/>
          </p:cNvSpPr>
          <p:nvPr/>
        </p:nvSpPr>
        <p:spPr>
          <a:xfrm>
            <a:off x="361950" y="1223863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将本例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中的条件改为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|z|&lt;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求满足条件的点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的集合是什么图形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361950" y="1813171"/>
            <a:ext cx="11807799" cy="4451252"/>
            <a:chOff x="361950" y="1813171"/>
            <a:chExt cx="11807799" cy="4451252"/>
          </a:xfrm>
        </p:grpSpPr>
        <p:grpSp>
          <p:nvGrpSpPr>
            <p:cNvPr id="9" name="组合 8"/>
            <p:cNvGrpSpPr/>
            <p:nvPr/>
          </p:nvGrpSpPr>
          <p:grpSpPr>
            <a:xfrm>
              <a:off x="361950" y="2883384"/>
              <a:ext cx="11807799" cy="3381039"/>
              <a:chOff x="361950" y="2883384"/>
              <a:chExt cx="11807799" cy="3381039"/>
            </a:xfrm>
          </p:grpSpPr>
          <p:graphicFrame>
            <p:nvGraphicFramePr>
              <p:cNvPr id="7" name="对象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98975238"/>
                  </p:ext>
                </p:extLst>
              </p:nvPr>
            </p:nvGraphicFramePr>
            <p:xfrm>
              <a:off x="497790" y="2883384"/>
              <a:ext cx="11671959" cy="99307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6401" name="文档" r:id="rId5" imgW="3826872" imgH="325598" progId="Word.Document.12">
                      <p:embed/>
                    </p:oleObj>
                  </mc:Choice>
                  <mc:Fallback>
                    <p:oleObj name="文档" r:id="rId5" imgW="3826872" imgH="325598" progId="Word.Document.12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497790" y="2883384"/>
                            <a:ext cx="11671959" cy="99307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" name="矩形 7"/>
              <p:cNvSpPr>
                <a:spLocks noChangeAspect="1"/>
              </p:cNvSpPr>
              <p:nvPr/>
            </p:nvSpPr>
            <p:spPr>
              <a:xfrm>
                <a:off x="361950" y="3864920"/>
                <a:ext cx="10807700" cy="239950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029335" algn="l"/>
                    <a:tab pos="1850390" algn="l"/>
                    <a:tab pos="2538095" algn="l"/>
                    <a:tab pos="3221990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不等式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|z|&lt;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的解集是圆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|z|=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的内部所有的点组成的集合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不等式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|z|</a:t>
                </a:r>
                <a:r>
                  <a:rPr lang="en-US" altLang="zh-CN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≥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的解集是圆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|z|=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及圆外部所有的点组成的集合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所以满足条件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dirty="0">
                    <a:solidFill>
                      <a:srgbClr val="000000"/>
                    </a:solidFill>
                    <a:latin typeface="宋体" panose="02010600030101010101" pitchFamily="2" charset="-122"/>
                    <a:ea typeface="方正书宋_GBK" panose="03000509000000000000" pitchFamily="65" charset="-122"/>
                    <a:cs typeface="Times New Roman" panose="02020603050405020304" pitchFamily="18" charset="0"/>
                  </a:rPr>
                  <a:t>≤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|z|&lt;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的点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Z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的集合是以原点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O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为圆心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以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及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为半径的两个圆所夹的圆环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不包括大圆周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a typeface="楷体" panose="02010609060101010101" pitchFamily="49" charset="-122"/>
                    <a:cs typeface="Times New Roman" panose="02020603050405020304" pitchFamily="18" charset="0"/>
                  </a:rPr>
                  <a:t>如图阴影部分所示</a:t>
                </a:r>
                <a:r>
                  <a:rPr lang="en-US" altLang="zh-CN" i="1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/>
                  <a:ea typeface="方正书宋_GBK" panose="03000509000000000000" pitchFamily="65" charset="-122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0" name="EMG2TRA03.eps" descr="id:2147491370;FounderCES"/>
            <p:cNvPicPr/>
            <p:nvPr/>
          </p:nvPicPr>
          <p:blipFill>
            <a:blip r:embed="rId7"/>
            <a:stretch>
              <a:fillRect/>
            </a:stretch>
          </p:blipFill>
          <p:spPr>
            <a:xfrm>
              <a:off x="7849269" y="1813171"/>
              <a:ext cx="2088232" cy="21095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31152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2015951"/>
            <a:ext cx="10807700" cy="1861405"/>
            <a:chOff x="361950" y="940139"/>
            <a:chExt cx="10807700" cy="1861405"/>
          </a:xfrm>
        </p:grpSpPr>
        <p:pic>
          <p:nvPicPr>
            <p:cNvPr id="4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58390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从几何意义上理解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复数的模表示复数在复平面内对应的点到原点的距离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|z|=r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表示以原点为圆心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r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为半径的圆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2541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燕尾形 4"/>
          <p:cNvSpPr/>
          <p:nvPr/>
        </p:nvSpPr>
        <p:spPr>
          <a:xfrm>
            <a:off x="808363" y="883487"/>
            <a:ext cx="9488422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四</a:t>
            </a:r>
            <a:r>
              <a:rPr lang="en-US" altLang="zh-CN" dirty="0" smtClean="0"/>
              <a:t>  </a:t>
            </a:r>
            <a:r>
              <a:rPr lang="zh-CN" altLang="zh-CN" dirty="0" smtClean="0"/>
              <a:t>共轭复数</a:t>
            </a:r>
            <a:endParaRPr lang="zh-CN" altLang="zh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/>
              <p:cNvSpPr>
                <a:spLocks noChangeAspect="1"/>
              </p:cNvSpPr>
              <p:nvPr/>
            </p:nvSpPr>
            <p:spPr>
              <a:xfrm>
                <a:off x="361950" y="1569726"/>
                <a:ext cx="10807700" cy="375859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solidFill>
                      <a:srgbClr val="000000"/>
                    </a:solidFill>
                    <a:latin typeface="Arial" panose="020B0604020202020204" pitchFamily="34" charset="0"/>
                    <a:cs typeface="Times New Roman" panose="02020603050405020304" pitchFamily="18" charset="0"/>
                  </a:rPr>
                  <a:t>【例</a:t>
                </a:r>
                <a:r>
                  <a:rPr lang="en-US" altLang="zh-CN" dirty="0">
                    <a:solidFill>
                      <a:srgbClr val="000000"/>
                    </a:solidFill>
                    <a:ea typeface="宋体" panose="0201060003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Arial" panose="020B0604020202020204" pitchFamily="34" charset="0"/>
                    <a:cs typeface="Times New Roman" panose="02020603050405020304" pitchFamily="18" charset="0"/>
                  </a:rPr>
                  <a:t>】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latin typeface="NEU-BZ-S92" panose="02020503000000020003" pitchFamily="18" charset="-122"/>
                    <a:ea typeface="Arial" panose="020B060402020202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在复平面内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复数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z=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i,</a:t>
                </a:r>
                <a:r>
                  <a:rPr lang="zh-CN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    </a:t>
                </a:r>
                <a:r>
                  <a:rPr lang="zh-CN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对应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的点位于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zh-CN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　　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A.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第一象限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	B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第二象限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endParaRPr lang="en-US" altLang="zh-CN" dirty="0" smtClean="0">
                  <a:solidFill>
                    <a:srgbClr val="000000"/>
                  </a:solidFill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C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第三象限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	</a:t>
                </a:r>
                <a:r>
                  <a:rPr lang="en-US" altLang="zh-CN" dirty="0" smtClean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	D.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第四象限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解析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因为复数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z=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+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i,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所以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bar>
                  </m:oMath>
                </a14:m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i,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则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zh-CN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zh-CN" i="1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bar>
                  </m:oMath>
                </a14:m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在复平面内对应的点的坐标为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(1,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1),</a:t>
                </a:r>
                <a:r>
                  <a:rPr lang="zh-CN" altLang="zh-CN" dirty="0">
                    <a:solidFill>
                      <a:srgbClr val="000000"/>
                    </a:solidFill>
                    <a:effectLst/>
                    <a:ea typeface="楷体" panose="02010609060101010101" pitchFamily="49" charset="-122"/>
                    <a:cs typeface="Times New Roman" panose="02020603050405020304" pitchFamily="18" charset="0"/>
                  </a:rPr>
                  <a:t>位于第四象限</a:t>
                </a:r>
                <a:r>
                  <a:rPr lang="en-US" altLang="zh-CN" i="1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.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20000"/>
                  </a:lnSpc>
                  <a:spcAft>
                    <a:spcPts val="0"/>
                  </a:spcAft>
                  <a:tabLst>
                    <a:tab pos="1188085" algn="l"/>
                    <a:tab pos="2163445" algn="l"/>
                    <a:tab pos="3142615" algn="l"/>
                    <a:tab pos="4190365" algn="l"/>
                  </a:tabLst>
                </a:pPr>
                <a:r>
                  <a:rPr lang="zh-CN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答案</a:t>
                </a:r>
                <a:r>
                  <a:rPr lang="en-US" altLang="zh-CN" dirty="0">
                    <a:latin typeface="Arial" panose="020B0604020202020204" pitchFamily="34" charset="0"/>
                    <a:cs typeface="Times New Roman" panose="02020603050405020304" pitchFamily="18" charset="0"/>
                  </a:rPr>
                  <a:t>:</a:t>
                </a:r>
                <a:r>
                  <a:rPr lang="en-US" altLang="zh-CN" dirty="0">
                    <a:solidFill>
                      <a:srgbClr val="000000"/>
                    </a:solidFill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D</a:t>
                </a:r>
                <a:endParaRPr lang="zh-CN" altLang="zh-CN" dirty="0">
                  <a:solidFill>
                    <a:srgbClr val="000000"/>
                  </a:solidFill>
                  <a:effectLst/>
                  <a:latin typeface="NEU-BZ-S92" panose="02020503000000020003" pitchFamily="18" charset="-122"/>
                  <a:ea typeface="NEU-BZ-S92" panose="02020503000000020003" pitchFamily="18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950" y="1569726"/>
                <a:ext cx="10807700" cy="3758593"/>
              </a:xfrm>
              <a:prstGeom prst="rect">
                <a:avLst/>
              </a:prstGeom>
              <a:blipFill rotWithShape="0">
                <a:blip r:embed="rId3"/>
                <a:stretch>
                  <a:fillRect l="-1410" t="-1623" r="-6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6446547"/>
              </p:ext>
            </p:extLst>
          </p:nvPr>
        </p:nvGraphicFramePr>
        <p:xfrm>
          <a:off x="6193085" y="1671435"/>
          <a:ext cx="8096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00" name="文档" r:id="rId5" imgW="267782" imgH="155971" progId="Word.Document.12">
                  <p:embed/>
                </p:oleObj>
              </mc:Choice>
              <mc:Fallback>
                <p:oleObj name="文档" r:id="rId5" imgW="267782" imgH="15597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193085" y="1671435"/>
                        <a:ext cx="809625" cy="484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0172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反思感悟H.eps" descr="id:214749079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361950" y="1151855"/>
            <a:ext cx="2259558" cy="531552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361950" y="1727919"/>
            <a:ext cx="10807700" cy="3008068"/>
            <a:chOff x="361950" y="1799927"/>
            <a:chExt cx="10807700" cy="3008068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799927"/>
              <a:ext cx="10807700" cy="300806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共轭复数的求法及其关系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复数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z=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a+b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err="1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宋体" panose="02010600030101010101" pitchFamily="2" charset="-122"/>
                </a:rPr>
                <a:t>∈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R)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的共轭复数为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    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=a-b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i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互为共轭复数的两个复数模相等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提醒</a:t>
              </a:r>
              <a:r>
                <a:rPr lang="en-US" altLang="zh-CN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互为共轭复数的两个复数对应的点关于实轴对称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latin typeface="+mn-lt"/>
                  <a:ea typeface="仿宋" panose="02010609060101010101" pitchFamily="49" charset="-122"/>
                  <a:cs typeface="Times New Roman" panose="02020603050405020304" pitchFamily="18" charset="0"/>
                </a:rPr>
                <a:t>实数的共轭复数是它本身</a:t>
              </a:r>
              <a:r>
                <a:rPr lang="en-US" altLang="zh-CN" i="1" dirty="0">
                  <a:solidFill>
                    <a:srgbClr val="000000"/>
                  </a:solidFill>
                  <a:latin typeface="+mn-lt"/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35371569"/>
                </p:ext>
              </p:extLst>
            </p:nvPr>
          </p:nvGraphicFramePr>
          <p:xfrm>
            <a:off x="6553125" y="2487532"/>
            <a:ext cx="80962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23" name="文档" r:id="rId5" imgW="267782" imgH="155971" progId="Word.Document.12">
                    <p:embed/>
                  </p:oleObj>
                </mc:Choice>
                <mc:Fallback>
                  <p:oleObj name="文档" r:id="rId5" imgW="267782" imgH="1559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6553125" y="2487532"/>
                          <a:ext cx="809625" cy="4841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97893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1286039"/>
            <a:ext cx="10807700" cy="1235275"/>
            <a:chOff x="361950" y="2130225"/>
            <a:chExt cx="10807700" cy="1235275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130225"/>
              <a:ext cx="10807700" cy="123527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 panose="02020503000000020003" pitchFamily="18" charset="-12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(3,4),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对应的复数为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z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的共轭复数为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    |=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　　　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i="1" dirty="0">
                  <a:solidFill>
                    <a:srgbClr val="000000"/>
                  </a:solidFill>
                  <a:latin typeface="宋体" panose="02010600030101010101" pitchFamily="2" charset="-122"/>
                  <a:ea typeface="NEU-BZ-S92" panose="02020503000000020003" pitchFamily="18" charset="-122"/>
                  <a:cs typeface="Times New Roman" panose="02020603050405020304" pitchFamily="18" charset="0"/>
                </a:rPr>
                <a:t> </a:t>
              </a:r>
              <a:endParaRPr lang="zh-CN" altLang="zh-CN" dirty="0">
                <a:solidFill>
                  <a:srgbClr val="000000"/>
                </a:solidFill>
                <a:effectLst/>
                <a:latin typeface="NEU-BZ-S92" panose="02020503000000020003" pitchFamily="18" charset="-122"/>
                <a:ea typeface="NEU-BZ-S92" panose="02020503000000020003" pitchFamily="18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238524"/>
                </p:ext>
              </p:extLst>
            </p:nvPr>
          </p:nvGraphicFramePr>
          <p:xfrm>
            <a:off x="1800597" y="2821802"/>
            <a:ext cx="80962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49" name="文档" r:id="rId4" imgW="267782" imgH="155971" progId="Word.Document.12">
                    <p:embed/>
                  </p:oleObj>
                </mc:Choice>
                <mc:Fallback>
                  <p:oleObj name="文档" r:id="rId4" imgW="267782" imgH="1559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800597" y="2821802"/>
                          <a:ext cx="809625" cy="4841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对象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88504703"/>
                </p:ext>
              </p:extLst>
            </p:nvPr>
          </p:nvGraphicFramePr>
          <p:xfrm>
            <a:off x="4661253" y="2848824"/>
            <a:ext cx="809625" cy="484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750" name="文档" r:id="rId7" imgW="267782" imgH="155971" progId="Word.Document.12">
                    <p:embed/>
                  </p:oleObj>
                </mc:Choice>
                <mc:Fallback>
                  <p:oleObj name="文档" r:id="rId7" imgW="267782" imgH="155971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61253" y="2848824"/>
                          <a:ext cx="809625" cy="4841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61950" y="2518771"/>
            <a:ext cx="10807700" cy="64434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(3,4),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4i,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774280"/>
              </p:ext>
            </p:extLst>
          </p:nvPr>
        </p:nvGraphicFramePr>
        <p:xfrm>
          <a:off x="412781" y="3225569"/>
          <a:ext cx="11671959" cy="991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51" name="文档" r:id="rId9" imgW="3826872" imgH="325238" progId="Word.Document.12">
                  <p:embed/>
                </p:oleObj>
              </mc:Choice>
              <mc:Fallback>
                <p:oleObj name="文档" r:id="rId9" imgW="3826872" imgH="32523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12781" y="3225569"/>
                        <a:ext cx="11671959" cy="991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>
            <a:spLocks noChangeAspect="1"/>
          </p:cNvSpPr>
          <p:nvPr/>
        </p:nvSpPr>
        <p:spPr>
          <a:xfrm>
            <a:off x="361950" y="4347191"/>
            <a:ext cx="252505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4i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3155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易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错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辨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析</a:t>
            </a: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781983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对复数与复平面内向量的对应关系理解不到位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致</a:t>
            </a:r>
            <a:r>
              <a:rPr lang="zh-CN" altLang="en-US" dirty="0" smtClean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错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6124371"/>
              </p:ext>
            </p:extLst>
          </p:nvPr>
        </p:nvGraphicFramePr>
        <p:xfrm>
          <a:off x="281766" y="1499622"/>
          <a:ext cx="11671959" cy="452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5" name="文档" r:id="rId4" imgW="3826872" imgH="1484955" progId="Word.Document.12">
                  <p:embed/>
                </p:oleObj>
              </mc:Choice>
              <mc:Fallback>
                <p:oleObj name="文档" r:id="rId4" imgW="3826872" imgH="148495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1766" y="1499622"/>
                        <a:ext cx="11671959" cy="4529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017671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以上解答过程中都有哪些错误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出错的原因是什么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你如何改正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你如何防范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错解中把向量的平移当成了点的平移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忽视了向量作平移变换后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两个向量仍然相等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从而两向量对应的复数不变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0211745"/>
              </p:ext>
            </p:extLst>
          </p:nvPr>
        </p:nvGraphicFramePr>
        <p:xfrm>
          <a:off x="474957" y="3395562"/>
          <a:ext cx="11671959" cy="1314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49" name="文档" r:id="rId4" imgW="3826872" imgH="430896" progId="Word.Document.12">
                  <p:embed/>
                </p:oleObj>
              </mc:Choice>
              <mc:Fallback>
                <p:oleObj name="文档" r:id="rId4" imgW="3826872" imgH="43089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4957" y="3395562"/>
                        <a:ext cx="11671959" cy="13142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/>
          <p:cNvSpPr>
            <a:spLocks noChangeAspect="1"/>
          </p:cNvSpPr>
          <p:nvPr/>
        </p:nvSpPr>
        <p:spPr>
          <a:xfrm>
            <a:off x="405329" y="4690130"/>
            <a:ext cx="1846980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791809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1950" y="1439887"/>
            <a:ext cx="10807700" cy="3031407"/>
            <a:chOff x="361950" y="1792856"/>
            <a:chExt cx="10807700" cy="3031407"/>
          </a:xfrm>
        </p:grpSpPr>
        <p:pic>
          <p:nvPicPr>
            <p:cNvPr id="7" name="防范措施H.eps" descr="id:2147490860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792856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424760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向量平移后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虽然向量的起点和终点都平移了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但所得向量的坐标不变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即向量作平移变换后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所得向量与原向量相等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向量坐标的横坐标、纵坐标分别是其对应复数的实部与虚部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4984204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583903"/>
            <a:ext cx="11876638" cy="1274195"/>
            <a:chOff x="361950" y="1556928"/>
            <a:chExt cx="11876638" cy="1274195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556928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在复平面内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对应的复数是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i,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将点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向左平移一个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单位</a:t>
              </a:r>
              <a:r>
                <a:rPr lang="zh-CN" altLang="en-US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长度</a:t>
              </a:r>
              <a:r>
                <a:rPr lang="zh-CN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后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得点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对应的复数是</a:t>
              </a:r>
              <a:r>
                <a:rPr lang="zh-CN" altLang="zh-CN" i="1" u="sng" dirty="0">
                  <a:uFill>
                    <a:solidFill>
                      <a:srgbClr val="000000"/>
                    </a:solidFill>
                  </a:u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" name="对象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81594567"/>
                </p:ext>
              </p:extLst>
            </p:nvPr>
          </p:nvGraphicFramePr>
          <p:xfrm>
            <a:off x="566629" y="1636247"/>
            <a:ext cx="11671959" cy="54914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473" name="文档" r:id="rId4" imgW="3826872" imgH="180049" progId="Word.Document.12">
                    <p:embed/>
                  </p:oleObj>
                </mc:Choice>
                <mc:Fallback>
                  <p:oleObj name="文档" r:id="rId4" imgW="3826872" imgH="18004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66629" y="1636247"/>
                          <a:ext cx="11671959" cy="54914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" name="矩形 6"/>
          <p:cNvSpPr>
            <a:spLocks noChangeAspect="1"/>
          </p:cNvSpPr>
          <p:nvPr/>
        </p:nvSpPr>
        <p:spPr>
          <a:xfrm>
            <a:off x="361950" y="2815350"/>
            <a:ext cx="10807700" cy="186512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向左平移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一个单位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长度</a:t>
            </a: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至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baseline="-25000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对应的复数为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36250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864150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在复平面内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向量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所对应的复数是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 err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2i	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实部为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模与复数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的模相等的复数有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D.4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7086088"/>
              </p:ext>
            </p:extLst>
          </p:nvPr>
        </p:nvGraphicFramePr>
        <p:xfrm>
          <a:off x="361950" y="2313815"/>
          <a:ext cx="11671959" cy="23884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92" name="文档" r:id="rId4" imgW="3837724" imgH="785691" progId="Word.Document.12">
                  <p:embed/>
                </p:oleObj>
              </mc:Choice>
              <mc:Fallback>
                <p:oleObj name="文档" r:id="rId4" imgW="3837724" imgH="78569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1950" y="2313815"/>
                        <a:ext cx="11671959" cy="23884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33747" y="4717063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405182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584583"/>
              </p:ext>
            </p:extLst>
          </p:nvPr>
        </p:nvGraphicFramePr>
        <p:xfrm>
          <a:off x="216421" y="1310743"/>
          <a:ext cx="11671959" cy="1310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0" name="文档" r:id="rId4" imgW="3826872" imgH="429818" progId="Word.Document.12">
                  <p:embed/>
                </p:oleObj>
              </mc:Choice>
              <mc:Fallback>
                <p:oleObj name="文档" r:id="rId4" imgW="3826872" imgH="42981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421" y="1310743"/>
                        <a:ext cx="11671959" cy="1310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5869712"/>
              </p:ext>
            </p:extLst>
          </p:nvPr>
        </p:nvGraphicFramePr>
        <p:xfrm>
          <a:off x="216421" y="2621688"/>
          <a:ext cx="11671959" cy="1261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31" name="文档" r:id="rId7" imgW="3826872" imgH="413646" progId="Word.Document.12">
                  <p:embed/>
                </p:oleObj>
              </mc:Choice>
              <mc:Fallback>
                <p:oleObj name="文档" r:id="rId7" imgW="3826872" imgH="4136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6421" y="2621688"/>
                        <a:ext cx="11671959" cy="12616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198050" y="3852967"/>
            <a:ext cx="200567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4i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4396077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14031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互为共轭复数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3983855"/>
              </p:ext>
            </p:extLst>
          </p:nvPr>
        </p:nvGraphicFramePr>
        <p:xfrm>
          <a:off x="415950" y="2465200"/>
          <a:ext cx="11671959" cy="17011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40" name="文档" r:id="rId4" imgW="3826872" imgH="557757" progId="Word.Document.12">
                  <p:embed/>
                </p:oleObj>
              </mc:Choice>
              <mc:Fallback>
                <p:oleObj name="文档" r:id="rId4" imgW="3826872" imgH="55775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15950" y="2465200"/>
                        <a:ext cx="11671959" cy="170115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288429" y="4238367"/>
            <a:ext cx="2206053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020169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58562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取什么值时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复平面内表示复数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的点分别满足以下条件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位于虚轴上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位于第三象限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复数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z=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在复平面上对应点的坐标为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-m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在虚轴上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9922535"/>
              </p:ext>
            </p:extLst>
          </p:nvPr>
        </p:nvGraphicFramePr>
        <p:xfrm>
          <a:off x="432445" y="4670284"/>
          <a:ext cx="11671959" cy="16858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64" name="文档" r:id="rId4" imgW="3826872" imgH="552725" progId="Word.Document.12">
                  <p:embed/>
                </p:oleObj>
              </mc:Choice>
              <mc:Fallback>
                <p:oleObj name="文档" r:id="rId4" imgW="3826872" imgH="55272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32445" y="4670284"/>
                        <a:ext cx="11671959" cy="168581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5616757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89</TotalTime>
  <Words>1622</Words>
  <Application>Microsoft Office PowerPoint</Application>
  <PresentationFormat>自定义</PresentationFormat>
  <Paragraphs>120</Paragraphs>
  <Slides>43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9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30</cp:revision>
  <dcterms:created xsi:type="dcterms:W3CDTF">2020-09-12T05:36:12Z</dcterms:created>
  <dcterms:modified xsi:type="dcterms:W3CDTF">2025-09-04T05:32:12Z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