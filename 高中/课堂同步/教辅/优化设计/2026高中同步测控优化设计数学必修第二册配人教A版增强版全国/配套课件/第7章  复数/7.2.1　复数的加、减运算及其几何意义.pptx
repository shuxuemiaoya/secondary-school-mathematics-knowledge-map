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731" r:id="rId2"/>
    <p:sldId id="753" r:id="rId3"/>
    <p:sldId id="736" r:id="rId4"/>
    <p:sldId id="744" r:id="rId5"/>
    <p:sldId id="746" r:id="rId6"/>
    <p:sldId id="749" r:id="rId7"/>
    <p:sldId id="756" r:id="rId8"/>
    <p:sldId id="757" r:id="rId9"/>
    <p:sldId id="758" r:id="rId10"/>
    <p:sldId id="780" r:id="rId11"/>
    <p:sldId id="760" r:id="rId12"/>
    <p:sldId id="761" r:id="rId13"/>
    <p:sldId id="762" r:id="rId14"/>
    <p:sldId id="763" r:id="rId15"/>
    <p:sldId id="764" r:id="rId16"/>
    <p:sldId id="737" r:id="rId17"/>
    <p:sldId id="750" r:id="rId18"/>
    <p:sldId id="765" r:id="rId19"/>
    <p:sldId id="766" r:id="rId20"/>
    <p:sldId id="754" r:id="rId21"/>
    <p:sldId id="767" r:id="rId22"/>
    <p:sldId id="768" r:id="rId23"/>
    <p:sldId id="769" r:id="rId24"/>
    <p:sldId id="755" r:id="rId25"/>
    <p:sldId id="770" r:id="rId26"/>
    <p:sldId id="771" r:id="rId27"/>
    <p:sldId id="772" r:id="rId28"/>
    <p:sldId id="773" r:id="rId29"/>
    <p:sldId id="747" r:id="rId30"/>
    <p:sldId id="751" r:id="rId31"/>
    <p:sldId id="774" r:id="rId32"/>
    <p:sldId id="775" r:id="rId33"/>
    <p:sldId id="776" r:id="rId34"/>
    <p:sldId id="748" r:id="rId35"/>
    <p:sldId id="752" r:id="rId36"/>
    <p:sldId id="777" r:id="rId37"/>
    <p:sldId id="778" r:id="rId38"/>
    <p:sldId id="782" r:id="rId39"/>
    <p:sldId id="735" r:id="rId40"/>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autoAdjust="0"/>
    <p:restoredTop sz="94591" autoAdjust="0"/>
  </p:normalViewPr>
  <p:slideViewPr>
    <p:cSldViewPr>
      <p:cViewPr varScale="1">
        <p:scale>
          <a:sx n="97" d="100"/>
          <a:sy n="97" d="100"/>
        </p:scale>
        <p:origin x="474" y="78"/>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 Id="rId4"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1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image" Target="../media/image2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4.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39</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34.xml"/><Relationship Id="rId5" Type="http://schemas.openxmlformats.org/officeDocument/2006/relationships/slide" Target="slide29.xml"/><Relationship Id="rId4" Type="http://schemas.openxmlformats.org/officeDocument/2006/relationships/slide" Target="slide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4.emf"/><Relationship Id="rId13" Type="http://schemas.openxmlformats.org/officeDocument/2006/relationships/package" Target="../embeddings/Microsoft_Word___4.docx"/><Relationship Id="rId3" Type="http://schemas.openxmlformats.org/officeDocument/2006/relationships/oleObject" Target="../embeddings/oleObject1.bin"/><Relationship Id="rId7" Type="http://schemas.openxmlformats.org/officeDocument/2006/relationships/package" Target="../embeddings/Microsoft_Word___2.docx"/><Relationship Id="rId12" Type="http://schemas.openxmlformats.org/officeDocument/2006/relationships/oleObject" Target="../embeddings/oleObject4.bin"/><Relationship Id="rId2" Type="http://schemas.openxmlformats.org/officeDocument/2006/relationships/slideLayout" Target="../slideLayouts/slideLayout5.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5.emf"/><Relationship Id="rId5" Type="http://schemas.openxmlformats.org/officeDocument/2006/relationships/image" Target="../media/image3.emf"/><Relationship Id="rId10" Type="http://schemas.openxmlformats.org/officeDocument/2006/relationships/package" Target="../embeddings/Microsoft_Word___3.docx"/><Relationship Id="rId4" Type="http://schemas.openxmlformats.org/officeDocument/2006/relationships/package" Target="../embeddings/Microsoft_Word___1.docx"/><Relationship Id="rId9" Type="http://schemas.openxmlformats.org/officeDocument/2006/relationships/oleObject" Target="../embeddings/oleObject3.bin"/><Relationship Id="rId14" Type="http://schemas.openxmlformats.org/officeDocument/2006/relationships/image" Target="../media/image6.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5.xml"/><Relationship Id="rId1" Type="http://schemas.openxmlformats.org/officeDocument/2006/relationships/vmlDrawing" Target="../drawings/vmlDrawing2.vml"/><Relationship Id="rId6" Type="http://schemas.openxmlformats.org/officeDocument/2006/relationships/image" Target="../media/image8.jpeg"/><Relationship Id="rId5" Type="http://schemas.openxmlformats.org/officeDocument/2006/relationships/image" Target="../media/image7.emf"/><Relationship Id="rId4" Type="http://schemas.openxmlformats.org/officeDocument/2006/relationships/package" Target="../embeddings/Microsoft_Word___5.docx"/></Relationships>
</file>

<file path=ppt/slides/_rels/slide11.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oleObject" Target="../embeddings/oleObject6.bin"/><Relationship Id="rId7" Type="http://schemas.openxmlformats.org/officeDocument/2006/relationships/package" Target="../embeddings/Microsoft_Word___7.docx"/><Relationship Id="rId2" Type="http://schemas.openxmlformats.org/officeDocument/2006/relationships/slideLayout" Target="../slideLayouts/slideLayout5.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image" Target="../media/image9.emf"/><Relationship Id="rId4" Type="http://schemas.openxmlformats.org/officeDocument/2006/relationships/package" Target="../embeddings/Microsoft_Word___6.docx"/></Relationships>
</file>

<file path=ppt/slides/_rels/slide12.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8.bin"/><Relationship Id="rId7" Type="http://schemas.openxmlformats.org/officeDocument/2006/relationships/package" Target="../embeddings/Microsoft_Word___9.docx"/><Relationship Id="rId2" Type="http://schemas.openxmlformats.org/officeDocument/2006/relationships/slideLayout" Target="../slideLayouts/slideLayout5.xml"/><Relationship Id="rId1" Type="http://schemas.openxmlformats.org/officeDocument/2006/relationships/vmlDrawing" Target="../drawings/vmlDrawing4.vml"/><Relationship Id="rId6" Type="http://schemas.openxmlformats.org/officeDocument/2006/relationships/oleObject" Target="../embeddings/oleObject9.bin"/><Relationship Id="rId11" Type="http://schemas.openxmlformats.org/officeDocument/2006/relationships/image" Target="../media/image13.emf"/><Relationship Id="rId5" Type="http://schemas.openxmlformats.org/officeDocument/2006/relationships/image" Target="../media/image11.emf"/><Relationship Id="rId10" Type="http://schemas.openxmlformats.org/officeDocument/2006/relationships/package" Target="../embeddings/Microsoft_Word___10.docx"/><Relationship Id="rId4" Type="http://schemas.openxmlformats.org/officeDocument/2006/relationships/package" Target="../embeddings/Microsoft_Word___8.docx"/><Relationship Id="rId9" Type="http://schemas.openxmlformats.org/officeDocument/2006/relationships/oleObject" Target="../embeddings/oleObject10.bin"/></Relationships>
</file>

<file path=ppt/slides/_rels/slide13.xml.rels><?xml version="1.0" encoding="UTF-8" standalone="yes"?>
<Relationships xmlns="http://schemas.openxmlformats.org/package/2006/relationships"><Relationship Id="rId8" Type="http://schemas.openxmlformats.org/officeDocument/2006/relationships/package" Target="../embeddings/Microsoft_Word___12.docx"/><Relationship Id="rId3" Type="http://schemas.openxmlformats.org/officeDocument/2006/relationships/oleObject" Target="../embeddings/oleObject11.bin"/><Relationship Id="rId7" Type="http://schemas.openxmlformats.org/officeDocument/2006/relationships/oleObject" Target="../embeddings/oleObject12.bin"/><Relationship Id="rId2" Type="http://schemas.openxmlformats.org/officeDocument/2006/relationships/slideLayout" Target="../slideLayouts/slideLayout5.xml"/><Relationship Id="rId1" Type="http://schemas.openxmlformats.org/officeDocument/2006/relationships/vmlDrawing" Target="../drawings/vmlDrawing5.vml"/><Relationship Id="rId6" Type="http://schemas.openxmlformats.org/officeDocument/2006/relationships/image" Target="../media/image16.jpeg"/><Relationship Id="rId5" Type="http://schemas.openxmlformats.org/officeDocument/2006/relationships/image" Target="../media/image14.emf"/><Relationship Id="rId4" Type="http://schemas.openxmlformats.org/officeDocument/2006/relationships/package" Target="../embeddings/Microsoft_Word___11.docx"/><Relationship Id="rId9" Type="http://schemas.openxmlformats.org/officeDocument/2006/relationships/image" Target="../media/image15.emf"/></Relationships>
</file>

<file path=ppt/slides/_rels/slide14.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oleObject" Target="../embeddings/oleObject13.bin"/><Relationship Id="rId7" Type="http://schemas.openxmlformats.org/officeDocument/2006/relationships/package" Target="../embeddings/Microsoft_Word___14.docx"/><Relationship Id="rId2" Type="http://schemas.openxmlformats.org/officeDocument/2006/relationships/slideLayout" Target="../slideLayouts/slideLayout5.xml"/><Relationship Id="rId1" Type="http://schemas.openxmlformats.org/officeDocument/2006/relationships/vmlDrawing" Target="../drawings/vmlDrawing6.vml"/><Relationship Id="rId6" Type="http://schemas.openxmlformats.org/officeDocument/2006/relationships/oleObject" Target="../embeddings/oleObject14.bin"/><Relationship Id="rId11" Type="http://schemas.openxmlformats.org/officeDocument/2006/relationships/image" Target="../media/image19.emf"/><Relationship Id="rId5" Type="http://schemas.openxmlformats.org/officeDocument/2006/relationships/image" Target="../media/image17.emf"/><Relationship Id="rId10" Type="http://schemas.openxmlformats.org/officeDocument/2006/relationships/package" Target="../embeddings/Microsoft_Word___15.docx"/><Relationship Id="rId4" Type="http://schemas.openxmlformats.org/officeDocument/2006/relationships/package" Target="../embeddings/Microsoft_Word___13.docx"/><Relationship Id="rId9" Type="http://schemas.openxmlformats.org/officeDocument/2006/relationships/oleObject" Target="../embeddings/oleObject15.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5.xml"/><Relationship Id="rId1" Type="http://schemas.openxmlformats.org/officeDocument/2006/relationships/vmlDrawing" Target="../drawings/vmlDrawing7.vml"/><Relationship Id="rId5" Type="http://schemas.openxmlformats.org/officeDocument/2006/relationships/image" Target="../media/image20.emf"/><Relationship Id="rId4" Type="http://schemas.openxmlformats.org/officeDocument/2006/relationships/package" Target="../embeddings/Microsoft_Word___16.docx"/></Relationships>
</file>

<file path=ppt/slides/_rels/slide16.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slide" Target="slide17.xml"/><Relationship Id="rId1" Type="http://schemas.openxmlformats.org/officeDocument/2006/relationships/slideLayout" Target="../slideLayouts/slideLayout4.xml"/><Relationship Id="rId4" Type="http://schemas.openxmlformats.org/officeDocument/2006/relationships/slide" Target="slide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image" Target="../media/image23.jpeg"/><Relationship Id="rId5" Type="http://schemas.openxmlformats.org/officeDocument/2006/relationships/image" Target="../media/image22.emf"/><Relationship Id="rId4" Type="http://schemas.openxmlformats.org/officeDocument/2006/relationships/package" Target="../embeddings/Microsoft_Word___17.docx"/></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24.emf"/><Relationship Id="rId4" Type="http://schemas.openxmlformats.org/officeDocument/2006/relationships/package" Target="../embeddings/Microsoft_Word___18.docx"/></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oleObject" Target="../embeddings/oleObject19.bin"/><Relationship Id="rId7" Type="http://schemas.openxmlformats.org/officeDocument/2006/relationships/package" Target="../embeddings/Microsoft_Word___20.docx"/><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oleObject" Target="../embeddings/oleObject20.bin"/><Relationship Id="rId5" Type="http://schemas.openxmlformats.org/officeDocument/2006/relationships/image" Target="../media/image25.emf"/><Relationship Id="rId4" Type="http://schemas.openxmlformats.org/officeDocument/2006/relationships/package" Target="../embeddings/Microsoft_Word___19.docx"/></Relationships>
</file>

<file path=ppt/slides/_rels/slide24.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oleObject" Target="../embeddings/oleObject21.bin"/><Relationship Id="rId7" Type="http://schemas.openxmlformats.org/officeDocument/2006/relationships/package" Target="../embeddings/Microsoft_Word___22.docx"/><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oleObject" Target="../embeddings/oleObject22.bin"/><Relationship Id="rId5" Type="http://schemas.openxmlformats.org/officeDocument/2006/relationships/image" Target="../media/image27.emf"/><Relationship Id="rId4" Type="http://schemas.openxmlformats.org/officeDocument/2006/relationships/package" Target="../embeddings/Microsoft_Word___21.docx"/></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image" Target="../media/image30.jpeg"/><Relationship Id="rId5" Type="http://schemas.openxmlformats.org/officeDocument/2006/relationships/image" Target="../media/image29.emf"/><Relationship Id="rId4" Type="http://schemas.openxmlformats.org/officeDocument/2006/relationships/package" Target="../embeddings/Microsoft_Word___23.docx"/></Relationships>
</file>

<file path=ppt/slides/_rels/slide2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4.xml"/><Relationship Id="rId1" Type="http://schemas.openxmlformats.org/officeDocument/2006/relationships/vmlDrawing" Target="../drawings/vmlDrawing13.vml"/><Relationship Id="rId6" Type="http://schemas.openxmlformats.org/officeDocument/2006/relationships/image" Target="../media/image32.jpeg"/><Relationship Id="rId5" Type="http://schemas.openxmlformats.org/officeDocument/2006/relationships/image" Target="../media/image31.emf"/><Relationship Id="rId4" Type="http://schemas.openxmlformats.org/officeDocument/2006/relationships/package" Target="../embeddings/Microsoft_Word___24.docx"/></Relationships>
</file>

<file path=ppt/slides/_rels/slide3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35.emf"/><Relationship Id="rId3" Type="http://schemas.openxmlformats.org/officeDocument/2006/relationships/oleObject" Target="../embeddings/oleObject25.bin"/><Relationship Id="rId7" Type="http://schemas.openxmlformats.org/officeDocument/2006/relationships/package" Target="../embeddings/Microsoft_Word___26.docx"/><Relationship Id="rId2" Type="http://schemas.openxmlformats.org/officeDocument/2006/relationships/slideLayout" Target="../slideLayouts/slideLayout4.xml"/><Relationship Id="rId1" Type="http://schemas.openxmlformats.org/officeDocument/2006/relationships/vmlDrawing" Target="../drawings/vmlDrawing14.vml"/><Relationship Id="rId6" Type="http://schemas.openxmlformats.org/officeDocument/2006/relationships/oleObject" Target="../embeddings/oleObject26.bin"/><Relationship Id="rId5" Type="http://schemas.openxmlformats.org/officeDocument/2006/relationships/image" Target="../media/image34.emf"/><Relationship Id="rId4" Type="http://schemas.openxmlformats.org/officeDocument/2006/relationships/package" Target="../embeddings/Microsoft_Word___25.docx"/><Relationship Id="rId9" Type="http://schemas.openxmlformats.org/officeDocument/2006/relationships/image" Target="../media/image36.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oleObject" Target="../embeddings/oleObject27.bin"/><Relationship Id="rId7" Type="http://schemas.openxmlformats.org/officeDocument/2006/relationships/package" Target="../embeddings/Microsoft_Word___28.docx"/><Relationship Id="rId2" Type="http://schemas.openxmlformats.org/officeDocument/2006/relationships/slideLayout" Target="../slideLayouts/slideLayout4.xml"/><Relationship Id="rId1" Type="http://schemas.openxmlformats.org/officeDocument/2006/relationships/vmlDrawing" Target="../drawings/vmlDrawing15.vml"/><Relationship Id="rId6" Type="http://schemas.openxmlformats.org/officeDocument/2006/relationships/oleObject" Target="../embeddings/oleObject28.bin"/><Relationship Id="rId5" Type="http://schemas.openxmlformats.org/officeDocument/2006/relationships/image" Target="../media/image37.emf"/><Relationship Id="rId4" Type="http://schemas.openxmlformats.org/officeDocument/2006/relationships/package" Target="../embeddings/Microsoft_Word___27.docx"/></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4.xml"/><Relationship Id="rId1" Type="http://schemas.openxmlformats.org/officeDocument/2006/relationships/vmlDrawing" Target="../drawings/vmlDrawing16.vml"/><Relationship Id="rId5" Type="http://schemas.openxmlformats.org/officeDocument/2006/relationships/image" Target="../media/image39.emf"/><Relationship Id="rId4" Type="http://schemas.openxmlformats.org/officeDocument/2006/relationships/package" Target="../embeddings/Microsoft_Word___29.docx"/></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4.xml"/><Relationship Id="rId1" Type="http://schemas.openxmlformats.org/officeDocument/2006/relationships/vmlDrawing" Target="../drawings/vmlDrawing17.vml"/><Relationship Id="rId5" Type="http://schemas.openxmlformats.org/officeDocument/2006/relationships/image" Target="../media/image40.emf"/><Relationship Id="rId4" Type="http://schemas.openxmlformats.org/officeDocument/2006/relationships/package" Target="../embeddings/Microsoft_Word___30.docx"/></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1943943"/>
            <a:ext cx="10807700" cy="2204450"/>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en-US" altLang="zh-CN" sz="6000" dirty="0">
                <a:solidFill>
                  <a:srgbClr val="002060"/>
                </a:solidFill>
                <a:ea typeface="宋体" panose="02010600030101010101" pitchFamily="2" charset="-122"/>
                <a:cs typeface="Times New Roman" panose="02020603050405020304" pitchFamily="18" charset="0"/>
              </a:rPr>
              <a:t>7</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2</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1</a:t>
            </a:r>
            <a:r>
              <a:rPr lang="zh-CN" altLang="zh-CN" sz="6000" i="1"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ea typeface="微软雅黑" panose="020B0503020204020204" pitchFamily="34" charset="-122"/>
                <a:cs typeface="Times New Roman" panose="02020603050405020304" pitchFamily="18" charset="0"/>
              </a:rPr>
              <a:t>复数的加、减</a:t>
            </a:r>
            <a:r>
              <a:rPr lang="zh-CN" altLang="zh-CN" sz="6000" dirty="0" smtClean="0">
                <a:solidFill>
                  <a:srgbClr val="002060"/>
                </a:solidFill>
                <a:latin typeface="Arial" panose="020B0604020202020204" pitchFamily="34" charset="0"/>
                <a:ea typeface="微软雅黑" panose="020B0503020204020204" pitchFamily="34" charset="-122"/>
                <a:cs typeface="Times New Roman" panose="02020603050405020304" pitchFamily="18" charset="0"/>
              </a:rPr>
              <a:t>运算</a:t>
            </a:r>
            <a:endParaRPr lang="en-US" altLang="zh-CN" sz="6000" dirty="0" smtClean="0">
              <a:solidFill>
                <a:srgbClr val="002060"/>
              </a:solidFill>
              <a:latin typeface="Arial" panose="020B0604020202020204" pitchFamily="34" charset="0"/>
              <a:ea typeface="微软雅黑" panose="020B0503020204020204" pitchFamily="34"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zh-CN" altLang="zh-CN" sz="6000" dirty="0" smtClean="0">
                <a:solidFill>
                  <a:srgbClr val="002060"/>
                </a:solidFill>
                <a:latin typeface="Arial" panose="020B0604020202020204" pitchFamily="34" charset="0"/>
                <a:ea typeface="微软雅黑" panose="020B0503020204020204" pitchFamily="34" charset="-122"/>
                <a:cs typeface="Times New Roman" panose="02020603050405020304" pitchFamily="18" charset="0"/>
              </a:rPr>
              <a:t>及其</a:t>
            </a:r>
            <a:r>
              <a:rPr lang="zh-CN" altLang="zh-CN" sz="6000" dirty="0">
                <a:solidFill>
                  <a:srgbClr val="002060"/>
                </a:solidFill>
                <a:latin typeface="Arial" panose="020B0604020202020204" pitchFamily="34" charset="0"/>
                <a:ea typeface="微软雅黑" panose="020B0503020204020204" pitchFamily="34" charset="-122"/>
                <a:cs typeface="Times New Roman" panose="02020603050405020304" pitchFamily="18" charset="0"/>
              </a:rPr>
              <a:t>几何意义</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1959449"/>
            <a:ext cx="10729192" cy="2360758"/>
            <a:chOff x="360437" y="1959449"/>
            <a:chExt cx="10729192" cy="2360758"/>
          </a:xfrm>
        </p:grpSpPr>
        <p:grpSp>
          <p:nvGrpSpPr>
            <p:cNvPr id="13" name="组合 12"/>
            <p:cNvGrpSpPr/>
            <p:nvPr/>
          </p:nvGrpSpPr>
          <p:grpSpPr>
            <a:xfrm>
              <a:off x="360437" y="1959449"/>
              <a:ext cx="10729192" cy="2360758"/>
              <a:chOff x="360437" y="2309406"/>
              <a:chExt cx="10729192" cy="1612430"/>
            </a:xfrm>
          </p:grpSpPr>
          <p:sp>
            <p:nvSpPr>
              <p:cNvPr id="2" name="圆角矩形 1"/>
              <p:cNvSpPr/>
              <p:nvPr/>
            </p:nvSpPr>
            <p:spPr>
              <a:xfrm>
                <a:off x="360437" y="2309406"/>
                <a:ext cx="10729192" cy="161243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2332114"/>
                <a:ext cx="0" cy="1545244"/>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447999"/>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2087959"/>
              <a:ext cx="8496944" cy="1865126"/>
            </a:xfrm>
            <a:prstGeom prst="rect">
              <a:avLst/>
            </a:prstGeom>
          </p:spPr>
          <p:txBody>
            <a:bodyPr wrap="square">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掌握复数代数表示式的加、减运算</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了解复数加、减运算的几何意义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3</a:t>
              </a:r>
              <a:r>
                <a:rPr lang="en-US" altLang="zh-CN" i="1" dirty="0" smtClean="0">
                  <a:solidFill>
                    <a:srgbClr val="000000"/>
                  </a:solidFill>
                  <a:ea typeface="宋体" panose="02010600030101010101" pitchFamily="2" charset="-122"/>
                </a:rPr>
                <a:t>.</a:t>
              </a:r>
              <a:r>
                <a:rPr lang="zh-CN" altLang="en-US" dirty="0" smtClean="0">
                  <a:solidFill>
                    <a:srgbClr val="000000"/>
                  </a:solidFill>
                  <a:ea typeface="楷体" panose="02010609060101010101" pitchFamily="49" charset="-122"/>
                  <a:cs typeface="Times New Roman" panose="02020603050405020304" pitchFamily="18" charset="0"/>
                </a:rPr>
                <a:t>提升</a:t>
              </a:r>
              <a:r>
                <a:rPr lang="zh-CN" altLang="zh-CN" dirty="0" smtClean="0">
                  <a:solidFill>
                    <a:srgbClr val="000000"/>
                  </a:solidFill>
                  <a:ea typeface="楷体" panose="02010609060101010101" pitchFamily="49" charset="-122"/>
                  <a:cs typeface="Times New Roman" panose="02020603050405020304" pitchFamily="18" charset="0"/>
                </a:rPr>
                <a:t>直观</a:t>
              </a:r>
              <a:r>
                <a:rPr lang="zh-CN" altLang="zh-CN" dirty="0">
                  <a:solidFill>
                    <a:srgbClr val="000000"/>
                  </a:solidFill>
                  <a:ea typeface="楷体" panose="02010609060101010101" pitchFamily="49" charset="-122"/>
                  <a:cs typeface="Times New Roman" panose="02020603050405020304" pitchFamily="18" charset="0"/>
                </a:rPr>
                <a:t>想象素养</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提升数学运算素养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思  想  方  法</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079847"/>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一、复数的加、减法法则及运算律</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多项式的加、减实质就是合并同类项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类比两个多项式的加、减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你能猜想出两个复数如何相加、减吗</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两个复数相加</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减</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就是把实部与实部、虚部与虚部分别相加</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减</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即</a:t>
            </a:r>
            <a:r>
              <a:rPr lang="en-US" altLang="zh-CN" dirty="0">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a+b</a:t>
            </a:r>
            <a:r>
              <a:rPr lang="en-US" altLang="zh-CN" dirty="0" err="1">
                <a:solidFill>
                  <a:srgbClr val="000000"/>
                </a:solidFill>
                <a:ea typeface="宋体" panose="02010600030101010101" pitchFamily="2" charset="-122"/>
              </a:rPr>
              <a:t>i</a:t>
            </a:r>
            <a:r>
              <a:rPr lang="en-US" altLang="zh-CN" dirty="0">
                <a:solidFill>
                  <a:srgbClr val="000000"/>
                </a:solidFill>
                <a:ea typeface="宋体" panose="02010600030101010101" pitchFamily="2" charset="-122"/>
              </a:rPr>
              <a:t>)</a:t>
            </a:r>
            <a:r>
              <a:rPr lang="en-US" altLang="zh-CN" i="1" dirty="0">
                <a:solidFill>
                  <a:srgbClr val="000000"/>
                </a:solidFill>
                <a:latin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c+d</a:t>
            </a:r>
            <a:r>
              <a:rPr lang="en-US" altLang="zh-CN" dirty="0" err="1">
                <a:solidFill>
                  <a:srgbClr val="000000"/>
                </a:solidFill>
                <a:ea typeface="宋体" panose="02010600030101010101" pitchFamily="2" charset="-122"/>
              </a:rPr>
              <a:t>i</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a</a:t>
            </a:r>
            <a:r>
              <a:rPr lang="en-US" altLang="zh-CN" i="1" dirty="0" err="1">
                <a:solidFill>
                  <a:srgbClr val="000000"/>
                </a:solidFill>
                <a:latin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rPr>
              <a:t>c</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b</a:t>
            </a:r>
            <a:r>
              <a:rPr lang="en-US" altLang="zh-CN" i="1" dirty="0" err="1">
                <a:solidFill>
                  <a:srgbClr val="000000"/>
                </a:solidFill>
                <a:latin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rPr>
              <a:t>d</a:t>
            </a:r>
            <a:r>
              <a:rPr lang="en-US" altLang="zh-CN" dirty="0">
                <a:solidFill>
                  <a:srgbClr val="000000"/>
                </a:solidFill>
                <a:ea typeface="宋体" panose="02010600030101010101" pitchFamily="2" charset="-122"/>
              </a:rPr>
              <a:t>)</a:t>
            </a:r>
            <a:r>
              <a:rPr lang="en-US" altLang="zh-CN" dirty="0" err="1">
                <a:solidFill>
                  <a:srgbClr val="000000"/>
                </a:solidFill>
                <a:ea typeface="宋体" panose="02010600030101010101" pitchFamily="2" charset="-122"/>
              </a:rPr>
              <a:t>i</a:t>
            </a:r>
            <a:r>
              <a:rPr lang="en-US" altLang="zh-CN" dirty="0">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a</a:t>
            </a:r>
            <a:r>
              <a:rPr lang="en-US" altLang="zh-CN" dirty="0" err="1">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b</a:t>
            </a:r>
            <a:r>
              <a:rPr lang="en-US" altLang="zh-CN" dirty="0" err="1">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c</a:t>
            </a:r>
            <a:r>
              <a:rPr lang="en-US" altLang="zh-CN" dirty="0" err="1">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d</a:t>
            </a:r>
            <a:r>
              <a:rPr lang="zh-CN" altLang="zh-CN" dirty="0">
                <a:solidFill>
                  <a:srgbClr val="000000"/>
                </a:solidFill>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rPr>
              <a:t>R</a:t>
            </a:r>
            <a:r>
              <a:rPr lang="en-US" altLang="zh-CN" dirty="0" smtClean="0">
                <a:solidFill>
                  <a:srgbClr val="000000"/>
                </a:solidFill>
                <a:ea typeface="宋体" panose="02010600030101010101" pitchFamily="2" charset="-122"/>
              </a:rPr>
              <a:t>)</a:t>
            </a:r>
            <a:r>
              <a:rPr lang="en-US" altLang="zh-CN" i="1" dirty="0" smtClean="0">
                <a:solidFill>
                  <a:srgbClr val="000000"/>
                </a:solidFill>
                <a:ea typeface="宋体" panose="02010600030101010101" pitchFamily="2" charset="-122"/>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复数的加法满足交换律和结合律吗</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满足</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randombar(horizontal)">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randombar(horizontal)">
                                      <p:cBhvr>
                                        <p:cTn id="1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86344"/>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复数的加、减法法则</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设</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c+d</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是任意两个复数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c+d</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ea typeface="宋体" panose="02010600030101010101" pitchFamily="2" charset="-122"/>
                <a:cs typeface="Times New Roman" panose="02020603050405020304" pitchFamily="18" charset="0"/>
              </a:rPr>
              <a:t>(</a:t>
            </a:r>
            <a:r>
              <a:rPr lang="en-US" altLang="zh-CN" i="1" dirty="0" err="1">
                <a:ea typeface="宋体" panose="02010600030101010101" pitchFamily="2" charset="-122"/>
                <a:cs typeface="Times New Roman" panose="02020603050405020304" pitchFamily="18" charset="0"/>
              </a:rPr>
              <a:t>a+c</a:t>
            </a:r>
            <a:r>
              <a:rPr lang="en-US" altLang="zh-CN" dirty="0">
                <a:ea typeface="宋体" panose="02010600030101010101" pitchFamily="2" charset="-122"/>
                <a:cs typeface="Times New Roman" panose="02020603050405020304" pitchFamily="18" charset="0"/>
              </a:rPr>
              <a:t>)</a:t>
            </a:r>
            <a:r>
              <a:rPr lang="en-US" altLang="zh-CN" i="1" dirty="0">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a:t>
            </a:r>
            <a:r>
              <a:rPr lang="en-US" altLang="zh-CN" i="1" dirty="0" err="1" smtClean="0">
                <a:ea typeface="宋体" panose="02010600030101010101" pitchFamily="2" charset="-122"/>
                <a:cs typeface="Times New Roman" panose="02020603050405020304" pitchFamily="18" charset="0"/>
              </a:rPr>
              <a:t>b+d</a:t>
            </a:r>
            <a:r>
              <a:rPr lang="en-US" altLang="zh-CN" dirty="0" smtClean="0">
                <a:ea typeface="宋体" panose="02010600030101010101" pitchFamily="2" charset="-122"/>
                <a:cs typeface="Times New Roman" panose="02020603050405020304" pitchFamily="18" charset="0"/>
              </a:rPr>
              <a:t>)</a:t>
            </a:r>
            <a:r>
              <a:rPr lang="en-US" altLang="zh-CN" dirty="0" err="1" smtClean="0">
                <a:ea typeface="宋体" panose="02010600030101010101" pitchFamily="2" charset="-122"/>
                <a:cs typeface="Times New Roman" panose="02020603050405020304" pitchFamily="18" charset="0"/>
              </a:rPr>
              <a:t>i</a:t>
            </a:r>
            <a:r>
              <a:rPr lang="en-US" altLang="zh-CN" dirty="0" smtClean="0">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c+d</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ea typeface="宋体" panose="02010600030101010101" pitchFamily="2" charset="-122"/>
                <a:cs typeface="Times New Roman" panose="02020603050405020304" pitchFamily="18" charset="0"/>
              </a:rPr>
              <a:t>(</a:t>
            </a:r>
            <a:r>
              <a:rPr lang="en-US" altLang="zh-CN" i="1" dirty="0">
                <a:ea typeface="宋体" panose="02010600030101010101" pitchFamily="2" charset="-122"/>
                <a:cs typeface="Times New Roman" panose="02020603050405020304" pitchFamily="18" charset="0"/>
              </a:rPr>
              <a:t>a-c</a:t>
            </a:r>
            <a:r>
              <a:rPr lang="en-US" altLang="zh-CN" dirty="0">
                <a:ea typeface="宋体" panose="02010600030101010101" pitchFamily="2" charset="-122"/>
                <a:cs typeface="Times New Roman" panose="02020603050405020304" pitchFamily="18" charset="0"/>
              </a:rPr>
              <a:t>)</a:t>
            </a:r>
            <a:r>
              <a:rPr lang="en-US" altLang="zh-CN" i="1" dirty="0">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a:t>
            </a:r>
            <a:r>
              <a:rPr lang="en-US" altLang="zh-CN" i="1" dirty="0" smtClean="0">
                <a:ea typeface="宋体" panose="02010600030101010101" pitchFamily="2" charset="-122"/>
                <a:cs typeface="Times New Roman" panose="02020603050405020304" pitchFamily="18" charset="0"/>
              </a:rPr>
              <a:t>b-d</a:t>
            </a:r>
            <a:r>
              <a:rPr lang="en-US" altLang="zh-CN" dirty="0" smtClean="0">
                <a:ea typeface="宋体" panose="02010600030101010101" pitchFamily="2" charset="-122"/>
                <a:cs typeface="Times New Roman" panose="02020603050405020304" pitchFamily="18" charset="0"/>
              </a:rPr>
              <a:t>)</a:t>
            </a:r>
            <a:r>
              <a:rPr lang="en-US" altLang="zh-CN" dirty="0" err="1" smtClean="0">
                <a:ea typeface="宋体" panose="02010600030101010101" pitchFamily="2" charset="-122"/>
                <a:cs typeface="Times New Roman" panose="02020603050405020304" pitchFamily="18" charset="0"/>
              </a:rPr>
              <a:t>i</a:t>
            </a:r>
            <a:r>
              <a:rPr lang="en-US" altLang="zh-CN" dirty="0" smtClean="0">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复数加法满足的运算律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对任意</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有</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 </a:t>
            </a:r>
            <a:r>
              <a:rPr lang="en-US" altLang="zh-CN" i="1" dirty="0" smtClean="0">
                <a:ea typeface="宋体" panose="02010600030101010101" pitchFamily="2" charset="-122"/>
                <a:cs typeface="Times New Roman" panose="02020603050405020304" pitchFamily="18" charset="0"/>
              </a:rPr>
              <a:t>z</a:t>
            </a:r>
            <a:r>
              <a:rPr lang="en-US" altLang="zh-CN" baseline="-25000" dirty="0" smtClean="0">
                <a:ea typeface="宋体" panose="02010600030101010101" pitchFamily="2" charset="-122"/>
                <a:cs typeface="Times New Roman" panose="02020603050405020304" pitchFamily="18" charset="0"/>
              </a:rPr>
              <a:t>2</a:t>
            </a:r>
            <a:r>
              <a:rPr lang="en-US" altLang="zh-CN" i="1" dirty="0" smtClean="0">
                <a:ea typeface="宋体" panose="02010600030101010101" pitchFamily="2" charset="-122"/>
                <a:cs typeface="Times New Roman" panose="02020603050405020304" pitchFamily="18" charset="0"/>
              </a:rPr>
              <a:t>+z</a:t>
            </a:r>
            <a:r>
              <a:rPr lang="en-US" altLang="zh-CN" baseline="-25000" dirty="0" smtClean="0">
                <a:ea typeface="宋体" panose="02010600030101010101" pitchFamily="2" charset="-122"/>
                <a:cs typeface="Times New Roman" panose="02020603050405020304" pitchFamily="18" charset="0"/>
              </a:rPr>
              <a:t>1 </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 </a:t>
            </a:r>
            <a:r>
              <a:rPr lang="en-US" altLang="zh-CN" i="1" dirty="0" smtClean="0">
                <a:ea typeface="宋体" panose="02010600030101010101" pitchFamily="2" charset="-122"/>
                <a:cs typeface="Times New Roman" panose="02020603050405020304" pitchFamily="18" charset="0"/>
              </a:rPr>
              <a:t>z</a:t>
            </a:r>
            <a:r>
              <a:rPr lang="en-US" altLang="zh-CN" baseline="-25000" dirty="0" smtClean="0">
                <a:ea typeface="宋体" panose="02010600030101010101" pitchFamily="2" charset="-122"/>
                <a:cs typeface="Times New Roman" panose="02020603050405020304" pitchFamily="18" charset="0"/>
              </a:rPr>
              <a:t>1</a:t>
            </a:r>
            <a:r>
              <a:rPr lang="en-US" altLang="zh-CN" i="1" dirty="0">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a:t>
            </a:r>
            <a:r>
              <a:rPr lang="en-US" altLang="zh-CN" i="1" dirty="0">
                <a:ea typeface="宋体" panose="02010600030101010101" pitchFamily="2" charset="-122"/>
                <a:cs typeface="Times New Roman" panose="02020603050405020304" pitchFamily="18" charset="0"/>
              </a:rPr>
              <a:t>z</a:t>
            </a:r>
            <a:r>
              <a:rPr lang="en-US" altLang="zh-CN" baseline="-25000" dirty="0">
                <a:ea typeface="宋体" panose="02010600030101010101" pitchFamily="2" charset="-122"/>
                <a:cs typeface="Times New Roman" panose="02020603050405020304" pitchFamily="18" charset="0"/>
              </a:rPr>
              <a:t>2</a:t>
            </a:r>
            <a:r>
              <a:rPr lang="en-US" altLang="zh-CN" i="1" dirty="0">
                <a:ea typeface="宋体" panose="02010600030101010101" pitchFamily="2" charset="-122"/>
                <a:cs typeface="Times New Roman" panose="02020603050405020304" pitchFamily="18" charset="0"/>
              </a:rPr>
              <a:t>+z</a:t>
            </a:r>
            <a:r>
              <a:rPr lang="en-US" altLang="zh-CN" baseline="-25000" dirty="0">
                <a:ea typeface="宋体" panose="02010600030101010101" pitchFamily="2" charset="-122"/>
                <a:cs typeface="Times New Roman" panose="02020603050405020304" pitchFamily="18" charset="0"/>
              </a:rPr>
              <a:t>3</a:t>
            </a:r>
            <a:r>
              <a:rPr lang="en-US" altLang="zh-CN" dirty="0" smtClean="0">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2975027" y="2456775"/>
            <a:ext cx="228195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2970481" y="2920873"/>
            <a:ext cx="2279373"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2891868" y="3034242"/>
            <a:ext cx="201622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2887322" y="3498340"/>
            <a:ext cx="2013944"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9734187" y="3631205"/>
            <a:ext cx="9403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9729689" y="4095303"/>
            <a:ext cx="939281"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2315804" y="4230974"/>
            <a:ext cx="177789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2311306" y="4695072"/>
            <a:ext cx="1775888"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73354076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9"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214031"/>
            <a:ext cx="10807700" cy="3637919"/>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已知复数</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等于</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等于</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A.8i</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B.6</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8i	D.6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8i</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smtClean="0">
                <a:latin typeface="Arial" panose="020B0604020202020204" pitchFamily="34" charset="0"/>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8i</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29803616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0" dur="500"/>
                                        <p:tgtEl>
                                          <p:spTgt spid="2">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5"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089679"/>
            <a:ext cx="10807700" cy="64434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二、复数加法的几何</a:t>
            </a:r>
            <a:r>
              <a:rPr lang="zh-CN" altLang="zh-CN" dirty="0" smtClean="0">
                <a:solidFill>
                  <a:srgbClr val="000000"/>
                </a:solidFill>
                <a:latin typeface="NEU-BZ-S92"/>
                <a:ea typeface="方正正中黑简体"/>
                <a:cs typeface="Times New Roman" panose="02020603050405020304" pitchFamily="18" charset="0"/>
              </a:rPr>
              <a:t>意义</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581661876"/>
              </p:ext>
            </p:extLst>
          </p:nvPr>
        </p:nvGraphicFramePr>
        <p:xfrm>
          <a:off x="504825" y="1824667"/>
          <a:ext cx="11645900" cy="1314450"/>
        </p:xfrm>
        <a:graphic>
          <a:graphicData uri="http://schemas.openxmlformats.org/presentationml/2006/ole">
            <mc:AlternateContent xmlns:mc="http://schemas.openxmlformats.org/markup-compatibility/2006">
              <mc:Choice xmlns:v="urn:schemas-microsoft-com:vml" Requires="v">
                <p:oleObj spid="_x0000_s1058" name="文档" r:id="rId4" imgW="3837724" imgH="434492" progId="Word.Document.12">
                  <p:embed/>
                </p:oleObj>
              </mc:Choice>
              <mc:Fallback>
                <p:oleObj name="文档" r:id="rId4" imgW="3837724" imgH="434492" progId="Word.Document.12">
                  <p:embed/>
                  <p:pic>
                    <p:nvPicPr>
                      <p:cNvPr id="0" name=""/>
                      <p:cNvPicPr/>
                      <p:nvPr/>
                    </p:nvPicPr>
                    <p:blipFill>
                      <a:blip r:embed="rId5"/>
                      <a:stretch>
                        <a:fillRect/>
                      </a:stretch>
                    </p:blipFill>
                    <p:spPr>
                      <a:xfrm>
                        <a:off x="504825" y="1824667"/>
                        <a:ext cx="11645900" cy="131445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653118177"/>
              </p:ext>
            </p:extLst>
          </p:nvPr>
        </p:nvGraphicFramePr>
        <p:xfrm>
          <a:off x="504452" y="3135868"/>
          <a:ext cx="11671959" cy="655472"/>
        </p:xfrm>
        <a:graphic>
          <a:graphicData uri="http://schemas.openxmlformats.org/presentationml/2006/ole">
            <mc:AlternateContent xmlns:mc="http://schemas.openxmlformats.org/markup-compatibility/2006">
              <mc:Choice xmlns:v="urn:schemas-microsoft-com:vml" Requires="v">
                <p:oleObj spid="_x0000_s1059" name="文档" r:id="rId7" imgW="3826872" imgH="214909" progId="Word.Document.12">
                  <p:embed/>
                </p:oleObj>
              </mc:Choice>
              <mc:Fallback>
                <p:oleObj name="文档" r:id="rId7" imgW="3826872" imgH="214909" progId="Word.Document.12">
                  <p:embed/>
                  <p:pic>
                    <p:nvPicPr>
                      <p:cNvPr id="0" name=""/>
                      <p:cNvPicPr/>
                      <p:nvPr/>
                    </p:nvPicPr>
                    <p:blipFill>
                      <a:blip r:embed="rId8"/>
                      <a:stretch>
                        <a:fillRect/>
                      </a:stretch>
                    </p:blipFill>
                    <p:spPr>
                      <a:xfrm>
                        <a:off x="504452" y="3135868"/>
                        <a:ext cx="11671959" cy="655472"/>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809462550"/>
              </p:ext>
            </p:extLst>
          </p:nvPr>
        </p:nvGraphicFramePr>
        <p:xfrm>
          <a:off x="504451" y="3790131"/>
          <a:ext cx="11671959" cy="655472"/>
        </p:xfrm>
        <a:graphic>
          <a:graphicData uri="http://schemas.openxmlformats.org/presentationml/2006/ole">
            <mc:AlternateContent xmlns:mc="http://schemas.openxmlformats.org/markup-compatibility/2006">
              <mc:Choice xmlns:v="urn:schemas-microsoft-com:vml" Requires="v">
                <p:oleObj spid="_x0000_s1060" name="文档" r:id="rId10" imgW="3837724" imgH="215623" progId="Word.Document.12">
                  <p:embed/>
                </p:oleObj>
              </mc:Choice>
              <mc:Fallback>
                <p:oleObj name="文档" r:id="rId10" imgW="3837724" imgH="215623" progId="Word.Document.12">
                  <p:embed/>
                  <p:pic>
                    <p:nvPicPr>
                      <p:cNvPr id="0" name=""/>
                      <p:cNvPicPr/>
                      <p:nvPr/>
                    </p:nvPicPr>
                    <p:blipFill>
                      <a:blip r:embed="rId11"/>
                      <a:stretch>
                        <a:fillRect/>
                      </a:stretch>
                    </p:blipFill>
                    <p:spPr>
                      <a:xfrm>
                        <a:off x="504451" y="3790131"/>
                        <a:ext cx="11671959" cy="655472"/>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964389491"/>
              </p:ext>
            </p:extLst>
          </p:nvPr>
        </p:nvGraphicFramePr>
        <p:xfrm>
          <a:off x="504450" y="4466655"/>
          <a:ext cx="11671959" cy="655472"/>
        </p:xfrm>
        <a:graphic>
          <a:graphicData uri="http://schemas.openxmlformats.org/presentationml/2006/ole">
            <mc:AlternateContent xmlns:mc="http://schemas.openxmlformats.org/markup-compatibility/2006">
              <mc:Choice xmlns:v="urn:schemas-microsoft-com:vml" Requires="v">
                <p:oleObj spid="_x0000_s1061" name="文档" r:id="rId13" imgW="3826872" imgH="214909" progId="Word.Document.12">
                  <p:embed/>
                </p:oleObj>
              </mc:Choice>
              <mc:Fallback>
                <p:oleObj name="文档" r:id="rId13" imgW="3826872" imgH="214909" progId="Word.Document.12">
                  <p:embed/>
                  <p:pic>
                    <p:nvPicPr>
                      <p:cNvPr id="0" name=""/>
                      <p:cNvPicPr/>
                      <p:nvPr/>
                    </p:nvPicPr>
                    <p:blipFill>
                      <a:blip r:embed="rId14"/>
                      <a:stretch>
                        <a:fillRect/>
                      </a:stretch>
                    </p:blipFill>
                    <p:spPr>
                      <a:xfrm>
                        <a:off x="504450" y="4466655"/>
                        <a:ext cx="11671959" cy="655472"/>
                      </a:xfrm>
                      <a:prstGeom prst="rect">
                        <a:avLst/>
                      </a:prstGeom>
                    </p:spPr>
                  </p:pic>
                </p:oleObj>
              </mc:Fallback>
            </mc:AlternateContent>
          </a:graphicData>
        </a:graphic>
      </p:graphicFrame>
    </p:spTree>
    <p:extLst>
      <p:ext uri="{BB962C8B-B14F-4D97-AF65-F5344CB8AC3E}">
        <p14:creationId xmlns:p14="http://schemas.microsoft.com/office/powerpoint/2010/main" val="234341547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806779645"/>
              </p:ext>
            </p:extLst>
          </p:nvPr>
        </p:nvGraphicFramePr>
        <p:xfrm>
          <a:off x="504453" y="801647"/>
          <a:ext cx="10640962" cy="2668395"/>
        </p:xfrm>
        <a:graphic>
          <a:graphicData uri="http://schemas.openxmlformats.org/presentationml/2006/ole">
            <mc:AlternateContent xmlns:mc="http://schemas.openxmlformats.org/markup-compatibility/2006">
              <mc:Choice xmlns:v="urn:schemas-microsoft-com:vml" Requires="v">
                <p:oleObj spid="_x0000_s19463" name="文档" r:id="rId4" imgW="3837724" imgH="963454" progId="Word.Document.12">
                  <p:embed/>
                </p:oleObj>
              </mc:Choice>
              <mc:Fallback>
                <p:oleObj name="文档" r:id="rId4" imgW="3837724" imgH="963454" progId="Word.Document.12">
                  <p:embed/>
                  <p:pic>
                    <p:nvPicPr>
                      <p:cNvPr id="0" name=""/>
                      <p:cNvPicPr/>
                      <p:nvPr/>
                    </p:nvPicPr>
                    <p:blipFill>
                      <a:blip r:embed="rId5"/>
                      <a:stretch>
                        <a:fillRect/>
                      </a:stretch>
                    </p:blipFill>
                    <p:spPr>
                      <a:xfrm>
                        <a:off x="504453" y="801647"/>
                        <a:ext cx="10640962" cy="2668395"/>
                      </a:xfrm>
                      <a:prstGeom prst="rect">
                        <a:avLst/>
                      </a:prstGeom>
                    </p:spPr>
                  </p:pic>
                </p:oleObj>
              </mc:Fallback>
            </mc:AlternateContent>
          </a:graphicData>
        </a:graphic>
      </p:graphicFrame>
      <p:pic>
        <p:nvPicPr>
          <p:cNvPr id="8" name="21N22.eps" descr="id:2147498842;FounderCES"/>
          <p:cNvPicPr/>
          <p:nvPr/>
        </p:nvPicPr>
        <p:blipFill>
          <a:blip r:embed="rId6"/>
          <a:stretch>
            <a:fillRect/>
          </a:stretch>
        </p:blipFill>
        <p:spPr>
          <a:xfrm>
            <a:off x="3816821" y="3470041"/>
            <a:ext cx="2520280" cy="2555777"/>
          </a:xfrm>
          <a:prstGeom prst="rect">
            <a:avLst/>
          </a:prstGeom>
        </p:spPr>
      </p:pic>
      <p:sp>
        <p:nvSpPr>
          <p:cNvPr id="9" name="矩形 8"/>
          <p:cNvSpPr/>
          <p:nvPr/>
        </p:nvSpPr>
        <p:spPr>
          <a:xfrm>
            <a:off x="9619973" y="1457280"/>
            <a:ext cx="1525442"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777261" y="2020911"/>
            <a:ext cx="2078400"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6913165" y="2510175"/>
            <a:ext cx="792088"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6196403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3319370064"/>
              </p:ext>
            </p:extLst>
          </p:nvPr>
        </p:nvGraphicFramePr>
        <p:xfrm>
          <a:off x="428557" y="2840605"/>
          <a:ext cx="11671959" cy="1261620"/>
        </p:xfrm>
        <a:graphic>
          <a:graphicData uri="http://schemas.openxmlformats.org/presentationml/2006/ole">
            <mc:AlternateContent xmlns:mc="http://schemas.openxmlformats.org/markup-compatibility/2006">
              <mc:Choice xmlns:v="urn:schemas-microsoft-com:vml" Requires="v">
                <p:oleObj spid="_x0000_s3090" name="文档" r:id="rId4" imgW="3826872" imgH="413646" progId="Word.Document.12">
                  <p:embed/>
                </p:oleObj>
              </mc:Choice>
              <mc:Fallback>
                <p:oleObj name="文档" r:id="rId4" imgW="3826872" imgH="413646" progId="Word.Document.12">
                  <p:embed/>
                  <p:pic>
                    <p:nvPicPr>
                      <p:cNvPr id="0" name=""/>
                      <p:cNvPicPr/>
                      <p:nvPr/>
                    </p:nvPicPr>
                    <p:blipFill>
                      <a:blip r:embed="rId5"/>
                      <a:stretch>
                        <a:fillRect/>
                      </a:stretch>
                    </p:blipFill>
                    <p:spPr>
                      <a:xfrm>
                        <a:off x="428557" y="2840605"/>
                        <a:ext cx="11671959" cy="1261620"/>
                      </a:xfrm>
                      <a:prstGeom prst="rect">
                        <a:avLst/>
                      </a:prstGeom>
                    </p:spPr>
                  </p:pic>
                </p:oleObj>
              </mc:Fallback>
            </mc:AlternateContent>
          </a:graphicData>
        </a:graphic>
      </p:graphicFrame>
      <p:sp>
        <p:nvSpPr>
          <p:cNvPr id="5" name="矩形 4"/>
          <p:cNvSpPr>
            <a:spLocks noChangeAspect="1"/>
          </p:cNvSpPr>
          <p:nvPr/>
        </p:nvSpPr>
        <p:spPr>
          <a:xfrm>
            <a:off x="288429" y="4146985"/>
            <a:ext cx="1544012"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692833650"/>
              </p:ext>
            </p:extLst>
          </p:nvPr>
        </p:nvGraphicFramePr>
        <p:xfrm>
          <a:off x="428557" y="1223863"/>
          <a:ext cx="10640962" cy="1547650"/>
        </p:xfrm>
        <a:graphic>
          <a:graphicData uri="http://schemas.openxmlformats.org/presentationml/2006/ole">
            <mc:AlternateContent xmlns:mc="http://schemas.openxmlformats.org/markup-compatibility/2006">
              <mc:Choice xmlns:v="urn:schemas-microsoft-com:vml" Requires="v">
                <p:oleObj spid="_x0000_s3091" name="文档" r:id="rId7" imgW="3826872" imgH="557757" progId="Word.Document.12">
                  <p:embed/>
                </p:oleObj>
              </mc:Choice>
              <mc:Fallback>
                <p:oleObj name="文档" r:id="rId7" imgW="3826872" imgH="557757" progId="Word.Document.12">
                  <p:embed/>
                  <p:pic>
                    <p:nvPicPr>
                      <p:cNvPr id="0" name=""/>
                      <p:cNvPicPr/>
                      <p:nvPr/>
                    </p:nvPicPr>
                    <p:blipFill>
                      <a:blip r:embed="rId8"/>
                      <a:stretch>
                        <a:fillRect/>
                      </a:stretch>
                    </p:blipFill>
                    <p:spPr>
                      <a:xfrm>
                        <a:off x="428557" y="1223863"/>
                        <a:ext cx="10640962" cy="1547650"/>
                      </a:xfrm>
                      <a:prstGeom prst="rect">
                        <a:avLst/>
                      </a:prstGeom>
                    </p:spPr>
                  </p:pic>
                </p:oleObj>
              </mc:Fallback>
            </mc:AlternateContent>
          </a:graphicData>
        </a:graphic>
      </p:graphicFrame>
    </p:spTree>
    <p:extLst>
      <p:ext uri="{BB962C8B-B14F-4D97-AF65-F5344CB8AC3E}">
        <p14:creationId xmlns:p14="http://schemas.microsoft.com/office/powerpoint/2010/main" val="298394134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288429" y="677295"/>
            <a:ext cx="10807700" cy="64434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NEU-BZ-S92"/>
                <a:ea typeface="方正正中黑简体"/>
                <a:cs typeface="Times New Roman" panose="02020603050405020304" pitchFamily="18" charset="0"/>
              </a:rPr>
              <a:t>三、复数减法的几何意义</a:t>
            </a: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988829509"/>
              </p:ext>
            </p:extLst>
          </p:nvPr>
        </p:nvGraphicFramePr>
        <p:xfrm>
          <a:off x="430932" y="1370416"/>
          <a:ext cx="11671959" cy="655472"/>
        </p:xfrm>
        <a:graphic>
          <a:graphicData uri="http://schemas.openxmlformats.org/presentationml/2006/ole">
            <mc:AlternateContent xmlns:mc="http://schemas.openxmlformats.org/markup-compatibility/2006">
              <mc:Choice xmlns:v="urn:schemas-microsoft-com:vml" Requires="v">
                <p:oleObj spid="_x0000_s4120" name="文档" r:id="rId4" imgW="3826872" imgH="214909" progId="Word.Document.12">
                  <p:embed/>
                </p:oleObj>
              </mc:Choice>
              <mc:Fallback>
                <p:oleObj name="文档" r:id="rId4" imgW="3826872" imgH="214909" progId="Word.Document.12">
                  <p:embed/>
                  <p:pic>
                    <p:nvPicPr>
                      <p:cNvPr id="0" name=""/>
                      <p:cNvPicPr/>
                      <p:nvPr/>
                    </p:nvPicPr>
                    <p:blipFill>
                      <a:blip r:embed="rId5"/>
                      <a:stretch>
                        <a:fillRect/>
                      </a:stretch>
                    </p:blipFill>
                    <p:spPr>
                      <a:xfrm>
                        <a:off x="430932" y="1370416"/>
                        <a:ext cx="11671959" cy="655472"/>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164085286"/>
              </p:ext>
            </p:extLst>
          </p:nvPr>
        </p:nvGraphicFramePr>
        <p:xfrm>
          <a:off x="428798" y="2075695"/>
          <a:ext cx="11671959" cy="1310945"/>
        </p:xfrm>
        <a:graphic>
          <a:graphicData uri="http://schemas.openxmlformats.org/presentationml/2006/ole">
            <mc:AlternateContent xmlns:mc="http://schemas.openxmlformats.org/markup-compatibility/2006">
              <mc:Choice xmlns:v="urn:schemas-microsoft-com:vml" Requires="v">
                <p:oleObj spid="_x0000_s4121" name="文档" r:id="rId7" imgW="3826872" imgH="429818" progId="Word.Document.12">
                  <p:embed/>
                </p:oleObj>
              </mc:Choice>
              <mc:Fallback>
                <p:oleObj name="文档" r:id="rId7" imgW="3826872" imgH="429818" progId="Word.Document.12">
                  <p:embed/>
                  <p:pic>
                    <p:nvPicPr>
                      <p:cNvPr id="0" name=""/>
                      <p:cNvPicPr/>
                      <p:nvPr/>
                    </p:nvPicPr>
                    <p:blipFill>
                      <a:blip r:embed="rId8"/>
                      <a:stretch>
                        <a:fillRect/>
                      </a:stretch>
                    </p:blipFill>
                    <p:spPr>
                      <a:xfrm>
                        <a:off x="428798" y="2075695"/>
                        <a:ext cx="11671959" cy="1310945"/>
                      </a:xfrm>
                      <a:prstGeom prst="rect">
                        <a:avLst/>
                      </a:prstGeom>
                    </p:spPr>
                  </p:pic>
                </p:oleObj>
              </mc:Fallback>
            </mc:AlternateContent>
          </a:graphicData>
        </a:graphic>
      </p:graphicFrame>
      <p:sp>
        <p:nvSpPr>
          <p:cNvPr id="5" name="矩形 4"/>
          <p:cNvSpPr>
            <a:spLocks noChangeAspect="1"/>
          </p:cNvSpPr>
          <p:nvPr/>
        </p:nvSpPr>
        <p:spPr>
          <a:xfrm>
            <a:off x="288429" y="3354099"/>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我们知道复数与复平面内以原点为起点的向量建立了一一对应关系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按照平面向量减法的几何意义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你能得出复数减法的几何意义吗</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1812866326"/>
              </p:ext>
            </p:extLst>
          </p:nvPr>
        </p:nvGraphicFramePr>
        <p:xfrm>
          <a:off x="371798" y="5172503"/>
          <a:ext cx="10640962" cy="1101752"/>
        </p:xfrm>
        <a:graphic>
          <a:graphicData uri="http://schemas.openxmlformats.org/presentationml/2006/ole">
            <mc:AlternateContent xmlns:mc="http://schemas.openxmlformats.org/markup-compatibility/2006">
              <mc:Choice xmlns:v="urn:schemas-microsoft-com:vml" Requires="v">
                <p:oleObj spid="_x0000_s4122" name="文档" r:id="rId10" imgW="3837724" imgH="397353" progId="Word.Document.12">
                  <p:embed/>
                </p:oleObj>
              </mc:Choice>
              <mc:Fallback>
                <p:oleObj name="文档" r:id="rId10" imgW="3837724" imgH="397353" progId="Word.Document.12">
                  <p:embed/>
                  <p:pic>
                    <p:nvPicPr>
                      <p:cNvPr id="0" name=""/>
                      <p:cNvPicPr/>
                      <p:nvPr/>
                    </p:nvPicPr>
                    <p:blipFill>
                      <a:blip r:embed="rId11"/>
                      <a:stretch>
                        <a:fillRect/>
                      </a:stretch>
                    </p:blipFill>
                    <p:spPr>
                      <a:xfrm>
                        <a:off x="371798" y="5172503"/>
                        <a:ext cx="10640962" cy="1101752"/>
                      </a:xfrm>
                      <a:prstGeom prst="rect">
                        <a:avLst/>
                      </a:prstGeom>
                    </p:spPr>
                  </p:pic>
                </p:oleObj>
              </mc:Fallback>
            </mc:AlternateContent>
          </a:graphicData>
        </a:graphic>
      </p:graphicFrame>
    </p:spTree>
    <p:extLst>
      <p:ext uri="{BB962C8B-B14F-4D97-AF65-F5344CB8AC3E}">
        <p14:creationId xmlns:p14="http://schemas.microsoft.com/office/powerpoint/2010/main" val="81015720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997628331"/>
              </p:ext>
            </p:extLst>
          </p:nvPr>
        </p:nvGraphicFramePr>
        <p:xfrm>
          <a:off x="357188" y="788988"/>
          <a:ext cx="10626725" cy="2154237"/>
        </p:xfrm>
        <a:graphic>
          <a:graphicData uri="http://schemas.openxmlformats.org/presentationml/2006/ole">
            <mc:AlternateContent xmlns:mc="http://schemas.openxmlformats.org/markup-compatibility/2006">
              <mc:Choice xmlns:v="urn:schemas-microsoft-com:vml" Requires="v">
                <p:oleObj spid="_x0000_s5138" name="文档" r:id="rId4" imgW="3837724" imgH="779201" progId="Word.Document.12">
                  <p:embed/>
                </p:oleObj>
              </mc:Choice>
              <mc:Fallback>
                <p:oleObj name="文档" r:id="rId4" imgW="3837724" imgH="779201" progId="Word.Document.12">
                  <p:embed/>
                  <p:pic>
                    <p:nvPicPr>
                      <p:cNvPr id="0" name=""/>
                      <p:cNvPicPr/>
                      <p:nvPr/>
                    </p:nvPicPr>
                    <p:blipFill>
                      <a:blip r:embed="rId5"/>
                      <a:stretch>
                        <a:fillRect/>
                      </a:stretch>
                    </p:blipFill>
                    <p:spPr>
                      <a:xfrm>
                        <a:off x="357188" y="788988"/>
                        <a:ext cx="10626725" cy="2154237"/>
                      </a:xfrm>
                      <a:prstGeom prst="rect">
                        <a:avLst/>
                      </a:prstGeom>
                    </p:spPr>
                  </p:pic>
                </p:oleObj>
              </mc:Fallback>
            </mc:AlternateContent>
          </a:graphicData>
        </a:graphic>
      </p:graphicFrame>
      <p:pic>
        <p:nvPicPr>
          <p:cNvPr id="8" name="21N23.eps" descr="id:2147498849;FounderCES"/>
          <p:cNvPicPr/>
          <p:nvPr/>
        </p:nvPicPr>
        <p:blipFill>
          <a:blip r:embed="rId6"/>
          <a:stretch>
            <a:fillRect/>
          </a:stretch>
        </p:blipFill>
        <p:spPr>
          <a:xfrm>
            <a:off x="8065293" y="2621903"/>
            <a:ext cx="2592288" cy="2138354"/>
          </a:xfrm>
          <a:prstGeom prst="rect">
            <a:avLst/>
          </a:prstGeom>
        </p:spPr>
      </p:pic>
      <p:graphicFrame>
        <p:nvGraphicFramePr>
          <p:cNvPr id="7" name="对象 6"/>
          <p:cNvGraphicFramePr>
            <a:graphicFrameLocks noChangeAspect="1"/>
          </p:cNvGraphicFramePr>
          <p:nvPr>
            <p:extLst>
              <p:ext uri="{D42A27DB-BD31-4B8C-83A1-F6EECF244321}">
                <p14:modId xmlns:p14="http://schemas.microsoft.com/office/powerpoint/2010/main" val="3988126194"/>
              </p:ext>
            </p:extLst>
          </p:nvPr>
        </p:nvGraphicFramePr>
        <p:xfrm>
          <a:off x="370269" y="4813276"/>
          <a:ext cx="11705058" cy="1523155"/>
        </p:xfrm>
        <a:graphic>
          <a:graphicData uri="http://schemas.openxmlformats.org/presentationml/2006/ole">
            <mc:AlternateContent xmlns:mc="http://schemas.openxmlformats.org/markup-compatibility/2006">
              <mc:Choice xmlns:v="urn:schemas-microsoft-com:vml" Requires="v">
                <p:oleObj spid="_x0000_s5139" name="文档" r:id="rId8" imgW="3837724" imgH="499395" progId="Word.Document.12">
                  <p:embed/>
                </p:oleObj>
              </mc:Choice>
              <mc:Fallback>
                <p:oleObj name="文档" r:id="rId8" imgW="3837724" imgH="499395" progId="Word.Document.12">
                  <p:embed/>
                  <p:pic>
                    <p:nvPicPr>
                      <p:cNvPr id="0" name=""/>
                      <p:cNvPicPr/>
                      <p:nvPr/>
                    </p:nvPicPr>
                    <p:blipFill>
                      <a:blip r:embed="rId9"/>
                      <a:stretch>
                        <a:fillRect/>
                      </a:stretch>
                    </p:blipFill>
                    <p:spPr>
                      <a:xfrm>
                        <a:off x="370269" y="4813276"/>
                        <a:ext cx="11705058" cy="1523155"/>
                      </a:xfrm>
                      <a:prstGeom prst="rect">
                        <a:avLst/>
                      </a:prstGeom>
                    </p:spPr>
                  </p:pic>
                </p:oleObj>
              </mc:Fallback>
            </mc:AlternateContent>
          </a:graphicData>
        </a:graphic>
      </p:graphicFrame>
      <p:sp>
        <p:nvSpPr>
          <p:cNvPr id="11" name="矩形 10"/>
          <p:cNvSpPr/>
          <p:nvPr/>
        </p:nvSpPr>
        <p:spPr>
          <a:xfrm>
            <a:off x="9381101" y="1441334"/>
            <a:ext cx="1420496"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6543293" y="1993103"/>
            <a:ext cx="1810032"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343725" y="2489686"/>
            <a:ext cx="759408"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6633536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12"/>
                                        </p:tgtEl>
                                      </p:cBhvr>
                                    </p:animEffect>
                                    <p:set>
                                      <p:cBhvr>
                                        <p:cTn id="12" dur="1" fill="hold">
                                          <p:stCondLst>
                                            <p:cond delay="499"/>
                                          </p:stCondLst>
                                        </p:cTn>
                                        <p:tgtEl>
                                          <p:spTgt spid="1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3174968058"/>
              </p:ext>
            </p:extLst>
          </p:nvPr>
        </p:nvGraphicFramePr>
        <p:xfrm>
          <a:off x="357188" y="2879725"/>
          <a:ext cx="11645900" cy="2974975"/>
        </p:xfrm>
        <a:graphic>
          <a:graphicData uri="http://schemas.openxmlformats.org/presentationml/2006/ole">
            <mc:AlternateContent xmlns:mc="http://schemas.openxmlformats.org/markup-compatibility/2006">
              <mc:Choice xmlns:v="urn:schemas-microsoft-com:vml" Requires="v">
                <p:oleObj spid="_x0000_s6170" name="文档" r:id="rId4" imgW="3837724" imgH="982565" progId="Word.Document.12">
                  <p:embed/>
                </p:oleObj>
              </mc:Choice>
              <mc:Fallback>
                <p:oleObj name="文档" r:id="rId4" imgW="3837724" imgH="982565" progId="Word.Document.12">
                  <p:embed/>
                  <p:pic>
                    <p:nvPicPr>
                      <p:cNvPr id="0" name=""/>
                      <p:cNvPicPr/>
                      <p:nvPr/>
                    </p:nvPicPr>
                    <p:blipFill>
                      <a:blip r:embed="rId5"/>
                      <a:stretch>
                        <a:fillRect/>
                      </a:stretch>
                    </p:blipFill>
                    <p:spPr>
                      <a:xfrm>
                        <a:off x="357188" y="2879725"/>
                        <a:ext cx="11645900" cy="2974975"/>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256555969"/>
              </p:ext>
            </p:extLst>
          </p:nvPr>
        </p:nvGraphicFramePr>
        <p:xfrm>
          <a:off x="360436" y="5759577"/>
          <a:ext cx="11671959" cy="639030"/>
        </p:xfrm>
        <a:graphic>
          <a:graphicData uri="http://schemas.openxmlformats.org/presentationml/2006/ole">
            <mc:AlternateContent xmlns:mc="http://schemas.openxmlformats.org/markup-compatibility/2006">
              <mc:Choice xmlns:v="urn:schemas-microsoft-com:vml" Requires="v">
                <p:oleObj spid="_x0000_s6171" name="文档" r:id="rId7" imgW="3826872" imgH="209518" progId="Word.Document.12">
                  <p:embed/>
                </p:oleObj>
              </mc:Choice>
              <mc:Fallback>
                <p:oleObj name="文档" r:id="rId7" imgW="3826872" imgH="209518" progId="Word.Document.12">
                  <p:embed/>
                  <p:pic>
                    <p:nvPicPr>
                      <p:cNvPr id="0" name=""/>
                      <p:cNvPicPr/>
                      <p:nvPr/>
                    </p:nvPicPr>
                    <p:blipFill>
                      <a:blip r:embed="rId8"/>
                      <a:stretch>
                        <a:fillRect/>
                      </a:stretch>
                    </p:blipFill>
                    <p:spPr>
                      <a:xfrm>
                        <a:off x="360436" y="5759577"/>
                        <a:ext cx="11671959" cy="639030"/>
                      </a:xfrm>
                      <a:prstGeom prst="rect">
                        <a:avLst/>
                      </a:prstGeom>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2646889358"/>
              </p:ext>
            </p:extLst>
          </p:nvPr>
        </p:nvGraphicFramePr>
        <p:xfrm>
          <a:off x="362426" y="699353"/>
          <a:ext cx="10640962" cy="2106524"/>
        </p:xfrm>
        <a:graphic>
          <a:graphicData uri="http://schemas.openxmlformats.org/presentationml/2006/ole">
            <mc:AlternateContent xmlns:mc="http://schemas.openxmlformats.org/markup-compatibility/2006">
              <mc:Choice xmlns:v="urn:schemas-microsoft-com:vml" Requires="v">
                <p:oleObj spid="_x0000_s6172" name="文档" r:id="rId10" imgW="3826872" imgH="759009" progId="Word.Document.12">
                  <p:embed/>
                </p:oleObj>
              </mc:Choice>
              <mc:Fallback>
                <p:oleObj name="文档" r:id="rId10" imgW="3826872" imgH="759009" progId="Word.Document.12">
                  <p:embed/>
                  <p:pic>
                    <p:nvPicPr>
                      <p:cNvPr id="0" name=""/>
                      <p:cNvPicPr/>
                      <p:nvPr/>
                    </p:nvPicPr>
                    <p:blipFill>
                      <a:blip r:embed="rId11"/>
                      <a:stretch>
                        <a:fillRect/>
                      </a:stretch>
                    </p:blipFill>
                    <p:spPr>
                      <a:xfrm>
                        <a:off x="362426" y="699353"/>
                        <a:ext cx="10640962" cy="2106524"/>
                      </a:xfrm>
                      <a:prstGeom prst="rect">
                        <a:avLst/>
                      </a:prstGeom>
                    </p:spPr>
                  </p:pic>
                </p:oleObj>
              </mc:Fallback>
            </mc:AlternateContent>
          </a:graphicData>
        </a:graphic>
      </p:graphicFrame>
    </p:spTree>
    <p:extLst>
      <p:ext uri="{BB962C8B-B14F-4D97-AF65-F5344CB8AC3E}">
        <p14:creationId xmlns:p14="http://schemas.microsoft.com/office/powerpoint/2010/main" val="666370607"/>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61950" y="766864"/>
            <a:ext cx="11742454" cy="5477895"/>
            <a:chOff x="361950" y="357817"/>
            <a:chExt cx="11742454" cy="5477895"/>
          </a:xfrm>
        </p:grpSpPr>
        <p:sp>
          <p:nvSpPr>
            <p:cNvPr id="2" name="矩形 1"/>
            <p:cNvSpPr>
              <a:spLocks noChangeAspect="1"/>
            </p:cNvSpPr>
            <p:nvPr/>
          </p:nvSpPr>
          <p:spPr>
            <a:xfrm>
              <a:off x="361950" y="357817"/>
              <a:ext cx="10807700" cy="300768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正确的在后面的括号内画</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错误的画</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两个复数的和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仍是一个复数</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复数的加减就是向量的加减</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673642799"/>
                </p:ext>
              </p:extLst>
            </p:nvPr>
          </p:nvGraphicFramePr>
          <p:xfrm>
            <a:off x="432445" y="3354007"/>
            <a:ext cx="11671959" cy="1308752"/>
          </p:xfrm>
          <a:graphic>
            <a:graphicData uri="http://schemas.openxmlformats.org/presentationml/2006/ole">
              <mc:AlternateContent xmlns:mc="http://schemas.openxmlformats.org/markup-compatibility/2006">
                <mc:Choice xmlns:v="urn:schemas-microsoft-com:vml" Requires="v">
                  <p:oleObj spid="_x0000_s7178" name="文档" r:id="rId4" imgW="3826872" imgH="429099" progId="Word.Document.12">
                    <p:embed/>
                  </p:oleObj>
                </mc:Choice>
                <mc:Fallback>
                  <p:oleObj name="文档" r:id="rId4" imgW="3826872" imgH="429099" progId="Word.Document.12">
                    <p:embed/>
                    <p:pic>
                      <p:nvPicPr>
                        <p:cNvPr id="0" name=""/>
                        <p:cNvPicPr/>
                        <p:nvPr/>
                      </p:nvPicPr>
                      <p:blipFill>
                        <a:blip r:embed="rId5"/>
                        <a:stretch>
                          <a:fillRect/>
                        </a:stretch>
                      </p:blipFill>
                      <p:spPr>
                        <a:xfrm>
                          <a:off x="432445" y="3354007"/>
                          <a:ext cx="11671959" cy="1308752"/>
                        </a:xfrm>
                        <a:prstGeom prst="rect">
                          <a:avLst/>
                        </a:prstGeom>
                      </p:spPr>
                    </p:pic>
                  </p:oleObj>
                </mc:Fallback>
              </mc:AlternateContent>
            </a:graphicData>
          </a:graphic>
        </p:graphicFrame>
        <p:sp>
          <p:nvSpPr>
            <p:cNvPr id="7" name="矩形 6"/>
            <p:cNvSpPr>
              <a:spLocks noChangeAspect="1"/>
            </p:cNvSpPr>
            <p:nvPr/>
          </p:nvSpPr>
          <p:spPr>
            <a:xfrm>
              <a:off x="361950" y="4618071"/>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表示复平面内点</a:t>
              </a:r>
              <a:r>
                <a:rPr lang="en-US" altLang="zh-CN" dirty="0">
                  <a:solidFill>
                    <a:srgbClr val="000000"/>
                  </a:solidFill>
                  <a:ea typeface="宋体" panose="02010600030101010101" pitchFamily="2" charset="-122"/>
                  <a:cs typeface="Times New Roman" panose="02020603050405020304" pitchFamily="18" charset="0"/>
                </a:rPr>
                <a:t>(3,2)</a:t>
              </a:r>
              <a:r>
                <a:rPr lang="zh-CN" altLang="zh-CN" dirty="0">
                  <a:solidFill>
                    <a:srgbClr val="000000"/>
                  </a:solidFill>
                  <a:ea typeface="宋体" panose="02010600030101010101" pitchFamily="2" charset="-122"/>
                  <a:cs typeface="Times New Roman" panose="02020603050405020304" pitchFamily="18" charset="0"/>
                </a:rPr>
                <a:t>与点</a:t>
              </a:r>
              <a:r>
                <a:rPr lang="en-US" altLang="zh-CN" dirty="0">
                  <a:solidFill>
                    <a:srgbClr val="000000"/>
                  </a:solidFill>
                  <a:ea typeface="宋体" panose="02010600030101010101" pitchFamily="2" charset="-122"/>
                  <a:cs typeface="Times New Roman" panose="02020603050405020304" pitchFamily="18" charset="0"/>
                </a:rPr>
                <a:t>(1,1)</a:t>
              </a:r>
              <a:r>
                <a:rPr lang="zh-CN" altLang="zh-CN" dirty="0">
                  <a:solidFill>
                    <a:srgbClr val="000000"/>
                  </a:solidFill>
                  <a:ea typeface="宋体" panose="02010600030101010101" pitchFamily="2" charset="-122"/>
                  <a:cs typeface="Times New Roman" panose="02020603050405020304" pitchFamily="18" charset="0"/>
                </a:rPr>
                <a:t>之间的距离</a:t>
              </a:r>
              <a:r>
                <a:rPr lang="en-US" altLang="zh-CN" i="1" dirty="0" smtClean="0">
                  <a:solidFill>
                    <a:srgbClr val="000000"/>
                  </a:solidFill>
                  <a:ea typeface="宋体" panose="02010600030101010101" pitchFamily="2" charset="-122"/>
                  <a:cs typeface="Times New Roman" panose="02020603050405020304" pitchFamily="18" charset="0"/>
                </a:rPr>
                <a:t>.</a:t>
              </a:r>
            </a:p>
            <a:p>
              <a:pPr algn="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smtClean="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
        <p:nvSpPr>
          <p:cNvPr id="6" name="矩形 5"/>
          <p:cNvSpPr/>
          <p:nvPr/>
        </p:nvSpPr>
        <p:spPr>
          <a:xfrm>
            <a:off x="6913165" y="2664023"/>
            <a:ext cx="476035"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a:off x="6268424" y="3240542"/>
            <a:ext cx="476035"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nvSpPr>
        <p:spPr>
          <a:xfrm>
            <a:off x="4752925" y="4500221"/>
            <a:ext cx="476035"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p:cNvSpPr/>
          <p:nvPr/>
        </p:nvSpPr>
        <p:spPr>
          <a:xfrm>
            <a:off x="10369549" y="5771518"/>
            <a:ext cx="476035"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65538627"/>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
        <p:nvSpPr>
          <p:cNvPr id="3" name="圆角矩形 2">
            <a:hlinkClick r:id="rId2" action="ppaction://hlinksldjump"/>
          </p:cNvPr>
          <p:cNvSpPr/>
          <p:nvPr/>
        </p:nvSpPr>
        <p:spPr>
          <a:xfrm>
            <a:off x="20166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a:t>探究一</a:t>
            </a:r>
            <a:endParaRPr lang="zh-CN" altLang="en-US" sz="2400"/>
          </a:p>
        </p:txBody>
      </p:sp>
      <p:sp>
        <p:nvSpPr>
          <p:cNvPr id="4" name="圆角矩形 3">
            <a:hlinkClick r:id="rId3" action="ppaction://hlinksldjump"/>
          </p:cNvPr>
          <p:cNvSpPr/>
          <p:nvPr/>
        </p:nvSpPr>
        <p:spPr>
          <a:xfrm>
            <a:off x="38168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二</a:t>
            </a:r>
            <a:endParaRPr lang="zh-CN" altLang="en-US" sz="2400" dirty="0"/>
          </a:p>
        </p:txBody>
      </p:sp>
      <p:sp>
        <p:nvSpPr>
          <p:cNvPr id="5" name="圆角矩形 4">
            <a:hlinkClick r:id="rId4" action="ppaction://hlinksldjump"/>
          </p:cNvPr>
          <p:cNvSpPr/>
          <p:nvPr/>
        </p:nvSpPr>
        <p:spPr>
          <a:xfrm>
            <a:off x="56170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三</a:t>
            </a:r>
            <a:endParaRPr lang="zh-CN" altLang="en-US" sz="2400" dirty="0"/>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0-#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935831"/>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复数</a:t>
            </a:r>
            <a:r>
              <a:rPr lang="zh-CN" altLang="zh-CN" dirty="0"/>
              <a:t>的加、减运算</a:t>
            </a:r>
          </a:p>
        </p:txBody>
      </p:sp>
      <p:sp>
        <p:nvSpPr>
          <p:cNvPr id="2" name="矩形 1"/>
          <p:cNvSpPr>
            <a:spLocks noChangeAspect="1"/>
          </p:cNvSpPr>
          <p:nvPr/>
        </p:nvSpPr>
        <p:spPr>
          <a:xfrm>
            <a:off x="361950" y="1602938"/>
            <a:ext cx="10807700" cy="358136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计算</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分析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根据复数的加法、减法法则进行计算</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10i</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2" dur="500"/>
                                        <p:tgtEl>
                                          <p:spTgt spid="2">
                                            <p:txEl>
                                              <p:pRg st="4" end="4"/>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5"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762319"/>
            <a:ext cx="10807700" cy="5338424"/>
            <a:chOff x="361950" y="762319"/>
            <a:chExt cx="10807700" cy="5338424"/>
          </a:xfrm>
        </p:grpSpPr>
        <p:pic>
          <p:nvPicPr>
            <p:cNvPr id="4" name="反思感悟H.eps" descr="id:2147490797;FounderCES"/>
            <p:cNvPicPr/>
            <p:nvPr/>
          </p:nvPicPr>
          <p:blipFill>
            <a:blip r:embed="rId2"/>
            <a:stretch>
              <a:fillRect/>
            </a:stretch>
          </p:blipFill>
          <p:spPr>
            <a:xfrm>
              <a:off x="361950" y="762319"/>
              <a:ext cx="2259558" cy="531552"/>
            </a:xfrm>
            <a:prstGeom prst="rect">
              <a:avLst/>
            </a:prstGeom>
          </p:spPr>
        </p:pic>
        <p:sp>
          <p:nvSpPr>
            <p:cNvPr id="5" name="矩形 4"/>
            <p:cNvSpPr>
              <a:spLocks noChangeAspect="1"/>
            </p:cNvSpPr>
            <p:nvPr/>
          </p:nvSpPr>
          <p:spPr>
            <a:xfrm>
              <a:off x="361950" y="1337516"/>
              <a:ext cx="10807700" cy="476322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复数代数形式的加、减法运算技巧</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复数代数形式的加、减法运算实质就是将实部与实部相加减、虚部与虚部相加减之后分别作为结果的实部与虚部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因此要准确地提取复数的实部与虚部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算式中若出现字母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首先确定其是否为实数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然后确定复数的实部与虚部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最后把实部与实部、虚部与虚部分别相加减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复数的运算可以类比多项式的运算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若有括号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则括号优先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若无括号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则可以从左到右依次进行计算</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49439523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98458"/>
            <a:ext cx="10807700" cy="432002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计算</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6i);</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(2)5i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3i)];</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3i(</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8i</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(2)5i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3)</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3888419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randombar(horizontal)">
                                      <p:cBhvr>
                                        <p:cTn id="7" dur="500"/>
                                        <p:tgtEl>
                                          <p:spTgt spid="2">
                                            <p:txEl>
                                              <p:pRg st="4" end="4"/>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0" dur="500"/>
                                        <p:tgtEl>
                                          <p:spTgt spid="2">
                                            <p:txEl>
                                              <p:pRg st="5" end="5"/>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3"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80164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复数</a:t>
            </a:r>
            <a:r>
              <a:rPr lang="zh-CN" altLang="zh-CN" dirty="0"/>
              <a:t>加、减法的几何意义</a:t>
            </a:r>
          </a:p>
        </p:txBody>
      </p:sp>
      <p:grpSp>
        <p:nvGrpSpPr>
          <p:cNvPr id="6" name="组合 5"/>
          <p:cNvGrpSpPr/>
          <p:nvPr/>
        </p:nvGrpSpPr>
        <p:grpSpPr>
          <a:xfrm>
            <a:off x="361950" y="1540943"/>
            <a:ext cx="11742454" cy="4137584"/>
            <a:chOff x="361950" y="1358047"/>
            <a:chExt cx="11742454" cy="4137584"/>
          </a:xfrm>
        </p:grpSpPr>
        <p:sp>
          <p:nvSpPr>
            <p:cNvPr id="2" name="矩形 1"/>
            <p:cNvSpPr>
              <a:spLocks noChangeAspect="1"/>
            </p:cNvSpPr>
            <p:nvPr/>
          </p:nvSpPr>
          <p:spPr>
            <a:xfrm>
              <a:off x="361950" y="1358047"/>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如图所示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平行四边形</a:t>
              </a:r>
              <a:r>
                <a:rPr lang="en-US" altLang="zh-CN" i="1" dirty="0">
                  <a:solidFill>
                    <a:srgbClr val="000000"/>
                  </a:solidFill>
                  <a:ea typeface="宋体" panose="02010600030101010101" pitchFamily="2" charset="-122"/>
                  <a:cs typeface="Times New Roman" panose="02020603050405020304" pitchFamily="18" charset="0"/>
                </a:rPr>
                <a:t>OABC</a:t>
              </a:r>
              <a:r>
                <a:rPr lang="zh-CN" altLang="zh-CN" dirty="0">
                  <a:solidFill>
                    <a:srgbClr val="000000"/>
                  </a:solidFill>
                  <a:ea typeface="宋体" panose="02010600030101010101" pitchFamily="2" charset="-122"/>
                  <a:cs typeface="Times New Roman" panose="02020603050405020304" pitchFamily="18" charset="0"/>
                </a:rPr>
                <a:t>的顶点</a:t>
              </a:r>
              <a:r>
                <a:rPr lang="en-US" altLang="zh-CN" i="1" dirty="0">
                  <a:solidFill>
                    <a:srgbClr val="000000"/>
                  </a:solidFill>
                  <a:ea typeface="宋体" panose="02010600030101010101" pitchFamily="2" charset="-122"/>
                  <a:cs typeface="Times New Roman" panose="02020603050405020304" pitchFamily="18" charset="0"/>
                </a:rPr>
                <a:t>O</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分别表示</a:t>
              </a:r>
              <a:r>
                <a:rPr lang="en-US" altLang="zh-CN" dirty="0">
                  <a:solidFill>
                    <a:srgbClr val="000000"/>
                  </a:solidFill>
                  <a:ea typeface="宋体" panose="02010600030101010101" pitchFamily="2" charset="-122"/>
                  <a:cs typeface="Times New Roman" panose="02020603050405020304" pitchFamily="18" charset="0"/>
                </a:rPr>
                <a:t>0,3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144428860"/>
                </p:ext>
              </p:extLst>
            </p:nvPr>
          </p:nvGraphicFramePr>
          <p:xfrm>
            <a:off x="432445" y="3528119"/>
            <a:ext cx="11671959" cy="1967512"/>
          </p:xfrm>
          <a:graphic>
            <a:graphicData uri="http://schemas.openxmlformats.org/presentationml/2006/ole">
              <mc:AlternateContent xmlns:mc="http://schemas.openxmlformats.org/markup-compatibility/2006">
                <mc:Choice xmlns:v="urn:schemas-microsoft-com:vml" Requires="v">
                  <p:oleObj spid="_x0000_s8202" name="文档" r:id="rId4" imgW="3826872" imgH="645086" progId="Word.Document.12">
                    <p:embed/>
                  </p:oleObj>
                </mc:Choice>
                <mc:Fallback>
                  <p:oleObj name="文档" r:id="rId4" imgW="3826872" imgH="645086" progId="Word.Document.12">
                    <p:embed/>
                    <p:pic>
                      <p:nvPicPr>
                        <p:cNvPr id="0" name=""/>
                        <p:cNvPicPr/>
                        <p:nvPr/>
                      </p:nvPicPr>
                      <p:blipFill>
                        <a:blip r:embed="rId5"/>
                        <a:stretch>
                          <a:fillRect/>
                        </a:stretch>
                      </p:blipFill>
                      <p:spPr>
                        <a:xfrm>
                          <a:off x="432445" y="3528119"/>
                          <a:ext cx="11671959" cy="1967512"/>
                        </a:xfrm>
                        <a:prstGeom prst="rect">
                          <a:avLst/>
                        </a:prstGeom>
                      </p:spPr>
                    </p:pic>
                  </p:oleObj>
                </mc:Fallback>
              </mc:AlternateContent>
            </a:graphicData>
          </a:graphic>
        </p:graphicFrame>
        <p:pic>
          <p:nvPicPr>
            <p:cNvPr id="5" name="EMG2TRA07.eps" descr="id:2147491476;FounderCES"/>
            <p:cNvPicPr/>
            <p:nvPr/>
          </p:nvPicPr>
          <p:blipFill>
            <a:blip r:embed="rId6"/>
            <a:stretch>
              <a:fillRect/>
            </a:stretch>
          </p:blipFill>
          <p:spPr>
            <a:xfrm>
              <a:off x="6481117" y="2038414"/>
              <a:ext cx="3240360" cy="3170847"/>
            </a:xfrm>
            <a:prstGeom prst="rect">
              <a:avLst/>
            </a:prstGeom>
          </p:spPr>
        </p:pic>
      </p:grpSp>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extLst>
              <p:ext uri="{D42A27DB-BD31-4B8C-83A1-F6EECF244321}">
                <p14:modId xmlns:p14="http://schemas.microsoft.com/office/powerpoint/2010/main" val="949491317"/>
              </p:ext>
            </p:extLst>
          </p:nvPr>
        </p:nvGraphicFramePr>
        <p:xfrm>
          <a:off x="432445" y="1583903"/>
          <a:ext cx="11671959" cy="3278454"/>
        </p:xfrm>
        <a:graphic>
          <a:graphicData uri="http://schemas.openxmlformats.org/presentationml/2006/ole">
            <mc:AlternateContent xmlns:mc="http://schemas.openxmlformats.org/markup-compatibility/2006">
              <mc:Choice xmlns:v="urn:schemas-microsoft-com:vml" Requires="v">
                <p:oleObj spid="_x0000_s9226" name="文档" r:id="rId4" imgW="3826872" imgH="1074903" progId="Word.Document.12">
                  <p:embed/>
                </p:oleObj>
              </mc:Choice>
              <mc:Fallback>
                <p:oleObj name="文档" r:id="rId4" imgW="3826872" imgH="1074903" progId="Word.Document.12">
                  <p:embed/>
                  <p:pic>
                    <p:nvPicPr>
                      <p:cNvPr id="0" name=""/>
                      <p:cNvPicPr/>
                      <p:nvPr/>
                    </p:nvPicPr>
                    <p:blipFill>
                      <a:blip r:embed="rId5"/>
                      <a:stretch>
                        <a:fillRect/>
                      </a:stretch>
                    </p:blipFill>
                    <p:spPr>
                      <a:xfrm>
                        <a:off x="432445" y="1583903"/>
                        <a:ext cx="11671959" cy="3278454"/>
                      </a:xfrm>
                      <a:prstGeom prst="rect">
                        <a:avLst/>
                      </a:prstGeom>
                    </p:spPr>
                  </p:pic>
                </p:oleObj>
              </mc:Fallback>
            </mc:AlternateContent>
          </a:graphicData>
        </a:graphic>
      </p:graphicFrame>
    </p:spTree>
    <p:extLst>
      <p:ext uri="{BB962C8B-B14F-4D97-AF65-F5344CB8AC3E}">
        <p14:creationId xmlns:p14="http://schemas.microsoft.com/office/powerpoint/2010/main" val="10276874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61950" y="1012147"/>
            <a:ext cx="10807700" cy="4172156"/>
            <a:chOff x="361950" y="940139"/>
            <a:chExt cx="10807700" cy="4172156"/>
          </a:xfrm>
        </p:grpSpPr>
        <p:pic>
          <p:nvPicPr>
            <p:cNvPr id="3" name="反思感悟H.eps" descr="id:2147490797;FounderCES"/>
            <p:cNvPicPr/>
            <p:nvPr/>
          </p:nvPicPr>
          <p:blipFill>
            <a:blip r:embed="rId2"/>
            <a:stretch>
              <a:fillRect/>
            </a:stretch>
          </p:blipFill>
          <p:spPr>
            <a:xfrm>
              <a:off x="361950" y="940139"/>
              <a:ext cx="2259558" cy="531552"/>
            </a:xfrm>
            <a:prstGeom prst="rect">
              <a:avLst/>
            </a:prstGeom>
          </p:spPr>
        </p:pic>
        <p:sp>
          <p:nvSpPr>
            <p:cNvPr id="2" name="矩形 1"/>
            <p:cNvSpPr>
              <a:spLocks noChangeAspect="1"/>
            </p:cNvSpPr>
            <p:nvPr/>
          </p:nvSpPr>
          <p:spPr>
            <a:xfrm>
              <a:off x="361950" y="1530930"/>
              <a:ext cx="10807700" cy="358136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根据复数加、减运算的几何意义可以把复数的加、减运算与向量的运算联系起来</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利用向量进行复数的加、减运算时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同样满足平行四边形法则和三角形法则</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复数加、减运算的几何意义为应用数形结合思想解决复数问题提供了可能</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96795108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717427066"/>
              </p:ext>
            </p:extLst>
          </p:nvPr>
        </p:nvGraphicFramePr>
        <p:xfrm>
          <a:off x="330941" y="988175"/>
          <a:ext cx="11671959" cy="1866670"/>
        </p:xfrm>
        <a:graphic>
          <a:graphicData uri="http://schemas.openxmlformats.org/presentationml/2006/ole">
            <mc:AlternateContent xmlns:mc="http://schemas.openxmlformats.org/markup-compatibility/2006">
              <mc:Choice xmlns:v="urn:schemas-microsoft-com:vml" Requires="v">
                <p:oleObj spid="_x0000_s10258" name="文档" r:id="rId4" imgW="3826872" imgH="612023" progId="Word.Document.12">
                  <p:embed/>
                </p:oleObj>
              </mc:Choice>
              <mc:Fallback>
                <p:oleObj name="文档" r:id="rId4" imgW="3826872" imgH="612023" progId="Word.Document.12">
                  <p:embed/>
                  <p:pic>
                    <p:nvPicPr>
                      <p:cNvPr id="0" name=""/>
                      <p:cNvPicPr/>
                      <p:nvPr/>
                    </p:nvPicPr>
                    <p:blipFill>
                      <a:blip r:embed="rId5"/>
                      <a:stretch>
                        <a:fillRect/>
                      </a:stretch>
                    </p:blipFill>
                    <p:spPr>
                      <a:xfrm>
                        <a:off x="330941" y="988175"/>
                        <a:ext cx="11671959" cy="186667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320268488"/>
              </p:ext>
            </p:extLst>
          </p:nvPr>
        </p:nvGraphicFramePr>
        <p:xfrm>
          <a:off x="330940" y="2845962"/>
          <a:ext cx="11671959" cy="2572562"/>
        </p:xfrm>
        <a:graphic>
          <a:graphicData uri="http://schemas.openxmlformats.org/presentationml/2006/ole">
            <mc:AlternateContent xmlns:mc="http://schemas.openxmlformats.org/markup-compatibility/2006">
              <mc:Choice xmlns:v="urn:schemas-microsoft-com:vml" Requires="v">
                <p:oleObj spid="_x0000_s10259" name="文档" r:id="rId7" imgW="3826872" imgH="843463" progId="Word.Document.12">
                  <p:embed/>
                </p:oleObj>
              </mc:Choice>
              <mc:Fallback>
                <p:oleObj name="文档" r:id="rId7" imgW="3826872" imgH="843463" progId="Word.Document.12">
                  <p:embed/>
                  <p:pic>
                    <p:nvPicPr>
                      <p:cNvPr id="0" name=""/>
                      <p:cNvPicPr/>
                      <p:nvPr/>
                    </p:nvPicPr>
                    <p:blipFill>
                      <a:blip r:embed="rId8"/>
                      <a:stretch>
                        <a:fillRect/>
                      </a:stretch>
                    </p:blipFill>
                    <p:spPr>
                      <a:xfrm>
                        <a:off x="330940" y="2845962"/>
                        <a:ext cx="11671959" cy="2572562"/>
                      </a:xfrm>
                      <a:prstGeom prst="rect">
                        <a:avLst/>
                      </a:prstGeom>
                    </p:spPr>
                  </p:pic>
                </p:oleObj>
              </mc:Fallback>
            </mc:AlternateContent>
          </a:graphicData>
        </a:graphic>
      </p:graphicFrame>
    </p:spTree>
    <p:extLst>
      <p:ext uri="{BB962C8B-B14F-4D97-AF65-F5344CB8AC3E}">
        <p14:creationId xmlns:p14="http://schemas.microsoft.com/office/powerpoint/2010/main" val="16236408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三</a:t>
            </a:r>
            <a:r>
              <a:rPr lang="en-US" altLang="zh-CN" dirty="0" smtClean="0"/>
              <a:t>  </a:t>
            </a:r>
            <a:r>
              <a:rPr lang="zh-CN" altLang="zh-CN" dirty="0" smtClean="0"/>
              <a:t>复数</a:t>
            </a:r>
            <a:r>
              <a:rPr lang="zh-CN" altLang="zh-CN" dirty="0"/>
              <a:t>加、减法运算与模的综合应用</a:t>
            </a:r>
          </a:p>
        </p:txBody>
      </p:sp>
      <p:graphicFrame>
        <p:nvGraphicFramePr>
          <p:cNvPr id="2" name="对象 1"/>
          <p:cNvGraphicFramePr>
            <a:graphicFrameLocks noChangeAspect="1"/>
          </p:cNvGraphicFramePr>
          <p:nvPr>
            <p:extLst>
              <p:ext uri="{D42A27DB-BD31-4B8C-83A1-F6EECF244321}">
                <p14:modId xmlns:p14="http://schemas.microsoft.com/office/powerpoint/2010/main" val="1354648511"/>
              </p:ext>
            </p:extLst>
          </p:nvPr>
        </p:nvGraphicFramePr>
        <p:xfrm>
          <a:off x="360437" y="1377711"/>
          <a:ext cx="11671959" cy="641223"/>
        </p:xfrm>
        <a:graphic>
          <a:graphicData uri="http://schemas.openxmlformats.org/presentationml/2006/ole">
            <mc:AlternateContent xmlns:mc="http://schemas.openxmlformats.org/markup-compatibility/2006">
              <mc:Choice xmlns:v="urn:schemas-microsoft-com:vml" Requires="v">
                <p:oleObj spid="_x0000_s11282" name="文档" r:id="rId4" imgW="3826872" imgH="210237" progId="Word.Document.12">
                  <p:embed/>
                </p:oleObj>
              </mc:Choice>
              <mc:Fallback>
                <p:oleObj name="文档" r:id="rId4" imgW="3826872" imgH="210237" progId="Word.Document.12">
                  <p:embed/>
                  <p:pic>
                    <p:nvPicPr>
                      <p:cNvPr id="0" name=""/>
                      <p:cNvPicPr/>
                      <p:nvPr/>
                    </p:nvPicPr>
                    <p:blipFill>
                      <a:blip r:embed="rId5"/>
                      <a:stretch>
                        <a:fillRect/>
                      </a:stretch>
                    </p:blipFill>
                    <p:spPr>
                      <a:xfrm>
                        <a:off x="360437" y="1377711"/>
                        <a:ext cx="11671959" cy="641223"/>
                      </a:xfrm>
                      <a:prstGeom prst="rect">
                        <a:avLst/>
                      </a:prstGeom>
                    </p:spPr>
                  </p:pic>
                </p:oleObj>
              </mc:Fallback>
            </mc:AlternateContent>
          </a:graphicData>
        </a:graphic>
      </p:graphicFrame>
      <p:sp>
        <p:nvSpPr>
          <p:cNvPr id="4" name="矩形 3"/>
          <p:cNvSpPr>
            <a:spLocks noChangeAspect="1"/>
          </p:cNvSpPr>
          <p:nvPr/>
        </p:nvSpPr>
        <p:spPr>
          <a:xfrm>
            <a:off x="361950" y="1996287"/>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分析</a:t>
            </a:r>
            <a:r>
              <a:rPr lang="en-US" altLang="zh-CN" dirty="0" smtClean="0">
                <a:latin typeface="Arial" panose="020B0604020202020204" pitchFamily="34" charset="0"/>
                <a:cs typeface="Times New Roman" panose="02020603050405020304" pitchFamily="18" charset="0"/>
              </a:rPr>
              <a:t>:</a:t>
            </a:r>
            <a:r>
              <a:rPr lang="zh-CN" altLang="en-US" dirty="0" smtClean="0">
                <a:solidFill>
                  <a:srgbClr val="000000"/>
                </a:solidFill>
                <a:ea typeface="楷体" panose="02010609060101010101" pitchFamily="49" charset="-122"/>
                <a:cs typeface="Times New Roman" panose="02020603050405020304" pitchFamily="18" charset="0"/>
              </a:rPr>
              <a:t>解</a:t>
            </a:r>
            <a:r>
              <a:rPr lang="zh-CN" altLang="zh-CN" dirty="0" smtClean="0">
                <a:solidFill>
                  <a:srgbClr val="000000"/>
                </a:solidFill>
                <a:ea typeface="楷体" panose="02010609060101010101" pitchFamily="49" charset="-122"/>
                <a:cs typeface="Times New Roman" panose="02020603050405020304" pitchFamily="18" charset="0"/>
              </a:rPr>
              <a:t>法</a:t>
            </a:r>
            <a:r>
              <a:rPr lang="zh-CN" altLang="zh-CN" dirty="0">
                <a:solidFill>
                  <a:srgbClr val="000000"/>
                </a:solidFill>
                <a:ea typeface="楷体" panose="02010609060101010101" pitchFamily="49" charset="-122"/>
                <a:cs typeface="Times New Roman" panose="02020603050405020304" pitchFamily="18" charset="0"/>
              </a:rPr>
              <a:t>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设出</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的代数形式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利用模的定义求解</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en-US" dirty="0">
                <a:solidFill>
                  <a:srgbClr val="000000"/>
                </a:solidFill>
                <a:ea typeface="楷体" panose="02010609060101010101" pitchFamily="49" charset="-122"/>
                <a:cs typeface="Times New Roman" panose="02020603050405020304" pitchFamily="18" charset="0"/>
              </a:rPr>
              <a:t>解</a:t>
            </a:r>
            <a:r>
              <a:rPr lang="zh-CN" altLang="zh-CN" dirty="0" smtClean="0">
                <a:solidFill>
                  <a:srgbClr val="000000"/>
                </a:solidFill>
                <a:ea typeface="楷体" panose="02010609060101010101" pitchFamily="49" charset="-122"/>
                <a:cs typeface="Times New Roman" panose="02020603050405020304" pitchFamily="18" charset="0"/>
              </a:rPr>
              <a:t>法</a:t>
            </a:r>
            <a:r>
              <a:rPr lang="zh-CN" altLang="zh-CN" dirty="0">
                <a:solidFill>
                  <a:srgbClr val="000000"/>
                </a:solidFill>
                <a:ea typeface="楷体" panose="02010609060101010101" pitchFamily="49" charset="-122"/>
                <a:cs typeface="Times New Roman" panose="02020603050405020304" pitchFamily="18" charset="0"/>
              </a:rPr>
              <a:t>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利用复数加、减运算的几何意义求解</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85103279"/>
              </p:ext>
            </p:extLst>
          </p:nvPr>
        </p:nvGraphicFramePr>
        <p:xfrm>
          <a:off x="430213" y="3257550"/>
          <a:ext cx="11645900" cy="2797175"/>
        </p:xfrm>
        <a:graphic>
          <a:graphicData uri="http://schemas.openxmlformats.org/presentationml/2006/ole">
            <mc:AlternateContent xmlns:mc="http://schemas.openxmlformats.org/markup-compatibility/2006">
              <mc:Choice xmlns:v="urn:schemas-microsoft-com:vml" Requires="v">
                <p:oleObj spid="_x0000_s11283" name="文档" r:id="rId7" imgW="3837724" imgH="922349" progId="Word.Document.12">
                  <p:embed/>
                </p:oleObj>
              </mc:Choice>
              <mc:Fallback>
                <p:oleObj name="文档" r:id="rId7" imgW="3837724" imgH="922349" progId="Word.Document.12">
                  <p:embed/>
                  <p:pic>
                    <p:nvPicPr>
                      <p:cNvPr id="0" name=""/>
                      <p:cNvPicPr/>
                      <p:nvPr/>
                    </p:nvPicPr>
                    <p:blipFill>
                      <a:blip r:embed="rId8"/>
                      <a:stretch>
                        <a:fillRect/>
                      </a:stretch>
                    </p:blipFill>
                    <p:spPr>
                      <a:xfrm>
                        <a:off x="430213" y="3257550"/>
                        <a:ext cx="11645900" cy="2797175"/>
                      </a:xfrm>
                      <a:prstGeom prst="rect">
                        <a:avLst/>
                      </a:prstGeom>
                    </p:spPr>
                  </p:pic>
                </p:oleObj>
              </mc:Fallback>
            </mc:AlternateContent>
          </a:graphicData>
        </a:graphic>
      </p:graphicFrame>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1968663948"/>
              </p:ext>
            </p:extLst>
          </p:nvPr>
        </p:nvGraphicFramePr>
        <p:xfrm>
          <a:off x="504825" y="1151855"/>
          <a:ext cx="11645900" cy="2543175"/>
        </p:xfrm>
        <a:graphic>
          <a:graphicData uri="http://schemas.openxmlformats.org/presentationml/2006/ole">
            <mc:AlternateContent xmlns:mc="http://schemas.openxmlformats.org/markup-compatibility/2006">
              <mc:Choice xmlns:v="urn:schemas-microsoft-com:vml" Requires="v">
                <p:oleObj spid="_x0000_s12298" name="文档" r:id="rId4" imgW="3837724" imgH="841220" progId="Word.Document.12">
                  <p:embed/>
                </p:oleObj>
              </mc:Choice>
              <mc:Fallback>
                <p:oleObj name="文档" r:id="rId4" imgW="3837724" imgH="841220" progId="Word.Document.12">
                  <p:embed/>
                  <p:pic>
                    <p:nvPicPr>
                      <p:cNvPr id="0" name=""/>
                      <p:cNvPicPr/>
                      <p:nvPr/>
                    </p:nvPicPr>
                    <p:blipFill>
                      <a:blip r:embed="rId5"/>
                      <a:stretch>
                        <a:fillRect/>
                      </a:stretch>
                    </p:blipFill>
                    <p:spPr>
                      <a:xfrm>
                        <a:off x="504825" y="1151855"/>
                        <a:ext cx="11645900" cy="2543175"/>
                      </a:xfrm>
                      <a:prstGeom prst="rect">
                        <a:avLst/>
                      </a:prstGeom>
                    </p:spPr>
                  </p:pic>
                </p:oleObj>
              </mc:Fallback>
            </mc:AlternateContent>
          </a:graphicData>
        </a:graphic>
      </p:graphicFrame>
      <p:pic>
        <p:nvPicPr>
          <p:cNvPr id="3" name="21N105.eps" descr="id:2147498905;FounderCES"/>
          <p:cNvPicPr/>
          <p:nvPr/>
        </p:nvPicPr>
        <p:blipFill>
          <a:blip r:embed="rId6"/>
          <a:stretch>
            <a:fillRect/>
          </a:stretch>
        </p:blipFill>
        <p:spPr>
          <a:xfrm>
            <a:off x="6769149" y="1946610"/>
            <a:ext cx="2736304" cy="2949661"/>
          </a:xfrm>
          <a:prstGeom prst="rect">
            <a:avLst/>
          </a:prstGeom>
        </p:spPr>
      </p:pic>
    </p:spTree>
    <p:extLst>
      <p:ext uri="{BB962C8B-B14F-4D97-AF65-F5344CB8AC3E}">
        <p14:creationId xmlns:p14="http://schemas.microsoft.com/office/powerpoint/2010/main" val="98454590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61950" y="1208507"/>
            <a:ext cx="10807700" cy="3596092"/>
            <a:chOff x="361950" y="940139"/>
            <a:chExt cx="10807700" cy="3596092"/>
          </a:xfrm>
        </p:grpSpPr>
        <p:pic>
          <p:nvPicPr>
            <p:cNvPr id="3" name="反思感悟H.eps" descr="id:2147490797;FounderCES"/>
            <p:cNvPicPr/>
            <p:nvPr/>
          </p:nvPicPr>
          <p:blipFill>
            <a:blip r:embed="rId2"/>
            <a:stretch>
              <a:fillRect/>
            </a:stretch>
          </p:blipFill>
          <p:spPr>
            <a:xfrm>
              <a:off x="361950" y="940139"/>
              <a:ext cx="2259558" cy="531552"/>
            </a:xfrm>
            <a:prstGeom prst="rect">
              <a:avLst/>
            </a:prstGeom>
          </p:spPr>
        </p:pic>
        <p:sp>
          <p:nvSpPr>
            <p:cNvPr id="2" name="矩形 1"/>
            <p:cNvSpPr>
              <a:spLocks noChangeAspect="1"/>
            </p:cNvSpPr>
            <p:nvPr/>
          </p:nvSpPr>
          <p:spPr>
            <a:xfrm>
              <a:off x="361950" y="1545797"/>
              <a:ext cx="10807700" cy="299043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解决复数问题时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设出复数的代数形式</a:t>
              </a:r>
              <a:r>
                <a:rPr lang="en-US" altLang="zh-CN" i="1" dirty="0">
                  <a:solidFill>
                    <a:srgbClr val="000000"/>
                  </a:solidFill>
                  <a:ea typeface="宋体" panose="02010600030101010101" pitchFamily="2" charset="-122"/>
                  <a:cs typeface="Times New Roman" panose="02020603050405020304" pitchFamily="18" charset="0"/>
                </a:rPr>
                <a:t>z=</a:t>
              </a:r>
              <a:r>
                <a:rPr lang="en-US" altLang="zh-CN" i="1" dirty="0" err="1">
                  <a:solidFill>
                    <a:srgbClr val="000000"/>
                  </a:solidFill>
                  <a:ea typeface="宋体" panose="02010600030101010101" pitchFamily="2" charset="-122"/>
                  <a:cs typeface="Times New Roman" panose="02020603050405020304" pitchFamily="18" charset="0"/>
                </a:rPr>
                <a:t>x+y</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仿宋" panose="02010609060101010101" pitchFamily="49" charset="-122"/>
                  <a:cs typeface="Times New Roman" panose="02020603050405020304" pitchFamily="18" charset="0"/>
                </a:rPr>
                <a:t>利用复数相等或模的概念</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列方程求实部、虚部可把复数问题实数化</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利用复数加、减运算及模的几何意义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应用数形结合思想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可以直观简便地解决复数问题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7180705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945663"/>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掌握以下常用结论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在复平面内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已知四边形</a:t>
            </a:r>
            <a:r>
              <a:rPr lang="en-US" altLang="zh-CN" i="1" dirty="0">
                <a:solidFill>
                  <a:srgbClr val="000000"/>
                </a:solidFill>
                <a:ea typeface="宋体" panose="02010600030101010101" pitchFamily="2" charset="-122"/>
                <a:cs typeface="Times New Roman" panose="02020603050405020304" pitchFamily="18" charset="0"/>
              </a:rPr>
              <a:t>OACB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对应的点分别为</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对应的点为</a:t>
            </a:r>
            <a:r>
              <a:rPr lang="en-US" altLang="zh-CN" i="1" dirty="0">
                <a:solidFill>
                  <a:srgbClr val="000000"/>
                </a:solidFill>
                <a:ea typeface="宋体" panose="02010600030101010101" pitchFamily="2" charset="-122"/>
                <a:cs typeface="Times New Roman" panose="02020603050405020304" pitchFamily="18" charset="0"/>
              </a:rPr>
              <a:t>C</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O</a:t>
            </a:r>
            <a:r>
              <a:rPr lang="zh-CN" altLang="zh-CN" dirty="0">
                <a:solidFill>
                  <a:srgbClr val="000000"/>
                </a:solidFill>
                <a:ea typeface="仿宋" panose="02010609060101010101" pitchFamily="49" charset="-122"/>
                <a:cs typeface="Times New Roman" panose="02020603050405020304" pitchFamily="18" charset="0"/>
              </a:rPr>
              <a:t>为坐标原点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有</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四边形</a:t>
            </a:r>
            <a:r>
              <a:rPr lang="en-US" altLang="zh-CN" i="1" dirty="0">
                <a:solidFill>
                  <a:srgbClr val="000000"/>
                </a:solidFill>
                <a:ea typeface="宋体" panose="02010600030101010101" pitchFamily="2" charset="-122"/>
                <a:cs typeface="Times New Roman" panose="02020603050405020304" pitchFamily="18" charset="0"/>
              </a:rPr>
              <a:t>OACB</a:t>
            </a:r>
            <a:r>
              <a:rPr lang="zh-CN" altLang="zh-CN" dirty="0">
                <a:solidFill>
                  <a:srgbClr val="000000"/>
                </a:solidFill>
                <a:ea typeface="仿宋" panose="02010609060101010101" pitchFamily="49" charset="-122"/>
                <a:cs typeface="Times New Roman" panose="02020603050405020304" pitchFamily="18" charset="0"/>
              </a:rPr>
              <a:t>为平行四边形</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则四边形</a:t>
            </a:r>
            <a:r>
              <a:rPr lang="en-US" altLang="zh-CN" i="1" dirty="0">
                <a:solidFill>
                  <a:srgbClr val="000000"/>
                </a:solidFill>
                <a:ea typeface="宋体" panose="02010600030101010101" pitchFamily="2" charset="-122"/>
                <a:cs typeface="Times New Roman" panose="02020603050405020304" pitchFamily="18" charset="0"/>
              </a:rPr>
              <a:t>OACB</a:t>
            </a:r>
            <a:r>
              <a:rPr lang="zh-CN" altLang="zh-CN" dirty="0">
                <a:solidFill>
                  <a:srgbClr val="000000"/>
                </a:solidFill>
                <a:ea typeface="仿宋" panose="02010609060101010101" pitchFamily="49" charset="-122"/>
                <a:cs typeface="Times New Roman" panose="02020603050405020304" pitchFamily="18" charset="0"/>
              </a:rPr>
              <a:t>为矩形</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则四边形</a:t>
            </a:r>
            <a:r>
              <a:rPr lang="en-US" altLang="zh-CN" i="1" dirty="0">
                <a:solidFill>
                  <a:srgbClr val="000000"/>
                </a:solidFill>
                <a:ea typeface="宋体" panose="02010600030101010101" pitchFamily="2" charset="-122"/>
                <a:cs typeface="Times New Roman" panose="02020603050405020304" pitchFamily="18" charset="0"/>
              </a:rPr>
              <a:t>OACB</a:t>
            </a:r>
            <a:r>
              <a:rPr lang="zh-CN" altLang="zh-CN" dirty="0">
                <a:solidFill>
                  <a:srgbClr val="000000"/>
                </a:solidFill>
                <a:ea typeface="仿宋" panose="02010609060101010101" pitchFamily="49" charset="-122"/>
                <a:cs typeface="Times New Roman" panose="02020603050405020304" pitchFamily="18" charset="0"/>
              </a:rPr>
              <a:t>为菱形</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仿宋" panose="02010609060101010101" pitchFamily="49"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则四边形</a:t>
            </a:r>
            <a:r>
              <a:rPr lang="en-US" altLang="zh-CN" i="1" dirty="0">
                <a:solidFill>
                  <a:srgbClr val="000000"/>
                </a:solidFill>
                <a:ea typeface="宋体" panose="02010600030101010101" pitchFamily="2" charset="-122"/>
                <a:cs typeface="Times New Roman" panose="02020603050405020304" pitchFamily="18" charset="0"/>
              </a:rPr>
              <a:t>OACB</a:t>
            </a:r>
            <a:r>
              <a:rPr lang="zh-CN" altLang="zh-CN" dirty="0">
                <a:solidFill>
                  <a:srgbClr val="000000"/>
                </a:solidFill>
                <a:ea typeface="仿宋" panose="02010609060101010101" pitchFamily="49" charset="-122"/>
                <a:cs typeface="Times New Roman" panose="02020603050405020304" pitchFamily="18" charset="0"/>
              </a:rPr>
              <a:t>为正方形</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08894320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401781"/>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指出下列等式所表示的几何图形</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|z-</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dirty="0">
                <a:solidFill>
                  <a:srgbClr val="000000"/>
                </a:solidFill>
                <a:ea typeface="宋体" panose="02010600030101010101" pitchFamily="2" charset="-122"/>
                <a:cs typeface="Times New Roman" panose="02020603050405020304" pitchFamily="18" charset="0"/>
              </a:rPr>
              <a:t>2i</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表示以点</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为圆心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以</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为半径的圆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表示以点</a:t>
            </a:r>
            <a:r>
              <a:rPr lang="en-US" altLang="zh-CN" dirty="0">
                <a:solidFill>
                  <a:srgbClr val="000000"/>
                </a:solidFill>
                <a:ea typeface="宋体" panose="02010600030101010101" pitchFamily="2" charset="-122"/>
                <a:cs typeface="Times New Roman" panose="02020603050405020304" pitchFamily="18" charset="0"/>
              </a:rPr>
              <a:t>(1,0),(0,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为端点的线段的垂直平分线</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4858401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wipe(down)">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6600" dirty="0" smtClean="0">
                <a:solidFill>
                  <a:srgbClr val="0070C0"/>
                </a:solidFill>
                <a:latin typeface="华文新魏" panose="02010800040101010101" pitchFamily="2" charset="-122"/>
                <a:ea typeface="华文新魏" panose="02010800040101010101" pitchFamily="2" charset="-122"/>
              </a:rPr>
              <a:t>思  想  方  法</a:t>
            </a:r>
            <a:endParaRPr lang="zh-CN" altLang="zh-CN" sz="66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a:spLocks noChangeAspect="1"/>
              </p:cNvSpPr>
              <p:nvPr/>
            </p:nvSpPr>
            <p:spPr>
              <a:xfrm>
                <a:off x="361950" y="1017671"/>
                <a:ext cx="10807700" cy="4391908"/>
              </a:xfrm>
              <a:prstGeom prst="rect">
                <a:avLst/>
              </a:prstGeom>
            </p:spPr>
            <p:txBody>
              <a:bodyPr>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数形结合思想在复数中的应用</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Arial" panose="020B0604020202020204" pitchFamily="34" charset="0"/>
                    <a:cs typeface="Times New Roman" panose="02020603050405020304" pitchFamily="18" charset="0"/>
                  </a:rPr>
                  <a:t>【典例】</a:t>
                </a:r>
                <a:r>
                  <a:rPr lang="zh-CN" altLang="zh-CN" dirty="0">
                    <a:solidFill>
                      <a:srgbClr val="000000"/>
                    </a:solidFill>
                    <a:effectLst/>
                    <a:latin typeface="NEU-BZ-S92"/>
                    <a:ea typeface="Arial" panose="020B0604020202020204" pitchFamily="34" charset="0"/>
                    <a:cs typeface="Times New Roman" panose="02020603050405020304" pitchFamily="18" charset="0"/>
                  </a:rPr>
                  <a:t> </a:t>
                </a:r>
                <a:r>
                  <a:rPr lang="zh-CN" altLang="zh-CN" dirty="0">
                    <a:solidFill>
                      <a:srgbClr val="000000"/>
                    </a:solidFill>
                    <a:effectLst/>
                    <a:ea typeface="宋体" panose="02010600030101010101" pitchFamily="2" charset="-122"/>
                    <a:cs typeface="Times New Roman" panose="02020603050405020304" pitchFamily="18" charset="0"/>
                  </a:rPr>
                  <a:t>已知复平面内点</a:t>
                </a:r>
                <a:r>
                  <a:rPr lang="en-US" altLang="zh-CN" i="1" dirty="0">
                    <a:solidFill>
                      <a:srgbClr val="000000"/>
                    </a:solidFill>
                    <a:effectLst/>
                    <a:ea typeface="宋体" panose="02010600030101010101" pitchFamily="2" charset="-122"/>
                    <a:cs typeface="Times New Roman" panose="02020603050405020304" pitchFamily="18" charset="0"/>
                  </a:rPr>
                  <a:t>A</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B</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C</a:t>
                </a:r>
                <a:r>
                  <a:rPr lang="zh-CN" altLang="zh-CN" dirty="0">
                    <a:solidFill>
                      <a:srgbClr val="000000"/>
                    </a:solidFill>
                    <a:effectLst/>
                    <a:ea typeface="宋体" panose="02010600030101010101" pitchFamily="2" charset="-122"/>
                    <a:cs typeface="Times New Roman" panose="02020603050405020304" pitchFamily="18" charset="0"/>
                  </a:rPr>
                  <a:t>对应的复数分别为</a:t>
                </a:r>
                <a:r>
                  <a:rPr lang="en-US" altLang="zh-CN" dirty="0">
                    <a:solidFill>
                      <a:srgbClr val="000000"/>
                    </a:solidFill>
                    <a:effectLst/>
                    <a:ea typeface="宋体" panose="02010600030101010101" pitchFamily="2" charset="-122"/>
                    <a:cs typeface="Times New Roman" panose="02020603050405020304" pitchFamily="18" charset="0"/>
                  </a:rPr>
                  <a:t>i,1,4</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2i,</a:t>
                </a:r>
                <a:r>
                  <a:rPr lang="zh-CN" altLang="zh-CN" dirty="0">
                    <a:solidFill>
                      <a:srgbClr val="000000"/>
                    </a:solidFill>
                    <a:effectLst/>
                    <a:ea typeface="宋体" panose="02010600030101010101" pitchFamily="2" charset="-122"/>
                    <a:cs typeface="Times New Roman" panose="02020603050405020304" pitchFamily="18" charset="0"/>
                  </a:rPr>
                  <a:t>由</a:t>
                </a:r>
                <a:r>
                  <a:rPr lang="en-US" altLang="zh-CN" i="1" dirty="0">
                    <a:solidFill>
                      <a:srgbClr val="000000"/>
                    </a:solidFill>
                    <a:effectLst/>
                    <a:ea typeface="宋体" panose="02010600030101010101" pitchFamily="2" charset="-122"/>
                    <a:cs typeface="Times New Roman" panose="02020603050405020304" pitchFamily="18" charset="0"/>
                  </a:rPr>
                  <a:t>A</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B</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C</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D</a:t>
                </a:r>
                <a:r>
                  <a:rPr lang="zh-CN" altLang="zh-CN" dirty="0">
                    <a:solidFill>
                      <a:srgbClr val="000000"/>
                    </a:solidFill>
                    <a:effectLst/>
                    <a:ea typeface="宋体" panose="02010600030101010101" pitchFamily="2" charset="-122"/>
                    <a:cs typeface="Times New Roman" panose="02020603050405020304" pitchFamily="18" charset="0"/>
                  </a:rPr>
                  <a:t>按逆时针顺序作</a:t>
                </a:r>
                <a:r>
                  <a:rPr lang="zh-CN" altLang="zh-CN" dirty="0">
                    <a:solidFill>
                      <a:srgbClr val="000000"/>
                    </a:solidFill>
                    <a:effectLst/>
                    <a:latin typeface="NEU-BZ-S92"/>
                    <a:ea typeface="MS Gothic" panose="020B0609070205080204" pitchFamily="49" charset="-128"/>
                    <a:cs typeface="MS Gothic" panose="020B0609070205080204" pitchFamily="49" charset="-128"/>
                  </a:rPr>
                  <a:t>▱</a:t>
                </a:r>
                <a:r>
                  <a:rPr lang="en-US" altLang="zh-CN" i="1" dirty="0">
                    <a:solidFill>
                      <a:srgbClr val="000000"/>
                    </a:solidFill>
                    <a:effectLst/>
                    <a:ea typeface="宋体" panose="02010600030101010101" pitchFamily="2" charset="-122"/>
                    <a:cs typeface="Times New Roman" panose="02020603050405020304" pitchFamily="18" charset="0"/>
                  </a:rPr>
                  <a:t>ABCD</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求向量</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𝐵𝐷</m:t>
                        </m:r>
                      </m:e>
                    </m:acc>
                  </m:oMath>
                </a14:m>
                <a:r>
                  <a:rPr lang="zh-CN" altLang="zh-CN" dirty="0">
                    <a:solidFill>
                      <a:srgbClr val="000000"/>
                    </a:solidFill>
                    <a:effectLst/>
                    <a:ea typeface="宋体" panose="02010600030101010101" pitchFamily="2" charset="-122"/>
                    <a:cs typeface="Times New Roman" panose="02020603050405020304" pitchFamily="18" charset="0"/>
                  </a:rPr>
                  <a:t>对应的复数</a:t>
                </a:r>
                <a:r>
                  <a:rPr lang="en-US" altLang="zh-CN" i="1" dirty="0">
                    <a:solidFill>
                      <a:srgbClr val="000000"/>
                    </a:solidFill>
                    <a:effectLst/>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审题视角</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(1)</a:t>
                </a:r>
                <a:r>
                  <a:rPr lang="zh-CN" altLang="zh-CN" dirty="0">
                    <a:solidFill>
                      <a:srgbClr val="000000"/>
                    </a:solidFill>
                    <a:effectLst/>
                    <a:ea typeface="宋体" panose="02010600030101010101" pitchFamily="2" charset="-122"/>
                    <a:cs typeface="Times New Roman" panose="02020603050405020304" pitchFamily="18" charset="0"/>
                  </a:rPr>
                  <a:t>根据复数与复平面内点的对应得出</a:t>
                </a:r>
                <a:r>
                  <a:rPr lang="en-US" altLang="zh-CN" i="1" dirty="0">
                    <a:solidFill>
                      <a:srgbClr val="000000"/>
                    </a:solidFill>
                    <a:effectLst/>
                    <a:ea typeface="宋体" panose="02010600030101010101" pitchFamily="2" charset="-122"/>
                    <a:cs typeface="Times New Roman" panose="02020603050405020304" pitchFamily="18" charset="0"/>
                  </a:rPr>
                  <a:t>A</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B</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C</a:t>
                </a:r>
                <a:r>
                  <a:rPr lang="zh-CN" altLang="zh-CN" dirty="0">
                    <a:solidFill>
                      <a:srgbClr val="000000"/>
                    </a:solidFill>
                    <a:effectLst/>
                    <a:ea typeface="宋体" panose="02010600030101010101" pitchFamily="2" charset="-122"/>
                    <a:cs typeface="Times New Roman" panose="02020603050405020304" pitchFamily="18" charset="0"/>
                  </a:rPr>
                  <a:t>的坐标</a:t>
                </a:r>
                <a:r>
                  <a:rPr lang="en-US" altLang="zh-CN" i="1" dirty="0">
                    <a:solidFill>
                      <a:srgbClr val="000000"/>
                    </a:solidFill>
                    <a:effectLst/>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ea typeface="宋体" panose="02010600030101010101" pitchFamily="2" charset="-122"/>
                    <a:cs typeface="Times New Roman" panose="02020603050405020304" pitchFamily="18" charset="0"/>
                  </a:rPr>
                  <a:t>(2)</a:t>
                </a:r>
                <a:r>
                  <a:rPr lang="zh-CN" altLang="zh-CN" dirty="0">
                    <a:solidFill>
                      <a:srgbClr val="000000"/>
                    </a:solidFill>
                    <a:effectLst/>
                    <a:ea typeface="宋体" panose="02010600030101010101" pitchFamily="2" charset="-122"/>
                    <a:cs typeface="Times New Roman" panose="02020603050405020304" pitchFamily="18" charset="0"/>
                  </a:rPr>
                  <a:t>利用平行四边形的性质得出点</a:t>
                </a:r>
                <a:r>
                  <a:rPr lang="en-US" altLang="zh-CN" i="1" dirty="0">
                    <a:solidFill>
                      <a:srgbClr val="000000"/>
                    </a:solidFill>
                    <a:effectLst/>
                    <a:ea typeface="宋体" panose="02010600030101010101" pitchFamily="2" charset="-122"/>
                    <a:cs typeface="Times New Roman" panose="02020603050405020304" pitchFamily="18" charset="0"/>
                  </a:rPr>
                  <a:t>D</a:t>
                </a:r>
                <a:r>
                  <a:rPr lang="zh-CN" altLang="zh-CN" dirty="0">
                    <a:solidFill>
                      <a:srgbClr val="000000"/>
                    </a:solidFill>
                    <a:effectLst/>
                    <a:ea typeface="宋体" panose="02010600030101010101" pitchFamily="2" charset="-122"/>
                    <a:cs typeface="Times New Roman" panose="02020603050405020304" pitchFamily="18" charset="0"/>
                  </a:rPr>
                  <a:t>的坐标</a:t>
                </a:r>
                <a:r>
                  <a:rPr lang="en-US" altLang="zh-CN" i="1" dirty="0">
                    <a:solidFill>
                      <a:srgbClr val="000000"/>
                    </a:solidFill>
                    <a:effectLst/>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ea typeface="宋体" panose="02010600030101010101" pitchFamily="2" charset="-122"/>
                    <a:cs typeface="Times New Roman" panose="02020603050405020304" pitchFamily="18" charset="0"/>
                  </a:rPr>
                  <a:t>(3)</a:t>
                </a:r>
                <a:r>
                  <a:rPr lang="zh-CN" altLang="zh-CN" dirty="0">
                    <a:solidFill>
                      <a:srgbClr val="000000"/>
                    </a:solidFill>
                    <a:effectLst/>
                    <a:ea typeface="宋体" panose="02010600030101010101" pitchFamily="2" charset="-122"/>
                    <a:cs typeface="Times New Roman" panose="02020603050405020304" pitchFamily="18" charset="0"/>
                  </a:rPr>
                  <a:t>根据复数加、减法的几何意义得出结果</a:t>
                </a:r>
                <a:r>
                  <a:rPr lang="en-US" altLang="zh-CN" i="1" dirty="0">
                    <a:solidFill>
                      <a:srgbClr val="000000"/>
                    </a:solidFill>
                    <a:effectLst/>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361950" y="1017671"/>
                <a:ext cx="10807700" cy="4391908"/>
              </a:xfrm>
              <a:prstGeom prst="rect">
                <a:avLst/>
              </a:prstGeom>
              <a:blipFill rotWithShape="0">
                <a:blip r:embed="rId2"/>
                <a:stretch>
                  <a:fillRect l="-1410" t="-1389" r="-2200" b="-4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wipe(down)">
                                      <p:cBhvr>
                                        <p:cTn id="10" dur="500"/>
                                        <p:tgtEl>
                                          <p:spTgt spid="2">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wipe(down)">
                                      <p:cBhvr>
                                        <p:cTn id="13"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595265091"/>
              </p:ext>
            </p:extLst>
          </p:nvPr>
        </p:nvGraphicFramePr>
        <p:xfrm>
          <a:off x="422613" y="1223863"/>
          <a:ext cx="11705058" cy="3849130"/>
        </p:xfrm>
        <a:graphic>
          <a:graphicData uri="http://schemas.openxmlformats.org/presentationml/2006/ole">
            <mc:AlternateContent xmlns:mc="http://schemas.openxmlformats.org/markup-compatibility/2006">
              <mc:Choice xmlns:v="urn:schemas-microsoft-com:vml" Requires="v">
                <p:oleObj spid="_x0000_s15369" name="文档" r:id="rId4" imgW="3837724" imgH="1262010" progId="Word.Document.12">
                  <p:embed/>
                </p:oleObj>
              </mc:Choice>
              <mc:Fallback>
                <p:oleObj name="文档" r:id="rId4" imgW="3837724" imgH="1262010" progId="Word.Document.12">
                  <p:embed/>
                  <p:pic>
                    <p:nvPicPr>
                      <p:cNvPr id="0" name=""/>
                      <p:cNvPicPr/>
                      <p:nvPr/>
                    </p:nvPicPr>
                    <p:blipFill>
                      <a:blip r:embed="rId5"/>
                      <a:stretch>
                        <a:fillRect/>
                      </a:stretch>
                    </p:blipFill>
                    <p:spPr>
                      <a:xfrm>
                        <a:off x="422613" y="1223863"/>
                        <a:ext cx="11705058" cy="3849130"/>
                      </a:xfrm>
                      <a:prstGeom prst="rect">
                        <a:avLst/>
                      </a:prstGeom>
                    </p:spPr>
                  </p:pic>
                </p:oleObj>
              </mc:Fallback>
            </mc:AlternateContent>
          </a:graphicData>
        </a:graphic>
      </p:graphicFrame>
      <p:pic>
        <p:nvPicPr>
          <p:cNvPr id="6" name="EMG2TRA08.eps" descr="id:2147498926;FounderCES"/>
          <p:cNvPicPr/>
          <p:nvPr/>
        </p:nvPicPr>
        <p:blipFill>
          <a:blip r:embed="rId6"/>
          <a:stretch>
            <a:fillRect/>
          </a:stretch>
        </p:blipFill>
        <p:spPr>
          <a:xfrm>
            <a:off x="6615301" y="1871934"/>
            <a:ext cx="3960440" cy="2799783"/>
          </a:xfrm>
          <a:prstGeom prst="rect">
            <a:avLst/>
          </a:prstGeom>
        </p:spPr>
      </p:pic>
    </p:spTree>
    <p:extLst>
      <p:ext uri="{BB962C8B-B14F-4D97-AF65-F5344CB8AC3E}">
        <p14:creationId xmlns:p14="http://schemas.microsoft.com/office/powerpoint/2010/main" val="2899577879"/>
      </p:ext>
    </p:extLst>
  </p:cSld>
  <p:clrMapOvr>
    <a:masterClrMapping/>
  </p:clrMapOvr>
  <p:transition spd="slow">
    <p:randomBar dir="ver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950" y="1223863"/>
            <a:ext cx="10807700" cy="3585533"/>
            <a:chOff x="361950" y="1079847"/>
            <a:chExt cx="10807700" cy="3585533"/>
          </a:xfrm>
        </p:grpSpPr>
        <p:pic>
          <p:nvPicPr>
            <p:cNvPr id="4" name="方法点睛H.eps" descr="id:2147499037;FounderCES"/>
            <p:cNvPicPr/>
            <p:nvPr/>
          </p:nvPicPr>
          <p:blipFill>
            <a:blip r:embed="rId2"/>
            <a:stretch>
              <a:fillRect/>
            </a:stretch>
          </p:blipFill>
          <p:spPr>
            <a:xfrm>
              <a:off x="361950" y="1079847"/>
              <a:ext cx="2259558" cy="531552"/>
            </a:xfrm>
            <a:prstGeom prst="rect">
              <a:avLst/>
            </a:prstGeom>
          </p:spPr>
        </p:pic>
        <p:sp>
          <p:nvSpPr>
            <p:cNvPr id="2" name="矩形 1"/>
            <p:cNvSpPr>
              <a:spLocks noChangeAspect="1"/>
            </p:cNvSpPr>
            <p:nvPr/>
          </p:nvSpPr>
          <p:spPr>
            <a:xfrm>
              <a:off x="361950" y="1674946"/>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解决此类问题的关键是先由题意正确地画出图形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再根据三角形法则或平行四边形法则借助复数相等即可求解</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复数的表示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点和向量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、复数的模的几何意义及复数运算的几何意义充分体现了数形结合这一重要的数学思想方法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即通过几何图形来研究代数问题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614652241"/>
      </p:ext>
    </p:extLst>
  </p:cSld>
  <p:clrMapOvr>
    <a:masterClrMapping/>
  </p:clrMapOvr>
  <p:transition spd="slow">
    <p:randomBa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629595"/>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zh-CN" altLang="zh-CN" dirty="0">
                <a:solidFill>
                  <a:srgbClr val="000000"/>
                </a:solidFill>
                <a:latin typeface="NEU-BZ-S92" panose="02020503000000020003" pitchFamily="18" charset="-12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在复平面内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点</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分别对应复数</a:t>
            </a:r>
            <a:r>
              <a:rPr lang="en-US" altLang="zh-CN" i="1">
                <a:solidFill>
                  <a:srgbClr val="000000"/>
                </a:solidFill>
                <a:ea typeface="宋体" panose="02010600030101010101" pitchFamily="2" charset="-122"/>
                <a:cs typeface="Times New Roman" panose="02020603050405020304" pitchFamily="18" charset="0"/>
              </a:rPr>
              <a:t>z</a:t>
            </a:r>
            <a:r>
              <a:rPr lang="en-US" altLang="zh-CN" baseline="-25000">
                <a:solidFill>
                  <a:srgbClr val="000000"/>
                </a:solidFill>
                <a:ea typeface="宋体" panose="02010600030101010101" pitchFamily="2" charset="-122"/>
                <a:cs typeface="Times New Roman" panose="02020603050405020304" pitchFamily="18" charset="0"/>
              </a:rPr>
              <a:t>1</a:t>
            </a:r>
            <a:r>
              <a:rPr lang="en-US" altLang="zh-CN" i="1">
                <a:solidFill>
                  <a:srgbClr val="000000"/>
                </a:solidFill>
                <a:ea typeface="宋体" panose="02010600030101010101" pitchFamily="2" charset="-122"/>
                <a:cs typeface="Times New Roman" panose="02020603050405020304" pitchFamily="18" charset="0"/>
              </a:rPr>
              <a:t>=</a:t>
            </a:r>
            <a:r>
              <a:rPr lang="en-US" altLang="zh-CN">
                <a:solidFill>
                  <a:srgbClr val="000000"/>
                </a:solidFill>
                <a:ea typeface="宋体" panose="02010600030101010101" pitchFamily="2" charset="-122"/>
                <a:cs typeface="Times New Roman" panose="02020603050405020304" pitchFamily="18" charset="0"/>
              </a:rPr>
              <a:t>1</a:t>
            </a:r>
            <a:r>
              <a:rPr lang="en-US" altLang="zh-CN" i="1">
                <a:solidFill>
                  <a:srgbClr val="000000"/>
                </a:solidFill>
                <a:ea typeface="宋体" panose="02010600030101010101" pitchFamily="2" charset="-122"/>
                <a:cs typeface="Times New Roman" panose="02020603050405020304" pitchFamily="18" charset="0"/>
              </a:rPr>
              <a:t>+</a:t>
            </a:r>
            <a:r>
              <a:rPr lang="en-US" altLang="zh-CN">
                <a:solidFill>
                  <a:srgbClr val="000000"/>
                </a:solidFill>
                <a:ea typeface="宋体" panose="02010600030101010101" pitchFamily="2" charset="-122"/>
                <a:cs typeface="Times New Roman" panose="02020603050405020304" pitchFamily="18" charset="0"/>
              </a:rPr>
              <a:t>i</a:t>
            </a:r>
            <a:r>
              <a:rPr lang="en-US" altLang="zh-CN" smtClean="0">
                <a:solidFill>
                  <a:srgbClr val="000000"/>
                </a:solidFill>
                <a:ea typeface="宋体" panose="02010600030101010101" pitchFamily="2" charset="-122"/>
                <a:cs typeface="Times New Roman" panose="02020603050405020304" pitchFamily="18" charset="0"/>
              </a:rPr>
              <a:t>, </a:t>
            </a:r>
            <a:r>
              <a:rPr lang="en-US" altLang="zh-CN" i="1" smtClean="0">
                <a:solidFill>
                  <a:srgbClr val="000000"/>
                </a:solidFill>
                <a:ea typeface="宋体" panose="02010600030101010101" pitchFamily="2" charset="-122"/>
                <a:cs typeface="Times New Roman" panose="02020603050405020304" pitchFamily="18" charset="0"/>
              </a:rPr>
              <a:t>z</a:t>
            </a:r>
            <a:r>
              <a:rPr lang="en-US" altLang="zh-CN" baseline="-25000" smtClean="0">
                <a:solidFill>
                  <a:srgbClr val="000000"/>
                </a:solidFill>
                <a:ea typeface="宋体" panose="02010600030101010101" pitchFamily="2" charset="-122"/>
                <a:cs typeface="Times New Roman" panose="02020603050405020304" pitchFamily="18" charset="0"/>
              </a:rPr>
              <a:t>2</a:t>
            </a:r>
            <a:r>
              <a:rPr lang="en-US" altLang="zh-CN" i="1" smtClean="0">
                <a:solidFill>
                  <a:srgbClr val="000000"/>
                </a:solidFill>
                <a:ea typeface="宋体" panose="02010600030101010101" pitchFamily="2" charset="-122"/>
                <a:cs typeface="Times New Roman" panose="02020603050405020304" pitchFamily="18" charset="0"/>
              </a:rPr>
              <a:t>=</a:t>
            </a:r>
            <a:r>
              <a:rPr lang="en-US" altLang="zh-CN" smtClean="0">
                <a:solidFill>
                  <a:srgbClr val="000000"/>
                </a:solidFill>
                <a:ea typeface="宋体" panose="02010600030101010101" pitchFamily="2" charset="-122"/>
                <a:cs typeface="Times New Roman" panose="02020603050405020304" pitchFamily="18" charset="0"/>
              </a:rPr>
              <a:t>5</a:t>
            </a:r>
            <a:r>
              <a:rPr lang="en-US" altLang="zh-CN" i="1" smtClean="0">
                <a:solidFill>
                  <a:srgbClr val="000000"/>
                </a:solidFill>
                <a:ea typeface="宋体" panose="02010600030101010101" pitchFamily="2" charset="-122"/>
                <a:cs typeface="Times New Roman" panose="02020603050405020304" pitchFamily="18" charset="0"/>
              </a:rPr>
              <a:t>+</a:t>
            </a:r>
            <a:r>
              <a:rPr lang="en-US" altLang="zh-CN" smtClean="0">
                <a:solidFill>
                  <a:srgbClr val="000000"/>
                </a:solidFill>
                <a:ea typeface="宋体" panose="02010600030101010101" pitchFamily="2" charset="-122"/>
                <a:cs typeface="Times New Roman" panose="02020603050405020304" pitchFamily="18" charset="0"/>
              </a:rPr>
              <a:t>i,</a:t>
            </a:r>
            <a:r>
              <a:rPr lang="en-US" altLang="zh-CN" i="1" smtClean="0">
                <a:solidFill>
                  <a:srgbClr val="000000"/>
                </a:solidFill>
                <a:ea typeface="宋体" panose="02010600030101010101" pitchFamily="2" charset="-122"/>
                <a:cs typeface="Times New Roman" panose="02020603050405020304" pitchFamily="18" charset="0"/>
              </a:rPr>
              <a:t>z</a:t>
            </a:r>
            <a:r>
              <a:rPr lang="en-US" altLang="zh-CN" baseline="-25000" smtClean="0">
                <a:solidFill>
                  <a:srgbClr val="000000"/>
                </a:solidFill>
                <a:ea typeface="宋体" panose="02010600030101010101" pitchFamily="2" charset="-122"/>
                <a:cs typeface="Times New Roman" panose="02020603050405020304" pitchFamily="18" charset="0"/>
              </a:rPr>
              <a:t>3</a:t>
            </a:r>
            <a:r>
              <a:rPr lang="en-US" altLang="zh-CN" i="1" smtClean="0">
                <a:solidFill>
                  <a:srgbClr val="000000"/>
                </a:solidFill>
                <a:ea typeface="宋体" panose="02010600030101010101" pitchFamily="2" charset="-122"/>
                <a:cs typeface="Times New Roman" panose="02020603050405020304" pitchFamily="18" charset="0"/>
              </a:rPr>
              <a:t>=</a:t>
            </a:r>
            <a:r>
              <a:rPr lang="en-US" altLang="zh-CN" smtClean="0">
                <a:solidFill>
                  <a:srgbClr val="000000"/>
                </a:solidFill>
                <a:ea typeface="宋体" panose="02010600030101010101" pitchFamily="2" charset="-122"/>
                <a:cs typeface="Times New Roman" panose="02020603050405020304" pitchFamily="18" charset="0"/>
              </a:rPr>
              <a:t>3</a:t>
            </a:r>
            <a:r>
              <a:rPr lang="en-US" altLang="zh-CN" i="1" smtClean="0">
                <a:solidFill>
                  <a:srgbClr val="000000"/>
                </a:solidFill>
                <a:ea typeface="宋体" panose="02010600030101010101" pitchFamily="2" charset="-122"/>
                <a:cs typeface="Times New Roman" panose="02020603050405020304" pitchFamily="18" charset="0"/>
              </a:rPr>
              <a:t>+</a:t>
            </a:r>
            <a:r>
              <a:rPr lang="en-US" altLang="zh-CN" smtClean="0">
                <a:solidFill>
                  <a:srgbClr val="000000"/>
                </a:solidFill>
                <a:ea typeface="宋体" panose="02010600030101010101" pitchFamily="2" charset="-122"/>
                <a:cs typeface="Times New Roman" panose="02020603050405020304" pitchFamily="18" charset="0"/>
              </a:rPr>
              <a:t>3i</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以</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AC</a:t>
            </a:r>
            <a:r>
              <a:rPr lang="zh-CN" altLang="zh-CN" dirty="0">
                <a:solidFill>
                  <a:srgbClr val="000000"/>
                </a:solidFill>
                <a:ea typeface="宋体" panose="02010600030101010101" pitchFamily="2" charset="-122"/>
                <a:cs typeface="Times New Roman" panose="02020603050405020304" pitchFamily="18" charset="0"/>
              </a:rPr>
              <a:t>为邻边作</a:t>
            </a:r>
            <a:r>
              <a:rPr lang="zh-CN" altLang="zh-CN" dirty="0">
                <a:solidFill>
                  <a:srgbClr val="000000"/>
                </a:solidFill>
                <a:latin typeface="NEU-BZ-S92" panose="02020503000000020003" pitchFamily="18" charset="-122"/>
                <a:ea typeface="MS Gothic" panose="020B0609070205080204" pitchFamily="49" charset="-128"/>
                <a:cs typeface="MS Gothic" panose="020B0609070205080204" pitchFamily="49" charset="-128"/>
              </a:rPr>
              <a:t>▱</a:t>
            </a:r>
            <a:r>
              <a:rPr lang="en-US" altLang="zh-CN" i="1" dirty="0">
                <a:solidFill>
                  <a:srgbClr val="000000"/>
                </a:solidFill>
                <a:ea typeface="宋体" panose="02010600030101010101" pitchFamily="2" charset="-122"/>
                <a:cs typeface="Times New Roman" panose="02020603050405020304" pitchFamily="18" charset="0"/>
              </a:rPr>
              <a:t>ABDC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求点</a:t>
            </a:r>
            <a:r>
              <a:rPr lang="en-US" altLang="zh-CN" i="1"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对应的复数</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及</a:t>
            </a:r>
            <a:r>
              <a:rPr lang="en-US" altLang="zh-CN" i="1" dirty="0">
                <a:solidFill>
                  <a:srgbClr val="000000"/>
                </a:solidFill>
                <a:ea typeface="宋体" panose="02010600030101010101" pitchFamily="2" charset="-122"/>
                <a:cs typeface="Times New Roman" panose="02020603050405020304" pitchFamily="18" charset="0"/>
              </a:rPr>
              <a:t>AD</a:t>
            </a:r>
            <a:r>
              <a:rPr lang="zh-CN" altLang="zh-CN" dirty="0">
                <a:solidFill>
                  <a:srgbClr val="000000"/>
                </a:solidFill>
                <a:ea typeface="宋体" panose="02010600030101010101" pitchFamily="2" charset="-122"/>
                <a:cs typeface="Times New Roman" panose="02020603050405020304" pitchFamily="18" charset="0"/>
              </a:rPr>
              <a:t>的长</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grpSp>
        <p:nvGrpSpPr>
          <p:cNvPr id="14" name="组合 13"/>
          <p:cNvGrpSpPr/>
          <p:nvPr/>
        </p:nvGrpSpPr>
        <p:grpSpPr>
          <a:xfrm>
            <a:off x="361950" y="2438167"/>
            <a:ext cx="11797399" cy="3898470"/>
            <a:chOff x="361950" y="2438167"/>
            <a:chExt cx="11797399" cy="3898470"/>
          </a:xfrm>
        </p:grpSpPr>
        <p:graphicFrame>
          <p:nvGraphicFramePr>
            <p:cNvPr id="4" name="对象 3"/>
            <p:cNvGraphicFramePr>
              <a:graphicFrameLocks noChangeAspect="1"/>
            </p:cNvGraphicFramePr>
            <p:nvPr>
              <p:extLst>
                <p:ext uri="{D42A27DB-BD31-4B8C-83A1-F6EECF244321}">
                  <p14:modId xmlns:p14="http://schemas.microsoft.com/office/powerpoint/2010/main" val="464336355"/>
                </p:ext>
              </p:extLst>
            </p:nvPr>
          </p:nvGraphicFramePr>
          <p:xfrm>
            <a:off x="454291" y="2438167"/>
            <a:ext cx="11705058" cy="1156938"/>
          </p:xfrm>
          <a:graphic>
            <a:graphicData uri="http://schemas.openxmlformats.org/presentationml/2006/ole">
              <mc:AlternateContent xmlns:mc="http://schemas.openxmlformats.org/markup-compatibility/2006">
                <mc:Choice xmlns:v="urn:schemas-microsoft-com:vml" Requires="v">
                  <p:oleObj spid="_x0000_s16397" name="文档" r:id="rId4" imgW="3837724" imgH="379324" progId="Word.Document.12">
                    <p:embed/>
                  </p:oleObj>
                </mc:Choice>
                <mc:Fallback>
                  <p:oleObj name="文档" r:id="rId4" imgW="3837724" imgH="379324" progId="Word.Document.12">
                    <p:embed/>
                    <p:pic>
                      <p:nvPicPr>
                        <p:cNvPr id="0" name=""/>
                        <p:cNvPicPr/>
                        <p:nvPr/>
                      </p:nvPicPr>
                      <p:blipFill>
                        <a:blip r:embed="rId5"/>
                        <a:stretch>
                          <a:fillRect/>
                        </a:stretch>
                      </p:blipFill>
                      <p:spPr>
                        <a:xfrm>
                          <a:off x="454291" y="2438167"/>
                          <a:ext cx="11705058" cy="1156938"/>
                        </a:xfrm>
                        <a:prstGeom prst="rect">
                          <a:avLst/>
                        </a:prstGeom>
                      </p:spPr>
                    </p:pic>
                  </p:oleObj>
                </mc:Fallback>
              </mc:AlternateContent>
            </a:graphicData>
          </a:graphic>
        </p:graphicFrame>
        <p:sp>
          <p:nvSpPr>
            <p:cNvPr id="6" name="矩形 5"/>
            <p:cNvSpPr>
              <a:spLocks noChangeAspect="1"/>
            </p:cNvSpPr>
            <p:nvPr/>
          </p:nvSpPr>
          <p:spPr>
            <a:xfrm>
              <a:off x="361950" y="4530660"/>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3i</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573183359"/>
                </p:ext>
              </p:extLst>
            </p:nvPr>
          </p:nvGraphicFramePr>
          <p:xfrm>
            <a:off x="435195" y="5760367"/>
            <a:ext cx="11705058" cy="576270"/>
          </p:xfrm>
          <a:graphic>
            <a:graphicData uri="http://schemas.openxmlformats.org/presentationml/2006/ole">
              <mc:AlternateContent xmlns:mc="http://schemas.openxmlformats.org/markup-compatibility/2006">
                <mc:Choice xmlns:v="urn:schemas-microsoft-com:vml" Requires="v">
                  <p:oleObj spid="_x0000_s16398" name="文档" r:id="rId7" imgW="3837724" imgH="188941" progId="Word.Document.12">
                    <p:embed/>
                  </p:oleObj>
                </mc:Choice>
                <mc:Fallback>
                  <p:oleObj name="文档" r:id="rId7" imgW="3837724" imgH="188941" progId="Word.Document.12">
                    <p:embed/>
                    <p:pic>
                      <p:nvPicPr>
                        <p:cNvPr id="0" name=""/>
                        <p:cNvPicPr/>
                        <p:nvPr/>
                      </p:nvPicPr>
                      <p:blipFill>
                        <a:blip r:embed="rId8"/>
                        <a:stretch>
                          <a:fillRect/>
                        </a:stretch>
                      </p:blipFill>
                      <p:spPr>
                        <a:xfrm>
                          <a:off x="435195" y="5760367"/>
                          <a:ext cx="11705058" cy="576270"/>
                        </a:xfrm>
                        <a:prstGeom prst="rect">
                          <a:avLst/>
                        </a:prstGeom>
                      </p:spPr>
                    </p:pic>
                  </p:oleObj>
                </mc:Fallback>
              </mc:AlternateContent>
            </a:graphicData>
          </a:graphic>
        </p:graphicFrame>
      </p:grpSp>
      <p:pic>
        <p:nvPicPr>
          <p:cNvPr id="15" name="EMG2TRA09.eps" descr="id:2147498940;FounderCES"/>
          <p:cNvPicPr/>
          <p:nvPr/>
        </p:nvPicPr>
        <p:blipFill>
          <a:blip r:embed="rId9"/>
          <a:stretch>
            <a:fillRect/>
          </a:stretch>
        </p:blipFill>
        <p:spPr>
          <a:xfrm>
            <a:off x="7561237" y="3671818"/>
            <a:ext cx="3168352" cy="2062470"/>
          </a:xfrm>
          <a:prstGeom prst="rect">
            <a:avLst/>
          </a:prstGeom>
        </p:spPr>
      </p:pic>
      <p:sp>
        <p:nvSpPr>
          <p:cNvPr id="3" name="矩形 2"/>
          <p:cNvSpPr>
            <a:spLocks noChangeAspect="1"/>
          </p:cNvSpPr>
          <p:nvPr/>
        </p:nvSpPr>
        <p:spPr>
          <a:xfrm>
            <a:off x="361950" y="1539294"/>
            <a:ext cx="10807700" cy="655564"/>
          </a:xfrm>
          <a:prstGeom prst="rect">
            <a:avLst/>
          </a:prstGeom>
        </p:spPr>
        <p:txBody>
          <a:bodyPr>
            <a:spAutoFit/>
          </a:bodyPr>
          <a:lstStyle/>
          <a:p>
            <a:pPr>
              <a:lnSpc>
                <a:spcPct val="120000"/>
              </a:lnSpc>
              <a:spcAft>
                <a:spcPts val="0"/>
              </a:spcAft>
              <a:tabLst>
                <a:tab pos="1188085" algn="l"/>
                <a:tab pos="2163445" algn="l"/>
                <a:tab pos="3142615" algn="l"/>
                <a:tab pos="4190365" algn="l"/>
              </a:tabLst>
            </a:pP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65981653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par>
                                <p:cTn id="8" presetID="14" presetClass="entr" presetSubtype="1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randombar(horizontal)">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031671"/>
            <a:ext cx="10807700" cy="417229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r>
              <a:rPr lang="zh-CN" altLang="zh-CN" dirty="0">
                <a:solidFill>
                  <a:srgbClr val="000000"/>
                </a:solidFill>
                <a:ea typeface="宋体" panose="02010600030101010101" pitchFamily="2" charset="-122"/>
                <a:cs typeface="Times New Roman" panose="02020603050405020304" pitchFamily="18" charset="0"/>
              </a:rPr>
              <a:t>的结果为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3i	B.3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5i	</a:t>
            </a:r>
            <a:r>
              <a:rPr lang="en-US" altLang="zh-CN" dirty="0" smtClean="0">
                <a:solidFill>
                  <a:srgbClr val="000000"/>
                </a:solidFill>
                <a:ea typeface="宋体" panose="02010600030101010101" pitchFamily="2" charset="-122"/>
                <a:cs typeface="Times New Roman" panose="02020603050405020304" pitchFamily="18" charset="0"/>
              </a:rPr>
              <a:t>	C.7</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8i</a:t>
            </a:r>
            <a:r>
              <a:rPr lang="en-US" altLang="zh-CN" dirty="0">
                <a:solidFill>
                  <a:srgbClr val="000000"/>
                </a:solidFill>
                <a:ea typeface="宋体" panose="02010600030101010101" pitchFamily="2" charset="-122"/>
                <a:cs typeface="Times New Roman" panose="02020603050405020304" pitchFamily="18" charset="0"/>
              </a:rPr>
              <a:t>	D.7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err="1">
                <a:solidFill>
                  <a:srgbClr val="000000"/>
                </a:solidFill>
                <a:ea typeface="宋体" panose="02010600030101010101" pitchFamily="2" charset="-122"/>
                <a:cs typeface="Times New Roman" panose="02020603050405020304" pitchFamily="18" charset="0"/>
              </a:rPr>
              <a:t>i</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8i</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0" dur="500"/>
                                        <p:tgtEl>
                                          <p:spTgt spid="2">
                                            <p:txEl>
                                              <p:pRg st="3" end="3"/>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3" dur="500"/>
                                        <p:tgtEl>
                                          <p:spTgt spid="2">
                                            <p:txEl>
                                              <p:pRg st="4" end="4"/>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6" dur="500"/>
                                        <p:tgtEl>
                                          <p:spTgt spid="2">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animEffect transition="in" filter="randombar(horizontal)">
                                      <p:cBhvr>
                                        <p:cTn id="21"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188154391"/>
              </p:ext>
            </p:extLst>
          </p:nvPr>
        </p:nvGraphicFramePr>
        <p:xfrm>
          <a:off x="504453" y="1007839"/>
          <a:ext cx="10640962" cy="996774"/>
        </p:xfrm>
        <a:graphic>
          <a:graphicData uri="http://schemas.openxmlformats.org/presentationml/2006/ole">
            <mc:AlternateContent xmlns:mc="http://schemas.openxmlformats.org/markup-compatibility/2006">
              <mc:Choice xmlns:v="urn:schemas-microsoft-com:vml" Requires="v">
                <p:oleObj spid="_x0000_s21514" name="文档" r:id="rId4" imgW="3837724" imgH="359492" progId="Word.Document.12">
                  <p:embed/>
                </p:oleObj>
              </mc:Choice>
              <mc:Fallback>
                <p:oleObj name="文档" r:id="rId4" imgW="3837724" imgH="359492" progId="Word.Document.12">
                  <p:embed/>
                  <p:pic>
                    <p:nvPicPr>
                      <p:cNvPr id="0" name=""/>
                      <p:cNvPicPr/>
                      <p:nvPr/>
                    </p:nvPicPr>
                    <p:blipFill>
                      <a:blip r:embed="rId5"/>
                      <a:stretch>
                        <a:fillRect/>
                      </a:stretch>
                    </p:blipFill>
                    <p:spPr>
                      <a:xfrm>
                        <a:off x="504453" y="1007839"/>
                        <a:ext cx="10640962" cy="996774"/>
                      </a:xfrm>
                      <a:prstGeom prst="rect">
                        <a:avLst/>
                      </a:prstGeom>
                    </p:spPr>
                  </p:pic>
                </p:oleObj>
              </mc:Fallback>
            </mc:AlternateContent>
          </a:graphicData>
        </a:graphic>
      </p:graphicFrame>
      <p:sp>
        <p:nvSpPr>
          <p:cNvPr id="4" name="矩形 3"/>
          <p:cNvSpPr>
            <a:spLocks noChangeAspect="1"/>
          </p:cNvSpPr>
          <p:nvPr/>
        </p:nvSpPr>
        <p:spPr>
          <a:xfrm>
            <a:off x="416113" y="2006991"/>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	B.</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	</a:t>
            </a:r>
            <a:r>
              <a:rPr lang="en-US" altLang="zh-CN" dirty="0" smtClean="0">
                <a:solidFill>
                  <a:srgbClr val="000000"/>
                </a:solidFill>
                <a:ea typeface="宋体" panose="02010600030101010101" pitchFamily="2" charset="-122"/>
                <a:cs typeface="Times New Roman" panose="02020603050405020304" pitchFamily="18" charset="0"/>
              </a:rPr>
              <a:t>	D.</a:t>
            </a:r>
            <a:r>
              <a:rPr lang="en-US" altLang="zh-CN" i="1" dirty="0" smtClean="0">
                <a:solidFill>
                  <a:srgbClr val="000000"/>
                </a:solidFill>
                <a:ea typeface="宋体" panose="02010600030101010101" pitchFamily="2" charset="-122"/>
                <a:cs typeface="Times New Roman" panose="02020603050405020304" pitchFamily="18" charset="0"/>
              </a:rPr>
              <a:t>z</a:t>
            </a:r>
            <a:r>
              <a:rPr lang="en-US" altLang="zh-CN" baseline="-25000" dirty="0" smtClean="0">
                <a:solidFill>
                  <a:srgbClr val="000000"/>
                </a:solidFill>
                <a:ea typeface="宋体" panose="02010600030101010101" pitchFamily="2" charset="-122"/>
                <a:cs typeface="Times New Roman" panose="02020603050405020304" pitchFamily="18" charset="0"/>
              </a:rPr>
              <a:t>1</a:t>
            </a:r>
            <a:r>
              <a:rPr lang="en-US" altLang="zh-CN" i="1" dirty="0" smtClean="0">
                <a:solidFill>
                  <a:srgbClr val="000000"/>
                </a:solidFill>
                <a:ea typeface="宋体" panose="02010600030101010101" pitchFamily="2" charset="-122"/>
                <a:cs typeface="Times New Roman" panose="02020603050405020304" pitchFamily="18" charset="0"/>
              </a:rPr>
              <a:t>+z</a:t>
            </a:r>
            <a:r>
              <a:rPr lang="en-US" altLang="zh-CN" baseline="-25000"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-z</a:t>
            </a:r>
            <a:r>
              <a:rPr lang="en-US" altLang="zh-CN" baseline="-25000" dirty="0" smtClean="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338613031"/>
              </p:ext>
            </p:extLst>
          </p:nvPr>
        </p:nvGraphicFramePr>
        <p:xfrm>
          <a:off x="442277" y="3354607"/>
          <a:ext cx="11705058" cy="1106351"/>
        </p:xfrm>
        <a:graphic>
          <a:graphicData uri="http://schemas.openxmlformats.org/presentationml/2006/ole">
            <mc:AlternateContent xmlns:mc="http://schemas.openxmlformats.org/markup-compatibility/2006">
              <mc:Choice xmlns:v="urn:schemas-microsoft-com:vml" Requires="v">
                <p:oleObj spid="_x0000_s21515" name="文档" r:id="rId7" imgW="3837724" imgH="362738" progId="Word.Document.12">
                  <p:embed/>
                </p:oleObj>
              </mc:Choice>
              <mc:Fallback>
                <p:oleObj name="文档" r:id="rId7" imgW="3837724" imgH="362738" progId="Word.Document.12">
                  <p:embed/>
                  <p:pic>
                    <p:nvPicPr>
                      <p:cNvPr id="0" name=""/>
                      <p:cNvPicPr/>
                      <p:nvPr/>
                    </p:nvPicPr>
                    <p:blipFill>
                      <a:blip r:embed="rId8"/>
                      <a:stretch>
                        <a:fillRect/>
                      </a:stretch>
                    </p:blipFill>
                    <p:spPr>
                      <a:xfrm>
                        <a:off x="442277" y="3354607"/>
                        <a:ext cx="11705058" cy="1106351"/>
                      </a:xfrm>
                      <a:prstGeom prst="rect">
                        <a:avLst/>
                      </a:prstGeom>
                    </p:spPr>
                  </p:pic>
                </p:oleObj>
              </mc:Fallback>
            </mc:AlternateContent>
          </a:graphicData>
        </a:graphic>
      </p:graphicFrame>
      <p:sp>
        <p:nvSpPr>
          <p:cNvPr id="6" name="矩形 5"/>
          <p:cNvSpPr>
            <a:spLocks noChangeAspect="1"/>
          </p:cNvSpPr>
          <p:nvPr/>
        </p:nvSpPr>
        <p:spPr>
          <a:xfrm>
            <a:off x="390769" y="4543551"/>
            <a:ext cx="154401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D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9102364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079847"/>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已知复数</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4)i,</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err="1">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为纯虚数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11" name="组合 10"/>
          <p:cNvGrpSpPr/>
          <p:nvPr/>
        </p:nvGrpSpPr>
        <p:grpSpPr>
          <a:xfrm>
            <a:off x="361950" y="2318648"/>
            <a:ext cx="11847561" cy="1798880"/>
            <a:chOff x="361950" y="1965305"/>
            <a:chExt cx="11847561" cy="1798880"/>
          </a:xfrm>
        </p:grpSpPr>
        <p:sp>
          <p:nvSpPr>
            <p:cNvPr id="9" name="矩形 8"/>
            <p:cNvSpPr>
              <a:spLocks noChangeAspect="1"/>
            </p:cNvSpPr>
            <p:nvPr/>
          </p:nvSpPr>
          <p:spPr>
            <a:xfrm>
              <a:off x="361950" y="1965305"/>
              <a:ext cx="10807700" cy="62671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6)</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楷体" panose="02010609060101010101" pitchFamily="49" charset="-122"/>
                  <a:cs typeface="Times New Roman" panose="02020603050405020304" pitchFamily="18" charset="0"/>
                </a:rPr>
                <a:t>为纯虚数</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1099636973"/>
                </p:ext>
              </p:extLst>
            </p:nvPr>
          </p:nvGraphicFramePr>
          <p:xfrm>
            <a:off x="504453" y="2638040"/>
            <a:ext cx="11705058" cy="1126145"/>
          </p:xfrm>
          <a:graphic>
            <a:graphicData uri="http://schemas.openxmlformats.org/presentationml/2006/ole">
              <mc:AlternateContent xmlns:mc="http://schemas.openxmlformats.org/markup-compatibility/2006">
                <mc:Choice xmlns:v="urn:schemas-microsoft-com:vml" Requires="v">
                  <p:oleObj spid="_x0000_s17423" name="文档" r:id="rId4" imgW="3837724" imgH="369228" progId="Word.Document.12">
                    <p:embed/>
                  </p:oleObj>
                </mc:Choice>
                <mc:Fallback>
                  <p:oleObj name="文档" r:id="rId4" imgW="3837724" imgH="369228" progId="Word.Document.12">
                    <p:embed/>
                    <p:pic>
                      <p:nvPicPr>
                        <p:cNvPr id="0" name=""/>
                        <p:cNvPicPr/>
                        <p:nvPr/>
                      </p:nvPicPr>
                      <p:blipFill>
                        <a:blip r:embed="rId5"/>
                        <a:stretch>
                          <a:fillRect/>
                        </a:stretch>
                      </p:blipFill>
                      <p:spPr>
                        <a:xfrm>
                          <a:off x="504453" y="2638040"/>
                          <a:ext cx="11705058" cy="1126145"/>
                        </a:xfrm>
                        <a:prstGeom prst="rect">
                          <a:avLst/>
                        </a:prstGeom>
                      </p:spPr>
                    </p:pic>
                  </p:oleObj>
                </mc:Fallback>
              </mc:AlternateContent>
            </a:graphicData>
          </a:graphic>
        </p:graphicFrame>
      </p:grpSp>
      <p:sp>
        <p:nvSpPr>
          <p:cNvPr id="12" name="矩形 11"/>
          <p:cNvSpPr>
            <a:spLocks noChangeAspect="1"/>
          </p:cNvSpPr>
          <p:nvPr/>
        </p:nvSpPr>
        <p:spPr>
          <a:xfrm>
            <a:off x="361950" y="4213007"/>
            <a:ext cx="1588897"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76995956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randombar(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75791"/>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计算</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设</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2i,</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6i,</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7" name="组合 6"/>
          <p:cNvGrpSpPr/>
          <p:nvPr/>
        </p:nvGrpSpPr>
        <p:grpSpPr>
          <a:xfrm>
            <a:off x="361950" y="1803264"/>
            <a:ext cx="11827897" cy="4579551"/>
            <a:chOff x="361950" y="1803264"/>
            <a:chExt cx="11827897" cy="4579551"/>
          </a:xfrm>
        </p:grpSpPr>
        <p:sp>
          <p:nvSpPr>
            <p:cNvPr id="4" name="矩形 3"/>
            <p:cNvSpPr>
              <a:spLocks noChangeAspect="1"/>
            </p:cNvSpPr>
            <p:nvPr/>
          </p:nvSpPr>
          <p:spPr>
            <a:xfrm>
              <a:off x="361950" y="1803264"/>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dirty="0" err="1">
                  <a:solidFill>
                    <a:srgbClr val="000000"/>
                  </a:solidFill>
                  <a:ea typeface="宋体" panose="02010600030101010101" pitchFamily="2" charset="-122"/>
                  <a:cs typeface="Times New Roman" panose="02020603050405020304" pitchFamily="18" charset="0"/>
                </a:rPr>
                <a:t>i</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2i,</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6i,</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6i,</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841289724"/>
                </p:ext>
              </p:extLst>
            </p:nvPr>
          </p:nvGraphicFramePr>
          <p:xfrm>
            <a:off x="484789" y="4803530"/>
            <a:ext cx="11705058" cy="1013969"/>
          </p:xfrm>
          <a:graphic>
            <a:graphicData uri="http://schemas.openxmlformats.org/presentationml/2006/ole">
              <mc:AlternateContent xmlns:mc="http://schemas.openxmlformats.org/markup-compatibility/2006">
                <mc:Choice xmlns:v="urn:schemas-microsoft-com:vml" Requires="v">
                  <p:oleObj spid="_x0000_s22534" name="文档" r:id="rId4" imgW="3837724" imgH="332449" progId="Word.Document.12">
                    <p:embed/>
                  </p:oleObj>
                </mc:Choice>
                <mc:Fallback>
                  <p:oleObj name="文档" r:id="rId4" imgW="3837724" imgH="332449" progId="Word.Document.12">
                    <p:embed/>
                    <p:pic>
                      <p:nvPicPr>
                        <p:cNvPr id="0" name=""/>
                        <p:cNvPicPr/>
                        <p:nvPr/>
                      </p:nvPicPr>
                      <p:blipFill>
                        <a:blip r:embed="rId5"/>
                        <a:stretch>
                          <a:fillRect/>
                        </a:stretch>
                      </p:blipFill>
                      <p:spPr>
                        <a:xfrm>
                          <a:off x="484789" y="4803530"/>
                          <a:ext cx="11705058" cy="1013969"/>
                        </a:xfrm>
                        <a:prstGeom prst="rect">
                          <a:avLst/>
                        </a:prstGeom>
                      </p:spPr>
                    </p:pic>
                  </p:oleObj>
                </mc:Fallback>
              </mc:AlternateContent>
            </a:graphicData>
          </a:graphic>
        </p:graphicFrame>
        <p:sp>
          <p:nvSpPr>
            <p:cNvPr id="6" name="矩形 5"/>
            <p:cNvSpPr>
              <a:spLocks noChangeAspect="1"/>
            </p:cNvSpPr>
            <p:nvPr/>
          </p:nvSpPr>
          <p:spPr>
            <a:xfrm>
              <a:off x="361950" y="5756105"/>
              <a:ext cx="10807700" cy="62671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10i</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856015107"/>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89</TotalTime>
  <Words>1354</Words>
  <Application>Microsoft Office PowerPoint</Application>
  <PresentationFormat>自定义</PresentationFormat>
  <Paragraphs>114</Paragraphs>
  <Slides>39</Slides>
  <Notes>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56" baseType="lpstr">
      <vt:lpstr>MS Gothic</vt:lpstr>
      <vt:lpstr>NEU-BZ-S92</vt:lpstr>
      <vt:lpstr>方正书宋_GBK</vt:lpstr>
      <vt:lpstr>方正正中黑简体</vt:lpstr>
      <vt:lpstr>仿宋</vt:lpstr>
      <vt:lpstr>黑体</vt:lpstr>
      <vt:lpstr>华文新魏</vt:lpstr>
      <vt:lpstr>楷体</vt:lpstr>
      <vt:lpstr>隶书</vt:lpstr>
      <vt:lpstr>宋体</vt:lpstr>
      <vt:lpstr>微软雅黑</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20</cp:revision>
  <dcterms:created xsi:type="dcterms:W3CDTF">2020-09-12T05:36:12Z</dcterms:created>
  <dcterms:modified xsi:type="dcterms:W3CDTF">2025-09-04T05:32:46Z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