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731" r:id="rId2"/>
    <p:sldId id="753" r:id="rId3"/>
    <p:sldId id="736" r:id="rId4"/>
    <p:sldId id="744" r:id="rId5"/>
    <p:sldId id="746" r:id="rId6"/>
    <p:sldId id="749" r:id="rId7"/>
    <p:sldId id="756" r:id="rId8"/>
    <p:sldId id="758" r:id="rId9"/>
    <p:sldId id="759" r:id="rId10"/>
    <p:sldId id="760" r:id="rId11"/>
    <p:sldId id="761" r:id="rId12"/>
    <p:sldId id="762" r:id="rId13"/>
    <p:sldId id="763" r:id="rId14"/>
    <p:sldId id="764" r:id="rId15"/>
    <p:sldId id="765" r:id="rId16"/>
    <p:sldId id="737" r:id="rId17"/>
    <p:sldId id="750" r:id="rId18"/>
    <p:sldId id="780" r:id="rId19"/>
    <p:sldId id="781" r:id="rId20"/>
    <p:sldId id="779" r:id="rId21"/>
    <p:sldId id="766" r:id="rId22"/>
    <p:sldId id="767" r:id="rId23"/>
    <p:sldId id="768" r:id="rId24"/>
    <p:sldId id="769" r:id="rId25"/>
    <p:sldId id="754" r:id="rId26"/>
    <p:sldId id="770" r:id="rId27"/>
    <p:sldId id="771" r:id="rId28"/>
    <p:sldId id="747" r:id="rId29"/>
    <p:sldId id="751" r:id="rId30"/>
    <p:sldId id="772" r:id="rId31"/>
    <p:sldId id="773" r:id="rId32"/>
    <p:sldId id="774" r:id="rId33"/>
    <p:sldId id="748" r:id="rId34"/>
    <p:sldId id="752" r:id="rId35"/>
    <p:sldId id="775" r:id="rId36"/>
    <p:sldId id="776" r:id="rId37"/>
    <p:sldId id="777" r:id="rId38"/>
    <p:sldId id="735" r:id="rId39"/>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38</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3.xml"/><Relationship Id="rId5" Type="http://schemas.openxmlformats.org/officeDocument/2006/relationships/slide" Target="slide28.xml"/><Relationship Id="rId4" Type="http://schemas.openxmlformats.org/officeDocument/2006/relationships/slide" Target="slide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slide" Target="slide17.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oleObject" Target="../embeddings/oleObject4.bin"/><Relationship Id="rId7" Type="http://schemas.openxmlformats.org/officeDocument/2006/relationships/package" Target="../embeddings/Microsoft_Word___5.docx"/><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7.emf"/><Relationship Id="rId4" Type="http://schemas.openxmlformats.org/officeDocument/2006/relationships/package" Target="../embeddings/Microsoft_Word___4.docx"/></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6.bin"/><Relationship Id="rId7" Type="http://schemas.openxmlformats.org/officeDocument/2006/relationships/package" Target="../embeddings/Microsoft_Word___7.docx"/><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10.emf"/><Relationship Id="rId4" Type="http://schemas.openxmlformats.org/officeDocument/2006/relationships/package" Target="../embeddings/Microsoft_Word___6.docx"/></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12.emf"/><Relationship Id="rId5" Type="http://schemas.openxmlformats.org/officeDocument/2006/relationships/package" Target="../embeddings/Microsoft_Word___8.docx"/><Relationship Id="rId4" Type="http://schemas.openxmlformats.org/officeDocument/2006/relationships/oleObject" Target="../embeddings/oleObject8.bin"/></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4.emf"/><Relationship Id="rId4" Type="http://schemas.openxmlformats.org/officeDocument/2006/relationships/package" Target="../embeddings/Microsoft_Word___9.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5.emf"/><Relationship Id="rId4" Type="http://schemas.openxmlformats.org/officeDocument/2006/relationships/package" Target="../embeddings/Microsoft_Word___10.docx"/></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1.bin"/><Relationship Id="rId7" Type="http://schemas.openxmlformats.org/officeDocument/2006/relationships/package" Target="../embeddings/Microsoft_Word___12.docx"/><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oleObject" Target="../embeddings/oleObject12.bin"/><Relationship Id="rId5" Type="http://schemas.openxmlformats.org/officeDocument/2006/relationships/image" Target="../media/image16.emf"/><Relationship Id="rId4" Type="http://schemas.openxmlformats.org/officeDocument/2006/relationships/package" Target="../embeddings/Microsoft_Word___11.docx"/></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8.emf"/><Relationship Id="rId4" Type="http://schemas.openxmlformats.org/officeDocument/2006/relationships/package" Target="../embeddings/Microsoft_Word___13.docx"/></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19.emf"/><Relationship Id="rId4" Type="http://schemas.openxmlformats.org/officeDocument/2006/relationships/package" Target="../embeddings/Microsoft_Word___14.docx"/></Relationships>
</file>

<file path=ppt/slides/_rels/slide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21.emf"/><Relationship Id="rId4" Type="http://schemas.openxmlformats.org/officeDocument/2006/relationships/package" Target="../embeddings/Microsoft_Word___15.docx"/></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22.emf"/><Relationship Id="rId4" Type="http://schemas.openxmlformats.org/officeDocument/2006/relationships/package" Target="../embeddings/Microsoft_Word___16.docx"/></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23.emf"/><Relationship Id="rId4" Type="http://schemas.openxmlformats.org/officeDocument/2006/relationships/package" Target="../embeddings/Microsoft_Word___17.docx"/></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460069"/>
            <a:ext cx="10807700" cy="996042"/>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5400" dirty="0">
                <a:solidFill>
                  <a:srgbClr val="002060"/>
                </a:solidFill>
                <a:ea typeface="宋体" panose="02010600030101010101" pitchFamily="2" charset="-122"/>
                <a:cs typeface="Times New Roman" panose="02020603050405020304" pitchFamily="18" charset="0"/>
              </a:rPr>
              <a:t>7.1.1</a:t>
            </a:r>
            <a:r>
              <a:rPr lang="zh-CN" altLang="zh-CN" sz="5400" dirty="0">
                <a:solidFill>
                  <a:srgbClr val="002060"/>
                </a:solidFill>
                <a:ea typeface="宋体" panose="02010600030101010101" pitchFamily="2" charset="-122"/>
                <a:cs typeface="Times New Roman" panose="02020603050405020304" pitchFamily="18" charset="0"/>
              </a:rPr>
              <a:t>　</a:t>
            </a:r>
            <a:r>
              <a:rPr lang="zh-CN" altLang="zh-CN" sz="54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数系的扩充和复数的概念</a:t>
            </a:r>
            <a:endParaRPr lang="zh-CN" altLang="zh-CN" sz="54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727919"/>
            <a:ext cx="10729192" cy="2596834"/>
            <a:chOff x="360437" y="1511895"/>
            <a:chExt cx="10729192" cy="2596834"/>
          </a:xfrm>
        </p:grpSpPr>
        <p:grpSp>
          <p:nvGrpSpPr>
            <p:cNvPr id="13" name="组合 12"/>
            <p:cNvGrpSpPr/>
            <p:nvPr/>
          </p:nvGrpSpPr>
          <p:grpSpPr>
            <a:xfrm>
              <a:off x="360437" y="1511895"/>
              <a:ext cx="10729192" cy="2596834"/>
              <a:chOff x="360437" y="2003718"/>
              <a:chExt cx="10729192" cy="1773673"/>
            </a:xfrm>
          </p:grpSpPr>
          <p:sp>
            <p:nvSpPr>
              <p:cNvPr id="2" name="圆角矩形 1"/>
              <p:cNvSpPr/>
              <p:nvPr/>
            </p:nvSpPr>
            <p:spPr>
              <a:xfrm>
                <a:off x="360437" y="2003718"/>
                <a:ext cx="10729192" cy="177367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2029785"/>
                <a:ext cx="0" cy="1699769"/>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159967"/>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545797"/>
              <a:ext cx="8496944" cy="2399503"/>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通过方程的解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认识复数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理解复数的代数表示及相关概念</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理解两个复数相等的含义</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zh-CN" altLang="zh-CN" dirty="0">
                  <a:solidFill>
                    <a:srgbClr val="000000"/>
                  </a:solidFill>
                  <a:ea typeface="楷体" panose="02010609060101010101" pitchFamily="49" charset="-122"/>
                  <a:cs typeface="Times New Roman" panose="02020603050405020304" pitchFamily="18" charset="0"/>
                </a:rPr>
                <a:t>体会数学抽象的过程</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提升数学运算素养</a:t>
              </a:r>
              <a:r>
                <a:rPr lang="en-US" altLang="zh-CN"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易</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错</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辨</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析</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51855"/>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一、复数的概念及表示</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为了解决</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这样的方程在有理数集中无解的问题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人们把有理数集扩充到实数集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我们知道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在实数集中无解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是否能引入新数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适当扩充实数集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使这个方程在新数集中有解呢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可以</a:t>
            </a:r>
            <a:r>
              <a:rPr lang="zh-CN" altLang="zh-CN" dirty="0">
                <a:solidFill>
                  <a:srgbClr val="000000"/>
                </a:solidFill>
                <a:ea typeface="楷体" panose="02010609060101010101" pitchFamily="49" charset="-122"/>
                <a:cs typeface="Times New Roman" panose="02020603050405020304" pitchFamily="18" charset="0"/>
              </a:rPr>
              <a:t>引入一个新数</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使得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楷体" panose="02010609060101010101" pitchFamily="49" charset="-122"/>
                <a:cs typeface="Times New Roman" panose="02020603050405020304" pitchFamily="18" charset="0"/>
              </a:rPr>
              <a:t>是方程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的解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即使得</a:t>
            </a:r>
            <a:r>
              <a:rPr lang="en-US" altLang="zh-CN" dirty="0">
                <a:solidFill>
                  <a:srgbClr val="000000"/>
                </a:solidFill>
                <a:ea typeface="宋体" panose="02010600030101010101" pitchFamily="2" charset="-122"/>
                <a:cs typeface="Times New Roman" panose="02020603050405020304" pitchFamily="18" charset="0"/>
              </a:rPr>
              <a:t>i</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367879"/>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复数的定义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我们把形如</a:t>
            </a:r>
            <a:r>
              <a:rPr lang="en-US" altLang="zh-CN" i="1" dirty="0" err="1">
                <a:ea typeface="宋体" panose="02010600030101010101" pitchFamily="2" charset="-122"/>
                <a:cs typeface="Times New Roman" panose="02020603050405020304" pitchFamily="18" charset="0"/>
              </a:rPr>
              <a:t>a+b</a:t>
            </a:r>
            <a:r>
              <a:rPr lang="en-US" altLang="zh-CN" dirty="0" err="1">
                <a:ea typeface="宋体" panose="02010600030101010101" pitchFamily="2" charset="-122"/>
                <a:cs typeface="Times New Roman" panose="02020603050405020304" pitchFamily="18" charset="0"/>
              </a:rPr>
              <a:t>i</a:t>
            </a:r>
            <a:r>
              <a:rPr lang="en-US" altLang="zh-CN" dirty="0">
                <a:ea typeface="宋体" panose="02010600030101010101" pitchFamily="2" charset="-122"/>
                <a:cs typeface="Times New Roman" panose="02020603050405020304" pitchFamily="18" charset="0"/>
              </a:rPr>
              <a:t>(</a:t>
            </a:r>
            <a:r>
              <a:rPr lang="en-US" altLang="zh-CN" i="1" dirty="0" err="1">
                <a:ea typeface="宋体" panose="02010600030101010101" pitchFamily="2" charset="-122"/>
                <a:cs typeface="Times New Roman" panose="02020603050405020304" pitchFamily="18" charset="0"/>
              </a:rPr>
              <a:t>a</a:t>
            </a:r>
            <a:r>
              <a:rPr lang="en-US" altLang="zh-CN" dirty="0" err="1">
                <a:ea typeface="宋体" panose="02010600030101010101" pitchFamily="2" charset="-122"/>
                <a:cs typeface="Times New Roman" panose="02020603050405020304" pitchFamily="18" charset="0"/>
              </a:rPr>
              <a:t>,</a:t>
            </a:r>
            <a:r>
              <a:rPr lang="en-US" altLang="zh-CN" i="1" dirty="0" err="1">
                <a:ea typeface="宋体" panose="02010600030101010101" pitchFamily="2" charset="-122"/>
                <a:cs typeface="Times New Roman" panose="02020603050405020304" pitchFamily="18" charset="0"/>
              </a:rPr>
              <a:t>b</a:t>
            </a:r>
            <a:r>
              <a:rPr lang="zh-CN" altLang="zh-CN" dirty="0">
                <a:latin typeface="NEU-BZ-S92"/>
                <a:ea typeface="宋体" panose="02010600030101010101" pitchFamily="2" charset="-122"/>
                <a:cs typeface="宋体" panose="02010600030101010101" pitchFamily="2" charset="-122"/>
              </a:rPr>
              <a:t>∈</a:t>
            </a:r>
            <a:r>
              <a:rPr lang="en-US" altLang="zh-CN" dirty="0">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的数叫做复数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a:t>
            </a:r>
            <a:r>
              <a:rPr lang="en-US" altLang="zh-CN" dirty="0" err="1">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叫做虚数单位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满足</a:t>
            </a:r>
            <a:r>
              <a:rPr lang="en-US" altLang="zh-CN" dirty="0">
                <a:solidFill>
                  <a:srgbClr val="000000"/>
                </a:solidFill>
                <a:ea typeface="宋体" panose="02010600030101010101" pitchFamily="2" charset="-122"/>
                <a:cs typeface="Times New Roman" panose="02020603050405020304" pitchFamily="18" charset="0"/>
              </a:rPr>
              <a:t>i</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全体复数所构成的集合</a:t>
            </a: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err="1">
                <a:solidFill>
                  <a:srgbClr val="000000"/>
                </a:solidFill>
                <a:ea typeface="宋体" panose="02010600030101010101" pitchFamily="2" charset="-122"/>
                <a:cs typeface="Times New Roman" panose="02020603050405020304" pitchFamily="18" charset="0"/>
              </a:rPr>
              <a:t>|</a:t>
            </a:r>
            <a:r>
              <a:rPr lang="en-US" altLang="zh-CN" i="1" dirty="0" err="1">
                <a:ea typeface="宋体" panose="02010600030101010101" pitchFamily="2" charset="-122"/>
                <a:cs typeface="Times New Roman" panose="02020603050405020304" pitchFamily="18" charset="0"/>
              </a:rPr>
              <a:t>a</a:t>
            </a:r>
            <a:r>
              <a:rPr lang="en-US" altLang="zh-CN" dirty="0" err="1">
                <a:ea typeface="宋体" panose="02010600030101010101" pitchFamily="2" charset="-122"/>
                <a:cs typeface="Times New Roman" panose="02020603050405020304" pitchFamily="18" charset="0"/>
              </a:rPr>
              <a:t>,</a:t>
            </a:r>
            <a:r>
              <a:rPr lang="en-US" altLang="zh-CN" i="1" dirty="0" err="1">
                <a:ea typeface="宋体" panose="02010600030101010101" pitchFamily="2" charset="-122"/>
                <a:cs typeface="Times New Roman" panose="02020603050405020304" pitchFamily="18" charset="0"/>
              </a:rPr>
              <a:t>b</a:t>
            </a:r>
            <a:r>
              <a:rPr lang="zh-CN" altLang="zh-CN" dirty="0">
                <a:latin typeface="NEU-BZ-S92"/>
                <a:ea typeface="宋体" panose="02010600030101010101" pitchFamily="2" charset="-122"/>
                <a:cs typeface="宋体" panose="02010600030101010101" pitchFamily="2" charset="-122"/>
              </a:rPr>
              <a:t>∈</a:t>
            </a:r>
            <a:r>
              <a:rPr lang="en-US" altLang="zh-CN" dirty="0">
                <a:ea typeface="宋体" panose="02010600030101010101" pitchFamily="2" charset="-122"/>
                <a:cs typeface="Times New Roman" panose="02020603050405020304" pitchFamily="18" charset="0"/>
              </a:rPr>
              <a:t>R</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叫做复数集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复数的表示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复数通常用</a:t>
            </a:r>
            <a:r>
              <a:rPr lang="zh-CN" altLang="zh-CN" dirty="0" smtClean="0">
                <a:solidFill>
                  <a:srgbClr val="000000"/>
                </a:solidFill>
                <a:ea typeface="宋体" panose="02010600030101010101" pitchFamily="2" charset="-122"/>
                <a:cs typeface="Times New Roman" panose="02020603050405020304" pitchFamily="18" charset="0"/>
              </a:rPr>
              <a:t>字母</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i="1" dirty="0" smtClean="0">
                <a:ea typeface="宋体" panose="02010600030101010101" pitchFamily="2" charset="-122"/>
                <a:cs typeface="Times New Roman" panose="02020603050405020304" pitchFamily="18" charset="0"/>
              </a:rPr>
              <a:t>z </a:t>
            </a:r>
            <a:r>
              <a:rPr lang="zh-CN" altLang="zh-CN" dirty="0" smtClean="0">
                <a:solidFill>
                  <a:srgbClr val="000000"/>
                </a:solidFill>
                <a:ea typeface="宋体" panose="02010600030101010101" pitchFamily="2" charset="-122"/>
                <a:cs typeface="Times New Roman" panose="02020603050405020304" pitchFamily="18" charset="0"/>
              </a:rPr>
              <a:t>表示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即</a:t>
            </a:r>
            <a:r>
              <a:rPr lang="en-US" altLang="zh-CN" i="1" dirty="0">
                <a:ea typeface="宋体" panose="02010600030101010101" pitchFamily="2" charset="-122"/>
                <a:cs typeface="Times New Roman" panose="02020603050405020304" pitchFamily="18" charset="0"/>
              </a:rPr>
              <a:t>z=</a:t>
            </a:r>
            <a:r>
              <a:rPr lang="en-US" altLang="zh-CN" i="1" dirty="0" err="1">
                <a:ea typeface="宋体" panose="02010600030101010101" pitchFamily="2" charset="-122"/>
                <a:cs typeface="Times New Roman" panose="02020603050405020304" pitchFamily="18" charset="0"/>
              </a:rPr>
              <a:t>a+b</a:t>
            </a:r>
            <a:r>
              <a:rPr lang="en-US" altLang="zh-CN" dirty="0" err="1">
                <a:ea typeface="宋体" panose="02010600030101010101" pitchFamily="2" charset="-122"/>
                <a:cs typeface="Times New Roman" panose="02020603050405020304" pitchFamily="18" charset="0"/>
              </a:rPr>
              <a:t>i</a:t>
            </a:r>
            <a:r>
              <a:rPr lang="en-US" altLang="zh-CN" dirty="0">
                <a:ea typeface="宋体" panose="02010600030101010101" pitchFamily="2" charset="-122"/>
                <a:cs typeface="Times New Roman" panose="02020603050405020304" pitchFamily="18" charset="0"/>
              </a:rPr>
              <a:t>(</a:t>
            </a:r>
            <a:r>
              <a:rPr lang="en-US" altLang="zh-CN" i="1" dirty="0" err="1">
                <a:ea typeface="宋体" panose="02010600030101010101" pitchFamily="2" charset="-122"/>
                <a:cs typeface="Times New Roman" panose="02020603050405020304" pitchFamily="18" charset="0"/>
              </a:rPr>
              <a:t>a</a:t>
            </a:r>
            <a:r>
              <a:rPr lang="en-US" altLang="zh-CN" dirty="0" err="1">
                <a:ea typeface="宋体" panose="02010600030101010101" pitchFamily="2" charset="-122"/>
                <a:cs typeface="Times New Roman" panose="02020603050405020304" pitchFamily="18" charset="0"/>
              </a:rPr>
              <a:t>,</a:t>
            </a:r>
            <a:r>
              <a:rPr lang="en-US" altLang="zh-CN" i="1" dirty="0" err="1">
                <a:ea typeface="宋体" panose="02010600030101010101" pitchFamily="2" charset="-122"/>
                <a:cs typeface="Times New Roman" panose="02020603050405020304" pitchFamily="18" charset="0"/>
              </a:rPr>
              <a:t>b</a:t>
            </a:r>
            <a:r>
              <a:rPr lang="zh-CN" altLang="zh-CN" dirty="0">
                <a:latin typeface="NEU-BZ-S92"/>
                <a:ea typeface="宋体" panose="02010600030101010101" pitchFamily="2" charset="-122"/>
                <a:cs typeface="宋体" panose="02010600030101010101" pitchFamily="2" charset="-122"/>
              </a:rPr>
              <a:t>∈</a:t>
            </a:r>
            <a:r>
              <a:rPr lang="en-US" altLang="zh-CN" dirty="0">
                <a:ea typeface="宋体" panose="02010600030101010101" pitchFamily="2" charset="-122"/>
                <a:cs typeface="Times New Roman" panose="02020603050405020304" pitchFamily="18" charset="0"/>
              </a:rPr>
              <a:t>R)</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其中的</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分别叫做复数</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的</a:t>
            </a:r>
            <a:r>
              <a:rPr lang="zh-CN" altLang="zh-CN" dirty="0">
                <a:ea typeface="宋体" panose="02010600030101010101" pitchFamily="2" charset="-122"/>
                <a:cs typeface="Times New Roman" panose="02020603050405020304" pitchFamily="18" charset="0"/>
              </a:rPr>
              <a:t>实部</a:t>
            </a:r>
            <a:r>
              <a:rPr lang="zh-CN" altLang="zh-CN" dirty="0">
                <a:solidFill>
                  <a:srgbClr val="000000"/>
                </a:solidFill>
                <a:ea typeface="宋体" panose="02010600030101010101" pitchFamily="2" charset="-122"/>
                <a:cs typeface="Times New Roman" panose="02020603050405020304" pitchFamily="18" charset="0"/>
              </a:rPr>
              <a:t>与</a:t>
            </a:r>
            <a:r>
              <a:rPr lang="zh-CN" altLang="zh-CN" dirty="0">
                <a:ea typeface="宋体" panose="02010600030101010101" pitchFamily="2" charset="-122"/>
                <a:cs typeface="Times New Roman" panose="02020603050405020304" pitchFamily="18" charset="0"/>
              </a:rPr>
              <a:t>虚部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5443509" y="1473268"/>
            <a:ext cx="221403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5438738" y="1937366"/>
            <a:ext cx="2211526"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380742" y="1965977"/>
            <a:ext cx="22511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375840" y="2454367"/>
            <a:ext cx="224856"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4404141" y="2006748"/>
            <a:ext cx="29962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4399281" y="2470846"/>
            <a:ext cx="299284"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1984347" y="2655564"/>
            <a:ext cx="118440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1979757" y="3119662"/>
            <a:ext cx="1183062"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5964558" y="3220870"/>
            <a:ext cx="329586"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5959715" y="3684968"/>
            <a:ext cx="329212" cy="0"/>
          </a:xfrm>
          <a:prstGeom prst="line">
            <a:avLst/>
          </a:prstGeom>
        </p:spPr>
        <p:style>
          <a:lnRef idx="2">
            <a:schemeClr val="dk1"/>
          </a:lnRef>
          <a:fillRef idx="0">
            <a:schemeClr val="dk1"/>
          </a:fillRef>
          <a:effectRef idx="1">
            <a:schemeClr val="dk1"/>
          </a:effectRef>
          <a:fontRef idx="minor">
            <a:schemeClr val="tx1"/>
          </a:fontRef>
        </p:style>
      </p:cxnSp>
      <p:sp>
        <p:nvSpPr>
          <p:cNvPr id="17" name="矩形 16"/>
          <p:cNvSpPr/>
          <p:nvPr/>
        </p:nvSpPr>
        <p:spPr>
          <a:xfrm>
            <a:off x="7624881" y="3257416"/>
            <a:ext cx="2600651"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7620111" y="3721514"/>
            <a:ext cx="2597710" cy="0"/>
          </a:xfrm>
          <a:prstGeom prst="line">
            <a:avLst/>
          </a:prstGeom>
        </p:spPr>
        <p:style>
          <a:lnRef idx="2">
            <a:schemeClr val="dk1"/>
          </a:lnRef>
          <a:fillRef idx="0">
            <a:schemeClr val="dk1"/>
          </a:fillRef>
          <a:effectRef idx="1">
            <a:schemeClr val="dk1"/>
          </a:effectRef>
          <a:fontRef idx="minor">
            <a:schemeClr val="tx1"/>
          </a:fontRef>
        </p:style>
      </p:cxnSp>
      <p:sp>
        <p:nvSpPr>
          <p:cNvPr id="22" name="矩形 21"/>
          <p:cNvSpPr/>
          <p:nvPr/>
        </p:nvSpPr>
        <p:spPr>
          <a:xfrm>
            <a:off x="5106802" y="3809998"/>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a:off x="5102212" y="4274096"/>
            <a:ext cx="776265" cy="0"/>
          </a:xfrm>
          <a:prstGeom prst="line">
            <a:avLst/>
          </a:prstGeom>
        </p:spPr>
        <p:style>
          <a:lnRef idx="2">
            <a:schemeClr val="dk1"/>
          </a:lnRef>
          <a:fillRef idx="0">
            <a:schemeClr val="dk1"/>
          </a:fillRef>
          <a:effectRef idx="1">
            <a:schemeClr val="dk1"/>
          </a:effectRef>
          <a:fontRef idx="minor">
            <a:schemeClr val="tx1"/>
          </a:fontRef>
        </p:style>
      </p:cxnSp>
      <p:sp>
        <p:nvSpPr>
          <p:cNvPr id="24" name="矩形 23"/>
          <p:cNvSpPr/>
          <p:nvPr/>
        </p:nvSpPr>
        <p:spPr>
          <a:xfrm>
            <a:off x="6330529" y="3808887"/>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p:cNvCxnSpPr/>
          <p:nvPr/>
        </p:nvCxnSpPr>
        <p:spPr>
          <a:xfrm>
            <a:off x="6325939" y="4272985"/>
            <a:ext cx="77626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8883323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5"/>
                                        </p:tgtEl>
                                      </p:cBhvr>
                                    </p:animEffect>
                                    <p:set>
                                      <p:cBhvr>
                                        <p:cTn id="27" dur="1" fill="hold">
                                          <p:stCondLst>
                                            <p:cond delay="499"/>
                                          </p:stCondLst>
                                        </p:cTn>
                                        <p:tgtEl>
                                          <p:spTgt spid="1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7"/>
                                        </p:tgtEl>
                                      </p:cBhvr>
                                    </p:animEffect>
                                    <p:set>
                                      <p:cBhvr>
                                        <p:cTn id="32" dur="1" fill="hold">
                                          <p:stCondLst>
                                            <p:cond delay="499"/>
                                          </p:stCondLst>
                                        </p:cTn>
                                        <p:tgtEl>
                                          <p:spTgt spid="1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22"/>
                                        </p:tgtEl>
                                      </p:cBhvr>
                                    </p:animEffect>
                                    <p:set>
                                      <p:cBhvr>
                                        <p:cTn id="37" dur="1" fill="hold">
                                          <p:stCondLst>
                                            <p:cond delay="499"/>
                                          </p:stCondLst>
                                        </p:cTn>
                                        <p:tgtEl>
                                          <p:spTgt spid="22"/>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0" nodeType="clickEffect">
                                  <p:stCondLst>
                                    <p:cond delay="0"/>
                                  </p:stCondLst>
                                  <p:childTnLst>
                                    <p:animEffect transition="out" filter="randombar(horizontal)">
                                      <p:cBhvr>
                                        <p:cTn id="41" dur="500"/>
                                        <p:tgtEl>
                                          <p:spTgt spid="24"/>
                                        </p:tgtEl>
                                      </p:cBhvr>
                                    </p:animEffect>
                                    <p:set>
                                      <p:cBhvr>
                                        <p:cTn id="42"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P spid="15" grpId="0" animBg="1"/>
      <p:bldP spid="17" grpId="0" animBg="1"/>
      <p:bldP spid="22"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376883215"/>
              </p:ext>
            </p:extLst>
          </p:nvPr>
        </p:nvGraphicFramePr>
        <p:xfrm>
          <a:off x="504453" y="1824100"/>
          <a:ext cx="11671959" cy="1848035"/>
        </p:xfrm>
        <a:graphic>
          <a:graphicData uri="http://schemas.openxmlformats.org/presentationml/2006/ole">
            <mc:AlternateContent xmlns:mc="http://schemas.openxmlformats.org/markup-compatibility/2006">
              <mc:Choice xmlns:v="urn:schemas-microsoft-com:vml" Requires="v">
                <p:oleObj spid="_x0000_s1039" name="文档" r:id="rId4" imgW="3826872" imgH="605913" progId="Word.Document.12">
                  <p:embed/>
                </p:oleObj>
              </mc:Choice>
              <mc:Fallback>
                <p:oleObj name="文档" r:id="rId4" imgW="3826872" imgH="605913" progId="Word.Document.12">
                  <p:embed/>
                  <p:pic>
                    <p:nvPicPr>
                      <p:cNvPr id="0" name=""/>
                      <p:cNvPicPr/>
                      <p:nvPr/>
                    </p:nvPicPr>
                    <p:blipFill>
                      <a:blip r:embed="rId5"/>
                      <a:stretch>
                        <a:fillRect/>
                      </a:stretch>
                    </p:blipFill>
                    <p:spPr>
                      <a:xfrm>
                        <a:off x="504453" y="1824100"/>
                        <a:ext cx="11671959" cy="1848035"/>
                      </a:xfrm>
                      <a:prstGeom prst="rect">
                        <a:avLst/>
                      </a:prstGeom>
                    </p:spPr>
                  </p:pic>
                </p:oleObj>
              </mc:Fallback>
            </mc:AlternateContent>
          </a:graphicData>
        </a:graphic>
      </p:graphicFrame>
      <p:sp>
        <p:nvSpPr>
          <p:cNvPr id="5" name="矩形 4"/>
          <p:cNvSpPr>
            <a:spLocks noChangeAspect="1"/>
          </p:cNvSpPr>
          <p:nvPr/>
        </p:nvSpPr>
        <p:spPr>
          <a:xfrm>
            <a:off x="370269" y="3708951"/>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3652816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79847"/>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二、复数相等</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能否推出</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由两个实数能比较大小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可以得到两个复数也能比较大小吗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不能推出</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楷体" panose="02010609060101010101" pitchFamily="49" charset="-122"/>
                <a:cs typeface="Times New Roman" panose="02020603050405020304" pitchFamily="18" charset="0"/>
              </a:rPr>
              <a:t>当两个复数都是实数时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可以比较大小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当两个复数不全是实数时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不能比较大小</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在</a:t>
            </a:r>
            <a:r>
              <a:rPr lang="zh-CN" altLang="zh-CN" dirty="0">
                <a:solidFill>
                  <a:srgbClr val="000000"/>
                </a:solidFill>
                <a:ea typeface="宋体" panose="02010600030101010101" pitchFamily="2" charset="-122"/>
                <a:cs typeface="Times New Roman" panose="02020603050405020304" pitchFamily="18" charset="0"/>
              </a:rPr>
              <a:t>复数集</a:t>
            </a: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中任取两个数</a:t>
            </a:r>
            <a:r>
              <a:rPr lang="en-US" altLang="zh-CN" i="1" dirty="0" err="1" smtClean="0">
                <a:solidFill>
                  <a:srgbClr val="000000"/>
                </a:solidFill>
                <a:ea typeface="宋体" panose="02010600030101010101" pitchFamily="2" charset="-122"/>
                <a:cs typeface="Times New Roman" panose="02020603050405020304" pitchFamily="18" charset="0"/>
              </a:rPr>
              <a:t>a+b</a:t>
            </a:r>
            <a:r>
              <a:rPr lang="en-US" altLang="zh-CN" dirty="0" err="1" smtClean="0">
                <a:solidFill>
                  <a:srgbClr val="000000"/>
                </a:solidFill>
                <a:ea typeface="宋体" panose="02010600030101010101" pitchFamily="2" charset="-122"/>
                <a:cs typeface="Times New Roman" panose="02020603050405020304" pitchFamily="18" charset="0"/>
              </a:rPr>
              <a:t>i,</a:t>
            </a:r>
            <a:r>
              <a:rPr lang="en-US" altLang="zh-CN" i="1" dirty="0" err="1" smtClean="0">
                <a:solidFill>
                  <a:srgbClr val="000000"/>
                </a:solidFill>
                <a:ea typeface="宋体" panose="02010600030101010101" pitchFamily="2" charset="-122"/>
                <a:cs typeface="Times New Roman" panose="02020603050405020304" pitchFamily="18" charset="0"/>
              </a:rPr>
              <a:t>c+d</a:t>
            </a:r>
            <a:r>
              <a:rPr lang="en-US" altLang="zh-CN" dirty="0" err="1" smtClean="0">
                <a:solidFill>
                  <a:srgbClr val="000000"/>
                </a:solidFill>
                <a:ea typeface="宋体" panose="02010600030101010101" pitchFamily="2" charset="-122"/>
                <a:cs typeface="Times New Roman" panose="02020603050405020304" pitchFamily="18" charset="0"/>
              </a:rPr>
              <a:t>i</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我们规定</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err="1">
                <a:solidFill>
                  <a:srgbClr val="000000"/>
                </a:solidFill>
                <a:ea typeface="宋体" panose="02010600030101010101" pitchFamily="2" charset="-122"/>
                <a:cs typeface="Times New Roman" panose="02020603050405020304" pitchFamily="18" charset="0"/>
              </a:rPr>
              <a:t>c+d</a:t>
            </a:r>
            <a:r>
              <a:rPr lang="en-US" altLang="zh-CN"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相等</a:t>
            </a:r>
            <a:r>
              <a:rPr lang="zh-CN" altLang="zh-CN" dirty="0" smtClean="0">
                <a:solidFill>
                  <a:srgbClr val="000000"/>
                </a:solidFill>
                <a:ea typeface="宋体" panose="02010600030101010101" pitchFamily="2" charset="-122"/>
                <a:cs typeface="Times New Roman" panose="02020603050405020304" pitchFamily="18" charset="0"/>
              </a:rPr>
              <a:t>当且仅当</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i="1" dirty="0" smtClean="0">
                <a:ea typeface="宋体" panose="02010600030101010101" pitchFamily="2" charset="-122"/>
                <a:cs typeface="Times New Roman" panose="02020603050405020304" pitchFamily="18" charset="0"/>
              </a:rPr>
              <a:t>a=c</a:t>
            </a:r>
            <a:r>
              <a:rPr lang="zh-CN" altLang="zh-CN" dirty="0">
                <a:ea typeface="宋体" panose="02010600030101010101" pitchFamily="2" charset="-122"/>
                <a:cs typeface="Times New Roman" panose="02020603050405020304" pitchFamily="18" charset="0"/>
              </a:rPr>
              <a:t>且</a:t>
            </a:r>
            <a:r>
              <a:rPr lang="en-US" altLang="zh-CN" i="1" dirty="0" smtClean="0">
                <a:ea typeface="宋体" panose="02010600030101010101" pitchFamily="2" charset="-122"/>
                <a:cs typeface="Times New Roman" panose="02020603050405020304" pitchFamily="18" charset="0"/>
              </a:rPr>
              <a:t>b=d </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8737800" y="4632980"/>
            <a:ext cx="172819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8733029" y="5097078"/>
            <a:ext cx="1726238"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8106599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295871"/>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为实数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且满足</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x-y</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x-y</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x=</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001922425"/>
              </p:ext>
            </p:extLst>
          </p:nvPr>
        </p:nvGraphicFramePr>
        <p:xfrm>
          <a:off x="390169" y="2532977"/>
          <a:ext cx="11671959" cy="1201334"/>
        </p:xfrm>
        <a:graphic>
          <a:graphicData uri="http://schemas.openxmlformats.org/presentationml/2006/ole">
            <mc:AlternateContent xmlns:mc="http://schemas.openxmlformats.org/markup-compatibility/2006">
              <mc:Choice xmlns:v="urn:schemas-microsoft-com:vml" Requires="v">
                <p:oleObj spid="_x0000_s2063" name="文档" r:id="rId4" imgW="3826872" imgH="393880" progId="Word.Document.12">
                  <p:embed/>
                </p:oleObj>
              </mc:Choice>
              <mc:Fallback>
                <p:oleObj name="文档" r:id="rId4" imgW="3826872" imgH="393880" progId="Word.Document.12">
                  <p:embed/>
                  <p:pic>
                    <p:nvPicPr>
                      <p:cNvPr id="0" name=""/>
                      <p:cNvPicPr/>
                      <p:nvPr/>
                    </p:nvPicPr>
                    <p:blipFill>
                      <a:blip r:embed="rId5"/>
                      <a:stretch>
                        <a:fillRect/>
                      </a:stretch>
                    </p:blipFill>
                    <p:spPr>
                      <a:xfrm>
                        <a:off x="390169" y="2532977"/>
                        <a:ext cx="11671959" cy="1201334"/>
                      </a:xfrm>
                      <a:prstGeom prst="rect">
                        <a:avLst/>
                      </a:prstGeom>
                    </p:spPr>
                  </p:pic>
                </p:oleObj>
              </mc:Fallback>
            </mc:AlternateContent>
          </a:graphicData>
        </a:graphic>
      </p:graphicFrame>
      <p:sp>
        <p:nvSpPr>
          <p:cNvPr id="5" name="矩形 4"/>
          <p:cNvSpPr>
            <a:spLocks noChangeAspect="1"/>
          </p:cNvSpPr>
          <p:nvPr/>
        </p:nvSpPr>
        <p:spPr>
          <a:xfrm>
            <a:off x="279873" y="3753776"/>
            <a:ext cx="2342308"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i="1" dirty="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1027103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633259"/>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三、复数的分类</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是什么数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a:t>
            </a:r>
            <a:r>
              <a:rPr lang="zh-CN" altLang="zh-CN" dirty="0">
                <a:solidFill>
                  <a:srgbClr val="000000"/>
                </a:solidFill>
                <a:ea typeface="楷体" panose="02010609060101010101" pitchFamily="49" charset="-122"/>
                <a:cs typeface="Times New Roman" panose="02020603050405020304" pitchFamily="18" charset="0"/>
              </a:rPr>
              <a:t>为实数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是什么数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z=b</a:t>
            </a:r>
            <a:r>
              <a:rPr lang="en-US" altLang="zh-CN" dirty="0">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楷体" panose="02010609060101010101" pitchFamily="49" charset="-122"/>
                <a:cs typeface="Times New Roman" panose="02020603050405020304" pitchFamily="18" charset="0"/>
              </a:rPr>
              <a:t>为纯虚数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01624309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367879"/>
            <a:ext cx="11732622" cy="3158520"/>
            <a:chOff x="361950" y="1449719"/>
            <a:chExt cx="11732622" cy="3158520"/>
          </a:xfrm>
        </p:grpSpPr>
        <p:sp>
          <p:nvSpPr>
            <p:cNvPr id="4" name="矩形 3"/>
            <p:cNvSpPr>
              <a:spLocks noChangeAspect="1"/>
            </p:cNvSpPr>
            <p:nvPr/>
          </p:nvSpPr>
          <p:spPr>
            <a:xfrm>
              <a:off x="361950" y="1449719"/>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r>
                <a:rPr lang="zh-CN" altLang="zh-CN" dirty="0" smtClean="0">
                  <a:solidFill>
                    <a:srgbClr val="000000"/>
                  </a:solidFill>
                  <a:ea typeface="宋体" panose="02010600030101010101" pitchFamily="2" charset="-122"/>
                  <a:cs typeface="Times New Roman" panose="02020603050405020304" pitchFamily="18" charset="0"/>
                </a:rPr>
                <a:t>对于</a:t>
              </a:r>
              <a:r>
                <a:rPr lang="zh-CN" altLang="zh-CN" dirty="0">
                  <a:solidFill>
                    <a:srgbClr val="000000"/>
                  </a:solidFill>
                  <a:ea typeface="宋体" panose="02010600030101010101" pitchFamily="2" charset="-122"/>
                  <a:cs typeface="Times New Roman" panose="02020603050405020304" pitchFamily="18" charset="0"/>
                </a:rPr>
                <a:t>复数</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当且仅当</a:t>
              </a:r>
              <a:r>
                <a:rPr lang="en-US" altLang="zh-CN" i="1" dirty="0">
                  <a:ea typeface="宋体" panose="02010600030101010101" pitchFamily="2" charset="-122"/>
                  <a:cs typeface="Times New Roman" panose="02020603050405020304" pitchFamily="18" charset="0"/>
                </a:rPr>
                <a:t>b=</a:t>
              </a:r>
              <a:r>
                <a:rPr lang="en-US" altLang="zh-CN" dirty="0">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它是实数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当且仅当</a:t>
              </a:r>
              <a:r>
                <a:rPr lang="en-US" altLang="zh-CN" i="1" dirty="0">
                  <a:ea typeface="宋体" panose="02010600030101010101" pitchFamily="2" charset="-122"/>
                  <a:cs typeface="Times New Roman" panose="02020603050405020304" pitchFamily="18" charset="0"/>
                </a:rPr>
                <a:t>a=b=</a:t>
              </a:r>
              <a:r>
                <a:rPr lang="en-US" altLang="zh-CN" dirty="0">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它是实数</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它叫做</a:t>
              </a:r>
              <a:r>
                <a:rPr lang="zh-CN" altLang="zh-CN" dirty="0">
                  <a:ea typeface="宋体" panose="02010600030101010101" pitchFamily="2" charset="-122"/>
                  <a:cs typeface="Times New Roman" panose="02020603050405020304" pitchFamily="18" charset="0"/>
                </a:rPr>
                <a:t>虚数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ea typeface="宋体" panose="02010600030101010101" pitchFamily="2" charset="-122"/>
                  <a:cs typeface="Times New Roman" panose="02020603050405020304" pitchFamily="18" charset="0"/>
                </a:rPr>
                <a:t>a=</a:t>
              </a:r>
              <a:r>
                <a:rPr lang="en-US" altLang="zh-CN" dirty="0">
                  <a:ea typeface="宋体" panose="02010600030101010101" pitchFamily="2" charset="-122"/>
                  <a:cs typeface="Times New Roman" panose="02020603050405020304" pitchFamily="18" charset="0"/>
                </a:rPr>
                <a:t>0</a:t>
              </a:r>
              <a:r>
                <a:rPr lang="zh-CN" altLang="zh-CN" dirty="0">
                  <a:ea typeface="宋体" panose="02010600030101010101" pitchFamily="2" charset="-122"/>
                  <a:cs typeface="Times New Roman" panose="02020603050405020304" pitchFamily="18" charset="0"/>
                </a:rPr>
                <a:t>且</a:t>
              </a:r>
              <a:r>
                <a:rPr lang="en-US" altLang="zh-CN" i="1" dirty="0">
                  <a:ea typeface="宋体" panose="02010600030101010101" pitchFamily="2" charset="-122"/>
                  <a:cs typeface="Times New Roman" panose="02020603050405020304" pitchFamily="18" charset="0"/>
                </a:rPr>
                <a:t>b</a:t>
              </a:r>
              <a:r>
                <a:rPr lang="en-US" altLang="zh-CN" dirty="0">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它叫做纯虚数</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可以分类如下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882494165"/>
                </p:ext>
              </p:extLst>
            </p:nvPr>
          </p:nvGraphicFramePr>
          <p:xfrm>
            <a:off x="422613" y="3287430"/>
            <a:ext cx="11671959" cy="1320809"/>
          </p:xfrm>
          <a:graphic>
            <a:graphicData uri="http://schemas.openxmlformats.org/presentationml/2006/ole">
              <mc:AlternateContent xmlns:mc="http://schemas.openxmlformats.org/markup-compatibility/2006">
                <mc:Choice xmlns:v="urn:schemas-microsoft-com:vml" Requires="v">
                  <p:oleObj spid="_x0000_s3087" name="文档" r:id="rId4" imgW="3826872" imgH="433052" progId="Word.Document.12">
                    <p:embed/>
                  </p:oleObj>
                </mc:Choice>
                <mc:Fallback>
                  <p:oleObj name="文档" r:id="rId4" imgW="3826872" imgH="433052" progId="Word.Document.12">
                    <p:embed/>
                    <p:pic>
                      <p:nvPicPr>
                        <p:cNvPr id="0" name=""/>
                        <p:cNvPicPr/>
                        <p:nvPr/>
                      </p:nvPicPr>
                      <p:blipFill>
                        <a:blip r:embed="rId5"/>
                        <a:stretch>
                          <a:fillRect/>
                        </a:stretch>
                      </p:blipFill>
                      <p:spPr>
                        <a:xfrm>
                          <a:off x="422613" y="3287430"/>
                          <a:ext cx="11671959" cy="1320809"/>
                        </a:xfrm>
                        <a:prstGeom prst="rect">
                          <a:avLst/>
                        </a:prstGeom>
                      </p:spPr>
                    </p:pic>
                  </p:oleObj>
                </mc:Fallback>
              </mc:AlternateContent>
            </a:graphicData>
          </a:graphic>
        </p:graphicFrame>
      </p:grpSp>
      <p:sp>
        <p:nvSpPr>
          <p:cNvPr id="7" name="矩形 6"/>
          <p:cNvSpPr/>
          <p:nvPr/>
        </p:nvSpPr>
        <p:spPr>
          <a:xfrm>
            <a:off x="6820473" y="1410911"/>
            <a:ext cx="64226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6815807" y="1875009"/>
            <a:ext cx="641541"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859327" y="2015951"/>
            <a:ext cx="103708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854661" y="2480049"/>
            <a:ext cx="1035914"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7181975" y="2026709"/>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7177385" y="2490807"/>
            <a:ext cx="776265"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8493467" y="2030298"/>
            <a:ext cx="169132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8488877" y="2494396"/>
            <a:ext cx="168941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03144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3"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48612"/>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复数集、实数集、虚数集、纯虚数集之间的关系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可用图表示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7" name="EMG2TRA01.eps" descr="id:2147491201;FounderCES"/>
          <p:cNvPicPr/>
          <p:nvPr/>
        </p:nvPicPr>
        <p:blipFill>
          <a:blip r:embed="rId2"/>
          <a:stretch>
            <a:fillRect/>
          </a:stretch>
        </p:blipFill>
        <p:spPr>
          <a:xfrm>
            <a:off x="2880717" y="2066253"/>
            <a:ext cx="4752528" cy="3199890"/>
          </a:xfrm>
          <a:prstGeom prst="rect">
            <a:avLst/>
          </a:prstGeom>
        </p:spPr>
      </p:pic>
    </p:spTree>
    <p:extLst>
      <p:ext uri="{BB962C8B-B14F-4D97-AF65-F5344CB8AC3E}">
        <p14:creationId xmlns:p14="http://schemas.microsoft.com/office/powerpoint/2010/main" val="3456790203"/>
      </p:ext>
    </p:extLst>
  </p:cSld>
  <p:clrMapOvr>
    <a:masterClrMapping/>
  </p:clrMapOvr>
  <p:transition spd="slow">
    <p:wheel spokes="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367879"/>
            <a:ext cx="10807700" cy="304698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若</a:t>
            </a:r>
            <a:r>
              <a:rPr lang="zh-CN" altLang="zh-CN" dirty="0">
                <a:solidFill>
                  <a:srgbClr val="000000"/>
                </a:solidFill>
                <a:ea typeface="宋体" panose="02010600030101010101" pitchFamily="2" charset="-122"/>
                <a:cs typeface="Times New Roman" panose="02020603050405020304" pitchFamily="18" charset="0"/>
              </a:rPr>
              <a:t>复数</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是实数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等于</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r>
              <a:rPr lang="en-US" altLang="zh-CN" dirty="0" smtClean="0">
                <a:solidFill>
                  <a:srgbClr val="000000"/>
                </a:solidFill>
                <a:ea typeface="宋体" panose="02010600030101010101" pitchFamily="2" charset="-122"/>
                <a:cs typeface="Times New Roman" panose="02020603050405020304" pitchFamily="18" charset="0"/>
              </a:rPr>
              <a:t>	B.1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不存在</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楷体" panose="02010609060101010101" pitchFamily="49" charset="-122"/>
                <a:cs typeface="Times New Roman" panose="02020603050405020304" pitchFamily="18" charset="0"/>
              </a:rPr>
              <a:t>为实数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4107150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01647"/>
            <a:ext cx="10807700" cy="491096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mn-lt"/>
                <a:cs typeface="Times New Roman" panose="02020603050405020304" pitchFamily="18" charset="0"/>
              </a:rPr>
              <a:t>【思考辨析】</a:t>
            </a:r>
            <a:r>
              <a:rPr lang="zh-CN" altLang="zh-CN" dirty="0">
                <a:solidFill>
                  <a:srgbClr val="000000"/>
                </a:solidFill>
                <a:latin typeface="+mn-lt"/>
                <a:ea typeface="Arial" panose="020B0604020202020204" pitchFamily="34" charset="0"/>
                <a:cs typeface="Times New Roman" panose="02020603050405020304" pitchFamily="18" charset="0"/>
              </a:rPr>
              <a:t> </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mn-lt"/>
                <a:ea typeface="宋体" panose="02010600030101010101" pitchFamily="2" charset="-122"/>
                <a:cs typeface="Times New Roman" panose="02020603050405020304" pitchFamily="18" charset="0"/>
              </a:rPr>
              <a:t>判断下列说法是否正确</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正确的在后面的括号内画</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NEU-BZ-S9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错误的画</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dirty="0" err="1">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b</a:t>
            </a:r>
            <a:r>
              <a:rPr lang="zh-CN" altLang="zh-CN" dirty="0">
                <a:solidFill>
                  <a:srgbClr val="000000"/>
                </a:solidFill>
                <a:latin typeface="+mn-lt"/>
                <a:ea typeface="宋体" panose="02010600030101010101" pitchFamily="2" charset="-122"/>
                <a:cs typeface="Times New Roman" panose="02020603050405020304" pitchFamily="18" charset="0"/>
              </a:rPr>
              <a:t>为实数</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z=</a:t>
            </a:r>
            <a:r>
              <a:rPr lang="en-US" altLang="zh-CN" i="1" dirty="0" err="1">
                <a:solidFill>
                  <a:srgbClr val="000000"/>
                </a:solidFill>
                <a:latin typeface="+mn-lt"/>
                <a:ea typeface="宋体" panose="02010600030101010101" pitchFamily="2" charset="-122"/>
                <a:cs typeface="Times New Roman" panose="02020603050405020304" pitchFamily="18" charset="0"/>
              </a:rPr>
              <a:t>a+b</a:t>
            </a:r>
            <a:r>
              <a:rPr lang="en-US" altLang="zh-CN" dirty="0" err="1">
                <a:solidFill>
                  <a:srgbClr val="000000"/>
                </a:solidFill>
                <a:latin typeface="+mn-lt"/>
                <a:ea typeface="宋体" panose="02010600030101010101" pitchFamily="2" charset="-122"/>
                <a:cs typeface="Times New Roman" panose="02020603050405020304" pitchFamily="18" charset="0"/>
              </a:rPr>
              <a:t>i</a:t>
            </a:r>
            <a:r>
              <a:rPr lang="zh-CN" altLang="zh-CN" dirty="0">
                <a:solidFill>
                  <a:srgbClr val="000000"/>
                </a:solidFill>
                <a:latin typeface="+mn-lt"/>
                <a:ea typeface="宋体" panose="02010600030101010101" pitchFamily="2" charset="-122"/>
                <a:cs typeface="Times New Roman" panose="02020603050405020304" pitchFamily="18" charset="0"/>
              </a:rPr>
              <a:t>为虚数</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dirty="0">
                <a:latin typeface="+mn-lt"/>
                <a:ea typeface="宋体" panose="02010600030101010101" pitchFamily="2" charset="-122"/>
                <a:cs typeface="Times New Roman" panose="02020603050405020304" pitchFamily="18" charset="0"/>
              </a:rPr>
              <a:t>  </a:t>
            </a:r>
            <a:r>
              <a:rPr lang="en-US" altLang="zh-CN" dirty="0">
                <a:latin typeface="+mn-lt"/>
                <a:ea typeface="方正书宋_GBK" panose="03000509000000000000" pitchFamily="65" charset="-122"/>
                <a:cs typeface="Times New Roman" panose="02020603050405020304" pitchFamily="18" charset="0"/>
              </a:rPr>
              <a:t>×</a:t>
            </a:r>
            <a:r>
              <a:rPr lang="en-US" altLang="zh-CN" dirty="0">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为实数</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z=a</a:t>
            </a:r>
            <a:r>
              <a:rPr lang="zh-CN" altLang="zh-CN" dirty="0">
                <a:solidFill>
                  <a:srgbClr val="000000"/>
                </a:solidFill>
                <a:latin typeface="+mn-lt"/>
                <a:ea typeface="宋体" panose="02010600030101010101" pitchFamily="2" charset="-122"/>
                <a:cs typeface="Times New Roman" panose="02020603050405020304" pitchFamily="18" charset="0"/>
              </a:rPr>
              <a:t>一定不是虚数</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dirty="0">
                <a:latin typeface="+mn-lt"/>
                <a:ea typeface="宋体" panose="02010600030101010101" pitchFamily="2" charset="-122"/>
                <a:cs typeface="Times New Roman" panose="02020603050405020304" pitchFamily="18" charset="0"/>
              </a:rPr>
              <a:t>  </a:t>
            </a:r>
            <a:r>
              <a:rPr lang="en-US" altLang="zh-CN" dirty="0">
                <a:latin typeface="+mn-lt"/>
                <a:ea typeface="方正书宋_GBK" panose="03000509000000000000" pitchFamily="65" charset="-122"/>
                <a:cs typeface="Times New Roman" panose="02020603050405020304" pitchFamily="18" charset="0"/>
              </a:rPr>
              <a:t>√</a:t>
            </a:r>
            <a:r>
              <a:rPr lang="en-US" altLang="zh-CN" dirty="0">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R,</a:t>
            </a:r>
            <a:r>
              <a:rPr lang="zh-CN" altLang="zh-CN" dirty="0">
                <a:solidFill>
                  <a:srgbClr val="000000"/>
                </a:solidFill>
                <a:latin typeface="+mn-lt"/>
                <a:ea typeface="宋体" panose="02010600030101010101" pitchFamily="2" charset="-122"/>
                <a:cs typeface="Times New Roman" panose="02020603050405020304" pitchFamily="18" charset="0"/>
              </a:rPr>
              <a:t>则</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dirty="0" err="1">
                <a:solidFill>
                  <a:srgbClr val="000000"/>
                </a:solidFill>
                <a:latin typeface="+mn-lt"/>
                <a:ea typeface="宋体" panose="02010600030101010101" pitchFamily="2" charset="-122"/>
                <a:cs typeface="Times New Roman" panose="02020603050405020304" pitchFamily="18" charset="0"/>
              </a:rPr>
              <a:t>i</a:t>
            </a:r>
            <a:r>
              <a:rPr lang="zh-CN" altLang="zh-CN" dirty="0">
                <a:solidFill>
                  <a:srgbClr val="000000"/>
                </a:solidFill>
                <a:latin typeface="+mn-lt"/>
                <a:ea typeface="宋体" panose="02010600030101010101" pitchFamily="2" charset="-122"/>
                <a:cs typeface="Times New Roman" panose="02020603050405020304" pitchFamily="18" charset="0"/>
              </a:rPr>
              <a:t>是纯虚数</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dirty="0">
                <a:latin typeface="+mn-lt"/>
                <a:ea typeface="宋体" panose="02010600030101010101" pitchFamily="2" charset="-122"/>
                <a:cs typeface="Times New Roman" panose="02020603050405020304" pitchFamily="18" charset="0"/>
              </a:rPr>
              <a:t>  </a:t>
            </a:r>
            <a:r>
              <a:rPr lang="en-US" altLang="zh-CN" dirty="0">
                <a:latin typeface="+mn-lt"/>
                <a:ea typeface="方正书宋_GBK" panose="03000509000000000000" pitchFamily="65" charset="-122"/>
                <a:cs typeface="Times New Roman" panose="02020603050405020304" pitchFamily="18" charset="0"/>
              </a:rPr>
              <a:t>×</a:t>
            </a:r>
            <a:r>
              <a:rPr lang="en-US" altLang="zh-CN" dirty="0">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(4)</a:t>
            </a:r>
            <a:r>
              <a:rPr lang="zh-CN" altLang="zh-CN" dirty="0">
                <a:solidFill>
                  <a:srgbClr val="000000"/>
                </a:solidFill>
                <a:latin typeface="+mn-lt"/>
                <a:ea typeface="宋体" panose="02010600030101010101" pitchFamily="2" charset="-122"/>
                <a:cs typeface="Times New Roman" panose="02020603050405020304" pitchFamily="18" charset="0"/>
              </a:rPr>
              <a:t>如果两个复数的实部的差和虚部的差都等于</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宋体" panose="02010600030101010101" pitchFamily="2" charset="-122"/>
                <a:cs typeface="Times New Roman" panose="02020603050405020304" pitchFamily="18" charset="0"/>
              </a:rPr>
              <a:t>那么这两个复数相等</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dirty="0">
                <a:latin typeface="+mn-lt"/>
                <a:ea typeface="宋体" panose="02010600030101010101" pitchFamily="2" charset="-122"/>
                <a:cs typeface="Times New Roman" panose="02020603050405020304" pitchFamily="18" charset="0"/>
              </a:rPr>
              <a:t>  </a:t>
            </a:r>
            <a:r>
              <a:rPr lang="en-US" altLang="zh-CN" dirty="0">
                <a:latin typeface="+mn-lt"/>
                <a:ea typeface="方正书宋_GBK" panose="03000509000000000000" pitchFamily="65" charset="-122"/>
                <a:cs typeface="Times New Roman" panose="02020603050405020304" pitchFamily="18" charset="0"/>
              </a:rPr>
              <a:t>√</a:t>
            </a:r>
            <a:r>
              <a:rPr lang="en-US" altLang="zh-CN" dirty="0">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
        <p:nvSpPr>
          <p:cNvPr id="3" name="矩形 2"/>
          <p:cNvSpPr/>
          <p:nvPr/>
        </p:nvSpPr>
        <p:spPr>
          <a:xfrm>
            <a:off x="6337101" y="2714515"/>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6811558" y="3290564"/>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5799816" y="3888159"/>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2520677" y="5040287"/>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9566684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
        <p:nvSpPr>
          <p:cNvPr id="3" name="圆角矩形 2">
            <a:hlinkClick r:id="rId2" action="ppaction://hlinksldjump"/>
          </p:cNvPr>
          <p:cNvSpPr/>
          <p:nvPr/>
        </p:nvSpPr>
        <p:spPr>
          <a:xfrm>
            <a:off x="2592685"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a:t>探究一</a:t>
            </a:r>
            <a:endParaRPr lang="zh-CN" altLang="en-US" sz="2400"/>
          </a:p>
        </p:txBody>
      </p:sp>
      <p:sp>
        <p:nvSpPr>
          <p:cNvPr id="4" name="圆角矩形 3">
            <a:hlinkClick r:id="rId3" action="ppaction://hlinksldjump"/>
          </p:cNvPr>
          <p:cNvSpPr/>
          <p:nvPr/>
        </p:nvSpPr>
        <p:spPr>
          <a:xfrm>
            <a:off x="4752925"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二</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680479"/>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复数</a:t>
            </a:r>
            <a:r>
              <a:rPr lang="zh-CN" altLang="zh-CN" dirty="0"/>
              <a:t>的</a:t>
            </a:r>
            <a:r>
              <a:rPr lang="zh-CN" altLang="zh-CN" dirty="0" smtClean="0"/>
              <a:t>概念</a:t>
            </a:r>
            <a:endParaRPr lang="zh-CN" altLang="zh-CN" dirty="0"/>
          </a:p>
        </p:txBody>
      </p:sp>
      <p:sp>
        <p:nvSpPr>
          <p:cNvPr id="7" name="矩形 6"/>
          <p:cNvSpPr>
            <a:spLocks noChangeAspect="1"/>
          </p:cNvSpPr>
          <p:nvPr/>
        </p:nvSpPr>
        <p:spPr>
          <a:xfrm>
            <a:off x="361950" y="1151855"/>
            <a:ext cx="10807700" cy="1217641"/>
          </a:xfrm>
          <a:prstGeom prst="rect">
            <a:avLst/>
          </a:prstGeom>
        </p:spPr>
        <p:txBody>
          <a:bodyPr>
            <a:spAutoFit/>
          </a:bodyPr>
          <a:lstStyle/>
          <a:p>
            <a:pPr algn="just">
              <a:lnSpc>
                <a:spcPct val="120000"/>
              </a:lnSpc>
              <a:spcAft>
                <a:spcPts val="0"/>
              </a:spcAft>
              <a:tabLst>
                <a:tab pos="1188085" algn="l"/>
                <a:tab pos="2163445" algn="l"/>
                <a:tab pos="3142615" algn="l"/>
                <a:tab pos="4190365" algn="l"/>
              </a:tabLst>
            </a:pPr>
            <a:r>
              <a:rPr lang="zh-CN" altLang="zh-CN" kern="100" dirty="0">
                <a:solidFill>
                  <a:srgbClr val="000000"/>
                </a:solidFill>
                <a:latin typeface="Arial" panose="020B0604020202020204" pitchFamily="34" charset="0"/>
              </a:rPr>
              <a:t>【例</a:t>
            </a:r>
            <a:r>
              <a:rPr lang="en-US" altLang="zh-CN" kern="100" dirty="0">
                <a:solidFill>
                  <a:srgbClr val="000000"/>
                </a:solidFill>
                <a:ea typeface="宋体" panose="02010600030101010101" pitchFamily="2" charset="-122"/>
              </a:rPr>
              <a:t>1</a:t>
            </a:r>
            <a:r>
              <a:rPr lang="zh-CN" altLang="zh-CN" kern="100" dirty="0">
                <a:solidFill>
                  <a:srgbClr val="000000"/>
                </a:solidFill>
                <a:latin typeface="Arial" panose="020B0604020202020204" pitchFamily="34" charset="0"/>
              </a:rPr>
              <a:t>】</a:t>
            </a:r>
            <a:r>
              <a:rPr lang="zh-CN" altLang="zh-CN" kern="100" dirty="0">
                <a:solidFill>
                  <a:srgbClr val="000000"/>
                </a:solidFill>
                <a:ea typeface="Arial" panose="020B0604020202020204" pitchFamily="34" charset="0"/>
                <a:cs typeface="Times New Roman" panose="02020603050405020304" pitchFamily="18" charset="0"/>
              </a:rPr>
              <a:t> </a:t>
            </a:r>
            <a:r>
              <a:rPr lang="zh-CN" altLang="zh-CN" kern="100" dirty="0">
                <a:solidFill>
                  <a:srgbClr val="000000"/>
                </a:solidFill>
                <a:ea typeface="宋体" panose="02010600030101010101" pitchFamily="2" charset="-122"/>
              </a:rPr>
              <a:t>写出下列复数的实部和虚部</a:t>
            </a:r>
            <a:r>
              <a:rPr lang="en-US" altLang="zh-CN" kern="100" dirty="0">
                <a:solidFill>
                  <a:srgbClr val="000000"/>
                </a:solidFill>
                <a:ea typeface="宋体" panose="02010600030101010101" pitchFamily="2" charset="-122"/>
              </a:rPr>
              <a:t>,</a:t>
            </a:r>
            <a:r>
              <a:rPr lang="zh-CN" altLang="zh-CN" kern="100" dirty="0">
                <a:solidFill>
                  <a:srgbClr val="000000"/>
                </a:solidFill>
                <a:ea typeface="宋体" panose="02010600030101010101" pitchFamily="2" charset="-122"/>
              </a:rPr>
              <a:t>并判断它们是实数</a:t>
            </a:r>
            <a:r>
              <a:rPr lang="en-US" altLang="zh-CN" kern="100" dirty="0">
                <a:solidFill>
                  <a:srgbClr val="000000"/>
                </a:solidFill>
                <a:ea typeface="宋体" panose="02010600030101010101" pitchFamily="2" charset="-122"/>
              </a:rPr>
              <a:t>,</a:t>
            </a:r>
            <a:r>
              <a:rPr lang="zh-CN" altLang="zh-CN" kern="100" dirty="0">
                <a:solidFill>
                  <a:srgbClr val="000000"/>
                </a:solidFill>
                <a:ea typeface="宋体" panose="02010600030101010101" pitchFamily="2" charset="-122"/>
              </a:rPr>
              <a:t>虚数</a:t>
            </a:r>
            <a:r>
              <a:rPr lang="en-US" altLang="zh-CN" kern="100" dirty="0">
                <a:solidFill>
                  <a:srgbClr val="000000"/>
                </a:solidFill>
                <a:ea typeface="宋体" panose="02010600030101010101" pitchFamily="2" charset="-122"/>
              </a:rPr>
              <a:t>,</a:t>
            </a:r>
            <a:r>
              <a:rPr lang="zh-CN" altLang="zh-CN" kern="100" dirty="0">
                <a:solidFill>
                  <a:srgbClr val="000000"/>
                </a:solidFill>
                <a:ea typeface="宋体" panose="02010600030101010101" pitchFamily="2" charset="-122"/>
              </a:rPr>
              <a:t>还是纯虚数</a:t>
            </a:r>
            <a:r>
              <a:rPr lang="en-US" altLang="zh-CN" kern="100" dirty="0">
                <a:solidFill>
                  <a:srgbClr val="000000"/>
                </a:solidFill>
                <a:ea typeface="宋体" panose="02010600030101010101" pitchFamily="2" charset="-122"/>
              </a:rPr>
              <a:t>?</a:t>
            </a:r>
            <a:endParaRPr lang="zh-CN" altLang="zh-CN" kern="100" dirty="0">
              <a:ea typeface="宋体" panose="02010600030101010101" pitchFamily="2"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039872728"/>
              </p:ext>
            </p:extLst>
          </p:nvPr>
        </p:nvGraphicFramePr>
        <p:xfrm>
          <a:off x="504453" y="2303983"/>
          <a:ext cx="11705058" cy="725836"/>
        </p:xfrm>
        <a:graphic>
          <a:graphicData uri="http://schemas.openxmlformats.org/presentationml/2006/ole">
            <mc:AlternateContent xmlns:mc="http://schemas.openxmlformats.org/markup-compatibility/2006">
              <mc:Choice xmlns:v="urn:schemas-microsoft-com:vml" Requires="v">
                <p:oleObj spid="_x0000_s4124" name="文档" r:id="rId4" imgW="3837724" imgH="237979" progId="Word.Document.12">
                  <p:embed/>
                </p:oleObj>
              </mc:Choice>
              <mc:Fallback>
                <p:oleObj name="文档" r:id="rId4" imgW="3837724" imgH="237979" progId="Word.Document.12">
                  <p:embed/>
                  <p:pic>
                    <p:nvPicPr>
                      <p:cNvPr id="0" name=""/>
                      <p:cNvPicPr/>
                      <p:nvPr/>
                    </p:nvPicPr>
                    <p:blipFill>
                      <a:blip r:embed="rId5"/>
                      <a:stretch>
                        <a:fillRect/>
                      </a:stretch>
                    </p:blipFill>
                    <p:spPr>
                      <a:xfrm>
                        <a:off x="504453" y="2303983"/>
                        <a:ext cx="11705058" cy="725836"/>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095233333"/>
              </p:ext>
            </p:extLst>
          </p:nvPr>
        </p:nvGraphicFramePr>
        <p:xfrm>
          <a:off x="471679" y="3024061"/>
          <a:ext cx="11705058" cy="3436722"/>
        </p:xfrm>
        <a:graphic>
          <a:graphicData uri="http://schemas.openxmlformats.org/presentationml/2006/ole">
            <mc:AlternateContent xmlns:mc="http://schemas.openxmlformats.org/markup-compatibility/2006">
              <mc:Choice xmlns:v="urn:schemas-microsoft-com:vml" Requires="v">
                <p:oleObj spid="_x0000_s4125" name="文档" r:id="rId7" imgW="3826872" imgH="1125216" progId="Word.Document.12">
                  <p:embed/>
                </p:oleObj>
              </mc:Choice>
              <mc:Fallback>
                <p:oleObj name="文档" r:id="rId7" imgW="3826872" imgH="1125216" progId="Word.Document.12">
                  <p:embed/>
                  <p:pic>
                    <p:nvPicPr>
                      <p:cNvPr id="0" name=""/>
                      <p:cNvPicPr/>
                      <p:nvPr/>
                    </p:nvPicPr>
                    <p:blipFill>
                      <a:blip r:embed="rId8"/>
                      <a:stretch>
                        <a:fillRect/>
                      </a:stretch>
                    </p:blipFill>
                    <p:spPr>
                      <a:xfrm>
                        <a:off x="471679" y="3024061"/>
                        <a:ext cx="11705058" cy="3436722"/>
                      </a:xfrm>
                      <a:prstGeom prst="rect">
                        <a:avLst/>
                      </a:prstGeom>
                    </p:spPr>
                  </p:pic>
                </p:oleObj>
              </mc:Fallback>
            </mc:AlternateContent>
          </a:graphicData>
        </a:graphic>
      </p:graphicFrame>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反思感悟H.eps" descr="id:2147490797;FounderCES"/>
          <p:cNvPicPr/>
          <p:nvPr/>
        </p:nvPicPr>
        <p:blipFill>
          <a:blip r:embed="rId2"/>
          <a:stretch>
            <a:fillRect/>
          </a:stretch>
        </p:blipFill>
        <p:spPr>
          <a:xfrm>
            <a:off x="361950" y="2007058"/>
            <a:ext cx="2259558" cy="531552"/>
          </a:xfrm>
          <a:prstGeom prst="rect">
            <a:avLst/>
          </a:prstGeom>
        </p:spPr>
      </p:pic>
      <p:sp>
        <p:nvSpPr>
          <p:cNvPr id="4" name="矩形 3"/>
          <p:cNvSpPr>
            <a:spLocks noChangeAspect="1"/>
          </p:cNvSpPr>
          <p:nvPr/>
        </p:nvSpPr>
        <p:spPr>
          <a:xfrm>
            <a:off x="361950" y="2598510"/>
            <a:ext cx="10807700" cy="1217641"/>
          </a:xfrm>
          <a:prstGeom prst="rect">
            <a:avLst/>
          </a:prstGeom>
        </p:spPr>
        <p:txBody>
          <a:bodyPr>
            <a:spAutoFit/>
          </a:bodyPr>
          <a:lstStyle/>
          <a:p>
            <a:pPr algn="just">
              <a:lnSpc>
                <a:spcPct val="120000"/>
              </a:lnSpc>
              <a:spcAft>
                <a:spcPts val="0"/>
              </a:spcAft>
              <a:tabLst>
                <a:tab pos="1188085" algn="l"/>
                <a:tab pos="2163445" algn="l"/>
                <a:tab pos="3142615" algn="l"/>
                <a:tab pos="4190365" algn="l"/>
              </a:tabLst>
            </a:pPr>
            <a:r>
              <a:rPr lang="zh-CN" altLang="zh-CN" kern="100" dirty="0">
                <a:solidFill>
                  <a:srgbClr val="000000"/>
                </a:solidFill>
                <a:ea typeface="仿宋" panose="02010609060101010101" pitchFamily="49" charset="-122"/>
              </a:rPr>
              <a:t>复数</a:t>
            </a:r>
            <a:r>
              <a:rPr lang="en-US" altLang="zh-CN" i="1" kern="100" dirty="0" err="1">
                <a:solidFill>
                  <a:srgbClr val="000000"/>
                </a:solidFill>
                <a:ea typeface="宋体" panose="02010600030101010101" pitchFamily="2" charset="-122"/>
              </a:rPr>
              <a:t>a+b</a:t>
            </a:r>
            <a:r>
              <a:rPr lang="en-US" altLang="zh-CN" kern="100" dirty="0" err="1">
                <a:solidFill>
                  <a:srgbClr val="000000"/>
                </a:solidFill>
                <a:ea typeface="宋体" panose="02010600030101010101" pitchFamily="2" charset="-122"/>
              </a:rPr>
              <a:t>i</a:t>
            </a:r>
            <a:r>
              <a:rPr lang="en-US" altLang="zh-CN" kern="100" dirty="0">
                <a:solidFill>
                  <a:srgbClr val="000000"/>
                </a:solidFill>
                <a:ea typeface="宋体" panose="02010600030101010101" pitchFamily="2" charset="-122"/>
              </a:rPr>
              <a:t>(</a:t>
            </a:r>
            <a:r>
              <a:rPr lang="en-US" altLang="zh-CN" i="1" kern="100" dirty="0" err="1">
                <a:solidFill>
                  <a:srgbClr val="000000"/>
                </a:solidFill>
                <a:ea typeface="宋体" panose="02010600030101010101" pitchFamily="2" charset="-122"/>
              </a:rPr>
              <a:t>a</a:t>
            </a:r>
            <a:r>
              <a:rPr lang="en-US" altLang="zh-CN" kern="100" dirty="0" err="1">
                <a:solidFill>
                  <a:srgbClr val="000000"/>
                </a:solidFill>
                <a:ea typeface="宋体" panose="02010600030101010101" pitchFamily="2" charset="-122"/>
              </a:rPr>
              <a:t>,</a:t>
            </a:r>
            <a:r>
              <a:rPr lang="en-US" altLang="zh-CN" i="1" kern="100" dirty="0" err="1">
                <a:solidFill>
                  <a:srgbClr val="000000"/>
                </a:solidFill>
                <a:ea typeface="宋体" panose="02010600030101010101" pitchFamily="2" charset="-122"/>
              </a:rPr>
              <a:t>b</a:t>
            </a:r>
            <a:r>
              <a:rPr lang="zh-CN" altLang="zh-CN" kern="100" dirty="0">
                <a:solidFill>
                  <a:srgbClr val="000000"/>
                </a:solidFill>
                <a:ea typeface="宋体" panose="02010600030101010101" pitchFamily="2" charset="-122"/>
                <a:cs typeface="宋体" panose="02010600030101010101" pitchFamily="2" charset="-122"/>
              </a:rPr>
              <a:t>∈</a:t>
            </a:r>
            <a:r>
              <a:rPr lang="en-US" altLang="zh-CN" kern="100" dirty="0">
                <a:solidFill>
                  <a:srgbClr val="000000"/>
                </a:solidFill>
                <a:ea typeface="宋体" panose="02010600030101010101" pitchFamily="2" charset="-122"/>
              </a:rPr>
              <a:t>R)</a:t>
            </a:r>
            <a:r>
              <a:rPr lang="zh-CN" altLang="zh-CN" kern="100" dirty="0">
                <a:solidFill>
                  <a:srgbClr val="000000"/>
                </a:solidFill>
                <a:ea typeface="仿宋" panose="02010609060101010101" pitchFamily="49" charset="-122"/>
              </a:rPr>
              <a:t>中</a:t>
            </a:r>
            <a:r>
              <a:rPr lang="en-US" altLang="zh-CN" kern="100" dirty="0">
                <a:solidFill>
                  <a:srgbClr val="000000"/>
                </a:solidFill>
                <a:ea typeface="宋体" panose="02010600030101010101" pitchFamily="2" charset="-122"/>
              </a:rPr>
              <a:t>,</a:t>
            </a:r>
            <a:r>
              <a:rPr lang="zh-CN" altLang="zh-CN" kern="100" dirty="0">
                <a:solidFill>
                  <a:srgbClr val="000000"/>
                </a:solidFill>
                <a:ea typeface="仿宋" panose="02010609060101010101" pitchFamily="49" charset="-122"/>
              </a:rPr>
              <a:t>实数</a:t>
            </a:r>
            <a:r>
              <a:rPr lang="en-US" altLang="zh-CN" i="1" kern="100" dirty="0">
                <a:solidFill>
                  <a:srgbClr val="000000"/>
                </a:solidFill>
                <a:ea typeface="宋体" panose="02010600030101010101" pitchFamily="2" charset="-122"/>
              </a:rPr>
              <a:t>a</a:t>
            </a:r>
            <a:r>
              <a:rPr lang="zh-CN" altLang="zh-CN" kern="100" dirty="0">
                <a:solidFill>
                  <a:srgbClr val="000000"/>
                </a:solidFill>
                <a:ea typeface="仿宋" panose="02010609060101010101" pitchFamily="49" charset="-122"/>
              </a:rPr>
              <a:t>和</a:t>
            </a:r>
            <a:r>
              <a:rPr lang="en-US" altLang="zh-CN" i="1" kern="100" dirty="0">
                <a:solidFill>
                  <a:srgbClr val="000000"/>
                </a:solidFill>
                <a:ea typeface="宋体" panose="02010600030101010101" pitchFamily="2" charset="-122"/>
              </a:rPr>
              <a:t>b</a:t>
            </a:r>
            <a:r>
              <a:rPr lang="zh-CN" altLang="zh-CN" kern="100" dirty="0">
                <a:solidFill>
                  <a:srgbClr val="000000"/>
                </a:solidFill>
                <a:ea typeface="仿宋" panose="02010609060101010101" pitchFamily="49" charset="-122"/>
              </a:rPr>
              <a:t>分别叫做复数的实部和虚部</a:t>
            </a:r>
            <a:r>
              <a:rPr lang="en-US" altLang="zh-CN" i="1" kern="100" dirty="0">
                <a:solidFill>
                  <a:srgbClr val="000000"/>
                </a:solidFill>
                <a:ea typeface="宋体" panose="02010600030101010101" pitchFamily="2" charset="-122"/>
              </a:rPr>
              <a:t>.</a:t>
            </a:r>
            <a:r>
              <a:rPr lang="zh-CN" altLang="zh-CN" kern="100" dirty="0">
                <a:solidFill>
                  <a:srgbClr val="000000"/>
                </a:solidFill>
                <a:ea typeface="仿宋" panose="02010609060101010101" pitchFamily="49" charset="-122"/>
              </a:rPr>
              <a:t>特别注意</a:t>
            </a:r>
            <a:r>
              <a:rPr lang="en-US" altLang="zh-CN" kern="100" dirty="0">
                <a:solidFill>
                  <a:srgbClr val="000000"/>
                </a:solidFill>
                <a:ea typeface="宋体" panose="02010600030101010101" pitchFamily="2" charset="-122"/>
              </a:rPr>
              <a:t>,</a:t>
            </a:r>
            <a:r>
              <a:rPr lang="zh-CN" altLang="zh-CN" kern="100" dirty="0">
                <a:solidFill>
                  <a:srgbClr val="000000"/>
                </a:solidFill>
                <a:ea typeface="仿宋" panose="02010609060101010101" pitchFamily="49" charset="-122"/>
              </a:rPr>
              <a:t>虚部是</a:t>
            </a:r>
            <a:r>
              <a:rPr lang="en-US" altLang="zh-CN" i="1" kern="100" dirty="0">
                <a:solidFill>
                  <a:srgbClr val="000000"/>
                </a:solidFill>
                <a:ea typeface="宋体" panose="02010600030101010101" pitchFamily="2" charset="-122"/>
              </a:rPr>
              <a:t>b</a:t>
            </a:r>
            <a:r>
              <a:rPr lang="en-US" altLang="zh-CN" kern="100" dirty="0">
                <a:solidFill>
                  <a:srgbClr val="000000"/>
                </a:solidFill>
                <a:ea typeface="宋体" panose="02010600030101010101" pitchFamily="2" charset="-122"/>
              </a:rPr>
              <a:t>,</a:t>
            </a:r>
            <a:r>
              <a:rPr lang="zh-CN" altLang="zh-CN" kern="100" dirty="0">
                <a:solidFill>
                  <a:srgbClr val="000000"/>
                </a:solidFill>
                <a:ea typeface="仿宋" panose="02010609060101010101" pitchFamily="49" charset="-122"/>
              </a:rPr>
              <a:t>而不是</a:t>
            </a:r>
            <a:r>
              <a:rPr lang="en-US" altLang="zh-CN" i="1" kern="100" dirty="0">
                <a:solidFill>
                  <a:srgbClr val="000000"/>
                </a:solidFill>
                <a:ea typeface="宋体" panose="02010600030101010101" pitchFamily="2" charset="-122"/>
              </a:rPr>
              <a:t>b</a:t>
            </a:r>
            <a:r>
              <a:rPr lang="en-US" altLang="zh-CN" kern="100" dirty="0">
                <a:solidFill>
                  <a:srgbClr val="000000"/>
                </a:solidFill>
                <a:ea typeface="宋体" panose="02010600030101010101" pitchFamily="2" charset="-122"/>
              </a:rPr>
              <a:t>i</a:t>
            </a:r>
            <a:r>
              <a:rPr lang="en-US" altLang="zh-CN" i="1" kern="100" dirty="0">
                <a:solidFill>
                  <a:srgbClr val="000000"/>
                </a:solidFill>
                <a:ea typeface="宋体" panose="02010600030101010101" pitchFamily="2" charset="-122"/>
              </a:rPr>
              <a:t>.</a:t>
            </a:r>
            <a:endParaRPr lang="zh-CN" altLang="zh-CN" kern="100" dirty="0">
              <a:ea typeface="宋体" panose="02010600030101010101" pitchFamily="2" charset="-122"/>
            </a:endParaRPr>
          </a:p>
        </p:txBody>
      </p:sp>
    </p:spTree>
    <p:extLst>
      <p:ext uri="{BB962C8B-B14F-4D97-AF65-F5344CB8AC3E}">
        <p14:creationId xmlns:p14="http://schemas.microsoft.com/office/powerpoint/2010/main" val="377649685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63823"/>
            <a:ext cx="10807700" cy="4910960"/>
          </a:xfrm>
          <a:prstGeom prst="rect">
            <a:avLst/>
          </a:prstGeom>
        </p:spPr>
        <p:txBody>
          <a:bodyPr>
            <a:spAutoFit/>
          </a:bodyPr>
          <a:lstStyle/>
          <a:p>
            <a:pPr algn="just">
              <a:lnSpc>
                <a:spcPct val="120000"/>
              </a:lnSpc>
              <a:spcAft>
                <a:spcPts val="0"/>
              </a:spcAft>
              <a:tabLst>
                <a:tab pos="1188085" algn="l"/>
                <a:tab pos="2163445" algn="l"/>
                <a:tab pos="3142615" algn="l"/>
                <a:tab pos="4190365" algn="l"/>
              </a:tabLst>
            </a:pPr>
            <a:r>
              <a:rPr lang="zh-CN" altLang="zh-CN" kern="100" dirty="0">
                <a:solidFill>
                  <a:srgbClr val="000000"/>
                </a:solidFill>
                <a:latin typeface="Arial" panose="020B0604020202020204" pitchFamily="34" charset="0"/>
              </a:rPr>
              <a:t>【变式训练</a:t>
            </a:r>
            <a:r>
              <a:rPr lang="en-US" altLang="zh-CN" kern="100" dirty="0">
                <a:solidFill>
                  <a:srgbClr val="000000"/>
                </a:solidFill>
                <a:ea typeface="宋体" panose="02010600030101010101" pitchFamily="2" charset="-122"/>
              </a:rPr>
              <a:t>1</a:t>
            </a:r>
            <a:r>
              <a:rPr lang="zh-CN" altLang="zh-CN" kern="100" dirty="0">
                <a:solidFill>
                  <a:srgbClr val="000000"/>
                </a:solidFill>
                <a:latin typeface="Arial" panose="020B0604020202020204" pitchFamily="34" charset="0"/>
              </a:rPr>
              <a:t>】</a:t>
            </a:r>
            <a:r>
              <a:rPr lang="zh-CN" altLang="zh-CN" kern="100" dirty="0">
                <a:solidFill>
                  <a:srgbClr val="000000"/>
                </a:solidFill>
                <a:ea typeface="Arial" panose="020B0604020202020204" pitchFamily="34" charset="0"/>
                <a:cs typeface="Times New Roman" panose="02020603050405020304" pitchFamily="18" charset="0"/>
              </a:rPr>
              <a:t> </a:t>
            </a:r>
            <a:r>
              <a:rPr lang="en-US" altLang="zh-CN" kern="100" dirty="0">
                <a:solidFill>
                  <a:srgbClr val="000000"/>
                </a:solidFill>
                <a:ea typeface="宋体" panose="02010600030101010101" pitchFamily="2" charset="-122"/>
              </a:rPr>
              <a:t>(</a:t>
            </a:r>
            <a:r>
              <a:rPr lang="zh-CN" altLang="zh-CN" kern="100" dirty="0">
                <a:solidFill>
                  <a:srgbClr val="000000"/>
                </a:solidFill>
                <a:ea typeface="楷体" panose="02010609060101010101" pitchFamily="49" charset="-122"/>
              </a:rPr>
              <a:t>多选题</a:t>
            </a:r>
            <a:r>
              <a:rPr lang="en-US" altLang="zh-CN" kern="100" dirty="0">
                <a:solidFill>
                  <a:srgbClr val="000000"/>
                </a:solidFill>
                <a:ea typeface="宋体" panose="02010600030101010101" pitchFamily="2" charset="-122"/>
              </a:rPr>
              <a:t>)</a:t>
            </a:r>
            <a:r>
              <a:rPr lang="zh-CN" altLang="zh-CN" kern="100" dirty="0">
                <a:solidFill>
                  <a:srgbClr val="000000"/>
                </a:solidFill>
                <a:ea typeface="宋体" panose="02010600030101010101" pitchFamily="2" charset="-122"/>
              </a:rPr>
              <a:t>下列说法正确的是</a:t>
            </a:r>
            <a:r>
              <a:rPr lang="en-US" altLang="zh-CN" kern="100" dirty="0">
                <a:solidFill>
                  <a:srgbClr val="000000"/>
                </a:solidFill>
                <a:ea typeface="宋体" panose="02010600030101010101" pitchFamily="2" charset="-122"/>
              </a:rPr>
              <a:t>(</a:t>
            </a:r>
            <a:r>
              <a:rPr lang="zh-CN" altLang="zh-CN" i="1" kern="100" dirty="0">
                <a:solidFill>
                  <a:srgbClr val="000000"/>
                </a:solidFill>
                <a:ea typeface="宋体" panose="02010600030101010101" pitchFamily="2" charset="-122"/>
              </a:rPr>
              <a:t>　　</a:t>
            </a:r>
            <a:r>
              <a:rPr lang="en-US" altLang="zh-CN" kern="100" dirty="0">
                <a:solidFill>
                  <a:srgbClr val="000000"/>
                </a:solidFill>
                <a:ea typeface="宋体" panose="02010600030101010101" pitchFamily="2" charset="-122"/>
              </a:rPr>
              <a:t>)</a:t>
            </a:r>
            <a:endParaRPr lang="zh-CN" altLang="zh-CN" kern="100" dirty="0">
              <a:ea typeface="宋体" panose="02010600030101010101" pitchFamily="2" charset="-122"/>
            </a:endParaRPr>
          </a:p>
          <a:p>
            <a:pPr algn="just">
              <a:lnSpc>
                <a:spcPct val="120000"/>
              </a:lnSpc>
              <a:spcAft>
                <a:spcPts val="0"/>
              </a:spcAft>
              <a:tabLst>
                <a:tab pos="1188085" algn="l"/>
                <a:tab pos="2163445" algn="l"/>
                <a:tab pos="3142615" algn="l"/>
                <a:tab pos="4190365" algn="l"/>
              </a:tabLst>
            </a:pPr>
            <a:r>
              <a:rPr lang="en-US" altLang="zh-CN" kern="100" dirty="0">
                <a:solidFill>
                  <a:srgbClr val="000000"/>
                </a:solidFill>
                <a:ea typeface="宋体" panose="02010600030101010101" pitchFamily="2" charset="-122"/>
              </a:rPr>
              <a:t>A.</a:t>
            </a:r>
            <a:r>
              <a:rPr lang="zh-CN" altLang="zh-CN" kern="100" dirty="0">
                <a:solidFill>
                  <a:srgbClr val="000000"/>
                </a:solidFill>
                <a:ea typeface="宋体" panose="02010600030101010101" pitchFamily="2" charset="-122"/>
              </a:rPr>
              <a:t>若</a:t>
            </a:r>
            <a:r>
              <a:rPr lang="en-US" altLang="zh-CN" i="1" kern="100" dirty="0">
                <a:solidFill>
                  <a:srgbClr val="000000"/>
                </a:solidFill>
                <a:ea typeface="宋体" panose="02010600030101010101" pitchFamily="2" charset="-122"/>
              </a:rPr>
              <a:t>z</a:t>
            </a:r>
            <a:r>
              <a:rPr lang="zh-CN" altLang="zh-CN" kern="100" dirty="0">
                <a:solidFill>
                  <a:srgbClr val="000000"/>
                </a:solidFill>
                <a:ea typeface="宋体" panose="02010600030101010101" pitchFamily="2" charset="-122"/>
                <a:cs typeface="宋体" panose="02010600030101010101" pitchFamily="2" charset="-122"/>
              </a:rPr>
              <a:t>∈</a:t>
            </a:r>
            <a:r>
              <a:rPr lang="en-US" altLang="zh-CN" kern="100" dirty="0">
                <a:solidFill>
                  <a:srgbClr val="000000"/>
                </a:solidFill>
                <a:ea typeface="宋体" panose="02010600030101010101" pitchFamily="2" charset="-122"/>
              </a:rPr>
              <a:t>C,</a:t>
            </a:r>
            <a:r>
              <a:rPr lang="zh-CN" altLang="zh-CN" kern="100" dirty="0">
                <a:solidFill>
                  <a:srgbClr val="000000"/>
                </a:solidFill>
                <a:ea typeface="宋体" panose="02010600030101010101" pitchFamily="2" charset="-122"/>
              </a:rPr>
              <a:t>则</a:t>
            </a:r>
            <a:r>
              <a:rPr lang="en-US" altLang="zh-CN" i="1" kern="100" dirty="0">
                <a:solidFill>
                  <a:srgbClr val="000000"/>
                </a:solidFill>
                <a:ea typeface="宋体" panose="02010600030101010101" pitchFamily="2" charset="-122"/>
              </a:rPr>
              <a:t>z</a:t>
            </a:r>
            <a:r>
              <a:rPr lang="en-US" altLang="zh-CN" kern="100" baseline="30000" dirty="0">
                <a:solidFill>
                  <a:srgbClr val="000000"/>
                </a:solidFill>
                <a:ea typeface="宋体" panose="02010600030101010101" pitchFamily="2" charset="-122"/>
              </a:rPr>
              <a:t>2</a:t>
            </a:r>
            <a:r>
              <a:rPr lang="en-US" altLang="zh-CN" kern="100" dirty="0">
                <a:solidFill>
                  <a:srgbClr val="000000"/>
                </a:solidFill>
                <a:latin typeface="宋体" panose="02010600030101010101" pitchFamily="2" charset="-122"/>
                <a:ea typeface="宋体" panose="02010600030101010101" pitchFamily="2" charset="-122"/>
              </a:rPr>
              <a:t>≥</a:t>
            </a:r>
            <a:r>
              <a:rPr lang="en-US" altLang="zh-CN" kern="100" dirty="0">
                <a:solidFill>
                  <a:srgbClr val="000000"/>
                </a:solidFill>
                <a:ea typeface="宋体" panose="02010600030101010101" pitchFamily="2" charset="-122"/>
              </a:rPr>
              <a:t>0</a:t>
            </a:r>
            <a:endParaRPr lang="zh-CN" altLang="zh-CN" kern="100" dirty="0">
              <a:ea typeface="宋体" panose="02010600030101010101" pitchFamily="2" charset="-122"/>
            </a:endParaRPr>
          </a:p>
          <a:p>
            <a:pPr algn="just">
              <a:lnSpc>
                <a:spcPct val="120000"/>
              </a:lnSpc>
              <a:spcAft>
                <a:spcPts val="0"/>
              </a:spcAft>
              <a:tabLst>
                <a:tab pos="1188085" algn="l"/>
                <a:tab pos="2163445" algn="l"/>
                <a:tab pos="3142615" algn="l"/>
                <a:tab pos="4190365" algn="l"/>
              </a:tabLst>
            </a:pPr>
            <a:r>
              <a:rPr lang="en-US" altLang="zh-CN" kern="100" dirty="0">
                <a:solidFill>
                  <a:srgbClr val="000000"/>
                </a:solidFill>
                <a:ea typeface="宋体" panose="02010600030101010101" pitchFamily="2" charset="-122"/>
              </a:rPr>
              <a:t>B.2i</a:t>
            </a:r>
            <a:r>
              <a:rPr lang="en-US" altLang="zh-CN" i="1" kern="100" dirty="0">
                <a:solidFill>
                  <a:srgbClr val="000000"/>
                </a:solidFill>
                <a:ea typeface="宋体" panose="02010600030101010101" pitchFamily="2" charset="-122"/>
              </a:rPr>
              <a:t>-</a:t>
            </a:r>
            <a:r>
              <a:rPr lang="en-US" altLang="zh-CN" kern="100" dirty="0">
                <a:solidFill>
                  <a:srgbClr val="000000"/>
                </a:solidFill>
                <a:ea typeface="宋体" panose="02010600030101010101" pitchFamily="2" charset="-122"/>
              </a:rPr>
              <a:t>1</a:t>
            </a:r>
            <a:r>
              <a:rPr lang="zh-CN" altLang="zh-CN" kern="100" dirty="0">
                <a:solidFill>
                  <a:srgbClr val="000000"/>
                </a:solidFill>
                <a:ea typeface="宋体" panose="02010600030101010101" pitchFamily="2" charset="-122"/>
              </a:rPr>
              <a:t>的虚部是</a:t>
            </a:r>
            <a:r>
              <a:rPr lang="en-US" altLang="zh-CN" kern="100" dirty="0">
                <a:solidFill>
                  <a:srgbClr val="000000"/>
                </a:solidFill>
                <a:ea typeface="宋体" panose="02010600030101010101" pitchFamily="2" charset="-122"/>
              </a:rPr>
              <a:t>2i</a:t>
            </a:r>
            <a:endParaRPr lang="zh-CN" altLang="zh-CN" kern="100" dirty="0">
              <a:ea typeface="宋体" panose="02010600030101010101" pitchFamily="2" charset="-122"/>
            </a:endParaRPr>
          </a:p>
          <a:p>
            <a:pPr algn="just">
              <a:lnSpc>
                <a:spcPct val="120000"/>
              </a:lnSpc>
              <a:spcAft>
                <a:spcPts val="0"/>
              </a:spcAft>
              <a:tabLst>
                <a:tab pos="1188085" algn="l"/>
                <a:tab pos="2163445" algn="l"/>
                <a:tab pos="3142615" algn="l"/>
                <a:tab pos="4190365" algn="l"/>
              </a:tabLst>
            </a:pPr>
            <a:r>
              <a:rPr lang="en-US" altLang="zh-CN" kern="100" dirty="0">
                <a:solidFill>
                  <a:srgbClr val="000000"/>
                </a:solidFill>
                <a:ea typeface="宋体" panose="02010600030101010101" pitchFamily="2" charset="-122"/>
              </a:rPr>
              <a:t>C.2i</a:t>
            </a:r>
            <a:r>
              <a:rPr lang="zh-CN" altLang="zh-CN" kern="100" dirty="0">
                <a:solidFill>
                  <a:srgbClr val="000000"/>
                </a:solidFill>
                <a:ea typeface="宋体" panose="02010600030101010101" pitchFamily="2" charset="-122"/>
              </a:rPr>
              <a:t>的实部是</a:t>
            </a:r>
            <a:r>
              <a:rPr lang="en-US" altLang="zh-CN" kern="100" dirty="0">
                <a:solidFill>
                  <a:srgbClr val="000000"/>
                </a:solidFill>
                <a:ea typeface="宋体" panose="02010600030101010101" pitchFamily="2" charset="-122"/>
              </a:rPr>
              <a:t>0</a:t>
            </a:r>
            <a:endParaRPr lang="zh-CN" altLang="zh-CN" kern="100" dirty="0">
              <a:ea typeface="宋体" panose="02010600030101010101" pitchFamily="2" charset="-122"/>
            </a:endParaRPr>
          </a:p>
          <a:p>
            <a:pPr algn="just">
              <a:lnSpc>
                <a:spcPct val="120000"/>
              </a:lnSpc>
              <a:spcAft>
                <a:spcPts val="0"/>
              </a:spcAft>
              <a:tabLst>
                <a:tab pos="1188085" algn="l"/>
                <a:tab pos="2163445" algn="l"/>
                <a:tab pos="3142615" algn="l"/>
                <a:tab pos="4190365" algn="l"/>
              </a:tabLst>
            </a:pPr>
            <a:r>
              <a:rPr lang="en-US" altLang="zh-CN" kern="100" dirty="0">
                <a:solidFill>
                  <a:srgbClr val="000000"/>
                </a:solidFill>
                <a:ea typeface="宋体" panose="02010600030101010101" pitchFamily="2" charset="-122"/>
              </a:rPr>
              <a:t>D.</a:t>
            </a:r>
            <a:r>
              <a:rPr lang="zh-CN" altLang="zh-CN" kern="100" dirty="0">
                <a:solidFill>
                  <a:srgbClr val="000000"/>
                </a:solidFill>
                <a:ea typeface="宋体" panose="02010600030101010101" pitchFamily="2" charset="-122"/>
              </a:rPr>
              <a:t>实数集是复数集的真子集</a:t>
            </a:r>
            <a:endParaRPr lang="zh-CN" altLang="zh-CN" kern="100" dirty="0">
              <a:ea typeface="宋体" panose="02010600030101010101" pitchFamily="2" charset="-122"/>
            </a:endParaRPr>
          </a:p>
          <a:p>
            <a:pPr algn="just">
              <a:lnSpc>
                <a:spcPct val="120000"/>
              </a:lnSpc>
              <a:spcAft>
                <a:spcPts val="0"/>
              </a:spcAft>
              <a:tabLst>
                <a:tab pos="1188085" algn="l"/>
                <a:tab pos="2163445" algn="l"/>
                <a:tab pos="3142615" algn="l"/>
                <a:tab pos="4190365" algn="l"/>
              </a:tabLst>
            </a:pPr>
            <a:r>
              <a:rPr lang="zh-CN" altLang="zh-CN" kern="100" dirty="0">
                <a:latin typeface="Arial" panose="020B0604020202020204" pitchFamily="34" charset="0"/>
              </a:rPr>
              <a:t>解析</a:t>
            </a:r>
            <a:r>
              <a:rPr lang="en-US" altLang="zh-CN" kern="100" dirty="0">
                <a:latin typeface="Arial" panose="020B0604020202020204" pitchFamily="34" charset="0"/>
                <a:cs typeface="Times New Roman" panose="02020603050405020304" pitchFamily="18" charset="0"/>
              </a:rPr>
              <a:t>:</a:t>
            </a:r>
            <a:r>
              <a:rPr lang="zh-CN" altLang="zh-CN" kern="100" dirty="0">
                <a:solidFill>
                  <a:srgbClr val="000000"/>
                </a:solidFill>
                <a:ea typeface="楷体" panose="02010609060101010101" pitchFamily="49" charset="-122"/>
              </a:rPr>
              <a:t>令</a:t>
            </a:r>
            <a:r>
              <a:rPr lang="en-US" altLang="zh-CN" i="1" kern="100" dirty="0">
                <a:solidFill>
                  <a:srgbClr val="000000"/>
                </a:solidFill>
                <a:ea typeface="宋体" panose="02010600030101010101" pitchFamily="2" charset="-122"/>
              </a:rPr>
              <a:t>z=</a:t>
            </a:r>
            <a:r>
              <a:rPr lang="en-US" altLang="zh-CN" kern="100" dirty="0" err="1">
                <a:solidFill>
                  <a:srgbClr val="000000"/>
                </a:solidFill>
                <a:ea typeface="宋体" panose="02010600030101010101" pitchFamily="2" charset="-122"/>
              </a:rPr>
              <a:t>i</a:t>
            </a:r>
            <a:r>
              <a:rPr lang="zh-CN" altLang="zh-CN" kern="100" dirty="0">
                <a:solidFill>
                  <a:srgbClr val="000000"/>
                </a:solidFill>
                <a:ea typeface="宋体" panose="02010600030101010101" pitchFamily="2" charset="-122"/>
                <a:cs typeface="宋体" panose="02010600030101010101" pitchFamily="2" charset="-122"/>
              </a:rPr>
              <a:t>∈</a:t>
            </a:r>
            <a:r>
              <a:rPr lang="en-US" altLang="zh-CN" kern="100" dirty="0">
                <a:solidFill>
                  <a:srgbClr val="000000"/>
                </a:solidFill>
                <a:ea typeface="宋体" panose="02010600030101010101" pitchFamily="2" charset="-122"/>
              </a:rPr>
              <a:t>C,</a:t>
            </a:r>
            <a:r>
              <a:rPr lang="zh-CN" altLang="zh-CN" kern="100" dirty="0">
                <a:solidFill>
                  <a:srgbClr val="000000"/>
                </a:solidFill>
                <a:ea typeface="楷体" panose="02010609060101010101" pitchFamily="49" charset="-122"/>
              </a:rPr>
              <a:t>则</a:t>
            </a:r>
            <a:r>
              <a:rPr lang="en-US" altLang="zh-CN" kern="100" dirty="0">
                <a:solidFill>
                  <a:srgbClr val="000000"/>
                </a:solidFill>
                <a:ea typeface="宋体" panose="02010600030101010101" pitchFamily="2" charset="-122"/>
              </a:rPr>
              <a:t>i</a:t>
            </a:r>
            <a:r>
              <a:rPr lang="en-US" altLang="zh-CN" kern="100" baseline="30000" dirty="0">
                <a:solidFill>
                  <a:srgbClr val="000000"/>
                </a:solidFill>
                <a:ea typeface="宋体" panose="02010600030101010101" pitchFamily="2" charset="-122"/>
              </a:rPr>
              <a:t>2</a:t>
            </a:r>
            <a:r>
              <a:rPr lang="en-US" altLang="zh-CN" i="1" kern="100" dirty="0">
                <a:solidFill>
                  <a:srgbClr val="000000"/>
                </a:solidFill>
                <a:ea typeface="宋体" panose="02010600030101010101" pitchFamily="2" charset="-122"/>
              </a:rPr>
              <a:t>=-</a:t>
            </a:r>
            <a:r>
              <a:rPr lang="en-US" altLang="zh-CN" kern="100" dirty="0">
                <a:solidFill>
                  <a:srgbClr val="000000"/>
                </a:solidFill>
                <a:ea typeface="宋体" panose="02010600030101010101" pitchFamily="2" charset="-122"/>
              </a:rPr>
              <a:t>1</a:t>
            </a:r>
            <a:r>
              <a:rPr lang="en-US" altLang="zh-CN" i="1" kern="100" dirty="0">
                <a:solidFill>
                  <a:srgbClr val="000000"/>
                </a:solidFill>
                <a:ea typeface="宋体" panose="02010600030101010101" pitchFamily="2" charset="-122"/>
              </a:rPr>
              <a:t>&lt;</a:t>
            </a:r>
            <a:r>
              <a:rPr lang="en-US" altLang="zh-CN" kern="100" dirty="0">
                <a:solidFill>
                  <a:srgbClr val="000000"/>
                </a:solidFill>
                <a:ea typeface="宋体" panose="02010600030101010101" pitchFamily="2" charset="-122"/>
              </a:rPr>
              <a:t>0,</a:t>
            </a:r>
            <a:r>
              <a:rPr lang="zh-CN" altLang="zh-CN" kern="100" dirty="0">
                <a:solidFill>
                  <a:srgbClr val="000000"/>
                </a:solidFill>
                <a:ea typeface="楷体" panose="02010609060101010101" pitchFamily="49" charset="-122"/>
              </a:rPr>
              <a:t>故</a:t>
            </a:r>
            <a:r>
              <a:rPr lang="en-US" altLang="zh-CN" kern="100" dirty="0">
                <a:solidFill>
                  <a:srgbClr val="000000"/>
                </a:solidFill>
                <a:ea typeface="宋体" panose="02010600030101010101" pitchFamily="2" charset="-122"/>
              </a:rPr>
              <a:t>A</a:t>
            </a:r>
            <a:r>
              <a:rPr lang="zh-CN" altLang="zh-CN" kern="100" dirty="0">
                <a:solidFill>
                  <a:srgbClr val="000000"/>
                </a:solidFill>
                <a:ea typeface="楷体" panose="02010609060101010101" pitchFamily="49" charset="-122"/>
              </a:rPr>
              <a:t>不正确</a:t>
            </a:r>
            <a:r>
              <a:rPr lang="en-US" altLang="zh-CN" kern="100" dirty="0">
                <a:solidFill>
                  <a:srgbClr val="000000"/>
                </a:solidFill>
                <a:ea typeface="宋体" panose="02010600030101010101" pitchFamily="2" charset="-122"/>
              </a:rPr>
              <a:t>;2i</a:t>
            </a:r>
            <a:r>
              <a:rPr lang="en-US" altLang="zh-CN" i="1" kern="100" dirty="0">
                <a:solidFill>
                  <a:srgbClr val="000000"/>
                </a:solidFill>
                <a:ea typeface="宋体" panose="02010600030101010101" pitchFamily="2" charset="-122"/>
              </a:rPr>
              <a:t>-</a:t>
            </a:r>
            <a:r>
              <a:rPr lang="en-US" altLang="zh-CN" kern="100" dirty="0">
                <a:solidFill>
                  <a:srgbClr val="000000"/>
                </a:solidFill>
                <a:ea typeface="宋体" panose="02010600030101010101" pitchFamily="2" charset="-122"/>
              </a:rPr>
              <a:t>1</a:t>
            </a:r>
            <a:r>
              <a:rPr lang="zh-CN" altLang="zh-CN" kern="100" dirty="0">
                <a:solidFill>
                  <a:srgbClr val="000000"/>
                </a:solidFill>
                <a:ea typeface="楷体" panose="02010609060101010101" pitchFamily="49" charset="-122"/>
              </a:rPr>
              <a:t>的虚部是</a:t>
            </a:r>
            <a:r>
              <a:rPr lang="en-US" altLang="zh-CN" kern="100" dirty="0">
                <a:solidFill>
                  <a:srgbClr val="000000"/>
                </a:solidFill>
                <a:ea typeface="宋体" panose="02010600030101010101" pitchFamily="2" charset="-122"/>
              </a:rPr>
              <a:t>2,</a:t>
            </a:r>
            <a:r>
              <a:rPr lang="zh-CN" altLang="zh-CN" kern="100" dirty="0">
                <a:solidFill>
                  <a:srgbClr val="000000"/>
                </a:solidFill>
                <a:ea typeface="楷体" panose="02010609060101010101" pitchFamily="49" charset="-122"/>
              </a:rPr>
              <a:t>故</a:t>
            </a:r>
            <a:r>
              <a:rPr lang="en-US" altLang="zh-CN" kern="100" dirty="0">
                <a:solidFill>
                  <a:srgbClr val="000000"/>
                </a:solidFill>
                <a:ea typeface="宋体" panose="02010600030101010101" pitchFamily="2" charset="-122"/>
              </a:rPr>
              <a:t>B</a:t>
            </a:r>
            <a:r>
              <a:rPr lang="zh-CN" altLang="zh-CN" kern="100" dirty="0">
                <a:solidFill>
                  <a:srgbClr val="000000"/>
                </a:solidFill>
                <a:ea typeface="楷体" panose="02010609060101010101" pitchFamily="49" charset="-122"/>
              </a:rPr>
              <a:t>不正确</a:t>
            </a:r>
            <a:r>
              <a:rPr lang="en-US" altLang="zh-CN" kern="100" dirty="0">
                <a:solidFill>
                  <a:srgbClr val="000000"/>
                </a:solidFill>
                <a:ea typeface="宋体" panose="02010600030101010101" pitchFamily="2" charset="-122"/>
              </a:rPr>
              <a:t>;C,D</a:t>
            </a:r>
            <a:r>
              <a:rPr lang="zh-CN" altLang="zh-CN" kern="100" dirty="0">
                <a:solidFill>
                  <a:srgbClr val="000000"/>
                </a:solidFill>
                <a:ea typeface="楷体" panose="02010609060101010101" pitchFamily="49" charset="-122"/>
              </a:rPr>
              <a:t>正确</a:t>
            </a:r>
            <a:r>
              <a:rPr lang="en-US" altLang="zh-CN" i="1" kern="100" dirty="0">
                <a:solidFill>
                  <a:srgbClr val="000000"/>
                </a:solidFill>
                <a:ea typeface="宋体" panose="02010600030101010101" pitchFamily="2" charset="-122"/>
              </a:rPr>
              <a:t>.</a:t>
            </a:r>
            <a:endParaRPr lang="zh-CN" altLang="zh-CN" kern="100" dirty="0">
              <a:ea typeface="宋体" panose="02010600030101010101" pitchFamily="2" charset="-122"/>
            </a:endParaRPr>
          </a:p>
          <a:p>
            <a:pPr algn="just">
              <a:lnSpc>
                <a:spcPct val="120000"/>
              </a:lnSpc>
              <a:spcAft>
                <a:spcPts val="0"/>
              </a:spcAft>
              <a:tabLst>
                <a:tab pos="1188085" algn="l"/>
                <a:tab pos="2163445" algn="l"/>
                <a:tab pos="3142615" algn="l"/>
                <a:tab pos="4190365" algn="l"/>
              </a:tabLst>
            </a:pPr>
            <a:r>
              <a:rPr lang="zh-CN" altLang="zh-CN" kern="100" dirty="0">
                <a:latin typeface="Arial" panose="020B0604020202020204" pitchFamily="34" charset="0"/>
              </a:rPr>
              <a:t>答案</a:t>
            </a:r>
            <a:r>
              <a:rPr lang="en-US" altLang="zh-CN" kern="100" dirty="0">
                <a:latin typeface="Arial" panose="020B0604020202020204" pitchFamily="34" charset="0"/>
                <a:cs typeface="Times New Roman" panose="02020603050405020304" pitchFamily="18" charset="0"/>
              </a:rPr>
              <a:t>:</a:t>
            </a:r>
            <a:r>
              <a:rPr lang="en-US" altLang="zh-CN" kern="100" dirty="0">
                <a:solidFill>
                  <a:srgbClr val="000000"/>
                </a:solidFill>
                <a:ea typeface="宋体" panose="02010600030101010101" pitchFamily="2" charset="-122"/>
              </a:rPr>
              <a:t>CD</a:t>
            </a:r>
            <a:endParaRPr lang="zh-CN" altLang="zh-CN" kern="100" dirty="0">
              <a:effectLst/>
              <a:ea typeface="宋体" panose="02010600030101010101" pitchFamily="2" charset="-122"/>
            </a:endParaRPr>
          </a:p>
        </p:txBody>
      </p:sp>
    </p:spTree>
    <p:extLst>
      <p:ext uri="{BB962C8B-B14F-4D97-AF65-F5344CB8AC3E}">
        <p14:creationId xmlns:p14="http://schemas.microsoft.com/office/powerpoint/2010/main" val="283356320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down)">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wipe(down)">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54198"/>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复数</a:t>
            </a:r>
            <a:r>
              <a:rPr lang="zh-CN" altLang="zh-CN" dirty="0"/>
              <a:t>的分类</a:t>
            </a:r>
          </a:p>
        </p:txBody>
      </p:sp>
      <p:graphicFrame>
        <p:nvGraphicFramePr>
          <p:cNvPr id="2" name="对象 1"/>
          <p:cNvGraphicFramePr>
            <a:graphicFrameLocks noChangeAspect="1"/>
          </p:cNvGraphicFramePr>
          <p:nvPr>
            <p:extLst>
              <p:ext uri="{D42A27DB-BD31-4B8C-83A1-F6EECF244321}">
                <p14:modId xmlns:p14="http://schemas.microsoft.com/office/powerpoint/2010/main" val="2917073077"/>
              </p:ext>
            </p:extLst>
          </p:nvPr>
        </p:nvGraphicFramePr>
        <p:xfrm>
          <a:off x="425782" y="1402270"/>
          <a:ext cx="11671959" cy="1458919"/>
        </p:xfrm>
        <a:graphic>
          <a:graphicData uri="http://schemas.openxmlformats.org/presentationml/2006/ole">
            <mc:AlternateContent xmlns:mc="http://schemas.openxmlformats.org/markup-compatibility/2006">
              <mc:Choice xmlns:v="urn:schemas-microsoft-com:vml" Requires="v">
                <p:oleObj spid="_x0000_s14350" name="文档" r:id="rId4" imgW="3837724" imgH="479924" progId="Word.Document.12">
                  <p:embed/>
                </p:oleObj>
              </mc:Choice>
              <mc:Fallback>
                <p:oleObj name="文档" r:id="rId4" imgW="3837724" imgH="479924" progId="Word.Document.12">
                  <p:embed/>
                  <p:pic>
                    <p:nvPicPr>
                      <p:cNvPr id="0" name=""/>
                      <p:cNvPicPr/>
                      <p:nvPr/>
                    </p:nvPicPr>
                    <p:blipFill>
                      <a:blip r:embed="rId5"/>
                      <a:stretch>
                        <a:fillRect/>
                      </a:stretch>
                    </p:blipFill>
                    <p:spPr>
                      <a:xfrm>
                        <a:off x="425782" y="1402270"/>
                        <a:ext cx="11671959" cy="1458919"/>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502158254"/>
              </p:ext>
            </p:extLst>
          </p:nvPr>
        </p:nvGraphicFramePr>
        <p:xfrm>
          <a:off x="425782" y="2861189"/>
          <a:ext cx="11671959" cy="3134866"/>
        </p:xfrm>
        <a:graphic>
          <a:graphicData uri="http://schemas.openxmlformats.org/presentationml/2006/ole">
            <mc:AlternateContent xmlns:mc="http://schemas.openxmlformats.org/markup-compatibility/2006">
              <mc:Choice xmlns:v="urn:schemas-microsoft-com:vml" Requires="v">
                <p:oleObj spid="_x0000_s14351" name="文档" r:id="rId7" imgW="3826872" imgH="1027825" progId="Word.Document.12">
                  <p:embed/>
                </p:oleObj>
              </mc:Choice>
              <mc:Fallback>
                <p:oleObj name="文档" r:id="rId7" imgW="3826872" imgH="1027825" progId="Word.Document.12">
                  <p:embed/>
                  <p:pic>
                    <p:nvPicPr>
                      <p:cNvPr id="0" name=""/>
                      <p:cNvPicPr/>
                      <p:nvPr/>
                    </p:nvPicPr>
                    <p:blipFill>
                      <a:blip r:embed="rId8"/>
                      <a:stretch>
                        <a:fillRect/>
                      </a:stretch>
                    </p:blipFill>
                    <p:spPr>
                      <a:xfrm>
                        <a:off x="425782" y="2861189"/>
                        <a:ext cx="11671959" cy="3134866"/>
                      </a:xfrm>
                      <a:prstGeom prst="rect">
                        <a:avLst/>
                      </a:prstGeom>
                    </p:spPr>
                  </p:pic>
                </p:oleObj>
              </mc:Fallback>
            </mc:AlternateContent>
          </a:graphicData>
        </a:graphic>
      </p:graphicFrame>
    </p:spTree>
    <p:extLst>
      <p:ext uri="{BB962C8B-B14F-4D97-AF65-F5344CB8AC3E}">
        <p14:creationId xmlns:p14="http://schemas.microsoft.com/office/powerpoint/2010/main" val="6621710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延伸探究H.eps" descr="id:2147490832;FounderCES"/>
          <p:cNvPicPr/>
          <p:nvPr/>
        </p:nvPicPr>
        <p:blipFill>
          <a:blip r:embed="rId3"/>
          <a:stretch>
            <a:fillRect/>
          </a:stretch>
        </p:blipFill>
        <p:spPr>
          <a:xfrm>
            <a:off x="4317062" y="1492231"/>
            <a:ext cx="2524095" cy="460328"/>
          </a:xfrm>
          <a:prstGeom prst="rect">
            <a:avLst/>
          </a:prstGeom>
        </p:spPr>
      </p:pic>
      <p:sp>
        <p:nvSpPr>
          <p:cNvPr id="6" name="矩形 5"/>
          <p:cNvSpPr>
            <a:spLocks noChangeAspect="1"/>
          </p:cNvSpPr>
          <p:nvPr/>
        </p:nvSpPr>
        <p:spPr>
          <a:xfrm>
            <a:off x="361950" y="2006119"/>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本例条件不变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求实数</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为何值时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宋体" panose="02010600030101010101" pitchFamily="2" charset="-122"/>
                <a:cs typeface="Times New Roman" panose="02020603050405020304" pitchFamily="18" charset="0"/>
              </a:rPr>
              <a:t>为实数</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110828315"/>
              </p:ext>
            </p:extLst>
          </p:nvPr>
        </p:nvGraphicFramePr>
        <p:xfrm>
          <a:off x="484789" y="2696782"/>
          <a:ext cx="11671959" cy="1407401"/>
        </p:xfrm>
        <a:graphic>
          <a:graphicData uri="http://schemas.openxmlformats.org/presentationml/2006/ole">
            <mc:AlternateContent xmlns:mc="http://schemas.openxmlformats.org/markup-compatibility/2006">
              <mc:Choice xmlns:v="urn:schemas-microsoft-com:vml" Requires="v">
                <p:oleObj spid="_x0000_s5134" name="文档" r:id="rId5" imgW="3826872" imgH="461443" progId="Word.Document.12">
                  <p:embed/>
                </p:oleObj>
              </mc:Choice>
              <mc:Fallback>
                <p:oleObj name="文档" r:id="rId5" imgW="3826872" imgH="461443" progId="Word.Document.12">
                  <p:embed/>
                  <p:pic>
                    <p:nvPicPr>
                      <p:cNvPr id="0" name=""/>
                      <p:cNvPicPr/>
                      <p:nvPr/>
                    </p:nvPicPr>
                    <p:blipFill>
                      <a:blip r:embed="rId6"/>
                      <a:stretch>
                        <a:fillRect/>
                      </a:stretch>
                    </p:blipFill>
                    <p:spPr>
                      <a:xfrm>
                        <a:off x="484789" y="2696782"/>
                        <a:ext cx="11671959" cy="1407401"/>
                      </a:xfrm>
                      <a:prstGeom prst="rect">
                        <a:avLst/>
                      </a:prstGeom>
                    </p:spPr>
                  </p:pic>
                </p:oleObj>
              </mc:Fallback>
            </mc:AlternateContent>
          </a:graphicData>
        </a:graphic>
      </p:graphicFrame>
    </p:spTree>
    <p:extLst>
      <p:ext uri="{BB962C8B-B14F-4D97-AF65-F5344CB8AC3E}">
        <p14:creationId xmlns:p14="http://schemas.microsoft.com/office/powerpoint/2010/main" val="70643792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1084155"/>
            <a:ext cx="10807700" cy="4172156"/>
            <a:chOff x="361950" y="940139"/>
            <a:chExt cx="10807700" cy="4172156"/>
          </a:xfrm>
        </p:grpSpPr>
        <p:pic>
          <p:nvPicPr>
            <p:cNvPr id="8" name="反思感悟H.eps" descr="id:2147490797;FounderCES"/>
            <p:cNvPicPr/>
            <p:nvPr/>
          </p:nvPicPr>
          <p:blipFill>
            <a:blip r:embed="rId2"/>
            <a:stretch>
              <a:fillRect/>
            </a:stretch>
          </p:blipFill>
          <p:spPr>
            <a:xfrm>
              <a:off x="361950" y="940139"/>
              <a:ext cx="2259558" cy="531552"/>
            </a:xfrm>
            <a:prstGeom prst="rect">
              <a:avLst/>
            </a:prstGeom>
          </p:spPr>
        </p:pic>
        <p:sp>
          <p:nvSpPr>
            <p:cNvPr id="2" name="矩形 1"/>
            <p:cNvSpPr>
              <a:spLocks noChangeAspect="1"/>
            </p:cNvSpPr>
            <p:nvPr/>
          </p:nvSpPr>
          <p:spPr>
            <a:xfrm>
              <a:off x="361950" y="1530930"/>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解决复数分类问题的方法与步骤</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化标准式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解题时一定要先看复数是不是</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仿宋" panose="02010609060101010101" pitchFamily="49" charset="-122"/>
                  <a:cs typeface="Times New Roman" panose="02020603050405020304" pitchFamily="18" charset="0"/>
                </a:rPr>
                <a:t>的形式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以确定实部和虚部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定条件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复数的分类问题可以转化为复数的实部与虚部应该满足的条件问题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只需把复数化为代数形式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列出实部和虚部满足的方程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不等式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即可</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28404567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727919"/>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下结论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设所给复数为</a:t>
            </a:r>
            <a:r>
              <a:rPr lang="en-US" altLang="zh-CN" i="1" dirty="0">
                <a:solidFill>
                  <a:srgbClr val="000000"/>
                </a:solidFill>
                <a:ea typeface="宋体" panose="02010600030101010101" pitchFamily="2" charset="-122"/>
                <a:cs typeface="Times New Roman" panose="02020603050405020304" pitchFamily="18" charset="0"/>
              </a:rPr>
              <a:t>z=</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仿宋" panose="02010609060101010101" pitchFamily="49" charset="-122"/>
                <a:cs typeface="Times New Roman" panose="02020603050405020304" pitchFamily="18" charset="0"/>
              </a:rPr>
              <a:t>为实数</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仿宋" panose="02010609060101010101" pitchFamily="49" charset="-122"/>
                <a:cs typeface="Times New Roman" panose="02020603050405020304" pitchFamily="18" charset="0"/>
              </a:rPr>
              <a:t>为虚数</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仿宋" panose="02010609060101010101" pitchFamily="49" charset="-122"/>
                <a:cs typeface="Times New Roman" panose="02020603050405020304" pitchFamily="18" charset="0"/>
              </a:rPr>
              <a:t>为纯虚数</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3758740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63823"/>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a:t>
            </a:r>
            <a:r>
              <a:rPr lang="zh-CN" altLang="zh-CN" dirty="0" smtClean="0">
                <a:solidFill>
                  <a:srgbClr val="000000"/>
                </a:solidFill>
                <a:latin typeface="Arial" panose="020B0604020202020204" pitchFamily="34" charset="0"/>
                <a:cs typeface="Times New Roman" panose="02020603050405020304" pitchFamily="18" charset="0"/>
              </a:rPr>
              <a:t>训练</a:t>
            </a:r>
            <a:r>
              <a:rPr lang="en-US" altLang="zh-CN" dirty="0" smtClean="0">
                <a:solidFill>
                  <a:srgbClr val="000000"/>
                </a:solidFill>
                <a:ea typeface="宋体" panose="02010600030101010101" pitchFamily="2" charset="-122"/>
                <a:cs typeface="Times New Roman" panose="02020603050405020304" pitchFamily="18" charset="0"/>
              </a:rPr>
              <a:t>2</a:t>
            </a:r>
            <a:r>
              <a:rPr lang="zh-CN" altLang="zh-CN" dirty="0" smtClean="0">
                <a:solidFill>
                  <a:srgbClr val="000000"/>
                </a:solidFill>
                <a:latin typeface="Arial" panose="020B0604020202020204" pitchFamily="34" charset="0"/>
                <a:cs typeface="Times New Roman" panose="02020603050405020304" pitchFamily="18" charset="0"/>
              </a:rPr>
              <a:t>】</a:t>
            </a:r>
            <a:r>
              <a:rPr lang="zh-CN" altLang="zh-CN" dirty="0" smtClean="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是纯虚数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则实数</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的值</a:t>
            </a:r>
            <a:r>
              <a:rPr lang="zh-CN" altLang="zh-CN" dirty="0" smtClean="0">
                <a:solidFill>
                  <a:srgbClr val="000000"/>
                </a:solidFill>
                <a:ea typeface="宋体" panose="02010600030101010101" pitchFamily="2" charset="-122"/>
                <a:cs typeface="Times New Roman" panose="02020603050405020304" pitchFamily="18" charset="0"/>
              </a:rPr>
              <a:t>是</a:t>
            </a:r>
            <a:endParaRPr lang="en-US" altLang="zh-CN" dirty="0" smtClean="0">
              <a:solidFill>
                <a:srgbClr val="000000"/>
              </a:solidFill>
              <a:ea typeface="宋体" panose="02010600030101010101" pitchFamily="2" charset="-122"/>
              <a:cs typeface="Times New Roman" panose="02020603050405020304" pitchFamily="18" charset="0"/>
            </a:endParaRPr>
          </a:p>
          <a:p>
            <a:pPr algn="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r>
              <a:rPr lang="en-US" altLang="zh-CN" dirty="0" smtClean="0">
                <a:solidFill>
                  <a:srgbClr val="000000"/>
                </a:solidFill>
                <a:ea typeface="宋体" panose="02010600030101010101" pitchFamily="2" charset="-122"/>
                <a:cs typeface="Times New Roman" panose="02020603050405020304" pitchFamily="18" charset="0"/>
              </a:rPr>
              <a:t>		B.1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	</a:t>
            </a:r>
            <a:r>
              <a:rPr lang="en-US" altLang="zh-CN" dirty="0" smtClean="0">
                <a:solidFill>
                  <a:srgbClr val="000000"/>
                </a:solidFill>
                <a:ea typeface="宋体" panose="02010600030101010101" pitchFamily="2" charset="-122"/>
                <a:cs typeface="Times New Roman" panose="02020603050405020304" pitchFamily="18" charset="0"/>
              </a:rPr>
              <a:t>		D</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153757903"/>
              </p:ext>
            </p:extLst>
          </p:nvPr>
        </p:nvGraphicFramePr>
        <p:xfrm>
          <a:off x="361950" y="3282096"/>
          <a:ext cx="11671959" cy="1613468"/>
        </p:xfrm>
        <a:graphic>
          <a:graphicData uri="http://schemas.openxmlformats.org/presentationml/2006/ole">
            <mc:AlternateContent xmlns:mc="http://schemas.openxmlformats.org/markup-compatibility/2006">
              <mc:Choice xmlns:v="urn:schemas-microsoft-com:vml" Requires="v">
                <p:oleObj spid="_x0000_s6158" name="文档" r:id="rId4" imgW="3826872" imgH="529006" progId="Word.Document.12">
                  <p:embed/>
                </p:oleObj>
              </mc:Choice>
              <mc:Fallback>
                <p:oleObj name="文档" r:id="rId4" imgW="3826872" imgH="529006" progId="Word.Document.12">
                  <p:embed/>
                  <p:pic>
                    <p:nvPicPr>
                      <p:cNvPr id="0" name=""/>
                      <p:cNvPicPr/>
                      <p:nvPr/>
                    </p:nvPicPr>
                    <p:blipFill>
                      <a:blip r:embed="rId5"/>
                      <a:stretch>
                        <a:fillRect/>
                      </a:stretch>
                    </p:blipFill>
                    <p:spPr>
                      <a:xfrm>
                        <a:off x="361950" y="3282096"/>
                        <a:ext cx="11671959" cy="1613468"/>
                      </a:xfrm>
                      <a:prstGeom prst="rect">
                        <a:avLst/>
                      </a:prstGeom>
                    </p:spPr>
                  </p:pic>
                </p:oleObj>
              </mc:Fallback>
            </mc:AlternateContent>
          </a:graphicData>
        </a:graphic>
      </p:graphicFrame>
      <p:sp>
        <p:nvSpPr>
          <p:cNvPr id="5" name="矩形 4"/>
          <p:cNvSpPr>
            <a:spLocks noChangeAspect="1"/>
          </p:cNvSpPr>
          <p:nvPr/>
        </p:nvSpPr>
        <p:spPr>
          <a:xfrm>
            <a:off x="216421" y="4928621"/>
            <a:ext cx="1521570"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3150068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39471"/>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smtClean="0"/>
              <a:t>探究</a:t>
            </a:r>
            <a:r>
              <a:rPr lang="zh-CN" altLang="en-US" dirty="0" smtClean="0"/>
              <a:t>三</a:t>
            </a:r>
            <a:r>
              <a:rPr lang="en-US" altLang="zh-CN" dirty="0" smtClean="0"/>
              <a:t>  </a:t>
            </a:r>
            <a:r>
              <a:rPr lang="zh-CN" altLang="zh-CN" dirty="0" smtClean="0"/>
              <a:t>复数</a:t>
            </a:r>
            <a:r>
              <a:rPr lang="zh-CN" altLang="zh-CN" dirty="0"/>
              <a:t>相等</a:t>
            </a:r>
          </a:p>
        </p:txBody>
      </p:sp>
      <p:sp>
        <p:nvSpPr>
          <p:cNvPr id="2" name="矩形 1"/>
          <p:cNvSpPr>
            <a:spLocks noChangeAspect="1"/>
          </p:cNvSpPr>
          <p:nvPr/>
        </p:nvSpPr>
        <p:spPr>
          <a:xfrm>
            <a:off x="361950" y="1325367"/>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a:t>
            </a:r>
            <a:r>
              <a:rPr lang="zh-CN" altLang="zh-CN" dirty="0" smtClean="0">
                <a:solidFill>
                  <a:srgbClr val="000000"/>
                </a:solidFill>
                <a:latin typeface="Arial" panose="020B0604020202020204" pitchFamily="34" charset="0"/>
                <a:cs typeface="Times New Roman" panose="02020603050405020304" pitchFamily="18" charset="0"/>
              </a:rPr>
              <a:t>例</a:t>
            </a:r>
            <a:r>
              <a:rPr lang="en-US" altLang="zh-CN" dirty="0" smtClean="0">
                <a:solidFill>
                  <a:srgbClr val="000000"/>
                </a:solidFill>
                <a:ea typeface="宋体" panose="02010600030101010101" pitchFamily="2" charset="-122"/>
                <a:cs typeface="Times New Roman" panose="02020603050405020304" pitchFamily="18" charset="0"/>
              </a:rPr>
              <a:t>3</a:t>
            </a:r>
            <a:r>
              <a:rPr lang="zh-CN" altLang="zh-CN" dirty="0" smtClean="0">
                <a:solidFill>
                  <a:srgbClr val="000000"/>
                </a:solidFill>
                <a:latin typeface="Arial" panose="020B0604020202020204" pitchFamily="34" charset="0"/>
                <a:cs typeface="Times New Roman" panose="02020603050405020304" pitchFamily="18" charset="0"/>
              </a:rPr>
              <a:t>】</a:t>
            </a:r>
            <a:r>
              <a:rPr lang="zh-CN" altLang="zh-CN" dirty="0" smtClean="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4i,</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n</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n</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6)</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则实数</a:t>
            </a:r>
            <a:r>
              <a:rPr lang="en-US" altLang="zh-CN" i="1" dirty="0">
                <a:solidFill>
                  <a:srgbClr val="000000"/>
                </a:solidFill>
                <a:ea typeface="宋体" panose="02010600030101010101" pitchFamily="2" charset="-122"/>
                <a:cs typeface="Times New Roman" panose="02020603050405020304" pitchFamily="18" charset="0"/>
              </a:rPr>
              <a:t>m=</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n=</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x-y</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则实数</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的值分别为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367830118"/>
              </p:ext>
            </p:extLst>
          </p:nvPr>
        </p:nvGraphicFramePr>
        <p:xfrm>
          <a:off x="430213" y="3139102"/>
          <a:ext cx="11672887" cy="2312987"/>
        </p:xfrm>
        <a:graphic>
          <a:graphicData uri="http://schemas.openxmlformats.org/presentationml/2006/ole">
            <mc:AlternateContent xmlns:mc="http://schemas.openxmlformats.org/markup-compatibility/2006">
              <mc:Choice xmlns:v="urn:schemas-microsoft-com:vml" Requires="v">
                <p:oleObj spid="_x0000_s7182" name="文档" r:id="rId4" imgW="3826872" imgH="759009" progId="Word.Document.12">
                  <p:embed/>
                </p:oleObj>
              </mc:Choice>
              <mc:Fallback>
                <p:oleObj name="文档" r:id="rId4" imgW="3826872" imgH="759009" progId="Word.Document.12">
                  <p:embed/>
                  <p:pic>
                    <p:nvPicPr>
                      <p:cNvPr id="0" name=""/>
                      <p:cNvPicPr/>
                      <p:nvPr/>
                    </p:nvPicPr>
                    <p:blipFill>
                      <a:blip r:embed="rId5"/>
                      <a:stretch>
                        <a:fillRect/>
                      </a:stretch>
                    </p:blipFill>
                    <p:spPr>
                      <a:xfrm>
                        <a:off x="430213" y="3139102"/>
                        <a:ext cx="11672887" cy="2312987"/>
                      </a:xfrm>
                      <a:prstGeom prst="rect">
                        <a:avLst/>
                      </a:prstGeom>
                    </p:spPr>
                  </p:pic>
                </p:oleObj>
              </mc:Fallback>
            </mc:AlternateContent>
          </a:graphicData>
        </a:graphic>
      </p:graphicFrame>
      <p:sp>
        <p:nvSpPr>
          <p:cNvPr id="5" name="矩形 4"/>
          <p:cNvSpPr>
            <a:spLocks noChangeAspect="1"/>
          </p:cNvSpPr>
          <p:nvPr/>
        </p:nvSpPr>
        <p:spPr>
          <a:xfrm>
            <a:off x="352118" y="5394631"/>
            <a:ext cx="436209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zh-CN" altLang="zh-CN" i="1" dirty="0">
                <a:solidFill>
                  <a:srgbClr val="000000"/>
                </a:solid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2)1,1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1156163"/>
            <a:ext cx="10807700" cy="3652646"/>
            <a:chOff x="361950" y="1156163"/>
            <a:chExt cx="10807700" cy="3652646"/>
          </a:xfrm>
        </p:grpSpPr>
        <p:pic>
          <p:nvPicPr>
            <p:cNvPr id="6" name="反思感悟H.eps" descr="id:2147490797;FounderCES"/>
            <p:cNvPicPr/>
            <p:nvPr/>
          </p:nvPicPr>
          <p:blipFill>
            <a:blip r:embed="rId2"/>
            <a:stretch>
              <a:fillRect/>
            </a:stretch>
          </p:blipFill>
          <p:spPr>
            <a:xfrm>
              <a:off x="361950" y="1156163"/>
              <a:ext cx="2259558" cy="531552"/>
            </a:xfrm>
            <a:prstGeom prst="rect">
              <a:avLst/>
            </a:prstGeom>
          </p:spPr>
        </p:pic>
        <p:sp>
          <p:nvSpPr>
            <p:cNvPr id="7" name="矩形 6"/>
            <p:cNvSpPr>
              <a:spLocks noChangeAspect="1"/>
            </p:cNvSpPr>
            <p:nvPr/>
          </p:nvSpPr>
          <p:spPr>
            <a:xfrm>
              <a:off x="361950" y="1761821"/>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复数问题实数化是解决复数相等问题最基本的也是最重要的思想方法</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a:solidFill>
                    <a:srgbClr val="000000"/>
                  </a:solidFill>
                  <a:ea typeface="仿宋" panose="02010609060101010101" pitchFamily="49" charset="-122"/>
                  <a:cs typeface="Times New Roman" panose="02020603050405020304" pitchFamily="18" charset="0"/>
                </a:rPr>
                <a:t>基本</a:t>
              </a:r>
              <a:r>
                <a:rPr lang="zh-CN" altLang="zh-CN" smtClean="0">
                  <a:solidFill>
                    <a:srgbClr val="000000"/>
                  </a:solidFill>
                  <a:ea typeface="仿宋" panose="02010609060101010101" pitchFamily="49" charset="-122"/>
                  <a:cs typeface="Times New Roman" panose="02020603050405020304" pitchFamily="18" charset="0"/>
                </a:rPr>
                <a:t>思路</a:t>
              </a:r>
              <a:r>
                <a:rPr lang="en-US" altLang="zh-CN"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等式两边整理为</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仿宋" panose="02010609060101010101" pitchFamily="49" charset="-122"/>
                  <a:cs typeface="Times New Roman" panose="02020603050405020304" pitchFamily="18" charset="0"/>
                </a:rPr>
                <a:t>的形式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由复数相等可以得到由两个实数等式所组成的方程组</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解方程组</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28650088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82768915"/>
              </p:ext>
            </p:extLst>
          </p:nvPr>
        </p:nvGraphicFramePr>
        <p:xfrm>
          <a:off x="360437" y="1494760"/>
          <a:ext cx="11671959" cy="1127893"/>
        </p:xfrm>
        <a:graphic>
          <a:graphicData uri="http://schemas.openxmlformats.org/presentationml/2006/ole">
            <mc:AlternateContent xmlns:mc="http://schemas.openxmlformats.org/markup-compatibility/2006">
              <mc:Choice xmlns:v="urn:schemas-microsoft-com:vml" Requires="v">
                <p:oleObj spid="_x0000_s8216" name="文档" r:id="rId4" imgW="3837724" imgH="371031" progId="Word.Document.12">
                  <p:embed/>
                </p:oleObj>
              </mc:Choice>
              <mc:Fallback>
                <p:oleObj name="文档" r:id="rId4" imgW="3837724" imgH="371031" progId="Word.Document.12">
                  <p:embed/>
                  <p:pic>
                    <p:nvPicPr>
                      <p:cNvPr id="0" name=""/>
                      <p:cNvPicPr/>
                      <p:nvPr/>
                    </p:nvPicPr>
                    <p:blipFill>
                      <a:blip r:embed="rId5"/>
                      <a:stretch>
                        <a:fillRect/>
                      </a:stretch>
                    </p:blipFill>
                    <p:spPr>
                      <a:xfrm>
                        <a:off x="360437" y="1494760"/>
                        <a:ext cx="11671959" cy="112789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338450443"/>
              </p:ext>
            </p:extLst>
          </p:nvPr>
        </p:nvGraphicFramePr>
        <p:xfrm>
          <a:off x="360436" y="2676604"/>
          <a:ext cx="11671959" cy="1122412"/>
        </p:xfrm>
        <a:graphic>
          <a:graphicData uri="http://schemas.openxmlformats.org/presentationml/2006/ole">
            <mc:AlternateContent xmlns:mc="http://schemas.openxmlformats.org/markup-compatibility/2006">
              <mc:Choice xmlns:v="urn:schemas-microsoft-com:vml" Requires="v">
                <p:oleObj spid="_x0000_s8217" name="文档" r:id="rId7" imgW="3826872" imgH="368004" progId="Word.Document.12">
                  <p:embed/>
                </p:oleObj>
              </mc:Choice>
              <mc:Fallback>
                <p:oleObj name="文档" r:id="rId7" imgW="3826872" imgH="368004" progId="Word.Document.12">
                  <p:embed/>
                  <p:pic>
                    <p:nvPicPr>
                      <p:cNvPr id="0" name=""/>
                      <p:cNvPicPr/>
                      <p:nvPr/>
                    </p:nvPicPr>
                    <p:blipFill>
                      <a:blip r:embed="rId8"/>
                      <a:stretch>
                        <a:fillRect/>
                      </a:stretch>
                    </p:blipFill>
                    <p:spPr>
                      <a:xfrm>
                        <a:off x="360436" y="2676604"/>
                        <a:ext cx="11671959" cy="1122412"/>
                      </a:xfrm>
                      <a:prstGeom prst="rect">
                        <a:avLst/>
                      </a:prstGeom>
                    </p:spPr>
                  </p:pic>
                </p:oleObj>
              </mc:Fallback>
            </mc:AlternateContent>
          </a:graphicData>
        </a:graphic>
      </p:graphicFrame>
      <p:sp>
        <p:nvSpPr>
          <p:cNvPr id="4" name="矩形 3"/>
          <p:cNvSpPr>
            <a:spLocks noChangeAspect="1"/>
          </p:cNvSpPr>
          <p:nvPr/>
        </p:nvSpPr>
        <p:spPr>
          <a:xfrm>
            <a:off x="256585" y="3852967"/>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15060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易</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错</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辨</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析</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759135"/>
            <a:ext cx="11716127" cy="5400600"/>
            <a:chOff x="361950" y="647799"/>
            <a:chExt cx="11716127" cy="5400600"/>
          </a:xfrm>
        </p:grpSpPr>
        <p:sp>
          <p:nvSpPr>
            <p:cNvPr id="2" name="矩形 1"/>
            <p:cNvSpPr>
              <a:spLocks noChangeAspect="1"/>
            </p:cNvSpPr>
            <p:nvPr/>
          </p:nvSpPr>
          <p:spPr>
            <a:xfrm>
              <a:off x="361950" y="647799"/>
              <a:ext cx="10807700" cy="2456057"/>
            </a:xfrm>
            <a:prstGeom prst="rect">
              <a:avLst/>
            </a:prstGeom>
          </p:spPr>
          <p:txBody>
            <a:bodyPr>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因忽视虚数不能比较大小而致错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Arial" panose="020B0604020202020204" pitchFamily="34" charset="0"/>
                  <a:cs typeface="Times New Roman" panose="02020603050405020304" pitchFamily="18" charset="0"/>
                </a:rPr>
                <a:t>【典例】</a:t>
              </a:r>
              <a:r>
                <a:rPr lang="zh-CN" altLang="zh-CN" dirty="0" smtClean="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已知复数</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大于复数</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试求实数</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错解</a:t>
              </a:r>
              <a:r>
                <a:rPr lang="en-US"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58704162"/>
                </p:ext>
              </p:extLst>
            </p:nvPr>
          </p:nvGraphicFramePr>
          <p:xfrm>
            <a:off x="406118" y="3047302"/>
            <a:ext cx="11671959" cy="1747196"/>
          </p:xfrm>
          <a:graphic>
            <a:graphicData uri="http://schemas.openxmlformats.org/presentationml/2006/ole">
              <mc:AlternateContent xmlns:mc="http://schemas.openxmlformats.org/markup-compatibility/2006">
                <mc:Choice xmlns:v="urn:schemas-microsoft-com:vml" Requires="v">
                  <p:oleObj spid="_x0000_s9228" name="文档" r:id="rId4" imgW="3837724" imgH="574755" progId="Word.Document.12">
                    <p:embed/>
                  </p:oleObj>
                </mc:Choice>
                <mc:Fallback>
                  <p:oleObj name="文档" r:id="rId4" imgW="3837724" imgH="574755" progId="Word.Document.12">
                    <p:embed/>
                    <p:pic>
                      <p:nvPicPr>
                        <p:cNvPr id="0" name=""/>
                        <p:cNvPicPr/>
                        <p:nvPr/>
                      </p:nvPicPr>
                      <p:blipFill>
                        <a:blip r:embed="rId5"/>
                        <a:stretch>
                          <a:fillRect/>
                        </a:stretch>
                      </p:blipFill>
                      <p:spPr>
                        <a:xfrm>
                          <a:off x="406118" y="3047302"/>
                          <a:ext cx="11671959" cy="1747196"/>
                        </a:xfrm>
                        <a:prstGeom prst="rect">
                          <a:avLst/>
                        </a:prstGeom>
                      </p:spPr>
                    </p:pic>
                  </p:oleObj>
                </mc:Fallback>
              </mc:AlternateContent>
            </a:graphicData>
          </a:graphic>
        </p:graphicFrame>
        <p:sp>
          <p:nvSpPr>
            <p:cNvPr id="4" name="矩形 3"/>
            <p:cNvSpPr>
              <a:spLocks noChangeAspect="1"/>
            </p:cNvSpPr>
            <p:nvPr/>
          </p:nvSpPr>
          <p:spPr>
            <a:xfrm>
              <a:off x="361950" y="4830758"/>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以上解答过程中都有哪些错误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出错的原因是什么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你如何改正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你如何防范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288429" y="1070015"/>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想当然地认为大的复数所对应的实部和虚部都大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忽视了只有实数才能比较大小的前提</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219369479"/>
              </p:ext>
            </p:extLst>
          </p:nvPr>
        </p:nvGraphicFramePr>
        <p:xfrm>
          <a:off x="381757" y="2309126"/>
          <a:ext cx="11671959" cy="2989082"/>
        </p:xfrm>
        <a:graphic>
          <a:graphicData uri="http://schemas.openxmlformats.org/presentationml/2006/ole">
            <mc:AlternateContent xmlns:mc="http://schemas.openxmlformats.org/markup-compatibility/2006">
              <mc:Choice xmlns:v="urn:schemas-microsoft-com:vml" Requires="v">
                <p:oleObj spid="_x0000_s10252" name="文档" r:id="rId4" imgW="3826872" imgH="980027" progId="Word.Document.12">
                  <p:embed/>
                </p:oleObj>
              </mc:Choice>
              <mc:Fallback>
                <p:oleObj name="文档" r:id="rId4" imgW="3826872" imgH="980027" progId="Word.Document.12">
                  <p:embed/>
                  <p:pic>
                    <p:nvPicPr>
                      <p:cNvPr id="0" name=""/>
                      <p:cNvPicPr/>
                      <p:nvPr/>
                    </p:nvPicPr>
                    <p:blipFill>
                      <a:blip r:embed="rId5"/>
                      <a:stretch>
                        <a:fillRect/>
                      </a:stretch>
                    </p:blipFill>
                    <p:spPr>
                      <a:xfrm>
                        <a:off x="381757" y="2309126"/>
                        <a:ext cx="11671959" cy="2989082"/>
                      </a:xfrm>
                      <a:prstGeom prst="rect">
                        <a:avLst/>
                      </a:prstGeom>
                    </p:spPr>
                  </p:pic>
                </p:oleObj>
              </mc:Fallback>
            </mc:AlternateContent>
          </a:graphicData>
        </a:graphic>
      </p:graphicFrame>
    </p:spTree>
    <p:extLst>
      <p:ext uri="{BB962C8B-B14F-4D97-AF65-F5344CB8AC3E}">
        <p14:creationId xmlns:p14="http://schemas.microsoft.com/office/powerpoint/2010/main" val="301278590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1727919"/>
            <a:ext cx="10807700" cy="2455343"/>
            <a:chOff x="361950" y="1792856"/>
            <a:chExt cx="10807700" cy="2455343"/>
          </a:xfrm>
        </p:grpSpPr>
        <p:pic>
          <p:nvPicPr>
            <p:cNvPr id="4" name="防范措施H.eps" descr="id:2147490860;FounderCES"/>
            <p:cNvPicPr/>
            <p:nvPr/>
          </p:nvPicPr>
          <p:blipFill>
            <a:blip r:embed="rId2"/>
            <a:stretch>
              <a:fillRect/>
            </a:stretch>
          </p:blipFill>
          <p:spPr>
            <a:xfrm>
              <a:off x="361950" y="1792856"/>
              <a:ext cx="2259558" cy="531552"/>
            </a:xfrm>
            <a:prstGeom prst="rect">
              <a:avLst/>
            </a:prstGeom>
          </p:spPr>
        </p:pic>
        <p:sp>
          <p:nvSpPr>
            <p:cNvPr id="2" name="矩形 1"/>
            <p:cNvSpPr>
              <a:spLocks noChangeAspect="1"/>
            </p:cNvSpPr>
            <p:nvPr/>
          </p:nvSpPr>
          <p:spPr>
            <a:xfrm>
              <a:off x="361950" y="2439627"/>
              <a:ext cx="10807700" cy="1808572"/>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当两个复数不全是实数时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不能比较大小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只可判定相等或不相等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只有当两个复数都是实数时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才能比较大小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当两个复数能比较大小时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可以确定这两个复数都是实数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711453458"/>
      </p:ext>
    </p:extLst>
  </p:cSld>
  <p:clrMapOvr>
    <a:masterClrMapping/>
  </p:clrMapOvr>
  <p:transition spd="slow">
    <p:randomBar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348215"/>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若</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m</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m</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则实数</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的值为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779661439"/>
              </p:ext>
            </p:extLst>
          </p:nvPr>
        </p:nvGraphicFramePr>
        <p:xfrm>
          <a:off x="504453" y="2595352"/>
          <a:ext cx="11671959" cy="1201334"/>
        </p:xfrm>
        <a:graphic>
          <a:graphicData uri="http://schemas.openxmlformats.org/presentationml/2006/ole">
            <mc:AlternateContent xmlns:mc="http://schemas.openxmlformats.org/markup-compatibility/2006">
              <mc:Choice xmlns:v="urn:schemas-microsoft-com:vml" Requires="v">
                <p:oleObj spid="_x0000_s11276" name="文档" r:id="rId4" imgW="3826872" imgH="393880" progId="Word.Document.12">
                  <p:embed/>
                </p:oleObj>
              </mc:Choice>
              <mc:Fallback>
                <p:oleObj name="文档" r:id="rId4" imgW="3826872" imgH="393880" progId="Word.Document.12">
                  <p:embed/>
                  <p:pic>
                    <p:nvPicPr>
                      <p:cNvPr id="0" name=""/>
                      <p:cNvPicPr/>
                      <p:nvPr/>
                    </p:nvPicPr>
                    <p:blipFill>
                      <a:blip r:embed="rId5"/>
                      <a:stretch>
                        <a:fillRect/>
                      </a:stretch>
                    </p:blipFill>
                    <p:spPr>
                      <a:xfrm>
                        <a:off x="504453" y="2595352"/>
                        <a:ext cx="11671959" cy="1201334"/>
                      </a:xfrm>
                      <a:prstGeom prst="rect">
                        <a:avLst/>
                      </a:prstGeom>
                    </p:spPr>
                  </p:pic>
                </p:oleObj>
              </mc:Fallback>
            </mc:AlternateContent>
          </a:graphicData>
        </a:graphic>
      </p:graphicFrame>
      <p:sp>
        <p:nvSpPr>
          <p:cNvPr id="7" name="矩形 6"/>
          <p:cNvSpPr>
            <a:spLocks noChangeAspect="1"/>
          </p:cNvSpPr>
          <p:nvPr/>
        </p:nvSpPr>
        <p:spPr>
          <a:xfrm>
            <a:off x="419963" y="3763807"/>
            <a:ext cx="1452642" cy="626710"/>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6887332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62956"/>
            <a:ext cx="10807700" cy="476322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zh-CN" altLang="zh-CN" dirty="0">
                <a:solidFill>
                  <a:srgbClr val="000000"/>
                </a:solidFill>
                <a:ea typeface="宋体" panose="02010600030101010101" pitchFamily="2" charset="-122"/>
                <a:cs typeface="Times New Roman" panose="02020603050405020304" pitchFamily="18" charset="0"/>
              </a:rPr>
              <a:t>的实部与虚部分别是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A.0,2	</a:t>
            </a:r>
            <a:r>
              <a:rPr lang="en-US" altLang="zh-CN" dirty="0" smtClean="0">
                <a:solidFill>
                  <a:srgbClr val="000000"/>
                </a:solidFill>
                <a:ea typeface="宋体" panose="02010600030101010101" pitchFamily="2" charset="-122"/>
                <a:cs typeface="Times New Roman" panose="02020603050405020304" pitchFamily="18" charset="0"/>
              </a:rPr>
              <a:t>	B.0,0</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C.0</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	D.</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zh-CN" altLang="zh-CN" dirty="0">
                <a:solidFill>
                  <a:srgbClr val="000000"/>
                </a:solidFill>
                <a:ea typeface="楷体" panose="02010609060101010101" pitchFamily="49" charset="-122"/>
                <a:cs typeface="Times New Roman" panose="02020603050405020304" pitchFamily="18" charset="0"/>
              </a:rPr>
              <a:t>的实部为</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虚部为</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err="1">
                <a:solidFill>
                  <a:srgbClr val="000000"/>
                </a:solidFill>
                <a:ea typeface="宋体" panose="02010600030101010101" pitchFamily="2" charset="-122"/>
                <a:cs typeface="Times New Roman" panose="02020603050405020304" pitchFamily="18" charset="0"/>
              </a:rPr>
              <a:t>R,i</a:t>
            </a:r>
            <a:r>
              <a:rPr lang="zh-CN" altLang="zh-CN" dirty="0">
                <a:solidFill>
                  <a:srgbClr val="000000"/>
                </a:solidFill>
                <a:ea typeface="宋体" panose="02010600030101010101" pitchFamily="2" charset="-122"/>
                <a:cs typeface="Times New Roman" panose="02020603050405020304" pitchFamily="18" charset="0"/>
              </a:rPr>
              <a:t>是虚数单位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err="1">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宋体" panose="02010600030101010101" pitchFamily="2" charset="-122"/>
                <a:cs typeface="Times New Roman" panose="02020603050405020304" pitchFamily="18" charset="0"/>
              </a:rPr>
              <a:t>的值为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A.1	</a:t>
            </a:r>
            <a:r>
              <a:rPr lang="en-US" altLang="zh-CN" dirty="0" smtClean="0">
                <a:solidFill>
                  <a:srgbClr val="000000"/>
                </a:solidFill>
                <a:ea typeface="宋体" panose="02010600030101010101" pitchFamily="2" charset="-122"/>
                <a:cs typeface="Times New Roman" panose="02020603050405020304" pitchFamily="18" charset="0"/>
              </a:rPr>
              <a:t>	B.2</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C.3</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D.4</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err="1">
                <a:solidFill>
                  <a:srgbClr val="000000"/>
                </a:solidFill>
                <a:ea typeface="宋体" panose="02010600030101010101" pitchFamily="2" charset="-122"/>
                <a:cs typeface="Times New Roman" panose="02020603050405020304" pitchFamily="18" charset="0"/>
              </a:rPr>
              <a:t>a+b</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7" dur="500"/>
                                        <p:tgtEl>
                                          <p:spTgt spid="2">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randombar(horizontal)">
                                      <p:cBhvr>
                                        <p:cTn id="2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91533"/>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多选题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下列说法错误的是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为纯虚数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a&gt;b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&gt;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i</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2i,</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x=y=</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116815780"/>
              </p:ext>
            </p:extLst>
          </p:nvPr>
        </p:nvGraphicFramePr>
        <p:xfrm>
          <a:off x="445319" y="3736804"/>
          <a:ext cx="10640962" cy="2465443"/>
        </p:xfrm>
        <a:graphic>
          <a:graphicData uri="http://schemas.openxmlformats.org/presentationml/2006/ole">
            <mc:AlternateContent xmlns:mc="http://schemas.openxmlformats.org/markup-compatibility/2006">
              <mc:Choice xmlns:v="urn:schemas-microsoft-com:vml" Requires="v">
                <p:oleObj spid="_x0000_s12300" name="文档" r:id="rId4" imgW="3837724" imgH="889176" progId="Word.Document.12">
                  <p:embed/>
                </p:oleObj>
              </mc:Choice>
              <mc:Fallback>
                <p:oleObj name="文档" r:id="rId4" imgW="3837724" imgH="889176" progId="Word.Document.12">
                  <p:embed/>
                  <p:pic>
                    <p:nvPicPr>
                      <p:cNvPr id="0" name=""/>
                      <p:cNvPicPr/>
                      <p:nvPr/>
                    </p:nvPicPr>
                    <p:blipFill>
                      <a:blip r:embed="rId5"/>
                      <a:stretch>
                        <a:fillRect/>
                      </a:stretch>
                    </p:blipFill>
                    <p:spPr>
                      <a:xfrm>
                        <a:off x="445319" y="3736804"/>
                        <a:ext cx="10640962" cy="2465443"/>
                      </a:xfrm>
                      <a:prstGeom prst="rect">
                        <a:avLst/>
                      </a:prstGeom>
                    </p:spPr>
                  </p:pic>
                </p:oleObj>
              </mc:Fallback>
            </mc:AlternateContent>
          </a:graphicData>
        </a:graphic>
      </p:graphicFrame>
      <p:sp>
        <p:nvSpPr>
          <p:cNvPr id="9" name="矩形 8"/>
          <p:cNvSpPr>
            <a:spLocks noChangeAspect="1"/>
          </p:cNvSpPr>
          <p:nvPr/>
        </p:nvSpPr>
        <p:spPr>
          <a:xfrm>
            <a:off x="5446556" y="5544343"/>
            <a:ext cx="2114681" cy="683264"/>
          </a:xfrm>
          <a:prstGeom prst="rect">
            <a:avLst/>
          </a:prstGeom>
        </p:spPr>
        <p:txBody>
          <a:bodyPr wrap="none">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ABD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65006063"/>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79847"/>
            <a:ext cx="10807700" cy="4172296"/>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当实数</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取什么值时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m</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m</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dirty="0" err="1">
                <a:solidFill>
                  <a:srgbClr val="000000"/>
                </a:solidFill>
                <a:ea typeface="宋体" panose="02010600030101010101" pitchFamily="2" charset="-122"/>
                <a:cs typeface="Times New Roman" panose="02020603050405020304" pitchFamily="18" charset="0"/>
              </a:rPr>
              <a:t>i</a:t>
            </a:r>
            <a:r>
              <a:rPr lang="zh-CN" altLang="zh-CN" dirty="0">
                <a:solidFill>
                  <a:srgbClr val="000000"/>
                </a:solidFill>
                <a:ea typeface="宋体" panose="02010600030101010101" pitchFamily="2" charset="-122"/>
                <a:cs typeface="Times New Roman" panose="02020603050405020304" pitchFamily="18" charset="0"/>
              </a:rPr>
              <a:t>是</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实数</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虚数</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纯虚数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z=</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m</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m</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dirty="0" err="1">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要使</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楷体" panose="02010609060101010101" pitchFamily="49" charset="-122"/>
                <a:cs typeface="Times New Roman" panose="02020603050405020304" pitchFamily="18" charset="0"/>
              </a:rPr>
              <a:t>为实数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必须有</a:t>
            </a:r>
            <a:r>
              <a:rPr lang="en-US" altLang="zh-CN" i="1" dirty="0">
                <a:solidFill>
                  <a:srgbClr val="000000"/>
                </a:solidFill>
                <a:ea typeface="宋体" panose="02010600030101010101" pitchFamily="2" charset="-122"/>
                <a:cs typeface="Times New Roman" panose="02020603050405020304" pitchFamily="18" charset="0"/>
              </a:rPr>
              <a:t>m</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故</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楷体" panose="02010609060101010101" pitchFamily="49" charset="-122"/>
                <a:cs typeface="Times New Roman" panose="02020603050405020304" pitchFamily="18" charset="0"/>
              </a:rPr>
              <a:t>为实数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要使</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楷体" panose="02010609060101010101" pitchFamily="49" charset="-122"/>
                <a:cs typeface="Times New Roman" panose="02020603050405020304" pitchFamily="18" charset="0"/>
              </a:rPr>
              <a:t>为虚数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必须有</a:t>
            </a:r>
            <a:r>
              <a:rPr lang="en-US" altLang="zh-CN" i="1" dirty="0">
                <a:solidFill>
                  <a:srgbClr val="000000"/>
                </a:solidFill>
                <a:ea typeface="宋体" panose="02010600030101010101" pitchFamily="2" charset="-122"/>
                <a:cs typeface="Times New Roman" panose="02020603050405020304" pitchFamily="18" charset="0"/>
              </a:rPr>
              <a:t>m</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4≠0,</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故</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且</a:t>
            </a:r>
            <a:r>
              <a:rPr lang="en-US" altLang="zh-CN" i="1" dirty="0">
                <a:solidFill>
                  <a:srgbClr val="000000"/>
                </a:solidFill>
                <a:ea typeface="宋体" panose="02010600030101010101" pitchFamily="2" charset="-122"/>
                <a:cs typeface="Times New Roman" panose="02020603050405020304" pitchFamily="18" charset="0"/>
              </a:rPr>
              <a:t>m</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zh-CN" altLang="zh-CN" dirty="0">
                <a:solidFill>
                  <a:srgbClr val="000000"/>
                </a:solidFill>
                <a:ea typeface="楷体" panose="02010609060101010101" pitchFamily="49" charset="-122"/>
                <a:cs typeface="Times New Roman" panose="02020603050405020304" pitchFamily="18" charset="0"/>
              </a:rPr>
              <a:t>为虚数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23248540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wipe(down)">
                                      <p:cBhvr>
                                        <p:cTn id="10" dur="500"/>
                                        <p:tgtEl>
                                          <p:spTgt spid="2">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wipe(down)">
                                      <p:cBhvr>
                                        <p:cTn id="13" dur="500"/>
                                        <p:tgtEl>
                                          <p:spTgt spid="2">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wipe(down)">
                                      <p:cBhvr>
                                        <p:cTn id="16" dur="500"/>
                                        <p:tgtEl>
                                          <p:spTgt spid="2">
                                            <p:txEl>
                                              <p:pRg st="5" end="5"/>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Effect transition="in" filter="wipe(down)">
                                      <p:cBhvr>
                                        <p:cTn id="19"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8227478"/>
              </p:ext>
            </p:extLst>
          </p:nvPr>
        </p:nvGraphicFramePr>
        <p:xfrm>
          <a:off x="432445" y="1583903"/>
          <a:ext cx="11705058" cy="2901145"/>
        </p:xfrm>
        <a:graphic>
          <a:graphicData uri="http://schemas.openxmlformats.org/presentationml/2006/ole">
            <mc:AlternateContent xmlns:mc="http://schemas.openxmlformats.org/markup-compatibility/2006">
              <mc:Choice xmlns:v="urn:schemas-microsoft-com:vml" Requires="v">
                <p:oleObj spid="_x0000_s15365" name="文档" r:id="rId4" imgW="3837724" imgH="951195" progId="Word.Document.12">
                  <p:embed/>
                </p:oleObj>
              </mc:Choice>
              <mc:Fallback>
                <p:oleObj name="文档" r:id="rId4" imgW="3837724" imgH="951195" progId="Word.Document.12">
                  <p:embed/>
                  <p:pic>
                    <p:nvPicPr>
                      <p:cNvPr id="0" name=""/>
                      <p:cNvPicPr/>
                      <p:nvPr/>
                    </p:nvPicPr>
                    <p:blipFill>
                      <a:blip r:embed="rId5"/>
                      <a:stretch>
                        <a:fillRect/>
                      </a:stretch>
                    </p:blipFill>
                    <p:spPr>
                      <a:xfrm>
                        <a:off x="432445" y="1583903"/>
                        <a:ext cx="11705058" cy="2901145"/>
                      </a:xfrm>
                      <a:prstGeom prst="rect">
                        <a:avLst/>
                      </a:prstGeom>
                    </p:spPr>
                  </p:pic>
                </p:oleObj>
              </mc:Fallback>
            </mc:AlternateContent>
          </a:graphicData>
        </a:graphic>
      </p:graphicFrame>
    </p:spTree>
    <p:extLst>
      <p:ext uri="{BB962C8B-B14F-4D97-AF65-F5344CB8AC3E}">
        <p14:creationId xmlns:p14="http://schemas.microsoft.com/office/powerpoint/2010/main" val="2888648083"/>
      </p:ext>
    </p:extLst>
  </p:cSld>
  <p:clrMapOvr>
    <a:masterClrMapping/>
  </p:clrMapOvr>
  <p:transition spd="slow">
    <p:comb/>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94</TotalTime>
  <Words>1280</Words>
  <Application>Microsoft Office PowerPoint</Application>
  <PresentationFormat>自定义</PresentationFormat>
  <Paragraphs>111</Paragraphs>
  <Slides>38</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4" baseType="lpstr">
      <vt:lpstr>NEU-BZ-S92</vt:lpstr>
      <vt:lpstr>方正书宋_GBK</vt:lpstr>
      <vt:lpstr>方正正中黑简体</vt:lpstr>
      <vt:lpstr>仿宋</vt:lpstr>
      <vt:lpstr>黑体</vt:lpstr>
      <vt:lpstr>华文新魏</vt:lpstr>
      <vt:lpstr>楷体</vt:lpstr>
      <vt:lpstr>隶书</vt:lpstr>
      <vt:lpstr>宋体</vt:lpstr>
      <vt:lpstr>微软雅黑</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23</cp:revision>
  <dcterms:created xsi:type="dcterms:W3CDTF">2020-09-12T05:36:12Z</dcterms:created>
  <dcterms:modified xsi:type="dcterms:W3CDTF">2025-09-04T05:31:42Z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