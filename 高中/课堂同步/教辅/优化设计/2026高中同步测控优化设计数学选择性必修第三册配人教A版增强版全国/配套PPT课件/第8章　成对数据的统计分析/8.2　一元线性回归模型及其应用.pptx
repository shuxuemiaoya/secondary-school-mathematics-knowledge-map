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sldIdLst>
    <p:sldId id="677" r:id="rId2"/>
    <p:sldId id="488" r:id="rId3"/>
    <p:sldId id="494" r:id="rId4"/>
    <p:sldId id="392" r:id="rId5"/>
    <p:sldId id="686" r:id="rId6"/>
    <p:sldId id="756" r:id="rId7"/>
    <p:sldId id="757" r:id="rId8"/>
    <p:sldId id="758" r:id="rId9"/>
    <p:sldId id="759" r:id="rId10"/>
    <p:sldId id="760" r:id="rId11"/>
    <p:sldId id="761" r:id="rId12"/>
    <p:sldId id="762" r:id="rId13"/>
    <p:sldId id="763" r:id="rId14"/>
    <p:sldId id="764" r:id="rId15"/>
    <p:sldId id="407" r:id="rId16"/>
    <p:sldId id="394" r:id="rId17"/>
    <p:sldId id="788" r:id="rId18"/>
    <p:sldId id="789" r:id="rId19"/>
    <p:sldId id="790" r:id="rId20"/>
    <p:sldId id="791" r:id="rId21"/>
    <p:sldId id="701" r:id="rId22"/>
    <p:sldId id="765" r:id="rId23"/>
    <p:sldId id="766" r:id="rId24"/>
    <p:sldId id="767" r:id="rId25"/>
    <p:sldId id="402" r:id="rId26"/>
    <p:sldId id="720" r:id="rId27"/>
    <p:sldId id="721" r:id="rId28"/>
    <p:sldId id="726" r:id="rId29"/>
    <p:sldId id="753" r:id="rId30"/>
    <p:sldId id="768" r:id="rId31"/>
    <p:sldId id="770" r:id="rId32"/>
    <p:sldId id="771" r:id="rId33"/>
    <p:sldId id="772" r:id="rId34"/>
    <p:sldId id="498" r:id="rId35"/>
    <p:sldId id="730" r:id="rId36"/>
    <p:sldId id="733" r:id="rId37"/>
    <p:sldId id="743" r:id="rId38"/>
    <p:sldId id="744" r:id="rId39"/>
    <p:sldId id="773" r:id="rId40"/>
    <p:sldId id="774" r:id="rId41"/>
    <p:sldId id="792" r:id="rId42"/>
    <p:sldId id="793" r:id="rId43"/>
    <p:sldId id="741" r:id="rId44"/>
    <p:sldId id="738" r:id="rId45"/>
    <p:sldId id="751" r:id="rId46"/>
    <p:sldId id="752" r:id="rId47"/>
    <p:sldId id="777" r:id="rId48"/>
    <p:sldId id="794" r:id="rId49"/>
    <p:sldId id="398" r:id="rId50"/>
    <p:sldId id="783" r:id="rId51"/>
    <p:sldId id="795" r:id="rId52"/>
    <p:sldId id="784" r:id="rId53"/>
    <p:sldId id="785" r:id="rId54"/>
    <p:sldId id="786" r:id="rId55"/>
    <p:sldId id="787" r:id="rId56"/>
    <p:sldId id="490" r:id="rId5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3" d="100"/>
          <a:sy n="93" d="100"/>
        </p:scale>
        <p:origin x="456" y="90"/>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image" Target="../media/image26.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image" Target="../media/image32.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image" Target="../media/image43.e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image" Target="../media/image45.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image" Target="../media/image50.e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53.emf"/><Relationship Id="rId1" Type="http://schemas.openxmlformats.org/officeDocument/2006/relationships/image" Target="../media/image52.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5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25.xml"/><Relationship Id="rId2" Type="http://schemas.openxmlformats.org/officeDocument/2006/relationships/slide" Target="../slides/slide16.xml"/><Relationship Id="rId1" Type="http://schemas.openxmlformats.org/officeDocument/2006/relationships/slideMaster" Target="../slideMasters/slideMaster1.xml"/><Relationship Id="rId5" Type="http://schemas.openxmlformats.org/officeDocument/2006/relationships/slide" Target="../slides/slide43.xml"/><Relationship Id="rId4" Type="http://schemas.openxmlformats.org/officeDocument/2006/relationships/slide" Target="../slides/slide34.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0300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86935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993569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6" name="圆角矩形 5">
            <a:hlinkClick r:id="rId5" action="ppaction://hlinksldjump"/>
          </p:cNvPr>
          <p:cNvSpPr/>
          <p:nvPr userDrawn="1"/>
        </p:nvSpPr>
        <p:spPr>
          <a:xfrm>
            <a:off x="1100203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易错辨析</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4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5.emf"/><Relationship Id="rId4" Type="http://schemas.openxmlformats.org/officeDocument/2006/relationships/package" Target="../embeddings/Microsoft_Word___3.docx"/></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vmlDrawing" Target="../drawings/vmlDrawing4.vml"/><Relationship Id="rId5" Type="http://schemas.openxmlformats.org/officeDocument/2006/relationships/image" Target="../media/image6.emf"/><Relationship Id="rId4" Type="http://schemas.openxmlformats.org/officeDocument/2006/relationships/package" Target="../embeddings/Microsoft_Word___4.docx"/></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vmlDrawing" Target="../drawings/vmlDrawing5.vml"/><Relationship Id="rId5" Type="http://schemas.openxmlformats.org/officeDocument/2006/relationships/image" Target="../media/image7.emf"/><Relationship Id="rId4" Type="http://schemas.openxmlformats.org/officeDocument/2006/relationships/package" Target="../embeddings/Microsoft_Word___5.docx"/></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xml"/><Relationship Id="rId1" Type="http://schemas.openxmlformats.org/officeDocument/2006/relationships/vmlDrawing" Target="../drawings/vmlDrawing6.vml"/><Relationship Id="rId5" Type="http://schemas.openxmlformats.org/officeDocument/2006/relationships/image" Target="../media/image8.emf"/><Relationship Id="rId4" Type="http://schemas.openxmlformats.org/officeDocument/2006/relationships/package" Target="../embeddings/Microsoft_Word___6.docx"/></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9.emf"/><Relationship Id="rId4" Type="http://schemas.openxmlformats.org/officeDocument/2006/relationships/package" Target="../embeddings/Microsoft_Word___7.docx"/></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0.emf"/><Relationship Id="rId4" Type="http://schemas.openxmlformats.org/officeDocument/2006/relationships/package" Target="../embeddings/Microsoft_Word___8.docx"/></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1.emf"/><Relationship Id="rId4" Type="http://schemas.openxmlformats.org/officeDocument/2006/relationships/package" Target="../embeddings/Microsoft_Word___9.docx"/></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2.emf"/><Relationship Id="rId4" Type="http://schemas.openxmlformats.org/officeDocument/2006/relationships/package" Target="../embeddings/Microsoft_Word___10.docx"/></Relationships>
</file>

<file path=ppt/slides/_rels/slide21.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oleObject" Target="../embeddings/oleObject11.bin"/><Relationship Id="rId7" Type="http://schemas.openxmlformats.org/officeDocument/2006/relationships/package" Target="../embeddings/Microsoft_Word___12.docx"/><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12.bin"/><Relationship Id="rId5" Type="http://schemas.openxmlformats.org/officeDocument/2006/relationships/image" Target="../media/image13.emf"/><Relationship Id="rId4" Type="http://schemas.openxmlformats.org/officeDocument/2006/relationships/package" Target="../embeddings/Microsoft_Word___11.docx"/></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15.emf"/><Relationship Id="rId4" Type="http://schemas.openxmlformats.org/officeDocument/2006/relationships/package" Target="../embeddings/Microsoft_Word___13.docx"/></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16.emf"/><Relationship Id="rId4" Type="http://schemas.openxmlformats.org/officeDocument/2006/relationships/package" Target="../embeddings/Microsoft_Word___14.docx"/></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18.jpeg"/><Relationship Id="rId5" Type="http://schemas.openxmlformats.org/officeDocument/2006/relationships/image" Target="../media/image17.emf"/><Relationship Id="rId4" Type="http://schemas.openxmlformats.org/officeDocument/2006/relationships/package" Target="../embeddings/Microsoft_Word___15.docx"/></Relationships>
</file>

<file path=ppt/slides/_rels/slide27.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oleObject" Target="../embeddings/oleObject16.bin"/><Relationship Id="rId7" Type="http://schemas.openxmlformats.org/officeDocument/2006/relationships/package" Target="../embeddings/Microsoft_Word___17.docx"/><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17.bin"/><Relationship Id="rId5" Type="http://schemas.openxmlformats.org/officeDocument/2006/relationships/image" Target="../media/image19.emf"/><Relationship Id="rId4" Type="http://schemas.openxmlformats.org/officeDocument/2006/relationships/package" Target="../embeddings/Microsoft_Word___16.docx"/></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oleObject" Target="../embeddings/oleObject18.bin"/><Relationship Id="rId7" Type="http://schemas.openxmlformats.org/officeDocument/2006/relationships/package" Target="../embeddings/Microsoft_Word___19.docx"/><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oleObject" Target="../embeddings/oleObject19.bin"/><Relationship Id="rId5" Type="http://schemas.openxmlformats.org/officeDocument/2006/relationships/image" Target="../media/image23.emf"/><Relationship Id="rId4" Type="http://schemas.openxmlformats.org/officeDocument/2006/relationships/package" Target="../embeddings/Microsoft_Word___18.docx"/></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25.emf"/><Relationship Id="rId4" Type="http://schemas.openxmlformats.org/officeDocument/2006/relationships/package" Target="../embeddings/Microsoft_Word___20.docx"/></Relationships>
</file>

<file path=ppt/slides/_rels/slide32.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oleObject" Target="../embeddings/oleObject21.bin"/><Relationship Id="rId7" Type="http://schemas.openxmlformats.org/officeDocument/2006/relationships/package" Target="../embeddings/Microsoft_Word___22.docx"/><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22.bin"/><Relationship Id="rId11" Type="http://schemas.openxmlformats.org/officeDocument/2006/relationships/image" Target="../media/image28.emf"/><Relationship Id="rId5" Type="http://schemas.openxmlformats.org/officeDocument/2006/relationships/image" Target="../media/image26.emf"/><Relationship Id="rId10" Type="http://schemas.openxmlformats.org/officeDocument/2006/relationships/package" Target="../embeddings/Microsoft_Word___23.docx"/><Relationship Id="rId4" Type="http://schemas.openxmlformats.org/officeDocument/2006/relationships/package" Target="../embeddings/Microsoft_Word___21.docx"/><Relationship Id="rId9" Type="http://schemas.openxmlformats.org/officeDocument/2006/relationships/oleObject" Target="../embeddings/oleObject23.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29.emf"/><Relationship Id="rId4" Type="http://schemas.openxmlformats.org/officeDocument/2006/relationships/package" Target="../embeddings/Microsoft_Word___24.docx"/></Relationships>
</file>

<file path=ppt/slides/_rels/slide3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30.emf"/><Relationship Id="rId5" Type="http://schemas.openxmlformats.org/officeDocument/2006/relationships/package" Target="../embeddings/Microsoft_Word___25.docx"/><Relationship Id="rId4" Type="http://schemas.openxmlformats.org/officeDocument/2006/relationships/oleObject" Target="../embeddings/oleObject25.bin"/></Relationships>
</file>

<file path=ppt/slides/_rels/slide35.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oleObject" Target="../embeddings/oleObject26.bin"/><Relationship Id="rId7" Type="http://schemas.openxmlformats.org/officeDocument/2006/relationships/package" Target="../embeddings/Microsoft_Word___27.docx"/><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oleObject" Target="../embeddings/oleObject27.bin"/><Relationship Id="rId11" Type="http://schemas.openxmlformats.org/officeDocument/2006/relationships/image" Target="../media/image34.emf"/><Relationship Id="rId5" Type="http://schemas.openxmlformats.org/officeDocument/2006/relationships/image" Target="../media/image32.emf"/><Relationship Id="rId10" Type="http://schemas.openxmlformats.org/officeDocument/2006/relationships/package" Target="../embeddings/Microsoft_Word___28.docx"/><Relationship Id="rId4" Type="http://schemas.openxmlformats.org/officeDocument/2006/relationships/package" Target="../embeddings/Microsoft_Word___26.docx"/><Relationship Id="rId9" Type="http://schemas.openxmlformats.org/officeDocument/2006/relationships/oleObject" Target="../embeddings/oleObject28.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image" Target="../media/image35.emf"/><Relationship Id="rId4" Type="http://schemas.openxmlformats.org/officeDocument/2006/relationships/package" Target="../embeddings/Microsoft_Word___29.docx"/></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23.vml"/><Relationship Id="rId5" Type="http://schemas.openxmlformats.org/officeDocument/2006/relationships/image" Target="../media/image36.emf"/><Relationship Id="rId4" Type="http://schemas.openxmlformats.org/officeDocument/2006/relationships/package" Target="../embeddings/Microsoft_Word___30.docx"/></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24.vml"/><Relationship Id="rId5" Type="http://schemas.openxmlformats.org/officeDocument/2006/relationships/image" Target="../media/image37.emf"/><Relationship Id="rId4" Type="http://schemas.openxmlformats.org/officeDocument/2006/relationships/package" Target="../embeddings/Microsoft_Word___31.docx"/></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40.emf"/><Relationship Id="rId3" Type="http://schemas.openxmlformats.org/officeDocument/2006/relationships/oleObject" Target="../embeddings/oleObject32.bin"/><Relationship Id="rId7" Type="http://schemas.openxmlformats.org/officeDocument/2006/relationships/package" Target="../embeddings/Microsoft_Word___33.docx"/><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oleObject" Target="../embeddings/oleObject33.bin"/><Relationship Id="rId5" Type="http://schemas.openxmlformats.org/officeDocument/2006/relationships/image" Target="../media/image39.emf"/><Relationship Id="rId4" Type="http://schemas.openxmlformats.org/officeDocument/2006/relationships/package" Target="../embeddings/Microsoft_Word___32.docx"/></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26.vml"/><Relationship Id="rId5" Type="http://schemas.openxmlformats.org/officeDocument/2006/relationships/image" Target="../media/image41.emf"/><Relationship Id="rId4" Type="http://schemas.openxmlformats.org/officeDocument/2006/relationships/package" Target="../embeddings/Microsoft_Word___34.docx"/></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27.vml"/><Relationship Id="rId5" Type="http://schemas.openxmlformats.org/officeDocument/2006/relationships/image" Target="../media/image42.emf"/><Relationship Id="rId4" Type="http://schemas.openxmlformats.org/officeDocument/2006/relationships/package" Target="../embeddings/Microsoft_Word___35.docx"/></Relationships>
</file>

<file path=ppt/slides/_rels/slide45.x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oleObject" Target="../embeddings/oleObject36.bin"/><Relationship Id="rId7" Type="http://schemas.openxmlformats.org/officeDocument/2006/relationships/package" Target="../embeddings/Microsoft_Word___37.docx"/><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oleObject" Target="../embeddings/oleObject37.bin"/><Relationship Id="rId5" Type="http://schemas.openxmlformats.org/officeDocument/2006/relationships/image" Target="../media/image43.emf"/><Relationship Id="rId4" Type="http://schemas.openxmlformats.org/officeDocument/2006/relationships/package" Target="../embeddings/Microsoft_Word___36.docx"/></Relationships>
</file>

<file path=ppt/slides/_rels/slide46.xml.rels><?xml version="1.0" encoding="UTF-8" standalone="yes"?>
<Relationships xmlns="http://schemas.openxmlformats.org/package/2006/relationships"><Relationship Id="rId8" Type="http://schemas.openxmlformats.org/officeDocument/2006/relationships/image" Target="../media/image46.emf"/><Relationship Id="rId3" Type="http://schemas.openxmlformats.org/officeDocument/2006/relationships/oleObject" Target="../embeddings/oleObject38.bin"/><Relationship Id="rId7" Type="http://schemas.openxmlformats.org/officeDocument/2006/relationships/package" Target="../embeddings/Microsoft_Word___39.docx"/><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oleObject" Target="../embeddings/oleObject39.bin"/><Relationship Id="rId5" Type="http://schemas.openxmlformats.org/officeDocument/2006/relationships/image" Target="../media/image45.emf"/><Relationship Id="rId4" Type="http://schemas.openxmlformats.org/officeDocument/2006/relationships/package" Target="../embeddings/Microsoft_Word___38.docx"/></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30.vml"/><Relationship Id="rId5" Type="http://schemas.openxmlformats.org/officeDocument/2006/relationships/image" Target="../media/image47.emf"/><Relationship Id="rId4" Type="http://schemas.openxmlformats.org/officeDocument/2006/relationships/package" Target="../embeddings/Microsoft_Word___40.docx"/></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2.xml"/><Relationship Id="rId1" Type="http://schemas.openxmlformats.org/officeDocument/2006/relationships/vmlDrawing" Target="../drawings/vmlDrawing31.vml"/><Relationship Id="rId5" Type="http://schemas.openxmlformats.org/officeDocument/2006/relationships/image" Target="../media/image48.emf"/><Relationship Id="rId4" Type="http://schemas.openxmlformats.org/officeDocument/2006/relationships/package" Target="../embeddings/Microsoft_Word___41.docx"/></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3.xml"/><Relationship Id="rId1" Type="http://schemas.openxmlformats.org/officeDocument/2006/relationships/vmlDrawing" Target="../drawings/vmlDrawing32.vml"/><Relationship Id="rId5" Type="http://schemas.openxmlformats.org/officeDocument/2006/relationships/image" Target="../media/image49.emf"/><Relationship Id="rId4" Type="http://schemas.openxmlformats.org/officeDocument/2006/relationships/package" Target="../embeddings/Microsoft_Word___42.docx"/></Relationships>
</file>

<file path=ppt/slides/_rels/slide51.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oleObject" Target="../embeddings/oleObject43.bin"/><Relationship Id="rId7" Type="http://schemas.openxmlformats.org/officeDocument/2006/relationships/package" Target="../embeddings/Microsoft_Word___44.docx"/><Relationship Id="rId2" Type="http://schemas.openxmlformats.org/officeDocument/2006/relationships/slideLayout" Target="../slideLayouts/slideLayout3.xml"/><Relationship Id="rId1" Type="http://schemas.openxmlformats.org/officeDocument/2006/relationships/vmlDrawing" Target="../drawings/vmlDrawing33.vml"/><Relationship Id="rId6" Type="http://schemas.openxmlformats.org/officeDocument/2006/relationships/oleObject" Target="../embeddings/oleObject44.bin"/><Relationship Id="rId5" Type="http://schemas.openxmlformats.org/officeDocument/2006/relationships/image" Target="../media/image50.emf"/><Relationship Id="rId4" Type="http://schemas.openxmlformats.org/officeDocument/2006/relationships/package" Target="../embeddings/Microsoft_Word___43.docx"/></Relationships>
</file>

<file path=ppt/slides/_rels/slide52.x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oleObject" Target="../embeddings/oleObject45.bin"/><Relationship Id="rId7" Type="http://schemas.openxmlformats.org/officeDocument/2006/relationships/package" Target="../embeddings/Microsoft_Word___46.docx"/><Relationship Id="rId2" Type="http://schemas.openxmlformats.org/officeDocument/2006/relationships/slideLayout" Target="../slideLayouts/slideLayout3.xml"/><Relationship Id="rId1" Type="http://schemas.openxmlformats.org/officeDocument/2006/relationships/vmlDrawing" Target="../drawings/vmlDrawing34.vml"/><Relationship Id="rId6" Type="http://schemas.openxmlformats.org/officeDocument/2006/relationships/oleObject" Target="../embeddings/oleObject46.bin"/><Relationship Id="rId11" Type="http://schemas.openxmlformats.org/officeDocument/2006/relationships/image" Target="../media/image54.emf"/><Relationship Id="rId5" Type="http://schemas.openxmlformats.org/officeDocument/2006/relationships/image" Target="../media/image52.emf"/><Relationship Id="rId10" Type="http://schemas.openxmlformats.org/officeDocument/2006/relationships/package" Target="../embeddings/Microsoft_Word___47.docx"/><Relationship Id="rId4" Type="http://schemas.openxmlformats.org/officeDocument/2006/relationships/package" Target="../embeddings/Microsoft_Word___45.docx"/><Relationship Id="rId9" Type="http://schemas.openxmlformats.org/officeDocument/2006/relationships/oleObject" Target="../embeddings/oleObject47.bin"/></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3.xml"/><Relationship Id="rId1" Type="http://schemas.openxmlformats.org/officeDocument/2006/relationships/vmlDrawing" Target="../drawings/vmlDrawing35.vml"/><Relationship Id="rId5" Type="http://schemas.openxmlformats.org/officeDocument/2006/relationships/image" Target="../media/image55.emf"/><Relationship Id="rId4" Type="http://schemas.openxmlformats.org/officeDocument/2006/relationships/package" Target="../embeddings/Microsoft_Word___48.docx"/></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3.xml"/><Relationship Id="rId1" Type="http://schemas.openxmlformats.org/officeDocument/2006/relationships/vmlDrawing" Target="../drawings/vmlDrawing36.vml"/><Relationship Id="rId5" Type="http://schemas.openxmlformats.org/officeDocument/2006/relationships/image" Target="../media/image56.emf"/><Relationship Id="rId4" Type="http://schemas.openxmlformats.org/officeDocument/2006/relationships/package" Target="../embeddings/Microsoft_Word___49.docx"/></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3.xml"/><Relationship Id="rId1" Type="http://schemas.openxmlformats.org/officeDocument/2006/relationships/vmlDrawing" Target="../drawings/vmlDrawing37.vml"/><Relationship Id="rId5" Type="http://schemas.openxmlformats.org/officeDocument/2006/relationships/image" Target="../media/image57.emf"/><Relationship Id="rId4" Type="http://schemas.openxmlformats.org/officeDocument/2006/relationships/package" Target="../embeddings/Microsoft_Word___50.docx"/></Relationships>
</file>

<file path=ppt/slides/_rels/slide5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en-US" altLang="zh-CN" sz="3600" b="1">
                  <a:solidFill>
                    <a:schemeClr val="bg1"/>
                  </a:solidFill>
                  <a:latin typeface="华文细黑" panose="02010600040101010101" charset="-122"/>
                  <a:ea typeface="华文细黑" panose="02010600040101010101" charset="-122"/>
                </a:rPr>
                <a:t>8.2</a:t>
              </a:r>
              <a:r>
                <a:rPr lang="zh-CN" altLang="en-US" sz="3600" b="1">
                  <a:solidFill>
                    <a:schemeClr val="bg1"/>
                  </a:solidFill>
                  <a:latin typeface="华文细黑" panose="02010600040101010101" charset="-122"/>
                  <a:ea typeface="华文细黑" panose="02010600040101010101" charset="-122"/>
                </a:rPr>
                <a:t>　一元线性回归模型及其应用</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smtClean="0">
                <a:solidFill>
                  <a:schemeClr val="bg1"/>
                </a:solidFill>
                <a:latin typeface="华文细黑" panose="02010600040101010101" charset="-122"/>
                <a:ea typeface="华文细黑" panose="02010600040101010101" charset="-122"/>
                <a:cs typeface="Open Sans" panose="020B0606030504020204" pitchFamily="34" charset="0"/>
              </a:rPr>
              <a:t>第八章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mtClean="0">
                <a:solidFill>
                  <a:srgbClr val="757C82"/>
                </a:solidFill>
                <a:latin typeface="Times New Roman" panose="02020603050405020304" pitchFamily="18" charset="0"/>
                <a:cs typeface="Times New Roman" panose="02020603050405020304" pitchFamily="18" charset="0"/>
              </a:rPr>
              <a:t>2025</a:t>
            </a:r>
            <a:endParaRPr lang="en-US" altLang="zh-CN" sz="2800" b="1" dirty="0" smtClean="0">
              <a:solidFill>
                <a:srgbClr val="757C8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4" name="矩形 3"/>
          <p:cNvSpPr>
            <a:spLocks noChangeAspect="1"/>
          </p:cNvSpPr>
          <p:nvPr/>
        </p:nvSpPr>
        <p:spPr>
          <a:xfrm>
            <a:off x="381000" y="1705919"/>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了解一元线性回归模型及随机误差、残差、决定系数</a:t>
            </a:r>
            <a:r>
              <a:rPr lang="en-US" altLang="zh-CN" sz="2800" i="1">
                <a:solidFill>
                  <a:srgbClr val="000000"/>
                </a:solidFill>
                <a:latin typeface="Times New Roman" panose="02020603050405020304" pitchFamily="18" charset="0"/>
                <a:cs typeface="Times New Roman" panose="02020603050405020304" pitchFamily="18" charset="0"/>
              </a:rPr>
              <a:t>R</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的概念</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了解最小二乘法的思想方法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会求经验回归方程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并用回归方程进行预报</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会用残差分析判断线性回归模型的拟合效果</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了解非线性回归模型通过变换转化为线性回归模型的思想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a:solidFill>
                  <a:srgbClr val="000000"/>
                </a:solidFill>
                <a:latin typeface="Times New Roman" panose="02020603050405020304" pitchFamily="18" charset="0"/>
              </a:rPr>
              <a:t>5</a:t>
            </a:r>
            <a:r>
              <a:rPr lang="en-US" altLang="zh-CN" sz="2800" i="1">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通过本节的学习</a:t>
            </a:r>
            <a:r>
              <a:rPr lang="en-US" altLang="zh-CN" sz="2800" smtClean="0">
                <a:solidFill>
                  <a:srgbClr val="000000"/>
                </a:solidFill>
                <a:latin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进一步提升数据分析</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数据建模的素养和能力</a:t>
            </a:r>
            <a:r>
              <a:rPr lang="en-US" altLang="zh-CN" sz="2800" i="1">
                <a:solidFill>
                  <a:srgbClr val="000000"/>
                </a:solidFill>
                <a:latin typeface="Times New Roman" panose="02020603050405020304" pitchFamily="18" charset="0"/>
              </a:rPr>
              <a:t>.</a:t>
            </a:r>
            <a:endParaRPr lang="zh-CN" altLang="en-US" sz="280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335133"/>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ea typeface="方正正中黑简体"/>
                <a:cs typeface="Times New Roman" panose="02020603050405020304" pitchFamily="18" charset="0"/>
              </a:rPr>
              <a:t>一、一元线性回归模型及经验回归方程</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某电脑公司有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名产品推销员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其工作年限与年推销金额数据如下表</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1720049629"/>
              </p:ext>
            </p:extLst>
          </p:nvPr>
        </p:nvGraphicFramePr>
        <p:xfrm>
          <a:off x="381000" y="2698331"/>
          <a:ext cx="11430000" cy="1920240"/>
        </p:xfrm>
        <a:graphic>
          <a:graphicData uri="http://schemas.openxmlformats.org/drawingml/2006/table">
            <a:tbl>
              <a:tblPr firstRow="1" firstCol="1" bandRow="1"/>
              <a:tblGrid>
                <a:gridCol w="3173858"/>
                <a:gridCol w="1448657"/>
                <a:gridCol w="1092485"/>
                <a:gridCol w="1905000"/>
                <a:gridCol w="1905000"/>
                <a:gridCol w="1905000"/>
              </a:tblGrid>
              <a:tr h="0">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推销员编号</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工作年限</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年</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年推销金额</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万元</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160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4685769"/>
            <a:ext cx="9009198"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请问如何表示年推销金额</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与工作年限</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之间的相关关系</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142598"/>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画出散点图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由图可知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样本点散布在一条直线附近</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因此可用回归直线表示变量之间的相关关系</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ZMX3TRAX62.eps" descr="id:2147518929;FounderCES"/>
          <p:cNvPicPr/>
          <p:nvPr/>
        </p:nvPicPr>
        <p:blipFill>
          <a:blip r:embed="rId2">
            <a:clrChange>
              <a:clrFrom>
                <a:srgbClr val="FFFFFF"/>
              </a:clrFrom>
              <a:clrTo>
                <a:srgbClr val="FFFFFF">
                  <a:alpha val="0"/>
                </a:srgbClr>
              </a:clrTo>
            </a:clrChange>
          </a:blip>
          <a:stretch>
            <a:fillRect/>
          </a:stretch>
        </p:blipFill>
        <p:spPr>
          <a:xfrm>
            <a:off x="3265035" y="2384558"/>
            <a:ext cx="4995388" cy="2878316"/>
          </a:xfrm>
          <a:prstGeom prst="rect">
            <a:avLst/>
          </a:prstGeom>
        </p:spPr>
      </p:pic>
    </p:spTree>
    <p:extLst>
      <p:ext uri="{BB962C8B-B14F-4D97-AF65-F5344CB8AC3E}">
        <p14:creationId xmlns:p14="http://schemas.microsoft.com/office/powerpoint/2010/main" val="25898402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327020468"/>
              </p:ext>
            </p:extLst>
          </p:nvPr>
        </p:nvGraphicFramePr>
        <p:xfrm>
          <a:off x="457200" y="1160980"/>
          <a:ext cx="11249025" cy="4782620"/>
        </p:xfrm>
        <a:graphic>
          <a:graphicData uri="http://schemas.openxmlformats.org/presentationml/2006/ole">
            <mc:AlternateContent xmlns:mc="http://schemas.openxmlformats.org/markup-compatibility/2006">
              <mc:Choice xmlns:v="urn:schemas-microsoft-com:vml" Requires="v">
                <p:oleObj spid="_x0000_s4121" name="文档" r:id="rId4" imgW="4510061" imgH="1878835" progId="Word.Document.12">
                  <p:embed/>
                </p:oleObj>
              </mc:Choice>
              <mc:Fallback>
                <p:oleObj name="文档" r:id="rId4" imgW="4510061" imgH="1878835" progId="Word.Document.12">
                  <p:embed/>
                  <p:pic>
                    <p:nvPicPr>
                      <p:cNvPr id="0" name=""/>
                      <p:cNvPicPr/>
                      <p:nvPr/>
                    </p:nvPicPr>
                    <p:blipFill>
                      <a:blip r:embed="rId5"/>
                      <a:stretch>
                        <a:fillRect/>
                      </a:stretch>
                    </p:blipFill>
                    <p:spPr>
                      <a:xfrm>
                        <a:off x="457200" y="1160980"/>
                        <a:ext cx="11249025" cy="4782620"/>
                      </a:xfrm>
                      <a:prstGeom prst="rect">
                        <a:avLst/>
                      </a:prstGeom>
                    </p:spPr>
                  </p:pic>
                </p:oleObj>
              </mc:Fallback>
            </mc:AlternateContent>
          </a:graphicData>
        </a:graphic>
      </p:graphicFrame>
      <p:sp>
        <p:nvSpPr>
          <p:cNvPr id="3" name="矩形 2"/>
          <p:cNvSpPr/>
          <p:nvPr/>
        </p:nvSpPr>
        <p:spPr>
          <a:xfrm>
            <a:off x="7650074" y="2856528"/>
            <a:ext cx="2776122"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7650074" y="3408125"/>
            <a:ext cx="27761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146429" y="3727384"/>
            <a:ext cx="1196556"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146429" y="4278981"/>
            <a:ext cx="119655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2735742" y="3727384"/>
            <a:ext cx="1496481"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2735743" y="4278981"/>
            <a:ext cx="149648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5358672" y="3727384"/>
            <a:ext cx="1116010"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5358672" y="4278981"/>
            <a:ext cx="11160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6849679" y="3727384"/>
            <a:ext cx="1557244"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6849680" y="4278981"/>
            <a:ext cx="155724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468086" y="5218115"/>
            <a:ext cx="1557244"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468087" y="5769712"/>
            <a:ext cx="155724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02226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2"/>
                                        </p:tgtEl>
                                      </p:cBhvr>
                                    </p:animEffect>
                                    <p:set>
                                      <p:cBhvr>
                                        <p:cTn id="22" dur="1" fill="hold">
                                          <p:stCondLst>
                                            <p:cond delay="499"/>
                                          </p:stCondLst>
                                        </p:cTn>
                                        <p:tgtEl>
                                          <p:spTgt spid="1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5"/>
                                        </p:tgtEl>
                                      </p:cBhvr>
                                    </p:animEffect>
                                    <p:set>
                                      <p:cBhvr>
                                        <p:cTn id="27" dur="1" fill="hold">
                                          <p:stCondLst>
                                            <p:cond delay="499"/>
                                          </p:stCondLst>
                                        </p:cTn>
                                        <p:tgtEl>
                                          <p:spTgt spid="15"/>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7"/>
                                        </p:tgtEl>
                                      </p:cBhvr>
                                    </p:animEffect>
                                    <p:set>
                                      <p:cBhvr>
                                        <p:cTn id="32"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9" grpId="0" animBg="1"/>
      <p:bldP spid="12" grpId="0" animBg="1"/>
      <p:bldP spid="15"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830956707"/>
              </p:ext>
            </p:extLst>
          </p:nvPr>
        </p:nvGraphicFramePr>
        <p:xfrm>
          <a:off x="458424" y="1294157"/>
          <a:ext cx="11275153" cy="4523685"/>
        </p:xfrm>
        <a:graphic>
          <a:graphicData uri="http://schemas.openxmlformats.org/presentationml/2006/ole">
            <mc:AlternateContent xmlns:mc="http://schemas.openxmlformats.org/markup-compatibility/2006">
              <mc:Choice xmlns:v="urn:schemas-microsoft-com:vml" Requires="v">
                <p:oleObj spid="_x0000_s5145" name="文档" r:id="rId4" imgW="4510061" imgH="1809474" progId="Word.Document.12">
                  <p:embed/>
                </p:oleObj>
              </mc:Choice>
              <mc:Fallback>
                <p:oleObj name="文档" r:id="rId4" imgW="4510061" imgH="1809474" progId="Word.Document.12">
                  <p:embed/>
                  <p:pic>
                    <p:nvPicPr>
                      <p:cNvPr id="0" name=""/>
                      <p:cNvPicPr/>
                      <p:nvPr/>
                    </p:nvPicPr>
                    <p:blipFill>
                      <a:blip r:embed="rId5"/>
                      <a:stretch>
                        <a:fillRect/>
                      </a:stretch>
                    </p:blipFill>
                    <p:spPr>
                      <a:xfrm>
                        <a:off x="458424" y="1294157"/>
                        <a:ext cx="11275153" cy="4523685"/>
                      </a:xfrm>
                      <a:prstGeom prst="rect">
                        <a:avLst/>
                      </a:prstGeom>
                    </p:spPr>
                  </p:pic>
                </p:oleObj>
              </mc:Fallback>
            </mc:AlternateContent>
          </a:graphicData>
        </a:graphic>
      </p:graphicFrame>
      <p:sp>
        <p:nvSpPr>
          <p:cNvPr id="3" name="矩形 2"/>
          <p:cNvSpPr/>
          <p:nvPr/>
        </p:nvSpPr>
        <p:spPr>
          <a:xfrm>
            <a:off x="5366060" y="3518721"/>
            <a:ext cx="2243386"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5366060" y="4070318"/>
            <a:ext cx="22433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8424947" y="3518721"/>
            <a:ext cx="2243386"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8424947" y="4070318"/>
            <a:ext cx="22433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402176" y="4215406"/>
            <a:ext cx="2243386"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402176" y="4767003"/>
            <a:ext cx="22433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4473435" y="4215406"/>
            <a:ext cx="2243386"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4473435" y="4767003"/>
            <a:ext cx="22433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5496694" y="5072746"/>
            <a:ext cx="2243386"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5496694" y="5624343"/>
            <a:ext cx="22433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91381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2"/>
                                        </p:tgtEl>
                                      </p:cBhvr>
                                    </p:animEffect>
                                    <p:set>
                                      <p:cBhvr>
                                        <p:cTn id="27"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10"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173420"/>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在一次试验中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测得</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的四组值分别是</a:t>
            </a:r>
            <a:r>
              <a:rPr lang="en-US" altLang="zh-CN" sz="2800">
                <a:solidFill>
                  <a:srgbClr val="000000"/>
                </a:solidFill>
                <a:latin typeface="Times New Roman" panose="02020603050405020304" pitchFamily="18" charset="0"/>
                <a:cs typeface="Times New Roman" panose="02020603050405020304" pitchFamily="18" charset="0"/>
              </a:rPr>
              <a:t>(1,2),(2,3),(3,4),(4,5),</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关于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的经验回归方程为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98021730"/>
              </p:ext>
            </p:extLst>
          </p:nvPr>
        </p:nvGraphicFramePr>
        <p:xfrm>
          <a:off x="458424" y="2325787"/>
          <a:ext cx="11275153" cy="2966675"/>
        </p:xfrm>
        <a:graphic>
          <a:graphicData uri="http://schemas.openxmlformats.org/presentationml/2006/ole">
            <mc:AlternateContent xmlns:mc="http://schemas.openxmlformats.org/markup-compatibility/2006">
              <mc:Choice xmlns:v="urn:schemas-microsoft-com:vml" Requires="v">
                <p:oleObj spid="_x0000_s6169" name="文档" r:id="rId4" imgW="4510061" imgH="1186670" progId="Word.Document.12">
                  <p:embed/>
                </p:oleObj>
              </mc:Choice>
              <mc:Fallback>
                <p:oleObj name="文档" r:id="rId4" imgW="4510061" imgH="1186670" progId="Word.Document.12">
                  <p:embed/>
                  <p:pic>
                    <p:nvPicPr>
                      <p:cNvPr id="0" name=""/>
                      <p:cNvPicPr/>
                      <p:nvPr/>
                    </p:nvPicPr>
                    <p:blipFill>
                      <a:blip r:embed="rId5"/>
                      <a:stretch>
                        <a:fillRect/>
                      </a:stretch>
                    </p:blipFill>
                    <p:spPr>
                      <a:xfrm>
                        <a:off x="458424" y="2325787"/>
                        <a:ext cx="11275153" cy="2966675"/>
                      </a:xfrm>
                      <a:prstGeom prst="rect">
                        <a:avLst/>
                      </a:prstGeom>
                    </p:spPr>
                  </p:pic>
                </p:oleObj>
              </mc:Fallback>
            </mc:AlternateContent>
          </a:graphicData>
        </a:graphic>
      </p:graphicFrame>
    </p:spTree>
    <p:extLst>
      <p:ext uri="{BB962C8B-B14F-4D97-AF65-F5344CB8AC3E}">
        <p14:creationId xmlns:p14="http://schemas.microsoft.com/office/powerpoint/2010/main" val="6850105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192873934"/>
              </p:ext>
            </p:extLst>
          </p:nvPr>
        </p:nvGraphicFramePr>
        <p:xfrm>
          <a:off x="458424" y="1178811"/>
          <a:ext cx="11275153" cy="2966675"/>
        </p:xfrm>
        <a:graphic>
          <a:graphicData uri="http://schemas.openxmlformats.org/presentationml/2006/ole">
            <mc:AlternateContent xmlns:mc="http://schemas.openxmlformats.org/markup-compatibility/2006">
              <mc:Choice xmlns:v="urn:schemas-microsoft-com:vml" Requires="v">
                <p:oleObj spid="_x0000_s7193" name="文档" r:id="rId4" imgW="4510061" imgH="1186670" progId="Word.Document.12">
                  <p:embed/>
                </p:oleObj>
              </mc:Choice>
              <mc:Fallback>
                <p:oleObj name="文档" r:id="rId4" imgW="4510061" imgH="1186670" progId="Word.Document.12">
                  <p:embed/>
                  <p:pic>
                    <p:nvPicPr>
                      <p:cNvPr id="0" name=""/>
                      <p:cNvPicPr/>
                      <p:nvPr/>
                    </p:nvPicPr>
                    <p:blipFill>
                      <a:blip r:embed="rId5"/>
                      <a:stretch>
                        <a:fillRect/>
                      </a:stretch>
                    </p:blipFill>
                    <p:spPr>
                      <a:xfrm>
                        <a:off x="458424" y="1178811"/>
                        <a:ext cx="11275153" cy="2966675"/>
                      </a:xfrm>
                      <a:prstGeom prst="rect">
                        <a:avLst/>
                      </a:prstGeom>
                    </p:spPr>
                  </p:pic>
                </p:oleObj>
              </mc:Fallback>
            </mc:AlternateContent>
          </a:graphicData>
        </a:graphic>
      </p:graphicFrame>
      <p:sp>
        <p:nvSpPr>
          <p:cNvPr id="3" name="矩形 2"/>
          <p:cNvSpPr>
            <a:spLocks noChangeAspect="1"/>
          </p:cNvSpPr>
          <p:nvPr/>
        </p:nvSpPr>
        <p:spPr>
          <a:xfrm>
            <a:off x="381000" y="4239730"/>
            <a:ext cx="3179075"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2)8</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95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9714504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96868"/>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ea typeface="方正正中黑简体"/>
                <a:cs typeface="Times New Roman" panose="02020603050405020304" pitchFamily="18" charset="0"/>
              </a:rPr>
              <a:t>二、线性回归</a:t>
            </a:r>
            <a:r>
              <a:rPr lang="zh-CN" altLang="zh-CN" sz="2800" smtClean="0">
                <a:solidFill>
                  <a:srgbClr val="000000"/>
                </a:solidFill>
                <a:latin typeface="NEU-BZ-S92"/>
                <a:ea typeface="方正正中黑简体"/>
                <a:cs typeface="Times New Roman" panose="02020603050405020304" pitchFamily="18" charset="0"/>
              </a:rPr>
              <a:t>分析</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Arial" panose="020B0604020202020204" pitchFamily="34" charset="0"/>
              <a:ea typeface="黑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Arial" panose="020B0604020202020204" pitchFamily="34" charset="0"/>
              <a:ea typeface="黑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不一定</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越小越好</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628901319"/>
              </p:ext>
            </p:extLst>
          </p:nvPr>
        </p:nvGraphicFramePr>
        <p:xfrm>
          <a:off x="458424" y="1888704"/>
          <a:ext cx="11275153" cy="2966675"/>
        </p:xfrm>
        <a:graphic>
          <a:graphicData uri="http://schemas.openxmlformats.org/presentationml/2006/ole">
            <mc:AlternateContent xmlns:mc="http://schemas.openxmlformats.org/markup-compatibility/2006">
              <mc:Choice xmlns:v="urn:schemas-microsoft-com:vml" Requires="v">
                <p:oleObj spid="_x0000_s8217" name="文档" r:id="rId4" imgW="4510061" imgH="1186670" progId="Word.Document.12">
                  <p:embed/>
                </p:oleObj>
              </mc:Choice>
              <mc:Fallback>
                <p:oleObj name="文档" r:id="rId4" imgW="4510061" imgH="1186670" progId="Word.Document.12">
                  <p:embed/>
                  <p:pic>
                    <p:nvPicPr>
                      <p:cNvPr id="0" name=""/>
                      <p:cNvPicPr/>
                      <p:nvPr/>
                    </p:nvPicPr>
                    <p:blipFill>
                      <a:blip r:embed="rId5"/>
                      <a:stretch>
                        <a:fillRect/>
                      </a:stretch>
                    </p:blipFill>
                    <p:spPr>
                      <a:xfrm>
                        <a:off x="458424" y="1888704"/>
                        <a:ext cx="11275153" cy="2966675"/>
                      </a:xfrm>
                      <a:prstGeom prst="rect">
                        <a:avLst/>
                      </a:prstGeom>
                    </p:spPr>
                  </p:pic>
                </p:oleObj>
              </mc:Fallback>
            </mc:AlternateContent>
          </a:graphicData>
        </a:graphic>
      </p:graphicFrame>
    </p:spTree>
    <p:extLst>
      <p:ext uri="{BB962C8B-B14F-4D97-AF65-F5344CB8AC3E}">
        <p14:creationId xmlns:p14="http://schemas.microsoft.com/office/powerpoint/2010/main" val="37747445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randombar(horizontal)">
                                      <p:cBhvr>
                                        <p:cTn id="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421805421"/>
              </p:ext>
            </p:extLst>
          </p:nvPr>
        </p:nvGraphicFramePr>
        <p:xfrm>
          <a:off x="469900" y="565150"/>
          <a:ext cx="11188700" cy="5197475"/>
        </p:xfrm>
        <a:graphic>
          <a:graphicData uri="http://schemas.openxmlformats.org/presentationml/2006/ole">
            <mc:AlternateContent xmlns:mc="http://schemas.openxmlformats.org/markup-compatibility/2006">
              <mc:Choice xmlns:v="urn:schemas-microsoft-com:vml" Requires="v">
                <p:oleObj spid="_x0000_s9241" name="文档" r:id="rId4" imgW="4510061" imgH="2096259" progId="Word.Document.12">
                  <p:embed/>
                </p:oleObj>
              </mc:Choice>
              <mc:Fallback>
                <p:oleObj name="文档" r:id="rId4" imgW="4510061" imgH="2096259" progId="Word.Document.12">
                  <p:embed/>
                  <p:pic>
                    <p:nvPicPr>
                      <p:cNvPr id="0" name=""/>
                      <p:cNvPicPr/>
                      <p:nvPr/>
                    </p:nvPicPr>
                    <p:blipFill>
                      <a:blip r:embed="rId5"/>
                      <a:stretch>
                        <a:fillRect/>
                      </a:stretch>
                    </p:blipFill>
                    <p:spPr>
                      <a:xfrm>
                        <a:off x="469900" y="565150"/>
                        <a:ext cx="11188700" cy="5197475"/>
                      </a:xfrm>
                      <a:prstGeom prst="rect">
                        <a:avLst/>
                      </a:prstGeom>
                    </p:spPr>
                  </p:pic>
                </p:oleObj>
              </mc:Fallback>
            </mc:AlternateContent>
          </a:graphicData>
        </a:graphic>
      </p:graphicFrame>
      <p:sp>
        <p:nvSpPr>
          <p:cNvPr id="3" name="矩形 2"/>
          <p:cNvSpPr/>
          <p:nvPr/>
        </p:nvSpPr>
        <p:spPr>
          <a:xfrm>
            <a:off x="8013558" y="1406525"/>
            <a:ext cx="698927"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8013557" y="1958122"/>
            <a:ext cx="69892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2537033" y="4544669"/>
            <a:ext cx="832270"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2537032" y="5096266"/>
            <a:ext cx="8322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6292604" y="4544669"/>
            <a:ext cx="832270"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6292603" y="5096266"/>
            <a:ext cx="8322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3233718" y="5135429"/>
            <a:ext cx="832270"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3233717" y="5687026"/>
            <a:ext cx="8322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0396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44782"/>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在</a:t>
            </a:r>
            <a:r>
              <a:rPr lang="zh-CN" altLang="zh-CN" sz="2800">
                <a:solidFill>
                  <a:srgbClr val="000000"/>
                </a:solidFill>
                <a:latin typeface="Times New Roman" panose="02020603050405020304" pitchFamily="18" charset="0"/>
                <a:cs typeface="Times New Roman" panose="02020603050405020304" pitchFamily="18" charset="0"/>
              </a:rPr>
              <a:t>两个变量</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的回归模型中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分别选择了</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个不同的模型</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它们的决定系数</a:t>
            </a:r>
            <a:r>
              <a:rPr lang="en-US" altLang="zh-CN" sz="2800" i="1" smtClean="0">
                <a:solidFill>
                  <a:srgbClr val="000000"/>
                </a:solidFill>
                <a:latin typeface="Times New Roman" panose="02020603050405020304" pitchFamily="18" charset="0"/>
                <a:cs typeface="Times New Roman" panose="02020603050405020304" pitchFamily="18" charset="0"/>
              </a:rPr>
              <a:t>R</a:t>
            </a:r>
            <a:r>
              <a:rPr lang="en-US" altLang="zh-CN" sz="2800" baseline="30000" smtClean="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如下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其中拟合效果最好的模型是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模型</a:t>
            </a:r>
            <a:r>
              <a:rPr lang="en-US" altLang="zh-CN" sz="2800">
                <a:solidFill>
                  <a:srgbClr val="000000"/>
                </a:solidFill>
                <a:latin typeface="Times New Roman" panose="02020603050405020304" pitchFamily="18" charset="0"/>
                <a:cs typeface="Times New Roman" panose="02020603050405020304" pitchFamily="18" charset="0"/>
              </a:rPr>
              <a:t>1	B.</a:t>
            </a:r>
            <a:r>
              <a:rPr lang="zh-CN" altLang="zh-CN" sz="2800">
                <a:solidFill>
                  <a:srgbClr val="000000"/>
                </a:solidFill>
                <a:latin typeface="Times New Roman" panose="02020603050405020304" pitchFamily="18" charset="0"/>
                <a:cs typeface="Times New Roman" panose="02020603050405020304" pitchFamily="18" charset="0"/>
              </a:rPr>
              <a:t>模型</a:t>
            </a:r>
            <a:r>
              <a:rPr lang="en-US" altLang="zh-CN" sz="2800">
                <a:solidFill>
                  <a:srgbClr val="000000"/>
                </a:solidFill>
                <a:latin typeface="Times New Roman" panose="02020603050405020304" pitchFamily="18" charset="0"/>
                <a:cs typeface="Times New Roman" panose="02020603050405020304" pitchFamily="18" charset="0"/>
              </a:rPr>
              <a:t>2	C.</a:t>
            </a:r>
            <a:r>
              <a:rPr lang="zh-CN" altLang="zh-CN" sz="2800">
                <a:solidFill>
                  <a:srgbClr val="000000"/>
                </a:solidFill>
                <a:latin typeface="Times New Roman" panose="02020603050405020304" pitchFamily="18" charset="0"/>
                <a:cs typeface="Times New Roman" panose="02020603050405020304" pitchFamily="18" charset="0"/>
              </a:rPr>
              <a:t>模型</a:t>
            </a:r>
            <a:r>
              <a:rPr lang="en-US" altLang="zh-CN" sz="2800">
                <a:solidFill>
                  <a:srgbClr val="000000"/>
                </a:solidFill>
                <a:latin typeface="Times New Roman" panose="02020603050405020304" pitchFamily="18" charset="0"/>
                <a:cs typeface="Times New Roman" panose="02020603050405020304" pitchFamily="18" charset="0"/>
              </a:rPr>
              <a:t>3	D.</a:t>
            </a:r>
            <a:r>
              <a:rPr lang="zh-CN" altLang="zh-CN" sz="2800">
                <a:solidFill>
                  <a:srgbClr val="000000"/>
                </a:solidFill>
                <a:latin typeface="Times New Roman" panose="02020603050405020304" pitchFamily="18" charset="0"/>
                <a:cs typeface="Times New Roman" panose="02020603050405020304" pitchFamily="18" charset="0"/>
              </a:rPr>
              <a:t>模型</a:t>
            </a:r>
            <a:r>
              <a:rPr lang="en-US" altLang="zh-CN" sz="2800">
                <a:solidFill>
                  <a:srgbClr val="000000"/>
                </a:solidFill>
                <a:latin typeface="Times New Roman" panose="02020603050405020304" pitchFamily="18" charset="0"/>
                <a:cs typeface="Times New Roman" panose="02020603050405020304" pitchFamily="18" charset="0"/>
              </a:rPr>
              <a:t>4</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2620722679"/>
              </p:ext>
            </p:extLst>
          </p:nvPr>
        </p:nvGraphicFramePr>
        <p:xfrm>
          <a:off x="381000" y="2317105"/>
          <a:ext cx="11430000" cy="1280160"/>
        </p:xfrm>
        <a:graphic>
          <a:graphicData uri="http://schemas.openxmlformats.org/drawingml/2006/table">
            <a:tbl>
              <a:tblPr firstRow="1" firstCol="1" bandRow="1"/>
              <a:tblGrid>
                <a:gridCol w="2286000"/>
                <a:gridCol w="2286000"/>
                <a:gridCol w="2286000"/>
                <a:gridCol w="2286000"/>
                <a:gridCol w="2286000"/>
              </a:tblGrid>
              <a:tr h="0">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模型</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模型</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模型</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模型</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zh-CN"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模型</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5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t>
                      </a:r>
                      <a:r>
                        <a:rPr lang="en-US" sz="2800" baseline="30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4276010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642933"/>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a:solidFill>
                  <a:srgbClr val="000000"/>
                </a:solidFill>
                <a:latin typeface="NEU-BZ-S92"/>
                <a:ea typeface="Arial" panose="020B0604020202020204" pitchFamily="34"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Cambria Math" panose="02040503050406030204" pitchFamily="18" charset="0"/>
                <a:ea typeface="NEU-BZ-S9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错误的画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求经验回归方程前可以不进行相关性检验</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在残差图中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纵坐标为残差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横坐标可以选为样本编号</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利用经验回归方程求出的值是准确值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决定系数</a:t>
            </a:r>
            <a:r>
              <a:rPr lang="en-US" altLang="zh-CN" sz="2800" i="1">
                <a:solidFill>
                  <a:srgbClr val="000000"/>
                </a:solidFill>
                <a:latin typeface="Times New Roman" panose="02020603050405020304" pitchFamily="18" charset="0"/>
              </a:rPr>
              <a:t>R</a:t>
            </a:r>
            <a:r>
              <a:rPr lang="en-US" altLang="zh-CN" sz="2800" baseline="30000">
                <a:solidFill>
                  <a:srgbClr val="000000"/>
                </a:solidFill>
                <a:latin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越大</a:t>
            </a:r>
            <a:r>
              <a:rPr lang="en-US" altLang="zh-CN" sz="2800">
                <a:solidFill>
                  <a:srgbClr val="000000"/>
                </a:solidFill>
                <a:latin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说明模型的拟合效果越</a:t>
            </a:r>
            <a:r>
              <a:rPr lang="zh-CN" altLang="zh-CN" sz="2800" smtClean="0">
                <a:solidFill>
                  <a:srgbClr val="000000"/>
                </a:solidFill>
                <a:latin typeface="Times New Roman" panose="02020603050405020304" pitchFamily="18" charset="0"/>
                <a:cs typeface="Times New Roman" panose="02020603050405020304" pitchFamily="18" charset="0"/>
              </a:rPr>
              <a:t>差</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随机误差也就是残差</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7582772" y="2819401"/>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9128543" y="3396343"/>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6875201" y="3953888"/>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655303" y="4489661"/>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382375" y="5071668"/>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004565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7"/>
                                        </p:tgtEl>
                                      </p:cBhvr>
                                    </p:animEffect>
                                    <p:set>
                                      <p:cBhvr>
                                        <p:cTn id="2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经验回归方程</a:t>
                </a:r>
                <a:endParaRPr lang="zh-CN" altLang="en-US" sz="2800" b="1" dirty="0">
                  <a:solidFill>
                    <a:schemeClr val="bg1"/>
                  </a:solidFill>
                </a:endParaRPr>
              </a:p>
            </p:txBody>
          </p:sp>
        </p:grpSp>
      </p:grpSp>
      <p:sp>
        <p:nvSpPr>
          <p:cNvPr id="5" name="矩形 4"/>
          <p:cNvSpPr>
            <a:spLocks noChangeAspect="1"/>
          </p:cNvSpPr>
          <p:nvPr/>
        </p:nvSpPr>
        <p:spPr>
          <a:xfrm>
            <a:off x="381000" y="1062180"/>
            <a:ext cx="11430000" cy="339298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随着智能手机的普及</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使用手机上网成为人们日常生活的一部分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很多消费者对手机流量的需求越来越大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某通信公司为了更好地满足消费者对流量的需求</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准备推出一款流量包</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该通信公司选了</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个城市</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总人数、经济发展情况、消费能力等方面比较接近</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采用不同的定价方案作为试点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经过一个月的统计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发现该流量包的定价</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单位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元</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和购买人数</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单位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万人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的关系如下表</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表格 5"/>
          <p:cNvGraphicFramePr>
            <a:graphicFrameLocks noGrp="1" noChangeAspect="1"/>
          </p:cNvGraphicFramePr>
          <p:nvPr>
            <p:extLst>
              <p:ext uri="{D42A27DB-BD31-4B8C-83A1-F6EECF244321}">
                <p14:modId xmlns:p14="http://schemas.microsoft.com/office/powerpoint/2010/main" val="2162681816"/>
              </p:ext>
            </p:extLst>
          </p:nvPr>
        </p:nvGraphicFramePr>
        <p:xfrm>
          <a:off x="381000" y="4587694"/>
          <a:ext cx="11430000" cy="981456"/>
        </p:xfrm>
        <a:graphic>
          <a:graphicData uri="http://schemas.openxmlformats.org/drawingml/2006/table">
            <a:tbl>
              <a:tblPr firstRow="1" firstCol="1" bandRow="1"/>
              <a:tblGrid>
                <a:gridCol w="1905000"/>
                <a:gridCol w="1905000"/>
                <a:gridCol w="1905000"/>
                <a:gridCol w="1905000"/>
                <a:gridCol w="1905000"/>
                <a:gridCol w="19050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28791"/>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根据表中的数据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运用相关系数进行分析说明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是否可以用线性回归模型拟合</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并指出</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是正相关还是负相关</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cs typeface="Times New Roman" panose="02020603050405020304" pitchFamily="18" charset="0"/>
              </a:rPr>
              <a:t>求出</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关于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的经验回归方程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cs typeface="Times New Roman" panose="02020603050405020304" pitchFamily="18" charset="0"/>
              </a:rPr>
              <a:t>若该通信公司在一个类似于试点的城市中将这款流量包的价格定为</a:t>
            </a:r>
            <a:r>
              <a:rPr lang="en-US" altLang="zh-CN" sz="2800">
                <a:solidFill>
                  <a:srgbClr val="000000"/>
                </a:solidFill>
                <a:latin typeface="Times New Roman" panose="02020603050405020304" pitchFamily="18" charset="0"/>
                <a:cs typeface="Times New Roman" panose="02020603050405020304" pitchFamily="18" charset="0"/>
              </a:rPr>
              <a:t>25</a:t>
            </a:r>
            <a:r>
              <a:rPr lang="zh-CN" altLang="zh-CN" sz="2800">
                <a:solidFill>
                  <a:srgbClr val="000000"/>
                </a:solidFill>
                <a:latin typeface="Times New Roman" panose="02020603050405020304" pitchFamily="18" charset="0"/>
                <a:cs typeface="Times New Roman" panose="02020603050405020304" pitchFamily="18" charset="0"/>
              </a:rPr>
              <a:t>元</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请用所求的经验回归方程预测该市一个月内购买该流量包的人数能否超过</a:t>
            </a:r>
            <a:r>
              <a:rPr lang="en-US" altLang="zh-CN" sz="2800">
                <a:solidFill>
                  <a:srgbClr val="000000"/>
                </a:solidFill>
                <a:latin typeface="Times New Roman" panose="02020603050405020304" pitchFamily="18" charset="0"/>
                <a:cs typeface="Times New Roman" panose="02020603050405020304" pitchFamily="18" charset="0"/>
              </a:rPr>
              <a:t>20</a:t>
            </a:r>
            <a:r>
              <a:rPr lang="zh-CN" altLang="zh-CN" sz="2800">
                <a:solidFill>
                  <a:srgbClr val="000000"/>
                </a:solidFill>
                <a:latin typeface="Times New Roman" panose="02020603050405020304" pitchFamily="18" charset="0"/>
                <a:cs typeface="Times New Roman" panose="02020603050405020304" pitchFamily="18" charset="0"/>
              </a:rPr>
              <a:t>万人</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715906314"/>
              </p:ext>
            </p:extLst>
          </p:nvPr>
        </p:nvGraphicFramePr>
        <p:xfrm>
          <a:off x="458424" y="4682044"/>
          <a:ext cx="11275153" cy="570313"/>
        </p:xfrm>
        <a:graphic>
          <a:graphicData uri="http://schemas.openxmlformats.org/presentationml/2006/ole">
            <mc:AlternateContent xmlns:mc="http://schemas.openxmlformats.org/markup-compatibility/2006">
              <mc:Choice xmlns:v="urn:schemas-microsoft-com:vml" Requires="v">
                <p:oleObj spid="_x0000_s46093" name="文档" r:id="rId4" imgW="4510061" imgH="228846" progId="Word.Document.12">
                  <p:embed/>
                </p:oleObj>
              </mc:Choice>
              <mc:Fallback>
                <p:oleObj name="文档" r:id="rId4" imgW="4510061" imgH="228846" progId="Word.Document.12">
                  <p:embed/>
                  <p:pic>
                    <p:nvPicPr>
                      <p:cNvPr id="0" name=""/>
                      <p:cNvPicPr/>
                      <p:nvPr/>
                    </p:nvPicPr>
                    <p:blipFill>
                      <a:blip r:embed="rId5"/>
                      <a:stretch>
                        <a:fillRect/>
                      </a:stretch>
                    </p:blipFill>
                    <p:spPr>
                      <a:xfrm>
                        <a:off x="458424" y="4682044"/>
                        <a:ext cx="11275153" cy="570313"/>
                      </a:xfrm>
                      <a:prstGeom prst="rect">
                        <a:avLst/>
                      </a:prstGeom>
                    </p:spPr>
                  </p:pic>
                </p:oleObj>
              </mc:Fallback>
            </mc:AlternateContent>
          </a:graphicData>
        </a:graphic>
      </p:graphicFrame>
    </p:spTree>
    <p:extLst>
      <p:ext uri="{BB962C8B-B14F-4D97-AF65-F5344CB8AC3E}">
        <p14:creationId xmlns:p14="http://schemas.microsoft.com/office/powerpoint/2010/main" val="42662748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946301188"/>
              </p:ext>
            </p:extLst>
          </p:nvPr>
        </p:nvGraphicFramePr>
        <p:xfrm>
          <a:off x="434639" y="442389"/>
          <a:ext cx="11322723" cy="6514900"/>
        </p:xfrm>
        <a:graphic>
          <a:graphicData uri="http://schemas.openxmlformats.org/presentationml/2006/ole">
            <mc:AlternateContent xmlns:mc="http://schemas.openxmlformats.org/markup-compatibility/2006">
              <mc:Choice xmlns:v="urn:schemas-microsoft-com:vml" Requires="v">
                <p:oleObj spid="_x0000_s47117" name="文档" r:id="rId4" imgW="4529089" imgH="2605960" progId="Word.Document.12">
                  <p:embed/>
                </p:oleObj>
              </mc:Choice>
              <mc:Fallback>
                <p:oleObj name="文档" r:id="rId4" imgW="4529089" imgH="2605960" progId="Word.Document.12">
                  <p:embed/>
                  <p:pic>
                    <p:nvPicPr>
                      <p:cNvPr id="0" name=""/>
                      <p:cNvPicPr/>
                      <p:nvPr/>
                    </p:nvPicPr>
                    <p:blipFill>
                      <a:blip r:embed="rId5"/>
                      <a:stretch>
                        <a:fillRect/>
                      </a:stretch>
                    </p:blipFill>
                    <p:spPr>
                      <a:xfrm>
                        <a:off x="434639" y="442389"/>
                        <a:ext cx="11322723" cy="6514900"/>
                      </a:xfrm>
                      <a:prstGeom prst="rect">
                        <a:avLst/>
                      </a:prstGeom>
                    </p:spPr>
                  </p:pic>
                </p:oleObj>
              </mc:Fallback>
            </mc:AlternateContent>
          </a:graphicData>
        </a:graphic>
      </p:graphicFrame>
    </p:spTree>
    <p:extLst>
      <p:ext uri="{BB962C8B-B14F-4D97-AF65-F5344CB8AC3E}">
        <p14:creationId xmlns:p14="http://schemas.microsoft.com/office/powerpoint/2010/main" val="4996504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240809161"/>
              </p:ext>
            </p:extLst>
          </p:nvPr>
        </p:nvGraphicFramePr>
        <p:xfrm>
          <a:off x="458424" y="518135"/>
          <a:ext cx="11275153" cy="5603120"/>
        </p:xfrm>
        <a:graphic>
          <a:graphicData uri="http://schemas.openxmlformats.org/presentationml/2006/ole">
            <mc:AlternateContent xmlns:mc="http://schemas.openxmlformats.org/markup-compatibility/2006">
              <mc:Choice xmlns:v="urn:schemas-microsoft-com:vml" Requires="v">
                <p:oleObj spid="_x0000_s48141" name="文档" r:id="rId4" imgW="4510061" imgH="2241248" progId="Word.Document.12">
                  <p:embed/>
                </p:oleObj>
              </mc:Choice>
              <mc:Fallback>
                <p:oleObj name="文档" r:id="rId4" imgW="4510061" imgH="2241248" progId="Word.Document.12">
                  <p:embed/>
                  <p:pic>
                    <p:nvPicPr>
                      <p:cNvPr id="0" name=""/>
                      <p:cNvPicPr/>
                      <p:nvPr/>
                    </p:nvPicPr>
                    <p:blipFill>
                      <a:blip r:embed="rId5"/>
                      <a:stretch>
                        <a:fillRect/>
                      </a:stretch>
                    </p:blipFill>
                    <p:spPr>
                      <a:xfrm>
                        <a:off x="458424" y="518135"/>
                        <a:ext cx="11275153" cy="5603120"/>
                      </a:xfrm>
                      <a:prstGeom prst="rect">
                        <a:avLst/>
                      </a:prstGeom>
                    </p:spPr>
                  </p:pic>
                </p:oleObj>
              </mc:Fallback>
            </mc:AlternateContent>
          </a:graphicData>
        </a:graphic>
      </p:graphicFrame>
    </p:spTree>
    <p:extLst>
      <p:ext uri="{BB962C8B-B14F-4D97-AF65-F5344CB8AC3E}">
        <p14:creationId xmlns:p14="http://schemas.microsoft.com/office/powerpoint/2010/main" val="19899796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37810320"/>
              </p:ext>
            </p:extLst>
          </p:nvPr>
        </p:nvGraphicFramePr>
        <p:xfrm>
          <a:off x="458424" y="10274"/>
          <a:ext cx="11275153" cy="6594185"/>
        </p:xfrm>
        <a:graphic>
          <a:graphicData uri="http://schemas.openxmlformats.org/presentationml/2006/ole">
            <mc:AlternateContent xmlns:mc="http://schemas.openxmlformats.org/markup-compatibility/2006">
              <mc:Choice xmlns:v="urn:schemas-microsoft-com:vml" Requires="v">
                <p:oleObj spid="_x0000_s49165" name="文档" r:id="rId4" imgW="4510061" imgH="2641278" progId="Word.Document.12">
                  <p:embed/>
                </p:oleObj>
              </mc:Choice>
              <mc:Fallback>
                <p:oleObj name="文档" r:id="rId4" imgW="4510061" imgH="2641278" progId="Word.Document.12">
                  <p:embed/>
                  <p:pic>
                    <p:nvPicPr>
                      <p:cNvPr id="0" name=""/>
                      <p:cNvPicPr/>
                      <p:nvPr/>
                    </p:nvPicPr>
                    <p:blipFill>
                      <a:blip r:embed="rId5"/>
                      <a:stretch>
                        <a:fillRect/>
                      </a:stretch>
                    </p:blipFill>
                    <p:spPr>
                      <a:xfrm>
                        <a:off x="458424" y="10274"/>
                        <a:ext cx="11275153" cy="6594185"/>
                      </a:xfrm>
                      <a:prstGeom prst="rect">
                        <a:avLst/>
                      </a:prstGeom>
                    </p:spPr>
                  </p:pic>
                </p:oleObj>
              </mc:Fallback>
            </mc:AlternateContent>
          </a:graphicData>
        </a:graphic>
      </p:graphicFrame>
    </p:spTree>
    <p:extLst>
      <p:ext uri="{BB962C8B-B14F-4D97-AF65-F5344CB8AC3E}">
        <p14:creationId xmlns:p14="http://schemas.microsoft.com/office/powerpoint/2010/main" val="40097923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867776365"/>
              </p:ext>
            </p:extLst>
          </p:nvPr>
        </p:nvGraphicFramePr>
        <p:xfrm>
          <a:off x="458424" y="832853"/>
          <a:ext cx="11275153" cy="494148"/>
        </p:xfrm>
        <a:graphic>
          <a:graphicData uri="http://schemas.openxmlformats.org/presentationml/2006/ole">
            <mc:AlternateContent xmlns:mc="http://schemas.openxmlformats.org/markup-compatibility/2006">
              <mc:Choice xmlns:v="urn:schemas-microsoft-com:vml" Requires="v">
                <p:oleObj spid="_x0000_s14371"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832853"/>
                        <a:ext cx="11275153" cy="494148"/>
                      </a:xfrm>
                      <a:prstGeom prst="rect">
                        <a:avLst/>
                      </a:prstGeom>
                    </p:spPr>
                  </p:pic>
                </p:oleObj>
              </mc:Fallback>
            </mc:AlternateContent>
          </a:graphicData>
        </a:graphic>
      </p:graphicFrame>
      <p:sp>
        <p:nvSpPr>
          <p:cNvPr id="4" name="矩形 3"/>
          <p:cNvSpPr>
            <a:spLocks noChangeAspect="1"/>
          </p:cNvSpPr>
          <p:nvPr/>
        </p:nvSpPr>
        <p:spPr>
          <a:xfrm>
            <a:off x="381000" y="1327001"/>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求经验回归方程的步骤</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判断两个变量是否具有线性相关关系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方法有两种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NEU-BZ-S92"/>
                <a:cs typeface="宋体" panose="02010600030101010101" pitchFamily="2" charset="-122"/>
              </a:rPr>
              <a:t>①</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散点图法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通过观察散点图是否呈条状分布来判断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NEU-BZ-S92"/>
                <a:cs typeface="宋体" panose="02010600030101010101" pitchFamily="2" charset="-122"/>
              </a:rPr>
              <a:t>②</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相关系数法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根据公式计算相关系数</a:t>
            </a:r>
            <a:r>
              <a:rPr lang="en-US" altLang="zh-CN" sz="2800" i="1">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由</a:t>
            </a:r>
            <a:r>
              <a:rPr lang="en-US" altLang="zh-CN" sz="2800" i="1">
                <a:solidFill>
                  <a:srgbClr val="000000"/>
                </a:solidFill>
                <a:latin typeface="Times New Roman" panose="02020603050405020304" pitchFamily="18" charset="0"/>
                <a:cs typeface="Times New Roman" panose="02020603050405020304" pitchFamily="18" charset="0"/>
              </a:rPr>
              <a:t>r</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的取值情况判断</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写方程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写出经验回归方程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741324625"/>
              </p:ext>
            </p:extLst>
          </p:nvPr>
        </p:nvGraphicFramePr>
        <p:xfrm>
          <a:off x="458424" y="3324772"/>
          <a:ext cx="11275153" cy="1983030"/>
        </p:xfrm>
        <a:graphic>
          <a:graphicData uri="http://schemas.openxmlformats.org/presentationml/2006/ole">
            <mc:AlternateContent xmlns:mc="http://schemas.openxmlformats.org/markup-compatibility/2006">
              <mc:Choice xmlns:v="urn:schemas-microsoft-com:vml" Requires="v">
                <p:oleObj spid="_x0000_s14372" name="文档" r:id="rId7" imgW="4510061" imgH="793212" progId="Word.Document.12">
                  <p:embed/>
                </p:oleObj>
              </mc:Choice>
              <mc:Fallback>
                <p:oleObj name="文档" r:id="rId7" imgW="4510061" imgH="793212" progId="Word.Document.12">
                  <p:embed/>
                  <p:pic>
                    <p:nvPicPr>
                      <p:cNvPr id="0" name=""/>
                      <p:cNvPicPr/>
                      <p:nvPr/>
                    </p:nvPicPr>
                    <p:blipFill>
                      <a:blip r:embed="rId8"/>
                      <a:stretch>
                        <a:fillRect/>
                      </a:stretch>
                    </p:blipFill>
                    <p:spPr>
                      <a:xfrm>
                        <a:off x="458424" y="3324772"/>
                        <a:ext cx="11275153" cy="1983030"/>
                      </a:xfrm>
                      <a:prstGeom prst="rect">
                        <a:avLst/>
                      </a:prstGeom>
                    </p:spPr>
                  </p:pic>
                </p:oleObj>
              </mc:Fallback>
            </mc:AlternateContent>
          </a:graphicData>
        </a:graphic>
      </p:graphicFrame>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69495"/>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一个车间为了规定工时定额</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需要确定加工零件所花费的时间</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为此进行了</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次试验</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测得的数据如下</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是否具有线性相关关系</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如果</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具有线性相关关系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求经验回归方程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根据求出的经验回归方程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预测加工</a:t>
            </a:r>
            <a:r>
              <a:rPr lang="en-US" altLang="zh-CN" sz="2800">
                <a:solidFill>
                  <a:srgbClr val="000000"/>
                </a:solidFill>
                <a:latin typeface="Times New Roman" panose="02020603050405020304" pitchFamily="18" charset="0"/>
                <a:cs typeface="Times New Roman" panose="02020603050405020304" pitchFamily="18" charset="0"/>
              </a:rPr>
              <a:t>200</a:t>
            </a:r>
            <a:r>
              <a:rPr lang="zh-CN" altLang="zh-CN" sz="2800">
                <a:solidFill>
                  <a:srgbClr val="000000"/>
                </a:solidFill>
                <a:latin typeface="Times New Roman" panose="02020603050405020304" pitchFamily="18" charset="0"/>
                <a:cs typeface="Times New Roman" panose="02020603050405020304" pitchFamily="18" charset="0"/>
              </a:rPr>
              <a:t>个零件所用的时间为多少</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精确到</a:t>
            </a:r>
            <a:r>
              <a:rPr lang="en-US" altLang="zh-CN" sz="2800">
                <a:solidFill>
                  <a:srgbClr val="000000"/>
                </a:solidFill>
                <a:latin typeface="Times New Roman" panose="02020603050405020304" pitchFamily="18" charset="0"/>
                <a:cs typeface="Times New Roman" panose="02020603050405020304" pitchFamily="18" charset="0"/>
              </a:rPr>
              <a:t>1)</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3846367942"/>
              </p:ext>
            </p:extLst>
          </p:nvPr>
        </p:nvGraphicFramePr>
        <p:xfrm>
          <a:off x="544957" y="2011304"/>
          <a:ext cx="11102085" cy="1280160"/>
        </p:xfrm>
        <a:graphic>
          <a:graphicData uri="http://schemas.openxmlformats.org/drawingml/2006/table">
            <a:tbl>
              <a:tblPr firstRow="1" firstCol="1" bandRow="1"/>
              <a:tblGrid>
                <a:gridCol w="2888895"/>
                <a:gridCol w="821319"/>
                <a:gridCol w="821319"/>
                <a:gridCol w="821319"/>
                <a:gridCol w="821319"/>
                <a:gridCol w="821319"/>
                <a:gridCol w="821319"/>
                <a:gridCol w="821319"/>
                <a:gridCol w="821319"/>
                <a:gridCol w="821319"/>
                <a:gridCol w="821319"/>
              </a:tblGrid>
              <a:tr h="164863">
                <a:tc>
                  <a:txBody>
                    <a:bodyPr/>
                    <a:lstStyle/>
                    <a:p>
                      <a:pPr>
                        <a:lnSpc>
                          <a:spcPct val="150000"/>
                        </a:lnSpc>
                        <a:spcAft>
                          <a:spcPts val="0"/>
                        </a:spcAft>
                        <a:tabLst>
                          <a:tab pos="1188085" algn="l"/>
                          <a:tab pos="2163445" algn="l"/>
                          <a:tab pos="3142615" algn="l"/>
                          <a:tab pos="4190365" algn="l"/>
                        </a:tabLst>
                      </a:pPr>
                      <a:r>
                        <a:rPr lang="zh-CN" sz="2800" smtClean="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零件数</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个</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8809">
                <a:tc>
                  <a:txBody>
                    <a:bodyPr/>
                    <a:lstStyle/>
                    <a:p>
                      <a:pPr>
                        <a:lnSpc>
                          <a:spcPct val="15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加工</a:t>
                      </a:r>
                      <a:r>
                        <a:rPr lang="zh-CN" sz="2800" smtClean="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时间</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min</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66675" marR="66675"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9388374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39688"/>
            <a:ext cx="2678938"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列出下表</a:t>
            </a:r>
            <a:r>
              <a:rPr lang="en-US" altLang="zh-CN" sz="2800" i="1"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2106932294"/>
              </p:ext>
            </p:extLst>
          </p:nvPr>
        </p:nvGraphicFramePr>
        <p:xfrm>
          <a:off x="381000" y="926858"/>
          <a:ext cx="11430001" cy="1962912"/>
        </p:xfrm>
        <a:graphic>
          <a:graphicData uri="http://schemas.openxmlformats.org/drawingml/2006/table">
            <a:tbl>
              <a:tblPr firstRow="1" firstCol="1" bandRow="1"/>
              <a:tblGrid>
                <a:gridCol w="1039091"/>
                <a:gridCol w="1039091"/>
                <a:gridCol w="1039091"/>
                <a:gridCol w="1039091"/>
                <a:gridCol w="1039091"/>
                <a:gridCol w="1039091"/>
                <a:gridCol w="1039091"/>
                <a:gridCol w="1039091"/>
                <a:gridCol w="1039091"/>
                <a:gridCol w="1039091"/>
                <a:gridCol w="1039091"/>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en-US" sz="2800"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en-US" sz="2800"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360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en-US"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en-US"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240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r>
                        <a:rPr lang="en-US"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r>
                        <a:rPr lang="en-US"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r>
                        <a:rPr lang="en-US"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140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r>
                        <a:rPr lang="en-US"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640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a:t>
                      </a:r>
                      <a:r>
                        <a:rPr lang="en-US"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780073304"/>
              </p:ext>
            </p:extLst>
          </p:nvPr>
        </p:nvGraphicFramePr>
        <p:xfrm>
          <a:off x="458424" y="2899491"/>
          <a:ext cx="11275153" cy="2966675"/>
        </p:xfrm>
        <a:graphic>
          <a:graphicData uri="http://schemas.openxmlformats.org/presentationml/2006/ole">
            <mc:AlternateContent xmlns:mc="http://schemas.openxmlformats.org/markup-compatibility/2006">
              <mc:Choice xmlns:v="urn:schemas-microsoft-com:vml" Requires="v">
                <p:oleObj spid="_x0000_s11287" name="文档" r:id="rId4" imgW="4510061" imgH="1186670" progId="Word.Document.12">
                  <p:embed/>
                </p:oleObj>
              </mc:Choice>
              <mc:Fallback>
                <p:oleObj name="文档" r:id="rId4" imgW="4510061" imgH="1186670" progId="Word.Document.12">
                  <p:embed/>
                  <p:pic>
                    <p:nvPicPr>
                      <p:cNvPr id="0" name=""/>
                      <p:cNvPicPr/>
                      <p:nvPr/>
                    </p:nvPicPr>
                    <p:blipFill>
                      <a:blip r:embed="rId5"/>
                      <a:stretch>
                        <a:fillRect/>
                      </a:stretch>
                    </p:blipFill>
                    <p:spPr>
                      <a:xfrm>
                        <a:off x="458424" y="2899491"/>
                        <a:ext cx="11275153" cy="2966675"/>
                      </a:xfrm>
                      <a:prstGeom prst="rect">
                        <a:avLst/>
                      </a:prstGeom>
                    </p:spPr>
                  </p:pic>
                </p:oleObj>
              </mc:Fallback>
            </mc:AlternateContent>
          </a:graphicData>
        </a:graphic>
      </p:graphicFrame>
      <p:sp>
        <p:nvSpPr>
          <p:cNvPr id="6" name="矩形 5"/>
          <p:cNvSpPr>
            <a:spLocks noChangeAspect="1"/>
          </p:cNvSpPr>
          <p:nvPr/>
        </p:nvSpPr>
        <p:spPr>
          <a:xfrm>
            <a:off x="381000" y="5632405"/>
            <a:ext cx="11430000" cy="574388"/>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由于</a:t>
            </a:r>
            <a:r>
              <a:rPr lang="en-US" altLang="zh-CN" sz="2700" i="1">
                <a:solidFill>
                  <a:srgbClr val="000000"/>
                </a:solidFill>
                <a:latin typeface="Times New Roman" panose="02020603050405020304" pitchFamily="18" charset="0"/>
                <a:cs typeface="Times New Roman" panose="02020603050405020304" pitchFamily="18" charset="0"/>
              </a:rPr>
              <a:t>r</a:t>
            </a:r>
            <a:r>
              <a:rPr lang="en-US" altLang="zh-CN" sz="2700">
                <a:solidFill>
                  <a:srgbClr val="000000"/>
                </a:solidFill>
                <a:latin typeface="Times New Roman" panose="02020603050405020304" pitchFamily="18" charset="0"/>
                <a:cs typeface="Times New Roman" panose="02020603050405020304" pitchFamily="18" charset="0"/>
              </a:rPr>
              <a:t>≈0</a:t>
            </a:r>
            <a:r>
              <a:rPr lang="en-US" altLang="zh-CN" sz="2700" i="1">
                <a:solidFill>
                  <a:srgbClr val="000000"/>
                </a:solidFill>
                <a:latin typeface="Times New Roman" panose="02020603050405020304" pitchFamily="18" charset="0"/>
                <a:cs typeface="Times New Roman" panose="02020603050405020304" pitchFamily="18" charset="0"/>
              </a:rPr>
              <a:t>.</a:t>
            </a:r>
            <a:r>
              <a:rPr lang="en-US" altLang="zh-CN" sz="2700">
                <a:solidFill>
                  <a:srgbClr val="000000"/>
                </a:solidFill>
                <a:latin typeface="Times New Roman" panose="02020603050405020304" pitchFamily="18" charset="0"/>
                <a:cs typeface="Times New Roman" panose="02020603050405020304" pitchFamily="18" charset="0"/>
              </a:rPr>
              <a:t>999</a:t>
            </a:r>
            <a:r>
              <a:rPr lang="en-US"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700">
                <a:solidFill>
                  <a:srgbClr val="000000"/>
                </a:solidFill>
                <a:latin typeface="Times New Roman" panose="02020603050405020304" pitchFamily="18" charset="0"/>
                <a:cs typeface="Times New Roman" panose="02020603050405020304" pitchFamily="18" charset="0"/>
              </a:rPr>
              <a:t>8,</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a:t>
            </a:r>
            <a:r>
              <a:rPr lang="en-US" altLang="zh-CN" sz="2700" i="1">
                <a:solidFill>
                  <a:srgbClr val="000000"/>
                </a:solidFill>
                <a:latin typeface="Times New Roman" panose="02020603050405020304" pitchFamily="18" charset="0"/>
                <a:cs typeface="Times New Roman" panose="02020603050405020304" pitchFamily="18" charset="0"/>
              </a:rPr>
              <a:t>x</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700" i="1">
                <a:solidFill>
                  <a:srgbClr val="000000"/>
                </a:solidFill>
                <a:latin typeface="Times New Roman" panose="02020603050405020304" pitchFamily="18" charset="0"/>
                <a:cs typeface="Times New Roman" panose="02020603050405020304" pitchFamily="18" charset="0"/>
              </a:rPr>
              <a:t>y</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之间有很强的线性相关关系</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因而可求经验回归方程</a:t>
            </a:r>
            <a:r>
              <a:rPr lang="en-US" altLang="zh-CN" sz="2700" i="1">
                <a:solidFill>
                  <a:srgbClr val="000000"/>
                </a:solidFill>
                <a:latin typeface="Times New Roman" panose="02020603050405020304" pitchFamily="18" charset="0"/>
                <a:cs typeface="Times New Roman" panose="02020603050405020304" pitchFamily="18" charset="0"/>
              </a:rPr>
              <a:t>.</a:t>
            </a:r>
            <a:endParaRPr lang="zh-CN" altLang="zh-CN" sz="27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571370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523172132"/>
              </p:ext>
            </p:extLst>
          </p:nvPr>
        </p:nvGraphicFramePr>
        <p:xfrm>
          <a:off x="458424" y="141521"/>
          <a:ext cx="11275153" cy="6007025"/>
        </p:xfrm>
        <a:graphic>
          <a:graphicData uri="http://schemas.openxmlformats.org/presentationml/2006/ole">
            <mc:AlternateContent xmlns:mc="http://schemas.openxmlformats.org/markup-compatibility/2006">
              <mc:Choice xmlns:v="urn:schemas-microsoft-com:vml" Requires="v">
                <p:oleObj spid="_x0000_s15384" name="文档" r:id="rId4" imgW="4510061" imgH="2402810" progId="Word.Document.12">
                  <p:embed/>
                </p:oleObj>
              </mc:Choice>
              <mc:Fallback>
                <p:oleObj name="文档" r:id="rId4" imgW="4510061" imgH="2402810" progId="Word.Document.12">
                  <p:embed/>
                  <p:pic>
                    <p:nvPicPr>
                      <p:cNvPr id="0" name=""/>
                      <p:cNvPicPr/>
                      <p:nvPr/>
                    </p:nvPicPr>
                    <p:blipFill>
                      <a:blip r:embed="rId5"/>
                      <a:stretch>
                        <a:fillRect/>
                      </a:stretch>
                    </p:blipFill>
                    <p:spPr>
                      <a:xfrm>
                        <a:off x="458424" y="141521"/>
                        <a:ext cx="11275153" cy="6007025"/>
                      </a:xfrm>
                      <a:prstGeom prst="rect">
                        <a:avLst/>
                      </a:prstGeom>
                    </p:spPr>
                  </p:pic>
                </p:oleObj>
              </mc:Fallback>
            </mc:AlternateContent>
          </a:graphicData>
        </a:graphic>
      </p:graphicFrame>
    </p:spTree>
    <p:extLst>
      <p:ext uri="{BB962C8B-B14F-4D97-AF65-F5344CB8AC3E}">
        <p14:creationId xmlns:p14="http://schemas.microsoft.com/office/powerpoint/2010/main" val="18053500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线性回归分析</a:t>
                </a:r>
                <a:endParaRPr lang="zh-CN" altLang="en-US" sz="2800" b="1" dirty="0">
                  <a:solidFill>
                    <a:schemeClr val="bg1"/>
                  </a:solidFill>
                </a:endParaRPr>
              </a:p>
            </p:txBody>
          </p:sp>
        </p:grpSp>
      </p:grpSp>
      <p:sp>
        <p:nvSpPr>
          <p:cNvPr id="2" name="矩形 1"/>
          <p:cNvSpPr>
            <a:spLocks noChangeAspect="1"/>
          </p:cNvSpPr>
          <p:nvPr/>
        </p:nvSpPr>
        <p:spPr>
          <a:xfrm>
            <a:off x="381000" y="1031356"/>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为研究质量</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单位</a:t>
            </a:r>
            <a:r>
              <a:rPr lang="en-US" altLang="zh-CN" sz="2800">
                <a:solidFill>
                  <a:srgbClr val="000000"/>
                </a:solidFill>
                <a:latin typeface="Times New Roman" panose="02020603050405020304" pitchFamily="18" charset="0"/>
                <a:cs typeface="Times New Roman" panose="02020603050405020304" pitchFamily="18" charset="0"/>
              </a:rPr>
              <a:t>:g)</a:t>
            </a:r>
            <a:r>
              <a:rPr lang="zh-CN" altLang="zh-CN" sz="2800">
                <a:solidFill>
                  <a:srgbClr val="000000"/>
                </a:solidFill>
                <a:latin typeface="Times New Roman" panose="02020603050405020304" pitchFamily="18" charset="0"/>
                <a:cs typeface="Times New Roman" panose="02020603050405020304" pitchFamily="18" charset="0"/>
              </a:rPr>
              <a:t>对弹簧长度</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单位</a:t>
            </a:r>
            <a:r>
              <a:rPr lang="en-US" altLang="zh-CN" sz="2800">
                <a:solidFill>
                  <a:srgbClr val="000000"/>
                </a:solidFill>
                <a:latin typeface="Times New Roman" panose="02020603050405020304" pitchFamily="18" charset="0"/>
                <a:cs typeface="Times New Roman" panose="02020603050405020304" pitchFamily="18" charset="0"/>
              </a:rPr>
              <a:t>:cm)</a:t>
            </a:r>
            <a:r>
              <a:rPr lang="zh-CN" altLang="zh-CN" sz="2800">
                <a:solidFill>
                  <a:srgbClr val="000000"/>
                </a:solidFill>
                <a:latin typeface="Times New Roman" panose="02020603050405020304" pitchFamily="18" charset="0"/>
                <a:cs typeface="Times New Roman" panose="02020603050405020304" pitchFamily="18" charset="0"/>
              </a:rPr>
              <a:t>的影响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对不同质量的</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个物体进行测量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数据如表所示</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作出散点图并求经验回归方程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求</a:t>
            </a:r>
            <a:r>
              <a:rPr lang="zh-CN" altLang="zh-CN" sz="2800" smtClean="0">
                <a:solidFill>
                  <a:srgbClr val="000000"/>
                </a:solidFill>
                <a:latin typeface="Times New Roman" panose="02020603050405020304" pitchFamily="18" charset="0"/>
                <a:cs typeface="Times New Roman" panose="02020603050405020304" pitchFamily="18" charset="0"/>
              </a:rPr>
              <a:t>出</a:t>
            </a:r>
            <a:r>
              <a:rPr lang="zh-CN" altLang="en-US" sz="2800">
                <a:solidFill>
                  <a:srgbClr val="000000"/>
                </a:solidFill>
                <a:latin typeface="Times New Roman" panose="02020603050405020304" pitchFamily="18" charset="0"/>
                <a:cs typeface="Times New Roman" panose="02020603050405020304" pitchFamily="18" charset="0"/>
              </a:rPr>
              <a:t>决定系数</a:t>
            </a:r>
            <a:r>
              <a:rPr lang="en-US" altLang="zh-CN" sz="2800" i="1" smtClean="0">
                <a:solidFill>
                  <a:srgbClr val="000000"/>
                </a:solidFill>
                <a:latin typeface="Times New Roman" panose="02020603050405020304" pitchFamily="18" charset="0"/>
                <a:cs typeface="Times New Roman" panose="02020603050405020304" pitchFamily="18" charset="0"/>
              </a:rPr>
              <a:t>R</a:t>
            </a:r>
            <a:r>
              <a:rPr lang="en-US" altLang="zh-CN" sz="2800" baseline="30000" smtClean="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进行残差分析</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601511807"/>
              </p:ext>
            </p:extLst>
          </p:nvPr>
        </p:nvGraphicFramePr>
        <p:xfrm>
          <a:off x="381000" y="2378747"/>
          <a:ext cx="11429999" cy="981456"/>
        </p:xfrm>
        <a:graphic>
          <a:graphicData uri="http://schemas.openxmlformats.org/drawingml/2006/table">
            <a:tbl>
              <a:tblPr firstRow="1" firstCol="1" bandRow="1"/>
              <a:tblGrid>
                <a:gridCol w="1632857"/>
                <a:gridCol w="1632857"/>
                <a:gridCol w="1632857"/>
                <a:gridCol w="1632857"/>
                <a:gridCol w="1632857"/>
                <a:gridCol w="1632857"/>
                <a:gridCol w="1632857"/>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04023"/>
            <a:ext cx="484299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作出的散点图如图所示</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575326458"/>
              </p:ext>
            </p:extLst>
          </p:nvPr>
        </p:nvGraphicFramePr>
        <p:xfrm>
          <a:off x="463550" y="1085850"/>
          <a:ext cx="11228388" cy="4913313"/>
        </p:xfrm>
        <a:graphic>
          <a:graphicData uri="http://schemas.openxmlformats.org/presentationml/2006/ole">
            <mc:AlternateContent xmlns:mc="http://schemas.openxmlformats.org/markup-compatibility/2006">
              <mc:Choice xmlns:v="urn:schemas-microsoft-com:vml" Requires="v">
                <p:oleObj spid="_x0000_s16408" name="文档" r:id="rId4" imgW="4510061" imgH="1977664" progId="Word.Document.12">
                  <p:embed/>
                </p:oleObj>
              </mc:Choice>
              <mc:Fallback>
                <p:oleObj name="文档" r:id="rId4" imgW="4510061" imgH="1977664" progId="Word.Document.12">
                  <p:embed/>
                  <p:pic>
                    <p:nvPicPr>
                      <p:cNvPr id="0" name=""/>
                      <p:cNvPicPr/>
                      <p:nvPr/>
                    </p:nvPicPr>
                    <p:blipFill>
                      <a:blip r:embed="rId5"/>
                      <a:stretch>
                        <a:fillRect/>
                      </a:stretch>
                    </p:blipFill>
                    <p:spPr>
                      <a:xfrm>
                        <a:off x="463550" y="1085850"/>
                        <a:ext cx="11228388" cy="4913313"/>
                      </a:xfrm>
                      <a:prstGeom prst="rect">
                        <a:avLst/>
                      </a:prstGeom>
                    </p:spPr>
                  </p:pic>
                </p:oleObj>
              </mc:Fallback>
            </mc:AlternateContent>
          </a:graphicData>
        </a:graphic>
      </p:graphicFrame>
      <p:pic>
        <p:nvPicPr>
          <p:cNvPr id="5" name="ZMX3TRAX64.eps" descr="id:2147519011;FounderCES"/>
          <p:cNvPicPr/>
          <p:nvPr/>
        </p:nvPicPr>
        <p:blipFill>
          <a:blip r:embed="rId6">
            <a:clrChange>
              <a:clrFrom>
                <a:srgbClr val="FFFFFF"/>
              </a:clrFrom>
              <a:clrTo>
                <a:srgbClr val="FFFFFF">
                  <a:alpha val="0"/>
                </a:srgbClr>
              </a:clrTo>
            </a:clrChange>
          </a:blip>
          <a:stretch>
            <a:fillRect/>
          </a:stretch>
        </p:blipFill>
        <p:spPr>
          <a:xfrm>
            <a:off x="6472718" y="2998324"/>
            <a:ext cx="4931595" cy="2788433"/>
          </a:xfrm>
          <a:prstGeom prst="rect">
            <a:avLst/>
          </a:prstGeom>
        </p:spPr>
      </p:pic>
    </p:spTree>
    <p:extLst>
      <p:ext uri="{BB962C8B-B14F-4D97-AF65-F5344CB8AC3E}">
        <p14:creationId xmlns:p14="http://schemas.microsoft.com/office/powerpoint/2010/main" val="3161111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07354"/>
            <a:ext cx="2230098"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列表如下</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983702448"/>
              </p:ext>
            </p:extLst>
          </p:nvPr>
        </p:nvGraphicFramePr>
        <p:xfrm>
          <a:off x="442268" y="1159840"/>
          <a:ext cx="11307463" cy="2767220"/>
        </p:xfrm>
        <a:graphic>
          <a:graphicData uri="http://schemas.openxmlformats.org/presentationml/2006/ole">
            <mc:AlternateContent xmlns:mc="http://schemas.openxmlformats.org/markup-compatibility/2006">
              <mc:Choice xmlns:v="urn:schemas-microsoft-com:vml" Requires="v">
                <p:oleObj spid="_x0000_s17454" name="文档" r:id="rId4" imgW="4522985" imgH="1106888" progId="Word.Document.12">
                  <p:embed/>
                </p:oleObj>
              </mc:Choice>
              <mc:Fallback>
                <p:oleObj name="文档" r:id="rId4" imgW="4522985" imgH="1106888" progId="Word.Document.12">
                  <p:embed/>
                  <p:pic>
                    <p:nvPicPr>
                      <p:cNvPr id="0" name=""/>
                      <p:cNvPicPr/>
                      <p:nvPr/>
                    </p:nvPicPr>
                    <p:blipFill>
                      <a:blip r:embed="rId5"/>
                      <a:stretch>
                        <a:fillRect/>
                      </a:stretch>
                    </p:blipFill>
                    <p:spPr>
                      <a:xfrm>
                        <a:off x="442268" y="1159840"/>
                        <a:ext cx="11307463" cy="276722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901309817"/>
              </p:ext>
            </p:extLst>
          </p:nvPr>
        </p:nvGraphicFramePr>
        <p:xfrm>
          <a:off x="458424" y="3032912"/>
          <a:ext cx="11275153" cy="2546203"/>
        </p:xfrm>
        <a:graphic>
          <a:graphicData uri="http://schemas.openxmlformats.org/presentationml/2006/ole">
            <mc:AlternateContent xmlns:mc="http://schemas.openxmlformats.org/markup-compatibility/2006">
              <mc:Choice xmlns:v="urn:schemas-microsoft-com:vml" Requires="v">
                <p:oleObj spid="_x0000_s17455" name="文档" r:id="rId7" imgW="4510061" imgH="1018481" progId="Word.Document.12">
                  <p:embed/>
                </p:oleObj>
              </mc:Choice>
              <mc:Fallback>
                <p:oleObj name="文档" r:id="rId7" imgW="4510061" imgH="1018481" progId="Word.Document.12">
                  <p:embed/>
                  <p:pic>
                    <p:nvPicPr>
                      <p:cNvPr id="0" name=""/>
                      <p:cNvPicPr/>
                      <p:nvPr/>
                    </p:nvPicPr>
                    <p:blipFill>
                      <a:blip r:embed="rId8"/>
                      <a:stretch>
                        <a:fillRect/>
                      </a:stretch>
                    </p:blipFill>
                    <p:spPr>
                      <a:xfrm>
                        <a:off x="458424" y="3032912"/>
                        <a:ext cx="11275153" cy="2546203"/>
                      </a:xfrm>
                      <a:prstGeom prst="rect">
                        <a:avLst/>
                      </a:prstGeom>
                    </p:spPr>
                  </p:pic>
                </p:oleObj>
              </mc:Fallback>
            </mc:AlternateContent>
          </a:graphicData>
        </a:graphic>
      </p:graphicFrame>
    </p:spTree>
    <p:extLst>
      <p:ext uri="{BB962C8B-B14F-4D97-AF65-F5344CB8AC3E}">
        <p14:creationId xmlns:p14="http://schemas.microsoft.com/office/powerpoint/2010/main" val="19592943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203086"/>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由残差表中的数值可以看出第</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个样本点的残差比较大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需要确认在采集这个数据的时候是否有人为的错误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如果有的话</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需要纠正数据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重新建立回归模型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由表中数据可以看出残差点比较均匀地落在不超过</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15</a:t>
            </a:r>
            <a:r>
              <a:rPr lang="zh-CN" altLang="zh-CN" sz="2800">
                <a:solidFill>
                  <a:srgbClr val="000000"/>
                </a:solidFill>
                <a:latin typeface="Times New Roman" panose="02020603050405020304" pitchFamily="18" charset="0"/>
                <a:cs typeface="Times New Roman" panose="02020603050405020304" pitchFamily="18" charset="0"/>
              </a:rPr>
              <a:t>的狭窄的水平带状区域中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说明选用的线性回归模型的精度较高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由以上分析可知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弹簧长度与质量具有线性关系</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02915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延伸探究H.eps" descr="id:2147515106;FounderCES"/>
          <p:cNvPicPr/>
          <p:nvPr/>
        </p:nvPicPr>
        <p:blipFill>
          <a:blip r:embed="rId2">
            <a:clrChange>
              <a:clrFrom>
                <a:srgbClr val="FFFFFF"/>
              </a:clrFrom>
              <a:clrTo>
                <a:srgbClr val="FFFFFF">
                  <a:alpha val="0"/>
                </a:srgbClr>
              </a:clrTo>
            </a:clrChange>
          </a:blip>
          <a:stretch>
            <a:fillRect/>
          </a:stretch>
        </p:blipFill>
        <p:spPr>
          <a:xfrm>
            <a:off x="4966271" y="494204"/>
            <a:ext cx="2259458" cy="412065"/>
          </a:xfrm>
          <a:prstGeom prst="rect">
            <a:avLst/>
          </a:prstGeom>
        </p:spPr>
      </p:pic>
      <p:sp>
        <p:nvSpPr>
          <p:cNvPr id="3" name="矩形 2"/>
          <p:cNvSpPr>
            <a:spLocks noChangeAspect="1"/>
          </p:cNvSpPr>
          <p:nvPr/>
        </p:nvSpPr>
        <p:spPr>
          <a:xfrm>
            <a:off x="381000" y="988485"/>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在条件不变的情况下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画出残差图</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ZMX3TRAX65.eps" descr="id:2147519033;FounderCES"/>
          <p:cNvPicPr/>
          <p:nvPr/>
        </p:nvPicPr>
        <p:blipFill>
          <a:blip r:embed="rId3">
            <a:clrChange>
              <a:clrFrom>
                <a:srgbClr val="FFFFFF"/>
              </a:clrFrom>
              <a:clrTo>
                <a:srgbClr val="FFFFFF">
                  <a:alpha val="0"/>
                </a:srgbClr>
              </a:clrTo>
            </a:clrChange>
          </a:blip>
          <a:stretch>
            <a:fillRect/>
          </a:stretch>
        </p:blipFill>
        <p:spPr>
          <a:xfrm>
            <a:off x="3920051" y="1817623"/>
            <a:ext cx="4946547" cy="4352001"/>
          </a:xfrm>
          <a:prstGeom prst="rect">
            <a:avLst/>
          </a:prstGeom>
        </p:spPr>
      </p:pic>
    </p:spTree>
    <p:extLst>
      <p:ext uri="{BB962C8B-B14F-4D97-AF65-F5344CB8AC3E}">
        <p14:creationId xmlns:p14="http://schemas.microsoft.com/office/powerpoint/2010/main" val="1015480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075661461"/>
              </p:ext>
            </p:extLst>
          </p:nvPr>
        </p:nvGraphicFramePr>
        <p:xfrm>
          <a:off x="458424" y="647919"/>
          <a:ext cx="11275153" cy="494148"/>
        </p:xfrm>
        <a:graphic>
          <a:graphicData uri="http://schemas.openxmlformats.org/presentationml/2006/ole">
            <mc:AlternateContent xmlns:mc="http://schemas.openxmlformats.org/markup-compatibility/2006">
              <mc:Choice xmlns:v="urn:schemas-microsoft-com:vml" Requires="v">
                <p:oleObj spid="_x0000_s22561"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647919"/>
                        <a:ext cx="11275153" cy="494148"/>
                      </a:xfrm>
                      <a:prstGeom prst="rect">
                        <a:avLst/>
                      </a:prstGeom>
                    </p:spPr>
                  </p:pic>
                </p:oleObj>
              </mc:Fallback>
            </mc:AlternateContent>
          </a:graphicData>
        </a:graphic>
      </p:graphicFrame>
      <p:sp>
        <p:nvSpPr>
          <p:cNvPr id="4" name="矩形 3"/>
          <p:cNvSpPr>
            <a:spLocks noChangeAspect="1"/>
          </p:cNvSpPr>
          <p:nvPr/>
        </p:nvSpPr>
        <p:spPr>
          <a:xfrm>
            <a:off x="381000" y="1242663"/>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进行回归分析</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评判回归效果的三种方法</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残差图法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残差点比较均匀地落在水平的带状区域内说明选用的模型比较合适</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294905640"/>
              </p:ext>
            </p:extLst>
          </p:nvPr>
        </p:nvGraphicFramePr>
        <p:xfrm>
          <a:off x="458424" y="2955183"/>
          <a:ext cx="11275153" cy="2479465"/>
        </p:xfrm>
        <a:graphic>
          <a:graphicData uri="http://schemas.openxmlformats.org/presentationml/2006/ole">
            <mc:AlternateContent xmlns:mc="http://schemas.openxmlformats.org/markup-compatibility/2006">
              <mc:Choice xmlns:v="urn:schemas-microsoft-com:vml" Requires="v">
                <p:oleObj spid="_x0000_s22562" name="文档" r:id="rId7" imgW="4510061" imgH="993227" progId="Word.Document.12">
                  <p:embed/>
                </p:oleObj>
              </mc:Choice>
              <mc:Fallback>
                <p:oleObj name="文档" r:id="rId7" imgW="4510061" imgH="993227" progId="Word.Document.12">
                  <p:embed/>
                  <p:pic>
                    <p:nvPicPr>
                      <p:cNvPr id="0" name=""/>
                      <p:cNvPicPr/>
                      <p:nvPr/>
                    </p:nvPicPr>
                    <p:blipFill>
                      <a:blip r:embed="rId8"/>
                      <a:stretch>
                        <a:fillRect/>
                      </a:stretch>
                    </p:blipFill>
                    <p:spPr>
                      <a:xfrm>
                        <a:off x="458424" y="2955183"/>
                        <a:ext cx="11275153" cy="2479465"/>
                      </a:xfrm>
                      <a:prstGeom prst="rect">
                        <a:avLst/>
                      </a:prstGeom>
                    </p:spPr>
                  </p:pic>
                </p:oleObj>
              </mc:Fallback>
            </mc:AlternateContent>
          </a:graphicData>
        </a:graphic>
      </p:graphicFrame>
    </p:spTree>
    <p:extLst>
      <p:ext uri="{BB962C8B-B14F-4D97-AF65-F5344CB8AC3E}">
        <p14:creationId xmlns:p14="http://schemas.microsoft.com/office/powerpoint/2010/main" val="9486927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813825"/>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关于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有如下数据</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有如下的两个线性模</a:t>
            </a:r>
            <a:r>
              <a:rPr lang="zh-CN" altLang="zh-CN" sz="2800" smtClean="0">
                <a:solidFill>
                  <a:srgbClr val="000000"/>
                </a:solidFill>
                <a:latin typeface="Times New Roman" panose="02020603050405020304" pitchFamily="18" charset="0"/>
                <a:cs typeface="Times New Roman" panose="02020603050405020304" pitchFamily="18" charset="0"/>
              </a:rPr>
              <a:t>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试比较哪一个拟合效果更</a:t>
            </a:r>
            <a:r>
              <a:rPr lang="zh-CN" altLang="en-US" sz="2800" smtClean="0">
                <a:solidFill>
                  <a:srgbClr val="000000"/>
                </a:solidFill>
                <a:latin typeface="Times New Roman" panose="02020603050405020304" pitchFamily="18" charset="0"/>
                <a:cs typeface="Times New Roman" panose="02020603050405020304" pitchFamily="18" charset="0"/>
              </a:rPr>
              <a:t>好</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2323643215"/>
              </p:ext>
            </p:extLst>
          </p:nvPr>
        </p:nvGraphicFramePr>
        <p:xfrm>
          <a:off x="381000" y="1646371"/>
          <a:ext cx="11430000" cy="981456"/>
        </p:xfrm>
        <a:graphic>
          <a:graphicData uri="http://schemas.openxmlformats.org/drawingml/2006/table">
            <a:tbl>
              <a:tblPr firstRow="1" firstCol="1" bandRow="1"/>
              <a:tblGrid>
                <a:gridCol w="1905000"/>
                <a:gridCol w="1905000"/>
                <a:gridCol w="1905000"/>
                <a:gridCol w="1905000"/>
                <a:gridCol w="1905000"/>
                <a:gridCol w="19050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143666942"/>
              </p:ext>
            </p:extLst>
          </p:nvPr>
        </p:nvGraphicFramePr>
        <p:xfrm>
          <a:off x="458424" y="3591865"/>
          <a:ext cx="11275153" cy="1977485"/>
        </p:xfrm>
        <a:graphic>
          <a:graphicData uri="http://schemas.openxmlformats.org/presentationml/2006/ole">
            <mc:AlternateContent xmlns:mc="http://schemas.openxmlformats.org/markup-compatibility/2006">
              <mc:Choice xmlns:v="urn:schemas-microsoft-com:vml" Requires="v">
                <p:oleObj spid="_x0000_s18453" name="文档" r:id="rId4" imgW="4510061" imgH="790994" progId="Word.Document.12">
                  <p:embed/>
                </p:oleObj>
              </mc:Choice>
              <mc:Fallback>
                <p:oleObj name="文档" r:id="rId4" imgW="4510061" imgH="790994" progId="Word.Document.12">
                  <p:embed/>
                  <p:pic>
                    <p:nvPicPr>
                      <p:cNvPr id="0" name=""/>
                      <p:cNvPicPr/>
                      <p:nvPr/>
                    </p:nvPicPr>
                    <p:blipFill>
                      <a:blip r:embed="rId5"/>
                      <a:stretch>
                        <a:fillRect/>
                      </a:stretch>
                    </p:blipFill>
                    <p:spPr>
                      <a:xfrm>
                        <a:off x="458424" y="3591865"/>
                        <a:ext cx="11275153" cy="1977485"/>
                      </a:xfrm>
                      <a:prstGeom prst="rect">
                        <a:avLst/>
                      </a:prstGeom>
                    </p:spPr>
                  </p:pic>
                </p:oleObj>
              </mc:Fallback>
            </mc:AlternateContent>
          </a:graphicData>
        </a:graphic>
      </p:graphicFrame>
    </p:spTree>
    <p:extLst>
      <p:ext uri="{BB962C8B-B14F-4D97-AF65-F5344CB8AC3E}">
        <p14:creationId xmlns:p14="http://schemas.microsoft.com/office/powerpoint/2010/main" val="37577154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044952369"/>
              </p:ext>
            </p:extLst>
          </p:nvPr>
        </p:nvGraphicFramePr>
        <p:xfrm>
          <a:off x="458424" y="246284"/>
          <a:ext cx="11275153" cy="989193"/>
        </p:xfrm>
        <a:graphic>
          <a:graphicData uri="http://schemas.openxmlformats.org/presentationml/2006/ole">
            <mc:AlternateContent xmlns:mc="http://schemas.openxmlformats.org/markup-compatibility/2006">
              <mc:Choice xmlns:v="urn:schemas-microsoft-com:vml" Requires="v">
                <p:oleObj spid="_x0000_s24638"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246284"/>
                        <a:ext cx="11275153" cy="989193"/>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519162420"/>
              </p:ext>
            </p:extLst>
          </p:nvPr>
        </p:nvGraphicFramePr>
        <p:xfrm>
          <a:off x="442268" y="1077562"/>
          <a:ext cx="11307463" cy="2593820"/>
        </p:xfrm>
        <a:graphic>
          <a:graphicData uri="http://schemas.openxmlformats.org/presentationml/2006/ole">
            <mc:AlternateContent xmlns:mc="http://schemas.openxmlformats.org/markup-compatibility/2006">
              <mc:Choice xmlns:v="urn:schemas-microsoft-com:vml" Requires="v">
                <p:oleObj spid="_x0000_s24639" name="文档" r:id="rId7" imgW="4522985" imgH="1037528" progId="Word.Document.12">
                  <p:embed/>
                </p:oleObj>
              </mc:Choice>
              <mc:Fallback>
                <p:oleObj name="文档" r:id="rId7" imgW="4522985" imgH="1037528" progId="Word.Document.12">
                  <p:embed/>
                  <p:pic>
                    <p:nvPicPr>
                      <p:cNvPr id="0" name=""/>
                      <p:cNvPicPr/>
                      <p:nvPr/>
                    </p:nvPicPr>
                    <p:blipFill>
                      <a:blip r:embed="rId8"/>
                      <a:stretch>
                        <a:fillRect/>
                      </a:stretch>
                    </p:blipFill>
                    <p:spPr>
                      <a:xfrm>
                        <a:off x="442268" y="1077562"/>
                        <a:ext cx="11307463" cy="259382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757556174"/>
              </p:ext>
            </p:extLst>
          </p:nvPr>
        </p:nvGraphicFramePr>
        <p:xfrm>
          <a:off x="458424" y="2982036"/>
          <a:ext cx="11275153" cy="3041248"/>
        </p:xfrm>
        <a:graphic>
          <a:graphicData uri="http://schemas.openxmlformats.org/presentationml/2006/ole">
            <mc:AlternateContent xmlns:mc="http://schemas.openxmlformats.org/markup-compatibility/2006">
              <mc:Choice xmlns:v="urn:schemas-microsoft-com:vml" Requires="v">
                <p:oleObj spid="_x0000_s24640" name="文档" r:id="rId10" imgW="4510061" imgH="1213983" progId="Word.Document.12">
                  <p:embed/>
                </p:oleObj>
              </mc:Choice>
              <mc:Fallback>
                <p:oleObj name="文档" r:id="rId10" imgW="4510061" imgH="1213983" progId="Word.Document.12">
                  <p:embed/>
                  <p:pic>
                    <p:nvPicPr>
                      <p:cNvPr id="0" name=""/>
                      <p:cNvPicPr/>
                      <p:nvPr/>
                    </p:nvPicPr>
                    <p:blipFill>
                      <a:blip r:embed="rId11"/>
                      <a:stretch>
                        <a:fillRect/>
                      </a:stretch>
                    </p:blipFill>
                    <p:spPr>
                      <a:xfrm>
                        <a:off x="458424" y="2982036"/>
                        <a:ext cx="11275153" cy="3041248"/>
                      </a:xfrm>
                      <a:prstGeom prst="rect">
                        <a:avLst/>
                      </a:prstGeom>
                    </p:spPr>
                  </p:pic>
                </p:oleObj>
              </mc:Fallback>
            </mc:AlternateContent>
          </a:graphicData>
        </a:graphic>
      </p:graphicFrame>
    </p:spTree>
    <p:extLst>
      <p:ext uri="{BB962C8B-B14F-4D97-AF65-F5344CB8AC3E}">
        <p14:creationId xmlns:p14="http://schemas.microsoft.com/office/powerpoint/2010/main" val="40971942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768812493"/>
              </p:ext>
            </p:extLst>
          </p:nvPr>
        </p:nvGraphicFramePr>
        <p:xfrm>
          <a:off x="444500" y="55953"/>
          <a:ext cx="11310938" cy="6365876"/>
        </p:xfrm>
        <a:graphic>
          <a:graphicData uri="http://schemas.openxmlformats.org/presentationml/2006/ole">
            <mc:AlternateContent xmlns:mc="http://schemas.openxmlformats.org/markup-compatibility/2006">
              <mc:Choice xmlns:v="urn:schemas-microsoft-com:vml" Requires="v">
                <p:oleObj spid="_x0000_s25622" name="文档" r:id="rId4" imgW="4510061" imgH="2540092" progId="Word.Document.12">
                  <p:embed/>
                </p:oleObj>
              </mc:Choice>
              <mc:Fallback>
                <p:oleObj name="文档" r:id="rId4" imgW="4510061" imgH="2540092" progId="Word.Document.12">
                  <p:embed/>
                  <p:pic>
                    <p:nvPicPr>
                      <p:cNvPr id="0" name=""/>
                      <p:cNvPicPr/>
                      <p:nvPr/>
                    </p:nvPicPr>
                    <p:blipFill>
                      <a:blip r:embed="rId5"/>
                      <a:stretch>
                        <a:fillRect/>
                      </a:stretch>
                    </p:blipFill>
                    <p:spPr>
                      <a:xfrm>
                        <a:off x="444500" y="55953"/>
                        <a:ext cx="11310938" cy="6365876"/>
                      </a:xfrm>
                      <a:prstGeom prst="rect">
                        <a:avLst/>
                      </a:prstGeom>
                    </p:spPr>
                  </p:pic>
                </p:oleObj>
              </mc:Fallback>
            </mc:AlternateContent>
          </a:graphicData>
        </a:graphic>
      </p:graphicFrame>
    </p:spTree>
    <p:extLst>
      <p:ext uri="{BB962C8B-B14F-4D97-AF65-F5344CB8AC3E}">
        <p14:creationId xmlns:p14="http://schemas.microsoft.com/office/powerpoint/2010/main" val="31786579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非线性回归分析</a:t>
                </a:r>
                <a:endParaRPr lang="zh-CN" altLang="en-US" sz="2800" b="1" dirty="0">
                  <a:solidFill>
                    <a:schemeClr val="bg1"/>
                  </a:solidFill>
                </a:endParaRPr>
              </a:p>
            </p:txBody>
          </p:sp>
        </p:grpSp>
      </p:grpSp>
      <p:sp>
        <p:nvSpPr>
          <p:cNvPr id="2" name="矩形 1"/>
          <p:cNvSpPr>
            <a:spLocks noChangeAspect="1"/>
          </p:cNvSpPr>
          <p:nvPr/>
        </p:nvSpPr>
        <p:spPr>
          <a:xfrm>
            <a:off x="381000" y="610117"/>
            <a:ext cx="5567737" cy="3677417"/>
          </a:xfrm>
          <a:prstGeom prst="rect">
            <a:avLst/>
          </a:prstGeom>
        </p:spPr>
        <p:txBody>
          <a:bodyPr wrap="square">
            <a:spAutoFit/>
          </a:bodyPr>
          <a:lstStyle/>
          <a:p>
            <a:pPr>
              <a:lnSpc>
                <a:spcPct val="130000"/>
              </a:lnSpc>
              <a:spcAft>
                <a:spcPts val="0"/>
              </a:spcAft>
              <a:tabLst>
                <a:tab pos="1188085" algn="l"/>
                <a:tab pos="2163445" algn="l"/>
                <a:tab pos="3142615" algn="l"/>
                <a:tab pos="4190365" algn="l"/>
              </a:tabLst>
            </a:pPr>
            <a:r>
              <a:rPr lang="zh-CN" altLang="zh-CN" sz="26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600" b="1">
                <a:solidFill>
                  <a:srgbClr val="000000"/>
                </a:solidFill>
                <a:latin typeface="Times New Roman" panose="02020603050405020304" pitchFamily="18" charset="0"/>
                <a:cs typeface="Times New Roman" panose="02020603050405020304" pitchFamily="18" charset="0"/>
              </a:rPr>
              <a:t>3</a:t>
            </a:r>
            <a:r>
              <a:rPr lang="zh-CN" altLang="zh-CN" sz="26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600">
                <a:solidFill>
                  <a:srgbClr val="000000"/>
                </a:solidFill>
                <a:latin typeface="NEU-BZ-S92"/>
                <a:ea typeface="Arial" panose="020B0604020202020204" pitchFamily="34" charset="0"/>
                <a:cs typeface="Times New Roman" panose="02020603050405020304" pitchFamily="18" charset="0"/>
              </a:rPr>
              <a:t> </a:t>
            </a:r>
            <a:r>
              <a:rPr lang="zh-CN" altLang="zh-CN" sz="2600">
                <a:solidFill>
                  <a:srgbClr val="000000"/>
                </a:solidFill>
                <a:latin typeface="Times New Roman" panose="02020603050405020304" pitchFamily="18" charset="0"/>
                <a:cs typeface="Times New Roman" panose="02020603050405020304" pitchFamily="18" charset="0"/>
              </a:rPr>
              <a:t>某公司为确定下一年度投入某种产品的宣传费</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需了解年宣传费</a:t>
            </a:r>
            <a:r>
              <a:rPr lang="en-US" altLang="zh-CN" sz="2600" i="1">
                <a:solidFill>
                  <a:srgbClr val="000000"/>
                </a:solidFill>
                <a:latin typeface="Times New Roman" panose="02020603050405020304" pitchFamily="18" charset="0"/>
                <a:cs typeface="Times New Roman" panose="02020603050405020304" pitchFamily="18" charset="0"/>
              </a:rPr>
              <a:t>x</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单位</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千元</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对年销售量</a:t>
            </a:r>
            <a:r>
              <a:rPr lang="en-US" altLang="zh-CN" sz="2600" i="1">
                <a:solidFill>
                  <a:srgbClr val="000000"/>
                </a:solidFill>
                <a:latin typeface="Times New Roman" panose="02020603050405020304" pitchFamily="18" charset="0"/>
                <a:cs typeface="Times New Roman" panose="02020603050405020304" pitchFamily="18" charset="0"/>
              </a:rPr>
              <a:t>y</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单位</a:t>
            </a:r>
            <a:r>
              <a:rPr lang="en-US" altLang="zh-CN" sz="2600">
                <a:solidFill>
                  <a:srgbClr val="000000"/>
                </a:solidFill>
                <a:latin typeface="Times New Roman" panose="02020603050405020304" pitchFamily="18" charset="0"/>
                <a:cs typeface="Times New Roman" panose="02020603050405020304" pitchFamily="18" charset="0"/>
              </a:rPr>
              <a:t>:t)</a:t>
            </a:r>
            <a:r>
              <a:rPr lang="zh-CN" altLang="zh-CN" sz="2600">
                <a:solidFill>
                  <a:srgbClr val="000000"/>
                </a:solidFill>
                <a:latin typeface="Times New Roman" panose="02020603050405020304" pitchFamily="18" charset="0"/>
                <a:cs typeface="Times New Roman" panose="02020603050405020304" pitchFamily="18" charset="0"/>
              </a:rPr>
              <a:t>和年利润</a:t>
            </a:r>
            <a:r>
              <a:rPr lang="en-US" altLang="zh-CN" sz="2600" i="1">
                <a:solidFill>
                  <a:srgbClr val="000000"/>
                </a:solidFill>
                <a:latin typeface="Times New Roman" panose="02020603050405020304" pitchFamily="18" charset="0"/>
                <a:cs typeface="Times New Roman" panose="02020603050405020304" pitchFamily="18" charset="0"/>
              </a:rPr>
              <a:t>z</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单位</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千元</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的影响</a:t>
            </a:r>
            <a:r>
              <a:rPr lang="en-US" altLang="zh-CN" sz="2600" i="1">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对近</a:t>
            </a:r>
            <a:r>
              <a:rPr lang="en-US" altLang="zh-CN" sz="2600">
                <a:solidFill>
                  <a:srgbClr val="000000"/>
                </a:solidFill>
                <a:latin typeface="Times New Roman" panose="02020603050405020304" pitchFamily="18" charset="0"/>
                <a:cs typeface="Times New Roman" panose="02020603050405020304" pitchFamily="18" charset="0"/>
              </a:rPr>
              <a:t>8</a:t>
            </a:r>
            <a:r>
              <a:rPr lang="zh-CN" altLang="zh-CN" sz="2600">
                <a:solidFill>
                  <a:srgbClr val="000000"/>
                </a:solidFill>
                <a:latin typeface="Times New Roman" panose="02020603050405020304" pitchFamily="18" charset="0"/>
                <a:cs typeface="Times New Roman" panose="02020603050405020304" pitchFamily="18" charset="0"/>
              </a:rPr>
              <a:t>年的年宣传费</a:t>
            </a:r>
            <a:r>
              <a:rPr lang="en-US" altLang="zh-CN" sz="2600" i="1">
                <a:solidFill>
                  <a:srgbClr val="000000"/>
                </a:solidFill>
                <a:latin typeface="Times New Roman" panose="02020603050405020304" pitchFamily="18" charset="0"/>
                <a:cs typeface="Times New Roman" panose="02020603050405020304" pitchFamily="18" charset="0"/>
              </a:rPr>
              <a:t>x</a:t>
            </a:r>
            <a:r>
              <a:rPr lang="en-US" altLang="zh-CN" sz="2600" i="1" baseline="-25000">
                <a:solidFill>
                  <a:srgbClr val="000000"/>
                </a:solidFill>
                <a:latin typeface="Times New Roman" panose="02020603050405020304" pitchFamily="18" charset="0"/>
                <a:cs typeface="Times New Roman" panose="02020603050405020304" pitchFamily="18" charset="0"/>
              </a:rPr>
              <a:t>i</a:t>
            </a:r>
            <a:r>
              <a:rPr lang="zh-CN" altLang="zh-CN" sz="2600">
                <a:solidFill>
                  <a:srgbClr val="000000"/>
                </a:solidFill>
                <a:latin typeface="Times New Roman" panose="02020603050405020304" pitchFamily="18" charset="0"/>
                <a:cs typeface="Times New Roman" panose="02020603050405020304" pitchFamily="18" charset="0"/>
              </a:rPr>
              <a:t>和年销售量</a:t>
            </a:r>
            <a:r>
              <a:rPr lang="en-US" altLang="zh-CN" sz="2600" i="1">
                <a:solidFill>
                  <a:srgbClr val="000000"/>
                </a:solidFill>
                <a:latin typeface="Times New Roman" panose="02020603050405020304" pitchFamily="18" charset="0"/>
                <a:cs typeface="Times New Roman" panose="02020603050405020304" pitchFamily="18" charset="0"/>
              </a:rPr>
              <a:t>y</a:t>
            </a:r>
            <a:r>
              <a:rPr lang="en-US" altLang="zh-CN" sz="2600" i="1" baseline="-25000">
                <a:solidFill>
                  <a:srgbClr val="000000"/>
                </a:solidFill>
                <a:latin typeface="Times New Roman" panose="02020603050405020304" pitchFamily="18" charset="0"/>
                <a:cs typeface="Times New Roman" panose="02020603050405020304" pitchFamily="18" charset="0"/>
              </a:rPr>
              <a:t>i</a:t>
            </a:r>
            <a:r>
              <a:rPr lang="en-US" altLang="zh-CN" sz="2600">
                <a:solidFill>
                  <a:srgbClr val="000000"/>
                </a:solidFill>
                <a:latin typeface="Times New Roman" panose="02020603050405020304" pitchFamily="18" charset="0"/>
                <a:cs typeface="Times New Roman" panose="02020603050405020304" pitchFamily="18" charset="0"/>
              </a:rPr>
              <a:t>(</a:t>
            </a:r>
            <a:r>
              <a:rPr lang="en-US" altLang="zh-CN" sz="2600" i="1">
                <a:solidFill>
                  <a:srgbClr val="000000"/>
                </a:solidFill>
                <a:latin typeface="Times New Roman" panose="02020603050405020304" pitchFamily="18" charset="0"/>
                <a:cs typeface="Times New Roman" panose="02020603050405020304" pitchFamily="18" charset="0"/>
              </a:rPr>
              <a:t>i=</a:t>
            </a:r>
            <a:r>
              <a:rPr lang="en-US" altLang="zh-CN" sz="2600">
                <a:solidFill>
                  <a:srgbClr val="000000"/>
                </a:solidFill>
                <a:latin typeface="Times New Roman" panose="02020603050405020304" pitchFamily="18" charset="0"/>
                <a:cs typeface="Times New Roman" panose="02020603050405020304" pitchFamily="18" charset="0"/>
              </a:rPr>
              <a:t>1,2,</a:t>
            </a:r>
            <a:r>
              <a:rPr lang="en-US" altLang="zh-CN" sz="26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,8)</a:t>
            </a:r>
            <a:r>
              <a:rPr lang="zh-CN" altLang="zh-CN" sz="2600">
                <a:solidFill>
                  <a:srgbClr val="000000"/>
                </a:solidFill>
                <a:latin typeface="Times New Roman" panose="02020603050405020304" pitchFamily="18" charset="0"/>
                <a:cs typeface="Times New Roman" panose="02020603050405020304" pitchFamily="18" charset="0"/>
              </a:rPr>
              <a:t>的数据作了初步处理</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得到下面的散点图及一些统计量的值</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8" name="ZMX3TRAX66.eps" descr="id:2147519078;FounderCES"/>
          <p:cNvPicPr/>
          <p:nvPr/>
        </p:nvPicPr>
        <p:blipFill>
          <a:blip r:embed="rId3">
            <a:clrChange>
              <a:clrFrom>
                <a:srgbClr val="FFFFFF"/>
              </a:clrFrom>
              <a:clrTo>
                <a:srgbClr val="FFFFFF">
                  <a:alpha val="0"/>
                </a:srgbClr>
              </a:clrTo>
            </a:clrChange>
          </a:blip>
          <a:stretch>
            <a:fillRect/>
          </a:stretch>
        </p:blipFill>
        <p:spPr>
          <a:xfrm>
            <a:off x="6036741" y="835798"/>
            <a:ext cx="5665524" cy="3362020"/>
          </a:xfrm>
          <a:prstGeom prst="rect">
            <a:avLst/>
          </a:prstGeom>
        </p:spPr>
      </p:pic>
      <p:graphicFrame>
        <p:nvGraphicFramePr>
          <p:cNvPr id="3" name="对象 2"/>
          <p:cNvGraphicFramePr>
            <a:graphicFrameLocks noChangeAspect="1"/>
          </p:cNvGraphicFramePr>
          <p:nvPr>
            <p:extLst>
              <p:ext uri="{D42A27DB-BD31-4B8C-83A1-F6EECF244321}">
                <p14:modId xmlns:p14="http://schemas.microsoft.com/office/powerpoint/2010/main" val="88329461"/>
              </p:ext>
            </p:extLst>
          </p:nvPr>
        </p:nvGraphicFramePr>
        <p:xfrm>
          <a:off x="442268" y="4197818"/>
          <a:ext cx="11307463" cy="3232618"/>
        </p:xfrm>
        <a:graphic>
          <a:graphicData uri="http://schemas.openxmlformats.org/presentationml/2006/ole">
            <mc:AlternateContent xmlns:mc="http://schemas.openxmlformats.org/markup-compatibility/2006">
              <mc:Choice xmlns:v="urn:schemas-microsoft-com:vml" Requires="v">
                <p:oleObj spid="_x0000_s26646" name="文档" r:id="rId5" imgW="4522985" imgH="1293047" progId="Word.Document.12">
                  <p:embed/>
                </p:oleObj>
              </mc:Choice>
              <mc:Fallback>
                <p:oleObj name="文档" r:id="rId5" imgW="4522985" imgH="1293047" progId="Word.Document.12">
                  <p:embed/>
                  <p:pic>
                    <p:nvPicPr>
                      <p:cNvPr id="0" name=""/>
                      <p:cNvPicPr/>
                      <p:nvPr/>
                    </p:nvPicPr>
                    <p:blipFill>
                      <a:blip r:embed="rId6"/>
                      <a:stretch>
                        <a:fillRect/>
                      </a:stretch>
                    </p:blipFill>
                    <p:spPr>
                      <a:xfrm>
                        <a:off x="442268" y="4197818"/>
                        <a:ext cx="11307463" cy="3232618"/>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160926794"/>
              </p:ext>
            </p:extLst>
          </p:nvPr>
        </p:nvGraphicFramePr>
        <p:xfrm>
          <a:off x="458424" y="215461"/>
          <a:ext cx="11275153" cy="989193"/>
        </p:xfrm>
        <a:graphic>
          <a:graphicData uri="http://schemas.openxmlformats.org/presentationml/2006/ole">
            <mc:AlternateContent xmlns:mc="http://schemas.openxmlformats.org/markup-compatibility/2006">
              <mc:Choice xmlns:v="urn:schemas-microsoft-com:vml" Requires="v">
                <p:oleObj spid="_x0000_s27702"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215461"/>
                        <a:ext cx="11275153" cy="989193"/>
                      </a:xfrm>
                      <a:prstGeom prst="rect">
                        <a:avLst/>
                      </a:prstGeom>
                    </p:spPr>
                  </p:pic>
                </p:oleObj>
              </mc:Fallback>
            </mc:AlternateContent>
          </a:graphicData>
        </a:graphic>
      </p:graphicFrame>
      <p:sp>
        <p:nvSpPr>
          <p:cNvPr id="3" name="矩形 2"/>
          <p:cNvSpPr>
            <a:spLocks noChangeAspect="1"/>
          </p:cNvSpPr>
          <p:nvPr/>
        </p:nvSpPr>
        <p:spPr>
          <a:xfrm>
            <a:off x="381000" y="1071092"/>
            <a:ext cx="11430000" cy="321318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a:solidFill>
                  <a:srgbClr val="000000"/>
                </a:solidFill>
                <a:latin typeface="Times New Roman" panose="02020603050405020304" pitchFamily="18" charset="0"/>
                <a:cs typeface="Times New Roman" panose="02020603050405020304" pitchFamily="18" charset="0"/>
              </a:rPr>
              <a:t>根据散点图判断</a:t>
            </a:r>
            <a:r>
              <a:rPr lang="en-US" altLang="zh-CN" sz="2600">
                <a:solidFill>
                  <a:srgbClr val="000000"/>
                </a:solidFill>
                <a:latin typeface="Times New Roman" panose="02020603050405020304" pitchFamily="18" charset="0"/>
                <a:cs typeface="Times New Roman" panose="02020603050405020304" pitchFamily="18" charset="0"/>
              </a:rPr>
              <a:t>,</a:t>
            </a:r>
            <a:r>
              <a:rPr lang="en-US" altLang="zh-CN" sz="2600" i="1">
                <a:solidFill>
                  <a:srgbClr val="000000"/>
                </a:solidFill>
                <a:latin typeface="Times New Roman" panose="02020603050405020304" pitchFamily="18" charset="0"/>
                <a:cs typeface="Times New Roman" panose="02020603050405020304" pitchFamily="18" charset="0"/>
              </a:rPr>
              <a:t>y=a+bx</a:t>
            </a:r>
            <a:r>
              <a:rPr lang="zh-CN" altLang="zh-CN" sz="2600">
                <a:solidFill>
                  <a:srgbClr val="000000"/>
                </a:solidFill>
                <a:latin typeface="Times New Roman" panose="02020603050405020304" pitchFamily="18" charset="0"/>
                <a:cs typeface="Times New Roman" panose="02020603050405020304" pitchFamily="18" charset="0"/>
              </a:rPr>
              <a:t>与</a:t>
            </a:r>
            <a:r>
              <a:rPr lang="en-US" altLang="zh-CN" sz="2600" i="1" smtClean="0">
                <a:solidFill>
                  <a:srgbClr val="000000"/>
                </a:solidFill>
                <a:latin typeface="Times New Roman" panose="02020603050405020304" pitchFamily="18" charset="0"/>
                <a:cs typeface="Times New Roman" panose="02020603050405020304" pitchFamily="18" charset="0"/>
              </a:rPr>
              <a:t>y=c+d      </a:t>
            </a:r>
            <a:r>
              <a:rPr lang="zh-CN" altLang="zh-CN" sz="2600" smtClean="0">
                <a:solidFill>
                  <a:srgbClr val="000000"/>
                </a:solidFill>
                <a:latin typeface="Times New Roman" panose="02020603050405020304" pitchFamily="18" charset="0"/>
                <a:cs typeface="Times New Roman" panose="02020603050405020304" pitchFamily="18" charset="0"/>
              </a:rPr>
              <a:t>哪</a:t>
            </a:r>
            <a:r>
              <a:rPr lang="zh-CN" altLang="zh-CN" sz="2600">
                <a:solidFill>
                  <a:srgbClr val="000000"/>
                </a:solidFill>
                <a:latin typeface="Times New Roman" panose="02020603050405020304" pitchFamily="18" charset="0"/>
                <a:cs typeface="Times New Roman" panose="02020603050405020304" pitchFamily="18" charset="0"/>
              </a:rPr>
              <a:t>一个适宜作为年销售量</a:t>
            </a:r>
            <a:r>
              <a:rPr lang="en-US" altLang="zh-CN" sz="2600" i="1">
                <a:solidFill>
                  <a:srgbClr val="000000"/>
                </a:solidFill>
                <a:latin typeface="Times New Roman" panose="02020603050405020304" pitchFamily="18" charset="0"/>
                <a:cs typeface="Times New Roman" panose="02020603050405020304" pitchFamily="18" charset="0"/>
              </a:rPr>
              <a:t>y</a:t>
            </a:r>
            <a:r>
              <a:rPr lang="zh-CN" altLang="zh-CN" sz="2600">
                <a:solidFill>
                  <a:srgbClr val="000000"/>
                </a:solidFill>
                <a:latin typeface="Times New Roman" panose="02020603050405020304" pitchFamily="18" charset="0"/>
                <a:cs typeface="Times New Roman" panose="02020603050405020304" pitchFamily="18" charset="0"/>
              </a:rPr>
              <a:t>关于年宣传费</a:t>
            </a:r>
            <a:r>
              <a:rPr lang="en-US" altLang="zh-CN" sz="2600" i="1">
                <a:solidFill>
                  <a:srgbClr val="000000"/>
                </a:solidFill>
                <a:latin typeface="Times New Roman" panose="02020603050405020304" pitchFamily="18" charset="0"/>
                <a:cs typeface="Times New Roman" panose="02020603050405020304" pitchFamily="18" charset="0"/>
              </a:rPr>
              <a:t>x</a:t>
            </a:r>
            <a:r>
              <a:rPr lang="zh-CN" altLang="zh-CN" sz="2600">
                <a:solidFill>
                  <a:srgbClr val="000000"/>
                </a:solidFill>
                <a:latin typeface="Times New Roman" panose="02020603050405020304" pitchFamily="18" charset="0"/>
                <a:cs typeface="Times New Roman" panose="02020603050405020304" pitchFamily="18" charset="0"/>
              </a:rPr>
              <a:t>的经验回归方程类型</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给出判断即可</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不必说明理由</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(2)</a:t>
            </a:r>
            <a:r>
              <a:rPr lang="zh-CN" altLang="zh-CN" sz="2600">
                <a:solidFill>
                  <a:srgbClr val="000000"/>
                </a:solidFill>
                <a:latin typeface="Times New Roman" panose="02020603050405020304" pitchFamily="18" charset="0"/>
                <a:cs typeface="Times New Roman" panose="02020603050405020304" pitchFamily="18" charset="0"/>
              </a:rPr>
              <a:t>根据</a:t>
            </a:r>
            <a:r>
              <a:rPr lang="en-US" altLang="zh-CN" sz="2600">
                <a:solidFill>
                  <a:srgbClr val="000000"/>
                </a:solidFill>
                <a:latin typeface="Times New Roman" panose="02020603050405020304" pitchFamily="18" charset="0"/>
                <a:cs typeface="Times New Roman" panose="02020603050405020304" pitchFamily="18" charset="0"/>
              </a:rPr>
              <a:t>(1)</a:t>
            </a:r>
            <a:r>
              <a:rPr lang="zh-CN" altLang="zh-CN" sz="2600">
                <a:solidFill>
                  <a:srgbClr val="000000"/>
                </a:solidFill>
                <a:latin typeface="Times New Roman" panose="02020603050405020304" pitchFamily="18" charset="0"/>
                <a:cs typeface="Times New Roman" panose="02020603050405020304" pitchFamily="18" charset="0"/>
              </a:rPr>
              <a:t>的判断结果及表中数据</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建立</a:t>
            </a:r>
            <a:r>
              <a:rPr lang="en-US" altLang="zh-CN" sz="2600" i="1">
                <a:solidFill>
                  <a:srgbClr val="000000"/>
                </a:solidFill>
                <a:latin typeface="Times New Roman" panose="02020603050405020304" pitchFamily="18" charset="0"/>
                <a:cs typeface="Times New Roman" panose="02020603050405020304" pitchFamily="18" charset="0"/>
              </a:rPr>
              <a:t>y</a:t>
            </a:r>
            <a:r>
              <a:rPr lang="zh-CN" altLang="zh-CN" sz="2600">
                <a:solidFill>
                  <a:srgbClr val="000000"/>
                </a:solidFill>
                <a:latin typeface="Times New Roman" panose="02020603050405020304" pitchFamily="18" charset="0"/>
                <a:cs typeface="Times New Roman" panose="02020603050405020304" pitchFamily="18" charset="0"/>
              </a:rPr>
              <a:t>关于</a:t>
            </a:r>
            <a:r>
              <a:rPr lang="en-US" altLang="zh-CN" sz="2600" i="1">
                <a:solidFill>
                  <a:srgbClr val="000000"/>
                </a:solidFill>
                <a:latin typeface="Times New Roman" panose="02020603050405020304" pitchFamily="18" charset="0"/>
                <a:cs typeface="Times New Roman" panose="02020603050405020304" pitchFamily="18" charset="0"/>
              </a:rPr>
              <a:t>x</a:t>
            </a:r>
            <a:r>
              <a:rPr lang="zh-CN" altLang="zh-CN" sz="2600">
                <a:solidFill>
                  <a:srgbClr val="000000"/>
                </a:solidFill>
                <a:latin typeface="Times New Roman" panose="02020603050405020304" pitchFamily="18" charset="0"/>
                <a:cs typeface="Times New Roman" panose="02020603050405020304" pitchFamily="18" charset="0"/>
              </a:rPr>
              <a:t>的经验回归方程</a:t>
            </a:r>
            <a:r>
              <a:rPr lang="en-US" altLang="zh-CN" sz="2600" i="1">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600">
                <a:solidFill>
                  <a:srgbClr val="000000"/>
                </a:solidFill>
                <a:latin typeface="Times New Roman" panose="02020603050405020304" pitchFamily="18" charset="0"/>
                <a:cs typeface="Times New Roman" panose="02020603050405020304" pitchFamily="18" charset="0"/>
              </a:rPr>
              <a:t>(3)</a:t>
            </a:r>
            <a:r>
              <a:rPr lang="zh-CN" altLang="zh-CN" sz="2600">
                <a:solidFill>
                  <a:srgbClr val="000000"/>
                </a:solidFill>
                <a:latin typeface="Times New Roman" panose="02020603050405020304" pitchFamily="18" charset="0"/>
                <a:cs typeface="Times New Roman" panose="02020603050405020304" pitchFamily="18" charset="0"/>
              </a:rPr>
              <a:t>已知这种产品的年利润</a:t>
            </a:r>
            <a:r>
              <a:rPr lang="en-US" altLang="zh-CN" sz="2600" i="1">
                <a:solidFill>
                  <a:srgbClr val="000000"/>
                </a:solidFill>
                <a:latin typeface="Times New Roman" panose="02020603050405020304" pitchFamily="18" charset="0"/>
                <a:cs typeface="Times New Roman" panose="02020603050405020304" pitchFamily="18" charset="0"/>
              </a:rPr>
              <a:t>z</a:t>
            </a:r>
            <a:r>
              <a:rPr lang="zh-CN" altLang="zh-CN" sz="2600">
                <a:solidFill>
                  <a:srgbClr val="000000"/>
                </a:solidFill>
                <a:latin typeface="Times New Roman" panose="02020603050405020304" pitchFamily="18" charset="0"/>
                <a:cs typeface="Times New Roman" panose="02020603050405020304" pitchFamily="18" charset="0"/>
              </a:rPr>
              <a:t>与</a:t>
            </a:r>
            <a:r>
              <a:rPr lang="en-US" altLang="zh-CN" sz="2600" i="1">
                <a:solidFill>
                  <a:srgbClr val="000000"/>
                </a:solidFill>
                <a:latin typeface="Times New Roman" panose="02020603050405020304" pitchFamily="18" charset="0"/>
                <a:cs typeface="Times New Roman" panose="02020603050405020304" pitchFamily="18" charset="0"/>
              </a:rPr>
              <a:t>x</a:t>
            </a:r>
            <a:r>
              <a:rPr lang="en-US" altLang="zh-CN" sz="2600">
                <a:solidFill>
                  <a:srgbClr val="000000"/>
                </a:solidFill>
                <a:latin typeface="Times New Roman" panose="02020603050405020304" pitchFamily="18" charset="0"/>
                <a:cs typeface="Times New Roman" panose="02020603050405020304" pitchFamily="18" charset="0"/>
              </a:rPr>
              <a:t>,</a:t>
            </a:r>
            <a:r>
              <a:rPr lang="en-US" altLang="zh-CN" sz="2600" i="1">
                <a:solidFill>
                  <a:srgbClr val="000000"/>
                </a:solidFill>
                <a:latin typeface="Times New Roman" panose="02020603050405020304" pitchFamily="18" charset="0"/>
                <a:cs typeface="Times New Roman" panose="02020603050405020304" pitchFamily="18" charset="0"/>
              </a:rPr>
              <a:t>y</a:t>
            </a:r>
            <a:r>
              <a:rPr lang="zh-CN" altLang="zh-CN" sz="2600">
                <a:solidFill>
                  <a:srgbClr val="000000"/>
                </a:solidFill>
                <a:latin typeface="Times New Roman" panose="02020603050405020304" pitchFamily="18" charset="0"/>
                <a:cs typeface="Times New Roman" panose="02020603050405020304" pitchFamily="18" charset="0"/>
              </a:rPr>
              <a:t>的关系为</a:t>
            </a:r>
            <a:r>
              <a:rPr lang="en-US" altLang="zh-CN" sz="2600" i="1">
                <a:solidFill>
                  <a:srgbClr val="000000"/>
                </a:solidFill>
                <a:latin typeface="Times New Roman" panose="02020603050405020304" pitchFamily="18" charset="0"/>
                <a:cs typeface="Times New Roman" panose="02020603050405020304" pitchFamily="18" charset="0"/>
              </a:rPr>
              <a:t>z=</a:t>
            </a:r>
            <a:r>
              <a:rPr lang="en-US" altLang="zh-CN" sz="2600">
                <a:solidFill>
                  <a:srgbClr val="000000"/>
                </a:solidFill>
                <a:latin typeface="Times New Roman" panose="02020603050405020304" pitchFamily="18" charset="0"/>
                <a:cs typeface="Times New Roman" panose="02020603050405020304" pitchFamily="18" charset="0"/>
              </a:rPr>
              <a:t>0</a:t>
            </a:r>
            <a:r>
              <a:rPr lang="en-US" altLang="zh-CN" sz="2600" i="1">
                <a:solidFill>
                  <a:srgbClr val="000000"/>
                </a:solidFill>
                <a:latin typeface="Times New Roman" panose="02020603050405020304" pitchFamily="18" charset="0"/>
                <a:cs typeface="Times New Roman" panose="02020603050405020304" pitchFamily="18" charset="0"/>
              </a:rPr>
              <a:t>.</a:t>
            </a:r>
            <a:r>
              <a:rPr lang="en-US" altLang="zh-CN" sz="2600">
                <a:solidFill>
                  <a:srgbClr val="000000"/>
                </a:solidFill>
                <a:latin typeface="Times New Roman" panose="02020603050405020304" pitchFamily="18" charset="0"/>
                <a:cs typeface="Times New Roman" panose="02020603050405020304" pitchFamily="18" charset="0"/>
              </a:rPr>
              <a:t>2</a:t>
            </a:r>
            <a:r>
              <a:rPr lang="en-US" altLang="zh-CN" sz="2600" i="1">
                <a:solidFill>
                  <a:srgbClr val="000000"/>
                </a:solidFill>
                <a:latin typeface="Times New Roman" panose="02020603050405020304" pitchFamily="18" charset="0"/>
                <a:cs typeface="Times New Roman" panose="02020603050405020304" pitchFamily="18" charset="0"/>
              </a:rPr>
              <a:t>y-x.</a:t>
            </a:r>
            <a:r>
              <a:rPr lang="zh-CN" altLang="zh-CN" sz="2600">
                <a:solidFill>
                  <a:srgbClr val="000000"/>
                </a:solidFill>
                <a:latin typeface="Times New Roman" panose="02020603050405020304" pitchFamily="18" charset="0"/>
                <a:cs typeface="Times New Roman" panose="02020603050405020304" pitchFamily="18" charset="0"/>
              </a:rPr>
              <a:t>根据</a:t>
            </a:r>
            <a:r>
              <a:rPr lang="en-US" altLang="zh-CN" sz="2600">
                <a:solidFill>
                  <a:srgbClr val="000000"/>
                </a:solidFill>
                <a:latin typeface="Times New Roman" panose="02020603050405020304" pitchFamily="18" charset="0"/>
                <a:cs typeface="Times New Roman" panose="02020603050405020304" pitchFamily="18" charset="0"/>
              </a:rPr>
              <a:t>(2)</a:t>
            </a:r>
            <a:r>
              <a:rPr lang="zh-CN" altLang="zh-CN" sz="2600">
                <a:solidFill>
                  <a:srgbClr val="000000"/>
                </a:solidFill>
                <a:latin typeface="Times New Roman" panose="02020603050405020304" pitchFamily="18" charset="0"/>
                <a:cs typeface="Times New Roman" panose="02020603050405020304" pitchFamily="18" charset="0"/>
              </a:rPr>
              <a:t>的结果回答下列问题</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600">
                <a:solidFill>
                  <a:srgbClr val="000000"/>
                </a:solidFill>
                <a:latin typeface="NEU-BZ-S92"/>
                <a:cs typeface="宋体" panose="02010600030101010101" pitchFamily="2" charset="-122"/>
              </a:rPr>
              <a:t>①</a:t>
            </a:r>
            <a:r>
              <a:rPr lang="zh-CN" altLang="zh-CN" sz="2600">
                <a:solidFill>
                  <a:srgbClr val="000000"/>
                </a:solidFill>
                <a:latin typeface="Times New Roman" panose="02020603050405020304" pitchFamily="18" charset="0"/>
                <a:cs typeface="Times New Roman" panose="02020603050405020304" pitchFamily="18" charset="0"/>
              </a:rPr>
              <a:t>当年宣传费</a:t>
            </a:r>
            <a:r>
              <a:rPr lang="en-US" altLang="zh-CN" sz="2600" i="1">
                <a:solidFill>
                  <a:srgbClr val="000000"/>
                </a:solidFill>
                <a:latin typeface="Times New Roman" panose="02020603050405020304" pitchFamily="18" charset="0"/>
                <a:cs typeface="Times New Roman" panose="02020603050405020304" pitchFamily="18" charset="0"/>
              </a:rPr>
              <a:t>x=</a:t>
            </a:r>
            <a:r>
              <a:rPr lang="en-US" altLang="zh-CN" sz="2600">
                <a:solidFill>
                  <a:srgbClr val="000000"/>
                </a:solidFill>
                <a:latin typeface="Times New Roman" panose="02020603050405020304" pitchFamily="18" charset="0"/>
                <a:cs typeface="Times New Roman" panose="02020603050405020304" pitchFamily="18" charset="0"/>
              </a:rPr>
              <a:t>49</a:t>
            </a:r>
            <a:r>
              <a:rPr lang="zh-CN" altLang="zh-CN" sz="2600">
                <a:solidFill>
                  <a:srgbClr val="000000"/>
                </a:solidFill>
                <a:latin typeface="Times New Roman" panose="02020603050405020304" pitchFamily="18" charset="0"/>
                <a:cs typeface="Times New Roman" panose="02020603050405020304" pitchFamily="18" charset="0"/>
              </a:rPr>
              <a:t>时</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年销售量及年利润的预测值是多少</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600">
                <a:solidFill>
                  <a:srgbClr val="000000"/>
                </a:solidFill>
                <a:latin typeface="NEU-BZ-S92"/>
                <a:cs typeface="宋体" panose="02010600030101010101" pitchFamily="2" charset="-122"/>
              </a:rPr>
              <a:t>②</a:t>
            </a:r>
            <a:r>
              <a:rPr lang="zh-CN" altLang="zh-CN" sz="2600">
                <a:solidFill>
                  <a:srgbClr val="000000"/>
                </a:solidFill>
                <a:latin typeface="Times New Roman" panose="02020603050405020304" pitchFamily="18" charset="0"/>
                <a:cs typeface="Times New Roman" panose="02020603050405020304" pitchFamily="18" charset="0"/>
              </a:rPr>
              <a:t>当年宣传费</a:t>
            </a:r>
            <a:r>
              <a:rPr lang="en-US" altLang="zh-CN" sz="2600" i="1">
                <a:solidFill>
                  <a:srgbClr val="000000"/>
                </a:solidFill>
                <a:latin typeface="Times New Roman" panose="02020603050405020304" pitchFamily="18" charset="0"/>
                <a:cs typeface="Times New Roman" panose="02020603050405020304" pitchFamily="18" charset="0"/>
              </a:rPr>
              <a:t>x</a:t>
            </a:r>
            <a:r>
              <a:rPr lang="zh-CN" altLang="zh-CN" sz="2600">
                <a:solidFill>
                  <a:srgbClr val="000000"/>
                </a:solidFill>
                <a:latin typeface="Times New Roman" panose="02020603050405020304" pitchFamily="18" charset="0"/>
                <a:cs typeface="Times New Roman" panose="02020603050405020304" pitchFamily="18" charset="0"/>
              </a:rPr>
              <a:t>为何值时</a:t>
            </a:r>
            <a:r>
              <a:rPr lang="en-US" altLang="zh-CN" sz="2600">
                <a:solidFill>
                  <a:srgbClr val="000000"/>
                </a:solidFill>
                <a:latin typeface="Times New Roman" panose="02020603050405020304" pitchFamily="18" charset="0"/>
                <a:cs typeface="Times New Roman" panose="02020603050405020304" pitchFamily="18" charset="0"/>
              </a:rPr>
              <a:t>,</a:t>
            </a:r>
            <a:r>
              <a:rPr lang="zh-CN" altLang="zh-CN" sz="2600">
                <a:solidFill>
                  <a:srgbClr val="000000"/>
                </a:solidFill>
                <a:latin typeface="Times New Roman" panose="02020603050405020304" pitchFamily="18" charset="0"/>
                <a:cs typeface="Times New Roman" panose="02020603050405020304" pitchFamily="18" charset="0"/>
              </a:rPr>
              <a:t>年利润的预测值最大</a:t>
            </a:r>
            <a:r>
              <a:rPr lang="en-US" altLang="zh-CN" sz="2600">
                <a:solidFill>
                  <a:srgbClr val="000000"/>
                </a:solidFill>
                <a:latin typeface="Times New Roman" panose="02020603050405020304" pitchFamily="18" charset="0"/>
                <a:cs typeface="Times New Roman" panose="02020603050405020304" pitchFamily="18" charset="0"/>
              </a:rPr>
              <a:t>?</a:t>
            </a:r>
            <a:endParaRPr lang="zh-CN" altLang="zh-CN" sz="26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698739125"/>
              </p:ext>
            </p:extLst>
          </p:nvPr>
        </p:nvGraphicFramePr>
        <p:xfrm>
          <a:off x="458424" y="3899055"/>
          <a:ext cx="11275153" cy="2472530"/>
        </p:xfrm>
        <a:graphic>
          <a:graphicData uri="http://schemas.openxmlformats.org/presentationml/2006/ole">
            <mc:AlternateContent xmlns:mc="http://schemas.openxmlformats.org/markup-compatibility/2006">
              <mc:Choice xmlns:v="urn:schemas-microsoft-com:vml" Requires="v">
                <p:oleObj spid="_x0000_s27703" name="文档" r:id="rId7" imgW="4510061" imgH="989012" progId="Word.Document.12">
                  <p:embed/>
                </p:oleObj>
              </mc:Choice>
              <mc:Fallback>
                <p:oleObj name="文档" r:id="rId7" imgW="4510061" imgH="989012" progId="Word.Document.12">
                  <p:embed/>
                  <p:pic>
                    <p:nvPicPr>
                      <p:cNvPr id="0" name=""/>
                      <p:cNvPicPr/>
                      <p:nvPr/>
                    </p:nvPicPr>
                    <p:blipFill>
                      <a:blip r:embed="rId8"/>
                      <a:stretch>
                        <a:fillRect/>
                      </a:stretch>
                    </p:blipFill>
                    <p:spPr>
                      <a:xfrm>
                        <a:off x="458424" y="3899055"/>
                        <a:ext cx="11275153" cy="247253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866131555"/>
              </p:ext>
            </p:extLst>
          </p:nvPr>
        </p:nvGraphicFramePr>
        <p:xfrm>
          <a:off x="5507490" y="1169744"/>
          <a:ext cx="566738" cy="434975"/>
        </p:xfrm>
        <a:graphic>
          <a:graphicData uri="http://schemas.openxmlformats.org/presentationml/2006/ole">
            <mc:AlternateContent xmlns:mc="http://schemas.openxmlformats.org/markup-compatibility/2006">
              <mc:Choice xmlns:v="urn:schemas-microsoft-com:vml" Requires="v">
                <p:oleObj spid="_x0000_s27704" name="文档" r:id="rId10" imgW="235270" imgH="172502" progId="Word.Document.12">
                  <p:embed/>
                </p:oleObj>
              </mc:Choice>
              <mc:Fallback>
                <p:oleObj name="文档" r:id="rId10" imgW="235270" imgH="172502" progId="Word.Document.12">
                  <p:embed/>
                  <p:pic>
                    <p:nvPicPr>
                      <p:cNvPr id="0" name=""/>
                      <p:cNvPicPr>
                        <a:picLocks noChangeAspect="1" noChangeArrowheads="1"/>
                      </p:cNvPicPr>
                      <p:nvPr/>
                    </p:nvPicPr>
                    <p:blipFill>
                      <a:blip r:embed="rId11"/>
                      <a:srcRect/>
                      <a:stretch>
                        <a:fillRect/>
                      </a:stretch>
                    </p:blipFill>
                    <p:spPr bwMode="auto">
                      <a:xfrm>
                        <a:off x="5507490" y="1169744"/>
                        <a:ext cx="566738" cy="434975"/>
                      </a:xfrm>
                      <a:prstGeom prst="rect">
                        <a:avLst/>
                      </a:prstGeom>
                      <a:noFill/>
                    </p:spPr>
                  </p:pic>
                </p:oleObj>
              </mc:Fallback>
            </mc:AlternateContent>
          </a:graphicData>
        </a:graphic>
      </p:graphicFrame>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869377184"/>
              </p:ext>
            </p:extLst>
          </p:nvPr>
        </p:nvGraphicFramePr>
        <p:xfrm>
          <a:off x="458424" y="303256"/>
          <a:ext cx="11275153" cy="6156168"/>
        </p:xfrm>
        <a:graphic>
          <a:graphicData uri="http://schemas.openxmlformats.org/presentationml/2006/ole">
            <mc:AlternateContent xmlns:mc="http://schemas.openxmlformats.org/markup-compatibility/2006">
              <mc:Choice xmlns:v="urn:schemas-microsoft-com:vml" Requires="v">
                <p:oleObj spid="_x0000_s28694" name="文档" r:id="rId4" imgW="4510061" imgH="2462467" progId="Word.Document.12">
                  <p:embed/>
                </p:oleObj>
              </mc:Choice>
              <mc:Fallback>
                <p:oleObj name="文档" r:id="rId4" imgW="4510061" imgH="2462467" progId="Word.Document.12">
                  <p:embed/>
                  <p:pic>
                    <p:nvPicPr>
                      <p:cNvPr id="0" name=""/>
                      <p:cNvPicPr/>
                      <p:nvPr/>
                    </p:nvPicPr>
                    <p:blipFill>
                      <a:blip r:embed="rId5"/>
                      <a:stretch>
                        <a:fillRect/>
                      </a:stretch>
                    </p:blipFill>
                    <p:spPr>
                      <a:xfrm>
                        <a:off x="458424" y="303256"/>
                        <a:ext cx="11275153" cy="6156168"/>
                      </a:xfrm>
                      <a:prstGeom prst="rect">
                        <a:avLst/>
                      </a:prstGeom>
                    </p:spPr>
                  </p:pic>
                </p:oleObj>
              </mc:Fallback>
            </mc:AlternateContent>
          </a:graphicData>
        </a:graphic>
      </p:graphicFrame>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944678550"/>
              </p:ext>
            </p:extLst>
          </p:nvPr>
        </p:nvGraphicFramePr>
        <p:xfrm>
          <a:off x="458424" y="732395"/>
          <a:ext cx="11275153" cy="5092405"/>
        </p:xfrm>
        <a:graphic>
          <a:graphicData uri="http://schemas.openxmlformats.org/presentationml/2006/ole">
            <mc:AlternateContent xmlns:mc="http://schemas.openxmlformats.org/markup-compatibility/2006">
              <mc:Choice xmlns:v="urn:schemas-microsoft-com:vml" Requires="v">
                <p:oleObj spid="_x0000_s29718" name="文档" r:id="rId4" imgW="4510061" imgH="2066790" progId="Word.Document.12">
                  <p:embed/>
                </p:oleObj>
              </mc:Choice>
              <mc:Fallback>
                <p:oleObj name="文档" r:id="rId4" imgW="4510061" imgH="2066790" progId="Word.Document.12">
                  <p:embed/>
                  <p:pic>
                    <p:nvPicPr>
                      <p:cNvPr id="0" name=""/>
                      <p:cNvPicPr/>
                      <p:nvPr/>
                    </p:nvPicPr>
                    <p:blipFill>
                      <a:blip r:embed="rId5"/>
                      <a:stretch>
                        <a:fillRect/>
                      </a:stretch>
                    </p:blipFill>
                    <p:spPr>
                      <a:xfrm>
                        <a:off x="458424" y="732395"/>
                        <a:ext cx="11275153" cy="5092405"/>
                      </a:xfrm>
                      <a:prstGeom prst="rect">
                        <a:avLst/>
                      </a:prstGeom>
                    </p:spPr>
                  </p:pic>
                </p:oleObj>
              </mc:Fallback>
            </mc:AlternateContent>
          </a:graphicData>
        </a:graphic>
      </p:graphicFrame>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740570910"/>
              </p:ext>
            </p:extLst>
          </p:nvPr>
        </p:nvGraphicFramePr>
        <p:xfrm>
          <a:off x="458424" y="1048611"/>
          <a:ext cx="11275153" cy="494148"/>
        </p:xfrm>
        <a:graphic>
          <a:graphicData uri="http://schemas.openxmlformats.org/presentationml/2006/ole">
            <mc:AlternateContent xmlns:mc="http://schemas.openxmlformats.org/markup-compatibility/2006">
              <mc:Choice xmlns:v="urn:schemas-microsoft-com:vml" Requires="v">
                <p:oleObj spid="_x0000_s30742"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048611"/>
                        <a:ext cx="11275153" cy="494148"/>
                      </a:xfrm>
                      <a:prstGeom prst="rect">
                        <a:avLst/>
                      </a:prstGeom>
                    </p:spPr>
                  </p:pic>
                </p:oleObj>
              </mc:Fallback>
            </mc:AlternateContent>
          </a:graphicData>
        </a:graphic>
      </p:graphicFrame>
      <p:sp>
        <p:nvSpPr>
          <p:cNvPr id="3" name="矩形 2"/>
          <p:cNvSpPr>
            <a:spLocks noChangeAspect="1"/>
          </p:cNvSpPr>
          <p:nvPr/>
        </p:nvSpPr>
        <p:spPr>
          <a:xfrm>
            <a:off x="381000" y="1632659"/>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求非线性经验回归方程的步骤</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确定变量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作出散点图</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根据散点图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选择恰当的拟合函数</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变量置换</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通过变量置换把非线性经验回归问题转化为经验回归问题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并求出经验回归方程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分析拟合效果</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通</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过</a:t>
            </a:r>
            <a:r>
              <a:rPr lang="zh-CN" altLang="en-US"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计算决定系数</a:t>
            </a:r>
            <a:r>
              <a:rPr lang="en-US" altLang="zh-CN" sz="2800" i="1" smtClean="0">
                <a:solidFill>
                  <a:srgbClr val="000000"/>
                </a:solidFill>
                <a:latin typeface="Times New Roman" panose="02020603050405020304" pitchFamily="18" charset="0"/>
                <a:cs typeface="Times New Roman" panose="02020603050405020304" pitchFamily="18" charset="0"/>
              </a:rPr>
              <a:t>R</a:t>
            </a:r>
            <a:r>
              <a:rPr lang="en-US" altLang="zh-CN" sz="2800" baseline="30000" smtClean="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或画残差图来判断拟合效果</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根据相应的变换</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写出非线性经验回归方程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矩形 2"/>
              <p:cNvSpPr>
                <a:spLocks noChangeAspect="1"/>
              </p:cNvSpPr>
              <p:nvPr/>
            </p:nvSpPr>
            <p:spPr>
              <a:xfrm>
                <a:off x="381000" y="521757"/>
                <a:ext cx="11430000" cy="4823885"/>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effectLst/>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某投资公司</a:t>
                </a:r>
                <a:r>
                  <a:rPr lang="en-US" altLang="zh-CN" sz="2800">
                    <a:solidFill>
                      <a:srgbClr val="000000"/>
                    </a:solidFill>
                    <a:latin typeface="Times New Roman" panose="02020603050405020304" pitchFamily="18" charset="0"/>
                    <a:cs typeface="Times New Roman" panose="02020603050405020304" pitchFamily="18" charset="0"/>
                  </a:rPr>
                  <a:t>2015</a:t>
                </a:r>
                <a:r>
                  <a:rPr lang="zh-CN" altLang="zh-CN" sz="2800">
                    <a:solidFill>
                      <a:srgbClr val="000000"/>
                    </a:solidFill>
                    <a:latin typeface="Times New Roman" panose="02020603050405020304" pitchFamily="18" charset="0"/>
                    <a:cs typeface="Times New Roman" panose="02020603050405020304" pitchFamily="18" charset="0"/>
                  </a:rPr>
                  <a:t>年至</a:t>
                </a:r>
                <a:r>
                  <a:rPr lang="en-US" altLang="zh-CN" sz="2800">
                    <a:solidFill>
                      <a:srgbClr val="000000"/>
                    </a:solidFill>
                    <a:latin typeface="Times New Roman" panose="02020603050405020304" pitchFamily="18" charset="0"/>
                    <a:cs typeface="Times New Roman" panose="02020603050405020304" pitchFamily="18" charset="0"/>
                  </a:rPr>
                  <a:t>2024</a:t>
                </a:r>
                <a:r>
                  <a:rPr lang="zh-CN" altLang="zh-CN" sz="2800">
                    <a:solidFill>
                      <a:srgbClr val="000000"/>
                    </a:solidFill>
                    <a:latin typeface="Times New Roman" panose="02020603050405020304" pitchFamily="18" charset="0"/>
                    <a:cs typeface="Times New Roman" panose="02020603050405020304" pitchFamily="18" charset="0"/>
                  </a:rPr>
                  <a:t>年每年的投资金额</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单位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万元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与年利润增量</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单位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万元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的散点图如图所示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该投资公司为了预测</a:t>
                </a:r>
                <a:r>
                  <a:rPr lang="en-US" altLang="zh-CN" sz="2800">
                    <a:solidFill>
                      <a:srgbClr val="000000"/>
                    </a:solidFill>
                    <a:latin typeface="Times New Roman" panose="02020603050405020304" pitchFamily="18" charset="0"/>
                    <a:cs typeface="Times New Roman" panose="02020603050405020304" pitchFamily="18" charset="0"/>
                  </a:rPr>
                  <a:t>2025</a:t>
                </a:r>
                <a:r>
                  <a:rPr lang="zh-CN" altLang="zh-CN" sz="2800">
                    <a:solidFill>
                      <a:srgbClr val="000000"/>
                    </a:solidFill>
                    <a:latin typeface="Times New Roman" panose="02020603050405020304" pitchFamily="18" charset="0"/>
                    <a:cs typeface="Times New Roman" panose="02020603050405020304" pitchFamily="18" charset="0"/>
                  </a:rPr>
                  <a:t>年投资金额为</a:t>
                </a:r>
                <a:r>
                  <a:rPr lang="en-US" altLang="zh-CN" sz="2800">
                    <a:solidFill>
                      <a:srgbClr val="000000"/>
                    </a:solidFill>
                    <a:latin typeface="Times New Roman" panose="02020603050405020304" pitchFamily="18" charset="0"/>
                    <a:cs typeface="Times New Roman" panose="02020603050405020304" pitchFamily="18" charset="0"/>
                  </a:rPr>
                  <a:t>20</a:t>
                </a:r>
                <a:r>
                  <a:rPr lang="zh-CN" altLang="zh-CN" sz="2800">
                    <a:solidFill>
                      <a:srgbClr val="000000"/>
                    </a:solidFill>
                    <a:latin typeface="Times New Roman" panose="02020603050405020304" pitchFamily="18" charset="0"/>
                    <a:cs typeface="Times New Roman" panose="02020603050405020304" pitchFamily="18" charset="0"/>
                  </a:rPr>
                  <a:t>万元时的年利润增量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建立了</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关于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的两个回归模型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模型</a:t>
                </a:r>
                <a:r>
                  <a:rPr lang="zh-CN" altLang="zh-CN" sz="2800">
                    <a:solidFill>
                      <a:srgbClr val="000000"/>
                    </a:solidFill>
                    <a:latin typeface="NEU-BZ-S92"/>
                    <a:cs typeface="宋体" panose="02010600030101010101" pitchFamily="2" charset="-122"/>
                  </a:rPr>
                  <a:t>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由最小二乘公式可求得</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的经验回归方程</a:t>
                </a:r>
                <a:r>
                  <a:rPr lang="en-US" altLang="zh-CN" sz="280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limUpp>
                      <m:limUp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UppPr>
                      <m:e>
                        <m:r>
                          <a:rPr lang="en-US" altLang="zh-CN" sz="2800" i="1">
                            <a:solidFill>
                              <a:srgbClr val="000000"/>
                            </a:solidFill>
                            <a:latin typeface="Cambria Math" panose="02040503050406030204" pitchFamily="18" charset="0"/>
                            <a:cs typeface="Times New Roman" panose="02020603050405020304" pitchFamily="18" charset="0"/>
                          </a:rPr>
                          <m:t>𝑦</m:t>
                        </m:r>
                      </m:e>
                      <m:lim>
                        <m:r>
                          <m:rPr>
                            <m:nor/>
                          </m:rPr>
                          <a:rPr lang="en-US" altLang="zh-CN" sz="2800">
                            <a:solidFill>
                              <a:srgbClr val="000000"/>
                            </a:solidFill>
                            <a:latin typeface="Times New Roman" panose="02020603050405020304" pitchFamily="18" charset="0"/>
                            <a:cs typeface="Times New Roman" panose="02020603050405020304" pitchFamily="18" charset="0"/>
                          </a:rPr>
                          <m:t>^</m:t>
                        </m:r>
                      </m:lim>
                    </m:limUpp>
                  </m:oMath>
                </a14:m>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50</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50;</a:t>
                </a:r>
                <a:r>
                  <a:rPr lang="zh-CN" altLang="zh-CN" sz="2800">
                    <a:solidFill>
                      <a:srgbClr val="000000"/>
                    </a:solidFill>
                    <a:latin typeface="Times New Roman" panose="02020603050405020304" pitchFamily="18" charset="0"/>
                    <a:cs typeface="Times New Roman" panose="02020603050405020304" pitchFamily="18" charset="0"/>
                  </a:rPr>
                  <a:t>模型</a:t>
                </a:r>
                <a:r>
                  <a:rPr lang="zh-CN" altLang="zh-CN" sz="2800">
                    <a:solidFill>
                      <a:srgbClr val="000000"/>
                    </a:solidFill>
                    <a:latin typeface="NEU-BZ-S92"/>
                    <a:cs typeface="宋体" panose="02010600030101010101" pitchFamily="2" charset="-122"/>
                  </a:rPr>
                  <a:t>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由图中样本点的分布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可以认为样本点集中在曲线</a:t>
                </a:r>
                <a:r>
                  <a:rPr lang="en-US" altLang="zh-CN" sz="2800" i="1">
                    <a:solidFill>
                      <a:srgbClr val="000000"/>
                    </a:solidFill>
                    <a:latin typeface="Times New Roman" panose="02020603050405020304" pitchFamily="18" charset="0"/>
                    <a:cs typeface="Times New Roman" panose="02020603050405020304" pitchFamily="18" charset="0"/>
                  </a:rPr>
                  <a:t>y=b</a:t>
                </a:r>
                <a:r>
                  <a:rPr lang="en-US" altLang="zh-CN" sz="2800">
                    <a:solidFill>
                      <a:srgbClr val="000000"/>
                    </a:solidFill>
                    <a:latin typeface="Times New Roman" panose="02020603050405020304" pitchFamily="18" charset="0"/>
                    <a:cs typeface="Times New Roman" panose="02020603050405020304" pitchFamily="18" charset="0"/>
                  </a:rPr>
                  <a:t>ln </a:t>
                </a:r>
                <a:r>
                  <a:rPr lang="en-US" altLang="zh-CN" sz="2800" i="1">
                    <a:solidFill>
                      <a:srgbClr val="000000"/>
                    </a:solidFill>
                    <a:latin typeface="Times New Roman" panose="02020603050405020304" pitchFamily="18" charset="0"/>
                    <a:cs typeface="Times New Roman" panose="02020603050405020304" pitchFamily="18" charset="0"/>
                  </a:rPr>
                  <a:t>x+a</a:t>
                </a:r>
                <a:r>
                  <a:rPr lang="zh-CN" altLang="zh-CN" sz="2800">
                    <a:solidFill>
                      <a:srgbClr val="000000"/>
                    </a:solidFill>
                    <a:latin typeface="Times New Roman" panose="02020603050405020304" pitchFamily="18" charset="0"/>
                    <a:cs typeface="Times New Roman" panose="02020603050405020304" pitchFamily="18" charset="0"/>
                  </a:rPr>
                  <a:t>的附近</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对投资金额</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做换元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令</a:t>
                </a:r>
                <a:r>
                  <a:rPr lang="en-US" altLang="zh-CN" sz="2800" i="1">
                    <a:solidFill>
                      <a:srgbClr val="000000"/>
                    </a:solidFill>
                    <a:latin typeface="Times New Roman" panose="02020603050405020304" pitchFamily="18" charset="0"/>
                    <a:cs typeface="Times New Roman" panose="02020603050405020304" pitchFamily="18" charset="0"/>
                  </a:rPr>
                  <a:t>t=</a:t>
                </a:r>
                <a:r>
                  <a:rPr lang="en-US" altLang="zh-CN" sz="2800">
                    <a:solidFill>
                      <a:srgbClr val="000000"/>
                    </a:solidFill>
                    <a:latin typeface="Times New Roman" panose="02020603050405020304" pitchFamily="18" charset="0"/>
                    <a:cs typeface="Times New Roman" panose="02020603050405020304" pitchFamily="18" charset="0"/>
                  </a:rPr>
                  <a:t>ln </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y=bt+a</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且有</a:t>
                </a:r>
                <a14:m>
                  <m:oMath xmlns:m="http://schemas.openxmlformats.org/officeDocument/2006/math">
                    <m:limUpp>
                      <m:limUp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UppPr>
                      <m:e>
                        <m:limLow>
                          <m:limLow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LowPr>
                          <m:e>
                            <m:r>
                              <m:rPr>
                                <m:nor/>
                              </m:rPr>
                              <a:rPr lang="en-US" altLang="zh-CN" sz="2800">
                                <a:solidFill>
                                  <a:srgbClr val="000000"/>
                                </a:solidFill>
                                <a:latin typeface="Cambria Math" panose="02040503050406030204" pitchFamily="18" charset="0"/>
                                <a:cs typeface="Times New Roman" panose="02020603050405020304" pitchFamily="18" charset="0"/>
                              </a:rPr>
                              <m:t>∑</m:t>
                            </m:r>
                          </m:e>
                          <m:lim>
                            <m:r>
                              <m:rPr>
                                <m:sty m:val="p"/>
                              </m:rPr>
                              <a:rPr lang="en-US" altLang="zh-CN" sz="2800">
                                <a:solidFill>
                                  <a:srgbClr val="000000"/>
                                </a:solidFill>
                                <a:latin typeface="Cambria Math" panose="02040503050406030204" pitchFamily="18" charset="0"/>
                                <a:cs typeface="Times New Roman" panose="02020603050405020304" pitchFamily="18" charset="0"/>
                              </a:rPr>
                              <m:t>i</m:t>
                            </m:r>
                            <m:r>
                              <a:rPr lang="en-US" altLang="zh-CN" sz="2800">
                                <a:solidFill>
                                  <a:srgbClr val="000000"/>
                                </a:solidFill>
                                <a:latin typeface="Cambria Math" panose="02040503050406030204" pitchFamily="18" charset="0"/>
                                <a:cs typeface="Times New Roman" panose="02020603050405020304" pitchFamily="18" charset="0"/>
                              </a:rPr>
                              <m:t>=1</m:t>
                            </m:r>
                          </m:lim>
                        </m:limLow>
                      </m:e>
                      <m:lim>
                        <m:r>
                          <a:rPr lang="en-US" altLang="zh-CN" sz="2800">
                            <a:solidFill>
                              <a:srgbClr val="000000"/>
                            </a:solidFill>
                            <a:latin typeface="Cambria Math" panose="02040503050406030204" pitchFamily="18" charset="0"/>
                            <a:cs typeface="Times New Roman" panose="02020603050405020304" pitchFamily="18" charset="0"/>
                          </a:rPr>
                          <m:t>10</m:t>
                        </m:r>
                      </m:lim>
                    </m:limUpp>
                  </m:oMath>
                </a14:m>
                <a:r>
                  <a:rPr lang="en-US" altLang="zh-CN" sz="2800" i="1">
                    <a:solidFill>
                      <a:srgbClr val="000000"/>
                    </a:solidFill>
                    <a:latin typeface="Times New Roman" panose="02020603050405020304" pitchFamily="18" charset="0"/>
                    <a:cs typeface="Times New Roman" panose="02020603050405020304" pitchFamily="18" charset="0"/>
                  </a:rPr>
                  <a:t>t</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a:t>
                </a:r>
                <a14:m>
                  <m:oMath xmlns:m="http://schemas.openxmlformats.org/officeDocument/2006/math">
                    <m:limUpp>
                      <m:limUp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UppPr>
                      <m:e>
                        <m:limLow>
                          <m:limLow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LowPr>
                          <m:e>
                            <m:r>
                              <m:rPr>
                                <m:nor/>
                              </m:rPr>
                              <a:rPr lang="en-US" altLang="zh-CN" sz="2800">
                                <a:solidFill>
                                  <a:srgbClr val="000000"/>
                                </a:solidFill>
                                <a:latin typeface="Cambria Math" panose="02040503050406030204" pitchFamily="18" charset="0"/>
                                <a:cs typeface="Times New Roman" panose="02020603050405020304" pitchFamily="18" charset="0"/>
                              </a:rPr>
                              <m:t>∑</m:t>
                            </m:r>
                          </m:e>
                          <m:lim>
                            <m:r>
                              <a:rPr lang="en-US" altLang="zh-CN" sz="2800" i="1">
                                <a:solidFill>
                                  <a:srgbClr val="000000"/>
                                </a:solidFill>
                                <a:latin typeface="Cambria Math" panose="02040503050406030204" pitchFamily="18" charset="0"/>
                                <a:cs typeface="Times New Roman" panose="02020603050405020304" pitchFamily="18" charset="0"/>
                              </a:rPr>
                              <m:t>𝑖</m:t>
                            </m:r>
                            <m:r>
                              <a:rPr lang="en-US" altLang="zh-CN" sz="2800">
                                <a:solidFill>
                                  <a:srgbClr val="000000"/>
                                </a:solidFill>
                                <a:latin typeface="Cambria Math" panose="02040503050406030204" pitchFamily="18" charset="0"/>
                                <a:cs typeface="Times New Roman" panose="02020603050405020304" pitchFamily="18" charset="0"/>
                              </a:rPr>
                              <m:t>=1</m:t>
                            </m:r>
                          </m:lim>
                        </m:limLow>
                      </m:e>
                      <m:lim>
                        <m:r>
                          <a:rPr lang="en-US" altLang="zh-CN" sz="2800">
                            <a:solidFill>
                              <a:srgbClr val="000000"/>
                            </a:solidFill>
                            <a:latin typeface="Cambria Math" panose="02040503050406030204" pitchFamily="18" charset="0"/>
                            <a:cs typeface="Times New Roman" panose="02020603050405020304" pitchFamily="18" charset="0"/>
                          </a:rPr>
                          <m:t>10</m:t>
                        </m:r>
                      </m:lim>
                    </m:limUpp>
                  </m:oMath>
                </a14:m>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230,</a:t>
                </a:r>
                <a14:m>
                  <m:oMath xmlns:m="http://schemas.openxmlformats.org/officeDocument/2006/math">
                    <m:limUpp>
                      <m:limUp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UppPr>
                      <m:e>
                        <m:limLow>
                          <m:limLow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LowPr>
                          <m:e>
                            <m:r>
                              <m:rPr>
                                <m:nor/>
                              </m:rPr>
                              <a:rPr lang="en-US" altLang="zh-CN" sz="2800">
                                <a:solidFill>
                                  <a:srgbClr val="000000"/>
                                </a:solidFill>
                                <a:latin typeface="Cambria Math" panose="02040503050406030204" pitchFamily="18" charset="0"/>
                                <a:cs typeface="Times New Roman" panose="02020603050405020304" pitchFamily="18" charset="0"/>
                              </a:rPr>
                              <m:t>∑</m:t>
                            </m:r>
                          </m:e>
                          <m:lim>
                            <m:r>
                              <a:rPr lang="en-US" altLang="zh-CN" sz="2800" i="1">
                                <a:solidFill>
                                  <a:srgbClr val="000000"/>
                                </a:solidFill>
                                <a:latin typeface="Cambria Math" panose="02040503050406030204" pitchFamily="18" charset="0"/>
                                <a:cs typeface="Times New Roman" panose="02020603050405020304" pitchFamily="18" charset="0"/>
                              </a:rPr>
                              <m:t>𝑖</m:t>
                            </m:r>
                            <m:r>
                              <a:rPr lang="en-US" altLang="zh-CN" sz="2800">
                                <a:solidFill>
                                  <a:srgbClr val="000000"/>
                                </a:solidFill>
                                <a:latin typeface="Cambria Math" panose="02040503050406030204" pitchFamily="18" charset="0"/>
                                <a:cs typeface="Times New Roman" panose="02020603050405020304" pitchFamily="18" charset="0"/>
                              </a:rPr>
                              <m:t>=1</m:t>
                            </m:r>
                          </m:lim>
                        </m:limLow>
                      </m:e>
                      <m:lim>
                        <m:r>
                          <a:rPr lang="en-US" altLang="zh-CN" sz="2800">
                            <a:solidFill>
                              <a:srgbClr val="000000"/>
                            </a:solidFill>
                            <a:latin typeface="Cambria Math" panose="02040503050406030204" pitchFamily="18" charset="0"/>
                            <a:cs typeface="Times New Roman" panose="02020603050405020304" pitchFamily="18" charset="0"/>
                          </a:rPr>
                          <m:t>10</m:t>
                        </m:r>
                      </m:lim>
                    </m:limUpp>
                  </m:oMath>
                </a14:m>
                <a:r>
                  <a:rPr lang="en-US" altLang="zh-CN" sz="2800" i="1">
                    <a:solidFill>
                      <a:srgbClr val="000000"/>
                    </a:solidFill>
                    <a:latin typeface="Times New Roman" panose="02020603050405020304" pitchFamily="18" charset="0"/>
                    <a:cs typeface="Times New Roman" panose="02020603050405020304" pitchFamily="18" charset="0"/>
                  </a:rPr>
                  <a:t>t</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569</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a:t>
                </a:r>
                <a14:m>
                  <m:oMath xmlns:m="http://schemas.openxmlformats.org/officeDocument/2006/math">
                    <m:limUpp>
                      <m:limUp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UppPr>
                      <m:e>
                        <m:limLow>
                          <m:limLow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limLowPr>
                          <m:e>
                            <m:r>
                              <m:rPr>
                                <m:nor/>
                              </m:rPr>
                              <a:rPr lang="en-US" altLang="zh-CN" sz="2800">
                                <a:solidFill>
                                  <a:srgbClr val="000000"/>
                                </a:solidFill>
                                <a:latin typeface="Cambria Math" panose="02040503050406030204" pitchFamily="18" charset="0"/>
                                <a:cs typeface="Times New Roman" panose="02020603050405020304" pitchFamily="18" charset="0"/>
                              </a:rPr>
                              <m:t>∑</m:t>
                            </m:r>
                          </m:e>
                          <m:lim>
                            <m:r>
                              <a:rPr lang="en-US" altLang="zh-CN" sz="2800" i="1">
                                <a:solidFill>
                                  <a:srgbClr val="000000"/>
                                </a:solidFill>
                                <a:latin typeface="Cambria Math" panose="02040503050406030204" pitchFamily="18" charset="0"/>
                                <a:cs typeface="Times New Roman" panose="02020603050405020304" pitchFamily="18" charset="0"/>
                              </a:rPr>
                              <m:t>𝑖</m:t>
                            </m:r>
                            <m:r>
                              <a:rPr lang="en-US" altLang="zh-CN" sz="2800">
                                <a:solidFill>
                                  <a:srgbClr val="000000"/>
                                </a:solidFill>
                                <a:latin typeface="Cambria Math" panose="02040503050406030204" pitchFamily="18" charset="0"/>
                                <a:cs typeface="Times New Roman" panose="02020603050405020304" pitchFamily="18" charset="0"/>
                              </a:rPr>
                              <m:t>=1</m:t>
                            </m:r>
                          </m:lim>
                        </m:limLow>
                      </m:e>
                      <m:lim>
                        <m:r>
                          <a:rPr lang="en-US" altLang="zh-CN" sz="2800">
                            <a:solidFill>
                              <a:srgbClr val="000000"/>
                            </a:solidFill>
                            <a:latin typeface="Cambria Math" panose="02040503050406030204" pitchFamily="18" charset="0"/>
                            <a:cs typeface="Times New Roman" panose="02020603050405020304" pitchFamily="18" charset="0"/>
                          </a:rPr>
                          <m:t>10</m:t>
                        </m:r>
                      </m:lim>
                    </m:limUpp>
                    <m:sSubSup>
                      <m:sSub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solidFill>
                              <a:srgbClr val="000000"/>
                            </a:solidFill>
                            <a:latin typeface="Cambria Math" panose="02040503050406030204" pitchFamily="18" charset="0"/>
                            <a:cs typeface="Times New Roman" panose="02020603050405020304" pitchFamily="18" charset="0"/>
                          </a:rPr>
                          <m:t>𝑡</m:t>
                        </m:r>
                      </m:e>
                      <m:sub>
                        <m:r>
                          <a:rPr lang="en-US" altLang="zh-CN" sz="2800" i="1">
                            <a:solidFill>
                              <a:srgbClr val="000000"/>
                            </a:solidFill>
                            <a:latin typeface="Cambria Math" panose="02040503050406030204" pitchFamily="18" charset="0"/>
                            <a:cs typeface="Times New Roman" panose="02020603050405020304" pitchFamily="18" charset="0"/>
                          </a:rPr>
                          <m:t>𝑖</m:t>
                        </m:r>
                      </m:sub>
                      <m:sup>
                        <m:r>
                          <a:rPr lang="en-US" altLang="zh-CN" sz="2800">
                            <a:solidFill>
                              <a:srgbClr val="000000"/>
                            </a:solidFill>
                            <a:latin typeface="Cambria Math" panose="02040503050406030204" pitchFamily="18" charset="0"/>
                            <a:cs typeface="Times New Roman" panose="02020603050405020304" pitchFamily="18" charset="0"/>
                          </a:rPr>
                          <m:t>2</m:t>
                        </m:r>
                      </m:sup>
                    </m:sSubSup>
                  </m:oMath>
                </a14:m>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92</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381000" y="521757"/>
                <a:ext cx="11430000" cy="4823885"/>
              </a:xfrm>
              <a:prstGeom prst="rect">
                <a:avLst/>
              </a:prstGeom>
              <a:blipFill rotWithShape="0">
                <a:blip r:embed="rId2"/>
                <a:stretch>
                  <a:fillRect l="-1120" t="-379" r="-4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697587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QMX3TRAX36.eps" descr="id:2147515638;FounderCES"/>
          <p:cNvPicPr/>
          <p:nvPr/>
        </p:nvPicPr>
        <p:blipFill>
          <a:blip r:embed="rId2">
            <a:clrChange>
              <a:clrFrom>
                <a:srgbClr val="FFFFFF"/>
              </a:clrFrom>
              <a:clrTo>
                <a:srgbClr val="FFFFFF">
                  <a:alpha val="0"/>
                </a:srgbClr>
              </a:clrTo>
            </a:clrChange>
          </a:blip>
          <a:stretch>
            <a:fillRect/>
          </a:stretch>
        </p:blipFill>
        <p:spPr>
          <a:xfrm>
            <a:off x="2795601" y="369507"/>
            <a:ext cx="7057316" cy="4157862"/>
          </a:xfrm>
          <a:prstGeom prst="rect">
            <a:avLst/>
          </a:prstGeom>
        </p:spPr>
      </p:pic>
      <p:sp>
        <p:nvSpPr>
          <p:cNvPr id="7" name="矩形 6"/>
          <p:cNvSpPr>
            <a:spLocks noChangeAspect="1"/>
          </p:cNvSpPr>
          <p:nvPr/>
        </p:nvSpPr>
        <p:spPr>
          <a:xfrm>
            <a:off x="381000" y="4437928"/>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根据所给的统计量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求模型</a:t>
            </a: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cs typeface="Times New Roman" panose="02020603050405020304" pitchFamily="18" charset="0"/>
              </a:rPr>
              <a:t>中</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关于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的回归方程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分别利用这两个回归模型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预测投资金额为</a:t>
            </a:r>
            <a:r>
              <a:rPr lang="en-US" altLang="zh-CN" sz="2800">
                <a:solidFill>
                  <a:srgbClr val="000000"/>
                </a:solidFill>
                <a:latin typeface="Times New Roman" panose="02020603050405020304" pitchFamily="18" charset="0"/>
                <a:cs typeface="Times New Roman" panose="02020603050405020304" pitchFamily="18" charset="0"/>
              </a:rPr>
              <a:t>20</a:t>
            </a:r>
            <a:r>
              <a:rPr lang="zh-CN" altLang="zh-CN" sz="2800">
                <a:solidFill>
                  <a:srgbClr val="000000"/>
                </a:solidFill>
                <a:latin typeface="Times New Roman" panose="02020603050405020304" pitchFamily="18" charset="0"/>
                <a:cs typeface="Times New Roman" panose="02020603050405020304" pitchFamily="18" charset="0"/>
              </a:rPr>
              <a:t>万元时的年利润增</a:t>
            </a:r>
            <a:r>
              <a:rPr lang="zh-CN" altLang="zh-CN" sz="2800" smtClean="0">
                <a:solidFill>
                  <a:srgbClr val="000000"/>
                </a:solidFill>
                <a:latin typeface="Times New Roman" panose="02020603050405020304" pitchFamily="18" charset="0"/>
                <a:cs typeface="Times New Roman" panose="02020603050405020304" pitchFamily="18" charset="0"/>
              </a:rPr>
              <a:t>量</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8300736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41468874"/>
              </p:ext>
            </p:extLst>
          </p:nvPr>
        </p:nvGraphicFramePr>
        <p:xfrm>
          <a:off x="458424" y="133216"/>
          <a:ext cx="11275153" cy="2057810"/>
        </p:xfrm>
        <a:graphic>
          <a:graphicData uri="http://schemas.openxmlformats.org/presentationml/2006/ole">
            <mc:AlternateContent xmlns:mc="http://schemas.openxmlformats.org/markup-compatibility/2006">
              <mc:Choice xmlns:v="urn:schemas-microsoft-com:vml" Requires="v">
                <p:oleObj spid="_x0000_s51224" name="文档" r:id="rId4" imgW="4510061" imgH="823124" progId="Word.Document.12">
                  <p:embed/>
                </p:oleObj>
              </mc:Choice>
              <mc:Fallback>
                <p:oleObj name="文档" r:id="rId4" imgW="4510061" imgH="823124" progId="Word.Document.12">
                  <p:embed/>
                  <p:pic>
                    <p:nvPicPr>
                      <p:cNvPr id="0" name=""/>
                      <p:cNvPicPr/>
                      <p:nvPr/>
                    </p:nvPicPr>
                    <p:blipFill>
                      <a:blip r:embed="rId5"/>
                      <a:stretch>
                        <a:fillRect/>
                      </a:stretch>
                    </p:blipFill>
                    <p:spPr>
                      <a:xfrm>
                        <a:off x="458424" y="133216"/>
                        <a:ext cx="11275153" cy="205781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590332360"/>
              </p:ext>
            </p:extLst>
          </p:nvPr>
        </p:nvGraphicFramePr>
        <p:xfrm>
          <a:off x="458424" y="2095313"/>
          <a:ext cx="11275153" cy="4462495"/>
        </p:xfrm>
        <a:graphic>
          <a:graphicData uri="http://schemas.openxmlformats.org/presentationml/2006/ole">
            <mc:AlternateContent xmlns:mc="http://schemas.openxmlformats.org/markup-compatibility/2006">
              <mc:Choice xmlns:v="urn:schemas-microsoft-com:vml" Requires="v">
                <p:oleObj spid="_x0000_s51225" name="文档" r:id="rId7" imgW="4510061" imgH="1784998" progId="Word.Document.12">
                  <p:embed/>
                </p:oleObj>
              </mc:Choice>
              <mc:Fallback>
                <p:oleObj name="文档" r:id="rId7" imgW="4510061" imgH="1784998" progId="Word.Document.12">
                  <p:embed/>
                  <p:pic>
                    <p:nvPicPr>
                      <p:cNvPr id="0" name=""/>
                      <p:cNvPicPr/>
                      <p:nvPr/>
                    </p:nvPicPr>
                    <p:blipFill>
                      <a:blip r:embed="rId8"/>
                      <a:stretch>
                        <a:fillRect/>
                      </a:stretch>
                    </p:blipFill>
                    <p:spPr>
                      <a:xfrm>
                        <a:off x="458424" y="2095313"/>
                        <a:ext cx="11275153" cy="4462495"/>
                      </a:xfrm>
                      <a:prstGeom prst="rect">
                        <a:avLst/>
                      </a:prstGeom>
                    </p:spPr>
                  </p:pic>
                </p:oleObj>
              </mc:Fallback>
            </mc:AlternateContent>
          </a:graphicData>
        </a:graphic>
      </p:graphicFrame>
    </p:spTree>
    <p:extLst>
      <p:ext uri="{BB962C8B-B14F-4D97-AF65-F5344CB8AC3E}">
        <p14:creationId xmlns:p14="http://schemas.microsoft.com/office/powerpoint/2010/main" val="1455779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116431564"/>
              </p:ext>
            </p:extLst>
          </p:nvPr>
        </p:nvGraphicFramePr>
        <p:xfrm>
          <a:off x="458424" y="879328"/>
          <a:ext cx="11275153" cy="4264283"/>
        </p:xfrm>
        <a:graphic>
          <a:graphicData uri="http://schemas.openxmlformats.org/presentationml/2006/ole">
            <mc:AlternateContent xmlns:mc="http://schemas.openxmlformats.org/markup-compatibility/2006">
              <mc:Choice xmlns:v="urn:schemas-microsoft-com:vml" Requires="v">
                <p:oleObj spid="_x0000_s52237" name="文档" r:id="rId4" imgW="4510061" imgH="1705713" progId="Word.Document.12">
                  <p:embed/>
                </p:oleObj>
              </mc:Choice>
              <mc:Fallback>
                <p:oleObj name="文档" r:id="rId4" imgW="4510061" imgH="1705713" progId="Word.Document.12">
                  <p:embed/>
                  <p:pic>
                    <p:nvPicPr>
                      <p:cNvPr id="0" name=""/>
                      <p:cNvPicPr/>
                      <p:nvPr/>
                    </p:nvPicPr>
                    <p:blipFill>
                      <a:blip r:embed="rId5"/>
                      <a:stretch>
                        <a:fillRect/>
                      </a:stretch>
                    </p:blipFill>
                    <p:spPr>
                      <a:xfrm>
                        <a:off x="458424" y="879328"/>
                        <a:ext cx="11275153" cy="4264283"/>
                      </a:xfrm>
                      <a:prstGeom prst="rect">
                        <a:avLst/>
                      </a:prstGeom>
                    </p:spPr>
                  </p:pic>
                </p:oleObj>
              </mc:Fallback>
            </mc:AlternateContent>
          </a:graphicData>
        </a:graphic>
      </p:graphicFrame>
    </p:spTree>
    <p:extLst>
      <p:ext uri="{BB962C8B-B14F-4D97-AF65-F5344CB8AC3E}">
        <p14:creationId xmlns:p14="http://schemas.microsoft.com/office/powerpoint/2010/main" val="34840794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 y="151371"/>
            <a:ext cx="11336478" cy="433754"/>
            <a:chOff x="3048000" y="2286000"/>
            <a:chExt cx="4813646" cy="457200"/>
          </a:xfrm>
        </p:grpSpPr>
        <p:sp>
          <p:nvSpPr>
            <p:cNvPr id="6" name="矩形 5"/>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rPr>
                <a:t> </a:t>
              </a:r>
              <a:endParaRPr lang="zh-CN" altLang="en-US" sz="2800" b="1" dirty="0" smtClean="0">
                <a:solidFill>
                  <a:schemeClr val="bg1"/>
                </a:solidFill>
              </a:endParaRPr>
            </a:p>
          </p:txBody>
        </p:sp>
        <p:sp>
          <p:nvSpPr>
            <p:cNvPr id="8" name="矩形 7"/>
            <p:cNvSpPr/>
            <p:nvPr/>
          </p:nvSpPr>
          <p:spPr>
            <a:xfrm>
              <a:off x="3345506" y="2286000"/>
              <a:ext cx="4516140"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易错辨析</a:t>
              </a:r>
              <a:endParaRPr lang="zh-CN" altLang="en-US" sz="2800" b="1" dirty="0">
                <a:solidFill>
                  <a:schemeClr val="bg1"/>
                </a:solidFill>
              </a:endParaRPr>
            </a:p>
          </p:txBody>
        </p:sp>
      </p:grpSp>
      <p:sp>
        <p:nvSpPr>
          <p:cNvPr id="2" name="矩形 1"/>
          <p:cNvSpPr>
            <a:spLocks noChangeAspect="1"/>
          </p:cNvSpPr>
          <p:nvPr/>
        </p:nvSpPr>
        <p:spPr>
          <a:xfrm>
            <a:off x="381000" y="872799"/>
            <a:ext cx="11430000" cy="4013406"/>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混淆</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致错</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【典例】</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假设学生在初一和初二的数学成绩是线性相关的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名学生初一数学成绩</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和初二数学成绩</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列表如下</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试求初一和初二数学成绩间的经验回归方程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2925921058"/>
              </p:ext>
            </p:extLst>
          </p:nvPr>
        </p:nvGraphicFramePr>
        <p:xfrm>
          <a:off x="381000" y="2769165"/>
          <a:ext cx="11430001" cy="1280160"/>
        </p:xfrm>
        <a:graphic>
          <a:graphicData uri="http://schemas.openxmlformats.org/drawingml/2006/table">
            <a:tbl>
              <a:tblPr firstRow="1" firstCol="1" bandRow="1"/>
              <a:tblGrid>
                <a:gridCol w="1039091"/>
                <a:gridCol w="1039091"/>
                <a:gridCol w="1039091"/>
                <a:gridCol w="1039091"/>
                <a:gridCol w="1039091"/>
                <a:gridCol w="1039091"/>
                <a:gridCol w="1039091"/>
                <a:gridCol w="1039091"/>
                <a:gridCol w="1039091"/>
                <a:gridCol w="1039091"/>
                <a:gridCol w="1039091"/>
              </a:tblGrid>
              <a:tr h="163830">
                <a:tc>
                  <a:txBody>
                    <a:bodyPr/>
                    <a:lstStyle/>
                    <a:p>
                      <a:pPr algn="ctr">
                        <a:lnSpc>
                          <a:spcPct val="15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2085">
                <a:tc>
                  <a:txBody>
                    <a:bodyPr/>
                    <a:lstStyle/>
                    <a:p>
                      <a:pPr algn="ctr">
                        <a:lnSpc>
                          <a:spcPct val="150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5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249546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094671837"/>
              </p:ext>
            </p:extLst>
          </p:nvPr>
        </p:nvGraphicFramePr>
        <p:xfrm>
          <a:off x="458424" y="816792"/>
          <a:ext cx="11275153" cy="4944160"/>
        </p:xfrm>
        <a:graphic>
          <a:graphicData uri="http://schemas.openxmlformats.org/presentationml/2006/ole">
            <mc:AlternateContent xmlns:mc="http://schemas.openxmlformats.org/markup-compatibility/2006">
              <mc:Choice xmlns:v="urn:schemas-microsoft-com:vml" Requires="v">
                <p:oleObj spid="_x0000_s33810" name="文档" r:id="rId4" imgW="4510061" imgH="1977664" progId="Word.Document.12">
                  <p:embed/>
                </p:oleObj>
              </mc:Choice>
              <mc:Fallback>
                <p:oleObj name="文档" r:id="rId4" imgW="4510061" imgH="1977664" progId="Word.Document.12">
                  <p:embed/>
                  <p:pic>
                    <p:nvPicPr>
                      <p:cNvPr id="0" name=""/>
                      <p:cNvPicPr/>
                      <p:nvPr/>
                    </p:nvPicPr>
                    <p:blipFill>
                      <a:blip r:embed="rId5"/>
                      <a:stretch>
                        <a:fillRect/>
                      </a:stretch>
                    </p:blipFill>
                    <p:spPr>
                      <a:xfrm>
                        <a:off x="458424" y="816792"/>
                        <a:ext cx="11275153" cy="4944160"/>
                      </a:xfrm>
                      <a:prstGeom prst="rect">
                        <a:avLst/>
                      </a:prstGeom>
                    </p:spPr>
                  </p:pic>
                </p:oleObj>
              </mc:Fallback>
            </mc:AlternateContent>
          </a:graphicData>
        </a:graphic>
      </p:graphicFrame>
    </p:spTree>
    <p:extLst>
      <p:ext uri="{BB962C8B-B14F-4D97-AF65-F5344CB8AC3E}">
        <p14:creationId xmlns:p14="http://schemas.microsoft.com/office/powerpoint/2010/main" val="28128557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54229"/>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以上解答过程中都有哪些错误</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出错的原因是什么</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你如何改正</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你如何防范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145917908"/>
              </p:ext>
            </p:extLst>
          </p:nvPr>
        </p:nvGraphicFramePr>
        <p:xfrm>
          <a:off x="458424" y="1694940"/>
          <a:ext cx="11275153" cy="989193"/>
        </p:xfrm>
        <a:graphic>
          <a:graphicData uri="http://schemas.openxmlformats.org/presentationml/2006/ole">
            <mc:AlternateContent xmlns:mc="http://schemas.openxmlformats.org/markup-compatibility/2006">
              <mc:Choice xmlns:v="urn:schemas-microsoft-com:vml" Requires="v">
                <p:oleObj spid="_x0000_s34850"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1694940"/>
                        <a:ext cx="11275153" cy="989193"/>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768891951"/>
              </p:ext>
            </p:extLst>
          </p:nvPr>
        </p:nvGraphicFramePr>
        <p:xfrm>
          <a:off x="458424" y="2684133"/>
          <a:ext cx="11275153" cy="2966675"/>
        </p:xfrm>
        <a:graphic>
          <a:graphicData uri="http://schemas.openxmlformats.org/presentationml/2006/ole">
            <mc:AlternateContent xmlns:mc="http://schemas.openxmlformats.org/markup-compatibility/2006">
              <mc:Choice xmlns:v="urn:schemas-microsoft-com:vml" Requires="v">
                <p:oleObj spid="_x0000_s34851" name="文档" r:id="rId7" imgW="4510061" imgH="1186670" progId="Word.Document.12">
                  <p:embed/>
                </p:oleObj>
              </mc:Choice>
              <mc:Fallback>
                <p:oleObj name="文档" r:id="rId7" imgW="4510061" imgH="1186670" progId="Word.Document.12">
                  <p:embed/>
                  <p:pic>
                    <p:nvPicPr>
                      <p:cNvPr id="0" name=""/>
                      <p:cNvPicPr/>
                      <p:nvPr/>
                    </p:nvPicPr>
                    <p:blipFill>
                      <a:blip r:embed="rId8"/>
                      <a:stretch>
                        <a:fillRect/>
                      </a:stretch>
                    </p:blipFill>
                    <p:spPr>
                      <a:xfrm>
                        <a:off x="458424" y="2684133"/>
                        <a:ext cx="11275153" cy="2966675"/>
                      </a:xfrm>
                      <a:prstGeom prst="rect">
                        <a:avLst/>
                      </a:prstGeom>
                    </p:spPr>
                  </p:pic>
                </p:oleObj>
              </mc:Fallback>
            </mc:AlternateContent>
          </a:graphicData>
        </a:graphic>
      </p:graphicFrame>
    </p:spTree>
    <p:extLst>
      <p:ext uri="{BB962C8B-B14F-4D97-AF65-F5344CB8AC3E}">
        <p14:creationId xmlns:p14="http://schemas.microsoft.com/office/powerpoint/2010/main" val="3817102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29916276"/>
              </p:ext>
            </p:extLst>
          </p:nvPr>
        </p:nvGraphicFramePr>
        <p:xfrm>
          <a:off x="458424" y="1829448"/>
          <a:ext cx="11275153" cy="494148"/>
        </p:xfrm>
        <a:graphic>
          <a:graphicData uri="http://schemas.openxmlformats.org/presentationml/2006/ole">
            <mc:AlternateContent xmlns:mc="http://schemas.openxmlformats.org/markup-compatibility/2006">
              <mc:Choice xmlns:v="urn:schemas-microsoft-com:vml" Requires="v">
                <p:oleObj spid="_x0000_s35874"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829448"/>
                        <a:ext cx="11275153" cy="494148"/>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06801467"/>
              </p:ext>
            </p:extLst>
          </p:nvPr>
        </p:nvGraphicFramePr>
        <p:xfrm>
          <a:off x="458424" y="2464517"/>
          <a:ext cx="11275153" cy="1977485"/>
        </p:xfrm>
        <a:graphic>
          <a:graphicData uri="http://schemas.openxmlformats.org/presentationml/2006/ole">
            <mc:AlternateContent xmlns:mc="http://schemas.openxmlformats.org/markup-compatibility/2006">
              <mc:Choice xmlns:v="urn:schemas-microsoft-com:vml" Requires="v">
                <p:oleObj spid="_x0000_s35875" name="文档" r:id="rId7" imgW="4510061" imgH="790994" progId="Word.Document.12">
                  <p:embed/>
                </p:oleObj>
              </mc:Choice>
              <mc:Fallback>
                <p:oleObj name="文档" r:id="rId7" imgW="4510061" imgH="790994" progId="Word.Document.12">
                  <p:embed/>
                  <p:pic>
                    <p:nvPicPr>
                      <p:cNvPr id="0" name=""/>
                      <p:cNvPicPr/>
                      <p:nvPr/>
                    </p:nvPicPr>
                    <p:blipFill>
                      <a:blip r:embed="rId8"/>
                      <a:stretch>
                        <a:fillRect/>
                      </a:stretch>
                    </p:blipFill>
                    <p:spPr>
                      <a:xfrm>
                        <a:off x="458424" y="2464517"/>
                        <a:ext cx="11275153" cy="1977485"/>
                      </a:xfrm>
                      <a:prstGeom prst="rect">
                        <a:avLst/>
                      </a:prstGeom>
                    </p:spPr>
                  </p:pic>
                </p:oleObj>
              </mc:Fallback>
            </mc:AlternateContent>
          </a:graphicData>
        </a:graphic>
      </p:graphicFrame>
    </p:spTree>
    <p:extLst>
      <p:ext uri="{BB962C8B-B14F-4D97-AF65-F5344CB8AC3E}">
        <p14:creationId xmlns:p14="http://schemas.microsoft.com/office/powerpoint/2010/main" val="1434079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286955488"/>
              </p:ext>
            </p:extLst>
          </p:nvPr>
        </p:nvGraphicFramePr>
        <p:xfrm>
          <a:off x="458424" y="1424162"/>
          <a:ext cx="11275153" cy="2702003"/>
        </p:xfrm>
        <a:graphic>
          <a:graphicData uri="http://schemas.openxmlformats.org/presentationml/2006/ole">
            <mc:AlternateContent xmlns:mc="http://schemas.openxmlformats.org/markup-compatibility/2006">
              <mc:Choice xmlns:v="urn:schemas-microsoft-com:vml" Requires="v">
                <p:oleObj spid="_x0000_s53260" name="文档" r:id="rId4" imgW="4510061" imgH="1082243" progId="Word.Document.12">
                  <p:embed/>
                </p:oleObj>
              </mc:Choice>
              <mc:Fallback>
                <p:oleObj name="文档" r:id="rId4" imgW="4510061" imgH="1082243" progId="Word.Document.12">
                  <p:embed/>
                  <p:pic>
                    <p:nvPicPr>
                      <p:cNvPr id="0" name=""/>
                      <p:cNvPicPr/>
                      <p:nvPr/>
                    </p:nvPicPr>
                    <p:blipFill>
                      <a:blip r:embed="rId5"/>
                      <a:stretch>
                        <a:fillRect/>
                      </a:stretch>
                    </p:blipFill>
                    <p:spPr>
                      <a:xfrm>
                        <a:off x="458424" y="1424162"/>
                        <a:ext cx="11275153" cy="2702003"/>
                      </a:xfrm>
                      <a:prstGeom prst="rect">
                        <a:avLst/>
                      </a:prstGeom>
                    </p:spPr>
                  </p:pic>
                </p:oleObj>
              </mc:Fallback>
            </mc:AlternateContent>
          </a:graphicData>
        </a:graphic>
      </p:graphicFrame>
    </p:spTree>
    <p:extLst>
      <p:ext uri="{BB962C8B-B14F-4D97-AF65-F5344CB8AC3E}">
        <p14:creationId xmlns:p14="http://schemas.microsoft.com/office/powerpoint/2010/main" val="40635823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455063526"/>
              </p:ext>
            </p:extLst>
          </p:nvPr>
        </p:nvGraphicFramePr>
        <p:xfrm>
          <a:off x="458424" y="612199"/>
          <a:ext cx="11275153" cy="4264283"/>
        </p:xfrm>
        <a:graphic>
          <a:graphicData uri="http://schemas.openxmlformats.org/presentationml/2006/ole">
            <mc:AlternateContent xmlns:mc="http://schemas.openxmlformats.org/markup-compatibility/2006">
              <mc:Choice xmlns:v="urn:schemas-microsoft-com:vml" Requires="v">
                <p:oleObj spid="_x0000_s54284" name="文档" r:id="rId4" imgW="4510061" imgH="1705713" progId="Word.Document.12">
                  <p:embed/>
                </p:oleObj>
              </mc:Choice>
              <mc:Fallback>
                <p:oleObj name="文档" r:id="rId4" imgW="4510061" imgH="1705713" progId="Word.Document.12">
                  <p:embed/>
                  <p:pic>
                    <p:nvPicPr>
                      <p:cNvPr id="0" name=""/>
                      <p:cNvPicPr/>
                      <p:nvPr/>
                    </p:nvPicPr>
                    <p:blipFill>
                      <a:blip r:embed="rId5"/>
                      <a:stretch>
                        <a:fillRect/>
                      </a:stretch>
                    </p:blipFill>
                    <p:spPr>
                      <a:xfrm>
                        <a:off x="458424" y="612199"/>
                        <a:ext cx="11275153" cy="4264283"/>
                      </a:xfrm>
                      <a:prstGeom prst="rect">
                        <a:avLst/>
                      </a:prstGeom>
                    </p:spPr>
                  </p:pic>
                </p:oleObj>
              </mc:Fallback>
            </mc:AlternateContent>
          </a:graphicData>
        </a:graphic>
      </p:graphicFrame>
      <p:sp>
        <p:nvSpPr>
          <p:cNvPr id="3" name="矩形 2"/>
          <p:cNvSpPr>
            <a:spLocks noChangeAspect="1"/>
          </p:cNvSpPr>
          <p:nvPr/>
        </p:nvSpPr>
        <p:spPr>
          <a:xfrm>
            <a:off x="381000" y="4876482"/>
            <a:ext cx="1720343"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0</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29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5593178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15874"/>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1</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下表是</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之间的一组数据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关于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的经验回归直线必过点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.(2,2)	</a:t>
            </a:r>
            <a:r>
              <a:rPr lang="en-US" altLang="zh-CN" sz="2800" smtClean="0">
                <a:solidFill>
                  <a:srgbClr val="000000"/>
                </a:solidFill>
                <a:latin typeface="Times New Roman" panose="02020603050405020304" pitchFamily="18" charset="0"/>
                <a:cs typeface="Times New Roman" panose="02020603050405020304" pitchFamily="18" charset="0"/>
              </a:rPr>
              <a:t>  B</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5,2)	C.(1,2)	</a:t>
            </a:r>
            <a:r>
              <a:rPr lang="en-US" altLang="zh-CN" sz="2800" smtClean="0">
                <a:solidFill>
                  <a:srgbClr val="000000"/>
                </a:solidFill>
                <a:latin typeface="Times New Roman" panose="02020603050405020304" pitchFamily="18" charset="0"/>
                <a:cs typeface="Times New Roman" panose="02020603050405020304" pitchFamily="18" charset="0"/>
              </a:rPr>
              <a:t>	D</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5,4)</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195964796"/>
              </p:ext>
            </p:extLst>
          </p:nvPr>
        </p:nvGraphicFramePr>
        <p:xfrm>
          <a:off x="381000" y="1351333"/>
          <a:ext cx="11430000" cy="981456"/>
        </p:xfrm>
        <a:graphic>
          <a:graphicData uri="http://schemas.openxmlformats.org/drawingml/2006/table">
            <a:tbl>
              <a:tblPr firstRow="1" firstCol="1" bandRow="1"/>
              <a:tblGrid>
                <a:gridCol w="2286000"/>
                <a:gridCol w="2286000"/>
                <a:gridCol w="2286000"/>
                <a:gridCol w="2286000"/>
                <a:gridCol w="22860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946171985"/>
              </p:ext>
            </p:extLst>
          </p:nvPr>
        </p:nvGraphicFramePr>
        <p:xfrm>
          <a:off x="458424" y="3408974"/>
          <a:ext cx="11275153" cy="1557910"/>
        </p:xfrm>
        <a:graphic>
          <a:graphicData uri="http://schemas.openxmlformats.org/presentationml/2006/ole">
            <mc:AlternateContent xmlns:mc="http://schemas.openxmlformats.org/markup-compatibility/2006">
              <mc:Choice xmlns:v="urn:schemas-microsoft-com:vml" Requires="v">
                <p:oleObj spid="_x0000_s39951" name="文档" r:id="rId4" imgW="4510061" imgH="623164" progId="Word.Document.12">
                  <p:embed/>
                </p:oleObj>
              </mc:Choice>
              <mc:Fallback>
                <p:oleObj name="文档" r:id="rId4" imgW="4510061" imgH="623164" progId="Word.Document.12">
                  <p:embed/>
                  <p:pic>
                    <p:nvPicPr>
                      <p:cNvPr id="0" name=""/>
                      <p:cNvPicPr/>
                      <p:nvPr/>
                    </p:nvPicPr>
                    <p:blipFill>
                      <a:blip r:embed="rId5"/>
                      <a:stretch>
                        <a:fillRect/>
                      </a:stretch>
                    </p:blipFill>
                    <p:spPr>
                      <a:xfrm>
                        <a:off x="458424" y="3408974"/>
                        <a:ext cx="11275153" cy="1557910"/>
                      </a:xfrm>
                      <a:prstGeom prst="rect">
                        <a:avLst/>
                      </a:prstGeom>
                    </p:spPr>
                  </p:pic>
                </p:oleObj>
              </mc:Fallback>
            </mc:AlternateContent>
          </a:graphicData>
        </a:graphic>
      </p:graphicFrame>
      <p:sp>
        <p:nvSpPr>
          <p:cNvPr id="5" name="矩形 4"/>
          <p:cNvSpPr>
            <a:spLocks noChangeAspect="1"/>
          </p:cNvSpPr>
          <p:nvPr/>
        </p:nvSpPr>
        <p:spPr>
          <a:xfrm>
            <a:off x="381000" y="5077888"/>
            <a:ext cx="135165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D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6008455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25098"/>
            <a:ext cx="7423827"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已知两个线性相关变量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的统计数据如表</a:t>
            </a:r>
            <a:r>
              <a:rPr lang="en-US" altLang="zh-CN" sz="2800"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3841649908"/>
              </p:ext>
            </p:extLst>
          </p:nvPr>
        </p:nvGraphicFramePr>
        <p:xfrm>
          <a:off x="381000" y="1077584"/>
          <a:ext cx="11430000" cy="981456"/>
        </p:xfrm>
        <a:graphic>
          <a:graphicData uri="http://schemas.openxmlformats.org/drawingml/2006/table">
            <a:tbl>
              <a:tblPr firstRow="1" firstCol="1" bandRow="1"/>
              <a:tblGrid>
                <a:gridCol w="1905000"/>
                <a:gridCol w="1905000"/>
                <a:gridCol w="1905000"/>
                <a:gridCol w="1905000"/>
                <a:gridCol w="1905000"/>
                <a:gridCol w="1905000"/>
              </a:tblGrid>
              <a:tr h="16383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2085">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332892005"/>
              </p:ext>
            </p:extLst>
          </p:nvPr>
        </p:nvGraphicFramePr>
        <p:xfrm>
          <a:off x="457200" y="1943100"/>
          <a:ext cx="11280775" cy="2125663"/>
        </p:xfrm>
        <a:graphic>
          <a:graphicData uri="http://schemas.openxmlformats.org/presentationml/2006/ole">
            <mc:AlternateContent xmlns:mc="http://schemas.openxmlformats.org/markup-compatibility/2006">
              <mc:Choice xmlns:v="urn:schemas-microsoft-com:vml" Requires="v">
                <p:oleObj spid="_x0000_s55313" name="文档" r:id="rId4" imgW="4510061" imgH="854839" progId="Word.Document.12">
                  <p:embed/>
                </p:oleObj>
              </mc:Choice>
              <mc:Fallback>
                <p:oleObj name="文档" r:id="rId4" imgW="4510061" imgH="854839" progId="Word.Document.12">
                  <p:embed/>
                  <p:pic>
                    <p:nvPicPr>
                      <p:cNvPr id="0" name=""/>
                      <p:cNvPicPr/>
                      <p:nvPr/>
                    </p:nvPicPr>
                    <p:blipFill>
                      <a:blip r:embed="rId5"/>
                      <a:stretch>
                        <a:fillRect/>
                      </a:stretch>
                    </p:blipFill>
                    <p:spPr>
                      <a:xfrm>
                        <a:off x="457200" y="1943100"/>
                        <a:ext cx="11280775" cy="2125663"/>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366178080"/>
              </p:ext>
            </p:extLst>
          </p:nvPr>
        </p:nvGraphicFramePr>
        <p:xfrm>
          <a:off x="458424" y="3347840"/>
          <a:ext cx="11275153" cy="2553343"/>
        </p:xfrm>
        <a:graphic>
          <a:graphicData uri="http://schemas.openxmlformats.org/presentationml/2006/ole">
            <mc:AlternateContent xmlns:mc="http://schemas.openxmlformats.org/markup-compatibility/2006">
              <mc:Choice xmlns:v="urn:schemas-microsoft-com:vml" Requires="v">
                <p:oleObj spid="_x0000_s55314" name="文档" r:id="rId7" imgW="4510061" imgH="1021337" progId="Word.Document.12">
                  <p:embed/>
                </p:oleObj>
              </mc:Choice>
              <mc:Fallback>
                <p:oleObj name="文档" r:id="rId7" imgW="4510061" imgH="1021337" progId="Word.Document.12">
                  <p:embed/>
                  <p:pic>
                    <p:nvPicPr>
                      <p:cNvPr id="0" name=""/>
                      <p:cNvPicPr/>
                      <p:nvPr/>
                    </p:nvPicPr>
                    <p:blipFill>
                      <a:blip r:embed="rId8"/>
                      <a:stretch>
                        <a:fillRect/>
                      </a:stretch>
                    </p:blipFill>
                    <p:spPr>
                      <a:xfrm>
                        <a:off x="458424" y="3347840"/>
                        <a:ext cx="11275153" cy="2553343"/>
                      </a:xfrm>
                      <a:prstGeom prst="rect">
                        <a:avLst/>
                      </a:prstGeom>
                    </p:spPr>
                  </p:pic>
                </p:oleObj>
              </mc:Fallback>
            </mc:AlternateContent>
          </a:graphicData>
        </a:graphic>
      </p:graphicFrame>
      <p:sp>
        <p:nvSpPr>
          <p:cNvPr id="6" name="矩形 5"/>
          <p:cNvSpPr>
            <a:spLocks noChangeAspect="1"/>
          </p:cNvSpPr>
          <p:nvPr/>
        </p:nvSpPr>
        <p:spPr>
          <a:xfrm>
            <a:off x="381000" y="5782862"/>
            <a:ext cx="133081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B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4374725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228493944"/>
              </p:ext>
            </p:extLst>
          </p:nvPr>
        </p:nvGraphicFramePr>
        <p:xfrm>
          <a:off x="458424" y="941738"/>
          <a:ext cx="11275153" cy="2125728"/>
        </p:xfrm>
        <a:graphic>
          <a:graphicData uri="http://schemas.openxmlformats.org/presentationml/2006/ole">
            <mc:AlternateContent xmlns:mc="http://schemas.openxmlformats.org/markup-compatibility/2006">
              <mc:Choice xmlns:v="urn:schemas-microsoft-com:vml" Requires="v">
                <p:oleObj spid="_x0000_s43052" name="文档" r:id="rId4" imgW="4510061" imgH="850291" progId="Word.Document.12">
                  <p:embed/>
                </p:oleObj>
              </mc:Choice>
              <mc:Fallback>
                <p:oleObj name="文档" r:id="rId4" imgW="4510061" imgH="850291" progId="Word.Document.12">
                  <p:embed/>
                  <p:pic>
                    <p:nvPicPr>
                      <p:cNvPr id="0" name=""/>
                      <p:cNvPicPr/>
                      <p:nvPr/>
                    </p:nvPicPr>
                    <p:blipFill>
                      <a:blip r:embed="rId5"/>
                      <a:stretch>
                        <a:fillRect/>
                      </a:stretch>
                    </p:blipFill>
                    <p:spPr>
                      <a:xfrm>
                        <a:off x="458424" y="941738"/>
                        <a:ext cx="11275153" cy="2125728"/>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912028972"/>
              </p:ext>
            </p:extLst>
          </p:nvPr>
        </p:nvGraphicFramePr>
        <p:xfrm>
          <a:off x="458424" y="3046508"/>
          <a:ext cx="11275153" cy="989193"/>
        </p:xfrm>
        <a:graphic>
          <a:graphicData uri="http://schemas.openxmlformats.org/presentationml/2006/ole">
            <mc:AlternateContent xmlns:mc="http://schemas.openxmlformats.org/markup-compatibility/2006">
              <mc:Choice xmlns:v="urn:schemas-microsoft-com:vml" Requires="v">
                <p:oleObj spid="_x0000_s43053" name="文档" r:id="rId7" imgW="4510061" imgH="395677" progId="Word.Document.12">
                  <p:embed/>
                </p:oleObj>
              </mc:Choice>
              <mc:Fallback>
                <p:oleObj name="文档" r:id="rId7" imgW="4510061" imgH="395677" progId="Word.Document.12">
                  <p:embed/>
                  <p:pic>
                    <p:nvPicPr>
                      <p:cNvPr id="0" name=""/>
                      <p:cNvPicPr/>
                      <p:nvPr/>
                    </p:nvPicPr>
                    <p:blipFill>
                      <a:blip r:embed="rId8"/>
                      <a:stretch>
                        <a:fillRect/>
                      </a:stretch>
                    </p:blipFill>
                    <p:spPr>
                      <a:xfrm>
                        <a:off x="458424" y="3046508"/>
                        <a:ext cx="11275153" cy="989193"/>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144544853"/>
              </p:ext>
            </p:extLst>
          </p:nvPr>
        </p:nvGraphicFramePr>
        <p:xfrm>
          <a:off x="458424" y="4013929"/>
          <a:ext cx="11275153" cy="989193"/>
        </p:xfrm>
        <a:graphic>
          <a:graphicData uri="http://schemas.openxmlformats.org/presentationml/2006/ole">
            <mc:AlternateContent xmlns:mc="http://schemas.openxmlformats.org/markup-compatibility/2006">
              <mc:Choice xmlns:v="urn:schemas-microsoft-com:vml" Requires="v">
                <p:oleObj spid="_x0000_s43054" name="文档" r:id="rId10" imgW="4510061" imgH="395677" progId="Word.Document.12">
                  <p:embed/>
                </p:oleObj>
              </mc:Choice>
              <mc:Fallback>
                <p:oleObj name="文档" r:id="rId10" imgW="4510061" imgH="395677" progId="Word.Document.12">
                  <p:embed/>
                  <p:pic>
                    <p:nvPicPr>
                      <p:cNvPr id="0" name=""/>
                      <p:cNvPicPr/>
                      <p:nvPr/>
                    </p:nvPicPr>
                    <p:blipFill>
                      <a:blip r:embed="rId11"/>
                      <a:stretch>
                        <a:fillRect/>
                      </a:stretch>
                    </p:blipFill>
                    <p:spPr>
                      <a:xfrm>
                        <a:off x="458424" y="4013929"/>
                        <a:ext cx="11275153" cy="989193"/>
                      </a:xfrm>
                      <a:prstGeom prst="rect">
                        <a:avLst/>
                      </a:prstGeom>
                    </p:spPr>
                  </p:pic>
                </p:oleObj>
              </mc:Fallback>
            </mc:AlternateContent>
          </a:graphicData>
        </a:graphic>
      </p:graphicFrame>
    </p:spTree>
    <p:extLst>
      <p:ext uri="{BB962C8B-B14F-4D97-AF65-F5344CB8AC3E}">
        <p14:creationId xmlns:p14="http://schemas.microsoft.com/office/powerpoint/2010/main" val="13911135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660454"/>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某工厂为了对新研发的一种产品进行合理定价</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将该产品按事先拟定的价格进行试销</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得到如下数据</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a:solidFill>
                <a:srgbClr val="000000"/>
              </a:solidFill>
              <a:effectLst/>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预计在今后的销售中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销量与单价仍然服从</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中的关系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且该产品的成本是</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元</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为使工厂获得最大利润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该产品的单价应定为多少元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利润</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销售收入</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成本</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1944876361"/>
              </p:ext>
            </p:extLst>
          </p:nvPr>
        </p:nvGraphicFramePr>
        <p:xfrm>
          <a:off x="381000" y="1998605"/>
          <a:ext cx="11429999" cy="981456"/>
        </p:xfrm>
        <a:graphic>
          <a:graphicData uri="http://schemas.openxmlformats.org/drawingml/2006/table">
            <a:tbl>
              <a:tblPr firstRow="1" firstCol="1" bandRow="1"/>
              <a:tblGrid>
                <a:gridCol w="1632857"/>
                <a:gridCol w="1632857"/>
                <a:gridCol w="1632857"/>
                <a:gridCol w="1632857"/>
                <a:gridCol w="1632857"/>
                <a:gridCol w="1632857"/>
                <a:gridCol w="1632857"/>
              </a:tblGrid>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单价</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元</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销量</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件</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344470117"/>
              </p:ext>
            </p:extLst>
          </p:nvPr>
        </p:nvGraphicFramePr>
        <p:xfrm>
          <a:off x="458424" y="3024503"/>
          <a:ext cx="11275153" cy="989193"/>
        </p:xfrm>
        <a:graphic>
          <a:graphicData uri="http://schemas.openxmlformats.org/presentationml/2006/ole">
            <mc:AlternateContent xmlns:mc="http://schemas.openxmlformats.org/markup-compatibility/2006">
              <mc:Choice xmlns:v="urn:schemas-microsoft-com:vml" Requires="v">
                <p:oleObj spid="_x0000_s40975"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3024503"/>
                        <a:ext cx="11275153" cy="989193"/>
                      </a:xfrm>
                      <a:prstGeom prst="rect">
                        <a:avLst/>
                      </a:prstGeom>
                    </p:spPr>
                  </p:pic>
                </p:oleObj>
              </mc:Fallback>
            </mc:AlternateContent>
          </a:graphicData>
        </a:graphic>
      </p:graphicFrame>
    </p:spTree>
    <p:extLst>
      <p:ext uri="{BB962C8B-B14F-4D97-AF65-F5344CB8AC3E}">
        <p14:creationId xmlns:p14="http://schemas.microsoft.com/office/powerpoint/2010/main" val="9657160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751717042"/>
              </p:ext>
            </p:extLst>
          </p:nvPr>
        </p:nvGraphicFramePr>
        <p:xfrm>
          <a:off x="458424" y="837340"/>
          <a:ext cx="11275153" cy="4944160"/>
        </p:xfrm>
        <a:graphic>
          <a:graphicData uri="http://schemas.openxmlformats.org/presentationml/2006/ole">
            <mc:AlternateContent xmlns:mc="http://schemas.openxmlformats.org/markup-compatibility/2006">
              <mc:Choice xmlns:v="urn:schemas-microsoft-com:vml" Requires="v">
                <p:oleObj spid="_x0000_s44048" name="文档" r:id="rId4" imgW="4510061" imgH="1977664" progId="Word.Document.12">
                  <p:embed/>
                </p:oleObj>
              </mc:Choice>
              <mc:Fallback>
                <p:oleObj name="文档" r:id="rId4" imgW="4510061" imgH="1977664" progId="Word.Document.12">
                  <p:embed/>
                  <p:pic>
                    <p:nvPicPr>
                      <p:cNvPr id="0" name=""/>
                      <p:cNvPicPr/>
                      <p:nvPr/>
                    </p:nvPicPr>
                    <p:blipFill>
                      <a:blip r:embed="rId5"/>
                      <a:stretch>
                        <a:fillRect/>
                      </a:stretch>
                    </p:blipFill>
                    <p:spPr>
                      <a:xfrm>
                        <a:off x="458424" y="837340"/>
                        <a:ext cx="11275153" cy="4944160"/>
                      </a:xfrm>
                      <a:prstGeom prst="rect">
                        <a:avLst/>
                      </a:prstGeom>
                    </p:spPr>
                  </p:pic>
                </p:oleObj>
              </mc:Fallback>
            </mc:AlternateContent>
          </a:graphicData>
        </a:graphic>
      </p:graphicFrame>
    </p:spTree>
    <p:extLst>
      <p:ext uri="{BB962C8B-B14F-4D97-AF65-F5344CB8AC3E}">
        <p14:creationId xmlns:p14="http://schemas.microsoft.com/office/powerpoint/2010/main" val="22326757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797341763"/>
              </p:ext>
            </p:extLst>
          </p:nvPr>
        </p:nvGraphicFramePr>
        <p:xfrm>
          <a:off x="458424" y="2282899"/>
          <a:ext cx="11275153" cy="2546203"/>
        </p:xfrm>
        <a:graphic>
          <a:graphicData uri="http://schemas.openxmlformats.org/presentationml/2006/ole">
            <mc:AlternateContent xmlns:mc="http://schemas.openxmlformats.org/markup-compatibility/2006">
              <mc:Choice xmlns:v="urn:schemas-microsoft-com:vml" Requires="v">
                <p:oleObj spid="_x0000_s45072" name="文档" r:id="rId4" imgW="4510061" imgH="1018481" progId="Word.Document.12">
                  <p:embed/>
                </p:oleObj>
              </mc:Choice>
              <mc:Fallback>
                <p:oleObj name="文档" r:id="rId4" imgW="4510061" imgH="1018481" progId="Word.Document.12">
                  <p:embed/>
                  <p:pic>
                    <p:nvPicPr>
                      <p:cNvPr id="0" name=""/>
                      <p:cNvPicPr/>
                      <p:nvPr/>
                    </p:nvPicPr>
                    <p:blipFill>
                      <a:blip r:embed="rId5"/>
                      <a:stretch>
                        <a:fillRect/>
                      </a:stretch>
                    </p:blipFill>
                    <p:spPr>
                      <a:xfrm>
                        <a:off x="458424" y="2282899"/>
                        <a:ext cx="11275153" cy="2546203"/>
                      </a:xfrm>
                      <a:prstGeom prst="rect">
                        <a:avLst/>
                      </a:prstGeom>
                    </p:spPr>
                  </p:pic>
                </p:oleObj>
              </mc:Fallback>
            </mc:AlternateContent>
          </a:graphicData>
        </a:graphic>
      </p:graphicFrame>
    </p:spTree>
    <p:extLst>
      <p:ext uri="{BB962C8B-B14F-4D97-AF65-F5344CB8AC3E}">
        <p14:creationId xmlns:p14="http://schemas.microsoft.com/office/powerpoint/2010/main" val="11562439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6" name="文本框 5"/>
          <p:cNvSpPr txBox="1"/>
          <p:nvPr/>
        </p:nvSpPr>
        <p:spPr>
          <a:xfrm>
            <a:off x="2624485" y="2222090"/>
            <a:ext cx="6648062" cy="1015663"/>
          </a:xfrm>
          <a:prstGeom prst="rect">
            <a:avLst/>
          </a:prstGeom>
          <a:noFill/>
        </p:spPr>
        <p:txBody>
          <a:bodyPr wrap="square" rtlCol="0">
            <a:spAutoFit/>
          </a:bodyPr>
          <a:lstStyle/>
          <a:p>
            <a:pPr algn="ctr"/>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120</TotalTime>
  <Words>2839</Words>
  <Application>Microsoft Office PowerPoint</Application>
  <PresentationFormat>宽屏</PresentationFormat>
  <Paragraphs>323</Paragraphs>
  <Slides>56</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56</vt:i4>
      </vt:variant>
    </vt:vector>
  </HeadingPairs>
  <TitlesOfParts>
    <vt:vector size="76"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Windows User</cp:lastModifiedBy>
  <cp:revision>45</cp:revision>
  <dcterms:created xsi:type="dcterms:W3CDTF">2021-08-30T08:30:26Z</dcterms:created>
  <dcterms:modified xsi:type="dcterms:W3CDTF">2025-08-20T01:08:46Z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