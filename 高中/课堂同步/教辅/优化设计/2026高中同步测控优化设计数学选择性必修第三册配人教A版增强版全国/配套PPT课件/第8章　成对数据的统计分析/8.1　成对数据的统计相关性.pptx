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677" r:id="rId2"/>
    <p:sldId id="488" r:id="rId3"/>
    <p:sldId id="494" r:id="rId4"/>
    <p:sldId id="392" r:id="rId5"/>
    <p:sldId id="686" r:id="rId6"/>
    <p:sldId id="756" r:id="rId7"/>
    <p:sldId id="757" r:id="rId8"/>
    <p:sldId id="758" r:id="rId9"/>
    <p:sldId id="759" r:id="rId10"/>
    <p:sldId id="760" r:id="rId11"/>
    <p:sldId id="761" r:id="rId12"/>
    <p:sldId id="762" r:id="rId13"/>
    <p:sldId id="763" r:id="rId14"/>
    <p:sldId id="764" r:id="rId15"/>
    <p:sldId id="776" r:id="rId16"/>
    <p:sldId id="407" r:id="rId17"/>
    <p:sldId id="394" r:id="rId18"/>
    <p:sldId id="766" r:id="rId19"/>
    <p:sldId id="767" r:id="rId20"/>
    <p:sldId id="768" r:id="rId21"/>
    <p:sldId id="769" r:id="rId22"/>
    <p:sldId id="402" r:id="rId23"/>
    <p:sldId id="770" r:id="rId24"/>
    <p:sldId id="771" r:id="rId25"/>
    <p:sldId id="741" r:id="rId26"/>
    <p:sldId id="738" r:id="rId27"/>
    <p:sldId id="751" r:id="rId28"/>
    <p:sldId id="752" r:id="rId29"/>
    <p:sldId id="398" r:id="rId30"/>
    <p:sldId id="395" r:id="rId31"/>
    <p:sldId id="772" r:id="rId32"/>
    <p:sldId id="773" r:id="rId33"/>
    <p:sldId id="774" r:id="rId34"/>
    <p:sldId id="775" r:id="rId35"/>
    <p:sldId id="4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slide" Target="../slides/slide17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4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8.1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成对数据的统计相关性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第八章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1777839"/>
            <a:ext cx="11430000" cy="28408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理解两个变量相关关系的概念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了解样本相关系数的含义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会作散点图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并能利用散点图判断两个变量之间是否具有相关关系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会用样本相关系数判断两个变量相关性的强弱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通过本节的学习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提升数学运算、数据分析的核心素养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2199079"/>
            <a:ext cx="11430000" cy="6072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1775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一、相关关系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吸烟一定可以导致患肺癌吗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吸烟与患肺癌有关吗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下表是某小卖部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天卖出热茶的杯数与当天气温的对比表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小卖部中卖出的热茶杯数与当天的气温有关吗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两者之间是如何变化的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之间是什么关系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吸烟不一定导致患肺癌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但它们有一定的关系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两者之间有关系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随着气温的降低卖出的热茶杯数增加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之间是函数关系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是一种确定关系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42823453"/>
              </p:ext>
            </p:extLst>
          </p:nvPr>
        </p:nvGraphicFramePr>
        <p:xfrm>
          <a:off x="381000" y="2132169"/>
          <a:ext cx="11429999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气温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℃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杯数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7729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两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个变量有关系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但又没有确切到可由其中的一个去精确地决定另一个的程度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这种关系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相关关系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下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列变量之间的关系是相关关系的是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正方体的表面积与体积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光照时间与果树的产量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匀速行驶车辆的行驶距离与时间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某运动会中某代表团的足球队的比赛成绩与乒乓球队的比赛成绩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是函数关系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无相关关系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54205" y="1450435"/>
            <a:ext cx="1567808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754204" y="2002032"/>
            <a:ext cx="15678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63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4154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二、散点图、线性相关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某地搜集到的小户型新房屋的销售价格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和房屋的面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:m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的数据如表所示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为横坐标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为纵坐标在平面直角坐标系中描出表示以上数据的点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房屋的销售价格与房屋的面积有关系吗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怎样描述房屋的销售价格与房屋的面积之间的变化关系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74708708"/>
              </p:ext>
            </p:extLst>
          </p:nvPr>
        </p:nvGraphicFramePr>
        <p:xfrm>
          <a:off x="381000" y="2614718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83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63308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大体上来看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面积越大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售价越高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但不是正比例函数关系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X3TRAX51.eps" descr="id:2147518718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1650" y="1129648"/>
            <a:ext cx="4315102" cy="240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8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8208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每一个序号下的成对样本数据都可用直角坐标系中的点表示出来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由这些点组成了统计图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我们把这样的统计图叫做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散点图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如果从整体上看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当一个变量的值增加时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另一个变量的相应值也呈现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的趋势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我们就称这两个变量正相关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如果当一个变量的值增加时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另一个变量的相应值呈现减少的趋势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则称这两个变量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如果两个变量的取值呈现正相关或负相关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而且散点落在一条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我们就称这两个变量线性相关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如果两个变量具有相关性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但不是线性相关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那么我们就称这两个变量非线性相关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77344" y="1243606"/>
            <a:ext cx="1067065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677344" y="1795203"/>
            <a:ext cx="106706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68089" y="2364834"/>
            <a:ext cx="740225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68089" y="2916431"/>
            <a:ext cx="7402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360232" y="2905545"/>
            <a:ext cx="1088568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360232" y="3457142"/>
            <a:ext cx="10885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68089" y="4047580"/>
            <a:ext cx="740225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468089" y="4599177"/>
            <a:ext cx="7402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331032" y="5136151"/>
            <a:ext cx="881740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331032" y="5687748"/>
            <a:ext cx="8817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2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6265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公司的利润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与销售总额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千万元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之间有如下表对应数据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画出散点图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是否具有线性相关关系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33243556"/>
              </p:ext>
            </p:extLst>
          </p:nvPr>
        </p:nvGraphicFramePr>
        <p:xfrm>
          <a:off x="381000" y="2286285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07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772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散点图如下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由图可知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所有数据点接近直线排列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认为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有线性相关关系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且为正相关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X3TRAX52.eps" descr="id:2147518733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31334" y="1297747"/>
            <a:ext cx="4046203" cy="294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1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301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三、样本相关系数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那么关于均值平移后的大多数散点将分布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象限、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象限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对应的成对数据同号的居多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那么关于均值平移后的大多数散点将分布在第二象限、第四象限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对应的成对数据异号的居多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16610" y="3040120"/>
            <a:ext cx="86023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16610" y="3591717"/>
            <a:ext cx="8602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987475" y="3040120"/>
            <a:ext cx="1040887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987475" y="3591717"/>
            <a:ext cx="10408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52918" y="3641766"/>
            <a:ext cx="1171782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52918" y="4193363"/>
            <a:ext cx="117178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4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687919"/>
              </p:ext>
            </p:extLst>
          </p:nvPr>
        </p:nvGraphicFramePr>
        <p:xfrm>
          <a:off x="458424" y="399411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99411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37689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称成对样本数据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当其中一个数据的值变小时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另一个数据的值通常也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当其中一个数据的值变大时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另一个数据的值通常也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称成对样本数据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当其中一个数据的值变小时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另一个数据的值通常会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当其中一个数据的值变大时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另一个数据的值通常会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变小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36162" y="927921"/>
            <a:ext cx="2112095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436162" y="1479518"/>
            <a:ext cx="21120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99594" y="2376896"/>
            <a:ext cx="1077950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299593" y="2928493"/>
            <a:ext cx="10779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949764" y="2921989"/>
            <a:ext cx="74049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2949763" y="3473586"/>
            <a:ext cx="7404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58424" y="3499740"/>
            <a:ext cx="74049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58423" y="4051337"/>
            <a:ext cx="7404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321365" y="4033152"/>
            <a:ext cx="1056178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4321364" y="4584749"/>
            <a:ext cx="105617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949763" y="4596430"/>
            <a:ext cx="74049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949762" y="5148027"/>
            <a:ext cx="7404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47537" y="5167677"/>
            <a:ext cx="74049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47536" y="5719274"/>
            <a:ext cx="7404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7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5" grpId="0" animBg="1"/>
      <p:bldP spid="18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4957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的绝对值大小可以反映成对数据之间线性相关的程度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越接近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成对样本数据的线性相关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程度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越强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越接近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成对样本数据的线性相关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程度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越弱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312224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线性回归模型求得甲、乙、丙三组不同样本数据的样本相关系数分别为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填甲、乙、丙中的一个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组样本数据的线性相关性最强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90194" y="889933"/>
            <a:ext cx="93643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5290193" y="1441530"/>
            <a:ext cx="9364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479176" y="1951660"/>
            <a:ext cx="89098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479175" y="2503257"/>
            <a:ext cx="8909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457404" y="2572772"/>
            <a:ext cx="89098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457403" y="3124369"/>
            <a:ext cx="8909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93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70322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任意两个变量之间都具有相关关系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×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如果散点图中的点散布在从左上角到右下角的区域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则两个变量之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间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√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两个变量之间的样本相关系数越小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其相关性越弱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若两个变量之间正相关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则其相关系数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√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67905" y="2326531"/>
            <a:ext cx="640874" cy="58498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03897" y="3404673"/>
            <a:ext cx="582613" cy="58498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865913" y="4008125"/>
            <a:ext cx="582613" cy="58498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577972" y="4540204"/>
            <a:ext cx="582613" cy="584982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9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线性相关关系的判断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378904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A,B,C,D,E5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名学生的数学考试成绩和物理考试成绩如下表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画出散点图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并判断这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名学生的数学考试成绩和物理考试成绩是否具有相关关系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64249971"/>
              </p:ext>
            </p:extLst>
          </p:nvPr>
        </p:nvGraphicFramePr>
        <p:xfrm>
          <a:off x="381000" y="2200164"/>
          <a:ext cx="11430000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学生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数学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物理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ZMX3TRAX53.eps" descr="id:2147518762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5111" y="1175760"/>
            <a:ext cx="4344763" cy="2465099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387352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由散点图可知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名学生的数学考试成绩和物理考试成绩具有线性相关关系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81000" y="432707"/>
            <a:ext cx="966803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轴表示数学成绩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轴表示物理成绩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可得相应的散点图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28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082284"/>
              </p:ext>
            </p:extLst>
          </p:nvPr>
        </p:nvGraphicFramePr>
        <p:xfrm>
          <a:off x="458424" y="1808899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808899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303047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两个随机变量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相关关系的确定方法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散点图法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通过画散点图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观察点的分布是否存在一定规律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直观地判断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表格、关系式法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结合表格或关系式进行判断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经验法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借助积累的经验进行分析判断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0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02789"/>
            <a:ext cx="11430000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在一次对人体脂肪含量和年龄关系的研究中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研究人员获得了一组样本数据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并制作成的散点图如图所示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根据该图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下列结论中正确的是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X3TRAX54.eps" descr="id:2147518776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5731" y="1619774"/>
            <a:ext cx="5768583" cy="4473677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1993390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人体脂肪含量与年龄正相关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脂肪含量的中位数等于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人体脂肪含量与年龄正相关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脂肪含量的中位数小于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人体脂肪含量与年龄负相关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脂肪含量的中位数等于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人体脂肪含量与年龄负相关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脂肪含量的中位数小于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1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0308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题中散点图可知点的分布都集中在一条直线附近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由此可以判断两个变量具有相关关系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点分布在从左下角到右上角的区城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因此是正相关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由散点图可知共有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则中位数为最中间两点的纵坐标的平均数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因为两数均小于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所以脂肪含量的中位数小于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57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样本的相关系数及其应用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362857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在研究两个变量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的相关关系时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分别选择了四组不同的样本数据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由这四组不同的样本数据得到的样本相关系数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则其中相关程度最大的样本相关系数是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线性相关关系的判断中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样本相关系数为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越接近于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相关程度越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越小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相关程度越小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875851"/>
              </p:ext>
            </p:extLst>
          </p:nvPr>
        </p:nvGraphicFramePr>
        <p:xfrm>
          <a:off x="458424" y="244589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44589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04331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样本相关系数大小对相关程度大小的影响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越接近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相关程度越大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|r|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越接近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相关程度越小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9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52332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对两个变量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进行线性相关检验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785 9,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对两个变量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进行线性相关检验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956 8,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则下列判断正确的是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的线性相关性较强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的线性相关性较强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的线性相关性较强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的线性相关性较强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样本相关系数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956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负相关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|r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|&lt;|r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的线性相关性较强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45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smtClean="0">
                  <a:solidFill>
                    <a:schemeClr val="bg1"/>
                  </a:solidFill>
                </a:rPr>
                <a:t>规范解答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8512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样本相关系数的实际应用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为分析肥胖程度对总胆固醇与空腹血糖的影响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在肥胖人群中随机抽出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他们的肥胖指数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值、总胆固醇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指标值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:mmol/L)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、空腹血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糖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指标值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:mmol/L)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如表所示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0867752"/>
              </p:ext>
            </p:extLst>
          </p:nvPr>
        </p:nvGraphicFramePr>
        <p:xfrm>
          <a:off x="381000" y="2857798"/>
          <a:ext cx="11430000" cy="2218944"/>
        </p:xfrm>
        <a:graphic>
          <a:graphicData uri="http://schemas.openxmlformats.org/drawingml/2006/table">
            <a:tbl>
              <a:tblPr firstRow="1" firstCol="1" bandRow="1"/>
              <a:tblGrid>
                <a:gridCol w="2043701"/>
                <a:gridCol w="1027416"/>
                <a:gridCol w="1068512"/>
                <a:gridCol w="940371"/>
                <a:gridCol w="1270000"/>
                <a:gridCol w="1270000"/>
                <a:gridCol w="1270000"/>
                <a:gridCol w="1270000"/>
                <a:gridCol w="1270000"/>
              </a:tblGrid>
              <a:tr h="48762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人员编号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2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BMI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值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2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指标值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2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GLU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指标值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5036993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的样本相关系数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分别说明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指标值与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指标值与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值的相关程度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763950"/>
              </p:ext>
            </p:extLst>
          </p:nvPr>
        </p:nvGraphicFramePr>
        <p:xfrm>
          <a:off x="458424" y="752943"/>
          <a:ext cx="11275153" cy="5092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文档" r:id="rId4" imgW="4510061" imgH="2033368" progId="Word.Document.12">
                  <p:embed/>
                </p:oleObj>
              </mc:Choice>
              <mc:Fallback>
                <p:oleObj name="文档" r:id="rId4" imgW="4510061" imgH="20333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52943"/>
                        <a:ext cx="11275153" cy="5092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968700"/>
              </p:ext>
            </p:extLst>
          </p:nvPr>
        </p:nvGraphicFramePr>
        <p:xfrm>
          <a:off x="492125" y="1908175"/>
          <a:ext cx="11280775" cy="253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文档" r:id="rId4" imgW="4510061" imgH="1018481" progId="Word.Document.12">
                  <p:embed/>
                </p:oleObj>
              </mc:Choice>
              <mc:Fallback>
                <p:oleObj name="文档" r:id="rId4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125" y="1908175"/>
                        <a:ext cx="11280775" cy="2538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276486"/>
              </p:ext>
            </p:extLst>
          </p:nvPr>
        </p:nvGraphicFramePr>
        <p:xfrm>
          <a:off x="458424" y="232260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32260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940576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本题考查均值、标准差以及样本相关系数等问题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是关于样本相关系数的综合应用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属于中档题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正确进行数学运算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数据处理是解题关键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479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在下列各变量之间的关系中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是相关关系的有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汽车的质量和百公里耗油量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边形的边数与内角度数之和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在一定范围内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一块农田的小麦产量与施肥量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家庭的经济条件与学生的学习成绩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③④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汽车的质量越大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百公里耗油量会越多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在一定范围内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农田的施肥量越大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小麦产量一般会越多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①③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是相关关系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是函数关系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中家庭的经济条件与学生的学习成绩之间既不是相关关系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也不是函数关系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42933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在一组样本数据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不全相等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的散点图中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若所有样本点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都在直线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则这组样本数据的样本相关系数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因为直线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且所有样本点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</a:t>
            </a:r>
            <a:r>
              <a:rPr lang="en-US" altLang="zh-CN" sz="280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都在直线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所以说明这组样本数据完全负相关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则样本相关系数达到最小值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17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3747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一组通过随机抽样得到的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名儿童的智力测验成绩和阅读能力测验成绩如下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智力测验成绩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:110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阅读能力测验成绩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:80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则儿童的智力与阅读能力的样本相关系数为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82244"/>
              </p:ext>
            </p:extLst>
          </p:nvPr>
        </p:nvGraphicFramePr>
        <p:xfrm>
          <a:off x="458424" y="3320589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文档" r:id="rId4" imgW="4510061" imgH="1018481" progId="Word.Document.12">
                  <p:embed/>
                </p:oleObj>
              </mc:Choice>
              <mc:Fallback>
                <p:oleObj name="文档" r:id="rId4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320589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532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109011"/>
              </p:ext>
            </p:extLst>
          </p:nvPr>
        </p:nvGraphicFramePr>
        <p:xfrm>
          <a:off x="458424" y="446215"/>
          <a:ext cx="11275153" cy="56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文档" r:id="rId4" imgW="4510061" imgH="2244131" progId="Word.Document.12">
                  <p:embed/>
                </p:oleObj>
              </mc:Choice>
              <mc:Fallback>
                <p:oleObj name="文档" r:id="rId4" imgW="4510061" imgH="22441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46215"/>
                        <a:ext cx="11275153" cy="56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537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968554"/>
            <a:ext cx="172034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78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614868"/>
              </p:ext>
            </p:extLst>
          </p:nvPr>
        </p:nvGraphicFramePr>
        <p:xfrm>
          <a:off x="458424" y="1214523"/>
          <a:ext cx="11275153" cy="262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文档" r:id="rId4" imgW="4510061" imgH="1051250" progId="Word.Document.12">
                  <p:embed/>
                </p:oleObj>
              </mc:Choice>
              <mc:Fallback>
                <p:oleObj name="文档" r:id="rId4" imgW="4510061" imgH="10512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14523"/>
                        <a:ext cx="11275153" cy="262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32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102</TotalTime>
  <Words>2798</Words>
  <Application>Microsoft Office PowerPoint</Application>
  <PresentationFormat>宽屏</PresentationFormat>
  <Paragraphs>249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41</cp:revision>
  <dcterms:created xsi:type="dcterms:W3CDTF">2021-08-30T08:30:26Z</dcterms:created>
  <dcterms:modified xsi:type="dcterms:W3CDTF">2025-08-20T01:08:54Z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