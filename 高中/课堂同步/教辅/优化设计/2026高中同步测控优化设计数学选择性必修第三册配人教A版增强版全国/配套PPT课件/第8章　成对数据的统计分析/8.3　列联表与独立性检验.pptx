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677" r:id="rId2"/>
    <p:sldId id="488" r:id="rId3"/>
    <p:sldId id="494" r:id="rId4"/>
    <p:sldId id="392" r:id="rId5"/>
    <p:sldId id="686" r:id="rId6"/>
    <p:sldId id="756" r:id="rId7"/>
    <p:sldId id="757" r:id="rId8"/>
    <p:sldId id="758" r:id="rId9"/>
    <p:sldId id="759" r:id="rId10"/>
    <p:sldId id="760" r:id="rId11"/>
    <p:sldId id="763" r:id="rId12"/>
    <p:sldId id="407" r:id="rId13"/>
    <p:sldId id="394" r:id="rId14"/>
    <p:sldId id="764" r:id="rId15"/>
    <p:sldId id="766" r:id="rId16"/>
    <p:sldId id="767" r:id="rId17"/>
    <p:sldId id="699" r:id="rId18"/>
    <p:sldId id="402" r:id="rId19"/>
    <p:sldId id="720" r:id="rId20"/>
    <p:sldId id="721" r:id="rId21"/>
    <p:sldId id="726" r:id="rId22"/>
    <p:sldId id="753" r:id="rId23"/>
    <p:sldId id="768" r:id="rId24"/>
    <p:sldId id="769" r:id="rId25"/>
    <p:sldId id="770" r:id="rId26"/>
    <p:sldId id="498" r:id="rId27"/>
    <p:sldId id="730" r:id="rId28"/>
    <p:sldId id="771" r:id="rId29"/>
    <p:sldId id="772" r:id="rId30"/>
    <p:sldId id="733" r:id="rId31"/>
    <p:sldId id="743" r:id="rId32"/>
    <p:sldId id="744" r:id="rId33"/>
    <p:sldId id="773" r:id="rId34"/>
    <p:sldId id="774" r:id="rId35"/>
    <p:sldId id="775" r:id="rId36"/>
    <p:sldId id="776" r:id="rId37"/>
    <p:sldId id="777" r:id="rId38"/>
    <p:sldId id="741" r:id="rId39"/>
    <p:sldId id="738" r:id="rId40"/>
    <p:sldId id="751" r:id="rId41"/>
    <p:sldId id="398" r:id="rId42"/>
    <p:sldId id="395" r:id="rId43"/>
    <p:sldId id="778" r:id="rId44"/>
    <p:sldId id="779" r:id="rId45"/>
    <p:sldId id="780" r:id="rId46"/>
    <p:sldId id="781" r:id="rId47"/>
    <p:sldId id="782" r:id="rId48"/>
    <p:sldId id="490" r:id="rId4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36" userDrawn="1">
          <p15:clr>
            <a:srgbClr val="A4A3A4"/>
          </p15:clr>
        </p15:guide>
        <p15:guide id="4" orient="horz" pos="777" userDrawn="1">
          <p15:clr>
            <a:srgbClr val="A4A3A4"/>
          </p15:clr>
        </p15:guide>
        <p15:guide id="5" orient="horz" pos="28" userDrawn="1">
          <p15:clr>
            <a:srgbClr val="A4A3A4"/>
          </p15:clr>
        </p15:guide>
        <p15:guide id="6" pos="2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3" d="100"/>
          <a:sy n="93" d="100"/>
        </p:scale>
        <p:origin x="456" y="90"/>
      </p:cViewPr>
      <p:guideLst>
        <p:guide orient="horz" pos="368"/>
        <p:guide pos="211"/>
        <p:guide orient="horz" pos="436"/>
        <p:guide orient="horz" pos="777"/>
        <p:guide orient="horz" pos="28"/>
        <p:guide pos="257"/>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3.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slide" Target="../slides/slide13.xml"/><Relationship Id="rId1" Type="http://schemas.openxmlformats.org/officeDocument/2006/relationships/slideMaster" Target="../slideMasters/slideMaster1.xml"/><Relationship Id="rId5" Type="http://schemas.openxmlformats.org/officeDocument/2006/relationships/slide" Target="../slides/slide38.xml"/><Relationship Id="rId4" Type="http://schemas.openxmlformats.org/officeDocument/2006/relationships/slide" Target="../slides/slide26.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780300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886935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
        <p:nvSpPr>
          <p:cNvPr id="9" name="圆角矩形 8">
            <a:hlinkClick r:id="rId4" action="ppaction://hlinksldjump"/>
          </p:cNvPr>
          <p:cNvSpPr/>
          <p:nvPr userDrawn="1"/>
        </p:nvSpPr>
        <p:spPr>
          <a:xfrm>
            <a:off x="993569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探究三</a:t>
            </a:r>
            <a:endParaRPr lang="zh-CN" altLang="en-US" sz="1400" dirty="0">
              <a:ln>
                <a:solidFill>
                  <a:schemeClr val="bg1"/>
                </a:solidFill>
              </a:ln>
              <a:solidFill>
                <a:schemeClr val="bg1"/>
              </a:solidFill>
            </a:endParaRPr>
          </a:p>
        </p:txBody>
      </p:sp>
      <p:sp>
        <p:nvSpPr>
          <p:cNvPr id="6" name="圆角矩形 5">
            <a:hlinkClick r:id="rId5" action="ppaction://hlinksldjump"/>
          </p:cNvPr>
          <p:cNvSpPr/>
          <p:nvPr userDrawn="1"/>
        </p:nvSpPr>
        <p:spPr>
          <a:xfrm>
            <a:off x="1100203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易错辨析</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slide" Target="slide4.xml"/><Relationship Id="rId1" Type="http://schemas.openxmlformats.org/officeDocument/2006/relationships/slideLayout" Target="../slideLayouts/slideLayout1.xml"/><Relationship Id="rId4" Type="http://schemas.openxmlformats.org/officeDocument/2006/relationships/slide" Target="slide4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image" Target="../media/image2.emf"/><Relationship Id="rId4" Type="http://schemas.openxmlformats.org/officeDocument/2006/relationships/package" Target="../embeddings/Microsoft_Word___1.docx"/></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package" Target="../embeddings/Microsoft_Word___2.docx"/></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4.emf"/><Relationship Id="rId4" Type="http://schemas.openxmlformats.org/officeDocument/2006/relationships/package" Target="../embeddings/Microsoft_Word___3.docx"/></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6.emf"/><Relationship Id="rId4" Type="http://schemas.openxmlformats.org/officeDocument/2006/relationships/package" Target="../embeddings/Microsoft_Word___4.docx"/></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7.emf"/><Relationship Id="rId4" Type="http://schemas.openxmlformats.org/officeDocument/2006/relationships/package" Target="../embeddings/Microsoft_Word___5.docx"/></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8.emf"/><Relationship Id="rId4" Type="http://schemas.openxmlformats.org/officeDocument/2006/relationships/package" Target="../embeddings/Microsoft_Word___6.docx"/></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9.emf"/><Relationship Id="rId4" Type="http://schemas.openxmlformats.org/officeDocument/2006/relationships/package" Target="../embeddings/Microsoft_Word___7.docx"/></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0.emf"/><Relationship Id="rId4" Type="http://schemas.openxmlformats.org/officeDocument/2006/relationships/package" Target="../embeddings/Microsoft_Word___8.docx"/></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11.emf"/><Relationship Id="rId4" Type="http://schemas.openxmlformats.org/officeDocument/2006/relationships/package" Target="../embeddings/Microsoft_Word___9.docx"/></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12.emf"/><Relationship Id="rId4" Type="http://schemas.openxmlformats.org/officeDocument/2006/relationships/package" Target="../embeddings/Microsoft_Word___10.docx"/></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13.emf"/><Relationship Id="rId4" Type="http://schemas.openxmlformats.org/officeDocument/2006/relationships/package" Target="../embeddings/Microsoft_Word___11.docx"/></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16.emf"/><Relationship Id="rId4" Type="http://schemas.openxmlformats.org/officeDocument/2006/relationships/package" Target="../embeddings/Microsoft_Word___12.docx"/></Relationships>
</file>

<file path=ppt/slides/_rels/slide36.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image" Target="../media/image17.e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package" Target="../embeddings/Microsoft_Word___13.docx"/><Relationship Id="rId5" Type="http://schemas.openxmlformats.org/officeDocument/2006/relationships/oleObject" Target="../embeddings/oleObject13.bin"/><Relationship Id="rId4" Type="http://schemas.openxmlformats.org/officeDocument/2006/relationships/image" Target="../media/image19.jpeg"/></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20.emf"/><Relationship Id="rId4" Type="http://schemas.openxmlformats.org/officeDocument/2006/relationships/package" Target="../embeddings/Microsoft_Word___14.docx"/></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21.emf"/><Relationship Id="rId4" Type="http://schemas.openxmlformats.org/officeDocument/2006/relationships/package" Target="../embeddings/Microsoft_Word___15.docx"/></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22.emf"/><Relationship Id="rId4" Type="http://schemas.openxmlformats.org/officeDocument/2006/relationships/package" Target="../embeddings/Microsoft_Word___16.docx"/></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oleObject" Target="../embeddings/oleObject17.bin"/><Relationship Id="rId7" Type="http://schemas.openxmlformats.org/officeDocument/2006/relationships/package" Target="../embeddings/Microsoft_Word___18.docx"/><Relationship Id="rId2" Type="http://schemas.openxmlformats.org/officeDocument/2006/relationships/slideLayout" Target="../slideLayouts/slideLayout3.xml"/><Relationship Id="rId1" Type="http://schemas.openxmlformats.org/officeDocument/2006/relationships/vmlDrawing" Target="../drawings/vmlDrawing17.vml"/><Relationship Id="rId6" Type="http://schemas.openxmlformats.org/officeDocument/2006/relationships/oleObject" Target="../embeddings/oleObject18.bin"/><Relationship Id="rId5" Type="http://schemas.openxmlformats.org/officeDocument/2006/relationships/image" Target="../media/image23.emf"/><Relationship Id="rId4" Type="http://schemas.openxmlformats.org/officeDocument/2006/relationships/package" Target="../embeddings/Microsoft_Word___17.docx"/></Relationships>
</file>

<file path=ppt/slides/_rels/slide4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slideLayout" Target="../slideLayouts/slideLayout3.xml"/><Relationship Id="rId1" Type="http://schemas.openxmlformats.org/officeDocument/2006/relationships/vmlDrawing" Target="../drawings/vmlDrawing18.vml"/><Relationship Id="rId6" Type="http://schemas.openxmlformats.org/officeDocument/2006/relationships/image" Target="../media/image25.emf"/><Relationship Id="rId5" Type="http://schemas.openxmlformats.org/officeDocument/2006/relationships/package" Target="../embeddings/Microsoft_Word___19.docx"/><Relationship Id="rId4" Type="http://schemas.openxmlformats.org/officeDocument/2006/relationships/oleObject" Target="../embeddings/oleObject19.bin"/></Relationships>
</file>

<file path=ppt/slides/_rels/slide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en-US" altLang="zh-CN" sz="3600" b="1">
                  <a:solidFill>
                    <a:schemeClr val="bg1"/>
                  </a:solidFill>
                  <a:latin typeface="华文细黑" panose="02010600040101010101" charset="-122"/>
                  <a:ea typeface="华文细黑" panose="02010600040101010101" charset="-122"/>
                </a:rPr>
                <a:t>8.3</a:t>
              </a:r>
              <a:r>
                <a:rPr lang="zh-CN" altLang="en-US" sz="3600" b="1">
                  <a:solidFill>
                    <a:schemeClr val="bg1"/>
                  </a:solidFill>
                  <a:latin typeface="华文细黑" panose="02010600040101010101" charset="-122"/>
                  <a:ea typeface="华文细黑" panose="02010600040101010101" charset="-122"/>
                </a:rPr>
                <a:t>　列联表与独立性检验</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smtClean="0">
                <a:solidFill>
                  <a:schemeClr val="bg1"/>
                </a:solidFill>
                <a:latin typeface="华文细黑" panose="02010600040101010101" charset="-122"/>
                <a:ea typeface="华文细黑" panose="02010600040101010101" charset="-122"/>
                <a:cs typeface="Open Sans" panose="020B0606030504020204" pitchFamily="34" charset="0"/>
              </a:rPr>
              <a:t>第八章</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mtClean="0">
                <a:solidFill>
                  <a:srgbClr val="757C82"/>
                </a:solidFill>
                <a:latin typeface="Times New Roman" panose="02020603050405020304" pitchFamily="18" charset="0"/>
                <a:cs typeface="Times New Roman" panose="02020603050405020304" pitchFamily="18" charset="0"/>
              </a:rPr>
              <a:t>2025</a:t>
            </a:r>
            <a:endParaRPr lang="en-US" altLang="zh-CN" sz="2800" b="1" dirty="0" smtClean="0">
              <a:solidFill>
                <a:srgbClr val="757C8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自主预习 新知导学</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4" name="矩形 3"/>
          <p:cNvSpPr>
            <a:spLocks noChangeAspect="1"/>
          </p:cNvSpPr>
          <p:nvPr/>
        </p:nvSpPr>
        <p:spPr>
          <a:xfrm>
            <a:off x="381000" y="2016818"/>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了解分类变量、</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列联表、随机变量</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的意义</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了解独立性检验的基本思想方法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能够运用</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列联表及</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进行独立性检验</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pPr>
            <a:r>
              <a:rPr lang="en-US" altLang="zh-CN" sz="2800">
                <a:solidFill>
                  <a:srgbClr val="000000"/>
                </a:solidFill>
                <a:latin typeface="Times New Roman" panose="02020603050405020304" pitchFamily="18" charset="0"/>
              </a:rPr>
              <a:t>4</a:t>
            </a:r>
            <a:r>
              <a:rPr lang="en-US" altLang="zh-CN" sz="2800" i="1">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通过本节课的学习</a:t>
            </a:r>
            <a:r>
              <a:rPr lang="en-US" altLang="zh-CN" sz="2800" smtClean="0">
                <a:solidFill>
                  <a:srgbClr val="000000"/>
                </a:solidFill>
                <a:latin typeface="Times New Roman" panose="02020603050405020304" pitchFamily="18" charset="0"/>
              </a:rPr>
              <a:t>,</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进一步提升逻辑推理</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数据分析的核心素养</a:t>
            </a:r>
            <a:r>
              <a:rPr lang="en-US" altLang="zh-CN" sz="2800" i="1">
                <a:solidFill>
                  <a:srgbClr val="000000"/>
                </a:solidFill>
                <a:latin typeface="Times New Roman" panose="02020603050405020304" pitchFamily="18" charset="0"/>
              </a:rPr>
              <a:t>.</a:t>
            </a:r>
            <a:endParaRPr lang="zh-CN" altLang="en-US" sz="28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自主预习 新知导学</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875043"/>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ea typeface="方正正中黑简体"/>
                <a:cs typeface="Times New Roman" panose="02020603050405020304" pitchFamily="18" charset="0"/>
              </a:rPr>
              <a:t>一、分类变量与列联表</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为</a:t>
            </a:r>
            <a:r>
              <a:rPr lang="zh-CN" altLang="en-US" sz="2800">
                <a:solidFill>
                  <a:srgbClr val="000000"/>
                </a:solidFill>
                <a:latin typeface="Times New Roman" panose="02020603050405020304" pitchFamily="18" charset="0"/>
                <a:cs typeface="Times New Roman" panose="02020603050405020304" pitchFamily="18" charset="0"/>
              </a:rPr>
              <a:t>了解高中生的课外活动方式</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某校进行了抽样调查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结果整理成下表</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如何直观判定</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喜欢体育还是文娱与性别有联系</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通过表格内分类统计的数据进行直观分析</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364483205"/>
              </p:ext>
            </p:extLst>
          </p:nvPr>
        </p:nvGraphicFramePr>
        <p:xfrm>
          <a:off x="381000" y="2007375"/>
          <a:ext cx="11430000" cy="2278380"/>
        </p:xfrm>
        <a:graphic>
          <a:graphicData uri="http://schemas.openxmlformats.org/drawingml/2006/table">
            <a:tbl>
              <a:tblPr firstRow="1" firstCol="1" bandRow="1"/>
              <a:tblGrid>
                <a:gridCol w="2857500"/>
                <a:gridCol w="2857500"/>
                <a:gridCol w="2857500"/>
                <a:gridCol w="2857500"/>
              </a:tblGrid>
              <a:tr h="0">
                <a:tc rowSpan="2">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性别</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课外活动</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a:lstStyle/>
                    <a:p>
                      <a:endParaRPr lang="zh-CN" altLang="en-US"/>
                    </a:p>
                  </a:txBody>
                  <a:tcPr/>
                </a:tc>
                <a:tc>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体育</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文娱</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r>
              <a:tr h="0">
                <a:tc>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男生</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210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230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440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女生</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290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350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270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520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790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7" end="7"/>
                                            </p:txEl>
                                          </p:spTgt>
                                        </p:tgtEl>
                                        <p:attrNameLst>
                                          <p:attrName>style.visibility</p:attrName>
                                        </p:attrNameLst>
                                      </p:cBhvr>
                                      <p:to>
                                        <p:strVal val="visible"/>
                                      </p:to>
                                    </p:set>
                                    <p:animEffect transition="in" filter="randombar(horizontal)">
                                      <p:cBhvr>
                                        <p:cTn id="7"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682511"/>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我们经常会使用一种特殊的随机变量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以区别不同的现象或性质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这类随机变量</a:t>
            </a:r>
            <a:r>
              <a:rPr lang="zh-CN" altLang="zh-CN" sz="2800" smtClean="0">
                <a:solidFill>
                  <a:srgbClr val="000000"/>
                </a:solidFill>
                <a:latin typeface="Times New Roman" panose="02020603050405020304" pitchFamily="18" charset="0"/>
                <a:cs typeface="Times New Roman" panose="02020603050405020304" pitchFamily="18" charset="0"/>
              </a:rPr>
              <a:t>称为</a:t>
            </a:r>
            <a:r>
              <a:rPr lang="en-US" altLang="zh-CN" sz="2800" smtClean="0">
                <a:solidFill>
                  <a:srgbClr val="000000"/>
                </a:solidFill>
                <a:latin typeface="Times New Roman" panose="02020603050405020304" pitchFamily="18" charset="0"/>
                <a:cs typeface="Times New Roman" panose="02020603050405020304" pitchFamily="18" charset="0"/>
              </a:rPr>
              <a:t> </a:t>
            </a:r>
            <a:r>
              <a:rPr lang="zh-CN" altLang="zh-CN" sz="2800" smtClean="0">
                <a:solidFill>
                  <a:srgbClr val="FF0000"/>
                </a:solidFill>
                <a:latin typeface="Times New Roman" panose="02020603050405020304" pitchFamily="18" charset="0"/>
                <a:cs typeface="Times New Roman" panose="02020603050405020304" pitchFamily="18" charset="0"/>
              </a:rPr>
              <a:t>分类变量</a:t>
            </a:r>
            <a:r>
              <a:rPr lang="en-US" altLang="zh-CN" sz="2800" smtClean="0">
                <a:solidFill>
                  <a:srgbClr val="FF0000"/>
                </a:solidFill>
                <a:latin typeface="Times New Roman" panose="02020603050405020304" pitchFamily="18" charset="0"/>
                <a:cs typeface="Times New Roman" panose="02020603050405020304" pitchFamily="18" charset="0"/>
              </a:rPr>
              <a:t> </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按研究问题的需要</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将数据分类统计</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并做成表格加以保存</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这种形式的数据统计表</a:t>
            </a:r>
            <a:r>
              <a:rPr lang="zh-CN" altLang="zh-CN" sz="2800" smtClean="0">
                <a:solidFill>
                  <a:srgbClr val="000000"/>
                </a:solidFill>
                <a:latin typeface="Times New Roman" panose="02020603050405020304" pitchFamily="18" charset="0"/>
                <a:cs typeface="Times New Roman" panose="02020603050405020304" pitchFamily="18" charset="0"/>
              </a:rPr>
              <a:t>称为</a:t>
            </a:r>
            <a:r>
              <a:rPr lang="en-US" altLang="zh-CN" sz="2800" smtClean="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FF0000"/>
                </a:solidFill>
                <a:latin typeface="Times New Roman" panose="02020603050405020304" pitchFamily="18" charset="0"/>
                <a:cs typeface="Times New Roman" panose="02020603050405020304" pitchFamily="18" charset="0"/>
              </a:rPr>
              <a:t>2×2</a:t>
            </a:r>
            <a:r>
              <a:rPr lang="zh-CN" altLang="zh-CN" sz="2800" smtClean="0">
                <a:solidFill>
                  <a:srgbClr val="FF0000"/>
                </a:solidFill>
                <a:latin typeface="Times New Roman" panose="02020603050405020304" pitchFamily="18" charset="0"/>
                <a:cs typeface="Times New Roman" panose="02020603050405020304" pitchFamily="18" charset="0"/>
              </a:rPr>
              <a:t>列联表</a:t>
            </a:r>
            <a:r>
              <a:rPr lang="en-US" altLang="zh-CN" sz="2800" smtClean="0">
                <a:solidFill>
                  <a:srgbClr val="FF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关于分类变量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和</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的抽样数据的</a:t>
            </a:r>
            <a:r>
              <a:rPr lang="en-US" altLang="zh-CN" sz="2800">
                <a:solidFill>
                  <a:srgbClr val="000000"/>
                </a:solidFill>
                <a:latin typeface="Times New Roman" panose="02020603050405020304" pitchFamily="18" charset="0"/>
                <a:cs typeface="Times New Roman" panose="02020603050405020304" pitchFamily="18" charset="0"/>
              </a:rPr>
              <a:t>2×2</a:t>
            </a:r>
            <a:r>
              <a:rPr lang="zh-CN" altLang="zh-CN" sz="2800">
                <a:solidFill>
                  <a:srgbClr val="000000"/>
                </a:solidFill>
                <a:latin typeface="Times New Roman" panose="02020603050405020304" pitchFamily="18" charset="0"/>
                <a:cs typeface="Times New Roman" panose="02020603050405020304" pitchFamily="18" charset="0"/>
              </a:rPr>
              <a:t>列联表如下</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132188715"/>
              </p:ext>
            </p:extLst>
          </p:nvPr>
        </p:nvGraphicFramePr>
        <p:xfrm>
          <a:off x="381000" y="3486856"/>
          <a:ext cx="11430000" cy="2453640"/>
        </p:xfrm>
        <a:graphic>
          <a:graphicData uri="http://schemas.openxmlformats.org/drawingml/2006/table">
            <a:tbl>
              <a:tblPr firstRow="1" firstCol="1" bandRow="1"/>
              <a:tblGrid>
                <a:gridCol w="2857500"/>
                <a:gridCol w="2857500"/>
                <a:gridCol w="2857500"/>
                <a:gridCol w="2857500"/>
              </a:tblGrid>
              <a:tr h="0">
                <a:tc rowSpan="2">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a:lstStyle/>
                    <a:p>
                      <a:endParaRPr lang="zh-CN" altLang="en-US"/>
                    </a:p>
                  </a:txBody>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a+b</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c+d</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a+c</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b+d</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n=a+b+c+d</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4" name="矩形 3"/>
          <p:cNvSpPr/>
          <p:nvPr/>
        </p:nvSpPr>
        <p:spPr>
          <a:xfrm>
            <a:off x="2610186" y="1243608"/>
            <a:ext cx="1566982"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2610186" y="1795205"/>
            <a:ext cx="156698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2976788" y="2371570"/>
            <a:ext cx="1921784"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2976788" y="2923167"/>
            <a:ext cx="192178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52283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93276"/>
            <a:ext cx="11430000" cy="5922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3</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下</a:t>
            </a:r>
            <a:r>
              <a:rPr lang="zh-CN" altLang="zh-CN" sz="2800">
                <a:solidFill>
                  <a:srgbClr val="000000"/>
                </a:solidFill>
                <a:latin typeface="Times New Roman" panose="02020603050405020304" pitchFamily="18" charset="0"/>
                <a:cs typeface="Times New Roman" panose="02020603050405020304" pitchFamily="18" charset="0"/>
              </a:rPr>
              <a:t>面是一个</a:t>
            </a:r>
            <a:r>
              <a:rPr lang="en-US" altLang="zh-CN" sz="2800">
                <a:solidFill>
                  <a:srgbClr val="000000"/>
                </a:solidFill>
                <a:latin typeface="Times New Roman" panose="02020603050405020304" pitchFamily="18" charset="0"/>
                <a:cs typeface="Times New Roman" panose="02020603050405020304" pitchFamily="18" charset="0"/>
              </a:rPr>
              <a:t>2×2</a:t>
            </a:r>
            <a:r>
              <a:rPr lang="zh-CN" altLang="zh-CN" sz="2800">
                <a:solidFill>
                  <a:srgbClr val="000000"/>
                </a:solidFill>
                <a:latin typeface="Times New Roman" panose="02020603050405020304" pitchFamily="18" charset="0"/>
                <a:cs typeface="Times New Roman" panose="02020603050405020304" pitchFamily="18" charset="0"/>
              </a:rPr>
              <a:t>列联表</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1942472948"/>
              </p:ext>
            </p:extLst>
          </p:nvPr>
        </p:nvGraphicFramePr>
        <p:xfrm>
          <a:off x="381000" y="1596411"/>
          <a:ext cx="11430000" cy="2278380"/>
        </p:xfrm>
        <a:graphic>
          <a:graphicData uri="http://schemas.openxmlformats.org/drawingml/2006/table">
            <a:tbl>
              <a:tblPr firstRow="1" firstCol="1" bandRow="1"/>
              <a:tblGrid>
                <a:gridCol w="2857500"/>
                <a:gridCol w="2857500"/>
                <a:gridCol w="2857500"/>
                <a:gridCol w="2857500"/>
              </a:tblGrid>
              <a:tr h="0">
                <a:tc rowSpan="2">
                  <a:txBody>
                    <a:bodyPr/>
                    <a:lstStyle/>
                    <a:p>
                      <a:pPr algn="ctr">
                        <a:lnSpc>
                          <a:spcPct val="115000"/>
                        </a:lnSpc>
                        <a:spcAft>
                          <a:spcPts val="0"/>
                        </a:spcAft>
                        <a:tabLst>
                          <a:tab pos="1188085" algn="l"/>
                          <a:tab pos="2163445" algn="l"/>
                          <a:tab pos="3142615" algn="l"/>
                          <a:tab pos="4190365" algn="l"/>
                        </a:tabLst>
                      </a:pPr>
                      <a:r>
                        <a:rPr lang="en-US" sz="26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15000"/>
                        </a:lnSpc>
                        <a:spcAft>
                          <a:spcPts val="0"/>
                        </a:spcAft>
                        <a:tabLst>
                          <a:tab pos="1188085" algn="l"/>
                          <a:tab pos="2163445" algn="l"/>
                          <a:tab pos="3142615" algn="l"/>
                          <a:tab pos="4190365" algn="l"/>
                        </a:tabLst>
                      </a:pPr>
                      <a:r>
                        <a:rPr lang="en-US" sz="26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a:lstStyle/>
                    <a:p>
                      <a:endParaRPr lang="zh-CN" altLang="en-US"/>
                    </a:p>
                  </a:txBody>
                  <a:tcPr/>
                </a:tc>
                <a:tc>
                  <a:txBody>
                    <a:bodyPr/>
                    <a:lstStyle/>
                    <a:p>
                      <a:pPr algn="ctr">
                        <a:lnSpc>
                          <a:spcPct val="115000"/>
                        </a:lnSpc>
                        <a:spcAft>
                          <a:spcPts val="0"/>
                        </a:spcAft>
                        <a:tabLst>
                          <a:tab pos="1188085" algn="l"/>
                          <a:tab pos="2163445" algn="l"/>
                          <a:tab pos="3142615" algn="l"/>
                          <a:tab pos="4190365" algn="l"/>
                        </a:tabLst>
                      </a:pPr>
                      <a:r>
                        <a:rPr lang="en-US" sz="26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r>
              <a:tr h="0">
                <a:tc>
                  <a:txBody>
                    <a:bodyPr/>
                    <a:lstStyle/>
                    <a:p>
                      <a:pPr algn="ctr">
                        <a:lnSpc>
                          <a:spcPct val="115000"/>
                        </a:lnSpc>
                        <a:spcAft>
                          <a:spcPts val="0"/>
                        </a:spcAft>
                        <a:tabLst>
                          <a:tab pos="1188085" algn="l"/>
                          <a:tab pos="2163445" algn="l"/>
                          <a:tab pos="3142615" algn="l"/>
                          <a:tab pos="4190365" algn="l"/>
                        </a:tabLst>
                      </a:pPr>
                      <a:r>
                        <a:rPr lang="en-US" sz="26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21</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73</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6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25</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27</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46</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4" name="矩形 3"/>
          <p:cNvSpPr>
            <a:spLocks noChangeAspect="1"/>
          </p:cNvSpPr>
          <p:nvPr/>
        </p:nvSpPr>
        <p:spPr>
          <a:xfrm>
            <a:off x="381000" y="3836676"/>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则表中</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处的值分别为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A.94,96	</a:t>
            </a:r>
            <a:r>
              <a:rPr lang="en-US" altLang="zh-CN" sz="2800" smtClean="0">
                <a:solidFill>
                  <a:srgbClr val="000000"/>
                </a:solidFill>
                <a:latin typeface="Times New Roman" panose="02020603050405020304" pitchFamily="18" charset="0"/>
                <a:cs typeface="Times New Roman" panose="02020603050405020304" pitchFamily="18" charset="0"/>
              </a:rPr>
              <a:t>    B.52,50       C.52,54</a:t>
            </a:r>
            <a:r>
              <a:rPr lang="en-US" altLang="zh-CN" sz="280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     D.54,52</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73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52,</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a:solidFill>
                  <a:srgbClr val="000000"/>
                </a:solidFill>
                <a:latin typeface="Times New Roman" panose="02020603050405020304" pitchFamily="18" charset="0"/>
                <a:cs typeface="Times New Roman" panose="02020603050405020304" pitchFamily="18" charset="0"/>
              </a:rPr>
              <a:t>100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46</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54</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C</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9074440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randombar(horizontal)">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randombar(horizontal)">
                                      <p:cBhvr>
                                        <p:cTn id="1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642933"/>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ea typeface="方正正中黑简体"/>
                <a:cs typeface="Times New Roman" panose="02020603050405020304" pitchFamily="18" charset="0"/>
              </a:rPr>
              <a:t>二、独立性检验</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smtClean="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有人说</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在犯错误的概率不超过</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01</a:t>
            </a:r>
            <a:r>
              <a:rPr lang="zh-CN" altLang="zh-CN" sz="2800">
                <a:solidFill>
                  <a:srgbClr val="000000"/>
                </a:solidFill>
                <a:latin typeface="Times New Roman" panose="02020603050405020304" pitchFamily="18" charset="0"/>
                <a:cs typeface="Times New Roman" panose="02020603050405020304" pitchFamily="18" charset="0"/>
              </a:rPr>
              <a:t>的前提下认为吸烟和患肺癌有关</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是指每</a:t>
            </a:r>
            <a:r>
              <a:rPr lang="en-US" altLang="zh-CN" sz="2800">
                <a:solidFill>
                  <a:srgbClr val="000000"/>
                </a:solidFill>
                <a:latin typeface="Times New Roman" panose="02020603050405020304" pitchFamily="18" charset="0"/>
                <a:cs typeface="Times New Roman" panose="02020603050405020304" pitchFamily="18" charset="0"/>
              </a:rPr>
              <a:t>100</a:t>
            </a:r>
            <a:r>
              <a:rPr lang="zh-CN" altLang="zh-CN" sz="2800">
                <a:solidFill>
                  <a:srgbClr val="000000"/>
                </a:solidFill>
                <a:latin typeface="Times New Roman" panose="02020603050405020304" pitchFamily="18" charset="0"/>
                <a:cs typeface="Times New Roman" panose="02020603050405020304" pitchFamily="18" charset="0"/>
              </a:rPr>
              <a:t>个吸烟者中就会有</a:t>
            </a:r>
            <a:r>
              <a:rPr lang="en-US" altLang="zh-CN" sz="2800">
                <a:solidFill>
                  <a:srgbClr val="000000"/>
                </a:solidFill>
                <a:latin typeface="Times New Roman" panose="02020603050405020304" pitchFamily="18" charset="0"/>
                <a:cs typeface="Times New Roman" panose="02020603050405020304" pitchFamily="18" charset="0"/>
              </a:rPr>
              <a:t>99</a:t>
            </a:r>
            <a:r>
              <a:rPr lang="zh-CN" altLang="zh-CN" sz="2800">
                <a:solidFill>
                  <a:srgbClr val="000000"/>
                </a:solidFill>
                <a:latin typeface="Times New Roman" panose="02020603050405020304" pitchFamily="18" charset="0"/>
                <a:cs typeface="Times New Roman" panose="02020603050405020304" pitchFamily="18" charset="0"/>
              </a:rPr>
              <a:t>个患肺癌的</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你认为这种观点正确吗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为什么</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观点不正确</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犯错误的概率不超过</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说明的是吸烟与患肺癌有关的程度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不是患肺癌的百分数</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7474802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969524"/>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利用</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的取值推断分类变量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和</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是否独立的方法</a:t>
            </a:r>
            <a:r>
              <a:rPr lang="zh-CN" altLang="zh-CN" sz="2800" smtClean="0">
                <a:solidFill>
                  <a:srgbClr val="000000"/>
                </a:solidFill>
                <a:latin typeface="Times New Roman" panose="02020603050405020304" pitchFamily="18" charset="0"/>
                <a:cs typeface="Times New Roman" panose="02020603050405020304" pitchFamily="18" charset="0"/>
              </a:rPr>
              <a:t>称为</a:t>
            </a: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smtClean="0">
                <a:solidFill>
                  <a:srgbClr val="FF0000"/>
                </a:solidFill>
                <a:effectLst/>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smtClean="0">
                <a:solidFill>
                  <a:srgbClr val="FF0000"/>
                </a:solidFill>
                <a:latin typeface="Times New Roman" panose="02020603050405020304" pitchFamily="18" charset="0"/>
                <a:cs typeface="Times New Roman" panose="02020603050405020304" pitchFamily="18" charset="0"/>
              </a:rPr>
              <a:t>2</a:t>
            </a:r>
            <a:r>
              <a:rPr lang="zh-CN" altLang="zh-CN" sz="2800">
                <a:solidFill>
                  <a:srgbClr val="FF0000"/>
                </a:solidFill>
                <a:latin typeface="Times New Roman" panose="02020603050405020304" pitchFamily="18" charset="0"/>
                <a:cs typeface="Times New Roman" panose="02020603050405020304" pitchFamily="18" charset="0"/>
              </a:rPr>
              <a:t>独立性检验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读作</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FF0000"/>
                </a:solidFill>
                <a:latin typeface="Times New Roman" panose="02020603050405020304" pitchFamily="18" charset="0"/>
                <a:cs typeface="Times New Roman" panose="02020603050405020304" pitchFamily="18" charset="0"/>
              </a:rPr>
              <a:t>卡方独立性检验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简称</a:t>
            </a:r>
            <a:r>
              <a:rPr lang="zh-CN" altLang="zh-CN" sz="2800">
                <a:solidFill>
                  <a:srgbClr val="FF0000"/>
                </a:solidFill>
                <a:latin typeface="Times New Roman" panose="02020603050405020304" pitchFamily="18" charset="0"/>
                <a:cs typeface="Times New Roman" panose="02020603050405020304" pitchFamily="18" charset="0"/>
              </a:rPr>
              <a:t>独立性检验</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基于小概率值</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a:solidFill>
                  <a:srgbClr val="000000"/>
                </a:solidFill>
                <a:latin typeface="Times New Roman" panose="02020603050405020304" pitchFamily="18" charset="0"/>
                <a:cs typeface="Times New Roman" panose="02020603050405020304" pitchFamily="18" charset="0"/>
              </a:rPr>
              <a:t>的检验规则是</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当</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i="1" baseline="-2500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a:solidFill>
                  <a:srgbClr val="000000"/>
                </a:solidFill>
                <a:latin typeface="Times New Roman" panose="02020603050405020304" pitchFamily="18" charset="0"/>
                <a:cs typeface="Times New Roman" panose="02020603050405020304" pitchFamily="18" charset="0"/>
              </a:rPr>
              <a:t>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我们就推断</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cs typeface="Times New Roman" panose="02020603050405020304" pitchFamily="18" charset="0"/>
              </a:rPr>
              <a:t>不成立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即认为</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和</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不独立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该推断犯错误的概率不</a:t>
            </a:r>
            <a:r>
              <a:rPr lang="zh-CN" altLang="zh-CN" sz="2800" smtClean="0">
                <a:solidFill>
                  <a:srgbClr val="000000"/>
                </a:solidFill>
                <a:latin typeface="Times New Roman" panose="02020603050405020304" pitchFamily="18" charset="0"/>
                <a:cs typeface="Times New Roman" panose="02020603050405020304" pitchFamily="18" charset="0"/>
              </a:rPr>
              <a:t>超过</a:t>
            </a:r>
            <a:r>
              <a:rPr lang="en-US" altLang="zh-CN" sz="2800" smtClean="0">
                <a:solidFill>
                  <a:srgbClr val="000000"/>
                </a:solidFill>
                <a:latin typeface="Times New Roman" panose="02020603050405020304" pitchFamily="18" charset="0"/>
                <a:cs typeface="Times New Roman" panose="02020603050405020304" pitchFamily="18" charset="0"/>
              </a:rPr>
              <a:t> </a:t>
            </a:r>
            <a:r>
              <a:rPr lang="en-US" altLang="zh-CN" sz="2800" i="1" smtClean="0">
                <a:solidFill>
                  <a:srgbClr val="FF0000"/>
                </a:solidFill>
                <a:effectLst/>
                <a:latin typeface="Times New Roman" panose="02020603050405020304" pitchFamily="18" charset="0"/>
                <a:ea typeface="Microsoft Yi Baiti" panose="03000500000000000000" pitchFamily="66" charset="0"/>
                <a:cs typeface="Times New Roman" panose="02020603050405020304" pitchFamily="18" charset="0"/>
              </a:rPr>
              <a:t>α </a:t>
            </a:r>
            <a:r>
              <a:rPr lang="en-US" altLang="zh-CN" sz="2800"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当</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&lt;x</a:t>
            </a:r>
            <a:r>
              <a:rPr lang="en-US" altLang="zh-CN" sz="2800" i="1" baseline="-2500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a:solidFill>
                  <a:srgbClr val="000000"/>
                </a:solidFill>
                <a:latin typeface="Times New Roman" panose="02020603050405020304" pitchFamily="18" charset="0"/>
                <a:cs typeface="Times New Roman" panose="02020603050405020304" pitchFamily="18" charset="0"/>
              </a:rPr>
              <a:t>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我们没有充分证据推断</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cs typeface="Times New Roman" panose="02020603050405020304" pitchFamily="18" charset="0"/>
              </a:rPr>
              <a:t>不成立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可以认为</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和</a:t>
            </a:r>
            <a:r>
              <a:rPr lang="en-US" altLang="zh-CN" sz="2800" i="1" smtClean="0">
                <a:solidFill>
                  <a:srgbClr val="000000"/>
                </a:solidFill>
                <a:latin typeface="Times New Roman" panose="02020603050405020304" pitchFamily="18" charset="0"/>
                <a:cs typeface="Times New Roman" panose="02020603050405020304" pitchFamily="18" charset="0"/>
              </a:rPr>
              <a:t>Y </a:t>
            </a:r>
            <a:r>
              <a:rPr lang="zh-CN" altLang="zh-CN" sz="2800" smtClean="0">
                <a:solidFill>
                  <a:srgbClr val="FF0000"/>
                </a:solidFill>
                <a:latin typeface="Times New Roman" panose="02020603050405020304" pitchFamily="18" charset="0"/>
                <a:cs typeface="Times New Roman" panose="02020603050405020304" pitchFamily="18" charset="0"/>
              </a:rPr>
              <a:t>独立</a:t>
            </a:r>
            <a:r>
              <a:rPr lang="en-US" altLang="zh-CN" sz="2800" smtClean="0">
                <a:solidFill>
                  <a:srgbClr val="FF0000"/>
                </a:solidFill>
                <a:latin typeface="Times New Roman" panose="02020603050405020304" pitchFamily="18" charset="0"/>
                <a:cs typeface="Times New Roman" panose="02020603050405020304" pitchFamily="18" charset="0"/>
              </a:rPr>
              <a:t> </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670007096"/>
              </p:ext>
            </p:extLst>
          </p:nvPr>
        </p:nvGraphicFramePr>
        <p:xfrm>
          <a:off x="458424" y="2126454"/>
          <a:ext cx="11275153" cy="989193"/>
        </p:xfrm>
        <a:graphic>
          <a:graphicData uri="http://schemas.openxmlformats.org/presentationml/2006/ole">
            <mc:AlternateContent xmlns:mc="http://schemas.openxmlformats.org/markup-compatibility/2006">
              <mc:Choice xmlns:v="urn:schemas-microsoft-com:vml" Requires="v">
                <p:oleObj spid="_x0000_s6170" name="文档" r:id="rId4" imgW="4510061" imgH="395677" progId="Word.Document.12">
                  <p:embed/>
                </p:oleObj>
              </mc:Choice>
              <mc:Fallback>
                <p:oleObj name="文档" r:id="rId4" imgW="4510061" imgH="395677" progId="Word.Document.12">
                  <p:embed/>
                  <p:pic>
                    <p:nvPicPr>
                      <p:cNvPr id="0" name=""/>
                      <p:cNvPicPr/>
                      <p:nvPr/>
                    </p:nvPicPr>
                    <p:blipFill>
                      <a:blip r:embed="rId5"/>
                      <a:stretch>
                        <a:fillRect/>
                      </a:stretch>
                    </p:blipFill>
                    <p:spPr>
                      <a:xfrm>
                        <a:off x="458424" y="2126454"/>
                        <a:ext cx="11275153" cy="989193"/>
                      </a:xfrm>
                      <a:prstGeom prst="rect">
                        <a:avLst/>
                      </a:prstGeom>
                    </p:spPr>
                  </p:pic>
                </p:oleObj>
              </mc:Fallback>
            </mc:AlternateContent>
          </a:graphicData>
        </a:graphic>
      </p:graphicFrame>
      <p:sp>
        <p:nvSpPr>
          <p:cNvPr id="4" name="矩形 3"/>
          <p:cNvSpPr/>
          <p:nvPr/>
        </p:nvSpPr>
        <p:spPr>
          <a:xfrm>
            <a:off x="381000" y="1559589"/>
            <a:ext cx="2155371"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381000" y="2111186"/>
            <a:ext cx="215537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3483428" y="1559589"/>
            <a:ext cx="2503714"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3483428" y="2111186"/>
            <a:ext cx="250371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934199" y="1559589"/>
            <a:ext cx="1774372"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6934199" y="2111186"/>
            <a:ext cx="177437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534884" y="4316121"/>
            <a:ext cx="381002"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1534884" y="4867718"/>
            <a:ext cx="3810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9413406" y="4861214"/>
            <a:ext cx="811015"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p:nvPr/>
        </p:nvCxnSpPr>
        <p:spPr>
          <a:xfrm>
            <a:off x="9413406" y="5412811"/>
            <a:ext cx="81101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86657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3"/>
                                        </p:tgtEl>
                                      </p:cBhvr>
                                    </p:animEffect>
                                    <p:set>
                                      <p:cBhvr>
                                        <p:cTn id="22" dur="1" fill="hold">
                                          <p:stCondLst>
                                            <p:cond delay="499"/>
                                          </p:stCondLst>
                                        </p:cTn>
                                        <p:tgtEl>
                                          <p:spTgt spid="1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6"/>
                                        </p:tgtEl>
                                      </p:cBhvr>
                                    </p:animEffect>
                                    <p:set>
                                      <p:cBhvr>
                                        <p:cTn id="27"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0" grpId="0" animBg="1"/>
      <p:bldP spid="13" grpId="0" animBg="1"/>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02500"/>
            <a:ext cx="11430000" cy="51337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独立性检验中几个常用的小概率值和相应的临界值</a:t>
            </a:r>
            <a:r>
              <a:rPr lang="en-US" altLang="zh-CN" sz="280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应用独立性检验解决实际问题大致应包括以下几个主要环节</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①</a:t>
            </a:r>
            <a:r>
              <a:rPr lang="zh-CN" altLang="zh-CN" sz="2800">
                <a:solidFill>
                  <a:srgbClr val="000000"/>
                </a:solidFill>
                <a:latin typeface="Times New Roman" panose="02020603050405020304" pitchFamily="18" charset="0"/>
                <a:cs typeface="Times New Roman" panose="02020603050405020304" pitchFamily="18" charset="0"/>
              </a:rPr>
              <a:t>提出零假设</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和</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相互独立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并给出在问题中的解释</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②</a:t>
            </a:r>
            <a:r>
              <a:rPr lang="zh-CN" altLang="zh-CN" sz="2800">
                <a:solidFill>
                  <a:srgbClr val="000000"/>
                </a:solidFill>
                <a:latin typeface="Times New Roman" panose="02020603050405020304" pitchFamily="18" charset="0"/>
                <a:cs typeface="Times New Roman" panose="02020603050405020304" pitchFamily="18" charset="0"/>
              </a:rPr>
              <a:t>根据抽样数据整理出</a:t>
            </a:r>
            <a:r>
              <a:rPr lang="en-US" altLang="zh-CN" sz="2800">
                <a:solidFill>
                  <a:srgbClr val="000000"/>
                </a:solidFill>
                <a:latin typeface="Times New Roman" panose="02020603050405020304" pitchFamily="18" charset="0"/>
                <a:cs typeface="Times New Roman" panose="02020603050405020304" pitchFamily="18" charset="0"/>
              </a:rPr>
              <a:t>2×2</a:t>
            </a:r>
            <a:r>
              <a:rPr lang="zh-CN" altLang="zh-CN" sz="2800">
                <a:solidFill>
                  <a:srgbClr val="000000"/>
                </a:solidFill>
                <a:latin typeface="Times New Roman" panose="02020603050405020304" pitchFamily="18" charset="0"/>
                <a:cs typeface="Times New Roman" panose="02020603050405020304" pitchFamily="18" charset="0"/>
              </a:rPr>
              <a:t>列联表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计算</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的值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并与临界值</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i="1" baseline="-2500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a:solidFill>
                  <a:srgbClr val="000000"/>
                </a:solidFill>
                <a:latin typeface="Times New Roman" panose="02020603050405020304" pitchFamily="18" charset="0"/>
                <a:cs typeface="Times New Roman" panose="02020603050405020304" pitchFamily="18" charset="0"/>
              </a:rPr>
              <a:t>比较</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③</a:t>
            </a:r>
            <a:r>
              <a:rPr lang="zh-CN" altLang="zh-CN" sz="2800">
                <a:solidFill>
                  <a:srgbClr val="000000"/>
                </a:solidFill>
                <a:latin typeface="Times New Roman" panose="02020603050405020304" pitchFamily="18" charset="0"/>
                <a:cs typeface="Times New Roman" panose="02020603050405020304" pitchFamily="18" charset="0"/>
              </a:rPr>
              <a:t>根据检验规则得出推断结论</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④</a:t>
            </a:r>
            <a:r>
              <a:rPr lang="zh-CN" altLang="zh-CN" sz="2800">
                <a:solidFill>
                  <a:srgbClr val="000000"/>
                </a:solidFill>
                <a:latin typeface="Times New Roman" panose="02020603050405020304" pitchFamily="18" charset="0"/>
                <a:cs typeface="Times New Roman" panose="02020603050405020304" pitchFamily="18" charset="0"/>
              </a:rPr>
              <a:t>在</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和</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不独立的情况下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根据需要</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通过比较相应的频率</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分析</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和</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间的影响规律</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358481260"/>
              </p:ext>
            </p:extLst>
          </p:nvPr>
        </p:nvGraphicFramePr>
        <p:xfrm>
          <a:off x="381000" y="1176672"/>
          <a:ext cx="11430000" cy="981456"/>
        </p:xfrm>
        <a:graphic>
          <a:graphicData uri="http://schemas.openxmlformats.org/drawingml/2006/table">
            <a:tbl>
              <a:tblPr firstRow="1" firstCol="1" bandRow="1"/>
              <a:tblGrid>
                <a:gridCol w="1905000"/>
                <a:gridCol w="1905000"/>
                <a:gridCol w="1905000"/>
                <a:gridCol w="1905000"/>
                <a:gridCol w="1905000"/>
                <a:gridCol w="1905000"/>
              </a:tblGrid>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i="1" baseline="-2500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841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635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879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828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7201407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642933"/>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a:solidFill>
                  <a:srgbClr val="000000"/>
                </a:solidFill>
                <a:latin typeface="NEU-BZ-S92"/>
                <a:ea typeface="Arial" panose="020B0604020202020204" pitchFamily="34" charset="0"/>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正确的在后面的括号内画</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Cambria Math" panose="02040503050406030204" pitchFamily="18" charset="0"/>
                <a:ea typeface="NEU-BZ-S9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错误的画</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列联表中的数据是两个分类变量的频数</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Cambria Math" panose="020405030504060302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2)</a:t>
            </a:r>
            <a:r>
              <a:rPr lang="en-US" altLang="zh-CN" sz="2800" i="1" smtClean="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smtClean="0">
                <a:solidFill>
                  <a:srgbClr val="000000"/>
                </a:solidFill>
                <a:latin typeface="Times New Roman" panose="02020603050405020304" pitchFamily="18" charset="0"/>
                <a:cs typeface="Times New Roman" panose="02020603050405020304" pitchFamily="18" charset="0"/>
              </a:rPr>
              <a:t>2</a:t>
            </a:r>
            <a:r>
              <a:rPr lang="zh-CN" altLang="en-US" sz="2800" smtClean="0">
                <a:solidFill>
                  <a:srgbClr val="000000"/>
                </a:solidFill>
                <a:latin typeface="Times New Roman" panose="02020603050405020304" pitchFamily="18" charset="0"/>
                <a:cs typeface="Times New Roman" panose="02020603050405020304" pitchFamily="18" charset="0"/>
              </a:rPr>
              <a:t>是</a:t>
            </a:r>
            <a:r>
              <a:rPr lang="zh-CN" altLang="en-US" sz="2800">
                <a:solidFill>
                  <a:srgbClr val="000000"/>
                </a:solidFill>
                <a:latin typeface="Times New Roman" panose="02020603050405020304" pitchFamily="18" charset="0"/>
                <a:cs typeface="Times New Roman" panose="02020603050405020304" pitchFamily="18" charset="0"/>
              </a:rPr>
              <a:t>判断分类变量</a:t>
            </a:r>
            <a:r>
              <a:rPr lang="en-US" altLang="zh-CN" sz="2800" i="1" smtClean="0">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是否相关的统计量</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Cambria Math" panose="020405030504060302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当</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en-US" altLang="zh-CN" sz="2800" i="1" baseline="-25000">
                <a:solidFill>
                  <a:srgbClr val="000000"/>
                </a:solidFill>
                <a:latin typeface="Times New Roman" panose="02020603050405020304" pitchFamily="18" charset="0"/>
                <a:cs typeface="Times New Roman" panose="02020603050405020304" pitchFamily="18" charset="0"/>
              </a:rPr>
              <a:t>.</a:t>
            </a:r>
            <a:r>
              <a:rPr lang="en-US" altLang="zh-CN" sz="2800" baseline="-25000">
                <a:solidFill>
                  <a:srgbClr val="000000"/>
                </a:solidFill>
                <a:latin typeface="Times New Roman" panose="02020603050405020304" pitchFamily="18" charset="0"/>
                <a:cs typeface="Times New Roman" panose="02020603050405020304" pitchFamily="18" charset="0"/>
              </a:rPr>
              <a:t>05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841</a:t>
            </a:r>
            <a:r>
              <a:rPr lang="zh-CN" altLang="zh-CN" sz="2800">
                <a:solidFill>
                  <a:srgbClr val="000000"/>
                </a:solidFill>
                <a:latin typeface="Times New Roman" panose="02020603050405020304" pitchFamily="18" charset="0"/>
                <a:cs typeface="Times New Roman" panose="02020603050405020304" pitchFamily="18" charset="0"/>
              </a:rPr>
              <a:t>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认为</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和</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不独立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该推断犯错误的概率超过</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05</a:t>
            </a:r>
            <a:r>
              <a:rPr lang="en-US" altLang="zh-CN" sz="2800" i="1" smtClean="0">
                <a:solidFill>
                  <a:srgbClr val="000000"/>
                </a:solidFill>
                <a:latin typeface="Times New Roman" panose="02020603050405020304" pitchFamily="18" charset="0"/>
                <a:cs typeface="Times New Roman" panose="02020603050405020304" pitchFamily="18" charset="0"/>
              </a:rPr>
              <a:t>.</a:t>
            </a:r>
          </a:p>
          <a:p>
            <a:pPr algn="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7179997" y="2841173"/>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7515126" y="3384270"/>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0928978" y="4447142"/>
            <a:ext cx="651023" cy="5654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231649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68000">
                    <a:srgbClr val="DCDCDC">
                      <a:shade val="67500"/>
                      <a:satMod val="115000"/>
                    </a:srgbClr>
                  </a:gs>
                  <a:gs pos="100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利用等高堆积条形图判断两个分类变量是否存在差异</a:t>
                </a:r>
                <a:endParaRPr lang="zh-CN" altLang="en-US" sz="2800" b="1" dirty="0">
                  <a:solidFill>
                    <a:schemeClr val="bg1"/>
                  </a:solidFill>
                </a:endParaRPr>
              </a:p>
            </p:txBody>
          </p:sp>
        </p:grpSp>
      </p:grpSp>
      <p:sp>
        <p:nvSpPr>
          <p:cNvPr id="3" name="矩形 2"/>
          <p:cNvSpPr>
            <a:spLocks noChangeAspect="1"/>
          </p:cNvSpPr>
          <p:nvPr/>
        </p:nvSpPr>
        <p:spPr>
          <a:xfrm>
            <a:off x="381000" y="610117"/>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某学校对高三学生是否爱好某项运动作了调查发现</a:t>
            </a:r>
            <a:r>
              <a:rPr lang="en-US" altLang="zh-CN" sz="2800">
                <a:solidFill>
                  <a:srgbClr val="000000"/>
                </a:solidFill>
                <a:latin typeface="Times New Roman" panose="02020603050405020304" pitchFamily="18" charset="0"/>
                <a:cs typeface="Times New Roman" panose="02020603050405020304" pitchFamily="18" charset="0"/>
              </a:rPr>
              <a:t>:426</a:t>
            </a:r>
            <a:r>
              <a:rPr lang="zh-CN" altLang="zh-CN" sz="2800">
                <a:solidFill>
                  <a:srgbClr val="000000"/>
                </a:solidFill>
                <a:latin typeface="Times New Roman" panose="02020603050405020304" pitchFamily="18" charset="0"/>
                <a:cs typeface="Times New Roman" panose="02020603050405020304" pitchFamily="18" charset="0"/>
              </a:rPr>
              <a:t>名男生中有</a:t>
            </a:r>
            <a:r>
              <a:rPr lang="en-US" altLang="zh-CN" sz="2800">
                <a:solidFill>
                  <a:srgbClr val="000000"/>
                </a:solidFill>
                <a:latin typeface="Times New Roman" panose="02020603050405020304" pitchFamily="18" charset="0"/>
                <a:cs typeface="Times New Roman" panose="02020603050405020304" pitchFamily="18" charset="0"/>
              </a:rPr>
              <a:t>332</a:t>
            </a:r>
            <a:r>
              <a:rPr lang="zh-CN" altLang="zh-CN" sz="2800">
                <a:solidFill>
                  <a:srgbClr val="000000"/>
                </a:solidFill>
                <a:latin typeface="Times New Roman" panose="02020603050405020304" pitchFamily="18" charset="0"/>
                <a:cs typeface="Times New Roman" panose="02020603050405020304" pitchFamily="18" charset="0"/>
              </a:rPr>
              <a:t>人爱好该项运动</a:t>
            </a:r>
            <a:r>
              <a:rPr lang="en-US" altLang="zh-CN" sz="2800">
                <a:solidFill>
                  <a:srgbClr val="000000"/>
                </a:solidFill>
                <a:latin typeface="Times New Roman" panose="02020603050405020304" pitchFamily="18" charset="0"/>
                <a:cs typeface="Times New Roman" panose="02020603050405020304" pitchFamily="18" charset="0"/>
              </a:rPr>
              <a:t>,594</a:t>
            </a:r>
            <a:r>
              <a:rPr lang="zh-CN" altLang="zh-CN" sz="2800">
                <a:solidFill>
                  <a:srgbClr val="000000"/>
                </a:solidFill>
                <a:latin typeface="Times New Roman" panose="02020603050405020304" pitchFamily="18" charset="0"/>
                <a:cs typeface="Times New Roman" panose="02020603050405020304" pitchFamily="18" charset="0"/>
              </a:rPr>
              <a:t>名女生中有</a:t>
            </a:r>
            <a:r>
              <a:rPr lang="en-US" altLang="zh-CN" sz="2800">
                <a:solidFill>
                  <a:srgbClr val="000000"/>
                </a:solidFill>
                <a:latin typeface="Times New Roman" panose="02020603050405020304" pitchFamily="18" charset="0"/>
                <a:cs typeface="Times New Roman" panose="02020603050405020304" pitchFamily="18" charset="0"/>
              </a:rPr>
              <a:t>213</a:t>
            </a:r>
            <a:r>
              <a:rPr lang="zh-CN" altLang="zh-CN" sz="2800">
                <a:solidFill>
                  <a:srgbClr val="000000"/>
                </a:solidFill>
                <a:latin typeface="Times New Roman" panose="02020603050405020304" pitchFamily="18" charset="0"/>
                <a:cs typeface="Times New Roman" panose="02020603050405020304" pitchFamily="18" charset="0"/>
              </a:rPr>
              <a:t>人爱好该项运动</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作出等高堆积条形图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利用图形判断爱好该项运动与性别是否有关系</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4" name="矩形 3"/>
          <p:cNvSpPr>
            <a:spLocks noChangeAspect="1"/>
          </p:cNvSpPr>
          <p:nvPr/>
        </p:nvSpPr>
        <p:spPr>
          <a:xfrm>
            <a:off x="381000" y="2327914"/>
            <a:ext cx="2986715"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作列联表如下</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表格 4"/>
          <p:cNvGraphicFramePr>
            <a:graphicFrameLocks noGrp="1" noChangeAspect="1"/>
          </p:cNvGraphicFramePr>
          <p:nvPr>
            <p:extLst>
              <p:ext uri="{D42A27DB-BD31-4B8C-83A1-F6EECF244321}">
                <p14:modId xmlns:p14="http://schemas.microsoft.com/office/powerpoint/2010/main" val="4175283155"/>
              </p:ext>
            </p:extLst>
          </p:nvPr>
        </p:nvGraphicFramePr>
        <p:xfrm>
          <a:off x="381000" y="2937428"/>
          <a:ext cx="11430000" cy="2437258"/>
        </p:xfrm>
        <a:graphic>
          <a:graphicData uri="http://schemas.openxmlformats.org/drawingml/2006/table">
            <a:tbl>
              <a:tblPr firstRow="1" firstCol="1" bandRow="1"/>
              <a:tblGrid>
                <a:gridCol w="2857500"/>
                <a:gridCol w="2857500"/>
                <a:gridCol w="2857500"/>
                <a:gridCol w="2857500"/>
              </a:tblGrid>
              <a:tr h="0">
                <a:tc rowSpan="2">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是否爱好该项运动</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性别</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a:lstStyle/>
                    <a:p>
                      <a:endParaRPr lang="zh-CN" altLang="en-US"/>
                    </a:p>
                  </a:txBody>
                  <a:tcPr/>
                </a:tc>
                <a:tc>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男生</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女生</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r>
              <a:tr h="0">
                <a:tc>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爱好</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332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213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545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不爱好</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381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475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426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594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en-US"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020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spect="1"/>
          </p:cNvSpPr>
          <p:nvPr/>
        </p:nvSpPr>
        <p:spPr>
          <a:xfrm>
            <a:off x="381000" y="207649"/>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在爱好的学生中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男生约占</a:t>
            </a:r>
            <a:r>
              <a:rPr lang="en-US" altLang="zh-CN" sz="2800">
                <a:solidFill>
                  <a:srgbClr val="000000"/>
                </a:solidFill>
                <a:latin typeface="Times New Roman" panose="02020603050405020304" pitchFamily="18" charset="0"/>
                <a:cs typeface="Times New Roman" panose="02020603050405020304" pitchFamily="18" charset="0"/>
              </a:rPr>
              <a:t>61%,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在不爱好的学生中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男生约占</a:t>
            </a:r>
            <a:r>
              <a:rPr lang="en-US" altLang="zh-CN" sz="2800">
                <a:solidFill>
                  <a:srgbClr val="000000"/>
                </a:solidFill>
                <a:latin typeface="Times New Roman" panose="02020603050405020304" pitchFamily="18" charset="0"/>
                <a:cs typeface="Times New Roman" panose="02020603050405020304" pitchFamily="18" charset="0"/>
              </a:rPr>
              <a:t>20%</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相应的等高堆积条形图如图所示</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pic>
        <p:nvPicPr>
          <p:cNvPr id="7" name="23QX01.eps" descr="id:2147515478;FounderCES"/>
          <p:cNvPicPr/>
          <p:nvPr/>
        </p:nvPicPr>
        <p:blipFill>
          <a:blip r:embed="rId2">
            <a:clrChange>
              <a:clrFrom>
                <a:srgbClr val="FFFFFF"/>
              </a:clrFrom>
              <a:clrTo>
                <a:srgbClr val="FFFFFF">
                  <a:alpha val="0"/>
                </a:srgbClr>
              </a:clrTo>
            </a:clrChange>
          </a:blip>
          <a:stretch>
            <a:fillRect/>
          </a:stretch>
        </p:blipFill>
        <p:spPr>
          <a:xfrm>
            <a:off x="3476089" y="1360016"/>
            <a:ext cx="5729556" cy="3419828"/>
          </a:xfrm>
          <a:prstGeom prst="rect">
            <a:avLst/>
          </a:prstGeom>
        </p:spPr>
      </p:pic>
      <p:sp>
        <p:nvSpPr>
          <p:cNvPr id="8" name="矩形 7"/>
          <p:cNvSpPr>
            <a:spLocks noChangeAspect="1"/>
          </p:cNvSpPr>
          <p:nvPr/>
        </p:nvSpPr>
        <p:spPr>
          <a:xfrm>
            <a:off x="381000" y="4725604"/>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图中阴影部分表示爱好与不爱好的学生中男生的比例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从图中可以看出爱好的学生中男生占的比例比不爱好的学生中男生占的比例高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可以认为爱好该项运动与性别有关</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774907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831577063"/>
              </p:ext>
            </p:extLst>
          </p:nvPr>
        </p:nvGraphicFramePr>
        <p:xfrm>
          <a:off x="458424" y="1552045"/>
          <a:ext cx="11275153" cy="494148"/>
        </p:xfrm>
        <a:graphic>
          <a:graphicData uri="http://schemas.openxmlformats.org/presentationml/2006/ole">
            <mc:AlternateContent xmlns:mc="http://schemas.openxmlformats.org/markup-compatibility/2006">
              <mc:Choice xmlns:v="urn:schemas-microsoft-com:vml" Requires="v">
                <p:oleObj spid="_x0000_s9241"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552045"/>
                        <a:ext cx="11275153" cy="494148"/>
                      </a:xfrm>
                      <a:prstGeom prst="rect">
                        <a:avLst/>
                      </a:prstGeom>
                    </p:spPr>
                  </p:pic>
                </p:oleObj>
              </mc:Fallback>
            </mc:AlternateContent>
          </a:graphicData>
        </a:graphic>
      </p:graphicFrame>
      <p:sp>
        <p:nvSpPr>
          <p:cNvPr id="3" name="矩形 2"/>
          <p:cNvSpPr>
            <a:spLocks noChangeAspect="1"/>
          </p:cNvSpPr>
          <p:nvPr/>
        </p:nvSpPr>
        <p:spPr>
          <a:xfrm>
            <a:off x="381000" y="2195488"/>
            <a:ext cx="11430000" cy="227267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利用等高堆积条形图判断两个分类变量是否相关的步骤</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统计</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收集数据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统计结果</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列表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列出</a:t>
            </a:r>
            <a:r>
              <a:rPr lang="en-US" altLang="zh-CN" sz="2800">
                <a:solidFill>
                  <a:srgbClr val="000000"/>
                </a:solidFill>
                <a:latin typeface="Times New Roman" panose="02020603050405020304" pitchFamily="18" charset="0"/>
                <a:cs typeface="Times New Roman" panose="02020603050405020304" pitchFamily="18" charset="0"/>
              </a:rPr>
              <a:t>2×2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列联表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计算频率、粗略估计</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绘图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绘制等高堆积条形图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直观分析</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063946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203086"/>
            <a:ext cx="11430000" cy="283282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网络对现代人的生活影响较大</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尤其是对青少年</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为了解网络对中学生学习成绩的影响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某地区教育主管部门从辖区初中生中随机抽取了</a:t>
            </a:r>
            <a:r>
              <a:rPr lang="en-US" altLang="zh-CN" sz="2800">
                <a:solidFill>
                  <a:srgbClr val="000000"/>
                </a:solidFill>
                <a:latin typeface="Times New Roman" panose="02020603050405020304" pitchFamily="18" charset="0"/>
                <a:cs typeface="Times New Roman" panose="02020603050405020304" pitchFamily="18" charset="0"/>
              </a:rPr>
              <a:t>1 000</a:t>
            </a:r>
            <a:r>
              <a:rPr lang="zh-CN" altLang="zh-CN" sz="2800">
                <a:solidFill>
                  <a:srgbClr val="000000"/>
                </a:solidFill>
                <a:latin typeface="Times New Roman" panose="02020603050405020304" pitchFamily="18" charset="0"/>
                <a:cs typeface="Times New Roman" panose="02020603050405020304" pitchFamily="18" charset="0"/>
              </a:rPr>
              <a:t>人调查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发现其中经常上网的有</a:t>
            </a:r>
            <a:r>
              <a:rPr lang="en-US" altLang="zh-CN" sz="2800">
                <a:solidFill>
                  <a:srgbClr val="000000"/>
                </a:solidFill>
                <a:latin typeface="Times New Roman" panose="02020603050405020304" pitchFamily="18" charset="0"/>
                <a:cs typeface="Times New Roman" panose="02020603050405020304" pitchFamily="18" charset="0"/>
              </a:rPr>
              <a:t>200</a:t>
            </a:r>
            <a:r>
              <a:rPr lang="zh-CN" altLang="zh-CN" sz="2800">
                <a:solidFill>
                  <a:srgbClr val="000000"/>
                </a:solidFill>
                <a:latin typeface="Times New Roman" panose="02020603050405020304" pitchFamily="18" charset="0"/>
                <a:cs typeface="Times New Roman" panose="02020603050405020304" pitchFamily="18" charset="0"/>
              </a:rPr>
              <a:t>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这</a:t>
            </a:r>
            <a:r>
              <a:rPr lang="en-US" altLang="zh-CN" sz="2800">
                <a:solidFill>
                  <a:srgbClr val="000000"/>
                </a:solidFill>
                <a:latin typeface="Times New Roman" panose="02020603050405020304" pitchFamily="18" charset="0"/>
                <a:cs typeface="Times New Roman" panose="02020603050405020304" pitchFamily="18" charset="0"/>
              </a:rPr>
              <a:t>200</a:t>
            </a:r>
            <a:r>
              <a:rPr lang="zh-CN" altLang="zh-CN" sz="2800">
                <a:solidFill>
                  <a:srgbClr val="000000"/>
                </a:solidFill>
                <a:latin typeface="Times New Roman" panose="02020603050405020304" pitchFamily="18" charset="0"/>
                <a:cs typeface="Times New Roman" panose="02020603050405020304" pitchFamily="18" charset="0"/>
              </a:rPr>
              <a:t>人中有</a:t>
            </a:r>
            <a:r>
              <a:rPr lang="en-US" altLang="zh-CN" sz="2800">
                <a:solidFill>
                  <a:srgbClr val="000000"/>
                </a:solidFill>
                <a:latin typeface="Times New Roman" panose="02020603050405020304" pitchFamily="18" charset="0"/>
                <a:cs typeface="Times New Roman" panose="02020603050405020304" pitchFamily="18" charset="0"/>
              </a:rPr>
              <a:t>80</a:t>
            </a:r>
            <a:r>
              <a:rPr lang="zh-CN" altLang="zh-CN" sz="2800">
                <a:solidFill>
                  <a:srgbClr val="000000"/>
                </a:solidFill>
                <a:latin typeface="Times New Roman" panose="02020603050405020304" pitchFamily="18" charset="0"/>
                <a:cs typeface="Times New Roman" panose="02020603050405020304" pitchFamily="18" charset="0"/>
              </a:rPr>
              <a:t>人期末考试数学成绩不及格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而另外</a:t>
            </a:r>
            <a:r>
              <a:rPr lang="en-US" altLang="zh-CN" sz="2800">
                <a:solidFill>
                  <a:srgbClr val="000000"/>
                </a:solidFill>
                <a:latin typeface="Times New Roman" panose="02020603050405020304" pitchFamily="18" charset="0"/>
                <a:cs typeface="Times New Roman" panose="02020603050405020304" pitchFamily="18" charset="0"/>
              </a:rPr>
              <a:t>800</a:t>
            </a:r>
            <a:r>
              <a:rPr lang="zh-CN" altLang="zh-CN" sz="2800">
                <a:solidFill>
                  <a:srgbClr val="000000"/>
                </a:solidFill>
                <a:latin typeface="Times New Roman" panose="02020603050405020304" pitchFamily="18" charset="0"/>
                <a:cs typeface="Times New Roman" panose="02020603050405020304" pitchFamily="18" charset="0"/>
              </a:rPr>
              <a:t>人中有</a:t>
            </a:r>
            <a:r>
              <a:rPr lang="en-US" altLang="zh-CN" sz="2800">
                <a:solidFill>
                  <a:srgbClr val="000000"/>
                </a:solidFill>
                <a:latin typeface="Times New Roman" panose="02020603050405020304" pitchFamily="18" charset="0"/>
                <a:cs typeface="Times New Roman" panose="02020603050405020304" pitchFamily="18" charset="0"/>
              </a:rPr>
              <a:t>120</a:t>
            </a:r>
            <a:r>
              <a:rPr lang="zh-CN" altLang="zh-CN" sz="2800">
                <a:solidFill>
                  <a:srgbClr val="000000"/>
                </a:solidFill>
                <a:latin typeface="Times New Roman" panose="02020603050405020304" pitchFamily="18" charset="0"/>
                <a:cs typeface="Times New Roman" panose="02020603050405020304" pitchFamily="18" charset="0"/>
              </a:rPr>
              <a:t>人数学成绩不及格</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利用图形判断学生经常上网与数学学习成绩是否有关</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2052153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283320"/>
            <a:ext cx="7295587"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根据题目所给的数据得到如下</a:t>
            </a:r>
            <a:r>
              <a:rPr lang="en-US" altLang="zh-CN" sz="2800">
                <a:solidFill>
                  <a:srgbClr val="000000"/>
                </a:solidFill>
                <a:latin typeface="Times New Roman" panose="02020603050405020304" pitchFamily="18" charset="0"/>
                <a:cs typeface="Times New Roman" panose="02020603050405020304" pitchFamily="18" charset="0"/>
              </a:rPr>
              <a:t>2×2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列联表</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874479467"/>
              </p:ext>
            </p:extLst>
          </p:nvPr>
        </p:nvGraphicFramePr>
        <p:xfrm>
          <a:off x="381000" y="935806"/>
          <a:ext cx="11430000" cy="2133600"/>
        </p:xfrm>
        <a:graphic>
          <a:graphicData uri="http://schemas.openxmlformats.org/drawingml/2006/table">
            <a:tbl>
              <a:tblPr firstRow="1" firstCol="1" bandRow="1"/>
              <a:tblGrid>
                <a:gridCol w="2857500"/>
                <a:gridCol w="2857500"/>
                <a:gridCol w="2857500"/>
                <a:gridCol w="2857500"/>
              </a:tblGrid>
              <a:tr h="0">
                <a:tc rowSpan="2">
                  <a:txBody>
                    <a:bodyPr/>
                    <a:lstStyle/>
                    <a:p>
                      <a:pPr algn="ctr">
                        <a:lnSpc>
                          <a:spcPct val="10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数学成绩</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0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上网</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lnSpc>
                          <a:spcPct val="10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a:lstStyle/>
                    <a:p>
                      <a:endParaRPr lang="zh-CN" altLang="en-US"/>
                    </a:p>
                  </a:txBody>
                  <a:tcPr/>
                </a:tc>
                <a:tc>
                  <a:txBody>
                    <a:bodyPr/>
                    <a:lstStyle/>
                    <a:p>
                      <a:pPr algn="ctr">
                        <a:lnSpc>
                          <a:spcPct val="10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经常上网</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不经常上网</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r>
              <a:tr h="0">
                <a:tc>
                  <a:txBody>
                    <a:bodyPr/>
                    <a:lstStyle/>
                    <a:p>
                      <a:pPr algn="ctr">
                        <a:lnSpc>
                          <a:spcPct val="10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不及格</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120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及格</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120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680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en-US"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4" name="矩形 3"/>
          <p:cNvSpPr>
            <a:spLocks noChangeAspect="1"/>
          </p:cNvSpPr>
          <p:nvPr/>
        </p:nvSpPr>
        <p:spPr>
          <a:xfrm>
            <a:off x="381000" y="3184480"/>
            <a:ext cx="5886236" cy="2893100"/>
          </a:xfrm>
          <a:prstGeom prst="rect">
            <a:avLst/>
          </a:prstGeom>
        </p:spPr>
        <p:txBody>
          <a:bodyPr wrap="square">
            <a:spAutoFit/>
          </a:bodyPr>
          <a:lstStyle/>
          <a:p>
            <a:pPr>
              <a:lnSpc>
                <a:spcPct val="130000"/>
              </a:lnSpc>
              <a:spcAft>
                <a:spcPts val="0"/>
              </a:spcAft>
              <a:tabLst>
                <a:tab pos="1188085" algn="l"/>
                <a:tab pos="2163445" algn="l"/>
                <a:tab pos="3142615" algn="l"/>
                <a:tab pos="4190365" algn="l"/>
              </a:tabLst>
            </a:pP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得出的等高堆积条形图如图所示</a:t>
            </a:r>
            <a:r>
              <a:rPr lang="en-US"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比较图中阴影部分的高可以发现经常上网数学成绩不及格的频率明显高于经常上网数学成绩及格的频率</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因此可以认为经常上网与数学成绩有关</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5" name="ZMX3TRAX78.eps" descr="id:2147519428;FounderCES"/>
          <p:cNvPicPr/>
          <p:nvPr/>
        </p:nvPicPr>
        <p:blipFill>
          <a:blip r:embed="rId2">
            <a:clrChange>
              <a:clrFrom>
                <a:srgbClr val="FFFFFF"/>
              </a:clrFrom>
              <a:clrTo>
                <a:srgbClr val="FFFFFF">
                  <a:alpha val="0"/>
                </a:srgbClr>
              </a:clrTo>
            </a:clrChange>
          </a:blip>
          <a:stretch>
            <a:fillRect/>
          </a:stretch>
        </p:blipFill>
        <p:spPr>
          <a:xfrm>
            <a:off x="6445321" y="3184480"/>
            <a:ext cx="5143928" cy="3070282"/>
          </a:xfrm>
          <a:prstGeom prst="rect">
            <a:avLst/>
          </a:prstGeom>
        </p:spPr>
      </p:pic>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独立性检验</a:t>
                </a:r>
                <a:endParaRPr lang="zh-CN" altLang="en-US" sz="2800" b="1" dirty="0">
                  <a:solidFill>
                    <a:schemeClr val="bg1"/>
                  </a:solidFill>
                </a:endParaRPr>
              </a:p>
            </p:txBody>
          </p:sp>
        </p:grpSp>
      </p:grpSp>
      <p:sp>
        <p:nvSpPr>
          <p:cNvPr id="2" name="矩形 1"/>
          <p:cNvSpPr>
            <a:spLocks noChangeAspect="1"/>
          </p:cNvSpPr>
          <p:nvPr/>
        </p:nvSpPr>
        <p:spPr>
          <a:xfrm>
            <a:off x="381000" y="911218"/>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某校高三年级在一次全年级的大型考试中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数学成绩优秀和非优秀的学生中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物理、化学、总分也为优秀的人数如下表所示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依据</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001</a:t>
            </a:r>
            <a:r>
              <a:rPr lang="zh-CN" altLang="zh-CN" sz="2800">
                <a:solidFill>
                  <a:srgbClr val="000000"/>
                </a:solidFill>
                <a:latin typeface="Times New Roman" panose="02020603050405020304" pitchFamily="18" charset="0"/>
                <a:cs typeface="Times New Roman" panose="02020603050405020304" pitchFamily="18" charset="0"/>
              </a:rPr>
              <a:t>的独立性检验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分析数学成绩优秀分别与物理、化学、总分优秀的相关性</a:t>
            </a:r>
            <a:r>
              <a:rPr lang="en-US" altLang="zh-CN" sz="2800" i="1"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endParaRPr lang="en-US" altLang="zh-CN" sz="2800" i="1">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i="1"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i="1">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该年级此次考试中数学成绩优秀的有</a:t>
            </a:r>
            <a:r>
              <a:rPr lang="en-US" altLang="zh-CN" sz="2800">
                <a:solidFill>
                  <a:srgbClr val="000000"/>
                </a:solidFill>
                <a:latin typeface="Times New Roman" panose="02020603050405020304" pitchFamily="18" charset="0"/>
                <a:cs typeface="Times New Roman" panose="02020603050405020304" pitchFamily="18" charset="0"/>
              </a:rPr>
              <a:t>360</a:t>
            </a:r>
            <a:r>
              <a:rPr lang="zh-CN" altLang="zh-CN" sz="2800">
                <a:solidFill>
                  <a:srgbClr val="000000"/>
                </a:solidFill>
                <a:latin typeface="Times New Roman" panose="02020603050405020304" pitchFamily="18" charset="0"/>
                <a:cs typeface="Times New Roman" panose="02020603050405020304" pitchFamily="18" charset="0"/>
              </a:rPr>
              <a:t>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非优秀的有</a:t>
            </a:r>
            <a:r>
              <a:rPr lang="en-US" altLang="zh-CN" sz="2800">
                <a:solidFill>
                  <a:srgbClr val="000000"/>
                </a:solidFill>
                <a:latin typeface="Times New Roman" panose="02020603050405020304" pitchFamily="18" charset="0"/>
                <a:cs typeface="Times New Roman" panose="02020603050405020304" pitchFamily="18" charset="0"/>
              </a:rPr>
              <a:t>880</a:t>
            </a:r>
            <a:r>
              <a:rPr lang="zh-CN" altLang="zh-CN" sz="2800">
                <a:solidFill>
                  <a:srgbClr val="000000"/>
                </a:solidFill>
                <a:latin typeface="Times New Roman" panose="02020603050405020304" pitchFamily="18" charset="0"/>
                <a:cs typeface="Times New Roman" panose="02020603050405020304" pitchFamily="18" charset="0"/>
              </a:rPr>
              <a:t>人</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3958047071"/>
              </p:ext>
            </p:extLst>
          </p:nvPr>
        </p:nvGraphicFramePr>
        <p:xfrm>
          <a:off x="381000" y="2826887"/>
          <a:ext cx="11430000" cy="1920240"/>
        </p:xfrm>
        <a:graphic>
          <a:graphicData uri="http://schemas.openxmlformats.org/drawingml/2006/table">
            <a:tbl>
              <a:tblPr firstRow="1" firstCol="1" bandRow="1"/>
              <a:tblGrid>
                <a:gridCol w="2857500"/>
                <a:gridCol w="2857500"/>
                <a:gridCol w="2857500"/>
                <a:gridCol w="2857500"/>
              </a:tblGrid>
              <a:tr h="0">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数学成绩</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物理优秀</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化学优秀</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总分优秀</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优秀</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228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225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267</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非优秀</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143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156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62454"/>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零假设为</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数学成绩与物理成绩独立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即数学成绩对物理成绩没有影响</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根据已知数据列出</a:t>
            </a:r>
            <a:r>
              <a:rPr lang="en-US" altLang="zh-CN" sz="2800">
                <a:solidFill>
                  <a:srgbClr val="000000"/>
                </a:solidFill>
                <a:latin typeface="Times New Roman" panose="02020603050405020304" pitchFamily="18" charset="0"/>
                <a:cs typeface="Times New Roman" panose="02020603050405020304" pitchFamily="18" charset="0"/>
              </a:rPr>
              <a:t>2×2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列联表如下</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1227951838"/>
              </p:ext>
            </p:extLst>
          </p:nvPr>
        </p:nvGraphicFramePr>
        <p:xfrm>
          <a:off x="381000" y="1914821"/>
          <a:ext cx="11430000" cy="2453640"/>
        </p:xfrm>
        <a:graphic>
          <a:graphicData uri="http://schemas.openxmlformats.org/drawingml/2006/table">
            <a:tbl>
              <a:tblPr firstRow="1" firstCol="1" bandRow="1"/>
              <a:tblGrid>
                <a:gridCol w="2857500"/>
                <a:gridCol w="2857500"/>
                <a:gridCol w="2857500"/>
                <a:gridCol w="2857500"/>
              </a:tblGrid>
              <a:tr h="0">
                <a:tc rowSpan="2">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数学成绩</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物理成绩</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a:lstStyle/>
                    <a:p>
                      <a:endParaRPr lang="zh-CN" altLang="en-US"/>
                    </a:p>
                  </a:txBody>
                  <a:tcPr/>
                </a:tc>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物理优秀</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物理非优秀</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r>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数学优秀</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228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360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数学非优秀</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143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880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371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b+d</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en-US"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240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4" name="矩形 3"/>
          <p:cNvSpPr>
            <a:spLocks noChangeAspect="1"/>
          </p:cNvSpPr>
          <p:nvPr/>
        </p:nvSpPr>
        <p:spPr>
          <a:xfrm>
            <a:off x="381000" y="4430328"/>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a:solidFill>
                  <a:srgbClr val="000000"/>
                </a:solidFill>
                <a:latin typeface="Times New Roman" panose="02020603050405020304" pitchFamily="18" charset="0"/>
                <a:cs typeface="Times New Roman" panose="02020603050405020304" pitchFamily="18" charset="0"/>
              </a:rPr>
              <a:t>360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228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132,</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880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143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737,</a:t>
            </a:r>
            <a:r>
              <a:rPr lang="en-US" altLang="zh-CN" sz="2800" i="1">
                <a:solidFill>
                  <a:srgbClr val="000000"/>
                </a:solidFill>
                <a:latin typeface="Times New Roman" panose="02020603050405020304" pitchFamily="18" charset="0"/>
                <a:cs typeface="Times New Roman" panose="02020603050405020304" pitchFamily="18" charset="0"/>
              </a:rPr>
              <a:t>b+d=</a:t>
            </a:r>
            <a:r>
              <a:rPr lang="en-US" altLang="zh-CN" sz="2800">
                <a:solidFill>
                  <a:srgbClr val="000000"/>
                </a:solidFill>
                <a:latin typeface="Times New Roman" panose="02020603050405020304" pitchFamily="18" charset="0"/>
                <a:cs typeface="Times New Roman" panose="02020603050405020304" pitchFamily="18" charset="0"/>
              </a:rPr>
              <a:t>132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737</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869</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代入公式可得</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≈270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114</a:t>
            </a:r>
            <a:r>
              <a:rPr lang="en-US" altLang="zh-CN" sz="2800" i="1">
                <a:solidFill>
                  <a:srgbClr val="000000"/>
                </a:solidFill>
                <a:latin typeface="Times New Roman" panose="02020603050405020304" pitchFamily="18" charset="0"/>
                <a:cs typeface="Times New Roman" panose="02020603050405020304" pitchFamily="18" charset="0"/>
              </a:rPr>
              <a:t>&gt;</a:t>
            </a:r>
            <a:r>
              <a:rPr lang="en-US" altLang="zh-CN" sz="2800">
                <a:solidFill>
                  <a:srgbClr val="000000"/>
                </a:solidFill>
                <a:latin typeface="Times New Roman" panose="02020603050405020304" pitchFamily="18" charset="0"/>
                <a:cs typeface="Times New Roman" panose="02020603050405020304" pitchFamily="18" charset="0"/>
              </a:rPr>
              <a:t>10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828</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en-US" altLang="zh-CN" sz="2800" i="1" baseline="-25000">
                <a:solidFill>
                  <a:srgbClr val="000000"/>
                </a:solidFill>
                <a:latin typeface="Times New Roman" panose="02020603050405020304" pitchFamily="18" charset="0"/>
                <a:cs typeface="Times New Roman" panose="02020603050405020304" pitchFamily="18" charset="0"/>
              </a:rPr>
              <a:t>.</a:t>
            </a:r>
            <a:r>
              <a:rPr lang="en-US" altLang="zh-CN" sz="2800" baseline="-25000">
                <a:solidFill>
                  <a:srgbClr val="000000"/>
                </a:solidFill>
                <a:latin typeface="Times New Roman" panose="02020603050405020304" pitchFamily="18" charset="0"/>
                <a:cs typeface="Times New Roman" panose="02020603050405020304" pitchFamily="18" charset="0"/>
              </a:rPr>
              <a:t>001</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161111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954657"/>
            <a:ext cx="9052478"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按照上述方法列出数学与化学优秀的</a:t>
            </a:r>
            <a:r>
              <a:rPr lang="en-US" altLang="zh-CN" sz="2800">
                <a:solidFill>
                  <a:srgbClr val="000000"/>
                </a:solidFill>
                <a:latin typeface="Times New Roman" panose="02020603050405020304" pitchFamily="18" charset="0"/>
                <a:cs typeface="Times New Roman" panose="02020603050405020304" pitchFamily="18" charset="0"/>
              </a:rPr>
              <a:t>2×2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列联表如下</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2944492434"/>
              </p:ext>
            </p:extLst>
          </p:nvPr>
        </p:nvGraphicFramePr>
        <p:xfrm>
          <a:off x="381000" y="1713342"/>
          <a:ext cx="11430000" cy="2453640"/>
        </p:xfrm>
        <a:graphic>
          <a:graphicData uri="http://schemas.openxmlformats.org/drawingml/2006/table">
            <a:tbl>
              <a:tblPr firstRow="1" firstCol="1" bandRow="1"/>
              <a:tblGrid>
                <a:gridCol w="2857500"/>
                <a:gridCol w="2857500"/>
                <a:gridCol w="2857500"/>
                <a:gridCol w="2857500"/>
              </a:tblGrid>
              <a:tr h="0">
                <a:tc rowSpan="2">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数学成绩</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化学成绩</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a:lstStyle/>
                    <a:p>
                      <a:endParaRPr lang="zh-CN" altLang="en-US"/>
                    </a:p>
                  </a:txBody>
                  <a:tcPr/>
                </a:tc>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化学优秀</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化学非优秀</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r>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数学优秀</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225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135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360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数学非优秀</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156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724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880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381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859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en-US"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240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4" name="矩形 3"/>
          <p:cNvSpPr>
            <a:spLocks noChangeAspect="1"/>
          </p:cNvSpPr>
          <p:nvPr/>
        </p:nvSpPr>
        <p:spPr>
          <a:xfrm>
            <a:off x="381000" y="4343797"/>
            <a:ext cx="6318846"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代入公式可得</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≈240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611</a:t>
            </a:r>
            <a:r>
              <a:rPr lang="en-US" altLang="zh-CN" sz="2800" i="1">
                <a:solidFill>
                  <a:srgbClr val="000000"/>
                </a:solidFill>
                <a:latin typeface="Times New Roman" panose="02020603050405020304" pitchFamily="18" charset="0"/>
                <a:cs typeface="Times New Roman" panose="02020603050405020304" pitchFamily="18" charset="0"/>
              </a:rPr>
              <a:t>&gt;</a:t>
            </a:r>
            <a:r>
              <a:rPr lang="en-US" altLang="zh-CN" sz="2800">
                <a:solidFill>
                  <a:srgbClr val="000000"/>
                </a:solidFill>
                <a:latin typeface="Times New Roman" panose="02020603050405020304" pitchFamily="18" charset="0"/>
                <a:cs typeface="Times New Roman" panose="02020603050405020304" pitchFamily="18" charset="0"/>
              </a:rPr>
              <a:t>10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828</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en-US" altLang="zh-CN" sz="2800" i="1" baseline="-25000">
                <a:solidFill>
                  <a:srgbClr val="000000"/>
                </a:solidFill>
                <a:latin typeface="Times New Roman" panose="02020603050405020304" pitchFamily="18" charset="0"/>
                <a:cs typeface="Times New Roman" panose="02020603050405020304" pitchFamily="18" charset="0"/>
              </a:rPr>
              <a:t>.</a:t>
            </a:r>
            <a:r>
              <a:rPr lang="en-US" altLang="zh-CN" sz="2800" baseline="-25000">
                <a:solidFill>
                  <a:srgbClr val="000000"/>
                </a:solidFill>
                <a:latin typeface="Times New Roman" panose="02020603050405020304" pitchFamily="18" charset="0"/>
                <a:cs typeface="Times New Roman" panose="02020603050405020304" pitchFamily="18" charset="0"/>
              </a:rPr>
              <a:t>001</a:t>
            </a:r>
            <a:r>
              <a:rPr lang="en-US" altLang="zh-CN" sz="2800" i="1"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9592943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615491"/>
            <a:ext cx="6898042"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列出数学与总分优秀的</a:t>
            </a:r>
            <a:r>
              <a:rPr lang="en-US" altLang="zh-CN" sz="2800">
                <a:solidFill>
                  <a:srgbClr val="000000"/>
                </a:solidFill>
                <a:latin typeface="Times New Roman" panose="02020603050405020304" pitchFamily="18" charset="0"/>
                <a:cs typeface="Times New Roman" panose="02020603050405020304" pitchFamily="18" charset="0"/>
              </a:rPr>
              <a:t>2×2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列联表如下</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947975811"/>
              </p:ext>
            </p:extLst>
          </p:nvPr>
        </p:nvGraphicFramePr>
        <p:xfrm>
          <a:off x="381000" y="1442299"/>
          <a:ext cx="11430000" cy="2453640"/>
        </p:xfrm>
        <a:graphic>
          <a:graphicData uri="http://schemas.openxmlformats.org/drawingml/2006/table">
            <a:tbl>
              <a:tblPr firstRow="1" firstCol="1" bandRow="1"/>
              <a:tblGrid>
                <a:gridCol w="2857500"/>
                <a:gridCol w="2857500"/>
                <a:gridCol w="2857500"/>
                <a:gridCol w="2857500"/>
              </a:tblGrid>
              <a:tr h="0">
                <a:tc rowSpan="2">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数学成绩</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总成绩</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a:lstStyle/>
                    <a:p>
                      <a:endParaRPr lang="zh-CN" altLang="en-US"/>
                    </a:p>
                  </a:txBody>
                  <a:tcPr/>
                </a:tc>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总分优秀</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总分非优秀</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r>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数学优秀</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267</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360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数学非优秀</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781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880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366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874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en-US"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240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4" name="矩形 3"/>
          <p:cNvSpPr>
            <a:spLocks noChangeAspect="1"/>
          </p:cNvSpPr>
          <p:nvPr/>
        </p:nvSpPr>
        <p:spPr>
          <a:xfrm>
            <a:off x="381000" y="3852300"/>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代入公式可得</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≈486</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123</a:t>
            </a:r>
            <a:r>
              <a:rPr lang="en-US" altLang="zh-CN" sz="2800" i="1">
                <a:solidFill>
                  <a:srgbClr val="000000"/>
                </a:solidFill>
                <a:latin typeface="Times New Roman" panose="02020603050405020304" pitchFamily="18" charset="0"/>
                <a:cs typeface="Times New Roman" panose="02020603050405020304" pitchFamily="18" charset="0"/>
              </a:rPr>
              <a:t>&gt;</a:t>
            </a:r>
            <a:r>
              <a:rPr lang="en-US" altLang="zh-CN" sz="2800">
                <a:solidFill>
                  <a:srgbClr val="000000"/>
                </a:solidFill>
                <a:latin typeface="Times New Roman" panose="02020603050405020304" pitchFamily="18" charset="0"/>
                <a:cs typeface="Times New Roman" panose="02020603050405020304" pitchFamily="18" charset="0"/>
              </a:rPr>
              <a:t>10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828</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en-US" altLang="zh-CN" sz="2800" i="1" baseline="-25000">
                <a:solidFill>
                  <a:srgbClr val="000000"/>
                </a:solidFill>
                <a:latin typeface="Times New Roman" panose="02020603050405020304" pitchFamily="18" charset="0"/>
                <a:cs typeface="Times New Roman" panose="02020603050405020304" pitchFamily="18" charset="0"/>
              </a:rPr>
              <a:t>.</a:t>
            </a:r>
            <a:r>
              <a:rPr lang="en-US" altLang="zh-CN" sz="2800" baseline="-25000">
                <a:solidFill>
                  <a:srgbClr val="000000"/>
                </a:solidFill>
                <a:latin typeface="Times New Roman" panose="02020603050405020304" pitchFamily="18" charset="0"/>
                <a:cs typeface="Times New Roman" panose="02020603050405020304" pitchFamily="18" charset="0"/>
              </a:rPr>
              <a:t>001</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根据小概率值</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001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的独立性检验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我们认为数学成绩优秀与物理、化学、总分优秀有关系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此推断犯错误的概率不大于</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001</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029159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590369894"/>
              </p:ext>
            </p:extLst>
          </p:nvPr>
        </p:nvGraphicFramePr>
        <p:xfrm>
          <a:off x="458424" y="1284917"/>
          <a:ext cx="11275153" cy="494148"/>
        </p:xfrm>
        <a:graphic>
          <a:graphicData uri="http://schemas.openxmlformats.org/presentationml/2006/ole">
            <mc:AlternateContent xmlns:mc="http://schemas.openxmlformats.org/markup-compatibility/2006">
              <mc:Choice xmlns:v="urn:schemas-microsoft-com:vml" Requires="v">
                <p:oleObj spid="_x0000_s17432"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284917"/>
                        <a:ext cx="11275153" cy="494148"/>
                      </a:xfrm>
                      <a:prstGeom prst="rect">
                        <a:avLst/>
                      </a:prstGeom>
                    </p:spPr>
                  </p:pic>
                </p:oleObj>
              </mc:Fallback>
            </mc:AlternateContent>
          </a:graphicData>
        </a:graphic>
      </p:graphicFrame>
      <p:sp>
        <p:nvSpPr>
          <p:cNvPr id="3" name="矩形 2"/>
          <p:cNvSpPr>
            <a:spLocks noChangeAspect="1"/>
          </p:cNvSpPr>
          <p:nvPr/>
        </p:nvSpPr>
        <p:spPr>
          <a:xfrm>
            <a:off x="381000" y="1897537"/>
            <a:ext cx="11430000" cy="227267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进行独立性检验的步骤</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列表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列出</a:t>
            </a:r>
            <a:r>
              <a:rPr lang="en-US" altLang="zh-CN" sz="2800">
                <a:solidFill>
                  <a:srgbClr val="000000"/>
                </a:solidFill>
                <a:latin typeface="Times New Roman" panose="02020603050405020304" pitchFamily="18" charset="0"/>
                <a:cs typeface="Times New Roman" panose="02020603050405020304" pitchFamily="18" charset="0"/>
              </a:rPr>
              <a:t>2×2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列联表</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求出</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的值</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判断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与临界值比较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得出事件有关的可能性大小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作出判断</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015480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79145"/>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某周末</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某公园内汇聚了很多游客</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面对该公园内相邻的两个主题园区</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和</a:t>
            </a: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成年人和未成年人选择游玩的意向会有所不同</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某统计机构对公园内的</a:t>
            </a:r>
            <a:r>
              <a:rPr lang="en-US" altLang="zh-CN" sz="2800">
                <a:solidFill>
                  <a:srgbClr val="000000"/>
                </a:solidFill>
                <a:latin typeface="Times New Roman" panose="02020603050405020304" pitchFamily="18" charset="0"/>
                <a:cs typeface="Times New Roman" panose="02020603050405020304" pitchFamily="18" charset="0"/>
              </a:rPr>
              <a:t>100</a:t>
            </a:r>
            <a:r>
              <a:rPr lang="zh-CN" altLang="zh-CN" sz="2800">
                <a:solidFill>
                  <a:srgbClr val="000000"/>
                </a:solidFill>
                <a:latin typeface="Times New Roman" panose="02020603050405020304" pitchFamily="18" charset="0"/>
                <a:cs typeface="Times New Roman" panose="02020603050405020304" pitchFamily="18" charset="0"/>
              </a:rPr>
              <a:t>位游客</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这些游客只在两个主题园区中二选一</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进行了问卷调查</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调查结果显示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在被调查的</a:t>
            </a:r>
            <a:r>
              <a:rPr lang="en-US" altLang="zh-CN" sz="2800">
                <a:solidFill>
                  <a:srgbClr val="000000"/>
                </a:solidFill>
                <a:latin typeface="Times New Roman" panose="02020603050405020304" pitchFamily="18" charset="0"/>
                <a:cs typeface="Times New Roman" panose="02020603050405020304" pitchFamily="18" charset="0"/>
              </a:rPr>
              <a:t>50</a:t>
            </a:r>
            <a:r>
              <a:rPr lang="zh-CN" altLang="zh-CN" sz="2800">
                <a:solidFill>
                  <a:srgbClr val="000000"/>
                </a:solidFill>
                <a:latin typeface="Times New Roman" panose="02020603050405020304" pitchFamily="18" charset="0"/>
                <a:cs typeface="Times New Roman" panose="02020603050405020304" pitchFamily="18" charset="0"/>
              </a:rPr>
              <a:t>位成年人中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只有</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cs typeface="Times New Roman" panose="02020603050405020304" pitchFamily="18" charset="0"/>
              </a:rPr>
              <a:t>人选择</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而选择</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的未成年人有</a:t>
            </a:r>
            <a:r>
              <a:rPr lang="en-US" altLang="zh-CN" sz="2800">
                <a:solidFill>
                  <a:srgbClr val="000000"/>
                </a:solidFill>
                <a:latin typeface="Times New Roman" panose="02020603050405020304" pitchFamily="18" charset="0"/>
                <a:cs typeface="Times New Roman" panose="02020603050405020304" pitchFamily="18" charset="0"/>
              </a:rPr>
              <a:t>20</a:t>
            </a:r>
            <a:r>
              <a:rPr lang="zh-CN" altLang="zh-CN" sz="2800">
                <a:solidFill>
                  <a:srgbClr val="000000"/>
                </a:solidFill>
                <a:latin typeface="Times New Roman" panose="02020603050405020304" pitchFamily="18" charset="0"/>
                <a:cs typeface="Times New Roman" panose="02020603050405020304" pitchFamily="18" charset="0"/>
              </a:rPr>
              <a:t>人</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根据题意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请将下面的</a:t>
            </a:r>
            <a:r>
              <a:rPr lang="en-US" altLang="zh-CN" sz="2800">
                <a:solidFill>
                  <a:srgbClr val="000000"/>
                </a:solidFill>
                <a:latin typeface="Times New Roman" panose="02020603050405020304" pitchFamily="18" charset="0"/>
                <a:cs typeface="Times New Roman" panose="02020603050405020304" pitchFamily="18" charset="0"/>
              </a:rPr>
              <a:t>2×2</a:t>
            </a:r>
            <a:r>
              <a:rPr lang="zh-CN" altLang="zh-CN" sz="2800">
                <a:solidFill>
                  <a:srgbClr val="000000"/>
                </a:solidFill>
                <a:latin typeface="Times New Roman" panose="02020603050405020304" pitchFamily="18" charset="0"/>
                <a:cs typeface="Times New Roman" panose="02020603050405020304" pitchFamily="18" charset="0"/>
              </a:rPr>
              <a:t>列联表填写完整</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1178195663"/>
              </p:ext>
            </p:extLst>
          </p:nvPr>
        </p:nvGraphicFramePr>
        <p:xfrm>
          <a:off x="381000" y="3672125"/>
          <a:ext cx="11430000" cy="2560320"/>
        </p:xfrm>
        <a:graphic>
          <a:graphicData uri="http://schemas.openxmlformats.org/drawingml/2006/table">
            <a:tbl>
              <a:tblPr firstRow="1" firstCol="1" bandRow="1"/>
              <a:tblGrid>
                <a:gridCol w="2857500"/>
                <a:gridCol w="2857500"/>
                <a:gridCol w="2857500"/>
                <a:gridCol w="2857500"/>
              </a:tblGrid>
              <a:tr h="0">
                <a:tc rowSpan="2">
                  <a:txBody>
                    <a:bodyPr/>
                    <a:lstStyle/>
                    <a:p>
                      <a:pPr algn="ctr">
                        <a:lnSpc>
                          <a:spcPct val="12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年龄特征</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2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主题园区</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lnSpc>
                          <a:spcPct val="12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a:lstStyle/>
                    <a:p>
                      <a:endParaRPr lang="zh-CN" altLang="en-US"/>
                    </a:p>
                  </a:txBody>
                  <a:tcPr/>
                </a:tc>
                <a:tc>
                  <a:txBody>
                    <a:bodyPr/>
                    <a:lstStyle/>
                    <a:p>
                      <a:pPr algn="ctr">
                        <a:lnSpc>
                          <a:spcPct val="12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选</a:t>
                      </a:r>
                      <a:r>
                        <a:rPr lang="zh-CN" sz="280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择</a:t>
                      </a:r>
                      <a:r>
                        <a:rPr lang="en-US" altLang="zh-CN" sz="2800" smtClean="0">
                          <a:solidFill>
                            <a:srgbClr val="000000"/>
                          </a:solidFill>
                          <a:latin typeface="Times New Roman" panose="02020603050405020304" pitchFamily="18" charset="0"/>
                          <a:cs typeface="Times New Roman" panose="02020603050405020304" pitchFamily="18" charset="0"/>
                        </a:rPr>
                        <a:t>A</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选</a:t>
                      </a:r>
                      <a:r>
                        <a:rPr lang="zh-CN" sz="280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择</a:t>
                      </a:r>
                      <a:r>
                        <a:rPr lang="en-US" sz="280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r>
              <a:tr h="0">
                <a:tc>
                  <a:txBody>
                    <a:bodyPr/>
                    <a:lstStyle/>
                    <a:p>
                      <a:pPr algn="ctr">
                        <a:lnSpc>
                          <a:spcPct val="12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成年人</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tabLst>
                          <a:tab pos="1188085" algn="l"/>
                          <a:tab pos="2163445" algn="l"/>
                          <a:tab pos="3142615" algn="l"/>
                          <a:tab pos="4190365" algn="l"/>
                        </a:tabLst>
                      </a:pPr>
                      <a:r>
                        <a:rPr lang="en-US" sz="2800">
                          <a:solidFill>
                            <a:srgbClr val="000000"/>
                          </a:solidFill>
                          <a:effectLst/>
                          <a:latin typeface="NEU-BZ-S92"/>
                          <a:ea typeface="方正书宋_GBK" panose="03000509000000000000" pitchFamily="65" charset="-122"/>
                          <a:cs typeface="Times New Roman" panose="02020603050405020304" pitchFamily="18" charset="0"/>
                        </a:rPr>
                        <a:t> </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tabLst>
                          <a:tab pos="1188085" algn="l"/>
                          <a:tab pos="2163445" algn="l"/>
                          <a:tab pos="3142615" algn="l"/>
                          <a:tab pos="4190365" algn="l"/>
                        </a:tabLst>
                      </a:pPr>
                      <a:r>
                        <a:rPr lang="en-US" sz="2800">
                          <a:solidFill>
                            <a:srgbClr val="000000"/>
                          </a:solidFill>
                          <a:effectLst/>
                          <a:latin typeface="NEU-BZ-S92"/>
                          <a:ea typeface="方正书宋_GBK" panose="03000509000000000000" pitchFamily="65" charset="-122"/>
                          <a:cs typeface="Times New Roman" panose="02020603050405020304" pitchFamily="18" charset="0"/>
                        </a:rPr>
                        <a:t> </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tabLst>
                          <a:tab pos="1188085" algn="l"/>
                          <a:tab pos="2163445" algn="l"/>
                          <a:tab pos="3142615" algn="l"/>
                          <a:tab pos="4190365" algn="l"/>
                        </a:tabLst>
                      </a:pPr>
                      <a:r>
                        <a:rPr lang="en-US" sz="2800">
                          <a:solidFill>
                            <a:srgbClr val="000000"/>
                          </a:solidFill>
                          <a:effectLst/>
                          <a:latin typeface="NEU-BZ-S92"/>
                          <a:ea typeface="方正书宋_GBK" panose="03000509000000000000" pitchFamily="65" charset="-122"/>
                          <a:cs typeface="Times New Roman" panose="02020603050405020304" pitchFamily="18" charset="0"/>
                        </a:rPr>
                        <a:t> </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2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未成年人</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tabLst>
                          <a:tab pos="1188085" algn="l"/>
                          <a:tab pos="2163445" algn="l"/>
                          <a:tab pos="3142615" algn="l"/>
                          <a:tab pos="4190365" algn="l"/>
                        </a:tabLst>
                      </a:pPr>
                      <a:r>
                        <a:rPr lang="en-US" sz="2800">
                          <a:solidFill>
                            <a:srgbClr val="000000"/>
                          </a:solidFill>
                          <a:effectLst/>
                          <a:latin typeface="NEU-BZ-S92"/>
                          <a:ea typeface="方正书宋_GBK" panose="03000509000000000000" pitchFamily="65" charset="-122"/>
                          <a:cs typeface="Times New Roman" panose="02020603050405020304" pitchFamily="18" charset="0"/>
                        </a:rPr>
                        <a:t> </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tabLst>
                          <a:tab pos="1188085" algn="l"/>
                          <a:tab pos="2163445" algn="l"/>
                          <a:tab pos="3142615" algn="l"/>
                          <a:tab pos="4190365" algn="l"/>
                        </a:tabLst>
                      </a:pPr>
                      <a:r>
                        <a:rPr lang="en-US" sz="2800">
                          <a:solidFill>
                            <a:srgbClr val="000000"/>
                          </a:solidFill>
                          <a:effectLst/>
                          <a:latin typeface="NEU-BZ-S92"/>
                          <a:ea typeface="方正书宋_GBK" panose="03000509000000000000" pitchFamily="65" charset="-122"/>
                          <a:cs typeface="Times New Roman" panose="02020603050405020304" pitchFamily="18" charset="0"/>
                        </a:rPr>
                        <a:t> </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tabLst>
                          <a:tab pos="1188085" algn="l"/>
                          <a:tab pos="2163445" algn="l"/>
                          <a:tab pos="3142615" algn="l"/>
                          <a:tab pos="4190365" algn="l"/>
                        </a:tabLst>
                      </a:pPr>
                      <a:r>
                        <a:rPr lang="en-US" sz="2800">
                          <a:solidFill>
                            <a:srgbClr val="000000"/>
                          </a:solidFill>
                          <a:effectLst/>
                          <a:latin typeface="NEU-BZ-S92"/>
                          <a:ea typeface="方正书宋_GBK" panose="03000509000000000000" pitchFamily="65" charset="-122"/>
                          <a:cs typeface="Times New Roman" panose="02020603050405020304" pitchFamily="18" charset="0"/>
                        </a:rPr>
                        <a:t> </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2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20000"/>
                        </a:lnSpc>
                        <a:spcAft>
                          <a:spcPts val="0"/>
                        </a:spcAft>
                        <a:tabLst>
                          <a:tab pos="1188085" algn="l"/>
                          <a:tab pos="2163445" algn="l"/>
                          <a:tab pos="3142615" algn="l"/>
                          <a:tab pos="4190365" algn="l"/>
                        </a:tabLst>
                      </a:pPr>
                      <a:r>
                        <a:rPr lang="en-US" sz="2800">
                          <a:solidFill>
                            <a:srgbClr val="000000"/>
                          </a:solidFill>
                          <a:effectLst/>
                          <a:latin typeface="NEU-BZ-S92"/>
                          <a:ea typeface="方正书宋_GBK" panose="03000509000000000000" pitchFamily="65" charset="-122"/>
                          <a:cs typeface="Times New Roman" panose="02020603050405020304" pitchFamily="18" charset="0"/>
                        </a:rPr>
                        <a:t> </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20000"/>
                        </a:lnSpc>
                        <a:spcAft>
                          <a:spcPts val="0"/>
                        </a:spcAft>
                        <a:tabLst>
                          <a:tab pos="1188085" algn="l"/>
                          <a:tab pos="2163445" algn="l"/>
                          <a:tab pos="3142615" algn="l"/>
                          <a:tab pos="4190365" algn="l"/>
                        </a:tabLst>
                      </a:pPr>
                      <a:r>
                        <a:rPr lang="en-US" sz="2800">
                          <a:solidFill>
                            <a:srgbClr val="000000"/>
                          </a:solidFill>
                          <a:effectLst/>
                          <a:latin typeface="NEU-BZ-S92"/>
                          <a:ea typeface="方正书宋_GBK" panose="03000509000000000000" pitchFamily="65" charset="-122"/>
                          <a:cs typeface="Times New Roman" panose="02020603050405020304" pitchFamily="18" charset="0"/>
                        </a:rPr>
                        <a:t> </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20000"/>
                        </a:lnSpc>
                        <a:spcAft>
                          <a:spcPts val="0"/>
                        </a:spcAft>
                        <a:tabLst>
                          <a:tab pos="1188085" algn="l"/>
                          <a:tab pos="2163445" algn="l"/>
                          <a:tab pos="3142615" algn="l"/>
                          <a:tab pos="4190365" algn="l"/>
                        </a:tabLst>
                      </a:pPr>
                      <a:r>
                        <a:rPr lang="en-US" sz="2800">
                          <a:solidFill>
                            <a:srgbClr val="000000"/>
                          </a:solidFill>
                          <a:effectLst/>
                          <a:latin typeface="NEU-BZ-S92"/>
                          <a:ea typeface="方正书宋_GBK" panose="03000509000000000000" pitchFamily="65" charset="-122"/>
                          <a:cs typeface="Times New Roman" panose="02020603050405020304" pitchFamily="18" charset="0"/>
                        </a:rPr>
                        <a:t> </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5292975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52180"/>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根据小概率值</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01</a:t>
            </a:r>
            <a:r>
              <a:rPr lang="zh-CN" altLang="zh-CN" sz="2800">
                <a:solidFill>
                  <a:srgbClr val="000000"/>
                </a:solidFill>
                <a:latin typeface="Times New Roman" panose="02020603050405020304" pitchFamily="18" charset="0"/>
                <a:cs typeface="Times New Roman" panose="02020603050405020304" pitchFamily="18" charset="0"/>
              </a:rPr>
              <a:t>的独立性检验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分析选择哪个主题园区与年龄特征的相关性</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802302784"/>
              </p:ext>
            </p:extLst>
          </p:nvPr>
        </p:nvGraphicFramePr>
        <p:xfrm>
          <a:off x="458424" y="2061621"/>
          <a:ext cx="11275153" cy="2125728"/>
        </p:xfrm>
        <a:graphic>
          <a:graphicData uri="http://schemas.openxmlformats.org/presentationml/2006/ole">
            <mc:AlternateContent xmlns:mc="http://schemas.openxmlformats.org/markup-compatibility/2006">
              <mc:Choice xmlns:v="urn:schemas-microsoft-com:vml" Requires="v">
                <p:oleObj spid="_x0000_s15383" name="文档" r:id="rId4" imgW="4510061" imgH="850291" progId="Word.Document.12">
                  <p:embed/>
                </p:oleObj>
              </mc:Choice>
              <mc:Fallback>
                <p:oleObj name="文档" r:id="rId4" imgW="4510061" imgH="850291" progId="Word.Document.12">
                  <p:embed/>
                  <p:pic>
                    <p:nvPicPr>
                      <p:cNvPr id="0" name=""/>
                      <p:cNvPicPr/>
                      <p:nvPr/>
                    </p:nvPicPr>
                    <p:blipFill>
                      <a:blip r:embed="rId5"/>
                      <a:stretch>
                        <a:fillRect/>
                      </a:stretch>
                    </p:blipFill>
                    <p:spPr>
                      <a:xfrm>
                        <a:off x="458424" y="2061621"/>
                        <a:ext cx="11275153" cy="2125728"/>
                      </a:xfrm>
                      <a:prstGeom prst="rect">
                        <a:avLst/>
                      </a:prstGeom>
                    </p:spPr>
                  </p:pic>
                </p:oleObj>
              </mc:Fallback>
            </mc:AlternateContent>
          </a:graphicData>
        </a:graphic>
      </p:graphicFrame>
      <p:graphicFrame>
        <p:nvGraphicFramePr>
          <p:cNvPr id="4" name="表格 3"/>
          <p:cNvGraphicFramePr>
            <a:graphicFrameLocks noGrp="1" noChangeAspect="1"/>
          </p:cNvGraphicFramePr>
          <p:nvPr>
            <p:extLst>
              <p:ext uri="{D42A27DB-BD31-4B8C-83A1-F6EECF244321}">
                <p14:modId xmlns:p14="http://schemas.microsoft.com/office/powerpoint/2010/main" val="95650499"/>
              </p:ext>
            </p:extLst>
          </p:nvPr>
        </p:nvGraphicFramePr>
        <p:xfrm>
          <a:off x="381000" y="4187349"/>
          <a:ext cx="11430000" cy="1280160"/>
        </p:xfrm>
        <a:graphic>
          <a:graphicData uri="http://schemas.openxmlformats.org/drawingml/2006/table">
            <a:tbl>
              <a:tblPr firstRow="1" firstCol="1" bandRow="1"/>
              <a:tblGrid>
                <a:gridCol w="1905000"/>
                <a:gridCol w="1905000"/>
                <a:gridCol w="1905000"/>
                <a:gridCol w="1905000"/>
                <a:gridCol w="1905000"/>
                <a:gridCol w="1905000"/>
              </a:tblGrid>
              <a:tr h="0">
                <a:tc>
                  <a:txBody>
                    <a:bodyPr/>
                    <a:lstStyle/>
                    <a:p>
                      <a:pPr algn="ctr">
                        <a:lnSpc>
                          <a:spcPct val="150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i="1" baseline="-2500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841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635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879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828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42271533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79925"/>
            <a:ext cx="7446269"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根据题目中的数据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列出</a:t>
            </a:r>
            <a:r>
              <a:rPr lang="en-US" altLang="zh-CN" sz="2800">
                <a:solidFill>
                  <a:srgbClr val="000000"/>
                </a:solidFill>
                <a:latin typeface="Times New Roman" panose="02020603050405020304" pitchFamily="18" charset="0"/>
                <a:cs typeface="Times New Roman" panose="02020603050405020304" pitchFamily="18" charset="0"/>
              </a:rPr>
              <a:t>2×2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列联表如下</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426129814"/>
              </p:ext>
            </p:extLst>
          </p:nvPr>
        </p:nvGraphicFramePr>
        <p:xfrm>
          <a:off x="381000" y="938865"/>
          <a:ext cx="11430000" cy="2237867"/>
        </p:xfrm>
        <a:graphic>
          <a:graphicData uri="http://schemas.openxmlformats.org/drawingml/2006/table">
            <a:tbl>
              <a:tblPr firstRow="1" firstCol="1" bandRow="1"/>
              <a:tblGrid>
                <a:gridCol w="2857500"/>
                <a:gridCol w="2857500"/>
                <a:gridCol w="2857500"/>
                <a:gridCol w="2857500"/>
              </a:tblGrid>
              <a:tr h="0">
                <a:tc rowSpan="2">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年龄特征</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主题园区</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a:lstStyle/>
                    <a:p>
                      <a:endParaRPr lang="zh-CN" altLang="en-US"/>
                    </a:p>
                  </a:txBody>
                  <a:tcPr/>
                </a:tc>
                <a:tc>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选</a:t>
                      </a:r>
                      <a:r>
                        <a:rPr lang="zh-CN" sz="26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择</a:t>
                      </a:r>
                      <a:r>
                        <a:rPr lang="en-US" sz="260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选</a:t>
                      </a:r>
                      <a:r>
                        <a:rPr lang="zh-CN" sz="26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择</a:t>
                      </a:r>
                      <a:r>
                        <a:rPr lang="en-US" sz="260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r>
              <a:tr h="0">
                <a:tc>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成年人</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未成年人</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4" name="矩形 3"/>
          <p:cNvSpPr>
            <a:spLocks noChangeAspect="1"/>
          </p:cNvSpPr>
          <p:nvPr/>
        </p:nvSpPr>
        <p:spPr>
          <a:xfrm>
            <a:off x="381000" y="3181109"/>
            <a:ext cx="11430000" cy="297927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零假设为</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年龄特征与选择主题园区独立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即成年人和未成年人对主题园区的选择没有差异</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50000"/>
              </a:lnSpc>
              <a:spcAft>
                <a:spcPts val="0"/>
              </a:spcAft>
              <a:tabLst>
                <a:tab pos="1188085" algn="l"/>
                <a:tab pos="2163445" algn="l"/>
                <a:tab pos="3142615" algn="l"/>
                <a:tab pos="4190365" algn="l"/>
              </a:tabLst>
            </a:pPr>
            <a:endParaRPr lang="en-US" altLang="zh-CN" sz="2800" i="1" smtClean="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根据</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小概率值</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01</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的独立性检验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没有充分证据推断</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不成立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因此可以认为</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成立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即认为年龄特征与选择主题园区无关</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981478850"/>
              </p:ext>
            </p:extLst>
          </p:nvPr>
        </p:nvGraphicFramePr>
        <p:xfrm>
          <a:off x="458424" y="4122788"/>
          <a:ext cx="11275153" cy="989193"/>
        </p:xfrm>
        <a:graphic>
          <a:graphicData uri="http://schemas.openxmlformats.org/presentationml/2006/ole">
            <mc:AlternateContent xmlns:mc="http://schemas.openxmlformats.org/markup-compatibility/2006">
              <mc:Choice xmlns:v="urn:schemas-microsoft-com:vml" Requires="v">
                <p:oleObj spid="_x0000_s16407" name="文档" r:id="rId4" imgW="4510061" imgH="395677" progId="Word.Document.12">
                  <p:embed/>
                </p:oleObj>
              </mc:Choice>
              <mc:Fallback>
                <p:oleObj name="文档" r:id="rId4" imgW="4510061" imgH="395677" progId="Word.Document.12">
                  <p:embed/>
                  <p:pic>
                    <p:nvPicPr>
                      <p:cNvPr id="0" name=""/>
                      <p:cNvPicPr/>
                      <p:nvPr/>
                    </p:nvPicPr>
                    <p:blipFill>
                      <a:blip r:embed="rId5"/>
                      <a:stretch>
                        <a:fillRect/>
                      </a:stretch>
                    </p:blipFill>
                    <p:spPr>
                      <a:xfrm>
                        <a:off x="458424" y="4122788"/>
                        <a:ext cx="11275153" cy="989193"/>
                      </a:xfrm>
                      <a:prstGeom prst="rect">
                        <a:avLst/>
                      </a:prstGeom>
                    </p:spPr>
                  </p:pic>
                </p:oleObj>
              </mc:Fallback>
            </mc:AlternateContent>
          </a:graphicData>
        </a:graphic>
      </p:graphicFrame>
    </p:spTree>
    <p:extLst>
      <p:ext uri="{BB962C8B-B14F-4D97-AF65-F5344CB8AC3E}">
        <p14:creationId xmlns:p14="http://schemas.microsoft.com/office/powerpoint/2010/main" val="18451212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探究三</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独立性检验的综合应用</a:t>
                </a:r>
                <a:endParaRPr lang="zh-CN" altLang="en-US" sz="2800" b="1" dirty="0">
                  <a:solidFill>
                    <a:schemeClr val="bg1"/>
                  </a:solidFill>
                </a:endParaRPr>
              </a:p>
            </p:txBody>
          </p:sp>
        </p:grpSp>
      </p:grpSp>
      <p:sp>
        <p:nvSpPr>
          <p:cNvPr id="2" name="矩形 1"/>
          <p:cNvSpPr>
            <a:spLocks noChangeAspect="1"/>
          </p:cNvSpPr>
          <p:nvPr/>
        </p:nvSpPr>
        <p:spPr>
          <a:xfrm>
            <a:off x="381000" y="968576"/>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某市环保部门对该市市民进行了一次垃圾分类知识的网络问卷调查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每位市民仅有一次参加机会</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通过简单随机抽样</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得到参与问卷调查的</a:t>
            </a:r>
            <a:r>
              <a:rPr lang="en-US" altLang="zh-CN" sz="2800">
                <a:solidFill>
                  <a:srgbClr val="000000"/>
                </a:solidFill>
                <a:latin typeface="Times New Roman" panose="02020603050405020304" pitchFamily="18" charset="0"/>
                <a:cs typeface="Times New Roman" panose="02020603050405020304" pitchFamily="18" charset="0"/>
              </a:rPr>
              <a:t>100</a:t>
            </a:r>
            <a:r>
              <a:rPr lang="zh-CN" altLang="zh-CN" sz="2800">
                <a:solidFill>
                  <a:srgbClr val="000000"/>
                </a:solidFill>
                <a:latin typeface="Times New Roman" panose="02020603050405020304" pitchFamily="18" charset="0"/>
                <a:cs typeface="Times New Roman" panose="02020603050405020304" pitchFamily="18" charset="0"/>
              </a:rPr>
              <a:t>人的得分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满分</a:t>
            </a:r>
            <a:r>
              <a:rPr lang="en-US" altLang="zh-CN" sz="2800">
                <a:solidFill>
                  <a:srgbClr val="000000"/>
                </a:solidFill>
                <a:latin typeface="Times New Roman" panose="02020603050405020304" pitchFamily="18" charset="0"/>
                <a:cs typeface="Times New Roman" panose="02020603050405020304" pitchFamily="18" charset="0"/>
              </a:rPr>
              <a:t>:100</a:t>
            </a:r>
            <a:r>
              <a:rPr lang="zh-CN" altLang="zh-CN" sz="2800">
                <a:solidFill>
                  <a:srgbClr val="000000"/>
                </a:solidFill>
                <a:latin typeface="Times New Roman" panose="02020603050405020304" pitchFamily="18" charset="0"/>
                <a:cs typeface="Times New Roman" panose="02020603050405020304" pitchFamily="18" charset="0"/>
              </a:rPr>
              <a:t>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数据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统计结果如表所示</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3669125262"/>
              </p:ext>
            </p:extLst>
          </p:nvPr>
        </p:nvGraphicFramePr>
        <p:xfrm>
          <a:off x="381000" y="2681096"/>
          <a:ext cx="11429999" cy="1920240"/>
        </p:xfrm>
        <a:graphic>
          <a:graphicData uri="http://schemas.openxmlformats.org/drawingml/2006/table">
            <a:tbl>
              <a:tblPr firstRow="1" firstCol="1" bandRow="1"/>
              <a:tblGrid>
                <a:gridCol w="1632857"/>
                <a:gridCol w="1632857"/>
                <a:gridCol w="1632857"/>
                <a:gridCol w="1632857"/>
                <a:gridCol w="1632857"/>
                <a:gridCol w="1632857"/>
                <a:gridCol w="1632857"/>
              </a:tblGrid>
              <a:tr h="0">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组别</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[40,50)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[50,60)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[60,70)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[70,80)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[80,90)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[90,100)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男</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女</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4" name="矩形 3"/>
          <p:cNvSpPr>
            <a:spLocks noChangeAspect="1"/>
          </p:cNvSpPr>
          <p:nvPr/>
        </p:nvSpPr>
        <p:spPr>
          <a:xfrm>
            <a:off x="381000" y="4491973"/>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若规定问卷得分不低于</a:t>
            </a:r>
            <a:r>
              <a:rPr lang="en-US" altLang="zh-CN" sz="2800">
                <a:solidFill>
                  <a:srgbClr val="000000"/>
                </a:solidFill>
                <a:latin typeface="Times New Roman" panose="02020603050405020304" pitchFamily="18" charset="0"/>
                <a:cs typeface="Times New Roman" panose="02020603050405020304" pitchFamily="18" charset="0"/>
              </a:rPr>
              <a:t>70</a:t>
            </a:r>
            <a:r>
              <a:rPr lang="zh-CN" altLang="zh-CN" sz="2800">
                <a:solidFill>
                  <a:srgbClr val="000000"/>
                </a:solidFill>
                <a:latin typeface="Times New Roman" panose="02020603050405020304" pitchFamily="18" charset="0"/>
                <a:cs typeface="Times New Roman" panose="02020603050405020304" pitchFamily="18" charset="0"/>
              </a:rPr>
              <a:t>分的市民称为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环保关注者</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请列出</a:t>
            </a:r>
            <a:r>
              <a:rPr lang="en-US" altLang="zh-CN" sz="2800">
                <a:solidFill>
                  <a:srgbClr val="000000"/>
                </a:solidFill>
                <a:latin typeface="Times New Roman" panose="02020603050405020304" pitchFamily="18" charset="0"/>
                <a:cs typeface="Times New Roman" panose="02020603050405020304" pitchFamily="18" charset="0"/>
              </a:rPr>
              <a:t>2×2</a:t>
            </a:r>
            <a:r>
              <a:rPr lang="zh-CN" altLang="zh-CN" sz="2800">
                <a:solidFill>
                  <a:srgbClr val="000000"/>
                </a:solidFill>
                <a:latin typeface="Times New Roman" panose="02020603050405020304" pitchFamily="18" charset="0"/>
                <a:cs typeface="Times New Roman" panose="02020603050405020304" pitchFamily="18" charset="0"/>
              </a:rPr>
              <a:t>列联表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依据小概率值</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05</a:t>
            </a:r>
            <a:r>
              <a:rPr lang="zh-CN" altLang="zh-CN" sz="2800">
                <a:solidFill>
                  <a:srgbClr val="000000"/>
                </a:solidFill>
                <a:latin typeface="Times New Roman" panose="02020603050405020304" pitchFamily="18" charset="0"/>
                <a:cs typeface="Times New Roman" panose="02020603050405020304" pitchFamily="18" charset="0"/>
              </a:rPr>
              <a:t>的独立性检验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分析</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环保关注者</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是否与性别有关</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15450"/>
            <a:ext cx="11430000" cy="339298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若问卷得分不低于</a:t>
            </a:r>
            <a:r>
              <a:rPr lang="en-US" altLang="zh-CN" sz="2800">
                <a:solidFill>
                  <a:srgbClr val="000000"/>
                </a:solidFill>
                <a:latin typeface="Times New Roman" panose="02020603050405020304" pitchFamily="18" charset="0"/>
                <a:cs typeface="Times New Roman" panose="02020603050405020304" pitchFamily="18" charset="0"/>
              </a:rPr>
              <a:t>80</a:t>
            </a:r>
            <a:r>
              <a:rPr lang="zh-CN" altLang="zh-CN" sz="2800">
                <a:solidFill>
                  <a:srgbClr val="000000"/>
                </a:solidFill>
                <a:latin typeface="Times New Roman" panose="02020603050405020304" pitchFamily="18" charset="0"/>
                <a:cs typeface="Times New Roman" panose="02020603050405020304" pitchFamily="18" charset="0"/>
              </a:rPr>
              <a:t>分的人称为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环保达人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视频率为概率</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①</a:t>
            </a:r>
            <a:r>
              <a:rPr lang="zh-CN" altLang="zh-CN" sz="2800">
                <a:solidFill>
                  <a:srgbClr val="000000"/>
                </a:solidFill>
                <a:latin typeface="Times New Roman" panose="02020603050405020304" pitchFamily="18" charset="0"/>
                <a:cs typeface="Times New Roman" panose="02020603050405020304" pitchFamily="18" charset="0"/>
              </a:rPr>
              <a:t>在我市所有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环保达人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随机抽取</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求抽取的</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人中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既有男</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环保达人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又有女</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环保达人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的概率</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②</a:t>
            </a:r>
            <a:r>
              <a:rPr lang="zh-CN" altLang="zh-CN" sz="2800">
                <a:solidFill>
                  <a:srgbClr val="000000"/>
                </a:solidFill>
                <a:latin typeface="Times New Roman" panose="02020603050405020304" pitchFamily="18" charset="0"/>
                <a:cs typeface="Times New Roman" panose="02020603050405020304" pitchFamily="18" charset="0"/>
              </a:rPr>
              <a:t>为了鼓励市民关注环保</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针对此次的调查制定了如下奖励方案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环保达人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获得两次抽奖活动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其他参与的市民获得一次抽奖活动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每次抽奖获得红包的金额和对应的概率如下表</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269957154"/>
              </p:ext>
            </p:extLst>
          </p:nvPr>
        </p:nvGraphicFramePr>
        <p:xfrm>
          <a:off x="442268" y="3908430"/>
          <a:ext cx="11307463" cy="2593820"/>
        </p:xfrm>
        <a:graphic>
          <a:graphicData uri="http://schemas.openxmlformats.org/presentationml/2006/ole">
            <mc:AlternateContent xmlns:mc="http://schemas.openxmlformats.org/markup-compatibility/2006">
              <mc:Choice xmlns:v="urn:schemas-microsoft-com:vml" Requires="v">
                <p:oleObj spid="_x0000_s21526" name="文档" r:id="rId4" imgW="4522985" imgH="1037528" progId="Word.Document.12">
                  <p:embed/>
                </p:oleObj>
              </mc:Choice>
              <mc:Fallback>
                <p:oleObj name="文档" r:id="rId4" imgW="4522985" imgH="1037528" progId="Word.Document.12">
                  <p:embed/>
                  <p:pic>
                    <p:nvPicPr>
                      <p:cNvPr id="0" name=""/>
                      <p:cNvPicPr/>
                      <p:nvPr/>
                    </p:nvPicPr>
                    <p:blipFill>
                      <a:blip r:embed="rId5"/>
                      <a:stretch>
                        <a:fillRect/>
                      </a:stretch>
                    </p:blipFill>
                    <p:spPr>
                      <a:xfrm>
                        <a:off x="442268" y="3908430"/>
                        <a:ext cx="11307463" cy="2593820"/>
                      </a:xfrm>
                      <a:prstGeom prst="rect">
                        <a:avLst/>
                      </a:prstGeom>
                    </p:spPr>
                  </p:pic>
                </p:oleObj>
              </mc:Fallback>
            </mc:AlternateContent>
          </a:graphicData>
        </a:graphic>
      </p:graphicFrame>
    </p:spTree>
    <p:extLst>
      <p:ext uri="{BB962C8B-B14F-4D97-AF65-F5344CB8AC3E}">
        <p14:creationId xmlns:p14="http://schemas.microsoft.com/office/powerpoint/2010/main" val="358244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26802"/>
            <a:ext cx="11430000" cy="3065455"/>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现某市民要参加此次问卷调查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记</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单位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为该市民参加问卷调查获得的红包金额</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smtClean="0">
                <a:solidFill>
                  <a:srgbClr val="000000"/>
                </a:solidFill>
                <a:latin typeface="Times New Roman" panose="02020603050405020304" pitchFamily="18" charset="0"/>
                <a:cs typeface="Times New Roman" panose="02020603050405020304" pitchFamily="18" charset="0"/>
              </a:rPr>
              <a:t>的</a:t>
            </a:r>
            <a:r>
              <a:rPr lang="zh-CN" altLang="en-US" sz="2800">
                <a:solidFill>
                  <a:srgbClr val="000000"/>
                </a:solidFill>
                <a:latin typeface="Times New Roman" panose="02020603050405020304" pitchFamily="18" charset="0"/>
                <a:cs typeface="Times New Roman" panose="02020603050405020304" pitchFamily="18" charset="0"/>
              </a:rPr>
              <a:t>分布列及均值</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5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5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smtClean="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smtClean="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独立性检验中常用的小概率值和相应的临界值</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095253283"/>
              </p:ext>
            </p:extLst>
          </p:nvPr>
        </p:nvGraphicFramePr>
        <p:xfrm>
          <a:off x="458424" y="2588792"/>
          <a:ext cx="11275153" cy="989193"/>
        </p:xfrm>
        <a:graphic>
          <a:graphicData uri="http://schemas.openxmlformats.org/presentationml/2006/ole">
            <mc:AlternateContent xmlns:mc="http://schemas.openxmlformats.org/markup-compatibility/2006">
              <mc:Choice xmlns:v="urn:schemas-microsoft-com:vml" Requires="v">
                <p:oleObj spid="_x0000_s19477" name="文档" r:id="rId4" imgW="4510061" imgH="395677" progId="Word.Document.12">
                  <p:embed/>
                </p:oleObj>
              </mc:Choice>
              <mc:Fallback>
                <p:oleObj name="文档" r:id="rId4" imgW="4510061" imgH="395677" progId="Word.Document.12">
                  <p:embed/>
                  <p:pic>
                    <p:nvPicPr>
                      <p:cNvPr id="0" name=""/>
                      <p:cNvPicPr/>
                      <p:nvPr/>
                    </p:nvPicPr>
                    <p:blipFill>
                      <a:blip r:embed="rId5"/>
                      <a:stretch>
                        <a:fillRect/>
                      </a:stretch>
                    </p:blipFill>
                    <p:spPr>
                      <a:xfrm>
                        <a:off x="458424" y="2588792"/>
                        <a:ext cx="11275153" cy="989193"/>
                      </a:xfrm>
                      <a:prstGeom prst="rect">
                        <a:avLst/>
                      </a:prstGeom>
                    </p:spPr>
                  </p:pic>
                </p:oleObj>
              </mc:Fallback>
            </mc:AlternateContent>
          </a:graphicData>
        </a:graphic>
      </p:graphicFrame>
      <p:graphicFrame>
        <p:nvGraphicFramePr>
          <p:cNvPr id="4" name="表格 3"/>
          <p:cNvGraphicFramePr>
            <a:graphicFrameLocks noGrp="1" noChangeAspect="1"/>
          </p:cNvGraphicFramePr>
          <p:nvPr>
            <p:extLst>
              <p:ext uri="{D42A27DB-BD31-4B8C-83A1-F6EECF244321}">
                <p14:modId xmlns:p14="http://schemas.microsoft.com/office/powerpoint/2010/main" val="381802821"/>
              </p:ext>
            </p:extLst>
          </p:nvPr>
        </p:nvGraphicFramePr>
        <p:xfrm>
          <a:off x="381000" y="4292257"/>
          <a:ext cx="11430000" cy="981456"/>
        </p:xfrm>
        <a:graphic>
          <a:graphicData uri="http://schemas.openxmlformats.org/drawingml/2006/table">
            <a:tbl>
              <a:tblPr firstRow="1" firstCol="1" bandRow="1"/>
              <a:tblGrid>
                <a:gridCol w="1905000"/>
                <a:gridCol w="1905000"/>
                <a:gridCol w="1905000"/>
                <a:gridCol w="1905000"/>
                <a:gridCol w="1905000"/>
                <a:gridCol w="1905000"/>
              </a:tblGrid>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i="1" baseline="-2500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841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635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879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828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1793365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17923"/>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零假设为</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性别与是否为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环保关注者</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独立</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由题中表格可得</a:t>
            </a:r>
            <a:r>
              <a:rPr lang="en-US" altLang="zh-CN" sz="2800">
                <a:solidFill>
                  <a:srgbClr val="000000"/>
                </a:solidFill>
                <a:latin typeface="Times New Roman" panose="02020603050405020304" pitchFamily="18" charset="0"/>
                <a:cs typeface="Times New Roman" panose="02020603050405020304" pitchFamily="18" charset="0"/>
              </a:rPr>
              <a:t>2×2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列联表如下</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468631212"/>
              </p:ext>
            </p:extLst>
          </p:nvPr>
        </p:nvGraphicFramePr>
        <p:xfrm>
          <a:off x="381000" y="1483395"/>
          <a:ext cx="11430000" cy="2453640"/>
        </p:xfrm>
        <a:graphic>
          <a:graphicData uri="http://schemas.openxmlformats.org/drawingml/2006/table">
            <a:tbl>
              <a:tblPr firstRow="1" firstCol="1" bandRow="1"/>
              <a:tblGrid>
                <a:gridCol w="2857500"/>
                <a:gridCol w="2857500"/>
                <a:gridCol w="2857500"/>
                <a:gridCol w="2857500"/>
              </a:tblGrid>
              <a:tr h="0">
                <a:tc rowSpan="2">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性别</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是否为</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环保关注者</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a:lstStyle/>
                    <a:p>
                      <a:endParaRPr lang="zh-CN" altLang="en-US"/>
                    </a:p>
                  </a:txBody>
                  <a:tcPr/>
                </a:tc>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非</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环保关注者</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环保关注者</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r>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男</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女</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4" name="矩形 3"/>
          <p:cNvSpPr>
            <a:spLocks noChangeAspect="1"/>
          </p:cNvSpPr>
          <p:nvPr/>
        </p:nvSpPr>
        <p:spPr>
          <a:xfrm>
            <a:off x="381000" y="3855069"/>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将</a:t>
            </a:r>
            <a:r>
              <a:rPr lang="en-US" altLang="zh-CN" sz="2800">
                <a:solidFill>
                  <a:srgbClr val="000000"/>
                </a:solidFill>
                <a:latin typeface="Times New Roman" panose="02020603050405020304" pitchFamily="18" charset="0"/>
                <a:cs typeface="Times New Roman" panose="02020603050405020304" pitchFamily="18" charset="0"/>
              </a:rPr>
              <a:t>2×2</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列联表中的数据代入公式</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根据</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小概率值</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05</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的独立性检验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没有充分证据推断</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不成立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因此可以认为</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成立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即认为性别与</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环保关注者</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独立</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75962249"/>
              </p:ext>
            </p:extLst>
          </p:nvPr>
        </p:nvGraphicFramePr>
        <p:xfrm>
          <a:off x="458424" y="4238777"/>
          <a:ext cx="11275153" cy="989193"/>
        </p:xfrm>
        <a:graphic>
          <a:graphicData uri="http://schemas.openxmlformats.org/presentationml/2006/ole">
            <mc:AlternateContent xmlns:mc="http://schemas.openxmlformats.org/markup-compatibility/2006">
              <mc:Choice xmlns:v="urn:schemas-microsoft-com:vml" Requires="v">
                <p:oleObj spid="_x0000_s20501" name="文档" r:id="rId4" imgW="4510061" imgH="395677" progId="Word.Document.12">
                  <p:embed/>
                </p:oleObj>
              </mc:Choice>
              <mc:Fallback>
                <p:oleObj name="文档" r:id="rId4" imgW="4510061" imgH="395677" progId="Word.Document.12">
                  <p:embed/>
                  <p:pic>
                    <p:nvPicPr>
                      <p:cNvPr id="0" name=""/>
                      <p:cNvPicPr/>
                      <p:nvPr/>
                    </p:nvPicPr>
                    <p:blipFill>
                      <a:blip r:embed="rId5"/>
                      <a:stretch>
                        <a:fillRect/>
                      </a:stretch>
                    </p:blipFill>
                    <p:spPr>
                      <a:xfrm>
                        <a:off x="458424" y="4238777"/>
                        <a:ext cx="11275153" cy="989193"/>
                      </a:xfrm>
                      <a:prstGeom prst="rect">
                        <a:avLst/>
                      </a:prstGeom>
                    </p:spPr>
                  </p:pic>
                </p:oleObj>
              </mc:Fallback>
            </mc:AlternateContent>
          </a:graphicData>
        </a:graphic>
      </p:graphicFrame>
    </p:spTree>
    <p:extLst>
      <p:ext uri="{BB962C8B-B14F-4D97-AF65-F5344CB8AC3E}">
        <p14:creationId xmlns:p14="http://schemas.microsoft.com/office/powerpoint/2010/main" val="20359632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294373610"/>
              </p:ext>
            </p:extLst>
          </p:nvPr>
        </p:nvGraphicFramePr>
        <p:xfrm>
          <a:off x="458424" y="217252"/>
          <a:ext cx="11275153" cy="6081595"/>
        </p:xfrm>
        <a:graphic>
          <a:graphicData uri="http://schemas.openxmlformats.org/presentationml/2006/ole">
            <mc:AlternateContent xmlns:mc="http://schemas.openxmlformats.org/markup-compatibility/2006">
              <mc:Choice xmlns:v="urn:schemas-microsoft-com:vml" Requires="v">
                <p:oleObj spid="_x0000_s22550" name="文档" r:id="rId4" imgW="4510061" imgH="2432638" progId="Word.Document.12">
                  <p:embed/>
                </p:oleObj>
              </mc:Choice>
              <mc:Fallback>
                <p:oleObj name="文档" r:id="rId4" imgW="4510061" imgH="2432638" progId="Word.Document.12">
                  <p:embed/>
                  <p:pic>
                    <p:nvPicPr>
                      <p:cNvPr id="0" name=""/>
                      <p:cNvPicPr/>
                      <p:nvPr/>
                    </p:nvPicPr>
                    <p:blipFill>
                      <a:blip r:embed="rId5"/>
                      <a:stretch>
                        <a:fillRect/>
                      </a:stretch>
                    </p:blipFill>
                    <p:spPr>
                      <a:xfrm>
                        <a:off x="458424" y="217252"/>
                        <a:ext cx="11275153" cy="6081595"/>
                      </a:xfrm>
                      <a:prstGeom prst="rect">
                        <a:avLst/>
                      </a:prstGeom>
                    </p:spPr>
                  </p:pic>
                </p:oleObj>
              </mc:Fallback>
            </mc:AlternateContent>
          </a:graphicData>
        </a:graphic>
      </p:graphicFrame>
    </p:spTree>
    <p:extLst>
      <p:ext uri="{BB962C8B-B14F-4D97-AF65-F5344CB8AC3E}">
        <p14:creationId xmlns:p14="http://schemas.microsoft.com/office/powerpoint/2010/main" val="5879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45310690"/>
              </p:ext>
            </p:extLst>
          </p:nvPr>
        </p:nvGraphicFramePr>
        <p:xfrm>
          <a:off x="442268" y="1974731"/>
          <a:ext cx="11307463" cy="3162538"/>
        </p:xfrm>
        <a:graphic>
          <a:graphicData uri="http://schemas.openxmlformats.org/presentationml/2006/ole">
            <mc:AlternateContent xmlns:mc="http://schemas.openxmlformats.org/markup-compatibility/2006">
              <mc:Choice xmlns:v="urn:schemas-microsoft-com:vml" Requires="v">
                <p:oleObj spid="_x0000_s23574" name="文档" r:id="rId4" imgW="4522985" imgH="1265015" progId="Word.Document.12">
                  <p:embed/>
                </p:oleObj>
              </mc:Choice>
              <mc:Fallback>
                <p:oleObj name="文档" r:id="rId4" imgW="4522985" imgH="1265015" progId="Word.Document.12">
                  <p:embed/>
                  <p:pic>
                    <p:nvPicPr>
                      <p:cNvPr id="0" name=""/>
                      <p:cNvPicPr/>
                      <p:nvPr/>
                    </p:nvPicPr>
                    <p:blipFill>
                      <a:blip r:embed="rId5"/>
                      <a:stretch>
                        <a:fillRect/>
                      </a:stretch>
                    </p:blipFill>
                    <p:spPr>
                      <a:xfrm>
                        <a:off x="442268" y="1974731"/>
                        <a:ext cx="11307463" cy="3162538"/>
                      </a:xfrm>
                      <a:prstGeom prst="rect">
                        <a:avLst/>
                      </a:prstGeom>
                    </p:spPr>
                  </p:pic>
                </p:oleObj>
              </mc:Fallback>
            </mc:AlternateContent>
          </a:graphicData>
        </a:graphic>
      </p:graphicFrame>
    </p:spTree>
    <p:extLst>
      <p:ext uri="{BB962C8B-B14F-4D97-AF65-F5344CB8AC3E}">
        <p14:creationId xmlns:p14="http://schemas.microsoft.com/office/powerpoint/2010/main" val="728069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798295998"/>
              </p:ext>
            </p:extLst>
          </p:nvPr>
        </p:nvGraphicFramePr>
        <p:xfrm>
          <a:off x="458424" y="1480126"/>
          <a:ext cx="11275153" cy="494148"/>
        </p:xfrm>
        <a:graphic>
          <a:graphicData uri="http://schemas.openxmlformats.org/presentationml/2006/ole">
            <mc:AlternateContent xmlns:mc="http://schemas.openxmlformats.org/markup-compatibility/2006">
              <mc:Choice xmlns:v="urn:schemas-microsoft-com:vml" Requires="v">
                <p:oleObj spid="_x0000_s24598"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480126"/>
                        <a:ext cx="11275153" cy="494148"/>
                      </a:xfrm>
                      <a:prstGeom prst="rect">
                        <a:avLst/>
                      </a:prstGeom>
                    </p:spPr>
                  </p:pic>
                </p:oleObj>
              </mc:Fallback>
            </mc:AlternateContent>
          </a:graphicData>
        </a:graphic>
      </p:graphicFrame>
      <p:sp>
        <p:nvSpPr>
          <p:cNvPr id="3" name="矩形 2"/>
          <p:cNvSpPr>
            <a:spLocks noChangeAspect="1"/>
          </p:cNvSpPr>
          <p:nvPr/>
        </p:nvSpPr>
        <p:spPr>
          <a:xfrm>
            <a:off x="381000" y="1974274"/>
            <a:ext cx="11430000" cy="283282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独立性检验综合应用的方法策略</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独立性检验是判断两个分类变量是否相互独立的一种检验方法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主要依据是先计算</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再与临界值进行比较从而作出判断</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统计的特征之一是通过样本的部分数据来推测总体全部数据的特征</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因此统计推断可能犯错误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即从数据上体现的只是统计关系而不是因果关系</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657034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53738"/>
            <a:ext cx="11430000" cy="283282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为比较注射</a:t>
            </a:r>
            <a:r>
              <a:rPr lang="en-US" altLang="zh-CN" sz="2800">
                <a:solidFill>
                  <a:srgbClr val="000000"/>
                </a:solidFill>
                <a:latin typeface="Times New Roman" panose="02020603050405020304" pitchFamily="18" charset="0"/>
                <a:cs typeface="Times New Roman" panose="02020603050405020304" pitchFamily="18" charset="0"/>
              </a:rPr>
              <a:t>A,B</a:t>
            </a:r>
            <a:r>
              <a:rPr lang="zh-CN" altLang="zh-CN" sz="2800">
                <a:solidFill>
                  <a:srgbClr val="000000"/>
                </a:solidFill>
                <a:latin typeface="Times New Roman" panose="02020603050405020304" pitchFamily="18" charset="0"/>
                <a:cs typeface="Times New Roman" panose="02020603050405020304" pitchFamily="18" charset="0"/>
              </a:rPr>
              <a:t>两种药物产生的皮肤疱疹的面积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选</a:t>
            </a:r>
            <a:r>
              <a:rPr lang="en-US" altLang="zh-CN" sz="2800">
                <a:solidFill>
                  <a:srgbClr val="000000"/>
                </a:solidFill>
                <a:latin typeface="Times New Roman" panose="02020603050405020304" pitchFamily="18" charset="0"/>
                <a:cs typeface="Times New Roman" panose="02020603050405020304" pitchFamily="18" charset="0"/>
              </a:rPr>
              <a:t>200</a:t>
            </a:r>
            <a:r>
              <a:rPr lang="zh-CN" altLang="zh-CN" sz="2800">
                <a:solidFill>
                  <a:srgbClr val="000000"/>
                </a:solidFill>
                <a:latin typeface="Times New Roman" panose="02020603050405020304" pitchFamily="18" charset="0"/>
                <a:cs typeface="Times New Roman" panose="02020603050405020304" pitchFamily="18" charset="0"/>
              </a:rPr>
              <a:t>只家兔作试验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将这</a:t>
            </a:r>
            <a:r>
              <a:rPr lang="en-US" altLang="zh-CN" sz="2800">
                <a:solidFill>
                  <a:srgbClr val="000000"/>
                </a:solidFill>
                <a:latin typeface="Times New Roman" panose="02020603050405020304" pitchFamily="18" charset="0"/>
                <a:cs typeface="Times New Roman" panose="02020603050405020304" pitchFamily="18" charset="0"/>
              </a:rPr>
              <a:t>200</a:t>
            </a:r>
            <a:r>
              <a:rPr lang="zh-CN" altLang="zh-CN" sz="2800">
                <a:solidFill>
                  <a:srgbClr val="000000"/>
                </a:solidFill>
                <a:latin typeface="Times New Roman" panose="02020603050405020304" pitchFamily="18" charset="0"/>
                <a:cs typeface="Times New Roman" panose="02020603050405020304" pitchFamily="18" charset="0"/>
              </a:rPr>
              <a:t>只家兔随机地分成两组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每组</a:t>
            </a:r>
            <a:r>
              <a:rPr lang="en-US" altLang="zh-CN" sz="2800">
                <a:solidFill>
                  <a:srgbClr val="000000"/>
                </a:solidFill>
                <a:latin typeface="Times New Roman" panose="02020603050405020304" pitchFamily="18" charset="0"/>
                <a:cs typeface="Times New Roman" panose="02020603050405020304" pitchFamily="18" charset="0"/>
              </a:rPr>
              <a:t>100</a:t>
            </a:r>
            <a:r>
              <a:rPr lang="zh-CN" altLang="zh-CN" sz="2800">
                <a:solidFill>
                  <a:srgbClr val="000000"/>
                </a:solidFill>
                <a:latin typeface="Times New Roman" panose="02020603050405020304" pitchFamily="18" charset="0"/>
                <a:cs typeface="Times New Roman" panose="02020603050405020304" pitchFamily="18" charset="0"/>
              </a:rPr>
              <a:t>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其中一组注射药物</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另一组注射药物</a:t>
            </a:r>
            <a:r>
              <a:rPr lang="en-US" altLang="zh-CN" sz="2800">
                <a:solidFill>
                  <a:srgbClr val="000000"/>
                </a:solidFill>
                <a:latin typeface="Times New Roman" panose="02020603050405020304" pitchFamily="18" charset="0"/>
                <a:cs typeface="Times New Roman" panose="02020603050405020304" pitchFamily="18" charset="0"/>
              </a:rPr>
              <a:t>B</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表</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和表</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所示的分别是注射药物</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和药物</a:t>
            </a: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后皮肤疱疹面积的频数分布</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疱疹面积单位</a:t>
            </a:r>
            <a:r>
              <a:rPr lang="en-US" altLang="zh-CN" sz="2800">
                <a:solidFill>
                  <a:srgbClr val="000000"/>
                </a:solidFill>
                <a:latin typeface="Times New Roman" panose="02020603050405020304" pitchFamily="18" charset="0"/>
                <a:cs typeface="Times New Roman" panose="02020603050405020304" pitchFamily="18" charset="0"/>
              </a:rPr>
              <a:t>:mm</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表</a:t>
            </a:r>
            <a:r>
              <a:rPr lang="en-US" altLang="zh-CN" sz="2800">
                <a:solidFill>
                  <a:srgbClr val="000000"/>
                </a:solidFill>
                <a:latin typeface="Times New Roman" panose="02020603050405020304" pitchFamily="18" charset="0"/>
                <a:cs typeface="Times New Roman" panose="02020603050405020304" pitchFamily="18" charset="0"/>
              </a:rPr>
              <a:t>1</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2610852957"/>
              </p:ext>
            </p:extLst>
          </p:nvPr>
        </p:nvGraphicFramePr>
        <p:xfrm>
          <a:off x="381000" y="3186565"/>
          <a:ext cx="11430000" cy="981456"/>
        </p:xfrm>
        <a:graphic>
          <a:graphicData uri="http://schemas.openxmlformats.org/drawingml/2006/table">
            <a:tbl>
              <a:tblPr firstRow="1" firstCol="1" bandRow="1"/>
              <a:tblGrid>
                <a:gridCol w="2286000"/>
                <a:gridCol w="2286000"/>
                <a:gridCol w="2286000"/>
                <a:gridCol w="2286000"/>
                <a:gridCol w="2286000"/>
              </a:tblGrid>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疱疹面积</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[60,65)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[65,70)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[70,75)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[75,80]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频数</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4" name="矩形 3"/>
          <p:cNvSpPr>
            <a:spLocks noChangeAspect="1"/>
          </p:cNvSpPr>
          <p:nvPr/>
        </p:nvSpPr>
        <p:spPr>
          <a:xfrm>
            <a:off x="381000" y="4149090"/>
            <a:ext cx="813043" cy="592213"/>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表</a:t>
            </a:r>
            <a:r>
              <a:rPr lang="en-US" altLang="zh-CN" sz="2800" smtClean="0">
                <a:solidFill>
                  <a:srgbClr val="000000"/>
                </a:solidFill>
                <a:latin typeface="Times New Roman" panose="02020603050405020304" pitchFamily="18" charset="0"/>
                <a:cs typeface="Times New Roman" panose="02020603050405020304" pitchFamily="18" charset="0"/>
              </a:rPr>
              <a:t>2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表格 4"/>
          <p:cNvGraphicFramePr>
            <a:graphicFrameLocks noGrp="1" noChangeAspect="1"/>
          </p:cNvGraphicFramePr>
          <p:nvPr>
            <p:extLst>
              <p:ext uri="{D42A27DB-BD31-4B8C-83A1-F6EECF244321}">
                <p14:modId xmlns:p14="http://schemas.microsoft.com/office/powerpoint/2010/main" val="1668113804"/>
              </p:ext>
            </p:extLst>
          </p:nvPr>
        </p:nvGraphicFramePr>
        <p:xfrm>
          <a:off x="381000" y="4926739"/>
          <a:ext cx="11430000" cy="981456"/>
        </p:xfrm>
        <a:graphic>
          <a:graphicData uri="http://schemas.openxmlformats.org/drawingml/2006/table">
            <a:tbl>
              <a:tblPr firstRow="1" firstCol="1" bandRow="1"/>
              <a:tblGrid>
                <a:gridCol w="1905000"/>
                <a:gridCol w="1905000"/>
                <a:gridCol w="1905000"/>
                <a:gridCol w="1905000"/>
                <a:gridCol w="1905000"/>
                <a:gridCol w="1905000"/>
              </a:tblGrid>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疱疹面积</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[60,65)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[65,70)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[70,75)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[75,80)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[80,85]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频数</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3523518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23407"/>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完成图</a:t>
            </a:r>
            <a:r>
              <a:rPr lang="zh-CN" altLang="zh-CN" sz="2800">
                <a:solidFill>
                  <a:srgbClr val="000000"/>
                </a:solidFill>
                <a:latin typeface="NEU-BZ-S92"/>
                <a:cs typeface="宋体" panose="02010600030101010101" pitchFamily="2" charset="-122"/>
              </a:rPr>
              <a:t>①</a:t>
            </a:r>
            <a:r>
              <a:rPr lang="zh-CN" altLang="zh-CN" sz="2800">
                <a:solidFill>
                  <a:srgbClr val="000000"/>
                </a:solidFill>
                <a:latin typeface="Times New Roman" panose="02020603050405020304" pitchFamily="18" charset="0"/>
                <a:cs typeface="Times New Roman" panose="02020603050405020304" pitchFamily="18" charset="0"/>
              </a:rPr>
              <a:t>和图</a:t>
            </a:r>
            <a:r>
              <a:rPr lang="zh-CN" altLang="zh-CN" sz="2800">
                <a:solidFill>
                  <a:srgbClr val="000000"/>
                </a:solidFill>
                <a:latin typeface="NEU-BZ-S92"/>
                <a:cs typeface="宋体" panose="02010600030101010101" pitchFamily="2" charset="-122"/>
              </a:rPr>
              <a:t>②</a:t>
            </a:r>
            <a:r>
              <a:rPr lang="zh-CN" altLang="zh-CN" sz="2800">
                <a:solidFill>
                  <a:srgbClr val="000000"/>
                </a:solidFill>
                <a:latin typeface="Times New Roman" panose="02020603050405020304" pitchFamily="18" charset="0"/>
                <a:cs typeface="Times New Roman" panose="02020603050405020304" pitchFamily="18" charset="0"/>
              </a:rPr>
              <a:t>所示的分别注射药物</a:t>
            </a:r>
            <a:r>
              <a:rPr lang="en-US" altLang="zh-CN" sz="2800">
                <a:solidFill>
                  <a:srgbClr val="000000"/>
                </a:solidFill>
                <a:latin typeface="Times New Roman" panose="02020603050405020304" pitchFamily="18" charset="0"/>
                <a:cs typeface="Times New Roman" panose="02020603050405020304" pitchFamily="18" charset="0"/>
              </a:rPr>
              <a:t>A,B</a:t>
            </a:r>
            <a:r>
              <a:rPr lang="zh-CN" altLang="zh-CN" sz="2800">
                <a:solidFill>
                  <a:srgbClr val="000000"/>
                </a:solidFill>
                <a:latin typeface="Times New Roman" panose="02020603050405020304" pitchFamily="18" charset="0"/>
                <a:cs typeface="Times New Roman" panose="02020603050405020304" pitchFamily="18" charset="0"/>
              </a:rPr>
              <a:t>后皮肤疱疹面积的频率分布直方图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并求注射药物</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后疱疹面积的中位数</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3" name="ZMX3TRAX79.eps" descr="id:2147519575;FounderCES"/>
          <p:cNvPicPr/>
          <p:nvPr/>
        </p:nvPicPr>
        <p:blipFill>
          <a:blip r:embed="rId2">
            <a:clrChange>
              <a:clrFrom>
                <a:srgbClr val="FFFFFF"/>
              </a:clrFrom>
              <a:clrTo>
                <a:srgbClr val="FFFFFF">
                  <a:alpha val="0"/>
                </a:srgbClr>
              </a:clrTo>
            </a:clrChange>
          </a:blip>
          <a:stretch>
            <a:fillRect/>
          </a:stretch>
        </p:blipFill>
        <p:spPr>
          <a:xfrm>
            <a:off x="644235" y="1753949"/>
            <a:ext cx="3783927" cy="3451294"/>
          </a:xfrm>
          <a:prstGeom prst="rect">
            <a:avLst/>
          </a:prstGeom>
        </p:spPr>
      </p:pic>
      <p:pic>
        <p:nvPicPr>
          <p:cNvPr id="4" name="ZMX3TRAX80.eps" descr="id:2147519582;FounderCES"/>
          <p:cNvPicPr/>
          <p:nvPr/>
        </p:nvPicPr>
        <p:blipFill>
          <a:blip r:embed="rId3">
            <a:clrChange>
              <a:clrFrom>
                <a:srgbClr val="FFFFFF"/>
              </a:clrFrom>
              <a:clrTo>
                <a:srgbClr val="FFFFFF">
                  <a:alpha val="0"/>
                </a:srgbClr>
              </a:clrTo>
            </a:clrChange>
          </a:blip>
          <a:stretch>
            <a:fillRect/>
          </a:stretch>
        </p:blipFill>
        <p:spPr>
          <a:xfrm>
            <a:off x="7281341" y="1753949"/>
            <a:ext cx="3783927" cy="3451294"/>
          </a:xfrm>
          <a:prstGeom prst="rect">
            <a:avLst/>
          </a:prstGeom>
        </p:spPr>
      </p:pic>
      <p:sp>
        <p:nvSpPr>
          <p:cNvPr id="5" name="矩形 4"/>
          <p:cNvSpPr>
            <a:spLocks noChangeAspect="1"/>
          </p:cNvSpPr>
          <p:nvPr/>
        </p:nvSpPr>
        <p:spPr>
          <a:xfrm>
            <a:off x="1995024" y="5205243"/>
            <a:ext cx="1082348" cy="573042"/>
          </a:xfrm>
          <a:prstGeom prst="rect">
            <a:avLst/>
          </a:prstGeom>
        </p:spPr>
        <p:txBody>
          <a:bodyPr wrap="none">
            <a:spAutoFit/>
          </a:bodyPr>
          <a:lstStyle/>
          <a:p>
            <a:pPr algn="ct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图</a:t>
            </a:r>
            <a:r>
              <a:rPr lang="zh-CN" altLang="zh-CN" sz="2800" smtClean="0">
                <a:solidFill>
                  <a:srgbClr val="000000"/>
                </a:solidFill>
                <a:latin typeface="NEU-BZ-S92"/>
                <a:cs typeface="宋体" panose="02010600030101010101" pitchFamily="2" charset="-122"/>
              </a:rPr>
              <a:t>①</a:t>
            </a:r>
            <a:r>
              <a:rPr lang="en-US" altLang="zh-CN" sz="2800" smtClean="0">
                <a:solidFill>
                  <a:srgbClr val="000000"/>
                </a:solidFill>
                <a:latin typeface="NEU-BZ-S92"/>
                <a:cs typeface="宋体" panose="02010600030101010101" pitchFamily="2" charset="-122"/>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6" name="矩形 5"/>
          <p:cNvSpPr>
            <a:spLocks noChangeAspect="1"/>
          </p:cNvSpPr>
          <p:nvPr/>
        </p:nvSpPr>
        <p:spPr>
          <a:xfrm>
            <a:off x="9009574" y="5205243"/>
            <a:ext cx="902811" cy="573042"/>
          </a:xfrm>
          <a:prstGeom prst="rect">
            <a:avLst/>
          </a:prstGeom>
        </p:spPr>
        <p:txBody>
          <a:bodyPr wrap="none">
            <a:spAutoFit/>
          </a:bodyPr>
          <a:lstStyle/>
          <a:p>
            <a:pPr algn="ctr">
              <a:lnSpc>
                <a:spcPct val="130000"/>
              </a:lnSpc>
              <a:spcAft>
                <a:spcPts val="0"/>
              </a:spcAft>
              <a:tabLst>
                <a:tab pos="1188085" algn="l"/>
                <a:tab pos="2163445" algn="l"/>
                <a:tab pos="3142615" algn="l"/>
                <a:tab pos="4190365" algn="l"/>
              </a:tabLst>
            </a:pP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图</a:t>
            </a:r>
            <a:r>
              <a:rPr lang="zh-CN" altLang="en-US" sz="2800">
                <a:solidFill>
                  <a:srgbClr val="000000"/>
                </a:solidFill>
                <a:latin typeface="NEU-BZ-S92"/>
                <a:cs typeface="宋体" panose="02010600030101010101" pitchFamily="2" charset="-122"/>
              </a:rPr>
              <a:t>②</a:t>
            </a:r>
            <a:endParaRPr lang="zh-CN" altLang="zh-CN" sz="2800">
              <a:solidFill>
                <a:srgbClr val="000000"/>
              </a:solidFill>
              <a:latin typeface="NEU-BZ-S92"/>
              <a:cs typeface="宋体" panose="02010600030101010101" pitchFamily="2" charset="-122"/>
            </a:endParaRPr>
          </a:p>
        </p:txBody>
      </p:sp>
    </p:spTree>
    <p:extLst>
      <p:ext uri="{BB962C8B-B14F-4D97-AF65-F5344CB8AC3E}">
        <p14:creationId xmlns:p14="http://schemas.microsoft.com/office/powerpoint/2010/main" val="33315770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38472"/>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完成下面的</a:t>
            </a:r>
            <a:r>
              <a:rPr lang="en-US" altLang="zh-CN" sz="2800">
                <a:solidFill>
                  <a:srgbClr val="000000"/>
                </a:solidFill>
                <a:latin typeface="Times New Roman" panose="02020603050405020304" pitchFamily="18" charset="0"/>
                <a:cs typeface="Times New Roman" panose="02020603050405020304" pitchFamily="18" charset="0"/>
              </a:rPr>
              <a:t>2×2</a:t>
            </a:r>
            <a:r>
              <a:rPr lang="zh-CN" altLang="zh-CN" sz="2800">
                <a:solidFill>
                  <a:srgbClr val="000000"/>
                </a:solidFill>
                <a:latin typeface="Times New Roman" panose="02020603050405020304" pitchFamily="18" charset="0"/>
                <a:cs typeface="Times New Roman" panose="02020603050405020304" pitchFamily="18" charset="0"/>
              </a:rPr>
              <a:t>列联表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依据小概率值</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001</a:t>
            </a:r>
            <a:r>
              <a:rPr lang="zh-CN" altLang="zh-CN" sz="2800">
                <a:solidFill>
                  <a:srgbClr val="000000"/>
                </a:solidFill>
                <a:latin typeface="Times New Roman" panose="02020603050405020304" pitchFamily="18" charset="0"/>
                <a:cs typeface="Times New Roman" panose="02020603050405020304" pitchFamily="18" charset="0"/>
              </a:rPr>
              <a:t>的独立性检验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分析注射两种药物是否与疱疹面积有关</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758121695"/>
              </p:ext>
            </p:extLst>
          </p:nvPr>
        </p:nvGraphicFramePr>
        <p:xfrm>
          <a:off x="381000" y="1390839"/>
          <a:ext cx="11430000" cy="2133600"/>
        </p:xfrm>
        <a:graphic>
          <a:graphicData uri="http://schemas.openxmlformats.org/drawingml/2006/table">
            <a:tbl>
              <a:tblPr firstRow="1" firstCol="1" bandRow="1"/>
              <a:tblGrid>
                <a:gridCol w="2857500"/>
                <a:gridCol w="3254767"/>
                <a:gridCol w="4058293"/>
                <a:gridCol w="1259440"/>
              </a:tblGrid>
              <a:tr h="0">
                <a:tc rowSpan="2">
                  <a:txBody>
                    <a:bodyPr/>
                    <a:lstStyle/>
                    <a:p>
                      <a:pPr algn="ctr">
                        <a:lnSpc>
                          <a:spcPct val="10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注射药物</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0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疱疹面积</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lnSpc>
                          <a:spcPct val="10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a:lstStyle/>
                    <a:p>
                      <a:endParaRPr lang="zh-CN" altLang="en-US"/>
                    </a:p>
                  </a:txBody>
                  <a:tcPr/>
                </a:tc>
                <a:tc>
                  <a:txBody>
                    <a:bodyPr/>
                    <a:lstStyle/>
                    <a:p>
                      <a:pPr algn="ctr">
                        <a:lnSpc>
                          <a:spcPct val="10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疱疹面积</a:t>
                      </a:r>
                      <a:r>
                        <a:rPr lang="zh-CN" sz="280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小于</a:t>
                      </a:r>
                      <a:r>
                        <a:rPr lang="en-US" sz="280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 </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mm</a:t>
                      </a:r>
                      <a:r>
                        <a:rPr lang="en-US" sz="2800" baseline="30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疱疹面积不</a:t>
                      </a:r>
                      <a:r>
                        <a:rPr lang="zh-CN" sz="280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小于</a:t>
                      </a:r>
                      <a:r>
                        <a:rPr lang="en-US" sz="280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 </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mm</a:t>
                      </a:r>
                      <a:r>
                        <a:rPr lang="en-US" sz="2800" baseline="30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r>
              <a:tr h="0">
                <a:tc>
                  <a:txBody>
                    <a:bodyPr/>
                    <a:lstStyle/>
                    <a:p>
                      <a:pPr algn="ctr">
                        <a:lnSpc>
                          <a:spcPct val="10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注射药物</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a:solidFill>
                            <a:srgbClr val="000000"/>
                          </a:solidFill>
                          <a:effectLst/>
                          <a:latin typeface="NEU-BZ-S92"/>
                          <a:ea typeface="方正书宋_GBK" panose="03000509000000000000" pitchFamily="65" charset="-122"/>
                          <a:cs typeface="Times New Roman" panose="02020603050405020304" pitchFamily="18" charset="0"/>
                        </a:rPr>
                        <a:t> </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注射药物</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a:solidFill>
                            <a:srgbClr val="000000"/>
                          </a:solidFill>
                          <a:effectLst/>
                          <a:latin typeface="NEU-BZ-S92"/>
                          <a:ea typeface="方正书宋_GBK" panose="03000509000000000000" pitchFamily="65" charset="-122"/>
                          <a:cs typeface="Times New Roman" panose="02020603050405020304" pitchFamily="18" charset="0"/>
                        </a:rPr>
                        <a:t> </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a:solidFill>
                            <a:srgbClr val="000000"/>
                          </a:solidFill>
                          <a:effectLst/>
                          <a:latin typeface="NEU-BZ-S92"/>
                          <a:ea typeface="方正书宋_GBK" panose="03000509000000000000" pitchFamily="65" charset="-122"/>
                          <a:cs typeface="Times New Roman" panose="02020603050405020304" pitchFamily="18" charset="0"/>
                        </a:rPr>
                        <a:t> </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a:solidFill>
                            <a:srgbClr val="000000"/>
                          </a:solidFill>
                          <a:effectLst/>
                          <a:latin typeface="NEU-BZ-S92"/>
                          <a:ea typeface="方正书宋_GBK" panose="03000509000000000000" pitchFamily="65" charset="-122"/>
                          <a:cs typeface="Times New Roman" panose="02020603050405020304" pitchFamily="18" charset="0"/>
                        </a:rPr>
                        <a:t> </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a:solidFill>
                            <a:srgbClr val="000000"/>
                          </a:solidFill>
                          <a:effectLst/>
                          <a:latin typeface="NEU-BZ-S92"/>
                          <a:ea typeface="方正书宋_GBK" panose="03000509000000000000" pitchFamily="65" charset="-122"/>
                          <a:cs typeface="Times New Roman" panose="02020603050405020304" pitchFamily="18" charset="0"/>
                        </a:rPr>
                        <a:t> </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327599866"/>
              </p:ext>
            </p:extLst>
          </p:nvPr>
        </p:nvGraphicFramePr>
        <p:xfrm>
          <a:off x="458424" y="3492918"/>
          <a:ext cx="11275153" cy="989193"/>
        </p:xfrm>
        <a:graphic>
          <a:graphicData uri="http://schemas.openxmlformats.org/presentationml/2006/ole">
            <mc:AlternateContent xmlns:mc="http://schemas.openxmlformats.org/markup-compatibility/2006">
              <mc:Choice xmlns:v="urn:schemas-microsoft-com:vml" Requires="v">
                <p:oleObj spid="_x0000_s26644" name="文档" r:id="rId4" imgW="4510061" imgH="395677" progId="Word.Document.12">
                  <p:embed/>
                </p:oleObj>
              </mc:Choice>
              <mc:Fallback>
                <p:oleObj name="文档" r:id="rId4" imgW="4510061" imgH="395677" progId="Word.Document.12">
                  <p:embed/>
                  <p:pic>
                    <p:nvPicPr>
                      <p:cNvPr id="0" name=""/>
                      <p:cNvPicPr/>
                      <p:nvPr/>
                    </p:nvPicPr>
                    <p:blipFill>
                      <a:blip r:embed="rId5"/>
                      <a:stretch>
                        <a:fillRect/>
                      </a:stretch>
                    </p:blipFill>
                    <p:spPr>
                      <a:xfrm>
                        <a:off x="458424" y="3492918"/>
                        <a:ext cx="11275153" cy="989193"/>
                      </a:xfrm>
                      <a:prstGeom prst="rect">
                        <a:avLst/>
                      </a:prstGeom>
                    </p:spPr>
                  </p:pic>
                </p:oleObj>
              </mc:Fallback>
            </mc:AlternateContent>
          </a:graphicData>
        </a:graphic>
      </p:graphicFrame>
      <p:sp>
        <p:nvSpPr>
          <p:cNvPr id="5" name="矩形 4"/>
          <p:cNvSpPr>
            <a:spLocks noChangeAspect="1"/>
          </p:cNvSpPr>
          <p:nvPr/>
        </p:nvSpPr>
        <p:spPr>
          <a:xfrm>
            <a:off x="381000" y="4441015"/>
            <a:ext cx="7734810"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独立性检验中常用的小概率值和相应的</a:t>
            </a:r>
            <a:r>
              <a:rPr lang="zh-CN" altLang="zh-CN" sz="2800" smtClean="0">
                <a:solidFill>
                  <a:srgbClr val="000000"/>
                </a:solidFill>
                <a:latin typeface="Times New Roman" panose="02020603050405020304" pitchFamily="18" charset="0"/>
                <a:cs typeface="Times New Roman" panose="02020603050405020304" pitchFamily="18" charset="0"/>
              </a:rPr>
              <a:t>临界值</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表格 5"/>
          <p:cNvGraphicFramePr>
            <a:graphicFrameLocks noGrp="1" noChangeAspect="1"/>
          </p:cNvGraphicFramePr>
          <p:nvPr>
            <p:extLst>
              <p:ext uri="{D42A27DB-BD31-4B8C-83A1-F6EECF244321}">
                <p14:modId xmlns:p14="http://schemas.microsoft.com/office/powerpoint/2010/main" val="2057058844"/>
              </p:ext>
            </p:extLst>
          </p:nvPr>
        </p:nvGraphicFramePr>
        <p:xfrm>
          <a:off x="381000" y="5168066"/>
          <a:ext cx="11430000" cy="981456"/>
        </p:xfrm>
        <a:graphic>
          <a:graphicData uri="http://schemas.openxmlformats.org/drawingml/2006/table">
            <a:tbl>
              <a:tblPr firstRow="1" firstCol="1" bandRow="1"/>
              <a:tblGrid>
                <a:gridCol w="1905000"/>
                <a:gridCol w="1905000"/>
                <a:gridCol w="1905000"/>
                <a:gridCol w="1905000"/>
                <a:gridCol w="1905000"/>
                <a:gridCol w="1905000"/>
              </a:tblGrid>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i="1" baseline="-2500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841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635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879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828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5445263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49371"/>
            <a:ext cx="11430000" cy="65248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根据题意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完成图</a:t>
            </a:r>
            <a:r>
              <a:rPr lang="zh-CN" altLang="zh-CN" sz="2800">
                <a:solidFill>
                  <a:srgbClr val="000000"/>
                </a:solidFill>
                <a:latin typeface="NEU-BZ-S92"/>
                <a:cs typeface="宋体" panose="02010600030101010101" pitchFamily="2" charset="-122"/>
              </a:rPr>
              <a:t>①</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和图</a:t>
            </a:r>
            <a:r>
              <a:rPr lang="zh-CN" altLang="zh-CN" sz="2800" smtClean="0">
                <a:solidFill>
                  <a:srgbClr val="000000"/>
                </a:solidFill>
                <a:latin typeface="NEU-BZ-S92"/>
                <a:cs typeface="宋体" panose="02010600030101010101" pitchFamily="2" charset="-122"/>
              </a:rPr>
              <a:t>②</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所示的频率分布直方图如图所示</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3" name="ZMX3TRAX81.eps" descr="id:2147519605;FounderCES"/>
          <p:cNvPicPr/>
          <p:nvPr/>
        </p:nvPicPr>
        <p:blipFill>
          <a:blip r:embed="rId3">
            <a:clrChange>
              <a:clrFrom>
                <a:srgbClr val="FFFFFF"/>
              </a:clrFrom>
              <a:clrTo>
                <a:srgbClr val="FFFFFF">
                  <a:alpha val="0"/>
                </a:srgbClr>
              </a:clrTo>
            </a:clrChange>
          </a:blip>
          <a:stretch>
            <a:fillRect/>
          </a:stretch>
        </p:blipFill>
        <p:spPr>
          <a:xfrm>
            <a:off x="675058" y="1201857"/>
            <a:ext cx="4009599" cy="3698023"/>
          </a:xfrm>
          <a:prstGeom prst="rect">
            <a:avLst/>
          </a:prstGeom>
        </p:spPr>
      </p:pic>
      <p:pic>
        <p:nvPicPr>
          <p:cNvPr id="4" name="ZMX3TRAX82.eps" descr="id:2147519612;FounderCES"/>
          <p:cNvPicPr/>
          <p:nvPr/>
        </p:nvPicPr>
        <p:blipFill>
          <a:blip r:embed="rId4">
            <a:clrChange>
              <a:clrFrom>
                <a:srgbClr val="FFFFFF"/>
              </a:clrFrom>
              <a:clrTo>
                <a:srgbClr val="FFFFFF">
                  <a:alpha val="0"/>
                </a:srgbClr>
              </a:clrTo>
            </a:clrChange>
          </a:blip>
          <a:stretch>
            <a:fillRect/>
          </a:stretch>
        </p:blipFill>
        <p:spPr>
          <a:xfrm>
            <a:off x="6689682" y="1301227"/>
            <a:ext cx="4046600" cy="3657129"/>
          </a:xfrm>
          <a:prstGeom prst="rect">
            <a:avLst/>
          </a:prstGeom>
        </p:spPr>
      </p:pic>
      <p:sp>
        <p:nvSpPr>
          <p:cNvPr id="5" name="矩形 4"/>
          <p:cNvSpPr>
            <a:spLocks noChangeAspect="1"/>
          </p:cNvSpPr>
          <p:nvPr/>
        </p:nvSpPr>
        <p:spPr>
          <a:xfrm>
            <a:off x="1938323" y="4613359"/>
            <a:ext cx="1082348" cy="573042"/>
          </a:xfrm>
          <a:prstGeom prst="rect">
            <a:avLst/>
          </a:prstGeom>
        </p:spPr>
        <p:txBody>
          <a:bodyPr wrap="none">
            <a:spAutoFit/>
          </a:bodyPr>
          <a:lstStyle/>
          <a:p>
            <a:pPr algn="ct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图</a:t>
            </a:r>
            <a:r>
              <a:rPr lang="zh-CN" altLang="zh-CN" sz="2800" smtClean="0">
                <a:solidFill>
                  <a:srgbClr val="000000"/>
                </a:solidFill>
                <a:latin typeface="NEU-BZ-S92"/>
                <a:cs typeface="宋体" panose="02010600030101010101" pitchFamily="2" charset="-122"/>
              </a:rPr>
              <a:t>①</a:t>
            </a:r>
            <a:r>
              <a:rPr lang="en-US" altLang="zh-CN" sz="2800" smtClean="0">
                <a:solidFill>
                  <a:srgbClr val="000000"/>
                </a:solidFill>
                <a:latin typeface="NEU-BZ-S92"/>
                <a:cs typeface="宋体" panose="02010600030101010101" pitchFamily="2" charset="-122"/>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6" name="矩形 5"/>
          <p:cNvSpPr>
            <a:spLocks noChangeAspect="1"/>
          </p:cNvSpPr>
          <p:nvPr/>
        </p:nvSpPr>
        <p:spPr>
          <a:xfrm>
            <a:off x="8534331" y="4484684"/>
            <a:ext cx="1082348" cy="573042"/>
          </a:xfrm>
          <a:prstGeom prst="rect">
            <a:avLst/>
          </a:prstGeom>
        </p:spPr>
        <p:txBody>
          <a:bodyPr wrap="none">
            <a:spAutoFit/>
          </a:bodyPr>
          <a:lstStyle/>
          <a:p>
            <a:pPr algn="ct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图</a:t>
            </a:r>
            <a:r>
              <a:rPr lang="zh-CN" altLang="zh-CN" sz="2800" smtClean="0">
                <a:solidFill>
                  <a:srgbClr val="000000"/>
                </a:solidFill>
                <a:latin typeface="NEU-BZ-S92"/>
                <a:cs typeface="宋体" panose="02010600030101010101" pitchFamily="2" charset="-122"/>
              </a:rPr>
              <a:t>②</a:t>
            </a:r>
            <a:r>
              <a:rPr lang="en-US" altLang="zh-CN" sz="2800" smtClean="0">
                <a:solidFill>
                  <a:srgbClr val="000000"/>
                </a:solidFill>
                <a:latin typeface="NEU-BZ-S92"/>
                <a:cs typeface="宋体" panose="02010600030101010101" pitchFamily="2" charset="-122"/>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224039337"/>
              </p:ext>
            </p:extLst>
          </p:nvPr>
        </p:nvGraphicFramePr>
        <p:xfrm>
          <a:off x="458424" y="5161824"/>
          <a:ext cx="11275153" cy="989193"/>
        </p:xfrm>
        <a:graphic>
          <a:graphicData uri="http://schemas.openxmlformats.org/presentationml/2006/ole">
            <mc:AlternateContent xmlns:mc="http://schemas.openxmlformats.org/markup-compatibility/2006">
              <mc:Choice xmlns:v="urn:schemas-microsoft-com:vml" Requires="v">
                <p:oleObj spid="_x0000_s32789" name="文档" r:id="rId6" imgW="4510061" imgH="395677" progId="Word.Document.12">
                  <p:embed/>
                </p:oleObj>
              </mc:Choice>
              <mc:Fallback>
                <p:oleObj name="文档" r:id="rId6" imgW="4510061" imgH="395677" progId="Word.Document.12">
                  <p:embed/>
                  <p:pic>
                    <p:nvPicPr>
                      <p:cNvPr id="0" name=""/>
                      <p:cNvPicPr/>
                      <p:nvPr/>
                    </p:nvPicPr>
                    <p:blipFill>
                      <a:blip r:embed="rId7"/>
                      <a:stretch>
                        <a:fillRect/>
                      </a:stretch>
                    </p:blipFill>
                    <p:spPr>
                      <a:xfrm>
                        <a:off x="458424" y="5161824"/>
                        <a:ext cx="11275153" cy="989193"/>
                      </a:xfrm>
                      <a:prstGeom prst="rect">
                        <a:avLst/>
                      </a:prstGeom>
                    </p:spPr>
                  </p:pic>
                </p:oleObj>
              </mc:Fallback>
            </mc:AlternateContent>
          </a:graphicData>
        </a:graphic>
      </p:graphicFrame>
    </p:spTree>
    <p:extLst>
      <p:ext uri="{BB962C8B-B14F-4D97-AF65-F5344CB8AC3E}">
        <p14:creationId xmlns:p14="http://schemas.microsoft.com/office/powerpoint/2010/main" val="2201822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56348"/>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零假设为</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注射药物与疱疹面积独立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即注射两种药物对疱疹面积没有差异</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根据题意填写列联表如下</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3002333279"/>
              </p:ext>
            </p:extLst>
          </p:nvPr>
        </p:nvGraphicFramePr>
        <p:xfrm>
          <a:off x="381000" y="1917498"/>
          <a:ext cx="11430000" cy="2453640"/>
        </p:xfrm>
        <a:graphic>
          <a:graphicData uri="http://schemas.openxmlformats.org/drawingml/2006/table">
            <a:tbl>
              <a:tblPr firstRow="1" firstCol="1" bandRow="1"/>
              <a:tblGrid>
                <a:gridCol w="2857500"/>
                <a:gridCol w="3367783"/>
                <a:gridCol w="4191856"/>
                <a:gridCol w="1012861"/>
              </a:tblGrid>
              <a:tr h="0">
                <a:tc rowSpan="2">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注射药物</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疱疹面积</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a:lstStyle/>
                    <a:p>
                      <a:endParaRPr lang="zh-CN" altLang="en-US"/>
                    </a:p>
                  </a:txBody>
                  <a:tcPr/>
                </a:tc>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疱疹面积</a:t>
                      </a:r>
                      <a:r>
                        <a:rPr lang="zh-CN" sz="28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小于</a:t>
                      </a:r>
                      <a:r>
                        <a:rPr lang="en-US" sz="280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a:t>
                      </a:r>
                      <a:r>
                        <a:rPr lang="en-US" sz="28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sz="280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mm</a:t>
                      </a:r>
                      <a:r>
                        <a:rPr lang="en-US" sz="2800" baseline="3000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疱疹面积不</a:t>
                      </a:r>
                      <a:r>
                        <a:rPr lang="zh-CN" sz="28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小于</a:t>
                      </a:r>
                      <a:r>
                        <a:rPr lang="en-US" sz="280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a:t>
                      </a:r>
                      <a:r>
                        <a:rPr lang="en-US" sz="28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mm</a:t>
                      </a:r>
                      <a:r>
                        <a:rPr lang="en-US" sz="2800" baseline="30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r>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注射药物</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注射药物</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935659378"/>
              </p:ext>
            </p:extLst>
          </p:nvPr>
        </p:nvGraphicFramePr>
        <p:xfrm>
          <a:off x="458424" y="4232661"/>
          <a:ext cx="11275153" cy="989193"/>
        </p:xfrm>
        <a:graphic>
          <a:graphicData uri="http://schemas.openxmlformats.org/presentationml/2006/ole">
            <mc:AlternateContent xmlns:mc="http://schemas.openxmlformats.org/markup-compatibility/2006">
              <mc:Choice xmlns:v="urn:schemas-microsoft-com:vml" Requires="v">
                <p:oleObj spid="_x0000_s27668" name="文档" r:id="rId4" imgW="4510061" imgH="395677" progId="Word.Document.12">
                  <p:embed/>
                </p:oleObj>
              </mc:Choice>
              <mc:Fallback>
                <p:oleObj name="文档" r:id="rId4" imgW="4510061" imgH="395677" progId="Word.Document.12">
                  <p:embed/>
                  <p:pic>
                    <p:nvPicPr>
                      <p:cNvPr id="0" name=""/>
                      <p:cNvPicPr/>
                      <p:nvPr/>
                    </p:nvPicPr>
                    <p:blipFill>
                      <a:blip r:embed="rId5"/>
                      <a:stretch>
                        <a:fillRect/>
                      </a:stretch>
                    </p:blipFill>
                    <p:spPr>
                      <a:xfrm>
                        <a:off x="458424" y="4232661"/>
                        <a:ext cx="11275153" cy="989193"/>
                      </a:xfrm>
                      <a:prstGeom prst="rect">
                        <a:avLst/>
                      </a:prstGeom>
                    </p:spPr>
                  </p:pic>
                </p:oleObj>
              </mc:Fallback>
            </mc:AlternateContent>
          </a:graphicData>
        </a:graphic>
      </p:graphicFrame>
      <p:sp>
        <p:nvSpPr>
          <p:cNvPr id="5" name="矩形 4"/>
          <p:cNvSpPr>
            <a:spLocks noChangeAspect="1"/>
          </p:cNvSpPr>
          <p:nvPr/>
        </p:nvSpPr>
        <p:spPr>
          <a:xfrm>
            <a:off x="381000" y="5180758"/>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根据小概率值</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001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的独立性检验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我们推断</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不成立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即认为注射两种药物对疱疹面积有差异</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此推断犯错误的概率不大于</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001</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736081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 y="151371"/>
            <a:ext cx="11336478" cy="433754"/>
            <a:chOff x="3048000" y="2286000"/>
            <a:chExt cx="4813646" cy="457200"/>
          </a:xfrm>
        </p:grpSpPr>
        <p:sp>
          <p:nvSpPr>
            <p:cNvPr id="6" name="矩形 5"/>
            <p:cNvSpPr/>
            <p:nvPr/>
          </p:nvSpPr>
          <p:spPr>
            <a:xfrm>
              <a:off x="3048000" y="2286000"/>
              <a:ext cx="209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rPr>
                <a:t> </a:t>
              </a:r>
              <a:endParaRPr lang="zh-CN" altLang="en-US" sz="2800" b="1" dirty="0" smtClean="0">
                <a:solidFill>
                  <a:schemeClr val="bg1"/>
                </a:solidFill>
              </a:endParaRPr>
            </a:p>
          </p:txBody>
        </p:sp>
        <p:sp>
          <p:nvSpPr>
            <p:cNvPr id="8" name="矩形 7"/>
            <p:cNvSpPr/>
            <p:nvPr/>
          </p:nvSpPr>
          <p:spPr>
            <a:xfrm>
              <a:off x="3345506" y="2286000"/>
              <a:ext cx="4516140"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易错辨析</a:t>
              </a:r>
              <a:endParaRPr lang="zh-CN" altLang="en-US" sz="2800" b="1" dirty="0">
                <a:solidFill>
                  <a:schemeClr val="bg1"/>
                </a:solidFill>
              </a:endParaRPr>
            </a:p>
          </p:txBody>
        </p:sp>
      </p:grpSp>
      <p:sp>
        <p:nvSpPr>
          <p:cNvPr id="2" name="矩形 1"/>
          <p:cNvSpPr>
            <a:spLocks noChangeAspect="1"/>
          </p:cNvSpPr>
          <p:nvPr/>
        </p:nvSpPr>
        <p:spPr>
          <a:xfrm>
            <a:off x="381000" y="677586"/>
            <a:ext cx="11430000" cy="1596847"/>
          </a:xfrm>
          <a:prstGeom prst="rect">
            <a:avLst/>
          </a:prstGeom>
        </p:spPr>
        <p:txBody>
          <a:bodyPr>
            <a:spAutoFit/>
          </a:bodyPr>
          <a:lstStyle/>
          <a:p>
            <a:pPr algn="ctr">
              <a:lnSpc>
                <a:spcPct val="130000"/>
              </a:lnSpc>
              <a:spcAft>
                <a:spcPts val="0"/>
              </a:spcAft>
              <a:tabLst>
                <a:tab pos="1188085" algn="l"/>
                <a:tab pos="2163445" algn="l"/>
                <a:tab pos="3142615" algn="l"/>
                <a:tab pos="4190365" algn="l"/>
              </a:tabLst>
            </a:pPr>
            <a:r>
              <a:rPr lang="zh-CN" altLang="zh-CN" sz="2600">
                <a:solidFill>
                  <a:srgbClr val="000000"/>
                </a:solidFill>
                <a:latin typeface="Arial" panose="020B0604020202020204" pitchFamily="34" charset="0"/>
                <a:ea typeface="黑体" panose="02010609060101010101" pitchFamily="49" charset="-122"/>
                <a:cs typeface="Times New Roman" panose="02020603050405020304" pitchFamily="18" charset="0"/>
              </a:rPr>
              <a:t>独立性检验思想的应用</a:t>
            </a:r>
            <a:endParaRPr lang="zh-CN" altLang="zh-CN" sz="26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600">
                <a:solidFill>
                  <a:srgbClr val="000000"/>
                </a:solidFill>
                <a:latin typeface="Arial" panose="020B0604020202020204" pitchFamily="34" charset="0"/>
                <a:ea typeface="黑体" panose="02010609060101010101" pitchFamily="49" charset="-122"/>
                <a:cs typeface="Times New Roman" panose="02020603050405020304" pitchFamily="18" charset="0"/>
              </a:rPr>
              <a:t>【典例】</a:t>
            </a:r>
            <a:r>
              <a:rPr lang="zh-CN" altLang="zh-CN" sz="2600">
                <a:solidFill>
                  <a:srgbClr val="000000"/>
                </a:solidFill>
                <a:latin typeface="NEU-BZ-S92"/>
                <a:ea typeface="Arial" panose="020B0604020202020204" pitchFamily="34" charset="0"/>
                <a:cs typeface="Times New Roman" panose="02020603050405020304" pitchFamily="18" charset="0"/>
              </a:rPr>
              <a:t> </a:t>
            </a:r>
            <a:r>
              <a:rPr lang="zh-CN" altLang="zh-CN" sz="2600">
                <a:solidFill>
                  <a:srgbClr val="000000"/>
                </a:solidFill>
                <a:latin typeface="Times New Roman" panose="02020603050405020304" pitchFamily="18" charset="0"/>
                <a:cs typeface="Times New Roman" panose="02020603050405020304" pitchFamily="18" charset="0"/>
              </a:rPr>
              <a:t>为调查某地区老年人是否需要志愿者提供帮助</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用简单随机抽样方法从该地区调查了</a:t>
            </a:r>
            <a:r>
              <a:rPr lang="en-US" altLang="zh-CN" sz="2600">
                <a:solidFill>
                  <a:srgbClr val="000000"/>
                </a:solidFill>
                <a:latin typeface="Times New Roman" panose="02020603050405020304" pitchFamily="18" charset="0"/>
                <a:cs typeface="Times New Roman" panose="02020603050405020304" pitchFamily="18" charset="0"/>
              </a:rPr>
              <a:t>500</a:t>
            </a:r>
            <a:r>
              <a:rPr lang="zh-CN" altLang="zh-CN" sz="2600">
                <a:solidFill>
                  <a:srgbClr val="000000"/>
                </a:solidFill>
                <a:latin typeface="Times New Roman" panose="02020603050405020304" pitchFamily="18" charset="0"/>
                <a:cs typeface="Times New Roman" panose="02020603050405020304" pitchFamily="18" charset="0"/>
              </a:rPr>
              <a:t>位老年人</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结果如下</a:t>
            </a:r>
            <a:r>
              <a:rPr lang="en-US" altLang="zh-CN" sz="2600">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119904929"/>
              </p:ext>
            </p:extLst>
          </p:nvPr>
        </p:nvGraphicFramePr>
        <p:xfrm>
          <a:off x="381000" y="2220350"/>
          <a:ext cx="11430000" cy="1584960"/>
        </p:xfrm>
        <a:graphic>
          <a:graphicData uri="http://schemas.openxmlformats.org/drawingml/2006/table">
            <a:tbl>
              <a:tblPr firstRow="1" firstCol="1" bandRow="1"/>
              <a:tblGrid>
                <a:gridCol w="3810000"/>
                <a:gridCol w="3810000"/>
                <a:gridCol w="3810000"/>
              </a:tblGrid>
              <a:tr h="0">
                <a:tc rowSpan="2">
                  <a:txBody>
                    <a:bodyPr/>
                    <a:lstStyle/>
                    <a:p>
                      <a:pPr algn="ctr">
                        <a:lnSpc>
                          <a:spcPct val="100000"/>
                        </a:lnSpc>
                        <a:spcAft>
                          <a:spcPts val="0"/>
                        </a:spcAft>
                        <a:tabLst>
                          <a:tab pos="1188085" algn="l"/>
                          <a:tab pos="2163445" algn="l"/>
                          <a:tab pos="3142615" algn="l"/>
                          <a:tab pos="4190365" algn="l"/>
                        </a:tabLst>
                      </a:pP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是否需要志愿者</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00000"/>
                        </a:lnSpc>
                        <a:spcAft>
                          <a:spcPts val="0"/>
                        </a:spcAft>
                        <a:tabLst>
                          <a:tab pos="1188085" algn="l"/>
                          <a:tab pos="2163445" algn="l"/>
                          <a:tab pos="3142615" algn="l"/>
                          <a:tab pos="4190365" algn="l"/>
                        </a:tabLst>
                      </a:pP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性别</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r>
              <a:tr h="0">
                <a:tc vMerge="1">
                  <a:txBody>
                    <a:bodyPr/>
                    <a:lstStyle/>
                    <a:p>
                      <a:endParaRPr lang="zh-CN" altLang="en-US"/>
                    </a:p>
                  </a:txBody>
                  <a:tcPr/>
                </a:tc>
                <a:tc>
                  <a:txBody>
                    <a:bodyPr/>
                    <a:lstStyle/>
                    <a:p>
                      <a:pPr algn="ctr">
                        <a:lnSpc>
                          <a:spcPct val="100000"/>
                        </a:lnSpc>
                        <a:spcAft>
                          <a:spcPts val="0"/>
                        </a:spcAft>
                        <a:tabLst>
                          <a:tab pos="1188085" algn="l"/>
                          <a:tab pos="2163445" algn="l"/>
                          <a:tab pos="3142615" algn="l"/>
                          <a:tab pos="4190365" algn="l"/>
                        </a:tabLst>
                      </a:pP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男</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女</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0000"/>
                        </a:lnSpc>
                        <a:spcAft>
                          <a:spcPts val="0"/>
                        </a:spcAft>
                        <a:tabLst>
                          <a:tab pos="1188085" algn="l"/>
                          <a:tab pos="2163445" algn="l"/>
                          <a:tab pos="3142615" algn="l"/>
                          <a:tab pos="4190365" algn="l"/>
                        </a:tabLst>
                      </a:pP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需要</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0000"/>
                        </a:lnSpc>
                        <a:spcAft>
                          <a:spcPts val="0"/>
                        </a:spcAft>
                        <a:tabLst>
                          <a:tab pos="1188085" algn="l"/>
                          <a:tab pos="2163445" algn="l"/>
                          <a:tab pos="3142615" algn="l"/>
                          <a:tab pos="4190365" algn="l"/>
                        </a:tabLst>
                      </a:pPr>
                      <a:r>
                        <a:rPr lang="zh-CN"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不需要</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160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270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4" name="矩形 3"/>
          <p:cNvSpPr>
            <a:spLocks noChangeAspect="1"/>
          </p:cNvSpPr>
          <p:nvPr/>
        </p:nvSpPr>
        <p:spPr>
          <a:xfrm>
            <a:off x="381000" y="3788871"/>
            <a:ext cx="11430000" cy="2637132"/>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600">
                <a:solidFill>
                  <a:srgbClr val="000000"/>
                </a:solidFill>
                <a:latin typeface="Times New Roman" panose="02020603050405020304" pitchFamily="18" charset="0"/>
                <a:cs typeface="Times New Roman" panose="02020603050405020304" pitchFamily="18" charset="0"/>
              </a:rPr>
              <a:t>(1)</a:t>
            </a:r>
            <a:r>
              <a:rPr lang="zh-CN" altLang="zh-CN" sz="2600">
                <a:solidFill>
                  <a:srgbClr val="000000"/>
                </a:solidFill>
                <a:latin typeface="Times New Roman" panose="02020603050405020304" pitchFamily="18" charset="0"/>
                <a:cs typeface="Times New Roman" panose="02020603050405020304" pitchFamily="18" charset="0"/>
              </a:rPr>
              <a:t>估计该地区老年人中需要志愿者提供帮助的老年人的比例</a:t>
            </a:r>
            <a:r>
              <a:rPr lang="en-US" altLang="zh-CN" sz="2600" i="1">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600">
                <a:solidFill>
                  <a:srgbClr val="000000"/>
                </a:solidFill>
                <a:latin typeface="Times New Roman" panose="02020603050405020304" pitchFamily="18" charset="0"/>
                <a:cs typeface="Times New Roman" panose="02020603050405020304" pitchFamily="18" charset="0"/>
              </a:rPr>
              <a:t>(2)</a:t>
            </a:r>
            <a:r>
              <a:rPr lang="zh-CN" altLang="zh-CN" sz="2600">
                <a:solidFill>
                  <a:srgbClr val="000000"/>
                </a:solidFill>
                <a:latin typeface="Times New Roman" panose="02020603050405020304" pitchFamily="18" charset="0"/>
                <a:cs typeface="Times New Roman" panose="02020603050405020304" pitchFamily="18" charset="0"/>
              </a:rPr>
              <a:t>试根据小概率值</a:t>
            </a:r>
            <a:r>
              <a:rPr lang="en-US" altLang="zh-CN" sz="26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0</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01</a:t>
            </a:r>
            <a:r>
              <a:rPr lang="zh-CN" altLang="zh-CN" sz="2600">
                <a:solidFill>
                  <a:srgbClr val="000000"/>
                </a:solidFill>
                <a:latin typeface="Times New Roman" panose="02020603050405020304" pitchFamily="18" charset="0"/>
                <a:cs typeface="Times New Roman" panose="02020603050405020304" pitchFamily="18" charset="0"/>
              </a:rPr>
              <a:t>的独立性检验</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分析该地区老年人需要志愿者提供帮助是否与性别有关</a:t>
            </a:r>
            <a:r>
              <a:rPr lang="en-US" altLang="zh-CN" sz="2600" i="1">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600">
                <a:solidFill>
                  <a:srgbClr val="000000"/>
                </a:solidFill>
                <a:latin typeface="Times New Roman" panose="02020603050405020304" pitchFamily="18" charset="0"/>
                <a:cs typeface="Times New Roman" panose="02020603050405020304" pitchFamily="18" charset="0"/>
              </a:rPr>
              <a:t>(3)</a:t>
            </a:r>
            <a:r>
              <a:rPr lang="zh-CN" altLang="zh-CN" sz="2600">
                <a:solidFill>
                  <a:srgbClr val="000000"/>
                </a:solidFill>
                <a:latin typeface="Times New Roman" panose="02020603050405020304" pitchFamily="18" charset="0"/>
                <a:cs typeface="Times New Roman" panose="02020603050405020304" pitchFamily="18" charset="0"/>
              </a:rPr>
              <a:t>根据</a:t>
            </a:r>
            <a:r>
              <a:rPr lang="en-US" altLang="zh-CN" sz="2600">
                <a:solidFill>
                  <a:srgbClr val="000000"/>
                </a:solidFill>
                <a:latin typeface="Times New Roman" panose="02020603050405020304" pitchFamily="18" charset="0"/>
                <a:cs typeface="Times New Roman" panose="02020603050405020304" pitchFamily="18" charset="0"/>
              </a:rPr>
              <a:t>(2)</a:t>
            </a:r>
            <a:r>
              <a:rPr lang="zh-CN" altLang="zh-CN" sz="2600">
                <a:solidFill>
                  <a:srgbClr val="000000"/>
                </a:solidFill>
                <a:latin typeface="Times New Roman" panose="02020603050405020304" pitchFamily="18" charset="0"/>
                <a:cs typeface="Times New Roman" panose="02020603050405020304" pitchFamily="18" charset="0"/>
              </a:rPr>
              <a:t>的结论</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能否提出更好的调查方法来估计该地区的老年人中需要志愿者提供帮助的老年人的比例</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说明理由</a:t>
            </a:r>
            <a:r>
              <a:rPr lang="en-US" altLang="zh-CN" sz="2600" i="1">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249546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231368221"/>
              </p:ext>
            </p:extLst>
          </p:nvPr>
        </p:nvGraphicFramePr>
        <p:xfrm>
          <a:off x="458425" y="323853"/>
          <a:ext cx="11017810" cy="3043825"/>
        </p:xfrm>
        <a:graphic>
          <a:graphicData uri="http://schemas.openxmlformats.org/presentationml/2006/ole">
            <mc:AlternateContent xmlns:mc="http://schemas.openxmlformats.org/markup-compatibility/2006">
              <mc:Choice xmlns:v="urn:schemas-microsoft-com:vml" Requires="v">
                <p:oleObj spid="_x0000_s33813" name="文档" r:id="rId4" imgW="4510061" imgH="1245968" progId="Word.Document.12">
                  <p:embed/>
                </p:oleObj>
              </mc:Choice>
              <mc:Fallback>
                <p:oleObj name="文档" r:id="rId4" imgW="4510061" imgH="1245968" progId="Word.Document.12">
                  <p:embed/>
                  <p:pic>
                    <p:nvPicPr>
                      <p:cNvPr id="0" name=""/>
                      <p:cNvPicPr/>
                      <p:nvPr/>
                    </p:nvPicPr>
                    <p:blipFill>
                      <a:blip r:embed="rId5"/>
                      <a:stretch>
                        <a:fillRect/>
                      </a:stretch>
                    </p:blipFill>
                    <p:spPr>
                      <a:xfrm>
                        <a:off x="458425" y="323853"/>
                        <a:ext cx="11017810" cy="3043825"/>
                      </a:xfrm>
                      <a:prstGeom prst="rect">
                        <a:avLst/>
                      </a:prstGeom>
                    </p:spPr>
                  </p:pic>
                </p:oleObj>
              </mc:Fallback>
            </mc:AlternateContent>
          </a:graphicData>
        </a:graphic>
      </p:graphicFrame>
      <p:sp>
        <p:nvSpPr>
          <p:cNvPr id="3" name="矩形 2"/>
          <p:cNvSpPr>
            <a:spLocks noChangeAspect="1"/>
          </p:cNvSpPr>
          <p:nvPr/>
        </p:nvSpPr>
        <p:spPr>
          <a:xfrm>
            <a:off x="381000" y="3258651"/>
            <a:ext cx="11430000" cy="3157275"/>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600">
                <a:solidFill>
                  <a:srgbClr val="000000"/>
                </a:solidFill>
                <a:latin typeface="Times New Roman" panose="02020603050405020304" pitchFamily="18" charset="0"/>
                <a:cs typeface="Times New Roman" panose="02020603050405020304" pitchFamily="18" charset="0"/>
              </a:rPr>
              <a:t>根据小概率值</a:t>
            </a:r>
            <a:r>
              <a:rPr lang="en-US" altLang="zh-CN" sz="26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0</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01</a:t>
            </a:r>
            <a:r>
              <a:rPr lang="zh-CN" altLang="zh-CN" sz="2600">
                <a:solidFill>
                  <a:srgbClr val="000000"/>
                </a:solidFill>
                <a:latin typeface="Times New Roman" panose="02020603050405020304" pitchFamily="18" charset="0"/>
                <a:cs typeface="Times New Roman" panose="02020603050405020304" pitchFamily="18" charset="0"/>
              </a:rPr>
              <a:t>的独立性检验</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我们推断</a:t>
            </a:r>
            <a:r>
              <a:rPr lang="en-US" altLang="zh-CN" sz="2600" i="1">
                <a:solidFill>
                  <a:srgbClr val="000000"/>
                </a:solidFill>
                <a:latin typeface="Times New Roman" panose="02020603050405020304" pitchFamily="18" charset="0"/>
                <a:cs typeface="Times New Roman" panose="02020603050405020304" pitchFamily="18" charset="0"/>
              </a:rPr>
              <a:t>H</a:t>
            </a:r>
            <a:r>
              <a:rPr lang="en-US" altLang="zh-CN" sz="2600" baseline="-25000">
                <a:solidFill>
                  <a:srgbClr val="000000"/>
                </a:solidFill>
                <a:latin typeface="Times New Roman" panose="02020603050405020304" pitchFamily="18" charset="0"/>
                <a:cs typeface="Times New Roman" panose="02020603050405020304" pitchFamily="18" charset="0"/>
              </a:rPr>
              <a:t>0</a:t>
            </a:r>
            <a:r>
              <a:rPr lang="zh-CN" altLang="zh-CN" sz="2600">
                <a:solidFill>
                  <a:srgbClr val="000000"/>
                </a:solidFill>
                <a:latin typeface="Times New Roman" panose="02020603050405020304" pitchFamily="18" charset="0"/>
                <a:cs typeface="Times New Roman" panose="02020603050405020304" pitchFamily="18" charset="0"/>
              </a:rPr>
              <a:t>不成立</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即认为该地区老年人需要志愿者提供帮助与性别有关</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此推断犯错误的概率不大于</a:t>
            </a:r>
            <a:r>
              <a:rPr lang="en-US" altLang="zh-CN" sz="2600">
                <a:solidFill>
                  <a:srgbClr val="000000"/>
                </a:solidFill>
                <a:latin typeface="Times New Roman" panose="02020603050405020304" pitchFamily="18" charset="0"/>
                <a:cs typeface="Times New Roman" panose="02020603050405020304" pitchFamily="18" charset="0"/>
              </a:rPr>
              <a:t>0</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01</a:t>
            </a:r>
            <a:r>
              <a:rPr lang="en-US" altLang="zh-CN" sz="2600" i="1">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600">
                <a:solidFill>
                  <a:srgbClr val="000000"/>
                </a:solidFill>
                <a:latin typeface="Times New Roman" panose="02020603050405020304" pitchFamily="18" charset="0"/>
                <a:cs typeface="Times New Roman" panose="02020603050405020304" pitchFamily="18" charset="0"/>
              </a:rPr>
              <a:t>(3)</a:t>
            </a:r>
            <a:r>
              <a:rPr lang="zh-CN" altLang="zh-CN" sz="2600">
                <a:solidFill>
                  <a:srgbClr val="000000"/>
                </a:solidFill>
                <a:latin typeface="Times New Roman" panose="02020603050405020304" pitchFamily="18" charset="0"/>
                <a:cs typeface="Times New Roman" panose="02020603050405020304" pitchFamily="18" charset="0"/>
              </a:rPr>
              <a:t>由</a:t>
            </a:r>
            <a:r>
              <a:rPr lang="en-US" altLang="zh-CN" sz="2600">
                <a:solidFill>
                  <a:srgbClr val="000000"/>
                </a:solidFill>
                <a:latin typeface="Times New Roman" panose="02020603050405020304" pitchFamily="18" charset="0"/>
                <a:cs typeface="Times New Roman" panose="02020603050405020304" pitchFamily="18" charset="0"/>
              </a:rPr>
              <a:t>(2)</a:t>
            </a:r>
            <a:r>
              <a:rPr lang="zh-CN" altLang="zh-CN" sz="2600">
                <a:solidFill>
                  <a:srgbClr val="000000"/>
                </a:solidFill>
                <a:latin typeface="Times New Roman" panose="02020603050405020304" pitchFamily="18" charset="0"/>
                <a:cs typeface="Times New Roman" panose="02020603050405020304" pitchFamily="18" charset="0"/>
              </a:rPr>
              <a:t>的结论知</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该地区老年人是否需要帮助与性别有关</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并且从样本数据能看出该地区男性老年人与女性老年人中需要帮助的比例有明显差异</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因此在调查时</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先确定该地区老年人中男、女的比例</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再把老年人分成男、女两层并采用分层随机抽样方法</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比采用简单随机抽样方法更好</a:t>
            </a:r>
            <a:r>
              <a:rPr lang="en-US" altLang="zh-CN" sz="2600" i="1">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8128557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561540451"/>
              </p:ext>
            </p:extLst>
          </p:nvPr>
        </p:nvGraphicFramePr>
        <p:xfrm>
          <a:off x="458424" y="1408207"/>
          <a:ext cx="11275153" cy="494148"/>
        </p:xfrm>
        <a:graphic>
          <a:graphicData uri="http://schemas.openxmlformats.org/presentationml/2006/ole">
            <mc:AlternateContent xmlns:mc="http://schemas.openxmlformats.org/markup-compatibility/2006">
              <mc:Choice xmlns:v="urn:schemas-microsoft-com:vml" Requires="v">
                <p:oleObj spid="_x0000_s34837"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408207"/>
                        <a:ext cx="11275153" cy="494148"/>
                      </a:xfrm>
                      <a:prstGeom prst="rect">
                        <a:avLst/>
                      </a:prstGeom>
                    </p:spPr>
                  </p:pic>
                </p:oleObj>
              </mc:Fallback>
            </mc:AlternateContent>
          </a:graphicData>
        </a:graphic>
      </p:graphicFrame>
      <p:sp>
        <p:nvSpPr>
          <p:cNvPr id="3" name="矩形 2"/>
          <p:cNvSpPr>
            <a:spLocks noChangeAspect="1"/>
          </p:cNvSpPr>
          <p:nvPr/>
        </p:nvSpPr>
        <p:spPr>
          <a:xfrm>
            <a:off x="381000" y="1923010"/>
            <a:ext cx="11430000" cy="339298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独立性检验与反证法的区别与联系</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简单地说</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反证法是在某种假设</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之下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推出一个矛盾结论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从而证明</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不成立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而独立性检验是在零假设</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之下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如果出现一个与</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相矛盾的小概率事件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就推断</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不成立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且该推断犯错误的概率不大于这个小概率</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另外</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在全部逻辑推理正确的情况下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反证法不会犯错误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但独立性检验会犯随机性错误</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8171020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126551"/>
            <a:ext cx="11430000" cy="451328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对于分类变量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的随机变量</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的值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下列说法正确的是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越大</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有关系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的可信程度越小</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B.</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越小</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有关系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的可信程度越小</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C.</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越接近于</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没有关系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的可信程度越小</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D.</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越大</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没有关系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的可信程度越大</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越大</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没有关系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的可信程度越小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的可信程度越大</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越小</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的可信程度越小</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B</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7" dur="500"/>
                                        <p:tgtEl>
                                          <p:spTgt spid="2">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6" end="6"/>
                                            </p:txEl>
                                          </p:spTgt>
                                        </p:tgtEl>
                                        <p:attrNameLst>
                                          <p:attrName>style.visibility</p:attrName>
                                        </p:attrNameLst>
                                      </p:cBhvr>
                                      <p:to>
                                        <p:strVal val="visible"/>
                                      </p:to>
                                    </p:set>
                                    <p:animEffect transition="in" filter="randombar(horizontal)">
                                      <p:cBhvr>
                                        <p:cTn id="1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81000" y="260848"/>
            <a:ext cx="11430000" cy="569386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根据分类变量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的观测数据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计算得到</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974,</a:t>
            </a:r>
            <a:r>
              <a:rPr lang="zh-CN" altLang="zh-CN" sz="2800">
                <a:solidFill>
                  <a:srgbClr val="000000"/>
                </a:solidFill>
                <a:latin typeface="Times New Roman" panose="02020603050405020304" pitchFamily="18" charset="0"/>
                <a:cs typeface="Times New Roman" panose="02020603050405020304" pitchFamily="18" charset="0"/>
              </a:rPr>
              <a:t>依据</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05</a:t>
            </a:r>
            <a:r>
              <a:rPr lang="zh-CN" altLang="zh-CN" sz="2800">
                <a:solidFill>
                  <a:srgbClr val="000000"/>
                </a:solidFill>
                <a:latin typeface="Times New Roman" panose="02020603050405020304" pitchFamily="18" charset="0"/>
                <a:cs typeface="Times New Roman" panose="02020603050405020304" pitchFamily="18" charset="0"/>
              </a:rPr>
              <a:t>的独立性检验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结论为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不独立</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不独立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这个结论犯错误的概率不超过</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05</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C.</a:t>
            </a:r>
            <a:r>
              <a:rPr lang="zh-CN" altLang="zh-CN" sz="2800">
                <a:solidFill>
                  <a:srgbClr val="000000"/>
                </a:solidFill>
                <a:latin typeface="Times New Roman" panose="02020603050405020304" pitchFamily="18" charset="0"/>
                <a:cs typeface="Times New Roman" panose="02020603050405020304" pitchFamily="18" charset="0"/>
              </a:rPr>
              <a:t>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独立</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D.</a:t>
            </a:r>
            <a:r>
              <a:rPr lang="zh-CN" altLang="zh-CN" sz="2800">
                <a:solidFill>
                  <a:srgbClr val="000000"/>
                </a:solidFill>
                <a:latin typeface="Times New Roman" panose="02020603050405020304" pitchFamily="18" charset="0"/>
                <a:cs typeface="Times New Roman" panose="02020603050405020304" pitchFamily="18" charset="0"/>
              </a:rPr>
              <a:t>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独立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这个结论犯错误的概率不超过</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05</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974</a:t>
            </a:r>
            <a:r>
              <a:rPr lang="en-US" altLang="zh-CN" sz="2800" i="1">
                <a:solidFill>
                  <a:srgbClr val="000000"/>
                </a:solidFill>
                <a:latin typeface="Times New Roman" panose="02020603050405020304" pitchFamily="18" charset="0"/>
                <a:cs typeface="Times New Roman" panose="02020603050405020304" pitchFamily="18" charset="0"/>
              </a:rPr>
              <a:t>&lt;x</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en-US" altLang="zh-CN" sz="2800" i="1" baseline="-25000">
                <a:solidFill>
                  <a:srgbClr val="000000"/>
                </a:solidFill>
                <a:latin typeface="Times New Roman" panose="02020603050405020304" pitchFamily="18" charset="0"/>
                <a:cs typeface="Times New Roman" panose="02020603050405020304" pitchFamily="18" charset="0"/>
              </a:rPr>
              <a:t>.</a:t>
            </a:r>
            <a:r>
              <a:rPr lang="en-US" altLang="zh-CN" sz="2800" baseline="-25000">
                <a:solidFill>
                  <a:srgbClr val="000000"/>
                </a:solidFill>
                <a:latin typeface="Times New Roman" panose="02020603050405020304" pitchFamily="18" charset="0"/>
                <a:cs typeface="Times New Roman" panose="02020603050405020304" pitchFamily="18" charset="0"/>
              </a:rPr>
              <a:t>05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841,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独立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800">
                <a:solidFill>
                  <a:srgbClr val="000000"/>
                </a:solidFill>
                <a:latin typeface="Times New Roman" panose="02020603050405020304" pitchFamily="18" charset="0"/>
                <a:cs typeface="Times New Roman" panose="02020603050405020304" pitchFamily="18" charset="0"/>
              </a:rPr>
              <a:t>C</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C</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5" name="表格 4"/>
          <p:cNvGraphicFramePr>
            <a:graphicFrameLocks noGrp="1" noChangeAspect="1"/>
          </p:cNvGraphicFramePr>
          <p:nvPr>
            <p:extLst>
              <p:ext uri="{D42A27DB-BD31-4B8C-83A1-F6EECF244321}">
                <p14:modId xmlns:p14="http://schemas.microsoft.com/office/powerpoint/2010/main" val="127259047"/>
              </p:ext>
            </p:extLst>
          </p:nvPr>
        </p:nvGraphicFramePr>
        <p:xfrm>
          <a:off x="381000" y="1505448"/>
          <a:ext cx="11430000" cy="981456"/>
        </p:xfrm>
        <a:graphic>
          <a:graphicData uri="http://schemas.openxmlformats.org/drawingml/2006/table">
            <a:tbl>
              <a:tblPr firstRow="1" firstCol="1" bandRow="1"/>
              <a:tblGrid>
                <a:gridCol w="1905000"/>
                <a:gridCol w="1905000"/>
                <a:gridCol w="1905000"/>
                <a:gridCol w="1905000"/>
                <a:gridCol w="1905000"/>
                <a:gridCol w="1905000"/>
              </a:tblGrid>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i="1" baseline="-2500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841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635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879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828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7648483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randombar(horizontal)">
                                      <p:cBhvr>
                                        <p:cTn id="7" dur="500"/>
                                        <p:tgtEl>
                                          <p:spTgt spid="4">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8" end="8"/>
                                            </p:txEl>
                                          </p:spTgt>
                                        </p:tgtEl>
                                        <p:attrNameLst>
                                          <p:attrName>style.visibility</p:attrName>
                                        </p:attrNameLst>
                                      </p:cBhvr>
                                      <p:to>
                                        <p:strVal val="visible"/>
                                      </p:to>
                                    </p:set>
                                    <p:animEffect transition="in" filter="randombar(horizontal)">
                                      <p:cBhvr>
                                        <p:cTn id="12"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85252"/>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利用独立性检验来考虑两个分类变量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是否有关系时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通过查阅下表来确定</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和</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有关系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的可信度</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如果</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&gt;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841,</a:t>
            </a:r>
            <a:r>
              <a:rPr lang="zh-CN" altLang="zh-CN" sz="2800">
                <a:solidFill>
                  <a:srgbClr val="000000"/>
                </a:solidFill>
                <a:latin typeface="Times New Roman" panose="02020603050405020304" pitchFamily="18" charset="0"/>
                <a:cs typeface="Times New Roman" panose="02020603050405020304" pitchFamily="18" charset="0"/>
              </a:rPr>
              <a:t>那么在犯错误的概率不大于</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的前提下认为</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和</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有关系</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χ</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独立性检验中常用的小概率值和相应的临界值</a:t>
            </a:r>
            <a:r>
              <a:rPr lang="en-US" altLang="zh-CN" sz="280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05</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688601384"/>
              </p:ext>
            </p:extLst>
          </p:nvPr>
        </p:nvGraphicFramePr>
        <p:xfrm>
          <a:off x="381000" y="3190408"/>
          <a:ext cx="11430000" cy="1280160"/>
        </p:xfrm>
        <a:graphic>
          <a:graphicData uri="http://schemas.openxmlformats.org/drawingml/2006/table">
            <a:tbl>
              <a:tblPr firstRow="1" firstCol="1" bandRow="1"/>
              <a:tblGrid>
                <a:gridCol w="1905000"/>
                <a:gridCol w="1905000"/>
                <a:gridCol w="1905000"/>
                <a:gridCol w="1905000"/>
                <a:gridCol w="1905000"/>
                <a:gridCol w="1905000"/>
              </a:tblGrid>
              <a:tr h="0">
                <a:tc>
                  <a:txBody>
                    <a:bodyPr/>
                    <a:lstStyle/>
                    <a:p>
                      <a:pPr algn="ctr">
                        <a:lnSpc>
                          <a:spcPct val="150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i="1" baseline="-2500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841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635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879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828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2809215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833217"/>
            <a:ext cx="11430000" cy="283282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研究人员选取</a:t>
            </a:r>
            <a:r>
              <a:rPr lang="en-US" altLang="zh-CN" sz="2800">
                <a:solidFill>
                  <a:srgbClr val="000000"/>
                </a:solidFill>
                <a:latin typeface="Times New Roman" panose="02020603050405020304" pitchFamily="18" charset="0"/>
                <a:cs typeface="Times New Roman" panose="02020603050405020304" pitchFamily="18" charset="0"/>
              </a:rPr>
              <a:t>170</a:t>
            </a:r>
            <a:r>
              <a:rPr lang="zh-CN" altLang="zh-CN" sz="2800">
                <a:solidFill>
                  <a:srgbClr val="000000"/>
                </a:solidFill>
                <a:latin typeface="Times New Roman" panose="02020603050405020304" pitchFamily="18" charset="0"/>
                <a:cs typeface="Times New Roman" panose="02020603050405020304" pitchFamily="18" charset="0"/>
              </a:rPr>
              <a:t>名青年男女大学生</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对他们进行一种心理测验</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发现有</a:t>
            </a:r>
            <a:r>
              <a:rPr lang="en-US" altLang="zh-CN" sz="2800">
                <a:solidFill>
                  <a:srgbClr val="000000"/>
                </a:solidFill>
                <a:latin typeface="Times New Roman" panose="02020603050405020304" pitchFamily="18" charset="0"/>
                <a:cs typeface="Times New Roman" panose="02020603050405020304" pitchFamily="18" charset="0"/>
              </a:rPr>
              <a:t>60</a:t>
            </a:r>
            <a:r>
              <a:rPr lang="zh-CN" altLang="zh-CN" sz="2800">
                <a:solidFill>
                  <a:srgbClr val="000000"/>
                </a:solidFill>
                <a:latin typeface="Times New Roman" panose="02020603050405020304" pitchFamily="18" charset="0"/>
                <a:cs typeface="Times New Roman" panose="02020603050405020304" pitchFamily="18" charset="0"/>
              </a:rPr>
              <a:t>名女生对该心理测验中的最后一个题目的反应是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作肯定回答的有</a:t>
            </a:r>
            <a:r>
              <a:rPr lang="en-US" altLang="zh-CN" sz="2800">
                <a:solidFill>
                  <a:srgbClr val="000000"/>
                </a:solidFill>
                <a:latin typeface="Times New Roman" panose="02020603050405020304" pitchFamily="18" charset="0"/>
                <a:cs typeface="Times New Roman" panose="02020603050405020304" pitchFamily="18" charset="0"/>
              </a:rPr>
              <a:t>22</a:t>
            </a:r>
            <a:r>
              <a:rPr lang="zh-CN" altLang="zh-CN" sz="2800">
                <a:solidFill>
                  <a:srgbClr val="000000"/>
                </a:solidFill>
                <a:latin typeface="Times New Roman" panose="02020603050405020304" pitchFamily="18" charset="0"/>
                <a:cs typeface="Times New Roman" panose="02020603050405020304" pitchFamily="18" charset="0"/>
              </a:rPr>
              <a:t>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作否定回答的有</a:t>
            </a:r>
            <a:r>
              <a:rPr lang="en-US" altLang="zh-CN" sz="2800">
                <a:solidFill>
                  <a:srgbClr val="000000"/>
                </a:solidFill>
                <a:latin typeface="Times New Roman" panose="02020603050405020304" pitchFamily="18" charset="0"/>
                <a:cs typeface="Times New Roman" panose="02020603050405020304" pitchFamily="18" charset="0"/>
              </a:rPr>
              <a:t>38</a:t>
            </a:r>
            <a:r>
              <a:rPr lang="zh-CN" altLang="zh-CN" sz="2800">
                <a:solidFill>
                  <a:srgbClr val="000000"/>
                </a:solidFill>
                <a:latin typeface="Times New Roman" panose="02020603050405020304" pitchFamily="18" charset="0"/>
                <a:cs typeface="Times New Roman" panose="02020603050405020304" pitchFamily="18" charset="0"/>
              </a:rPr>
              <a:t>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男生</a:t>
            </a:r>
            <a:r>
              <a:rPr lang="en-US" altLang="zh-CN" sz="2800">
                <a:solidFill>
                  <a:srgbClr val="000000"/>
                </a:solidFill>
                <a:latin typeface="Times New Roman" panose="02020603050405020304" pitchFamily="18" charset="0"/>
                <a:cs typeface="Times New Roman" panose="02020603050405020304" pitchFamily="18" charset="0"/>
              </a:rPr>
              <a:t>110</a:t>
            </a:r>
            <a:r>
              <a:rPr lang="zh-CN" altLang="zh-CN" sz="2800">
                <a:solidFill>
                  <a:srgbClr val="000000"/>
                </a:solidFill>
                <a:latin typeface="Times New Roman" panose="02020603050405020304" pitchFamily="18" charset="0"/>
                <a:cs typeface="Times New Roman" panose="02020603050405020304" pitchFamily="18" charset="0"/>
              </a:rPr>
              <a:t>名在相同的题目上作肯定回答的有</a:t>
            </a:r>
            <a:r>
              <a:rPr lang="en-US" altLang="zh-CN" sz="2800">
                <a:solidFill>
                  <a:srgbClr val="000000"/>
                </a:solidFill>
                <a:latin typeface="Times New Roman" panose="02020603050405020304" pitchFamily="18" charset="0"/>
                <a:cs typeface="Times New Roman" panose="02020603050405020304" pitchFamily="18" charset="0"/>
              </a:rPr>
              <a:t>22</a:t>
            </a:r>
            <a:r>
              <a:rPr lang="zh-CN" altLang="zh-CN" sz="2800">
                <a:solidFill>
                  <a:srgbClr val="000000"/>
                </a:solidFill>
                <a:latin typeface="Times New Roman" panose="02020603050405020304" pitchFamily="18" charset="0"/>
                <a:cs typeface="Times New Roman" panose="02020603050405020304" pitchFamily="18" charset="0"/>
              </a:rPr>
              <a:t>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作否定回答的有</a:t>
            </a:r>
            <a:r>
              <a:rPr lang="en-US" altLang="zh-CN" sz="2800">
                <a:solidFill>
                  <a:srgbClr val="000000"/>
                </a:solidFill>
                <a:latin typeface="Times New Roman" panose="02020603050405020304" pitchFamily="18" charset="0"/>
                <a:cs typeface="Times New Roman" panose="02020603050405020304" pitchFamily="18" charset="0"/>
              </a:rPr>
              <a:t>88</a:t>
            </a:r>
            <a:r>
              <a:rPr lang="zh-CN" altLang="zh-CN" sz="2800">
                <a:solidFill>
                  <a:srgbClr val="000000"/>
                </a:solidFill>
                <a:latin typeface="Times New Roman" panose="02020603050405020304" pitchFamily="18" charset="0"/>
                <a:cs typeface="Times New Roman" panose="02020603050405020304" pitchFamily="18" charset="0"/>
              </a:rPr>
              <a:t>名</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性别与态度之间是否存在某种关系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分别用等高堆积条形图和独立性检验的方法判断</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3697603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47343"/>
            <a:ext cx="6218369"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建立性别与态度的</a:t>
            </a:r>
            <a:r>
              <a:rPr lang="en-US" altLang="zh-CN" sz="2800">
                <a:solidFill>
                  <a:srgbClr val="000000"/>
                </a:solidFill>
                <a:latin typeface="Times New Roman" panose="02020603050405020304" pitchFamily="18" charset="0"/>
                <a:cs typeface="Times New Roman" panose="02020603050405020304" pitchFamily="18" charset="0"/>
              </a:rPr>
              <a:t>2×2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列联表如下</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10469272"/>
              </p:ext>
            </p:extLst>
          </p:nvPr>
        </p:nvGraphicFramePr>
        <p:xfrm>
          <a:off x="381000" y="1099829"/>
          <a:ext cx="11430000" cy="2133600"/>
        </p:xfrm>
        <a:graphic>
          <a:graphicData uri="http://schemas.openxmlformats.org/drawingml/2006/table">
            <a:tbl>
              <a:tblPr firstRow="1" firstCol="1" bandRow="1"/>
              <a:tblGrid>
                <a:gridCol w="2857500"/>
                <a:gridCol w="2857500"/>
                <a:gridCol w="2857500"/>
                <a:gridCol w="2857500"/>
              </a:tblGrid>
              <a:tr h="0">
                <a:tc rowSpan="2">
                  <a:txBody>
                    <a:bodyPr/>
                    <a:lstStyle/>
                    <a:p>
                      <a:pPr algn="ctr">
                        <a:lnSpc>
                          <a:spcPct val="10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学生性别</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0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肯定与否定</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lnSpc>
                          <a:spcPct val="10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a:lstStyle/>
                    <a:p>
                      <a:endParaRPr lang="zh-CN" altLang="en-US"/>
                    </a:p>
                  </a:txBody>
                  <a:tcPr/>
                </a:tc>
                <a:tc>
                  <a:txBody>
                    <a:bodyPr/>
                    <a:lstStyle/>
                    <a:p>
                      <a:pPr algn="ctr">
                        <a:lnSpc>
                          <a:spcPct val="10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肯定</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否定</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r>
              <a:tr h="0">
                <a:tc>
                  <a:txBody>
                    <a:bodyPr/>
                    <a:lstStyle/>
                    <a:p>
                      <a:pPr algn="ctr">
                        <a:lnSpc>
                          <a:spcPct val="10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男生</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女生</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126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0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170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4" name="矩形 3"/>
          <p:cNvSpPr>
            <a:spLocks noChangeAspect="1"/>
          </p:cNvSpPr>
          <p:nvPr/>
        </p:nvSpPr>
        <p:spPr>
          <a:xfrm>
            <a:off x="381000" y="3323889"/>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根据列联表中所给的数据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可求出男生中作肯定回答的频率</a:t>
            </a:r>
            <a:r>
              <a:rPr lang="zh-CN" altLang="zh-CN" sz="28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a:t>
            </a:r>
            <a:r>
              <a:rPr lang="en-US" altLang="zh-CN" sz="28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女生中作肯定回答的频率</a:t>
            </a:r>
            <a:r>
              <a:rPr lang="zh-CN" altLang="zh-CN" sz="28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a:t>
            </a:r>
            <a:r>
              <a:rPr lang="en-US" altLang="zh-CN" sz="28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37</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作出的等高堆积条形图如图所示</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其中两个阴影条形的高分别表示男生和女生中作肯定回答的频率</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比较图中阴影条形的高可以发现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女生中作肯定回答的频率明显高于男生中作肯定回答的频率</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因此可以认为性别与态度有关系</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012951500"/>
              </p:ext>
            </p:extLst>
          </p:nvPr>
        </p:nvGraphicFramePr>
        <p:xfrm>
          <a:off x="9675958" y="3236712"/>
          <a:ext cx="773232" cy="773232"/>
        </p:xfrm>
        <a:graphic>
          <a:graphicData uri="http://schemas.openxmlformats.org/presentationml/2006/ole">
            <mc:AlternateContent xmlns:mc="http://schemas.openxmlformats.org/markup-compatibility/2006">
              <mc:Choice xmlns:v="urn:schemas-microsoft-com:vml" Requires="v">
                <p:oleObj spid="_x0000_s31783" name="文档" r:id="rId4" imgW="399226" imgH="398969" progId="Word.Document.12">
                  <p:embed/>
                </p:oleObj>
              </mc:Choice>
              <mc:Fallback>
                <p:oleObj name="文档" r:id="rId4" imgW="399226" imgH="398969" progId="Word.Document.12">
                  <p:embed/>
                  <p:pic>
                    <p:nvPicPr>
                      <p:cNvPr id="0" name=""/>
                      <p:cNvPicPr>
                        <a:picLocks noChangeAspect="1" noChangeArrowheads="1"/>
                      </p:cNvPicPr>
                      <p:nvPr/>
                    </p:nvPicPr>
                    <p:blipFill>
                      <a:blip r:embed="rId5"/>
                      <a:srcRect/>
                      <a:stretch>
                        <a:fillRect/>
                      </a:stretch>
                    </p:blipFill>
                    <p:spPr bwMode="auto">
                      <a:xfrm>
                        <a:off x="9675958" y="3236712"/>
                        <a:ext cx="773232" cy="773232"/>
                      </a:xfrm>
                      <a:prstGeom prst="rect">
                        <a:avLst/>
                      </a:prstGeom>
                      <a:no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887592957"/>
              </p:ext>
            </p:extLst>
          </p:nvPr>
        </p:nvGraphicFramePr>
        <p:xfrm>
          <a:off x="4148461" y="3822339"/>
          <a:ext cx="773232" cy="773232"/>
        </p:xfrm>
        <a:graphic>
          <a:graphicData uri="http://schemas.openxmlformats.org/presentationml/2006/ole">
            <mc:AlternateContent xmlns:mc="http://schemas.openxmlformats.org/markup-compatibility/2006">
              <mc:Choice xmlns:v="urn:schemas-microsoft-com:vml" Requires="v">
                <p:oleObj spid="_x0000_s31784" name="文档" r:id="rId7" imgW="399226" imgH="398969" progId="Word.Document.12">
                  <p:embed/>
                </p:oleObj>
              </mc:Choice>
              <mc:Fallback>
                <p:oleObj name="文档" r:id="rId7" imgW="399226" imgH="398969" progId="Word.Document.12">
                  <p:embed/>
                  <p:pic>
                    <p:nvPicPr>
                      <p:cNvPr id="0" name=""/>
                      <p:cNvPicPr>
                        <a:picLocks noChangeAspect="1" noChangeArrowheads="1"/>
                      </p:cNvPicPr>
                      <p:nvPr/>
                    </p:nvPicPr>
                    <p:blipFill>
                      <a:blip r:embed="rId8"/>
                      <a:srcRect/>
                      <a:stretch>
                        <a:fillRect/>
                      </a:stretch>
                    </p:blipFill>
                    <p:spPr bwMode="auto">
                      <a:xfrm>
                        <a:off x="4148461" y="3822339"/>
                        <a:ext cx="773232" cy="773232"/>
                      </a:xfrm>
                      <a:prstGeom prst="rect">
                        <a:avLst/>
                      </a:prstGeom>
                      <a:noFill/>
                    </p:spPr>
                  </p:pic>
                </p:oleObj>
              </mc:Fallback>
            </mc:AlternateContent>
          </a:graphicData>
        </a:graphic>
      </p:graphicFrame>
    </p:spTree>
    <p:extLst>
      <p:ext uri="{BB962C8B-B14F-4D97-AF65-F5344CB8AC3E}">
        <p14:creationId xmlns:p14="http://schemas.microsoft.com/office/powerpoint/2010/main" val="4844934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ZMX3TRAX83.eps" descr="id:2147519680;FounderCES"/>
          <p:cNvPicPr/>
          <p:nvPr/>
        </p:nvPicPr>
        <p:blipFill>
          <a:blip r:embed="rId3">
            <a:clrChange>
              <a:clrFrom>
                <a:srgbClr val="FFFFFF"/>
              </a:clrFrom>
              <a:clrTo>
                <a:srgbClr val="FFFFFF">
                  <a:alpha val="0"/>
                </a:srgbClr>
              </a:clrTo>
            </a:clrChange>
          </a:blip>
          <a:stretch>
            <a:fillRect/>
          </a:stretch>
        </p:blipFill>
        <p:spPr>
          <a:xfrm>
            <a:off x="3897394" y="517898"/>
            <a:ext cx="4897284" cy="3097289"/>
          </a:xfrm>
          <a:prstGeom prst="rect">
            <a:avLst/>
          </a:prstGeom>
        </p:spPr>
      </p:pic>
      <p:sp>
        <p:nvSpPr>
          <p:cNvPr id="3" name="矩形 2"/>
          <p:cNvSpPr>
            <a:spLocks noChangeAspect="1"/>
          </p:cNvSpPr>
          <p:nvPr/>
        </p:nvSpPr>
        <p:spPr>
          <a:xfrm>
            <a:off x="381000" y="3543269"/>
            <a:ext cx="11430000" cy="26345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零假设为</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性别与</a:t>
            </a:r>
            <a:r>
              <a:rPr lang="zh-CN" altLang="zh-CN" sz="28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态度相互</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独立</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20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根据</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小概率值</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05</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的独立性检验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我们推断</a:t>
            </a:r>
            <a:r>
              <a:rPr lang="en-US" altLang="zh-CN" sz="2800" i="1">
                <a:solidFill>
                  <a:srgbClr val="000000"/>
                </a:solidFill>
                <a:latin typeface="Times New Roman" panose="02020603050405020304" pitchFamily="18" charset="0"/>
                <a:cs typeface="Times New Roman" panose="02020603050405020304" pitchFamily="18" charset="0"/>
              </a:rPr>
              <a:t>H</a:t>
            </a:r>
            <a:r>
              <a:rPr lang="en-US" altLang="zh-CN" sz="2800" baseline="-250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不成立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即性别与态度有关系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该推断犯错误的概率不超过</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05</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620728934"/>
              </p:ext>
            </p:extLst>
          </p:nvPr>
        </p:nvGraphicFramePr>
        <p:xfrm>
          <a:off x="458424" y="4010899"/>
          <a:ext cx="11275153" cy="989193"/>
        </p:xfrm>
        <a:graphic>
          <a:graphicData uri="http://schemas.openxmlformats.org/presentationml/2006/ole">
            <mc:AlternateContent xmlns:mc="http://schemas.openxmlformats.org/markup-compatibility/2006">
              <mc:Choice xmlns:v="urn:schemas-microsoft-com:vml" Requires="v">
                <p:oleObj spid="_x0000_s35861" name="文档" r:id="rId5" imgW="4510061" imgH="395677" progId="Word.Document.12">
                  <p:embed/>
                </p:oleObj>
              </mc:Choice>
              <mc:Fallback>
                <p:oleObj name="文档" r:id="rId5" imgW="4510061" imgH="395677" progId="Word.Document.12">
                  <p:embed/>
                  <p:pic>
                    <p:nvPicPr>
                      <p:cNvPr id="0" name=""/>
                      <p:cNvPicPr/>
                      <p:nvPr/>
                    </p:nvPicPr>
                    <p:blipFill>
                      <a:blip r:embed="rId6"/>
                      <a:stretch>
                        <a:fillRect/>
                      </a:stretch>
                    </p:blipFill>
                    <p:spPr>
                      <a:xfrm>
                        <a:off x="458424" y="4010899"/>
                        <a:ext cx="11275153" cy="989193"/>
                      </a:xfrm>
                      <a:prstGeom prst="rect">
                        <a:avLst/>
                      </a:prstGeom>
                    </p:spPr>
                  </p:pic>
                </p:oleObj>
              </mc:Fallback>
            </mc:AlternateContent>
          </a:graphicData>
        </a:graphic>
      </p:graphicFrame>
    </p:spTree>
    <p:extLst>
      <p:ext uri="{BB962C8B-B14F-4D97-AF65-F5344CB8AC3E}">
        <p14:creationId xmlns:p14="http://schemas.microsoft.com/office/powerpoint/2010/main" val="27911681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6" name="文本框 5"/>
          <p:cNvSpPr txBox="1"/>
          <p:nvPr/>
        </p:nvSpPr>
        <p:spPr>
          <a:xfrm>
            <a:off x="2624485" y="2222090"/>
            <a:ext cx="6648062" cy="1015663"/>
          </a:xfrm>
          <a:prstGeom prst="rect">
            <a:avLst/>
          </a:prstGeom>
          <a:noFill/>
        </p:spPr>
        <p:txBody>
          <a:bodyPr wrap="square" rtlCol="0">
            <a:spAutoFit/>
          </a:bodyPr>
          <a:lstStyle/>
          <a:p>
            <a:pPr algn="ctr"/>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109</TotalTime>
  <Words>4988</Words>
  <Application>Microsoft Office PowerPoint</Application>
  <PresentationFormat>宽屏</PresentationFormat>
  <Paragraphs>551</Paragraphs>
  <Slides>48</Slides>
  <Notes>0</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48</vt:i4>
      </vt:variant>
    </vt:vector>
  </HeadingPairs>
  <TitlesOfParts>
    <vt:vector size="69" baseType="lpstr">
      <vt:lpstr>NEU-BZ-S92</vt:lpstr>
      <vt:lpstr>Open Sans</vt:lpstr>
      <vt:lpstr>方正书宋_GBK</vt:lpstr>
      <vt:lpstr>方正姚体</vt:lpstr>
      <vt:lpstr>方正正中黑简体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Microsoft Yi Baiti</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Windows User</cp:lastModifiedBy>
  <cp:revision>49</cp:revision>
  <dcterms:created xsi:type="dcterms:W3CDTF">2021-08-30T08:30:26Z</dcterms:created>
  <dcterms:modified xsi:type="dcterms:W3CDTF">2025-08-20T01:09:00Z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