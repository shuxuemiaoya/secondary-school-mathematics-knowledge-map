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677" r:id="rId2"/>
    <p:sldId id="488" r:id="rId3"/>
    <p:sldId id="494" r:id="rId4"/>
    <p:sldId id="392" r:id="rId5"/>
    <p:sldId id="686" r:id="rId6"/>
    <p:sldId id="756" r:id="rId7"/>
    <p:sldId id="758" r:id="rId8"/>
    <p:sldId id="759" r:id="rId9"/>
    <p:sldId id="761" r:id="rId10"/>
    <p:sldId id="407" r:id="rId11"/>
    <p:sldId id="394" r:id="rId12"/>
    <p:sldId id="700" r:id="rId13"/>
    <p:sldId id="701" r:id="rId14"/>
    <p:sldId id="762" r:id="rId15"/>
    <p:sldId id="402" r:id="rId16"/>
    <p:sldId id="720" r:id="rId17"/>
    <p:sldId id="763" r:id="rId18"/>
    <p:sldId id="764" r:id="rId19"/>
    <p:sldId id="498" r:id="rId20"/>
    <p:sldId id="765" r:id="rId21"/>
    <p:sldId id="766" r:id="rId22"/>
    <p:sldId id="767" r:id="rId23"/>
    <p:sldId id="741" r:id="rId24"/>
    <p:sldId id="738" r:id="rId25"/>
    <p:sldId id="751" r:id="rId26"/>
    <p:sldId id="752" r:id="rId27"/>
    <p:sldId id="398" r:id="rId28"/>
    <p:sldId id="772" r:id="rId29"/>
    <p:sldId id="773" r:id="rId30"/>
    <p:sldId id="770" r:id="rId31"/>
    <p:sldId id="49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4" Type="http://schemas.openxmlformats.org/officeDocument/2006/relationships/image" Target="../media/image3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4" Type="http://schemas.openxmlformats.org/officeDocument/2006/relationships/image" Target="../media/image4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3.xml"/><Relationship Id="rId4" Type="http://schemas.openxmlformats.org/officeDocument/2006/relationships/slide" Target="../slides/slide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6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8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10.docx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1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2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4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7.docx"/><Relationship Id="rId3" Type="http://schemas.openxmlformats.org/officeDocument/2006/relationships/image" Target="../media/image11.jpeg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6.docx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emf"/><Relationship Id="rId5" Type="http://schemas.openxmlformats.org/officeDocument/2006/relationships/image" Target="../media/image19.emf"/><Relationship Id="rId10" Type="http://schemas.openxmlformats.org/officeDocument/2006/relationships/package" Target="../embeddings/Microsoft_Word___20.docx"/><Relationship Id="rId4" Type="http://schemas.openxmlformats.org/officeDocument/2006/relationships/package" Target="../embeddings/Microsoft_Word___18.docx"/><Relationship Id="rId9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package" Target="../embeddings/Microsoft_Word___24.docx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emf"/><Relationship Id="rId5" Type="http://schemas.openxmlformats.org/officeDocument/2006/relationships/image" Target="../media/image22.emf"/><Relationship Id="rId10" Type="http://schemas.openxmlformats.org/officeDocument/2006/relationships/package" Target="../embeddings/Microsoft_Word___23.docx"/><Relationship Id="rId4" Type="http://schemas.openxmlformats.org/officeDocument/2006/relationships/package" Target="../embeddings/Microsoft_Word___21.docx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5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6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7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8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9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1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3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package" Target="../embeddings/Microsoft_Word___38.docx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8.emf"/><Relationship Id="rId5" Type="http://schemas.openxmlformats.org/officeDocument/2006/relationships/image" Target="../media/image36.emf"/><Relationship Id="rId10" Type="http://schemas.openxmlformats.org/officeDocument/2006/relationships/package" Target="../embeddings/Microsoft_Word___37.docx"/><Relationship Id="rId4" Type="http://schemas.openxmlformats.org/officeDocument/2006/relationships/package" Target="../embeddings/Microsoft_Word___35.docx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9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package" Target="../embeddings/Microsoft_Word___44.docx"/><Relationship Id="rId3" Type="http://schemas.openxmlformats.org/officeDocument/2006/relationships/oleObject" Target="../embeddings/oleObject41.bin"/><Relationship Id="rId7" Type="http://schemas.openxmlformats.org/officeDocument/2006/relationships/package" Target="../embeddings/Microsoft_Word___42.docx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4.emf"/><Relationship Id="rId5" Type="http://schemas.openxmlformats.org/officeDocument/2006/relationships/image" Target="../media/image42.emf"/><Relationship Id="rId10" Type="http://schemas.openxmlformats.org/officeDocument/2006/relationships/package" Target="../embeddings/Microsoft_Word___43.docx"/><Relationship Id="rId4" Type="http://schemas.openxmlformats.org/officeDocument/2006/relationships/package" Target="../embeddings/Microsoft_Word___41.docx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0142"/>
              <a:ext cx="8158783" cy="6464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6.2.2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排列数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第六章</a:t>
            </a:r>
            <a:endParaRPr lang="en-US" altLang="zh-CN" sz="3600" b="1" kern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2202573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掌握排列数的概念及其公式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能正确运用排列数公式进行计算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通过排列数公式的学习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提升数学运算的素养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4676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排列数及排列数公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式</a:t>
            </a:r>
            <a:endParaRPr lang="en-US" altLang="zh-CN" sz="2800" smtClean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从写有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的卡片中选取卡片进行数字游戏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试填写下表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71638439"/>
              </p:ext>
            </p:extLst>
          </p:nvPr>
        </p:nvGraphicFramePr>
        <p:xfrm>
          <a:off x="381000" y="1907220"/>
          <a:ext cx="11430000" cy="3435096"/>
        </p:xfrm>
        <a:graphic>
          <a:graphicData uri="http://schemas.openxmlformats.org/drawingml/2006/table">
            <a:tbl>
              <a:tblPr firstRow="1" firstCol="1" bandRow="1"/>
              <a:tblGrid>
                <a:gridCol w="749157"/>
                <a:gridCol w="6870843"/>
                <a:gridCol w="3810000"/>
              </a:tblGrid>
              <a:tr h="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问题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答案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张卡片中选取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能构成多少个无重复数字的两位数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张卡片中选取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能构成多少个无重复数字的三位数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张卡片中选取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能构成多少个无重复数字的四位数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28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NEU-BZ-S92"/>
                          <a:cs typeface="Times New Roman" panose="02020603050405020304" pitchFamily="18" charset="0"/>
                        </a:rPr>
                        <a:t>□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475618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(1)4×3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2)4×3×2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3)4×3×2×1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9287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排列数的定义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个不同元素中取出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个元素的所有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不同排列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个不同元素中取出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个元素的排列数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全排列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个不同的元素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全部取出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的一个排列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个元素的一个全排列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正整数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的连乘积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289591"/>
              </p:ext>
            </p:extLst>
          </p:nvPr>
        </p:nvGraphicFramePr>
        <p:xfrm>
          <a:off x="9457973" y="2502345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文档" r:id="rId4" imgW="326921" imgH="197659" progId="Word.Document.12">
                  <p:embed/>
                </p:oleObj>
              </mc:Choice>
              <mc:Fallback>
                <p:oleObj name="文档" r:id="rId4" imgW="32692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57973" y="2502345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33154"/>
              </p:ext>
            </p:extLst>
          </p:nvPr>
        </p:nvGraphicFramePr>
        <p:xfrm>
          <a:off x="2131888" y="3657672"/>
          <a:ext cx="8540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文档" r:id="rId7" imgW="348844" imgH="197659" progId="Word.Document.12">
                  <p:embed/>
                </p:oleObj>
              </mc:Choice>
              <mc:Fallback>
                <p:oleObj name="文档" r:id="rId7" imgW="348844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1888" y="3657672"/>
                        <a:ext cx="854075" cy="49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0251723" y="1892873"/>
            <a:ext cx="142452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0251723" y="2444470"/>
            <a:ext cx="14245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30464" y="3022451"/>
            <a:ext cx="142452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730464" y="3574048"/>
            <a:ext cx="14245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405380" y="4117139"/>
            <a:ext cx="749614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405379" y="4668736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298077" y="4128025"/>
            <a:ext cx="48520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7298077" y="4679622"/>
            <a:ext cx="4852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47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67489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排列数公式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542294"/>
              </p:ext>
            </p:extLst>
          </p:nvPr>
        </p:nvGraphicFramePr>
        <p:xfrm>
          <a:off x="458423" y="2479899"/>
          <a:ext cx="11275153" cy="2125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4" imgW="4510061" imgH="850291" progId="Word.Document.12">
                  <p:embed/>
                </p:oleObj>
              </mc:Choice>
              <mc:Fallback>
                <p:oleObj name="文档" r:id="rId4" imgW="4510061" imgH="8502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3" y="2479899"/>
                        <a:ext cx="11275153" cy="2125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481678" y="2449077"/>
            <a:ext cx="323332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481678" y="3000674"/>
            <a:ext cx="32333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568764" y="3167743"/>
            <a:ext cx="1056179" cy="74979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568764" y="3924038"/>
            <a:ext cx="10561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329278" y="3985781"/>
            <a:ext cx="39215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329278" y="4537378"/>
            <a:ext cx="3921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399187" y="3985781"/>
            <a:ext cx="32088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399187" y="4537378"/>
            <a:ext cx="3208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38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23579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(1)15×14×13×12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可表示为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某高三毕业班有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同学之间两两彼此给对方仅写一条毕业留言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则全班同学共写了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条毕业留言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用数字作答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868762"/>
              </p:ext>
            </p:extLst>
          </p:nvPr>
        </p:nvGraphicFramePr>
        <p:xfrm>
          <a:off x="458424" y="789538"/>
          <a:ext cx="11275153" cy="171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文档" r:id="rId4" imgW="4510061" imgH="684375" progId="Word.Document.12">
                  <p:embed/>
                </p:oleObj>
              </mc:Choice>
              <mc:Fallback>
                <p:oleObj name="文档" r:id="rId4" imgW="4510061" imgH="6843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89538"/>
                        <a:ext cx="11275153" cy="1710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690007"/>
              </p:ext>
            </p:extLst>
          </p:nvPr>
        </p:nvGraphicFramePr>
        <p:xfrm>
          <a:off x="458424" y="3627406"/>
          <a:ext cx="11275153" cy="228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文档" r:id="rId7" imgW="4521949" imgH="913757" progId="Word.Document.12">
                  <p:embed/>
                </p:oleObj>
              </mc:Choice>
              <mc:Fallback>
                <p:oleObj name="文档" r:id="rId7" imgW="4521949" imgH="9137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627406"/>
                        <a:ext cx="11275153" cy="228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5907756"/>
            <a:ext cx="46554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(2)108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(3)1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560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4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92301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式子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的值都可以为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在排列数的第一个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n-m+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等号右边的展开式共有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排列数与排列是相同的概念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700642"/>
              </p:ext>
            </p:extLst>
          </p:nvPr>
        </p:nvGraphicFramePr>
        <p:xfrm>
          <a:off x="1841973" y="3114827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文档" r:id="rId4" imgW="326921" imgH="197659" progId="Word.Document.12">
                  <p:embed/>
                </p:oleObj>
              </mc:Choice>
              <mc:Fallback>
                <p:oleObj name="文档" r:id="rId4" imgW="32692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1973" y="3114827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796718"/>
              </p:ext>
            </p:extLst>
          </p:nvPr>
        </p:nvGraphicFramePr>
        <p:xfrm>
          <a:off x="4400239" y="3649636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文档" r:id="rId7" imgW="326921" imgH="197659" progId="Word.Document.12">
                  <p:embed/>
                </p:oleObj>
              </mc:Choice>
              <mc:Fallback>
                <p:oleObj name="文档" r:id="rId7" imgW="32692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0239" y="3649636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096000" y="3105425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931722" y="4213146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10684" y="4781577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80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排列数公式及其应用问题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682935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式子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)…(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可表示为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274925"/>
              </p:ext>
            </p:extLst>
          </p:nvPr>
        </p:nvGraphicFramePr>
        <p:xfrm>
          <a:off x="457200" y="1433231"/>
          <a:ext cx="11280775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文档" r:id="rId4" imgW="4510061" imgH="632480" progId="Word.Document.12">
                  <p:embed/>
                </p:oleObj>
              </mc:Choice>
              <mc:Fallback>
                <p:oleObj name="文档" r:id="rId4" imgW="4510061" imgH="632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1433231"/>
                        <a:ext cx="11280775" cy="157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728607"/>
              </p:ext>
            </p:extLst>
          </p:nvPr>
        </p:nvGraphicFramePr>
        <p:xfrm>
          <a:off x="457200" y="3119427"/>
          <a:ext cx="11280775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文档" r:id="rId7" imgW="4510061" imgH="794654" progId="Word.Document.12">
                  <p:embed/>
                </p:oleObj>
              </mc:Choice>
              <mc:Fallback>
                <p:oleObj name="文档" r:id="rId7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3119427"/>
                        <a:ext cx="11280775" cy="197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857942"/>
            <a:ext cx="423545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(1)B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(2)6 608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252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1942861"/>
            <a:ext cx="2259458" cy="412065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81000" y="25843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若式子改为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)…(12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如何用排列数表示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乘积式子中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连续正整数有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因此可表示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353799"/>
              </p:ext>
            </p:extLst>
          </p:nvPr>
        </p:nvGraphicFramePr>
        <p:xfrm>
          <a:off x="9977420" y="3749068"/>
          <a:ext cx="12922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文档" r:id="rId5" imgW="525788" imgH="397868" progId="Word.Document.12">
                  <p:embed/>
                </p:oleObj>
              </mc:Choice>
              <mc:Fallback>
                <p:oleObj name="文档" r:id="rId5" imgW="525788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77420" y="3749068"/>
                        <a:ext cx="1292225" cy="98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294918"/>
              </p:ext>
            </p:extLst>
          </p:nvPr>
        </p:nvGraphicFramePr>
        <p:xfrm>
          <a:off x="458424" y="130546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30546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排列数的计算方法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排列数的计算主要是利用排列数公式进行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应用时注意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连续正整数的积可以写成某个排列数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这是排列数公式的逆用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应用排列数公式的阶乘形式时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一般先写出它们的式子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再提取公因式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最后计算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这样往往会减少运算量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514294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为正整数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则乘积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2)…(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171308"/>
              </p:ext>
            </p:extLst>
          </p:nvPr>
        </p:nvGraphicFramePr>
        <p:xfrm>
          <a:off x="463550" y="1166780"/>
          <a:ext cx="112649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文档" r:id="rId4" imgW="4558286" imgH="673203" progId="Word.Document.12">
                  <p:embed/>
                </p:oleObj>
              </mc:Choice>
              <mc:Fallback>
                <p:oleObj name="文档" r:id="rId4" imgW="4558286" imgH="6732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1166780"/>
                        <a:ext cx="11264900" cy="167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407885"/>
              </p:ext>
            </p:extLst>
          </p:nvPr>
        </p:nvGraphicFramePr>
        <p:xfrm>
          <a:off x="458424" y="2900802"/>
          <a:ext cx="11275153" cy="262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文档" r:id="rId7" imgW="4510061" imgH="1053772" progId="Word.Document.12">
                  <p:embed/>
                </p:oleObj>
              </mc:Choice>
              <mc:Fallback>
                <p:oleObj name="文档" r:id="rId7" imgW="4510061" imgH="1053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900802"/>
                        <a:ext cx="11275153" cy="262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339874"/>
            <a:ext cx="273023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2)1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1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与排列数有关的方程、不等式及证明问题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547909"/>
              </p:ext>
            </p:extLst>
          </p:nvPr>
        </p:nvGraphicFramePr>
        <p:xfrm>
          <a:off x="458424" y="726968"/>
          <a:ext cx="11275153" cy="113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文档" r:id="rId4" imgW="4510061" imgH="454974" progId="Word.Document.12">
                  <p:embed/>
                </p:oleObj>
              </mc:Choice>
              <mc:Fallback>
                <p:oleObj name="文档" r:id="rId4" imgW="4510061" imgH="454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26968"/>
                        <a:ext cx="11275153" cy="113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951941"/>
              </p:ext>
            </p:extLst>
          </p:nvPr>
        </p:nvGraphicFramePr>
        <p:xfrm>
          <a:off x="457200" y="1880618"/>
          <a:ext cx="11280775" cy="447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文档" r:id="rId7" imgW="4510061" imgH="1789349" progId="Word.Document.12">
                  <p:embed/>
                </p:oleObj>
              </mc:Choice>
              <mc:Fallback>
                <p:oleObj name="文档" r:id="rId7" imgW="4510061" imgH="17893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1880618"/>
                        <a:ext cx="11280775" cy="447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968828"/>
            <a:ext cx="299633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(1)6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(2){3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792155"/>
            <a:ext cx="2259458" cy="412065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389591"/>
              </p:ext>
            </p:extLst>
          </p:nvPr>
        </p:nvGraphicFramePr>
        <p:xfrm>
          <a:off x="458424" y="1442841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文档" r:id="rId5" imgW="4510061" imgH="227487" progId="Word.Document.12">
                  <p:embed/>
                </p:oleObj>
              </mc:Choice>
              <mc:Fallback>
                <p:oleObj name="文档" r:id="rId5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1442841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146262"/>
              </p:ext>
            </p:extLst>
          </p:nvPr>
        </p:nvGraphicFramePr>
        <p:xfrm>
          <a:off x="458424" y="2208778"/>
          <a:ext cx="11275153" cy="269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文档" r:id="rId8" imgW="4510061" imgH="1075981" progId="Word.Document.12">
                  <p:embed/>
                </p:oleObj>
              </mc:Choice>
              <mc:Fallback>
                <p:oleObj name="文档" r:id="rId8" imgW="4510061" imgH="10759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424" y="2208778"/>
                        <a:ext cx="11275153" cy="269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065093"/>
              </p:ext>
            </p:extLst>
          </p:nvPr>
        </p:nvGraphicFramePr>
        <p:xfrm>
          <a:off x="458424" y="1028063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028063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152221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求解与排列数有关的方程、不等式问题的方法技巧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合理选择排列数公式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较小时多用乘积式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较大时一般用阶乘式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65008"/>
              </p:ext>
            </p:extLst>
          </p:nvPr>
        </p:nvGraphicFramePr>
        <p:xfrm>
          <a:off x="4485672" y="2134446"/>
          <a:ext cx="616426" cy="54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文档" r:id="rId7" imgW="232937" imgH="204127" progId="Word.Document.12">
                  <p:embed/>
                </p:oleObj>
              </mc:Choice>
              <mc:Fallback>
                <p:oleObj name="文档" r:id="rId7" imgW="232937" imgH="2041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85672" y="2134446"/>
                        <a:ext cx="616426" cy="548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352631"/>
              </p:ext>
            </p:extLst>
          </p:nvPr>
        </p:nvGraphicFramePr>
        <p:xfrm>
          <a:off x="458424" y="3211757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4" name="文档" r:id="rId10" imgW="4510061" imgH="793212" progId="Word.Document.12">
                  <p:embed/>
                </p:oleObj>
              </mc:Choice>
              <mc:Fallback>
                <p:oleObj name="文档" r:id="rId10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3211757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16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341828"/>
              </p:ext>
            </p:extLst>
          </p:nvPr>
        </p:nvGraphicFramePr>
        <p:xfrm>
          <a:off x="458424" y="107121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07121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62997"/>
              </p:ext>
            </p:extLst>
          </p:nvPr>
        </p:nvGraphicFramePr>
        <p:xfrm>
          <a:off x="463550" y="2259102"/>
          <a:ext cx="112283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550" y="2259102"/>
                        <a:ext cx="11228388" cy="97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27511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995684"/>
              </p:ext>
            </p:extLst>
          </p:nvPr>
        </p:nvGraphicFramePr>
        <p:xfrm>
          <a:off x="458424" y="3499689"/>
          <a:ext cx="11275153" cy="296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文档" r:id="rId10" imgW="4510061" imgH="1185233" progId="Word.Document.12">
                  <p:embed/>
                </p:oleObj>
              </mc:Choice>
              <mc:Fallback>
                <p:oleObj name="文档" r:id="rId10" imgW="4510061" imgH="11852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3499689"/>
                        <a:ext cx="11275153" cy="296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210425"/>
              </p:ext>
            </p:extLst>
          </p:nvPr>
        </p:nvGraphicFramePr>
        <p:xfrm>
          <a:off x="458424" y="1478882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文档" r:id="rId13" imgW="4510061" imgH="395677" progId="Word.Document.12">
                  <p:embed/>
                </p:oleObj>
              </mc:Choice>
              <mc:Fallback>
                <p:oleObj name="文档" r:id="rId13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8424" y="1478882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783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利用排列与排列数解简单的计数问题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2142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个人排成一排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共有多少种不同的排法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个人排成两排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前后两排各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人共有多少种不同的排法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个人排成两排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共有多少种不同的排法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675730"/>
              </p:ext>
            </p:extLst>
          </p:nvPr>
        </p:nvGraphicFramePr>
        <p:xfrm>
          <a:off x="458424" y="2533945"/>
          <a:ext cx="11275153" cy="3411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文档" r:id="rId4" imgW="4510061" imgH="1364563" progId="Word.Document.12">
                  <p:embed/>
                </p:oleObj>
              </mc:Choice>
              <mc:Fallback>
                <p:oleObj name="文档" r:id="rId4" imgW="4510061" imgH="13645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533945"/>
                        <a:ext cx="11275153" cy="3411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957353"/>
              </p:ext>
            </p:extLst>
          </p:nvPr>
        </p:nvGraphicFramePr>
        <p:xfrm>
          <a:off x="458424" y="709565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09565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203713"/>
            <a:ext cx="736611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利用排列与排列数解排列应用题的基本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思想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X3TRAX31.eps" descr="id:2147515636;FounderCES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2860" y="1980674"/>
            <a:ext cx="9446281" cy="202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3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解简单排列应用题的思路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认真分析题意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看能否把问题归结为排列问题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即是否有顺序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若是排列问题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则再进一步分析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个不同的元素指的是什么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以及从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个不同的元素中任取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个元素的每一种排列对应的是什么事件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运用排列数公式求解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7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4154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个不同的科研小课题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个由高二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个学习兴趣小组进行研究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个小课题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共有多少种不同的安排方法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名选手参加校园歌手大奖赛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比赛设一等奖、二等奖、三等奖各一名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每人最多获得一种奖项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共有多少种不同的获奖情况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472214"/>
              </p:ext>
            </p:extLst>
          </p:nvPr>
        </p:nvGraphicFramePr>
        <p:xfrm>
          <a:off x="0" y="3174495"/>
          <a:ext cx="11275153" cy="2842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文档" r:id="rId4" imgW="4510061" imgH="1134560" progId="Word.Document.12">
                  <p:embed/>
                </p:oleObj>
              </mc:Choice>
              <mc:Fallback>
                <p:oleObj name="文档" r:id="rId4" imgW="4510061" imgH="11345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3174495"/>
                        <a:ext cx="11275153" cy="2842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828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易错辨析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6380"/>
              </p:ext>
            </p:extLst>
          </p:nvPr>
        </p:nvGraphicFramePr>
        <p:xfrm>
          <a:off x="458424" y="1714181"/>
          <a:ext cx="11275153" cy="368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文档" r:id="rId4" imgW="4510061" imgH="1473455" progId="Word.Document.12">
                  <p:embed/>
                </p:oleObj>
              </mc:Choice>
              <mc:Fallback>
                <p:oleObj name="文档" r:id="rId4" imgW="4510061" imgH="14734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14181"/>
                        <a:ext cx="11275153" cy="368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7477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何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289310"/>
              </p:ext>
            </p:extLst>
          </p:nvPr>
        </p:nvGraphicFramePr>
        <p:xfrm>
          <a:off x="458424" y="1703012"/>
          <a:ext cx="11275153" cy="113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文档" r:id="rId4" imgW="4510061" imgH="454974" progId="Word.Document.12">
                  <p:embed/>
                </p:oleObj>
              </mc:Choice>
              <mc:Fallback>
                <p:oleObj name="文档" r:id="rId4" imgW="4510061" imgH="454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03012"/>
                        <a:ext cx="11275153" cy="113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113873"/>
              </p:ext>
            </p:extLst>
          </p:nvPr>
        </p:nvGraphicFramePr>
        <p:xfrm>
          <a:off x="463550" y="2702104"/>
          <a:ext cx="11228388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文档" r:id="rId7" imgW="4510061" imgH="1216499" progId="Word.Document.12">
                  <p:embed/>
                </p:oleObj>
              </mc:Choice>
              <mc:Fallback>
                <p:oleObj name="文档" r:id="rId7" imgW="4510061" imgH="12164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550" y="2702104"/>
                        <a:ext cx="11228388" cy="302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702017"/>
            <a:ext cx="161775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{8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715658"/>
              </p:ext>
            </p:extLst>
          </p:nvPr>
        </p:nvGraphicFramePr>
        <p:xfrm>
          <a:off x="458424" y="1623964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623964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83029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解含排列数的方程或不等式时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要注意根据排列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这些限制条件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确定方程或不等式中未知数的取值范围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714649"/>
              </p:ext>
            </p:extLst>
          </p:nvPr>
        </p:nvGraphicFramePr>
        <p:xfrm>
          <a:off x="7872901" y="2365499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文档" r:id="rId7" imgW="326921" imgH="197659" progId="Word.Document.12">
                  <p:embed/>
                </p:oleObj>
              </mc:Choice>
              <mc:Fallback>
                <p:oleObj name="文档" r:id="rId7" imgW="32692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72901" y="2365499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34267"/>
              </p:ext>
            </p:extLst>
          </p:nvPr>
        </p:nvGraphicFramePr>
        <p:xfrm>
          <a:off x="458424" y="55450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5450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388516"/>
              </p:ext>
            </p:extLst>
          </p:nvPr>
        </p:nvGraphicFramePr>
        <p:xfrm>
          <a:off x="457200" y="1371600"/>
          <a:ext cx="11249025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1" name="文档" r:id="rId7" imgW="4510061" imgH="1638769" progId="Word.Document.12">
                  <p:embed/>
                </p:oleObj>
              </mc:Choice>
              <mc:Fallback>
                <p:oleObj name="文档" r:id="rId7" imgW="4510061" imgH="16387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1371600"/>
                        <a:ext cx="11249025" cy="407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484032"/>
              </p:ext>
            </p:extLst>
          </p:nvPr>
        </p:nvGraphicFramePr>
        <p:xfrm>
          <a:off x="458424" y="399120"/>
          <a:ext cx="11275153" cy="171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2" name="文档" r:id="rId4" imgW="4510061" imgH="684375" progId="Word.Document.12">
                  <p:embed/>
                </p:oleObj>
              </mc:Choice>
              <mc:Fallback>
                <p:oleObj name="文档" r:id="rId4" imgW="4510061" imgH="6843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99120"/>
                        <a:ext cx="11275153" cy="1710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05417"/>
              </p:ext>
            </p:extLst>
          </p:nvPr>
        </p:nvGraphicFramePr>
        <p:xfrm>
          <a:off x="458424" y="2120333"/>
          <a:ext cx="11275153" cy="574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3" name="文档" r:id="rId7" imgW="4510061" imgH="228125" progId="Word.Document.12">
                  <p:embed/>
                </p:oleObj>
              </mc:Choice>
              <mc:Fallback>
                <p:oleObj name="文档" r:id="rId7" imgW="4510061" imgH="2281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120333"/>
                        <a:ext cx="11275153" cy="574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68422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988514"/>
              </p:ext>
            </p:extLst>
          </p:nvPr>
        </p:nvGraphicFramePr>
        <p:xfrm>
          <a:off x="458424" y="3408523"/>
          <a:ext cx="11275153" cy="113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4" name="文档" r:id="rId10" imgW="4510061" imgH="454974" progId="Word.Document.12">
                  <p:embed/>
                </p:oleObj>
              </mc:Choice>
              <mc:Fallback>
                <p:oleObj name="文档" r:id="rId10" imgW="4510061" imgH="454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3408523"/>
                        <a:ext cx="11275153" cy="113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630942"/>
              </p:ext>
            </p:extLst>
          </p:nvPr>
        </p:nvGraphicFramePr>
        <p:xfrm>
          <a:off x="458424" y="4771668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5" name="文档" r:id="rId13" imgW="4510061" imgH="227487" progId="Word.Document.12">
                  <p:embed/>
                </p:oleObj>
              </mc:Choice>
              <mc:Fallback>
                <p:oleObj name="文档" r:id="rId13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8424" y="4771668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615290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10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63771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0,1,2,…,9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这十个数字可组成无重复数字的三位数的个数是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24647"/>
              </p:ext>
            </p:extLst>
          </p:nvPr>
        </p:nvGraphicFramePr>
        <p:xfrm>
          <a:off x="458424" y="2040465"/>
          <a:ext cx="11275153" cy="114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文档" r:id="rId4" imgW="4510061" imgH="456250" progId="Word.Document.12">
                  <p:embed/>
                </p:oleObj>
              </mc:Choice>
              <mc:Fallback>
                <p:oleObj name="文档" r:id="rId4" imgW="4510061" imgH="456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040465"/>
                        <a:ext cx="11275153" cy="114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53954"/>
              </p:ext>
            </p:extLst>
          </p:nvPr>
        </p:nvGraphicFramePr>
        <p:xfrm>
          <a:off x="458424" y="3211912"/>
          <a:ext cx="11275153" cy="114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文档" r:id="rId7" imgW="4510061" imgH="456250" progId="Word.Document.12">
                  <p:embed/>
                </p:oleObj>
              </mc:Choice>
              <mc:Fallback>
                <p:oleObj name="文档" r:id="rId7" imgW="4510061" imgH="456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211912"/>
                        <a:ext cx="11275153" cy="114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52" y="4317601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1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153814"/>
              </p:ext>
            </p:extLst>
          </p:nvPr>
        </p:nvGraphicFramePr>
        <p:xfrm>
          <a:off x="458424" y="1412018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文档" r:id="rId4" imgW="4510061" imgH="227487" progId="Word.Document.12">
                  <p:embed/>
                </p:oleObj>
              </mc:Choice>
              <mc:Fallback>
                <p:oleObj name="文档" r:id="rId4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412018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852929"/>
              </p:ext>
            </p:extLst>
          </p:nvPr>
        </p:nvGraphicFramePr>
        <p:xfrm>
          <a:off x="458424" y="2090112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文档" r:id="rId7" imgW="4510061" imgH="227487" progId="Word.Document.12">
                  <p:embed/>
                </p:oleObj>
              </mc:Choice>
              <mc:Fallback>
                <p:oleObj name="文档" r:id="rId7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090112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2806904"/>
            <a:ext cx="252825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720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943698"/>
              </p:ext>
            </p:extLst>
          </p:nvPr>
        </p:nvGraphicFramePr>
        <p:xfrm>
          <a:off x="458424" y="3716840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文档" r:id="rId10" imgW="4510061" imgH="227487" progId="Word.Document.12">
                  <p:embed/>
                </p:oleObj>
              </mc:Choice>
              <mc:Fallback>
                <p:oleObj name="文档" r:id="rId10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3716840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226012"/>
              </p:ext>
            </p:extLst>
          </p:nvPr>
        </p:nvGraphicFramePr>
        <p:xfrm>
          <a:off x="458424" y="446209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文档" r:id="rId13" imgW="4510061" imgH="395677" progId="Word.Document.12">
                  <p:embed/>
                </p:oleObj>
              </mc:Choice>
              <mc:Fallback>
                <p:oleObj name="文档" r:id="rId13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8424" y="446209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129</TotalTime>
  <Words>1468</Words>
  <Application>Microsoft Office PowerPoint</Application>
  <PresentationFormat>宽屏</PresentationFormat>
  <Paragraphs>91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40</cp:revision>
  <dcterms:created xsi:type="dcterms:W3CDTF">2021-08-30T08:30:26Z</dcterms:created>
  <dcterms:modified xsi:type="dcterms:W3CDTF">2025-08-20T01:05:29Z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