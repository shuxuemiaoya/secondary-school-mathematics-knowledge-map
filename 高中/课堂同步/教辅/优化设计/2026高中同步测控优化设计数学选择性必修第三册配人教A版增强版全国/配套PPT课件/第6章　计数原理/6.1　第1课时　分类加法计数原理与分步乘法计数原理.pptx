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677" r:id="rId2"/>
    <p:sldId id="488" r:id="rId3"/>
    <p:sldId id="494" r:id="rId4"/>
    <p:sldId id="392" r:id="rId5"/>
    <p:sldId id="686" r:id="rId6"/>
    <p:sldId id="753" r:id="rId7"/>
    <p:sldId id="754" r:id="rId8"/>
    <p:sldId id="755" r:id="rId9"/>
    <p:sldId id="756" r:id="rId10"/>
    <p:sldId id="757" r:id="rId11"/>
    <p:sldId id="758" r:id="rId12"/>
    <p:sldId id="759" r:id="rId13"/>
    <p:sldId id="760" r:id="rId14"/>
    <p:sldId id="761" r:id="rId15"/>
    <p:sldId id="407" r:id="rId16"/>
    <p:sldId id="394" r:id="rId17"/>
    <p:sldId id="699" r:id="rId18"/>
    <p:sldId id="762" r:id="rId19"/>
    <p:sldId id="767" r:id="rId20"/>
    <p:sldId id="763" r:id="rId21"/>
    <p:sldId id="764" r:id="rId22"/>
    <p:sldId id="402" r:id="rId23"/>
    <p:sldId id="712" r:id="rId24"/>
    <p:sldId id="713" r:id="rId25"/>
    <p:sldId id="714" r:id="rId26"/>
    <p:sldId id="498" r:id="rId27"/>
    <p:sldId id="730" r:id="rId28"/>
    <p:sldId id="733" r:id="rId29"/>
    <p:sldId id="743" r:id="rId30"/>
    <p:sldId id="744" r:id="rId31"/>
    <p:sldId id="741" r:id="rId32"/>
    <p:sldId id="738" r:id="rId33"/>
    <p:sldId id="751" r:id="rId34"/>
    <p:sldId id="752" r:id="rId35"/>
    <p:sldId id="398" r:id="rId36"/>
    <p:sldId id="395" r:id="rId37"/>
    <p:sldId id="768" r:id="rId38"/>
    <p:sldId id="765" r:id="rId39"/>
    <p:sldId id="766" r:id="rId40"/>
    <p:sldId id="769" r:id="rId41"/>
    <p:sldId id="490"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6.xml"/><Relationship Id="rId1" Type="http://schemas.openxmlformats.org/officeDocument/2006/relationships/slideMaster" Target="../slideMasters/slideMaster1.xml"/><Relationship Id="rId5" Type="http://schemas.openxmlformats.org/officeDocument/2006/relationships/slide" Target="../slides/slide31.xml"/><Relationship Id="rId4" Type="http://schemas.openxmlformats.org/officeDocument/2006/relationships/slide" Target="../slides/slide26.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584839"/>
            </a:xfrm>
            <a:prstGeom prst="rect">
              <a:avLst/>
            </a:prstGeom>
          </p:spPr>
          <p:txBody>
            <a:bodyPr wrap="square">
              <a:spAutoFit/>
            </a:bodyPr>
            <a:lstStyle/>
            <a:p>
              <a:r>
                <a:rPr lang="en-US" altLang="zh-CN" sz="3200" b="1">
                  <a:solidFill>
                    <a:schemeClr val="bg1"/>
                  </a:solidFill>
                  <a:latin typeface="华文细黑" panose="02010600040101010101" charset="-122"/>
                  <a:ea typeface="华文细黑" panose="02010600040101010101" charset="-122"/>
                </a:rPr>
                <a:t>6.1</a:t>
              </a:r>
              <a:r>
                <a:rPr lang="zh-CN" altLang="en-US" sz="3200" b="1">
                  <a:solidFill>
                    <a:schemeClr val="bg1"/>
                  </a:solidFill>
                  <a:latin typeface="华文细黑" panose="02010600040101010101" charset="-122"/>
                  <a:ea typeface="华文细黑" panose="02010600040101010101" charset="-122"/>
                </a:rPr>
                <a:t>　分类加法计数原理与分步乘法计数原理</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华文细黑" panose="02010600040101010101" charset="-122"/>
                <a:ea typeface="华文细黑" panose="02010600040101010101" charset="-122"/>
                <a:cs typeface="Open Sans" panose="020B0606030504020204" pitchFamily="34" charset="0"/>
              </a:rPr>
              <a:t>第六章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849758"/>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了解分类加法计数原理与分步乘法计数原理及其意义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理解两个计数原理的区别与联系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能用分类加法计数原理与分步乘法计数原理分析并解决一些简单的实际问题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a:solidFill>
                  <a:srgbClr val="000000"/>
                </a:solidFill>
                <a:latin typeface="Times New Roman" panose="02020603050405020304" pitchFamily="18" charset="0"/>
              </a:rPr>
              <a:t>3</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通过对两个计数原理的学习</a:t>
            </a:r>
            <a:r>
              <a:rPr lang="en-US" altLang="zh-CN" sz="2800" smtClean="0">
                <a:solidFill>
                  <a:srgbClr val="000000"/>
                </a:solidFill>
                <a:latin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提升数学运算</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逻辑推理的核心素养</a:t>
            </a:r>
            <a:r>
              <a:rPr lang="en-US" altLang="zh-CN" sz="2800" i="1">
                <a:solidFill>
                  <a:srgbClr val="000000"/>
                </a:solidFill>
                <a:latin typeface="Times New Roman" panose="02020603050405020304" pitchFamily="18" charset="0"/>
              </a:rPr>
              <a:t>.</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25301"/>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一、分类加法计数原理</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某天一名志愿者从</a:t>
            </a:r>
            <a:r>
              <a:rPr lang="zh-CN" altLang="zh-CN" sz="2800" smtClean="0">
                <a:solidFill>
                  <a:srgbClr val="000000"/>
                </a:solidFill>
                <a:latin typeface="Times New Roman" panose="02020603050405020304" pitchFamily="18" charset="0"/>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地赶赴</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地为游客提供导游服务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地到</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地每天有</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个航班</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趟火车</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该志愿者从</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地到</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地的方案可分几类</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这几类方案中各有几种方法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该志愿者从</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地到</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地共有多少种不同的方法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即乘飞机、坐火车</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乘飞机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坐火车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smtClean="0">
                <a:solidFill>
                  <a:srgbClr val="000000"/>
                </a:solidFill>
                <a:latin typeface="Times New Roman" panose="02020603050405020304" pitchFamily="18" charset="0"/>
                <a:cs typeface="Times New Roman" panose="02020603050405020304" pitchFamily="18" charset="0"/>
              </a:rPr>
              <a:t>7</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6</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13</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种不同的方法</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0" dur="500"/>
                                        <p:tgtEl>
                                          <p:spTgt spid="2">
                                            <p:txEl>
                                              <p:pRg st="6" end="6"/>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3"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 一</a:t>
            </a:r>
            <a:r>
              <a:rPr lang="zh-CN" altLang="zh-CN" sz="2800">
                <a:solidFill>
                  <a:srgbClr val="000000"/>
                </a:solidFill>
                <a:latin typeface="Times New Roman" panose="02020603050405020304" pitchFamily="18" charset="0"/>
                <a:cs typeface="Times New Roman" panose="02020603050405020304" pitchFamily="18" charset="0"/>
              </a:rPr>
              <a:t>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有如下分类加法计数原理</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完成一件事有两类不同方案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类方案中有</a:t>
            </a:r>
            <a:r>
              <a:rPr lang="en-US" altLang="zh-CN" sz="2800" i="1">
                <a:solidFill>
                  <a:srgbClr val="000000"/>
                </a:solidFill>
                <a:latin typeface="Times New Roman" panose="02020603050405020304" pitchFamily="18" charset="0"/>
                <a:cs typeface="Times New Roman" panose="02020603050405020304" pitchFamily="18" charset="0"/>
              </a:rPr>
              <a:t>m</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类方案中有</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那么完成这件事共有</a:t>
            </a:r>
            <a:r>
              <a:rPr lang="en-US" altLang="zh-CN" sz="2800" i="1" smtClean="0">
                <a:solidFill>
                  <a:srgbClr val="000000"/>
                </a:solidFill>
                <a:latin typeface="Times New Roman" panose="02020603050405020304" pitchFamily="18" charset="0"/>
                <a:cs typeface="Times New Roman" panose="02020603050405020304" pitchFamily="18" charset="0"/>
              </a:rPr>
              <a:t>N= </a:t>
            </a:r>
            <a:r>
              <a:rPr lang="en-US" altLang="zh-CN" sz="2800" i="1" smtClean="0">
                <a:solidFill>
                  <a:srgbClr val="FF0000"/>
                </a:solidFill>
                <a:latin typeface="Times New Roman" panose="02020603050405020304" pitchFamily="18" charset="0"/>
                <a:cs typeface="Times New Roman" panose="02020603050405020304" pitchFamily="18" charset="0"/>
              </a:rPr>
              <a:t>m+n </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zh-CN" altLang="zh-CN" sz="2800">
                <a:solidFill>
                  <a:srgbClr val="000000"/>
                </a:solidFill>
                <a:latin typeface="Times New Roman" panose="02020603050405020304" pitchFamily="18" charset="0"/>
                <a:cs typeface="Times New Roman" panose="02020603050405020304" pitchFamily="18" charset="0"/>
              </a:rPr>
              <a:t>不同的方法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推广</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如果完成一件事情有</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类不同方案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类方案中有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类方案中有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在第</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类方案中有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那么完成这件事共有</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i="1"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FF0000"/>
                </a:solidFill>
                <a:latin typeface="Times New Roman" panose="02020603050405020304" pitchFamily="18" charset="0"/>
                <a:cs typeface="Times New Roman" panose="02020603050405020304" pitchFamily="18" charset="0"/>
              </a:rPr>
              <a:t>m</a:t>
            </a:r>
            <a:r>
              <a:rPr lang="en-US" altLang="zh-CN" sz="2800" baseline="-25000" smtClean="0">
                <a:solidFill>
                  <a:srgbClr val="FF0000"/>
                </a:solidFill>
                <a:latin typeface="Times New Roman" panose="02020603050405020304" pitchFamily="18" charset="0"/>
                <a:cs typeface="Times New Roman" panose="02020603050405020304" pitchFamily="18" charset="0"/>
              </a:rPr>
              <a:t>1</a:t>
            </a:r>
            <a:r>
              <a:rPr lang="en-US" altLang="zh-CN" sz="2800" i="1" smtClean="0">
                <a:solidFill>
                  <a:srgbClr val="FF0000"/>
                </a:solidFill>
                <a:latin typeface="Times New Roman" panose="02020603050405020304" pitchFamily="18" charset="0"/>
                <a:cs typeface="Times New Roman" panose="02020603050405020304" pitchFamily="18" charset="0"/>
              </a:rPr>
              <a:t>+m</a:t>
            </a:r>
            <a:r>
              <a:rPr lang="en-US" altLang="zh-CN" sz="2800" baseline="-25000" smtClean="0">
                <a:solidFill>
                  <a:srgbClr val="FF0000"/>
                </a:solidFill>
                <a:latin typeface="Times New Roman" panose="02020603050405020304" pitchFamily="18" charset="0"/>
                <a:cs typeface="Times New Roman" panose="02020603050405020304" pitchFamily="18" charset="0"/>
              </a:rPr>
              <a:t>2</a:t>
            </a:r>
            <a:r>
              <a:rPr lang="en-US" altLang="zh-CN" sz="2800" i="1">
                <a:solidFill>
                  <a:srgbClr val="FF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m</a:t>
            </a:r>
            <a:r>
              <a:rPr lang="en-US" altLang="zh-CN" sz="2800" i="1" baseline="-25000" smtClean="0">
                <a:solidFill>
                  <a:srgbClr val="FF0000"/>
                </a:solidFill>
                <a:latin typeface="Times New Roman" panose="02020603050405020304" pitchFamily="18" charset="0"/>
                <a:cs typeface="Times New Roman" panose="02020603050405020304" pitchFamily="18" charset="0"/>
              </a:rPr>
              <a:t>n </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zh-CN" altLang="zh-CN" sz="2800">
                <a:solidFill>
                  <a:srgbClr val="000000"/>
                </a:solidFill>
                <a:latin typeface="Times New Roman" panose="02020603050405020304" pitchFamily="18" charset="0"/>
                <a:cs typeface="Times New Roman" panose="02020603050405020304" pitchFamily="18" charset="0"/>
              </a:rPr>
              <a:t>不同的方法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7992872" y="2789442"/>
            <a:ext cx="843311"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992872" y="3341039"/>
            <a:ext cx="8433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4987992" y="4520271"/>
            <a:ext cx="228408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4987992" y="5071868"/>
            <a:ext cx="2284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5068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576363"/>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某同学从</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本不同的哲学图书、</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本不同的自然科学图书、</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本不同的社会科学图书中任选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本阅读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则不同的选法共有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A.24</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B.12</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C.9</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D.3</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zh-CN" altLang="en-US"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类加法计数原理</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知不同的选法种数为</a:t>
            </a:r>
            <a:r>
              <a:rPr lang="en-US" altLang="zh-CN" sz="2800" smtClean="0">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4</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9</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782559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02704"/>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二、分步乘法计数原理</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某天一名志愿者</a:t>
            </a:r>
            <a:r>
              <a:rPr lang="zh-CN" altLang="en-US" sz="2800" smtClean="0">
                <a:solidFill>
                  <a:srgbClr val="000000"/>
                </a:solidFill>
                <a:latin typeface="Times New Roman" panose="02020603050405020304" pitchFamily="18" charset="0"/>
                <a:cs typeface="Times New Roman" panose="02020603050405020304" pitchFamily="18" charset="0"/>
              </a:rPr>
              <a:t>从</a:t>
            </a:r>
            <a:r>
              <a:rPr lang="en-US" altLang="zh-CN" sz="2800" smtClean="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地赶赴</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地为游客提供导游服务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但需在</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地停留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已知从</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地到</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地每天有</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个航班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地到</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地每天有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趟火车</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该志愿者从</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地到</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地需要经历几个步骤</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完成每一步各有几种方法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该志愿者从</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地到</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地共有多少种不同的方法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两个</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即先从</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地乘飞机到</a:t>
            </a:r>
            <a:r>
              <a:rPr lang="en-US" altLang="zh-CN" sz="2800" smtClean="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地</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再从</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地坐火车到</a:t>
            </a:r>
            <a:r>
              <a:rPr lang="en-US" altLang="zh-CN" sz="2800" smtClean="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步有</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smtClean="0">
                <a:solidFill>
                  <a:srgbClr val="000000"/>
                </a:solidFill>
                <a:latin typeface="Times New Roman" panose="02020603050405020304" pitchFamily="18" charset="0"/>
                <a:cs typeface="Times New Roman" panose="02020603050405020304" pitchFamily="18" charset="0"/>
              </a:rPr>
              <a:t>7×6</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42</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种不同的方法</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20112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0" dur="500"/>
                                        <p:tgtEl>
                                          <p:spTgt spid="2">
                                            <p:txEl>
                                              <p:pRg st="6" end="6"/>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3"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 一</a:t>
            </a:r>
            <a:r>
              <a:rPr lang="zh-CN" altLang="zh-CN" sz="2800">
                <a:solidFill>
                  <a:srgbClr val="000000"/>
                </a:solidFill>
                <a:latin typeface="Times New Roman" panose="02020603050405020304" pitchFamily="18" charset="0"/>
                <a:cs typeface="Times New Roman" panose="02020603050405020304" pitchFamily="18" charset="0"/>
              </a:rPr>
              <a:t>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有如下分步乘法计数原理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完成一件事需要两个步骤</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做第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步有</a:t>
            </a:r>
            <a:r>
              <a:rPr lang="en-US" altLang="zh-CN" sz="2800" i="1">
                <a:solidFill>
                  <a:srgbClr val="000000"/>
                </a:solidFill>
                <a:latin typeface="Times New Roman" panose="02020603050405020304" pitchFamily="18" charset="0"/>
                <a:cs typeface="Times New Roman" panose="02020603050405020304" pitchFamily="18" charset="0"/>
              </a:rPr>
              <a:t>m</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做第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步有</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那么完成这件事共有</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i="1"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FF0000"/>
                </a:solidFill>
                <a:latin typeface="Times New Roman" panose="02020603050405020304" pitchFamily="18" charset="0"/>
                <a:cs typeface="Times New Roman" panose="02020603050405020304" pitchFamily="18" charset="0"/>
              </a:rPr>
              <a:t>m</a:t>
            </a:r>
            <a:r>
              <a:rPr lang="en-US" altLang="zh-CN" sz="2800" smtClean="0">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n </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zh-CN" altLang="zh-CN" sz="2800">
                <a:solidFill>
                  <a:srgbClr val="000000"/>
                </a:solidFill>
                <a:latin typeface="Times New Roman" panose="02020603050405020304" pitchFamily="18" charset="0"/>
                <a:cs typeface="Times New Roman" panose="02020603050405020304" pitchFamily="18" charset="0"/>
              </a:rPr>
              <a:t>不同的方法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推广</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完成一件事需要</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个步骤</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做第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步有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做第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步有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做第</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步有</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则完成这件事</a:t>
            </a:r>
            <a:r>
              <a:rPr lang="zh-CN" altLang="zh-CN" sz="2800" smtClean="0">
                <a:solidFill>
                  <a:srgbClr val="000000"/>
                </a:solidFill>
                <a:latin typeface="Times New Roman" panose="02020603050405020304" pitchFamily="18" charset="0"/>
                <a:cs typeface="Times New Roman" panose="02020603050405020304" pitchFamily="18" charset="0"/>
              </a:rPr>
              <a:t>共有</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smtClean="0">
                <a:solidFill>
                  <a:srgbClr val="000000"/>
                </a:solidFill>
                <a:latin typeface="Times New Roman" panose="02020603050405020304" pitchFamily="18" charset="0"/>
                <a:cs typeface="Times New Roman" panose="02020603050405020304" pitchFamily="18" charset="0"/>
              </a:rPr>
              <a:t>N= </a:t>
            </a:r>
            <a:r>
              <a:rPr lang="en-US" altLang="zh-CN" sz="2800" i="1" smtClean="0">
                <a:solidFill>
                  <a:srgbClr val="FF0000"/>
                </a:solidFill>
                <a:latin typeface="Times New Roman" panose="02020603050405020304" pitchFamily="18" charset="0"/>
                <a:cs typeface="Times New Roman" panose="02020603050405020304" pitchFamily="18" charset="0"/>
              </a:rPr>
              <a:t>m</a:t>
            </a:r>
            <a:r>
              <a:rPr lang="en-US" altLang="zh-CN" sz="2800" baseline="-25000" smtClean="0">
                <a:solidFill>
                  <a:srgbClr val="FF0000"/>
                </a:solidFill>
                <a:latin typeface="Times New Roman" panose="02020603050405020304" pitchFamily="18" charset="0"/>
                <a:cs typeface="Times New Roman" panose="02020603050405020304" pitchFamily="18" charset="0"/>
              </a:rPr>
              <a:t>1</a:t>
            </a:r>
            <a:r>
              <a:rPr lang="en-US" altLang="zh-CN" sz="2800" smtClean="0">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m</a:t>
            </a:r>
            <a:r>
              <a:rPr lang="en-US" altLang="zh-CN" sz="2800" baseline="-25000" smtClean="0">
                <a:solidFill>
                  <a:srgbClr val="FF0000"/>
                </a:solidFill>
                <a:latin typeface="Times New Roman" panose="02020603050405020304" pitchFamily="18" charset="0"/>
                <a:cs typeface="Times New Roman" panose="02020603050405020304" pitchFamily="18" charset="0"/>
              </a:rPr>
              <a:t>2</a:t>
            </a:r>
            <a:r>
              <a:rPr lang="en-US" altLang="zh-CN" sz="2800">
                <a:solidFill>
                  <a:srgbClr val="FF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a:t>
            </a:r>
            <a:r>
              <a:rPr lang="en-US" altLang="zh-CN" sz="2800" i="1" smtClean="0">
                <a:solidFill>
                  <a:srgbClr val="FF0000"/>
                </a:solidFill>
                <a:latin typeface="Times New Roman" panose="02020603050405020304" pitchFamily="18" charset="0"/>
                <a:cs typeface="Times New Roman" panose="02020603050405020304" pitchFamily="18" charset="0"/>
              </a:rPr>
              <a:t>m</a:t>
            </a:r>
            <a:r>
              <a:rPr lang="en-US" altLang="zh-CN" sz="2800" i="1" baseline="-25000" smtClean="0">
                <a:solidFill>
                  <a:srgbClr val="FF0000"/>
                </a:solidFill>
                <a:latin typeface="Times New Roman" panose="02020603050405020304" pitchFamily="18" charset="0"/>
                <a:cs typeface="Times New Roman" panose="02020603050405020304" pitchFamily="18" charset="0"/>
              </a:rPr>
              <a:t>n </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zh-CN" altLang="zh-CN" sz="2800">
                <a:solidFill>
                  <a:srgbClr val="000000"/>
                </a:solidFill>
                <a:latin typeface="Times New Roman" panose="02020603050405020304" pitchFamily="18" charset="0"/>
                <a:cs typeface="Times New Roman" panose="02020603050405020304" pitchFamily="18" charset="0"/>
              </a:rPr>
              <a:t>不同的方法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5682080" y="2768895"/>
            <a:ext cx="925550"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5682079" y="3320492"/>
            <a:ext cx="9255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68565" y="4458627"/>
            <a:ext cx="1981464"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968564" y="5010224"/>
            <a:ext cx="19814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1342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 现</a:t>
            </a:r>
            <a:r>
              <a:rPr lang="zh-CN" altLang="zh-CN" sz="2800">
                <a:solidFill>
                  <a:srgbClr val="000000"/>
                </a:solidFill>
                <a:latin typeface="Times New Roman" panose="02020603050405020304" pitchFamily="18" charset="0"/>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件不同款式的上衣和</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条不同颜色的长裤</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若一条长裤与一件上衣配成一套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则不同的配法种数为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A.7	B.12	C.64	D.81</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要完成配套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分两步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选上衣</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件上衣中任选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选长裤</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条长裤中任选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故共有</a:t>
            </a:r>
            <a:r>
              <a:rPr lang="en-US" altLang="zh-CN" sz="2800">
                <a:solidFill>
                  <a:srgbClr val="000000"/>
                </a:solidFill>
                <a:latin typeface="Times New Roman" panose="02020603050405020304" pitchFamily="18" charset="0"/>
                <a:cs typeface="Times New Roman" panose="02020603050405020304" pitchFamily="18" charset="0"/>
              </a:rPr>
              <a:t>4×3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种不同的配法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答</a:t>
            </a: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B</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166948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172950"/>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三、分类加法计数原理和分步乘法计数原理的区别与联系</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区分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完成一件事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是分类还是分步的关键是什么</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区分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完成一件事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是分类还是分步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关键是看一步能否完成这件事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若能完成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则是分类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否则就是分步</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081671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 分</a:t>
            </a:r>
            <a:r>
              <a:rPr lang="zh-CN" altLang="zh-CN" sz="2800">
                <a:solidFill>
                  <a:srgbClr val="000000"/>
                </a:solidFill>
                <a:latin typeface="Times New Roman" panose="02020603050405020304" pitchFamily="18" charset="0"/>
                <a:cs typeface="Times New Roman" panose="02020603050405020304" pitchFamily="18" charset="0"/>
              </a:rPr>
              <a:t>类加法计数原理和分步乘法计数原理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回答的都是有关做一件事的不同方法种数的问题</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区别在于</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分类加法计数原理针对的是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FF0000"/>
                </a:solidFill>
                <a:latin typeface="Times New Roman" panose="02020603050405020304" pitchFamily="18" charset="0"/>
                <a:cs typeface="Times New Roman" panose="02020603050405020304" pitchFamily="18" charset="0"/>
              </a:rPr>
              <a:t>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其中各种方法</a:t>
            </a:r>
            <a:r>
              <a:rPr lang="zh-CN" altLang="zh-CN" sz="2800">
                <a:solidFill>
                  <a:srgbClr val="FF0000"/>
                </a:solidFill>
                <a:latin typeface="Times New Roman" panose="02020603050405020304" pitchFamily="18" charset="0"/>
                <a:cs typeface="Times New Roman" panose="02020603050405020304" pitchFamily="18" charset="0"/>
              </a:rPr>
              <a:t>相互独立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用其中任何一种方法都可以做完这件事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分步乘法计数原理针对的是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各个步骤中的方法</a:t>
            </a:r>
            <a:r>
              <a:rPr lang="zh-CN" altLang="zh-CN" sz="2800">
                <a:solidFill>
                  <a:srgbClr val="FF0000"/>
                </a:solidFill>
                <a:latin typeface="Times New Roman" panose="02020603050405020304" pitchFamily="18" charset="0"/>
                <a:cs typeface="Times New Roman" panose="02020603050405020304" pitchFamily="18" charset="0"/>
              </a:rPr>
              <a:t>相互依存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只有每一个步骤都完成才算做完这件事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5322849" y="2777024"/>
            <a:ext cx="69695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5322848" y="3328621"/>
            <a:ext cx="6969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9118843" y="2777024"/>
            <a:ext cx="1421648"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9118842" y="3328621"/>
            <a:ext cx="14216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9829532" y="3906034"/>
            <a:ext cx="143718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9829531" y="4457631"/>
            <a:ext cx="14371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8833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82780"/>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 已</a:t>
            </a:r>
            <a:r>
              <a:rPr lang="zh-CN" altLang="zh-CN" sz="2800">
                <a:solidFill>
                  <a:srgbClr val="000000"/>
                </a:solidFill>
                <a:latin typeface="Times New Roman" panose="02020603050405020304" pitchFamily="18" charset="0"/>
                <a:cs typeface="Times New Roman" panose="02020603050405020304" pitchFamily="18" charset="0"/>
              </a:rPr>
              <a:t>知集合</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{3,4,5},</a:t>
            </a:r>
            <a:r>
              <a:rPr lang="zh-CN" altLang="zh-CN" sz="2800">
                <a:solidFill>
                  <a:srgbClr val="000000"/>
                </a:solidFill>
                <a:latin typeface="Times New Roman" panose="02020603050405020304" pitchFamily="18" charset="0"/>
                <a:cs typeface="Times New Roman" panose="02020603050405020304" pitchFamily="18" charset="0"/>
              </a:rPr>
              <a:t>从集合</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和集合</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中各取一个元素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分别作为平面直角坐标系中的点的横坐标与纵坐标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则不同点的个数为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A.5	B.6	C.10	D.12</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完成这件事可分两步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从集合</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中任取一个元素作为点的横坐标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从集合</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中任取一个元素作为点的纵坐标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种不同的方法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2×3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个不同点</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B</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015397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a:spLocks noChangeAspect="1"/>
          </p:cNvSpPr>
          <p:nvPr/>
        </p:nvSpPr>
        <p:spPr>
          <a:xfrm>
            <a:off x="381000" y="1362857"/>
            <a:ext cx="11430000" cy="45132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latin typeface="NEU-BZ-S92"/>
                <a:ea typeface="Arial" panose="020B0604020202020204" pitchFamily="34"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在分类加法计数原理中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两类不同方案中的方法可以相同</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在分类加法计数原理中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每类方案中的方法都能完成这件事</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在分步乘法计数原理中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每个步骤中完成这个步骤的方法是各不相同的</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在分步乘法计数原理中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若事情是分两步完成的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则其中任何一个单独的步骤都能完成这件事</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9842864" y="2548265"/>
            <a:ext cx="480989"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0148673" y="3116696"/>
            <a:ext cx="480989"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091759" y="4227039"/>
            <a:ext cx="480989"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357475" y="5340371"/>
            <a:ext cx="480989"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625236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分类加法计数原理的应用</a:t>
                </a:r>
                <a:endParaRPr lang="zh-CN" altLang="en-US" sz="2800" b="1" dirty="0">
                  <a:solidFill>
                    <a:schemeClr val="bg1"/>
                  </a:solidFill>
                </a:endParaRPr>
              </a:p>
            </p:txBody>
          </p:sp>
        </p:grpSp>
      </p:grpSp>
      <p:sp>
        <p:nvSpPr>
          <p:cNvPr id="2" name="矩形 1"/>
          <p:cNvSpPr>
            <a:spLocks noChangeAspect="1"/>
          </p:cNvSpPr>
          <p:nvPr/>
        </p:nvSpPr>
        <p:spPr>
          <a:xfrm>
            <a:off x="381000" y="1507119"/>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如</a:t>
            </a:r>
            <a:r>
              <a:rPr lang="zh-CN" altLang="zh-CN" sz="2800" smtClean="0">
                <a:solidFill>
                  <a:srgbClr val="000000"/>
                </a:solidFill>
                <a:latin typeface="Times New Roman" panose="02020603050405020304" pitchFamily="18" charset="0"/>
                <a:cs typeface="Times New Roman" panose="02020603050405020304" pitchFamily="18" charset="0"/>
              </a:rPr>
              <a:t>图</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a:t>
            </a:r>
            <a:r>
              <a:rPr lang="en-US" altLang="zh-CN" sz="2800">
                <a:solidFill>
                  <a:srgbClr val="000000"/>
                </a:solidFill>
                <a:latin typeface="Times New Roman" panose="02020603050405020304" pitchFamily="18" charset="0"/>
                <a:cs typeface="Times New Roman" panose="02020603050405020304" pitchFamily="18" charset="0"/>
              </a:rPr>
              <a:t>A,B</a:t>
            </a:r>
            <a:r>
              <a:rPr lang="zh-CN" altLang="zh-CN" sz="2800">
                <a:solidFill>
                  <a:srgbClr val="000000"/>
                </a:solidFill>
                <a:latin typeface="Times New Roman" panose="02020603050405020304" pitchFamily="18" charset="0"/>
                <a:cs typeface="Times New Roman" panose="02020603050405020304" pitchFamily="18" charset="0"/>
              </a:rPr>
              <a:t>间有四个焊接点</a:t>
            </a:r>
            <a:r>
              <a:rPr lang="en-US" altLang="zh-CN" sz="2800">
                <a:solidFill>
                  <a:srgbClr val="000000"/>
                </a:solidFill>
                <a:latin typeface="Times New Roman" panose="02020603050405020304" pitchFamily="18" charset="0"/>
                <a:cs typeface="Times New Roman" panose="02020603050405020304" pitchFamily="18" charset="0"/>
              </a:rPr>
              <a:t>1,2,3,4</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若某个焊接点脱落导致断路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则电路不通</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则焊接点脱落导致电路不通的情况有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i="1"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i="1">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A.9	B.11	C.13	D.15</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在所有的两位数中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个位数字大于十位数字的两位数共有多少个</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9" name="QMX3TRAX01.eps" descr="id:2147511945;FounderCES"/>
          <p:cNvPicPr/>
          <p:nvPr/>
        </p:nvPicPr>
        <p:blipFill>
          <a:blip r:embed="rId2">
            <a:clrChange>
              <a:clrFrom>
                <a:srgbClr val="FFFFFF"/>
              </a:clrFrom>
              <a:clrTo>
                <a:srgbClr val="FFFFFF">
                  <a:alpha val="0"/>
                </a:srgbClr>
              </a:clrTo>
            </a:clrChange>
          </a:blip>
          <a:stretch>
            <a:fillRect/>
          </a:stretch>
        </p:blipFill>
        <p:spPr>
          <a:xfrm>
            <a:off x="4101204" y="2729034"/>
            <a:ext cx="5011973" cy="156766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81000" y="247899"/>
            <a:ext cx="11430000" cy="565385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按照可能脱落的焊接点的个数分为四类</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脱落</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则有</a:t>
            </a:r>
            <a:r>
              <a:rPr lang="en-US" altLang="zh-CN" sz="2800">
                <a:solidFill>
                  <a:srgbClr val="000000"/>
                </a:solidFill>
                <a:latin typeface="Times New Roman" panose="02020603050405020304" pitchFamily="18" charset="0"/>
                <a:cs typeface="Times New Roman" panose="02020603050405020304" pitchFamily="18" charset="0"/>
              </a:rPr>
              <a:t>(1),(4)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种情况</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脱落</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则有</a:t>
            </a:r>
            <a:r>
              <a:rPr lang="en-US" altLang="zh-CN" sz="2800">
                <a:solidFill>
                  <a:srgbClr val="000000"/>
                </a:solidFill>
                <a:latin typeface="Times New Roman" panose="02020603050405020304" pitchFamily="18" charset="0"/>
                <a:cs typeface="Times New Roman" panose="02020603050405020304" pitchFamily="18" charset="0"/>
              </a:rPr>
              <a:t>(1,2),(1,3),(1,4),(2,3),(2,4),(3,4)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种情况</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脱落</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则有</a:t>
            </a:r>
            <a:r>
              <a:rPr lang="en-US" altLang="zh-CN" sz="2800">
                <a:solidFill>
                  <a:srgbClr val="000000"/>
                </a:solidFill>
                <a:latin typeface="Times New Roman" panose="02020603050405020304" pitchFamily="18" charset="0"/>
                <a:cs typeface="Times New Roman" panose="02020603050405020304" pitchFamily="18" charset="0"/>
              </a:rPr>
              <a:t>(1,2,3),(1,2,4),(2,3,4),(1,3,4)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种情况</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脱落</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则有</a:t>
            </a:r>
            <a:r>
              <a:rPr lang="en-US" altLang="zh-CN" sz="2800">
                <a:solidFill>
                  <a:srgbClr val="000000"/>
                </a:solidFill>
                <a:latin typeface="Times New Roman" panose="02020603050405020304" pitchFamily="18" charset="0"/>
                <a:cs typeface="Times New Roman" panose="02020603050405020304" pitchFamily="18" charset="0"/>
              </a:rPr>
              <a:t>(1,2,3,4)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种情况</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综上</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由分类加法计数原理</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知共</a:t>
            </a:r>
            <a:r>
              <a:rPr lang="zh-CN" altLang="en-US"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6</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4</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1</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13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7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7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按十位上的数字分别是</a:t>
            </a:r>
            <a:r>
              <a:rPr lang="en-US" altLang="zh-CN" sz="2700">
                <a:solidFill>
                  <a:srgbClr val="000000"/>
                </a:solidFill>
                <a:latin typeface="Times New Roman" panose="02020603050405020304" pitchFamily="18" charset="0"/>
                <a:cs typeface="Times New Roman" panose="02020603050405020304" pitchFamily="18" charset="0"/>
              </a:rPr>
              <a:t>1,2,3,4,5,6,7,8</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的情况分成</a:t>
            </a:r>
            <a:r>
              <a:rPr lang="en-US" altLang="zh-CN" sz="2700">
                <a:solidFill>
                  <a:srgbClr val="000000"/>
                </a:solidFill>
                <a:latin typeface="Times New Roman" panose="02020603050405020304" pitchFamily="18" charset="0"/>
                <a:cs typeface="Times New Roman" panose="02020603050405020304" pitchFamily="18" charset="0"/>
              </a:rPr>
              <a:t>8</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在每一类中满足题目条件的两位数分别有</a:t>
            </a:r>
            <a:r>
              <a:rPr lang="en-US" altLang="zh-CN" sz="2700">
                <a:solidFill>
                  <a:srgbClr val="000000"/>
                </a:solidFill>
                <a:latin typeface="Times New Roman" panose="02020603050405020304" pitchFamily="18" charset="0"/>
                <a:cs typeface="Times New Roman" panose="02020603050405020304" pitchFamily="18" charset="0"/>
              </a:rPr>
              <a:t>8</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700">
                <a:solidFill>
                  <a:srgbClr val="000000"/>
                </a:solidFill>
                <a:latin typeface="Times New Roman" panose="02020603050405020304" pitchFamily="18" charset="0"/>
                <a:cs typeface="Times New Roman" panose="02020603050405020304" pitchFamily="18" charset="0"/>
              </a:rPr>
              <a:t>7</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700">
                <a:solidFill>
                  <a:srgbClr val="000000"/>
                </a:solidFill>
                <a:latin typeface="Times New Roman" panose="02020603050405020304" pitchFamily="18" charset="0"/>
                <a:cs typeface="Times New Roman" panose="02020603050405020304" pitchFamily="18" charset="0"/>
              </a:rPr>
              <a:t>6</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700">
                <a:solidFill>
                  <a:srgbClr val="000000"/>
                </a:solidFill>
                <a:latin typeface="Times New Roman" panose="02020603050405020304" pitchFamily="18" charset="0"/>
                <a:cs typeface="Times New Roman" panose="02020603050405020304" pitchFamily="18" charset="0"/>
              </a:rPr>
              <a:t>5</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700">
                <a:solidFill>
                  <a:srgbClr val="000000"/>
                </a:solidFill>
                <a:latin typeface="Times New Roman" panose="02020603050405020304" pitchFamily="18" charset="0"/>
                <a:cs typeface="Times New Roman" panose="02020603050405020304" pitchFamily="18" charset="0"/>
              </a:rPr>
              <a:t>4</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700">
                <a:solidFill>
                  <a:srgbClr val="000000"/>
                </a:solidFill>
                <a:latin typeface="Times New Roman" panose="02020603050405020304" pitchFamily="18" charset="0"/>
                <a:cs typeface="Times New Roman" panose="02020603050405020304" pitchFamily="18" charset="0"/>
              </a:rPr>
              <a:t>3</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700">
                <a:solidFill>
                  <a:srgbClr val="000000"/>
                </a:solidFill>
                <a:latin typeface="Times New Roman" panose="02020603050405020304" pitchFamily="18" charset="0"/>
                <a:cs typeface="Times New Roman" panose="02020603050405020304" pitchFamily="18" charset="0"/>
              </a:rPr>
              <a:t>2</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700" i="1">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由分类加法计数原理</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知符合题意的两位数共有</a:t>
            </a:r>
            <a:r>
              <a:rPr lang="en-US" altLang="zh-CN" sz="2700">
                <a:solidFill>
                  <a:srgbClr val="000000"/>
                </a:solidFill>
                <a:latin typeface="Times New Roman" panose="02020603050405020304" pitchFamily="18" charset="0"/>
                <a:cs typeface="Times New Roman" panose="02020603050405020304" pitchFamily="18" charset="0"/>
              </a:rPr>
              <a:t>8</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7</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6</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5</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4</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3</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2</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1</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36</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700" i="1">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反思感悟H.eps" descr="id:2147515084;FounderCES"/>
          <p:cNvPicPr/>
          <p:nvPr/>
        </p:nvPicPr>
        <p:blipFill>
          <a:blip r:embed="rId2">
            <a:clrChange>
              <a:clrFrom>
                <a:srgbClr val="FFFFFF"/>
              </a:clrFrom>
              <a:clrTo>
                <a:srgbClr val="FFFFFF">
                  <a:alpha val="0"/>
                </a:srgbClr>
              </a:clrTo>
            </a:clrChange>
          </a:blip>
          <a:stretch>
            <a:fillRect/>
          </a:stretch>
        </p:blipFill>
        <p:spPr>
          <a:xfrm>
            <a:off x="381000" y="1051725"/>
            <a:ext cx="2151080" cy="506033"/>
          </a:xfrm>
          <a:prstGeom prst="rect">
            <a:avLst/>
          </a:prstGeom>
        </p:spPr>
      </p:pic>
      <p:sp>
        <p:nvSpPr>
          <p:cNvPr id="2" name="矩形 1"/>
          <p:cNvSpPr>
            <a:spLocks noChangeAspect="1"/>
          </p:cNvSpPr>
          <p:nvPr/>
        </p:nvSpPr>
        <p:spPr>
          <a:xfrm>
            <a:off x="381000" y="1822942"/>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应用分类加法计数原理解题的策略和一般步骤</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应用分类加法计数原理解题的策略</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标准明确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明确分类标准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确定完成一件事的各类方案</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不重不漏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完成这件事的各类方案必须满足既不重复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又不遗漏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方法独立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确定用每一类方案中的每一种方法都能独立地完成这件事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42003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154628"/>
            <a:ext cx="6647974" cy="652486"/>
          </a:xfrm>
          <a:prstGeom prst="rect">
            <a:avLst/>
          </a:prstGeom>
        </p:spPr>
        <p:txBody>
          <a:bodyPr wrap="none">
            <a:spAutoFit/>
          </a:bodyPr>
          <a:lstStyle/>
          <a:p>
            <a:pPr>
              <a:lnSpc>
                <a:spcPct val="130000"/>
              </a:lnSpc>
            </a:pPr>
            <a:r>
              <a:rPr lang="en-US" altLang="zh-CN" sz="2800" b="1">
                <a:solidFill>
                  <a:srgbClr val="000000"/>
                </a:solidFill>
                <a:latin typeface="Times New Roman" panose="02020603050405020304" pitchFamily="18" charset="0"/>
              </a:rPr>
              <a:t>2</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应用分类加法计数原理解题的一般步</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骤</a:t>
            </a:r>
            <a:r>
              <a:rPr lang="en-US"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 </a:t>
            </a:r>
            <a:endParaRPr lang="zh-CN" altLang="en-US" sz="2800"/>
          </a:p>
        </p:txBody>
      </p:sp>
      <p:pic>
        <p:nvPicPr>
          <p:cNvPr id="4" name="QMX3TRAX02.eps" descr="id:2147511959;FounderCES"/>
          <p:cNvPicPr/>
          <p:nvPr/>
        </p:nvPicPr>
        <p:blipFill>
          <a:blip r:embed="rId2">
            <a:clrChange>
              <a:clrFrom>
                <a:srgbClr val="FFFFFF"/>
              </a:clrFrom>
              <a:clrTo>
                <a:srgbClr val="FFFFFF">
                  <a:alpha val="0"/>
                </a:srgbClr>
              </a:clrTo>
            </a:clrChange>
          </a:blip>
          <a:stretch>
            <a:fillRect/>
          </a:stretch>
        </p:blipFill>
        <p:spPr>
          <a:xfrm>
            <a:off x="2652477" y="1926551"/>
            <a:ext cx="7289483" cy="3025165"/>
          </a:xfrm>
          <a:prstGeom prst="rect">
            <a:avLst/>
          </a:prstGeom>
        </p:spPr>
      </p:pic>
    </p:spTree>
    <p:extLst>
      <p:ext uri="{BB962C8B-B14F-4D97-AF65-F5344CB8AC3E}">
        <p14:creationId xmlns:p14="http://schemas.microsoft.com/office/powerpoint/2010/main" val="2750096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80396"/>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某校高三共有三个班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其各班人数如下表</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从三个班中选一名学生担任学生会主席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从高三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班、高三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班男生中或从高三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班女生中选一名学生担任学生会生活部部长</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有多少种不同的选法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233125895"/>
              </p:ext>
            </p:extLst>
          </p:nvPr>
        </p:nvGraphicFramePr>
        <p:xfrm>
          <a:off x="381000" y="1567699"/>
          <a:ext cx="11430000" cy="2560320"/>
        </p:xfrm>
        <a:graphic>
          <a:graphicData uri="http://schemas.openxmlformats.org/drawingml/2006/table">
            <a:tbl>
              <a:tblPr firstRow="1" firstCol="1" bandRow="1"/>
              <a:tblGrid>
                <a:gridCol w="2857500"/>
                <a:gridCol w="2857500"/>
                <a:gridCol w="2857500"/>
                <a:gridCol w="2857500"/>
              </a:tblGrid>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班级</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男生数</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女生数</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总数</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高三</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班</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高三</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班</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高三</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班</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620518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50641"/>
            <a:ext cx="11430000" cy="56335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从三个班中任选一名学生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可分三类</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从高三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班任选一名学生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从高三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班任选一名学生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从高三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班任选一名学生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由分类加法计数原理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知不同的选法种数为</a:t>
            </a:r>
            <a:r>
              <a:rPr lang="en-US" altLang="zh-CN" sz="2800">
                <a:solidFill>
                  <a:srgbClr val="000000"/>
                </a:solidFill>
                <a:latin typeface="Times New Roman" panose="02020603050405020304" pitchFamily="18" charset="0"/>
                <a:cs typeface="Times New Roman" panose="02020603050405020304" pitchFamily="18" charset="0"/>
              </a:rPr>
              <a:t>50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145</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由题设知共有三类方案</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从高三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班男生中任选一名学生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从高三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班男生中任选一名学生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从高三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班女生中任选一名学生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由分类加法计数原理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知不同的选法种数为</a:t>
            </a:r>
            <a:r>
              <a:rPr lang="en-US" altLang="zh-CN" sz="2800">
                <a:solidFill>
                  <a:srgbClr val="000000"/>
                </a:solidFill>
                <a:latin typeface="Times New Roman" panose="02020603050405020304" pitchFamily="18" charset="0"/>
                <a:cs typeface="Times New Roman" panose="02020603050405020304" pitchFamily="18" charset="0"/>
              </a:rPr>
              <a:t>30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70946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分步乘法计数原理的应用</a:t>
                </a:r>
                <a:endParaRPr lang="zh-CN" altLang="en-US" sz="2800" b="1" dirty="0">
                  <a:solidFill>
                    <a:schemeClr val="bg1"/>
                  </a:solidFill>
                </a:endParaRPr>
              </a:p>
            </p:txBody>
          </p:sp>
        </p:grpSp>
      </p:grpSp>
      <p:sp>
        <p:nvSpPr>
          <p:cNvPr id="2" name="矩形 1"/>
          <p:cNvSpPr>
            <a:spLocks noChangeAspect="1"/>
          </p:cNvSpPr>
          <p:nvPr/>
        </p:nvSpPr>
        <p:spPr>
          <a:xfrm>
            <a:off x="381000" y="1108677"/>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1,0,1,2,3</a:t>
            </a:r>
            <a:r>
              <a:rPr lang="zh-CN" altLang="zh-CN" sz="2800">
                <a:solidFill>
                  <a:srgbClr val="000000"/>
                </a:solidFill>
                <a:latin typeface="Times New Roman" panose="02020603050405020304" pitchFamily="18" charset="0"/>
                <a:cs typeface="Times New Roman" panose="02020603050405020304" pitchFamily="18" charset="0"/>
              </a:rPr>
              <a:t>这六个数字中任选三个不重复的数字分别作为二次函数</a:t>
            </a:r>
            <a:r>
              <a:rPr lang="en-US" altLang="zh-CN" sz="2800" i="1">
                <a:solidFill>
                  <a:srgbClr val="000000"/>
                </a:solidFill>
                <a:latin typeface="Times New Roman" panose="02020603050405020304" pitchFamily="18" charset="0"/>
                <a:cs typeface="Times New Roman" panose="02020603050405020304" pitchFamily="18" charset="0"/>
              </a:rPr>
              <a:t>y=ax</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+bx+c</a:t>
            </a:r>
            <a:r>
              <a:rPr lang="zh-CN" altLang="zh-CN" sz="2800">
                <a:solidFill>
                  <a:srgbClr val="000000"/>
                </a:solidFill>
                <a:latin typeface="Times New Roman" panose="02020603050405020304" pitchFamily="18" charset="0"/>
                <a:cs typeface="Times New Roman" panose="02020603050405020304" pitchFamily="18" charset="0"/>
              </a:rPr>
              <a:t>的系数</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则可以组成多少条不同的抛物线</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完成这件事可分三步</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选系数</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不能为</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选系数</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选系数</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根据分步乘法计数原理得组成抛物线的条数为</a:t>
            </a:r>
            <a:r>
              <a:rPr lang="en-US" altLang="zh-CN" sz="2800">
                <a:solidFill>
                  <a:srgbClr val="000000"/>
                </a:solidFill>
                <a:latin typeface="Times New Roman" panose="02020603050405020304" pitchFamily="18" charset="0"/>
                <a:cs typeface="Times New Roman" panose="02020603050405020304" pitchFamily="18" charset="0"/>
              </a:rPr>
              <a:t>5×5×4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a:spLocks noChangeAspect="1"/>
          </p:cNvSpPr>
          <p:nvPr/>
        </p:nvSpPr>
        <p:spPr>
          <a:xfrm>
            <a:off x="381000" y="3217354"/>
            <a:ext cx="184731" cy="573042"/>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6" dur="500"/>
                                        <p:tgtEl>
                                          <p:spTgt spid="2">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9"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延伸探究H.eps" descr="id:2147515106;FounderCES"/>
          <p:cNvPicPr/>
          <p:nvPr/>
        </p:nvPicPr>
        <p:blipFill>
          <a:blip r:embed="rId2">
            <a:clrChange>
              <a:clrFrom>
                <a:srgbClr val="FFFFFF"/>
              </a:clrFrom>
              <a:clrTo>
                <a:srgbClr val="FFFFFF">
                  <a:alpha val="0"/>
                </a:srgbClr>
              </a:clrTo>
            </a:clrChange>
          </a:blip>
          <a:stretch>
            <a:fillRect/>
          </a:stretch>
        </p:blipFill>
        <p:spPr>
          <a:xfrm>
            <a:off x="4966271" y="792155"/>
            <a:ext cx="2259458" cy="412065"/>
          </a:xfrm>
          <a:prstGeom prst="rect">
            <a:avLst/>
          </a:prstGeom>
        </p:spPr>
      </p:pic>
      <p:sp>
        <p:nvSpPr>
          <p:cNvPr id="3" name="矩形 2"/>
          <p:cNvSpPr>
            <a:spLocks noChangeAspect="1"/>
          </p:cNvSpPr>
          <p:nvPr/>
        </p:nvSpPr>
        <p:spPr>
          <a:xfrm>
            <a:off x="381000" y="1642933"/>
            <a:ext cx="11430000" cy="3453253"/>
          </a:xfrm>
          <a:prstGeom prst="rect">
            <a:avLst/>
          </a:prstGeom>
        </p:spPr>
        <p:txBody>
          <a:bodyPr>
            <a:spAutoFit/>
          </a:bodyPr>
          <a:lstStyle/>
          <a:p>
            <a:pPr>
              <a:lnSpc>
                <a:spcPct val="130000"/>
              </a:lnSpc>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若本例中的抛物线的顶点在第一象限且过原点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此时抛物线的条数为多少</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分三步</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只有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确定</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中选一</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确定</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1,2,3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中选一个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根据分步乘法计数原理得抛物线的条数为</a:t>
            </a:r>
            <a:r>
              <a:rPr lang="en-US" altLang="zh-CN" sz="2800">
                <a:solidFill>
                  <a:srgbClr val="000000"/>
                </a:solidFill>
                <a:latin typeface="Times New Roman" panose="02020603050405020304" pitchFamily="18" charset="0"/>
                <a:cs typeface="Times New Roman" panose="02020603050405020304" pitchFamily="18" charset="0"/>
              </a:rPr>
              <a:t>1×2×3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0" dur="500"/>
                                        <p:tgtEl>
                                          <p:spTgt spid="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3" dur="500"/>
                                        <p:tgtEl>
                                          <p:spTgt spid="3">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反思感悟H.eps" descr="id:2147515084;FounderCES"/>
          <p:cNvPicPr/>
          <p:nvPr/>
        </p:nvPicPr>
        <p:blipFill>
          <a:blip r:embed="rId2">
            <a:clrChange>
              <a:clrFrom>
                <a:srgbClr val="FFFFFF"/>
              </a:clrFrom>
              <a:clrTo>
                <a:srgbClr val="FFFFFF">
                  <a:alpha val="0"/>
                </a:srgbClr>
              </a:clrTo>
            </a:clrChange>
          </a:blip>
          <a:stretch>
            <a:fillRect/>
          </a:stretch>
        </p:blipFill>
        <p:spPr>
          <a:xfrm>
            <a:off x="381000" y="373631"/>
            <a:ext cx="2151080" cy="506033"/>
          </a:xfrm>
          <a:prstGeom prst="rect">
            <a:avLst/>
          </a:prstGeom>
        </p:spPr>
      </p:pic>
      <p:sp>
        <p:nvSpPr>
          <p:cNvPr id="4" name="矩形 3"/>
          <p:cNvSpPr>
            <a:spLocks noChangeAspect="1"/>
          </p:cNvSpPr>
          <p:nvPr/>
        </p:nvSpPr>
        <p:spPr>
          <a:xfrm>
            <a:off x="381000" y="879664"/>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应用分步乘法计数原理解题的一般步骤与注意点</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应用分步乘法计数原理解题的一般步骤</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QMX3TRAX03.eps" descr="id:2147511995;FounderCES"/>
          <p:cNvPicPr/>
          <p:nvPr/>
        </p:nvPicPr>
        <p:blipFill>
          <a:blip r:embed="rId3">
            <a:clrChange>
              <a:clrFrom>
                <a:srgbClr val="FFFFFF"/>
              </a:clrFrom>
              <a:clrTo>
                <a:srgbClr val="FFFFFF">
                  <a:alpha val="0"/>
                </a:srgbClr>
              </a:clrTo>
            </a:clrChange>
          </a:blip>
          <a:stretch>
            <a:fillRect/>
          </a:stretch>
        </p:blipFill>
        <p:spPr>
          <a:xfrm>
            <a:off x="2881148" y="2032031"/>
            <a:ext cx="7197800" cy="2745911"/>
          </a:xfrm>
          <a:prstGeom prst="rect">
            <a:avLst/>
          </a:prstGeom>
        </p:spPr>
      </p:pic>
      <p:sp>
        <p:nvSpPr>
          <p:cNvPr id="6" name="矩形 5"/>
          <p:cNvSpPr>
            <a:spLocks noChangeAspect="1"/>
          </p:cNvSpPr>
          <p:nvPr/>
        </p:nvSpPr>
        <p:spPr>
          <a:xfrm>
            <a:off x="381000" y="4684508"/>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应用分步乘法计数原理解题的注意点</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应用分步乘法计数原理时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要确定好各步的顺序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不能重复与交叉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还要注意元素是否可以重复选取</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736133"/>
            <a:ext cx="11430000" cy="45132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从集合</a:t>
            </a:r>
            <a:r>
              <a:rPr lang="en-US" altLang="zh-CN" sz="2800">
                <a:solidFill>
                  <a:srgbClr val="000000"/>
                </a:solidFill>
                <a:latin typeface="Times New Roman" panose="02020603050405020304" pitchFamily="18" charset="0"/>
                <a:cs typeface="Times New Roman" panose="02020603050405020304" pitchFamily="18" charset="0"/>
              </a:rPr>
              <a:t>{0,1,2,3,4,5,6}</a:t>
            </a:r>
            <a:r>
              <a:rPr lang="zh-CN" altLang="zh-CN" sz="2800">
                <a:solidFill>
                  <a:srgbClr val="000000"/>
                </a:solidFill>
                <a:latin typeface="Times New Roman" panose="02020603050405020304" pitchFamily="18" charset="0"/>
                <a:cs typeface="Times New Roman" panose="02020603050405020304" pitchFamily="18" charset="0"/>
              </a:rPr>
              <a:t>中任取两个互不相等的数分别作为</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组成复数</a:t>
            </a:r>
            <a:r>
              <a:rPr lang="en-US" altLang="zh-CN" sz="2800" i="1">
                <a:solidFill>
                  <a:srgbClr val="000000"/>
                </a:solidFill>
                <a:latin typeface="Times New Roman" panose="02020603050405020304" pitchFamily="18" charset="0"/>
                <a:cs typeface="Times New Roman" panose="02020603050405020304" pitchFamily="18" charset="0"/>
              </a:rPr>
              <a:t>a+b</a:t>
            </a:r>
            <a:r>
              <a:rPr lang="en-US" altLang="zh-CN" sz="2800">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cs typeface="Times New Roman" panose="02020603050405020304" pitchFamily="18" charset="0"/>
              </a:rPr>
              <a:t>其中虚数有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A.36</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	B.42</a:t>
            </a:r>
            <a:r>
              <a:rPr lang="zh-CN" altLang="zh-CN" sz="2800">
                <a:solidFill>
                  <a:srgbClr val="000000"/>
                </a:solidFill>
                <a:latin typeface="Times New Roman" panose="02020603050405020304" pitchFamily="18" charset="0"/>
                <a:cs typeface="Times New Roman" panose="02020603050405020304" pitchFamily="18" charset="0"/>
              </a:rPr>
              <a:t>个</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C.30</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	D.35</a:t>
            </a:r>
            <a:r>
              <a:rPr lang="zh-CN" altLang="zh-CN" sz="2800">
                <a:solidFill>
                  <a:srgbClr val="000000"/>
                </a:solidFill>
                <a:latin typeface="Times New Roman" panose="02020603050405020304" pitchFamily="18" charset="0"/>
                <a:cs typeface="Times New Roman" panose="02020603050405020304" pitchFamily="18" charset="0"/>
              </a:rPr>
              <a:t>个</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分两步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确定</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确定</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得虚数有</a:t>
            </a:r>
            <a:r>
              <a:rPr lang="en-US" altLang="zh-CN" sz="2800">
                <a:solidFill>
                  <a:srgbClr val="000000"/>
                </a:solidFill>
                <a:latin typeface="Times New Roman" panose="02020603050405020304" pitchFamily="18" charset="0"/>
                <a:cs typeface="Times New Roman" panose="02020603050405020304" pitchFamily="18" charset="0"/>
              </a:rPr>
              <a:t>6×6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0" dur="500"/>
                                        <p:tgtEl>
                                          <p:spTgt spid="3">
                                            <p:txEl>
                                              <p:pRg st="4" end="4"/>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两个计数原理的综合应用</a:t>
                </a:r>
                <a:endParaRPr lang="zh-CN" altLang="en-US" sz="2800" b="1" dirty="0">
                  <a:solidFill>
                    <a:schemeClr val="bg1"/>
                  </a:solidFill>
                </a:endParaRPr>
              </a:p>
            </p:txBody>
          </p:sp>
        </p:grpSp>
      </p:grpSp>
      <p:sp>
        <p:nvSpPr>
          <p:cNvPr id="3" name="矩形 2"/>
          <p:cNvSpPr>
            <a:spLocks noChangeAspect="1"/>
          </p:cNvSpPr>
          <p:nvPr/>
        </p:nvSpPr>
        <p:spPr>
          <a:xfrm>
            <a:off x="381000" y="2031101"/>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现有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幅不同的国画</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幅不同的油画</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幅不同的水彩画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从中任选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幅画布置房间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有几种不同的选法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从这些国画、油画、水彩画中各选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幅布置房间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有几种不同的选法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从这些画中选出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幅不同种类的画布置房间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有几种不同的选法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453382"/>
            <a:ext cx="11430000" cy="56335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分为三类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从国画中选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从油画中选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从水彩画中选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根据分类加法计数原理共有</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分为三步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幅国画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幅油画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幅水彩画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5×2×7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70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分为三类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类是</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幅选自国画</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幅选自油画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类是</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幅选自国画</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幅选自水彩画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类是</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幅选自油画</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幅选自水彩画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2×7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所以共有</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59</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反思感悟H.eps" descr="id:2147515084;FounderCES"/>
          <p:cNvPicPr/>
          <p:nvPr/>
        </p:nvPicPr>
        <p:blipFill>
          <a:blip r:embed="rId2">
            <a:clrChange>
              <a:clrFrom>
                <a:srgbClr val="FFFFFF"/>
              </a:clrFrom>
              <a:clrTo>
                <a:srgbClr val="FFFFFF">
                  <a:alpha val="0"/>
                </a:srgbClr>
              </a:clrTo>
            </a:clrChange>
          </a:blip>
          <a:stretch>
            <a:fillRect/>
          </a:stretch>
        </p:blipFill>
        <p:spPr>
          <a:xfrm>
            <a:off x="381000" y="948983"/>
            <a:ext cx="2151080" cy="506033"/>
          </a:xfrm>
          <a:prstGeom prst="rect">
            <a:avLst/>
          </a:prstGeom>
        </p:spPr>
      </p:pic>
      <p:sp>
        <p:nvSpPr>
          <p:cNvPr id="3" name="矩形 2"/>
          <p:cNvSpPr>
            <a:spLocks noChangeAspect="1"/>
          </p:cNvSpPr>
          <p:nvPr/>
        </p:nvSpPr>
        <p:spPr>
          <a:xfrm>
            <a:off x="381000" y="1642933"/>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利用两个计数原理解题的策略</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要分清是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还是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区分分类还是分步的关键是看一步能否完成这件事情</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若能完成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则是分类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否则是分步</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要清楚</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的具体标准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时要遵循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不重不漏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的原则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时要正确设计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的程序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注意步与步之间的连续性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有些题目中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同时进行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先分类后分步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先分步后分类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115853"/>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中国有十二生肖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又叫十二属相</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每一个人的出生年份对应了十二种动物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鼠、牛、虎、兔、龙、蛇、马、羊、猴、鸡、狗、猪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中的一种</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现有十二生肖的吉祥物各一个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已知甲同学喜欢牛、马和猴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乙同学喜欢牛、狗和羊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丙同学所有的吉祥物都喜欢</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让甲、乙</a:t>
            </a:r>
            <a:r>
              <a:rPr lang="zh-CN"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丙三名同学依次从中选一个作为礼物珍藏</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若每名同学所选取的礼物都是自己喜欢的</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则不同的选法有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A.50</a:t>
            </a:r>
            <a:r>
              <a:rPr lang="zh-CN" altLang="zh-CN" sz="2800" smtClean="0">
                <a:solidFill>
                  <a:srgbClr val="000000"/>
                </a:solidFill>
                <a:latin typeface="Times New Roman" panose="02020603050405020304" pitchFamily="18" charset="0"/>
                <a:cs typeface="Times New Roman" panose="02020603050405020304" pitchFamily="18" charset="0"/>
              </a:rPr>
              <a:t>种</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	B.60</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C.70</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	D.80</a:t>
            </a:r>
            <a:r>
              <a:rPr lang="zh-CN" altLang="zh-CN" sz="2800" smtClean="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638007"/>
            <a:ext cx="11430000" cy="2893100"/>
          </a:xfrm>
          <a:prstGeom prst="rect">
            <a:avLst/>
          </a:prstGeom>
        </p:spPr>
        <p:txBody>
          <a:bodyPr>
            <a:spAutoFit/>
          </a:bodyPr>
          <a:lstStyle/>
          <a:p>
            <a:pPr>
              <a:lnSpc>
                <a:spcPct val="130000"/>
              </a:lnSpc>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zh-CN" altLang="zh-CN" sz="280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析</a:t>
            </a:r>
            <a:r>
              <a:rPr lang="en-US" altLang="zh-CN" sz="280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据题意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按甲的选择不同分成</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种情况讨论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若甲选择牛</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则乙的选择有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丙的选择有</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此时有</a:t>
            </a:r>
            <a:r>
              <a:rPr lang="en-US" altLang="zh-CN" sz="2800">
                <a:solidFill>
                  <a:srgbClr val="000000"/>
                </a:solidFill>
                <a:latin typeface="Times New Roman" panose="02020603050405020304" pitchFamily="18" charset="0"/>
                <a:cs typeface="Times New Roman" panose="02020603050405020304" pitchFamily="18" charset="0"/>
              </a:rPr>
              <a:t>2×10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若甲选择马或猴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则甲的选法有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乙的选择有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丙的选择有</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此时有</a:t>
            </a:r>
            <a:r>
              <a:rPr lang="en-US" altLang="zh-CN" sz="2800">
                <a:solidFill>
                  <a:srgbClr val="000000"/>
                </a:solidFill>
                <a:latin typeface="Times New Roman" panose="02020603050405020304" pitchFamily="18" charset="0"/>
                <a:cs typeface="Times New Roman" panose="02020603050405020304" pitchFamily="18" charset="0"/>
              </a:rPr>
              <a:t>2×3×10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故一共有</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D</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a:t>
            </a: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D</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 y="151371"/>
            <a:ext cx="11336478" cy="433754"/>
            <a:chOff x="3048000" y="2286000"/>
            <a:chExt cx="4813646" cy="457200"/>
          </a:xfrm>
        </p:grpSpPr>
        <p:sp>
          <p:nvSpPr>
            <p:cNvPr id="6" name="矩形 5"/>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8" name="矩形 7"/>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易错辨析</a:t>
              </a:r>
              <a:endParaRPr lang="zh-CN" altLang="en-US" sz="2800" b="1" dirty="0">
                <a:solidFill>
                  <a:schemeClr val="bg1"/>
                </a:solidFill>
              </a:endParaRPr>
            </a:p>
          </p:txBody>
        </p:sp>
      </p:grpSp>
      <p:sp>
        <p:nvSpPr>
          <p:cNvPr id="2" name="矩形 1"/>
          <p:cNvSpPr>
            <a:spLocks noChangeAspect="1"/>
          </p:cNvSpPr>
          <p:nvPr/>
        </p:nvSpPr>
        <p:spPr>
          <a:xfrm>
            <a:off x="381000" y="1052643"/>
            <a:ext cx="11430000" cy="4013406"/>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分不清</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还是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致错</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某体育场南侧有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个大门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北侧有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个大门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小李到体育场看比赛</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则他进、出体育场的方案有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A.12</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B.7</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C.14</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	D.49</a:t>
            </a:r>
            <a:r>
              <a:rPr lang="zh-CN" altLang="zh-CN" sz="2800">
                <a:solidFill>
                  <a:srgbClr val="000000"/>
                </a:solidFill>
                <a:latin typeface="Times New Roman" panose="02020603050405020304" pitchFamily="18" charset="0"/>
                <a:cs typeface="Times New Roman" panose="02020603050405020304" pitchFamily="18" charset="0"/>
              </a:rPr>
              <a:t>种</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错解</a:t>
            </a:r>
            <a:r>
              <a:rPr lang="en-US"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由题意知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小李进体育场有</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种不同方案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出体育场有</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种不同的方案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故他进、出体育场共有</a:t>
            </a:r>
            <a:r>
              <a:rPr lang="en-US" altLang="zh-CN" sz="2800" smtClean="0">
                <a:solidFill>
                  <a:srgbClr val="000000"/>
                </a:solidFill>
                <a:latin typeface="Times New Roman" panose="02020603050405020304" pitchFamily="18" charset="0"/>
                <a:cs typeface="Times New Roman" panose="02020603050405020304" pitchFamily="18" charset="0"/>
              </a:rPr>
              <a:t>7</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7</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14</a:t>
            </a:r>
            <a:r>
              <a:rPr lang="zh-CN" altLang="en-US" sz="2800">
                <a:solidFill>
                  <a:srgbClr val="000000"/>
                </a:solidFill>
                <a:latin typeface="Times New Roman" panose="02020603050405020304" pitchFamily="18" charset="0"/>
                <a:cs typeface="Times New Roman" panose="02020603050405020304" pitchFamily="18" charset="0"/>
              </a:rPr>
              <a:t>种不同的方案</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latin typeface="Arial" panose="020B0604020202020204" pitchFamily="34" charset="0"/>
                <a:ea typeface="黑体" panose="02010609060101010101" pitchFamily="49" charset="-122"/>
                <a:cs typeface="Times New Roman" panose="02020603050405020304" pitchFamily="18" charset="0"/>
              </a:rPr>
              <a:t>答案</a:t>
            </a:r>
            <a:r>
              <a:rPr lang="en-US" altLang="zh-CN" sz="2800">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latin typeface="Times New Roman" panose="02020603050405020304" pitchFamily="18" charset="0"/>
                <a:cs typeface="Times New Roman" panose="02020603050405020304" pitchFamily="18" charset="0"/>
              </a:rPr>
              <a:t>C</a:t>
            </a:r>
            <a:endParaRPr lang="zh-CN" altLang="zh-CN" sz="2800">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17143"/>
            <a:ext cx="11430000" cy="619374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出错的原因是什么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你如何改正</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你如何防范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出错的根本原因是没有分清小李完成进、出体育场大门的过程是分类还是分步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实际上小李到体育场看比赛</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他进、出体育场大门的过程分两步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第一步进体育场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第二步出体育场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正解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完成进、出体育场这件事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需要分两步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步进体育场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步出体育场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进体育场共有</a:t>
            </a:r>
            <a:r>
              <a:rPr lang="en-US" altLang="zh-CN" sz="2800" smtClean="0">
                <a:solidFill>
                  <a:srgbClr val="000000"/>
                </a:solidFill>
                <a:latin typeface="Times New Roman" panose="02020603050405020304" pitchFamily="18" charset="0"/>
                <a:cs typeface="Times New Roman" panose="02020603050405020304" pitchFamily="18" charset="0"/>
              </a:rPr>
              <a:t>4</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7</a:t>
            </a:r>
            <a:r>
              <a:rPr lang="zh-CN" altLang="en-US" sz="2800">
                <a:solidFill>
                  <a:srgbClr val="000000"/>
                </a:solidFill>
                <a:latin typeface="Times New Roman" panose="02020603050405020304" pitchFamily="18" charset="0"/>
                <a:cs typeface="Times New Roman" panose="02020603050405020304" pitchFamily="18" charset="0"/>
              </a:rPr>
              <a:t>种</a:t>
            </a:r>
            <a:r>
              <a:rPr lang="zh-CN" altLang="zh-CN" sz="2800" smtClean="0">
                <a:solidFill>
                  <a:srgbClr val="000000"/>
                </a:solidFill>
                <a:latin typeface="Times New Roman" panose="02020603050405020304" pitchFamily="18" charset="0"/>
                <a:cs typeface="Times New Roman" panose="02020603050405020304" pitchFamily="18" charset="0"/>
              </a:rPr>
              <a:t>方</a:t>
            </a:r>
            <a:r>
              <a:rPr lang="zh-CN" altLang="zh-CN" sz="2800">
                <a:solidFill>
                  <a:srgbClr val="000000"/>
                </a:solidFill>
                <a:latin typeface="Times New Roman" panose="02020603050405020304" pitchFamily="18" charset="0"/>
                <a:cs typeface="Times New Roman" panose="02020603050405020304" pitchFamily="18" charset="0"/>
              </a:rPr>
              <a:t>案</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出体育场共有</a:t>
            </a:r>
            <a:r>
              <a:rPr lang="en-US" altLang="zh-CN" sz="2800" smtClean="0">
                <a:solidFill>
                  <a:srgbClr val="000000"/>
                </a:solidFill>
                <a:latin typeface="Times New Roman" panose="02020603050405020304" pitchFamily="18" charset="0"/>
                <a:cs typeface="Times New Roman" panose="02020603050405020304" pitchFamily="18" charset="0"/>
              </a:rPr>
              <a:t>4</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7</a:t>
            </a:r>
            <a:r>
              <a:rPr lang="zh-CN" altLang="en-US" sz="2800">
                <a:solidFill>
                  <a:srgbClr val="000000"/>
                </a:solidFill>
                <a:latin typeface="Times New Roman" panose="02020603050405020304" pitchFamily="18" charset="0"/>
                <a:cs typeface="Times New Roman" panose="02020603050405020304" pitchFamily="18" charset="0"/>
              </a:rPr>
              <a:t>种</a:t>
            </a:r>
            <a:r>
              <a:rPr lang="zh-CN" altLang="zh-CN" sz="2800" smtClean="0">
                <a:solidFill>
                  <a:srgbClr val="000000"/>
                </a:solidFill>
                <a:latin typeface="Times New Roman" panose="02020603050405020304" pitchFamily="18" charset="0"/>
                <a:cs typeface="Times New Roman" panose="02020603050405020304" pitchFamily="18" charset="0"/>
              </a:rPr>
              <a:t>方</a:t>
            </a:r>
            <a:r>
              <a:rPr lang="zh-CN" altLang="zh-CN" sz="2800">
                <a:solidFill>
                  <a:srgbClr val="000000"/>
                </a:solidFill>
                <a:latin typeface="Times New Roman" panose="02020603050405020304" pitchFamily="18" charset="0"/>
                <a:cs typeface="Times New Roman" panose="02020603050405020304" pitchFamily="18" charset="0"/>
              </a:rPr>
              <a:t>案</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en-US" sz="2800">
                <a:solidFill>
                  <a:srgbClr val="000000"/>
                </a:solidFill>
                <a:latin typeface="Times New Roman" panose="02020603050405020304" pitchFamily="18" charset="0"/>
                <a:cs typeface="Times New Roman" panose="02020603050405020304" pitchFamily="18" charset="0"/>
              </a:rPr>
              <a:t>由分步乘法计数原理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知进</a:t>
            </a:r>
            <a:r>
              <a:rPr lang="zh-CN"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出体育场的方案有</a:t>
            </a:r>
            <a:r>
              <a:rPr lang="en-US" altLang="zh-CN" sz="2800">
                <a:solidFill>
                  <a:srgbClr val="000000"/>
                </a:solidFill>
                <a:latin typeface="Times New Roman" panose="02020603050405020304" pitchFamily="18" charset="0"/>
                <a:cs typeface="Times New Roman" panose="02020603050405020304" pitchFamily="18" charset="0"/>
              </a:rPr>
              <a:t>7×7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49(</a:t>
            </a:r>
            <a:r>
              <a:rPr lang="zh-CN" altLang="zh-CN" sz="2800">
                <a:solidFill>
                  <a:srgbClr val="000000"/>
                </a:solidFill>
                <a:latin typeface="Times New Roman" panose="02020603050405020304" pitchFamily="18" charset="0"/>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D</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8" dur="500"/>
                                        <p:tgtEl>
                                          <p:spTgt spid="2">
                                            <p:txEl>
                                              <p:pRg st="4" end="4"/>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1" dur="500"/>
                                        <p:tgtEl>
                                          <p:spTgt spid="2">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6"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防范措施H.eps" descr="id:2147515141;FounderCES"/>
          <p:cNvPicPr/>
          <p:nvPr/>
        </p:nvPicPr>
        <p:blipFill>
          <a:blip r:embed="rId2">
            <a:clrChange>
              <a:clrFrom>
                <a:srgbClr val="FFFFFF"/>
              </a:clrFrom>
              <a:clrTo>
                <a:srgbClr val="FFFFFF">
                  <a:alpha val="0"/>
                </a:srgbClr>
              </a:clrTo>
            </a:clrChange>
          </a:blip>
          <a:stretch>
            <a:fillRect/>
          </a:stretch>
        </p:blipFill>
        <p:spPr>
          <a:xfrm>
            <a:off x="381000" y="2269365"/>
            <a:ext cx="2151080" cy="506033"/>
          </a:xfrm>
          <a:prstGeom prst="rect">
            <a:avLst/>
          </a:prstGeom>
        </p:spPr>
      </p:pic>
      <p:sp>
        <p:nvSpPr>
          <p:cNvPr id="3" name="矩形 2"/>
          <p:cNvSpPr>
            <a:spLocks noChangeAspect="1"/>
          </p:cNvSpPr>
          <p:nvPr/>
        </p:nvSpPr>
        <p:spPr>
          <a:xfrm>
            <a:off x="381000" y="3043317"/>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利用两个计数原理解决问题时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应首先弄清是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还是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其次要做到分类时不重不漏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分步时步骤完整</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473931"/>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已知集合</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1,0,1,2},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表示平面上的点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问</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zh-CN" altLang="zh-CN" sz="2800">
                <a:solidFill>
                  <a:srgbClr val="000000"/>
                </a:solidFill>
                <a:latin typeface="Times New Roman" panose="02020603050405020304" pitchFamily="18" charset="0"/>
                <a:cs typeface="Times New Roman" panose="02020603050405020304" pitchFamily="18" charset="0"/>
              </a:rPr>
              <a:t>可表示平面上多少个不同的点</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zh-CN" altLang="zh-CN" sz="2800">
                <a:solidFill>
                  <a:srgbClr val="000000"/>
                </a:solidFill>
                <a:latin typeface="Times New Roman" panose="02020603050405020304" pitchFamily="18" charset="0"/>
                <a:cs typeface="Times New Roman" panose="02020603050405020304" pitchFamily="18" charset="0"/>
              </a:rPr>
              <a:t>可表示平面上多少个第二象限的点</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确定平面上的点</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可分两步完成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步确</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定</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种可能情况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步确定</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种可能情况</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en-US"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据分步乘法计数原理得到平面上点的个数为</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6×6=36</a:t>
            </a:r>
            <a:r>
              <a:rPr lang="en-US"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确定第二象限的点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可分两步完成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步确定</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a:solidFill>
                  <a:srgbClr val="000000"/>
                </a:solidFill>
                <a:latin typeface="Times New Roman" panose="02020603050405020304" pitchFamily="18" charset="0"/>
                <a:cs typeface="Times New Roman" panose="02020603050405020304" pitchFamily="18" charset="0"/>
              </a:rPr>
              <a:t>a&lt;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种可能情况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步确定</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a:solidFill>
                  <a:srgbClr val="000000"/>
                </a:solidFill>
                <a:latin typeface="Times New Roman" panose="02020603050405020304" pitchFamily="18" charset="0"/>
                <a:cs typeface="Times New Roman" panose="02020603050405020304" pitchFamily="18" charset="0"/>
              </a:rPr>
              <a:t>b&gt;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种可能情况</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由分步乘法计数原理得到第二象限的点的个数为</a:t>
            </a:r>
            <a:r>
              <a:rPr lang="en-US" altLang="zh-CN" sz="2800">
                <a:solidFill>
                  <a:srgbClr val="000000"/>
                </a:solidFill>
                <a:latin typeface="Times New Roman" panose="02020603050405020304" pitchFamily="18" charset="0"/>
                <a:cs typeface="Times New Roman" panose="02020603050405020304" pitchFamily="18" charset="0"/>
              </a:rPr>
              <a:t>3×2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3407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0" dur="500"/>
                                        <p:tgtEl>
                                          <p:spTgt spid="3">
                                            <p:txEl>
                                              <p:pRg st="4" end="4"/>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95661"/>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某一数学问题可用两种方法证明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名同学只会用第一种方法证明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名同学只会用第二种方法证明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现从这些同学中任选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名同学证明这个问题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不同的选法种数为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A.10	B.16	C.20	D.24</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每一种方法都能证明该问题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根据分类加法计数原理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不同的选法共有</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79972"/>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从</a:t>
            </a:r>
            <a:r>
              <a:rPr lang="en-US" altLang="zh-CN" sz="2800" smtClean="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名医生和</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名护士中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选出</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名医生和</a:t>
            </a:r>
            <a:r>
              <a:rPr lang="en-US" altLang="zh-CN" sz="2800" smtClean="0">
                <a:solidFill>
                  <a:srgbClr val="000000"/>
                </a:solidFill>
                <a:latin typeface="Times New Roman" panose="02020603050405020304" pitchFamily="18" charset="0"/>
                <a:cs typeface="Times New Roman" panose="02020603050405020304" pitchFamily="18" charset="0"/>
              </a:rPr>
              <a:t>1</a:t>
            </a:r>
            <a:r>
              <a:rPr lang="zh-CN" altLang="en-US" sz="2800">
                <a:solidFill>
                  <a:srgbClr val="000000"/>
                </a:solidFill>
                <a:latin typeface="Times New Roman" panose="02020603050405020304" pitchFamily="18" charset="0"/>
                <a:cs typeface="Times New Roman" panose="02020603050405020304" pitchFamily="18" charset="0"/>
              </a:rPr>
              <a:t>名护士参加社区志愿者活动</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不同的选法种数为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A.9	B.10	C.20	D.40</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分两步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名医生中选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名护士中选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人有</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由分步乘法计数原理得共有</a:t>
            </a:r>
            <a:r>
              <a:rPr lang="en-US" altLang="zh-CN" sz="2800">
                <a:solidFill>
                  <a:srgbClr val="000000"/>
                </a:solidFill>
                <a:latin typeface="Times New Roman" panose="02020603050405020304" pitchFamily="18" charset="0"/>
                <a:cs typeface="Times New Roman" panose="02020603050405020304" pitchFamily="18" charset="0"/>
              </a:rPr>
              <a:t>5×4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41207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18327"/>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把</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个苹果分成三份</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要求每份至少</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至多</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则不同的分法种数为</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A.5	B.6	C.4	D.3</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由于分成三份</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每份至少</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至多</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故有一份</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个苹果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其余两份只能选一份</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一份</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有一份</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个苹果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则其余两份可能一份</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一份</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或两份都是</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有一份</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个苹果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则其余两份只能是一份</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一份</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综上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不同的分法种数共有</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C</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8975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0" dur="500"/>
                                        <p:tgtEl>
                                          <p:spTgt spid="2">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567916"/>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某校有一项活动</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需要在</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名老师、</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cs typeface="Times New Roman" panose="02020603050405020304" pitchFamily="18" charset="0"/>
              </a:rPr>
              <a:t>名男同学和</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名女同学中选人参加</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若只需选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人参加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则有多少种不同的选法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若需选老师、男同学、女同学各</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人参加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则有多少种不同的选法</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若需选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名老师、</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名同学参加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则有多少种不同的选法</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152663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31342"/>
            <a:ext cx="11430000" cy="45132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人参加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分三类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类选老师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类选男同学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类选女同学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选老师、男同学、女同学各</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人参加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步选老师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步选男同学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步选女同学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3×8×5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名老师、</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名同学参加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分两步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步选老师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步选同学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共有</a:t>
            </a:r>
            <a:r>
              <a:rPr lang="en-US" altLang="zh-CN" sz="2800">
                <a:solidFill>
                  <a:srgbClr val="000000"/>
                </a:solidFill>
                <a:latin typeface="Times New Roman" panose="02020603050405020304" pitchFamily="18" charset="0"/>
                <a:cs typeface="Times New Roman" panose="02020603050405020304" pitchFamily="18" charset="0"/>
              </a:rPr>
              <a:t>3×13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39</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种不同的选法</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53898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218</TotalTime>
  <Words>4741</Words>
  <Application>Microsoft Office PowerPoint</Application>
  <PresentationFormat>宽屏</PresentationFormat>
  <Paragraphs>211</Paragraphs>
  <Slides>41</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41</vt:i4>
      </vt:variant>
    </vt:vector>
  </HeadingPairs>
  <TitlesOfParts>
    <vt:vector size="60"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51</cp:revision>
  <dcterms:created xsi:type="dcterms:W3CDTF">2021-08-30T08:30:26Z</dcterms:created>
  <dcterms:modified xsi:type="dcterms:W3CDTF">2025-08-20T01:05:00Z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