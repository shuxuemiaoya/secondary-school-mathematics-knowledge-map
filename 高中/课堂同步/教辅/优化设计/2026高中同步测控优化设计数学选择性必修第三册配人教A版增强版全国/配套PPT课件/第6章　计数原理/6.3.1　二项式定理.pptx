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677" r:id="rId2"/>
    <p:sldId id="488" r:id="rId3"/>
    <p:sldId id="494" r:id="rId4"/>
    <p:sldId id="392" r:id="rId5"/>
    <p:sldId id="769" r:id="rId6"/>
    <p:sldId id="756" r:id="rId7"/>
    <p:sldId id="757" r:id="rId8"/>
    <p:sldId id="758" r:id="rId9"/>
    <p:sldId id="759" r:id="rId10"/>
    <p:sldId id="760" r:id="rId11"/>
    <p:sldId id="407" r:id="rId12"/>
    <p:sldId id="394" r:id="rId13"/>
    <p:sldId id="699" r:id="rId14"/>
    <p:sldId id="700" r:id="rId15"/>
    <p:sldId id="402" r:id="rId16"/>
    <p:sldId id="720" r:id="rId17"/>
    <p:sldId id="721" r:id="rId18"/>
    <p:sldId id="726" r:id="rId19"/>
    <p:sldId id="498" r:id="rId20"/>
    <p:sldId id="730" r:id="rId21"/>
    <p:sldId id="733" r:id="rId22"/>
    <p:sldId id="743" r:id="rId23"/>
    <p:sldId id="744" r:id="rId24"/>
    <p:sldId id="761" r:id="rId25"/>
    <p:sldId id="762" r:id="rId26"/>
    <p:sldId id="763" r:id="rId27"/>
    <p:sldId id="764" r:id="rId28"/>
    <p:sldId id="740" r:id="rId29"/>
    <p:sldId id="749" r:id="rId30"/>
    <p:sldId id="754" r:id="rId31"/>
    <p:sldId id="741" r:id="rId32"/>
    <p:sldId id="738" r:id="rId33"/>
    <p:sldId id="751" r:id="rId34"/>
    <p:sldId id="752" r:id="rId35"/>
    <p:sldId id="765" r:id="rId36"/>
    <p:sldId id="398" r:id="rId37"/>
    <p:sldId id="770" r:id="rId38"/>
    <p:sldId id="395" r:id="rId39"/>
    <p:sldId id="766" r:id="rId40"/>
    <p:sldId id="767" r:id="rId41"/>
    <p:sldId id="768" r:id="rId42"/>
    <p:sldId id="490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108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31.xml"/><Relationship Id="rId5" Type="http://schemas.openxmlformats.org/officeDocument/2006/relationships/slide" Target="../slides/slide28.xml"/><Relationship Id="rId4" Type="http://schemas.openxmlformats.org/officeDocument/2006/relationships/slide" Target="../slides/slide1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数学建模</a:t>
            </a:r>
            <a:endParaRPr lang="zh-CN" altLang="en-US" sz="14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6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7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10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2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3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4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5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6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7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9.docx"/><Relationship Id="rId3" Type="http://schemas.openxmlformats.org/officeDocument/2006/relationships/image" Target="../media/image21.jpeg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Word___18.docx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2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3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4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6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7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9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30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1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2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3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4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5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7.bin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7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39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41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2.bin"/><Relationship Id="rId7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42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6.3.1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二项式定理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第六章</a:t>
            </a:r>
            <a:endParaRPr lang="en-US" altLang="zh-CN" sz="3600" b="1" kern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2199079"/>
            <a:ext cx="11430000" cy="28408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能用多项式运算法则和计数原理证明二项式定理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掌握二项式定理及其展开式的通项公式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会用二项式定理解决与二项展开式有关的简单问题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通过该节的学习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理解从特殊到一般的思维方法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培养观察归纳能力、抽象思维和逻辑思维能力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1745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正中黑简体"/>
                <a:cs typeface="Times New Roman" panose="02020603050405020304" pitchFamily="18" charset="0"/>
              </a:rPr>
              <a:t>二项式定理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我们在初中学习了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ab+b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试用多项式的乘法法则推导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上述两个展开式有何特点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你能用组合的观点说明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是如何展开的吗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74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6177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的展开式有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每项的次数是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3;(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的展开式有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每一项的次数为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由多项式的乘法法则知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从每个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相乘即得展开式中的一项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574554"/>
              </p:ext>
            </p:extLst>
          </p:nvPr>
        </p:nvGraphicFramePr>
        <p:xfrm>
          <a:off x="458424" y="3317359"/>
          <a:ext cx="11275153" cy="285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文档" r:id="rId4" imgW="4510061" imgH="1140265" progId="Word.Document.12">
                  <p:embed/>
                </p:oleObj>
              </mc:Choice>
              <mc:Fallback>
                <p:oleObj name="文档" r:id="rId4" imgW="4510061" imgH="11402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317359"/>
                        <a:ext cx="11275153" cy="2850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913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565557"/>
              </p:ext>
            </p:extLst>
          </p:nvPr>
        </p:nvGraphicFramePr>
        <p:xfrm>
          <a:off x="463550" y="768350"/>
          <a:ext cx="11228388" cy="515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文档" r:id="rId4" imgW="4510061" imgH="2076493" progId="Word.Document.12">
                  <p:embed/>
                </p:oleObj>
              </mc:Choice>
              <mc:Fallback>
                <p:oleObj name="文档" r:id="rId4" imgW="4510061" imgH="2076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768350"/>
                        <a:ext cx="11228388" cy="515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58424" y="1570179"/>
            <a:ext cx="6595519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58424" y="2121776"/>
            <a:ext cx="65955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526706" y="2266863"/>
            <a:ext cx="177463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526706" y="2818460"/>
            <a:ext cx="17746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784243" y="2310407"/>
            <a:ext cx="2416895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784243" y="2862004"/>
            <a:ext cx="24168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613530" y="3039750"/>
            <a:ext cx="1208580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2613529" y="3591347"/>
            <a:ext cx="12085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103221" y="3790865"/>
            <a:ext cx="112182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114272" y="4342462"/>
            <a:ext cx="10997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547202" y="5229476"/>
            <a:ext cx="520280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588186" y="5805391"/>
            <a:ext cx="51720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04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5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15103"/>
              </p:ext>
            </p:extLst>
          </p:nvPr>
        </p:nvGraphicFramePr>
        <p:xfrm>
          <a:off x="458424" y="1325966"/>
          <a:ext cx="11275153" cy="353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文档" r:id="rId4" imgW="4510061" imgH="1414157" progId="Word.Document.12">
                  <p:embed/>
                </p:oleObj>
              </mc:Choice>
              <mc:Fallback>
                <p:oleObj name="文档" r:id="rId4" imgW="4510061" imgH="14141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325966"/>
                        <a:ext cx="11275153" cy="3535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935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608968"/>
              </p:ext>
            </p:extLst>
          </p:nvPr>
        </p:nvGraphicFramePr>
        <p:xfrm>
          <a:off x="458424" y="4783308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783308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80640"/>
              </p:ext>
            </p:extLst>
          </p:nvPr>
        </p:nvGraphicFramePr>
        <p:xfrm>
          <a:off x="457200" y="817563"/>
          <a:ext cx="11249025" cy="394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文档" r:id="rId7" imgW="4510061" imgH="1589308" progId="Word.Document.12">
                  <p:embed/>
                </p:oleObj>
              </mc:Choice>
              <mc:Fallback>
                <p:oleObj name="文档" r:id="rId7" imgW="4510061" imgH="1589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" y="817563"/>
                        <a:ext cx="11249025" cy="394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71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98085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的展开式中共有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30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n-k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30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展开式中的第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的二项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式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展开式中各项的二项式系数相同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16435" y="3384271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26778" y="3930930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733886" y="4512959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746573"/>
              </p:ext>
            </p:extLst>
          </p:nvPr>
        </p:nvGraphicFramePr>
        <p:xfrm>
          <a:off x="686170" y="3909158"/>
          <a:ext cx="804647" cy="520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1" name="文档" r:id="rId4" imgW="300040" imgH="193989" progId="Word.Document.12">
                  <p:embed/>
                </p:oleObj>
              </mc:Choice>
              <mc:Fallback>
                <p:oleObj name="文档" r:id="rId4" imgW="300040" imgH="19398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70" y="3909158"/>
                        <a:ext cx="804647" cy="52065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503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二项式定理的正用与逆用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806981"/>
              </p:ext>
            </p:extLst>
          </p:nvPr>
        </p:nvGraphicFramePr>
        <p:xfrm>
          <a:off x="458424" y="773584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73584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743461"/>
              </p:ext>
            </p:extLst>
          </p:nvPr>
        </p:nvGraphicFramePr>
        <p:xfrm>
          <a:off x="458424" y="2331494"/>
          <a:ext cx="11275153" cy="3114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文档" r:id="rId7" imgW="4510061" imgH="1245968" progId="Word.Document.12">
                  <p:embed/>
                </p:oleObj>
              </mc:Choice>
              <mc:Fallback>
                <p:oleObj name="文档" r:id="rId7" imgW="4510061" imgH="12459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331494"/>
                        <a:ext cx="11275153" cy="3114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782577"/>
              </p:ext>
            </p:extLst>
          </p:nvPr>
        </p:nvGraphicFramePr>
        <p:xfrm>
          <a:off x="458424" y="1161629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161629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642933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运用二项式定理的解题策略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求形式简单的二项展开式时可直接由二项式定理展开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展开时注意二项展开式的特点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前一个字母是降幂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后一个字母是升幂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形如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的展开式中会出现正负间隔的情况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对较繁杂的式子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先化简再用二项式定理展开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逆用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逆用二项式定理可将多项式化简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对于这类问题的求解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要熟悉二项展开式的项数、次数、各项幂指数的规律、各项的系数等特点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343352"/>
              </p:ext>
            </p:extLst>
          </p:nvPr>
        </p:nvGraphicFramePr>
        <p:xfrm>
          <a:off x="458424" y="372893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72893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036723"/>
              </p:ext>
            </p:extLst>
          </p:nvPr>
        </p:nvGraphicFramePr>
        <p:xfrm>
          <a:off x="458424" y="1930803"/>
          <a:ext cx="11275153" cy="410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文档" r:id="rId7" imgW="4510061" imgH="1641644" progId="Word.Document.12">
                  <p:embed/>
                </p:oleObj>
              </mc:Choice>
              <mc:Fallback>
                <p:oleObj name="文档" r:id="rId7" imgW="4510061" imgH="16416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1930803"/>
                        <a:ext cx="11275153" cy="4104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二项式系数与项的系数问题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638532"/>
              </p:ext>
            </p:extLst>
          </p:nvPr>
        </p:nvGraphicFramePr>
        <p:xfrm>
          <a:off x="458424" y="2282899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文档" r:id="rId4" imgW="4510061" imgH="1017403" progId="Word.Document.12">
                  <p:embed/>
                </p:oleObj>
              </mc:Choice>
              <mc:Fallback>
                <p:oleObj name="文档" r:id="rId4" imgW="4510061" imgH="10174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282899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54983"/>
              </p:ext>
            </p:extLst>
          </p:nvPr>
        </p:nvGraphicFramePr>
        <p:xfrm>
          <a:off x="463550" y="433995"/>
          <a:ext cx="11228388" cy="597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文档" r:id="rId4" imgW="4510061" imgH="2410991" progId="Word.Document.12">
                  <p:embed/>
                </p:oleObj>
              </mc:Choice>
              <mc:Fallback>
                <p:oleObj name="文档" r:id="rId4" imgW="4510061" imgH="24109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433995"/>
                        <a:ext cx="11228388" cy="5973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944376"/>
              </p:ext>
            </p:extLst>
          </p:nvPr>
        </p:nvGraphicFramePr>
        <p:xfrm>
          <a:off x="458424" y="1490400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490400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06192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求某项的二项式系数、系数或展开式中含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的项的系数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主要是利用通项公式求出相应的项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特别要注意某项的二项式系数与系数两者的区别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二项式系数与项的系数是两个不同的概念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前者仅与二项式的指数及项数有关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与二项式无关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后者与二项式、二项式的指数及项数均有关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262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的展开式中含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项的系数为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A.60	B.120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C.240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D.480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638342"/>
              </p:ext>
            </p:extLst>
          </p:nvPr>
        </p:nvGraphicFramePr>
        <p:xfrm>
          <a:off x="458424" y="2495832"/>
          <a:ext cx="11275153" cy="148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文档" r:id="rId4" imgW="4510061" imgH="593335" progId="Word.Document.12">
                  <p:embed/>
                </p:oleObj>
              </mc:Choice>
              <mc:Fallback>
                <p:oleObj name="文档" r:id="rId4" imgW="4510061" imgH="5933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495832"/>
                        <a:ext cx="11275153" cy="1483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与二项展开式中的特定项有关的问题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9926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求二项展开式中特定的项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展开式中含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367292"/>
              </p:ext>
            </p:extLst>
          </p:nvPr>
        </p:nvGraphicFramePr>
        <p:xfrm>
          <a:off x="458424" y="2599066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599066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300165"/>
              </p:ext>
            </p:extLst>
          </p:nvPr>
        </p:nvGraphicFramePr>
        <p:xfrm>
          <a:off x="458424" y="1292941"/>
          <a:ext cx="11275153" cy="368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文档" r:id="rId4" imgW="4510061" imgH="1467345" progId="Word.Document.12">
                  <p:embed/>
                </p:oleObj>
              </mc:Choice>
              <mc:Fallback>
                <p:oleObj name="文档" r:id="rId4" imgW="4510061" imgH="14673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92941"/>
                        <a:ext cx="11275153" cy="368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483930"/>
            <a:ext cx="2259458" cy="41206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81000" y="895995"/>
            <a:ext cx="682751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本例条件不变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求二项展开式中的常数项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100403"/>
              </p:ext>
            </p:extLst>
          </p:nvPr>
        </p:nvGraphicFramePr>
        <p:xfrm>
          <a:off x="463550" y="1404189"/>
          <a:ext cx="11228388" cy="196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文档" r:id="rId5" imgW="4510061" imgH="790994" progId="Word.Document.12">
                  <p:embed/>
                </p:oleObj>
              </mc:Choice>
              <mc:Fallback>
                <p:oleObj name="文档" r:id="rId5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3550" y="1404189"/>
                        <a:ext cx="11228388" cy="1968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393139"/>
            <a:ext cx="754565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本例条件不变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求二项展开式中的所有有理项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413011"/>
              </p:ext>
            </p:extLst>
          </p:nvPr>
        </p:nvGraphicFramePr>
        <p:xfrm>
          <a:off x="458424" y="3854842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7" name="文档" r:id="rId8" imgW="4510061" imgH="1018481" progId="Word.Document.12">
                  <p:embed/>
                </p:oleObj>
              </mc:Choice>
              <mc:Fallback>
                <p:oleObj name="文档" r:id="rId8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8424" y="3854842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747052"/>
              </p:ext>
            </p:extLst>
          </p:nvPr>
        </p:nvGraphicFramePr>
        <p:xfrm>
          <a:off x="458424" y="791758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91758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357855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求二项展开式的特定项常见题型及处理措施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求常数项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对于常数项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其隐含条件是字母的指数为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次项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求有理项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对于有理项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是指其所有字母的指数恰好都是整数的项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解这类问题必须合并通项公式中同一字母的指数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令其属于整数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再根据数的整除性来求解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求整式项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求二项展开式中的整式项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其通项公式中同一字母的指数应是非负整数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求解方式与求有理项一致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038198"/>
              </p:ext>
            </p:extLst>
          </p:nvPr>
        </p:nvGraphicFramePr>
        <p:xfrm>
          <a:off x="458424" y="1685472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1685472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203914"/>
              </p:ext>
            </p:extLst>
          </p:nvPr>
        </p:nvGraphicFramePr>
        <p:xfrm>
          <a:off x="458424" y="1705215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05215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69440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的项的系数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展开式中所有的有理项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203581"/>
              </p:ext>
            </p:extLst>
          </p:nvPr>
        </p:nvGraphicFramePr>
        <p:xfrm>
          <a:off x="463550" y="195263"/>
          <a:ext cx="11228388" cy="604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文档" r:id="rId4" imgW="4510061" imgH="2432638" progId="Word.Document.12">
                  <p:embed/>
                </p:oleObj>
              </mc:Choice>
              <mc:Fallback>
                <p:oleObj name="文档" r:id="rId4" imgW="4510061" imgH="24326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195263"/>
                        <a:ext cx="11228388" cy="6046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594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33077"/>
            <a:ext cx="6529352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由二项展开式某项的系数求参数问题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814389"/>
              </p:ext>
            </p:extLst>
          </p:nvPr>
        </p:nvGraphicFramePr>
        <p:xfrm>
          <a:off x="458424" y="1085563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文档" r:id="rId4" imgW="4510061" imgH="790994" progId="Word.Document.12">
                  <p:embed/>
                </p:oleObj>
              </mc:Choice>
              <mc:Fallback>
                <p:oleObj name="文档" r:id="rId4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085563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348273"/>
              </p:ext>
            </p:extLst>
          </p:nvPr>
        </p:nvGraphicFramePr>
        <p:xfrm>
          <a:off x="458424" y="2817154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文档" r:id="rId7" imgW="4510061" imgH="1018481" progId="Word.Document.12">
                  <p:embed/>
                </p:oleObj>
              </mc:Choice>
              <mc:Fallback>
                <p:oleObj name="文档" r:id="rId7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817154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488853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63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052086"/>
              </p:ext>
            </p:extLst>
          </p:nvPr>
        </p:nvGraphicFramePr>
        <p:xfrm>
          <a:off x="458424" y="2269092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269092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76324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由二项展开式某项的系数求参数问题的关键是抓住其通项公式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求解时先准确写出通项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再把系数和字母分离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根据题目中所指定的字母的指数所具有的特征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列出方程或不等式即可求解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2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546095"/>
              </p:ext>
            </p:extLst>
          </p:nvPr>
        </p:nvGraphicFramePr>
        <p:xfrm>
          <a:off x="458424" y="547553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47553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567999"/>
              </p:ext>
            </p:extLst>
          </p:nvPr>
        </p:nvGraphicFramePr>
        <p:xfrm>
          <a:off x="458424" y="2282899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文档" r:id="rId7" imgW="4510061" imgH="1017403" progId="Word.Document.12">
                  <p:embed/>
                </p:oleObj>
              </mc:Choice>
              <mc:Fallback>
                <p:oleObj name="文档" r:id="rId7" imgW="4510061" imgH="10174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282899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354052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6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二项式定理的综合应用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69236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的系数为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A.80	B.120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C.240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D.320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的奇数次幂项的系数之和为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)(32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故展开式中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的系数为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的展开式中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的奇数次幂项分别为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其系数之和为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</a:t>
            </a: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(1)B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(2)3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870373"/>
              </p:ext>
            </p:extLst>
          </p:nvPr>
        </p:nvGraphicFramePr>
        <p:xfrm>
          <a:off x="458424" y="750661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50661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244809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两个二项展开式乘积的展开式中的特定项问题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分别对每个二项展开式进行分析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发现它们各自项的特点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找到构成展开式中特定项的组成部分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分别求解后相乘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求和即得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三项或三项以上的展开问题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应根据式子的特点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转化为二项式来解决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有些题目也可转化为计数问题解决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转化的方法通常为配方、因式分解、项与项结合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项与项结合时要注意合理性和简捷性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50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12495"/>
            <a:ext cx="11430000" cy="29792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的系数为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	B.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C.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D.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</a:t>
            </a: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案</a:t>
            </a:r>
            <a:r>
              <a:rPr lang="en-US" altLang="zh-CN" sz="280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55841"/>
              </p:ext>
            </p:extLst>
          </p:nvPr>
        </p:nvGraphicFramePr>
        <p:xfrm>
          <a:off x="457200" y="2307387"/>
          <a:ext cx="1128077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文档" r:id="rId4" imgW="4510061" imgH="516428" progId="Word.Document.12">
                  <p:embed/>
                </p:oleObj>
              </mc:Choice>
              <mc:Fallback>
                <p:oleObj name="文档" r:id="rId4" imgW="4510061" imgH="516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2307387"/>
                        <a:ext cx="11280775" cy="129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6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>
                  <a:solidFill>
                    <a:schemeClr val="bg1"/>
                  </a:solidFill>
                </a:rPr>
                <a:t>数学建模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1319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利用二项式定理解决整除性问题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今天是星期一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天后是星期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:3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能被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457208"/>
              </p:ext>
            </p:extLst>
          </p:nvPr>
        </p:nvGraphicFramePr>
        <p:xfrm>
          <a:off x="458424" y="2114541"/>
          <a:ext cx="11275153" cy="3707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文档" r:id="rId4" imgW="4510061" imgH="1483158" progId="Word.Document.12">
                  <p:embed/>
                </p:oleObj>
              </mc:Choice>
              <mc:Fallback>
                <p:oleObj name="文档" r:id="rId4" imgW="4510061" imgH="14831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114541"/>
                        <a:ext cx="11275153" cy="3707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754122"/>
            <a:ext cx="145103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352639"/>
              </p:ext>
            </p:extLst>
          </p:nvPr>
        </p:nvGraphicFramePr>
        <p:xfrm>
          <a:off x="458424" y="734352"/>
          <a:ext cx="11275153" cy="5191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文档" r:id="rId4" imgW="4510061" imgH="2076493" progId="Word.Document.12">
                  <p:embed/>
                </p:oleObj>
              </mc:Choice>
              <mc:Fallback>
                <p:oleObj name="文档" r:id="rId4" imgW="4510061" imgH="2076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34352"/>
                        <a:ext cx="11275153" cy="5191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576312"/>
              </p:ext>
            </p:extLst>
          </p:nvPr>
        </p:nvGraphicFramePr>
        <p:xfrm>
          <a:off x="458424" y="868709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868709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362857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整除性或求余数问题的处理方法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构造一个与题目条件有关的二项式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即把被除数的底数写成除数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或与除数密切关联的数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与某数的和或差的形式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利用二项式定理展开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由于前面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或后面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绝大多数项都含有除数这一因式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能被除数整除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因此只需研究后面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或前面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一、两项就可以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注意余数的范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围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利用二项式定理展开、变形后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若剩余部分是负数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则要注意转化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65289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用二项式定理证明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:3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能被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的余数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67263"/>
              </p:ext>
            </p:extLst>
          </p:nvPr>
        </p:nvGraphicFramePr>
        <p:xfrm>
          <a:off x="457200" y="256996"/>
          <a:ext cx="11249025" cy="623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文档" r:id="rId4" imgW="4510061" imgH="2497686" progId="Word.Document.12">
                  <p:embed/>
                </p:oleObj>
              </mc:Choice>
              <mc:Fallback>
                <p:oleObj name="文档" r:id="rId4" imgW="4510061" imgH="24976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256996"/>
                        <a:ext cx="11249025" cy="623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986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59123"/>
              </p:ext>
            </p:extLst>
          </p:nvPr>
        </p:nvGraphicFramePr>
        <p:xfrm>
          <a:off x="457200" y="1131888"/>
          <a:ext cx="11280775" cy="212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name="文档" r:id="rId4" imgW="4521949" imgH="851881" progId="Word.Document.12">
                  <p:embed/>
                </p:oleObj>
              </mc:Choice>
              <mc:Fallback>
                <p:oleObj name="文档" r:id="rId4" imgW="4521949" imgH="8518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1131888"/>
                        <a:ext cx="11280775" cy="2125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463511"/>
              </p:ext>
            </p:extLst>
          </p:nvPr>
        </p:nvGraphicFramePr>
        <p:xfrm>
          <a:off x="458424" y="3265657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265657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257622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66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725539"/>
              </p:ext>
            </p:extLst>
          </p:nvPr>
        </p:nvGraphicFramePr>
        <p:xfrm>
          <a:off x="458424" y="767078"/>
          <a:ext cx="11275153" cy="2125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文档" r:id="rId4" imgW="4510061" imgH="850291" progId="Word.Document.12">
                  <p:embed/>
                </p:oleObj>
              </mc:Choice>
              <mc:Fallback>
                <p:oleObj name="文档" r:id="rId4" imgW="4510061" imgH="8502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67078"/>
                        <a:ext cx="11275153" cy="2125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501542"/>
              </p:ext>
            </p:extLst>
          </p:nvPr>
        </p:nvGraphicFramePr>
        <p:xfrm>
          <a:off x="458424" y="2892806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9" name="文档" r:id="rId7" imgW="4510061" imgH="790994" progId="Word.Document.12">
                  <p:embed/>
                </p:oleObj>
              </mc:Choice>
              <mc:Fallback>
                <p:oleObj name="文档" r:id="rId7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892806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957706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917151"/>
              </p:ext>
            </p:extLst>
          </p:nvPr>
        </p:nvGraphicFramePr>
        <p:xfrm>
          <a:off x="458424" y="399411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2" name="文档" r:id="rId4" imgW="4521949" imgH="792181" progId="Word.Document.12">
                  <p:embed/>
                </p:oleObj>
              </mc:Choice>
              <mc:Fallback>
                <p:oleObj name="文档" r:id="rId4" imgW="4521949" imgH="7921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99411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00715"/>
              </p:ext>
            </p:extLst>
          </p:nvPr>
        </p:nvGraphicFramePr>
        <p:xfrm>
          <a:off x="458424" y="2376896"/>
          <a:ext cx="11275153" cy="296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3" name="文档" r:id="rId7" imgW="4510061" imgH="1186670" progId="Word.Document.12">
                  <p:embed/>
                </p:oleObj>
              </mc:Choice>
              <mc:Fallback>
                <p:oleObj name="文档" r:id="rId7" imgW="4510061" imgH="11866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376896"/>
                        <a:ext cx="11275153" cy="2966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280646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57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157411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的展开式中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的系数是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用数字作答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248685"/>
              </p:ext>
            </p:extLst>
          </p:nvPr>
        </p:nvGraphicFramePr>
        <p:xfrm>
          <a:off x="458424" y="2811027"/>
          <a:ext cx="11275153" cy="114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" name="文档" r:id="rId4" imgW="4510061" imgH="456250" progId="Word.Document.12">
                  <p:embed/>
                </p:oleObj>
              </mc:Choice>
              <mc:Fallback>
                <p:oleObj name="文档" r:id="rId4" imgW="4510061" imgH="4562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811027"/>
                        <a:ext cx="11275153" cy="114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4036200"/>
            <a:ext cx="145103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8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141385"/>
              </p:ext>
            </p:extLst>
          </p:nvPr>
        </p:nvGraphicFramePr>
        <p:xfrm>
          <a:off x="458424" y="174364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0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4364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294532"/>
              </p:ext>
            </p:extLst>
          </p:nvPr>
        </p:nvGraphicFramePr>
        <p:xfrm>
          <a:off x="468313" y="1006475"/>
          <a:ext cx="11225212" cy="506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1" name="文档" r:id="rId7" imgW="4510061" imgH="2040513" progId="Word.Document.12">
                  <p:embed/>
                </p:oleObj>
              </mc:Choice>
              <mc:Fallback>
                <p:oleObj name="文档" r:id="rId7" imgW="4510061" imgH="20405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313" y="1006475"/>
                        <a:ext cx="11225212" cy="5062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88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120</TotalTime>
  <Words>1796</Words>
  <Application>Microsoft Office PowerPoint</Application>
  <PresentationFormat>宽屏</PresentationFormat>
  <Paragraphs>112</Paragraphs>
  <Slides>42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2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43</cp:revision>
  <dcterms:created xsi:type="dcterms:W3CDTF">2021-08-30T08:30:26Z</dcterms:created>
  <dcterms:modified xsi:type="dcterms:W3CDTF">2025-08-20T01:05:14Z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