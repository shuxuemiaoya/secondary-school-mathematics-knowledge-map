
<file path=[Content_Types].xml><?xml version="1.0" encoding="utf-8"?>
<Types xmlns="http://schemas.openxmlformats.org/package/2006/content-types">
  <Default Extension="png" ContentType="image/png"/>
  <Default Extension="bin" ContentType="application/vnd.openxmlformats-officedocument.oleObject"/>
  <Default Extension="emf" ContentType="image/x-emf"/>
  <Default Extension="jpeg" ContentType="image/jpeg"/>
  <Default Extension="rels" ContentType="application/vnd.openxmlformats-package.relationships+xml"/>
  <Default Extension="xml" ContentType="application/xml"/>
  <Default Extension="docx" ContentType="application/vnd.openxmlformats-officedocument.wordprocessingml.document"/>
  <Default Extension="wdp" ContentType="image/vnd.ms-photo"/>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9"/>
  </p:notesMasterIdLst>
  <p:sldIdLst>
    <p:sldId id="677" r:id="rId2"/>
    <p:sldId id="488" r:id="rId3"/>
    <p:sldId id="494" r:id="rId4"/>
    <p:sldId id="392" r:id="rId5"/>
    <p:sldId id="686" r:id="rId6"/>
    <p:sldId id="756" r:id="rId7"/>
    <p:sldId id="757" r:id="rId8"/>
    <p:sldId id="758" r:id="rId9"/>
    <p:sldId id="759" r:id="rId10"/>
    <p:sldId id="760" r:id="rId11"/>
    <p:sldId id="407" r:id="rId12"/>
    <p:sldId id="394" r:id="rId13"/>
    <p:sldId id="699" r:id="rId14"/>
    <p:sldId id="700" r:id="rId15"/>
    <p:sldId id="701" r:id="rId16"/>
    <p:sldId id="402" r:id="rId17"/>
    <p:sldId id="764" r:id="rId18"/>
    <p:sldId id="721" r:id="rId19"/>
    <p:sldId id="726" r:id="rId20"/>
    <p:sldId id="753" r:id="rId21"/>
    <p:sldId id="761" r:id="rId22"/>
    <p:sldId id="498" r:id="rId23"/>
    <p:sldId id="765" r:id="rId24"/>
    <p:sldId id="766" r:id="rId25"/>
    <p:sldId id="767" r:id="rId26"/>
    <p:sldId id="768" r:id="rId27"/>
    <p:sldId id="741" r:id="rId28"/>
    <p:sldId id="769" r:id="rId29"/>
    <p:sldId id="770" r:id="rId30"/>
    <p:sldId id="751" r:id="rId31"/>
    <p:sldId id="752" r:id="rId32"/>
    <p:sldId id="398" r:id="rId33"/>
    <p:sldId id="395" r:id="rId34"/>
    <p:sldId id="771" r:id="rId35"/>
    <p:sldId id="762" r:id="rId36"/>
    <p:sldId id="763" r:id="rId37"/>
    <p:sldId id="490" r:id="rId3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68">
          <p15:clr>
            <a:srgbClr val="A4A3A4"/>
          </p15:clr>
        </p15:guide>
        <p15:guide id="2" pos="211" userDrawn="1">
          <p15:clr>
            <a:srgbClr val="A4A3A4"/>
          </p15:clr>
        </p15:guide>
        <p15:guide id="3" orient="horz" pos="436" userDrawn="1">
          <p15:clr>
            <a:srgbClr val="A4A3A4"/>
          </p15:clr>
        </p15:guide>
        <p15:guide id="4" orient="horz" pos="777" userDrawn="1">
          <p15:clr>
            <a:srgbClr val="A4A3A4"/>
          </p15:clr>
        </p15:guide>
        <p15:guide id="5" orient="horz" pos="28" userDrawn="1">
          <p15:clr>
            <a:srgbClr val="A4A3A4"/>
          </p15:clr>
        </p15:guide>
        <p15:guide id="6" pos="25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C5B3E"/>
    <a:srgbClr val="7088DB"/>
    <a:srgbClr val="CF5B1B"/>
    <a:srgbClr val="38425D"/>
    <a:srgbClr val="4472C4"/>
    <a:srgbClr val="DFF0F5"/>
    <a:srgbClr val="4040C8"/>
    <a:srgbClr val="159470"/>
    <a:srgbClr val="157392"/>
    <a:srgbClr val="15937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4" autoAdjust="0"/>
    <p:restoredTop sz="94660"/>
  </p:normalViewPr>
  <p:slideViewPr>
    <p:cSldViewPr snapToGrid="0">
      <p:cViewPr varScale="1">
        <p:scale>
          <a:sx n="93" d="100"/>
          <a:sy n="93" d="100"/>
        </p:scale>
        <p:origin x="456" y="90"/>
      </p:cViewPr>
      <p:guideLst>
        <p:guide orient="horz" pos="368"/>
        <p:guide pos="211"/>
        <p:guide orient="horz" pos="436"/>
        <p:guide orient="horz" pos="777"/>
        <p:guide orient="horz" pos="28"/>
        <p:guide pos="257"/>
      </p:guideLst>
    </p:cSldViewPr>
  </p:slideViewPr>
  <p:notesTextViewPr>
    <p:cViewPr>
      <p:scale>
        <a:sx n="1" d="1"/>
        <a:sy n="1" d="1"/>
      </p:scale>
      <p:origin x="0" y="0"/>
    </p:cViewPr>
  </p:notesTextViewPr>
  <p:sorterViewPr>
    <p:cViewPr>
      <p:scale>
        <a:sx n="100" d="100"/>
        <a:sy n="100" d="100"/>
      </p:scale>
      <p:origin x="0" y="-9918"/>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image" Target="../media/image2.e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image" Target="../media/image4.e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image" Target="../media/image6.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9.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image" Target="../media/image12.emf"/><Relationship Id="rId1" Type="http://schemas.openxmlformats.org/officeDocument/2006/relationships/image" Target="../media/image11.emf"/></Relationships>
</file>

<file path=ppt/drawings/_rels/vmlDrawing8.v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image" Target="../media/image14.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10.v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image" Target="../media/image17.e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image" Target="../media/image21.emf"/><Relationship Id="rId1" Type="http://schemas.openxmlformats.org/officeDocument/2006/relationships/image" Target="../media/image20.emf"/></Relationships>
</file>

<file path=ppt/drawings/_rels/vmlDrawing12.vml.rels><?xml version="1.0" encoding="UTF-8" standalone="yes"?>
<Relationships xmlns="http://schemas.openxmlformats.org/package/2006/relationships"><Relationship Id="rId2" Type="http://schemas.openxmlformats.org/officeDocument/2006/relationships/image" Target="../media/image24.emf"/><Relationship Id="rId1" Type="http://schemas.openxmlformats.org/officeDocument/2006/relationships/image" Target="../media/image23.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25.e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26.e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27.e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28.e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29.e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30.emf"/></Relationships>
</file>

<file path=ppt/drawings/_rels/vmlDrawing20.vml.rels><?xml version="1.0" encoding="UTF-8" standalone="yes"?>
<Relationships xmlns="http://schemas.openxmlformats.org/package/2006/relationships"><Relationship Id="rId2" Type="http://schemas.openxmlformats.org/officeDocument/2006/relationships/image" Target="../media/image32.emf"/><Relationship Id="rId1" Type="http://schemas.openxmlformats.org/officeDocument/2006/relationships/image" Target="../media/image31.e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33.emf"/></Relationships>
</file>

<file path=ppt/drawings/_rels/vmlDrawing22.vml.rels><?xml version="1.0" encoding="UTF-8" standalone="yes"?>
<Relationships xmlns="http://schemas.openxmlformats.org/package/2006/relationships"><Relationship Id="rId2" Type="http://schemas.openxmlformats.org/officeDocument/2006/relationships/image" Target="../media/image35.emf"/><Relationship Id="rId1" Type="http://schemas.openxmlformats.org/officeDocument/2006/relationships/image" Target="../media/image34.emf"/></Relationships>
</file>

<file path=ppt/drawings/_rels/vmlDrawing23.vml.rels><?xml version="1.0" encoding="UTF-8" standalone="yes"?>
<Relationships xmlns="http://schemas.openxmlformats.org/package/2006/relationships"><Relationship Id="rId2" Type="http://schemas.openxmlformats.org/officeDocument/2006/relationships/image" Target="../media/image37.emf"/><Relationship Id="rId1" Type="http://schemas.openxmlformats.org/officeDocument/2006/relationships/image" Target="../media/image36.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44B3386-1164-4DE5-87D6-99DD641BC976}" type="datetimeFigureOut">
              <a:rPr lang="zh-CN" altLang="en-US" smtClean="0"/>
              <a:t>2025-08-20</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5BDB411-4171-48A7-B819-B87F89F6C7EE}" type="slidenum">
              <a:rPr lang="zh-CN" altLang="en-US" smtClean="0"/>
              <a:t>‹#›</a:t>
            </a:fld>
            <a:endParaRPr lang="zh-CN" altLang="en-US"/>
          </a:p>
        </p:txBody>
      </p:sp>
    </p:spTree>
    <p:extLst>
      <p:ext uri="{BB962C8B-B14F-4D97-AF65-F5344CB8AC3E}">
        <p14:creationId xmlns:p14="http://schemas.microsoft.com/office/powerpoint/2010/main" val="12544889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slide" Target="../slides/slide16.xml"/><Relationship Id="rId2" Type="http://schemas.openxmlformats.org/officeDocument/2006/relationships/slide" Target="../slides/slide12.xml"/><Relationship Id="rId1" Type="http://schemas.openxmlformats.org/officeDocument/2006/relationships/slideMaster" Target="../slideMasters/slideMaster1.xml"/><Relationship Id="rId5" Type="http://schemas.openxmlformats.org/officeDocument/2006/relationships/slide" Target="../slides/slide27.xml"/><Relationship Id="rId4" Type="http://schemas.openxmlformats.org/officeDocument/2006/relationships/slide" Target="../slides/slide2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6_标题幻灯片">
    <p:spTree>
      <p:nvGrpSpPr>
        <p:cNvPr id="1" name=""/>
        <p:cNvGrpSpPr/>
        <p:nvPr/>
      </p:nvGrpSpPr>
      <p:grpSpPr>
        <a:xfrm>
          <a:off x="0" y="0"/>
          <a:ext cx="0" cy="0"/>
          <a:chOff x="0" y="0"/>
          <a:chExt cx="0" cy="0"/>
        </a:xfrm>
      </p:grpSpPr>
      <p:sp>
        <p:nvSpPr>
          <p:cNvPr id="7" name="圆角矩形 6">
            <a:hlinkClick r:id="rId2" action="ppaction://hlinksldjump"/>
          </p:cNvPr>
          <p:cNvSpPr/>
          <p:nvPr userDrawn="1"/>
        </p:nvSpPr>
        <p:spPr>
          <a:xfrm>
            <a:off x="7803007" y="6512560"/>
            <a:ext cx="984481"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smtClean="0">
                <a:ln>
                  <a:solidFill>
                    <a:schemeClr val="bg1"/>
                  </a:solidFill>
                </a:ln>
                <a:solidFill>
                  <a:schemeClr val="bg1"/>
                </a:solidFill>
              </a:rPr>
              <a:t>探究一</a:t>
            </a:r>
            <a:endParaRPr lang="zh-CN" altLang="en-US" sz="1400" dirty="0">
              <a:ln>
                <a:solidFill>
                  <a:schemeClr val="bg1"/>
                </a:solidFill>
              </a:ln>
              <a:solidFill>
                <a:schemeClr val="bg1"/>
              </a:solidFill>
            </a:endParaRPr>
          </a:p>
        </p:txBody>
      </p:sp>
      <p:sp>
        <p:nvSpPr>
          <p:cNvPr id="8" name="圆角矩形 7">
            <a:hlinkClick r:id="rId3" action="ppaction://hlinksldjump"/>
          </p:cNvPr>
          <p:cNvSpPr/>
          <p:nvPr userDrawn="1"/>
        </p:nvSpPr>
        <p:spPr>
          <a:xfrm>
            <a:off x="8869351" y="6512560"/>
            <a:ext cx="984481"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zh-CN" altLang="en-US" sz="1400" dirty="0" smtClean="0">
                <a:ln>
                  <a:solidFill>
                    <a:schemeClr val="bg1"/>
                  </a:solidFill>
                </a:ln>
                <a:solidFill>
                  <a:schemeClr val="bg1"/>
                </a:solidFill>
              </a:rPr>
              <a:t>探究二</a:t>
            </a:r>
            <a:endParaRPr lang="zh-CN" altLang="en-US" sz="1400" dirty="0">
              <a:ln>
                <a:solidFill>
                  <a:schemeClr val="bg1"/>
                </a:solidFill>
              </a:ln>
              <a:solidFill>
                <a:schemeClr val="bg1"/>
              </a:solidFill>
            </a:endParaRPr>
          </a:p>
        </p:txBody>
      </p:sp>
      <p:sp>
        <p:nvSpPr>
          <p:cNvPr id="9" name="圆角矩形 8">
            <a:hlinkClick r:id="rId4" action="ppaction://hlinksldjump"/>
          </p:cNvPr>
          <p:cNvSpPr/>
          <p:nvPr userDrawn="1"/>
        </p:nvSpPr>
        <p:spPr>
          <a:xfrm>
            <a:off x="9935695" y="6512560"/>
            <a:ext cx="984481"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zh-CN" altLang="en-US" sz="1400" dirty="0" smtClean="0">
                <a:ln>
                  <a:solidFill>
                    <a:schemeClr val="bg1"/>
                  </a:solidFill>
                </a:ln>
                <a:solidFill>
                  <a:schemeClr val="bg1"/>
                </a:solidFill>
              </a:rPr>
              <a:t>探究三</a:t>
            </a:r>
            <a:endParaRPr lang="zh-CN" altLang="en-US" sz="1400" dirty="0">
              <a:ln>
                <a:solidFill>
                  <a:schemeClr val="bg1"/>
                </a:solidFill>
              </a:ln>
              <a:solidFill>
                <a:schemeClr val="bg1"/>
              </a:solidFill>
            </a:endParaRPr>
          </a:p>
        </p:txBody>
      </p:sp>
      <p:sp>
        <p:nvSpPr>
          <p:cNvPr id="6" name="圆角矩形 5">
            <a:hlinkClick r:id="rId5" action="ppaction://hlinksldjump"/>
          </p:cNvPr>
          <p:cNvSpPr/>
          <p:nvPr userDrawn="1"/>
        </p:nvSpPr>
        <p:spPr>
          <a:xfrm>
            <a:off x="11002039" y="6512560"/>
            <a:ext cx="984481"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zh-CN" altLang="en-US" sz="1400" dirty="0" smtClean="0">
                <a:ln>
                  <a:solidFill>
                    <a:schemeClr val="bg1"/>
                  </a:solidFill>
                </a:ln>
                <a:solidFill>
                  <a:schemeClr val="bg1"/>
                </a:solidFill>
              </a:rPr>
              <a:t>易错辨析</a:t>
            </a:r>
            <a:endParaRPr lang="zh-CN" altLang="en-US" sz="1400" dirty="0">
              <a:ln>
                <a:solidFill>
                  <a:schemeClr val="bg1"/>
                </a:solidFill>
              </a:ln>
              <a:solidFill>
                <a:schemeClr val="bg1"/>
              </a:solidFill>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pattFill prst="lgConfetti">
          <a:fgClr>
            <a:srgbClr val="E8F4E9"/>
          </a:fgClr>
          <a:bgClr>
            <a:schemeClr val="bg1"/>
          </a:bgClr>
        </a:patt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61" r:id="rId3"/>
  </p:sldLayoutIdLst>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 Target="slide11.xml"/><Relationship Id="rId2" Type="http://schemas.openxmlformats.org/officeDocument/2006/relationships/slide" Target="slide4.xml"/><Relationship Id="rId1" Type="http://schemas.openxmlformats.org/officeDocument/2006/relationships/slideLayout" Target="../slideLayouts/slideLayout1.xml"/><Relationship Id="rId4" Type="http://schemas.openxmlformats.org/officeDocument/2006/relationships/slide" Target="slide3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8" Type="http://schemas.openxmlformats.org/officeDocument/2006/relationships/image" Target="../media/image3.emf"/><Relationship Id="rId3" Type="http://schemas.openxmlformats.org/officeDocument/2006/relationships/oleObject" Target="../embeddings/oleObject1.bin"/><Relationship Id="rId7" Type="http://schemas.openxmlformats.org/officeDocument/2006/relationships/package" Target="../embeddings/Microsoft_Word___2.docx"/><Relationship Id="rId2" Type="http://schemas.openxmlformats.org/officeDocument/2006/relationships/slideLayout" Target="../slideLayouts/slideLayout3.xml"/><Relationship Id="rId1" Type="http://schemas.openxmlformats.org/officeDocument/2006/relationships/vmlDrawing" Target="../drawings/vmlDrawing1.vml"/><Relationship Id="rId6" Type="http://schemas.openxmlformats.org/officeDocument/2006/relationships/oleObject" Target="../embeddings/oleObject2.bin"/><Relationship Id="rId5" Type="http://schemas.openxmlformats.org/officeDocument/2006/relationships/image" Target="../media/image2.emf"/><Relationship Id="rId4" Type="http://schemas.openxmlformats.org/officeDocument/2006/relationships/package" Target="../embeddings/Microsoft_Word___1.docx"/></Relationships>
</file>

<file path=ppt/slides/_rels/slide8.xml.rels><?xml version="1.0" encoding="UTF-8" standalone="yes"?>
<Relationships xmlns="http://schemas.openxmlformats.org/package/2006/relationships"><Relationship Id="rId8" Type="http://schemas.openxmlformats.org/officeDocument/2006/relationships/image" Target="../media/image5.emf"/><Relationship Id="rId3" Type="http://schemas.openxmlformats.org/officeDocument/2006/relationships/oleObject" Target="../embeddings/oleObject3.bin"/><Relationship Id="rId7" Type="http://schemas.openxmlformats.org/officeDocument/2006/relationships/package" Target="../embeddings/Microsoft_Word___4.docx"/><Relationship Id="rId2" Type="http://schemas.openxmlformats.org/officeDocument/2006/relationships/slideLayout" Target="../slideLayouts/slideLayout3.xml"/><Relationship Id="rId1" Type="http://schemas.openxmlformats.org/officeDocument/2006/relationships/vmlDrawing" Target="../drawings/vmlDrawing2.vml"/><Relationship Id="rId6" Type="http://schemas.openxmlformats.org/officeDocument/2006/relationships/oleObject" Target="../embeddings/oleObject4.bin"/><Relationship Id="rId5" Type="http://schemas.openxmlformats.org/officeDocument/2006/relationships/image" Target="../media/image4.emf"/><Relationship Id="rId4" Type="http://schemas.openxmlformats.org/officeDocument/2006/relationships/package" Target="../embeddings/Microsoft_Word___3.docx"/></Relationships>
</file>

<file path=ppt/slides/_rels/slide9.xml.rels><?xml version="1.0" encoding="UTF-8" standalone="yes"?>
<Relationships xmlns="http://schemas.openxmlformats.org/package/2006/relationships"><Relationship Id="rId8" Type="http://schemas.openxmlformats.org/officeDocument/2006/relationships/image" Target="../media/image7.emf"/><Relationship Id="rId3" Type="http://schemas.openxmlformats.org/officeDocument/2006/relationships/oleObject" Target="../embeddings/oleObject5.bin"/><Relationship Id="rId7" Type="http://schemas.openxmlformats.org/officeDocument/2006/relationships/package" Target="../embeddings/Microsoft_Word___6.docx"/><Relationship Id="rId2" Type="http://schemas.openxmlformats.org/officeDocument/2006/relationships/slideLayout" Target="../slideLayouts/slideLayout3.xml"/><Relationship Id="rId1" Type="http://schemas.openxmlformats.org/officeDocument/2006/relationships/vmlDrawing" Target="../drawings/vmlDrawing3.vml"/><Relationship Id="rId6" Type="http://schemas.openxmlformats.org/officeDocument/2006/relationships/oleObject" Target="../embeddings/oleObject6.bin"/><Relationship Id="rId5" Type="http://schemas.openxmlformats.org/officeDocument/2006/relationships/image" Target="../media/image6.emf"/><Relationship Id="rId4" Type="http://schemas.openxmlformats.org/officeDocument/2006/relationships/package" Target="../embeddings/Microsoft_Word___5.docx"/></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3.xml"/><Relationship Id="rId1" Type="http://schemas.openxmlformats.org/officeDocument/2006/relationships/vmlDrawing" Target="../drawings/vmlDrawing4.vml"/><Relationship Id="rId5" Type="http://schemas.openxmlformats.org/officeDocument/2006/relationships/image" Target="../media/image8.emf"/><Relationship Id="rId4" Type="http://schemas.openxmlformats.org/officeDocument/2006/relationships/package" Target="../embeddings/Microsoft_Word___7.docx"/></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2.xml"/><Relationship Id="rId1" Type="http://schemas.openxmlformats.org/officeDocument/2006/relationships/vmlDrawing" Target="../drawings/vmlDrawing5.vml"/><Relationship Id="rId5" Type="http://schemas.openxmlformats.org/officeDocument/2006/relationships/image" Target="../media/image9.emf"/><Relationship Id="rId4" Type="http://schemas.openxmlformats.org/officeDocument/2006/relationships/package" Target="../embeddings/Microsoft_Word___8.docx"/></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2.xml"/><Relationship Id="rId1" Type="http://schemas.openxmlformats.org/officeDocument/2006/relationships/vmlDrawing" Target="../drawings/vmlDrawing6.vml"/><Relationship Id="rId5" Type="http://schemas.openxmlformats.org/officeDocument/2006/relationships/image" Target="../media/image10.emf"/><Relationship Id="rId4" Type="http://schemas.openxmlformats.org/officeDocument/2006/relationships/package" Target="../embeddings/Microsoft_Word___9.docx"/></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8" Type="http://schemas.openxmlformats.org/officeDocument/2006/relationships/image" Target="../media/image12.emf"/><Relationship Id="rId3" Type="http://schemas.openxmlformats.org/officeDocument/2006/relationships/oleObject" Target="../embeddings/oleObject10.bin"/><Relationship Id="rId7" Type="http://schemas.openxmlformats.org/officeDocument/2006/relationships/package" Target="../embeddings/Microsoft_Word___11.docx"/><Relationship Id="rId2" Type="http://schemas.openxmlformats.org/officeDocument/2006/relationships/slideLayout" Target="../slideLayouts/slideLayout2.xml"/><Relationship Id="rId1" Type="http://schemas.openxmlformats.org/officeDocument/2006/relationships/vmlDrawing" Target="../drawings/vmlDrawing7.vml"/><Relationship Id="rId6" Type="http://schemas.openxmlformats.org/officeDocument/2006/relationships/oleObject" Target="../embeddings/oleObject11.bin"/><Relationship Id="rId11" Type="http://schemas.openxmlformats.org/officeDocument/2006/relationships/image" Target="../media/image13.emf"/><Relationship Id="rId5" Type="http://schemas.openxmlformats.org/officeDocument/2006/relationships/image" Target="../media/image11.emf"/><Relationship Id="rId10" Type="http://schemas.openxmlformats.org/officeDocument/2006/relationships/package" Target="../embeddings/Microsoft_Word___12.docx"/><Relationship Id="rId4" Type="http://schemas.openxmlformats.org/officeDocument/2006/relationships/package" Target="../embeddings/Microsoft_Word___10.docx"/><Relationship Id="rId9" Type="http://schemas.openxmlformats.org/officeDocument/2006/relationships/oleObject" Target="../embeddings/oleObject12.bin"/></Relationships>
</file>

<file path=ppt/slides/_rels/slide17.xml.rels><?xml version="1.0" encoding="UTF-8" standalone="yes"?>
<Relationships xmlns="http://schemas.openxmlformats.org/package/2006/relationships"><Relationship Id="rId8" Type="http://schemas.openxmlformats.org/officeDocument/2006/relationships/image" Target="../media/image15.emf"/><Relationship Id="rId3" Type="http://schemas.openxmlformats.org/officeDocument/2006/relationships/oleObject" Target="../embeddings/oleObject13.bin"/><Relationship Id="rId7" Type="http://schemas.openxmlformats.org/officeDocument/2006/relationships/package" Target="../embeddings/Microsoft_Word___14.docx"/><Relationship Id="rId2" Type="http://schemas.openxmlformats.org/officeDocument/2006/relationships/slideLayout" Target="../slideLayouts/slideLayout2.xml"/><Relationship Id="rId1" Type="http://schemas.openxmlformats.org/officeDocument/2006/relationships/vmlDrawing" Target="../drawings/vmlDrawing8.vml"/><Relationship Id="rId6" Type="http://schemas.openxmlformats.org/officeDocument/2006/relationships/oleObject" Target="../embeddings/oleObject14.bin"/><Relationship Id="rId5" Type="http://schemas.openxmlformats.org/officeDocument/2006/relationships/image" Target="../media/image14.emf"/><Relationship Id="rId4" Type="http://schemas.openxmlformats.org/officeDocument/2006/relationships/package" Target="../embeddings/Microsoft_Word___13.docx"/></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Layout" Target="../slideLayouts/slideLayout2.xml"/><Relationship Id="rId1" Type="http://schemas.openxmlformats.org/officeDocument/2006/relationships/vmlDrawing" Target="../drawings/vmlDrawing9.vml"/><Relationship Id="rId5" Type="http://schemas.openxmlformats.org/officeDocument/2006/relationships/image" Target="../media/image16.emf"/><Relationship Id="rId4" Type="http://schemas.openxmlformats.org/officeDocument/2006/relationships/package" Target="../embeddings/Microsoft_Word___15.docx"/></Relationships>
</file>

<file path=ppt/slides/_rels/slide19.xml.rels><?xml version="1.0" encoding="UTF-8" standalone="yes"?>
<Relationships xmlns="http://schemas.openxmlformats.org/package/2006/relationships"><Relationship Id="rId8" Type="http://schemas.openxmlformats.org/officeDocument/2006/relationships/package" Target="../embeddings/Microsoft_Word___17.docx"/><Relationship Id="rId3" Type="http://schemas.openxmlformats.org/officeDocument/2006/relationships/image" Target="../media/image19.jpeg"/><Relationship Id="rId7" Type="http://schemas.openxmlformats.org/officeDocument/2006/relationships/oleObject" Target="../embeddings/oleObject17.bin"/><Relationship Id="rId2" Type="http://schemas.openxmlformats.org/officeDocument/2006/relationships/slideLayout" Target="../slideLayouts/slideLayout2.xml"/><Relationship Id="rId1" Type="http://schemas.openxmlformats.org/officeDocument/2006/relationships/vmlDrawing" Target="../drawings/vmlDrawing10.vml"/><Relationship Id="rId6" Type="http://schemas.openxmlformats.org/officeDocument/2006/relationships/image" Target="../media/image17.emf"/><Relationship Id="rId5" Type="http://schemas.openxmlformats.org/officeDocument/2006/relationships/package" Target="../embeddings/Microsoft_Word___16.docx"/><Relationship Id="rId4" Type="http://schemas.openxmlformats.org/officeDocument/2006/relationships/oleObject" Target="../embeddings/oleObject16.bin"/><Relationship Id="rId9" Type="http://schemas.openxmlformats.org/officeDocument/2006/relationships/image" Target="../media/image18.emf"/></Relationships>
</file>

<file path=ppt/slides/_rels/slide20.xml.rels><?xml version="1.0" encoding="UTF-8" standalone="yes"?>
<Relationships xmlns="http://schemas.openxmlformats.org/package/2006/relationships"><Relationship Id="rId8" Type="http://schemas.openxmlformats.org/officeDocument/2006/relationships/image" Target="../media/image21.emf"/><Relationship Id="rId3" Type="http://schemas.openxmlformats.org/officeDocument/2006/relationships/oleObject" Target="../embeddings/oleObject18.bin"/><Relationship Id="rId7" Type="http://schemas.openxmlformats.org/officeDocument/2006/relationships/package" Target="../embeddings/Microsoft_Word___19.docx"/><Relationship Id="rId2" Type="http://schemas.openxmlformats.org/officeDocument/2006/relationships/slideLayout" Target="../slideLayouts/slideLayout2.xml"/><Relationship Id="rId1" Type="http://schemas.openxmlformats.org/officeDocument/2006/relationships/vmlDrawing" Target="../drawings/vmlDrawing11.vml"/><Relationship Id="rId6" Type="http://schemas.openxmlformats.org/officeDocument/2006/relationships/oleObject" Target="../embeddings/oleObject19.bin"/><Relationship Id="rId11" Type="http://schemas.openxmlformats.org/officeDocument/2006/relationships/image" Target="../media/image22.emf"/><Relationship Id="rId5" Type="http://schemas.openxmlformats.org/officeDocument/2006/relationships/image" Target="../media/image20.emf"/><Relationship Id="rId10" Type="http://schemas.openxmlformats.org/officeDocument/2006/relationships/package" Target="../embeddings/Microsoft_Word___20.docx"/><Relationship Id="rId4" Type="http://schemas.openxmlformats.org/officeDocument/2006/relationships/package" Target="../embeddings/Microsoft_Word___18.docx"/><Relationship Id="rId9" Type="http://schemas.openxmlformats.org/officeDocument/2006/relationships/oleObject" Target="../embeddings/oleObject20.bin"/></Relationships>
</file>

<file path=ppt/slides/_rels/slide21.xml.rels><?xml version="1.0" encoding="UTF-8" standalone="yes"?>
<Relationships xmlns="http://schemas.openxmlformats.org/package/2006/relationships"><Relationship Id="rId8" Type="http://schemas.openxmlformats.org/officeDocument/2006/relationships/image" Target="../media/image24.emf"/><Relationship Id="rId3" Type="http://schemas.openxmlformats.org/officeDocument/2006/relationships/oleObject" Target="../embeddings/oleObject21.bin"/><Relationship Id="rId7" Type="http://schemas.openxmlformats.org/officeDocument/2006/relationships/package" Target="../embeddings/Microsoft_Word___22.docx"/><Relationship Id="rId2" Type="http://schemas.openxmlformats.org/officeDocument/2006/relationships/slideLayout" Target="../slideLayouts/slideLayout2.xml"/><Relationship Id="rId1" Type="http://schemas.openxmlformats.org/officeDocument/2006/relationships/vmlDrawing" Target="../drawings/vmlDrawing12.vml"/><Relationship Id="rId6" Type="http://schemas.openxmlformats.org/officeDocument/2006/relationships/oleObject" Target="../embeddings/oleObject22.bin"/><Relationship Id="rId5" Type="http://schemas.openxmlformats.org/officeDocument/2006/relationships/image" Target="../media/image23.emf"/><Relationship Id="rId4" Type="http://schemas.openxmlformats.org/officeDocument/2006/relationships/package" Target="../embeddings/Microsoft_Word___21.docx"/></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23.bin"/><Relationship Id="rId2" Type="http://schemas.openxmlformats.org/officeDocument/2006/relationships/slideLayout" Target="../slideLayouts/slideLayout2.xml"/><Relationship Id="rId1" Type="http://schemas.openxmlformats.org/officeDocument/2006/relationships/vmlDrawing" Target="../drawings/vmlDrawing13.vml"/><Relationship Id="rId5" Type="http://schemas.openxmlformats.org/officeDocument/2006/relationships/image" Target="../media/image25.emf"/><Relationship Id="rId4" Type="http://schemas.openxmlformats.org/officeDocument/2006/relationships/package" Target="../embeddings/Microsoft_Word___23.docx"/></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24.bin"/><Relationship Id="rId2" Type="http://schemas.openxmlformats.org/officeDocument/2006/relationships/slideLayout" Target="../slideLayouts/slideLayout2.xml"/><Relationship Id="rId1" Type="http://schemas.openxmlformats.org/officeDocument/2006/relationships/vmlDrawing" Target="../drawings/vmlDrawing14.vml"/><Relationship Id="rId5" Type="http://schemas.openxmlformats.org/officeDocument/2006/relationships/image" Target="../media/image20.emf"/><Relationship Id="rId4" Type="http://schemas.openxmlformats.org/officeDocument/2006/relationships/package" Target="../embeddings/Microsoft_Word___24.docx"/></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25.bin"/><Relationship Id="rId2" Type="http://schemas.openxmlformats.org/officeDocument/2006/relationships/slideLayout" Target="../slideLayouts/slideLayout2.xml"/><Relationship Id="rId1" Type="http://schemas.openxmlformats.org/officeDocument/2006/relationships/vmlDrawing" Target="../drawings/vmlDrawing15.vml"/><Relationship Id="rId5" Type="http://schemas.openxmlformats.org/officeDocument/2006/relationships/image" Target="../media/image26.emf"/><Relationship Id="rId4" Type="http://schemas.openxmlformats.org/officeDocument/2006/relationships/package" Target="../embeddings/Microsoft_Word___25.docx"/></Relationships>
</file>

<file path=ppt/slides/_rels/slide27.xml.rels><?xml version="1.0" encoding="UTF-8" standalone="yes"?>
<Relationships xmlns="http://schemas.openxmlformats.org/package/2006/relationships"><Relationship Id="rId3" Type="http://schemas.openxmlformats.org/officeDocument/2006/relationships/oleObject" Target="../embeddings/oleObject26.bin"/><Relationship Id="rId2" Type="http://schemas.openxmlformats.org/officeDocument/2006/relationships/slideLayout" Target="../slideLayouts/slideLayout2.xml"/><Relationship Id="rId1" Type="http://schemas.openxmlformats.org/officeDocument/2006/relationships/vmlDrawing" Target="../drawings/vmlDrawing16.vml"/><Relationship Id="rId5" Type="http://schemas.openxmlformats.org/officeDocument/2006/relationships/image" Target="../media/image27.emf"/><Relationship Id="rId4" Type="http://schemas.openxmlformats.org/officeDocument/2006/relationships/package" Target="../embeddings/Microsoft_Word___26.docx"/></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slideLayout" Target="../slideLayouts/slideLayout2.xml"/><Relationship Id="rId1" Type="http://schemas.openxmlformats.org/officeDocument/2006/relationships/vmlDrawing" Target="../drawings/vmlDrawing17.vml"/><Relationship Id="rId5" Type="http://schemas.openxmlformats.org/officeDocument/2006/relationships/image" Target="../media/image28.emf"/><Relationship Id="rId4" Type="http://schemas.openxmlformats.org/officeDocument/2006/relationships/package" Target="../embeddings/Microsoft_Word___27.docx"/></Relationships>
</file>

<file path=ppt/slides/_rels/slide29.xml.rels><?xml version="1.0" encoding="UTF-8" standalone="yes"?>
<Relationships xmlns="http://schemas.openxmlformats.org/package/2006/relationships"><Relationship Id="rId3" Type="http://schemas.openxmlformats.org/officeDocument/2006/relationships/oleObject" Target="../embeddings/oleObject28.bin"/><Relationship Id="rId2" Type="http://schemas.openxmlformats.org/officeDocument/2006/relationships/slideLayout" Target="../slideLayouts/slideLayout2.xml"/><Relationship Id="rId1" Type="http://schemas.openxmlformats.org/officeDocument/2006/relationships/vmlDrawing" Target="../drawings/vmlDrawing18.vml"/><Relationship Id="rId5" Type="http://schemas.openxmlformats.org/officeDocument/2006/relationships/image" Target="../media/image29.emf"/><Relationship Id="rId4" Type="http://schemas.openxmlformats.org/officeDocument/2006/relationships/package" Target="../embeddings/Microsoft_Word___28.docx"/></Relationships>
</file>

<file path=ppt/slides/_rels/slide30.xml.rels><?xml version="1.0" encoding="UTF-8" standalone="yes"?>
<Relationships xmlns="http://schemas.openxmlformats.org/package/2006/relationships"><Relationship Id="rId3" Type="http://schemas.openxmlformats.org/officeDocument/2006/relationships/oleObject" Target="../embeddings/oleObject29.bin"/><Relationship Id="rId2" Type="http://schemas.openxmlformats.org/officeDocument/2006/relationships/slideLayout" Target="../slideLayouts/slideLayout2.xml"/><Relationship Id="rId1" Type="http://schemas.openxmlformats.org/officeDocument/2006/relationships/vmlDrawing" Target="../drawings/vmlDrawing19.vml"/><Relationship Id="rId5" Type="http://schemas.openxmlformats.org/officeDocument/2006/relationships/image" Target="../media/image30.emf"/><Relationship Id="rId4" Type="http://schemas.openxmlformats.org/officeDocument/2006/relationships/package" Target="../embeddings/Microsoft_Word___29.docx"/></Relationships>
</file>

<file path=ppt/slides/_rels/slide31.xml.rels><?xml version="1.0" encoding="UTF-8" standalone="yes"?>
<Relationships xmlns="http://schemas.openxmlformats.org/package/2006/relationships"><Relationship Id="rId8" Type="http://schemas.openxmlformats.org/officeDocument/2006/relationships/image" Target="../media/image32.emf"/><Relationship Id="rId3" Type="http://schemas.openxmlformats.org/officeDocument/2006/relationships/oleObject" Target="../embeddings/oleObject30.bin"/><Relationship Id="rId7" Type="http://schemas.openxmlformats.org/officeDocument/2006/relationships/package" Target="../embeddings/Microsoft_Word___31.docx"/><Relationship Id="rId2" Type="http://schemas.openxmlformats.org/officeDocument/2006/relationships/slideLayout" Target="../slideLayouts/slideLayout2.xml"/><Relationship Id="rId1" Type="http://schemas.openxmlformats.org/officeDocument/2006/relationships/vmlDrawing" Target="../drawings/vmlDrawing20.vml"/><Relationship Id="rId6" Type="http://schemas.openxmlformats.org/officeDocument/2006/relationships/oleObject" Target="../embeddings/oleObject31.bin"/><Relationship Id="rId5" Type="http://schemas.openxmlformats.org/officeDocument/2006/relationships/image" Target="../media/image31.emf"/><Relationship Id="rId4" Type="http://schemas.openxmlformats.org/officeDocument/2006/relationships/package" Target="../embeddings/Microsoft_Word___30.docx"/></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oleObject" Target="../embeddings/oleObject32.bin"/><Relationship Id="rId2" Type="http://schemas.openxmlformats.org/officeDocument/2006/relationships/slideLayout" Target="../slideLayouts/slideLayout3.xml"/><Relationship Id="rId1" Type="http://schemas.openxmlformats.org/officeDocument/2006/relationships/vmlDrawing" Target="../drawings/vmlDrawing21.vml"/><Relationship Id="rId5" Type="http://schemas.openxmlformats.org/officeDocument/2006/relationships/image" Target="../media/image33.emf"/><Relationship Id="rId4" Type="http://schemas.openxmlformats.org/officeDocument/2006/relationships/package" Target="../embeddings/Microsoft_Word___32.docx"/></Relationships>
</file>

<file path=ppt/slides/_rels/slide35.xml.rels><?xml version="1.0" encoding="UTF-8" standalone="yes"?>
<Relationships xmlns="http://schemas.openxmlformats.org/package/2006/relationships"><Relationship Id="rId8" Type="http://schemas.openxmlformats.org/officeDocument/2006/relationships/image" Target="../media/image35.emf"/><Relationship Id="rId3" Type="http://schemas.openxmlformats.org/officeDocument/2006/relationships/oleObject" Target="../embeddings/oleObject33.bin"/><Relationship Id="rId7" Type="http://schemas.openxmlformats.org/officeDocument/2006/relationships/package" Target="../embeddings/Microsoft_Word___34.docx"/><Relationship Id="rId2" Type="http://schemas.openxmlformats.org/officeDocument/2006/relationships/slideLayout" Target="../slideLayouts/slideLayout3.xml"/><Relationship Id="rId1" Type="http://schemas.openxmlformats.org/officeDocument/2006/relationships/vmlDrawing" Target="../drawings/vmlDrawing22.vml"/><Relationship Id="rId6" Type="http://schemas.openxmlformats.org/officeDocument/2006/relationships/oleObject" Target="../embeddings/oleObject34.bin"/><Relationship Id="rId5" Type="http://schemas.openxmlformats.org/officeDocument/2006/relationships/image" Target="../media/image34.emf"/><Relationship Id="rId4" Type="http://schemas.openxmlformats.org/officeDocument/2006/relationships/package" Target="../embeddings/Microsoft_Word___33.docx"/></Relationships>
</file>

<file path=ppt/slides/_rels/slide36.xml.rels><?xml version="1.0" encoding="UTF-8" standalone="yes"?>
<Relationships xmlns="http://schemas.openxmlformats.org/package/2006/relationships"><Relationship Id="rId8" Type="http://schemas.openxmlformats.org/officeDocument/2006/relationships/image" Target="../media/image37.emf"/><Relationship Id="rId3" Type="http://schemas.openxmlformats.org/officeDocument/2006/relationships/oleObject" Target="../embeddings/oleObject35.bin"/><Relationship Id="rId7" Type="http://schemas.openxmlformats.org/officeDocument/2006/relationships/package" Target="../embeddings/Microsoft_Word___36.docx"/><Relationship Id="rId2" Type="http://schemas.openxmlformats.org/officeDocument/2006/relationships/slideLayout" Target="../slideLayouts/slideLayout3.xml"/><Relationship Id="rId1" Type="http://schemas.openxmlformats.org/officeDocument/2006/relationships/vmlDrawing" Target="../drawings/vmlDrawing23.vml"/><Relationship Id="rId6" Type="http://schemas.openxmlformats.org/officeDocument/2006/relationships/oleObject" Target="../embeddings/oleObject36.bin"/><Relationship Id="rId5" Type="http://schemas.openxmlformats.org/officeDocument/2006/relationships/image" Target="../media/image36.emf"/><Relationship Id="rId4" Type="http://schemas.openxmlformats.org/officeDocument/2006/relationships/package" Target="../embeddings/Microsoft_Word___35.docx"/></Relationships>
</file>

<file path=ppt/slides/_rels/slide3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300879" y="519978"/>
            <a:ext cx="4047903" cy="461665"/>
          </a:xfrm>
          <a:prstGeom prst="rect">
            <a:avLst/>
          </a:prstGeom>
        </p:spPr>
        <p:txBody>
          <a:bodyPr wrap="none">
            <a:spAutoFit/>
          </a:bodyPr>
          <a:lstStyle/>
          <a:p>
            <a:pPr algn="dist"/>
            <a:r>
              <a:rPr lang="zh-CN" altLang="en-US" sz="2400" b="1" spc="600" dirty="0" smtClean="0">
                <a:solidFill>
                  <a:srgbClr val="757C82"/>
                </a:solidFill>
                <a:latin typeface="黑体" panose="02010609060101010101" pitchFamily="49" charset="-122"/>
                <a:ea typeface="黑体" panose="02010609060101010101" pitchFamily="49" charset="-122"/>
              </a:rPr>
              <a:t>高中同步测控优化设计</a:t>
            </a:r>
            <a:endParaRPr lang="zh-CN" altLang="en-US" sz="2400" b="1" spc="600" dirty="0">
              <a:solidFill>
                <a:srgbClr val="757C82"/>
              </a:solidFill>
              <a:latin typeface="黑体" panose="02010609060101010101" pitchFamily="49" charset="-122"/>
              <a:ea typeface="黑体" panose="02010609060101010101" pitchFamily="49" charset="-122"/>
            </a:endParaRPr>
          </a:p>
        </p:txBody>
      </p:sp>
      <p:cxnSp>
        <p:nvCxnSpPr>
          <p:cNvPr id="3" name="直接连接符 2"/>
          <p:cNvCxnSpPr/>
          <p:nvPr/>
        </p:nvCxnSpPr>
        <p:spPr>
          <a:xfrm>
            <a:off x="2282351" y="1003843"/>
            <a:ext cx="4305485" cy="0"/>
          </a:xfrm>
          <a:prstGeom prst="line">
            <a:avLst/>
          </a:prstGeom>
          <a:ln>
            <a:solidFill>
              <a:schemeClr val="tx1"/>
            </a:solidFill>
            <a:prstDash val="lgDashDotDot"/>
            <a:headEnd type="diamond" w="med" len="med"/>
            <a:tailEnd type="diamond" w="med" len="med"/>
          </a:ln>
          <a:effectLst/>
        </p:spPr>
        <p:style>
          <a:lnRef idx="1">
            <a:schemeClr val="accent1"/>
          </a:lnRef>
          <a:fillRef idx="0">
            <a:schemeClr val="accent1"/>
          </a:fillRef>
          <a:effectRef idx="0">
            <a:schemeClr val="accent1"/>
          </a:effectRef>
          <a:fontRef idx="minor">
            <a:schemeClr val="tx1"/>
          </a:fontRef>
        </p:style>
      </p:cxnSp>
      <p:sp>
        <p:nvSpPr>
          <p:cNvPr id="4" name="矩形 3"/>
          <p:cNvSpPr/>
          <p:nvPr/>
        </p:nvSpPr>
        <p:spPr>
          <a:xfrm>
            <a:off x="2173232" y="1026313"/>
            <a:ext cx="4414604" cy="338554"/>
          </a:xfrm>
          <a:prstGeom prst="rect">
            <a:avLst/>
          </a:prstGeom>
        </p:spPr>
        <p:txBody>
          <a:bodyPr wrap="square">
            <a:spAutoFit/>
          </a:bodyPr>
          <a:lstStyle/>
          <a:p>
            <a:pPr algn="ctr"/>
            <a:r>
              <a:rPr lang="en-US" altLang="zh-CN" sz="1600" b="1" dirty="0" smtClean="0">
                <a:solidFill>
                  <a:srgbClr val="757C82"/>
                </a:solidFill>
                <a:latin typeface="黑体" panose="02010609060101010101" pitchFamily="49" charset="-122"/>
                <a:ea typeface="黑体" panose="02010609060101010101" pitchFamily="49" charset="-122"/>
              </a:rPr>
              <a:t>GAO ZHONG TONG </a:t>
            </a:r>
            <a:r>
              <a:rPr lang="en-US" altLang="zh-CN" sz="1600" b="1" dirty="0">
                <a:solidFill>
                  <a:srgbClr val="757C82"/>
                </a:solidFill>
                <a:latin typeface="黑体" panose="02010609060101010101" pitchFamily="49" charset="-122"/>
                <a:ea typeface="黑体" panose="02010609060101010101" pitchFamily="49" charset="-122"/>
              </a:rPr>
              <a:t>B</a:t>
            </a:r>
            <a:r>
              <a:rPr lang="en-US" altLang="zh-CN" sz="1600" b="1" dirty="0" smtClean="0">
                <a:solidFill>
                  <a:srgbClr val="757C82"/>
                </a:solidFill>
                <a:latin typeface="黑体" panose="02010609060101010101" pitchFamily="49" charset="-122"/>
                <a:ea typeface="黑体" panose="02010609060101010101" pitchFamily="49" charset="-122"/>
              </a:rPr>
              <a:t>U CE KONG YOU HUA SHE JI</a:t>
            </a:r>
          </a:p>
        </p:txBody>
      </p:sp>
      <p:grpSp>
        <p:nvGrpSpPr>
          <p:cNvPr id="5" name="组合 4"/>
          <p:cNvGrpSpPr/>
          <p:nvPr/>
        </p:nvGrpSpPr>
        <p:grpSpPr>
          <a:xfrm>
            <a:off x="635" y="2775585"/>
            <a:ext cx="12191365" cy="1478915"/>
            <a:chOff x="303375" y="3227146"/>
            <a:chExt cx="11560182" cy="1479076"/>
          </a:xfrm>
        </p:grpSpPr>
        <p:sp>
          <p:nvSpPr>
            <p:cNvPr id="6" name="矩形 5"/>
            <p:cNvSpPr/>
            <p:nvPr/>
          </p:nvSpPr>
          <p:spPr>
            <a:xfrm>
              <a:off x="303375" y="3227146"/>
              <a:ext cx="11560182" cy="1479076"/>
            </a:xfrm>
            <a:prstGeom prst="rect">
              <a:avLst/>
            </a:prstGeom>
            <a:solidFill>
              <a:srgbClr val="6B7278"/>
            </a:solidFill>
            <a:ln>
              <a:noFill/>
            </a:ln>
            <a:scene3d>
              <a:camera prst="orthographicFront"/>
              <a:lightRig rig="threePt" dir="t"/>
            </a:scene3d>
            <a:sp3d>
              <a:bevelT w="114300" prst="hardEdg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3665034" y="3614538"/>
              <a:ext cx="8158783" cy="645230"/>
            </a:xfrm>
            <a:prstGeom prst="rect">
              <a:avLst/>
            </a:prstGeom>
          </p:spPr>
          <p:txBody>
            <a:bodyPr wrap="square">
              <a:spAutoFit/>
            </a:bodyPr>
            <a:lstStyle/>
            <a:p>
              <a:r>
                <a:rPr lang="en-US" altLang="zh-CN" sz="3600" b="1">
                  <a:solidFill>
                    <a:schemeClr val="bg1"/>
                  </a:solidFill>
                  <a:latin typeface="华文细黑" panose="02010600040101010101" charset="-122"/>
                  <a:ea typeface="华文细黑" panose="02010600040101010101" charset="-122"/>
                </a:rPr>
                <a:t>6.2.3</a:t>
              </a:r>
              <a:r>
                <a:rPr lang="zh-CN" altLang="en-US" sz="3600" b="1">
                  <a:solidFill>
                    <a:schemeClr val="bg1"/>
                  </a:solidFill>
                  <a:latin typeface="华文细黑" panose="02010600040101010101" charset="-122"/>
                  <a:ea typeface="华文细黑" panose="02010600040101010101" charset="-122"/>
                </a:rPr>
                <a:t>　组合　</a:t>
              </a:r>
              <a:r>
                <a:rPr lang="en-US" altLang="zh-CN" sz="3600" b="1">
                  <a:solidFill>
                    <a:schemeClr val="bg1"/>
                  </a:solidFill>
                  <a:latin typeface="华文细黑" panose="02010600040101010101" charset="-122"/>
                  <a:ea typeface="华文细黑" panose="02010600040101010101" charset="-122"/>
                </a:rPr>
                <a:t>6.2.4</a:t>
              </a:r>
              <a:r>
                <a:rPr lang="zh-CN" altLang="en-US" sz="3600" b="1">
                  <a:solidFill>
                    <a:schemeClr val="bg1"/>
                  </a:solidFill>
                  <a:latin typeface="华文细黑" panose="02010600040101010101" charset="-122"/>
                  <a:ea typeface="华文细黑" panose="02010600040101010101" charset="-122"/>
                </a:rPr>
                <a:t>　组合数</a:t>
              </a:r>
            </a:p>
          </p:txBody>
        </p:sp>
      </p:grpSp>
      <p:sp>
        <p:nvSpPr>
          <p:cNvPr id="8" name="矩形 7"/>
          <p:cNvSpPr/>
          <p:nvPr/>
        </p:nvSpPr>
        <p:spPr>
          <a:xfrm>
            <a:off x="1109345" y="2277745"/>
            <a:ext cx="2282825" cy="2407920"/>
          </a:xfrm>
          <a:prstGeom prst="rect">
            <a:avLst/>
          </a:prstGeom>
          <a:solidFill>
            <a:srgbClr val="748773"/>
          </a:solidFill>
          <a:ln w="12700" cap="flat" cmpd="sng" algn="ctr">
            <a:noFill/>
            <a:prstDash val="solid"/>
            <a:miter lim="800000"/>
          </a:ln>
          <a:effectLst>
            <a:outerShdw blurRad="317500" dist="127000" dir="2700000" algn="tl" rotWithShape="0">
              <a:prstClr val="black">
                <a:alpha val="25000"/>
              </a:prstClr>
            </a:outerShdw>
          </a:effectLst>
          <a:scene3d>
            <a:camera prst="orthographicFront"/>
            <a:lightRig rig="threePt" dir="t"/>
          </a:scene3d>
          <a:sp3d>
            <a:bevelT w="101600" prst="riblet"/>
          </a:sp3d>
        </p:spPr>
        <p:txBody>
          <a:bodyPr wrap="none" rtlCol="0" anchor="ctr"/>
          <a:lstStyle/>
          <a:p>
            <a:pPr algn="ctr"/>
            <a:r>
              <a:rPr lang="zh-CN" altLang="en-US" sz="3600" b="1" kern="0" smtClean="0">
                <a:solidFill>
                  <a:schemeClr val="bg1"/>
                </a:solidFill>
                <a:latin typeface="华文细黑" panose="02010600040101010101" charset="-122"/>
                <a:ea typeface="华文细黑" panose="02010600040101010101" charset="-122"/>
                <a:cs typeface="Open Sans" panose="020B0606030504020204" pitchFamily="34" charset="0"/>
              </a:rPr>
              <a:t>第六章</a:t>
            </a:r>
            <a:endParaRPr lang="en-US" altLang="zh-CN" sz="3600" b="1" kern="0" smtClean="0">
              <a:solidFill>
                <a:schemeClr val="bg1"/>
              </a:solidFill>
              <a:latin typeface="华文细黑" panose="02010600040101010101" charset="-122"/>
              <a:ea typeface="华文细黑" panose="02010600040101010101" charset="-122"/>
              <a:cs typeface="Open Sans" panose="020B0606030504020204" pitchFamily="34" charset="0"/>
            </a:endParaRPr>
          </a:p>
          <a:p>
            <a:pPr algn="ctr"/>
            <a:r>
              <a:rPr lang="en-US" altLang="zh-CN" sz="3600" b="1" smtClean="0">
                <a:solidFill>
                  <a:schemeClr val="bg1"/>
                </a:solidFill>
                <a:latin typeface="华文细黑" panose="02010600040101010101" charset="-122"/>
                <a:ea typeface="华文细黑" panose="02010600040101010101" charset="-122"/>
              </a:rPr>
              <a:t>6.2</a:t>
            </a:r>
            <a:endParaRPr lang="en-US" altLang="zh-CN" sz="3600" b="1" kern="0" dirty="0" smtClean="0">
              <a:solidFill>
                <a:schemeClr val="bg1"/>
              </a:solidFill>
              <a:latin typeface="华文细黑" panose="02010600040101010101" charset="-122"/>
              <a:ea typeface="华文细黑" panose="02010600040101010101" charset="-122"/>
              <a:cs typeface="Open Sans" panose="020B0606030504020204" pitchFamily="34" charset="0"/>
            </a:endParaRPr>
          </a:p>
        </p:txBody>
      </p:sp>
      <p:pic>
        <p:nvPicPr>
          <p:cNvPr id="10" name="图片 9" descr="e37b0ec1d4924ecca897357d279cf883"/>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Effect>
                      <a14:saturation sat="0"/>
                    </a14:imgEffect>
                  </a14:imgLayer>
                </a14:imgProps>
              </a:ext>
            </a:extLst>
          </a:blip>
          <a:stretch>
            <a:fillRect/>
          </a:stretch>
        </p:blipFill>
        <p:spPr>
          <a:xfrm>
            <a:off x="801370" y="175260"/>
            <a:ext cx="1453515" cy="1453515"/>
          </a:xfrm>
          <a:prstGeom prst="rect">
            <a:avLst/>
          </a:prstGeom>
        </p:spPr>
      </p:pic>
      <p:sp>
        <p:nvSpPr>
          <p:cNvPr id="11" name="矩形 10"/>
          <p:cNvSpPr/>
          <p:nvPr/>
        </p:nvSpPr>
        <p:spPr>
          <a:xfrm>
            <a:off x="1001385" y="587446"/>
            <a:ext cx="1052723" cy="58701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smtClean="0">
                <a:solidFill>
                  <a:srgbClr val="757C82"/>
                </a:solidFill>
                <a:latin typeface="Times New Roman" panose="02020603050405020304" pitchFamily="18" charset="0"/>
                <a:cs typeface="Times New Roman" panose="02020603050405020304" pitchFamily="18" charset="0"/>
              </a:rPr>
              <a:t>2025</a:t>
            </a:r>
            <a:endParaRPr lang="en-US" altLang="zh-CN" sz="2800" b="1" dirty="0" smtClean="0">
              <a:solidFill>
                <a:srgbClr val="757C82"/>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4998433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bldLst>
      <p:bldP spid="2" grpId="0"/>
      <p:bldP spid="4" grpId="0"/>
      <p:bldP spid="8" grpId="0" bldLvl="0" animBg="1"/>
      <p:bldP spid="11" grpId="0" bldLvl="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nvSpPr>
        <p:spPr>
          <a:xfrm>
            <a:off x="1788494" y="1591871"/>
            <a:ext cx="942982" cy="3046988"/>
          </a:xfrm>
          <a:prstGeom prst="rect">
            <a:avLst/>
          </a:prstGeom>
          <a:noFill/>
        </p:spPr>
        <p:txBody>
          <a:bodyPr wrap="square" rtlCol="0">
            <a:spAutoFit/>
          </a:bodyPr>
          <a:lstStyle/>
          <a:p>
            <a:r>
              <a:rPr kumimoji="1" lang="zh-CN" altLang="en-US" sz="4800" smtClean="0">
                <a:solidFill>
                  <a:srgbClr val="2C3814"/>
                </a:solidFill>
                <a:cs typeface="+mn-ea"/>
                <a:sym typeface="+mn-lt"/>
              </a:rPr>
              <a:t>内容索引</a:t>
            </a:r>
            <a:endParaRPr kumimoji="1" lang="zh-CN" altLang="en-US" sz="4800" dirty="0">
              <a:solidFill>
                <a:srgbClr val="2C3814"/>
              </a:solidFill>
              <a:cs typeface="+mn-ea"/>
              <a:sym typeface="+mn-lt"/>
            </a:endParaRPr>
          </a:p>
        </p:txBody>
      </p:sp>
      <p:grpSp>
        <p:nvGrpSpPr>
          <p:cNvPr id="25" name="组合 24"/>
          <p:cNvGrpSpPr/>
          <p:nvPr/>
        </p:nvGrpSpPr>
        <p:grpSpPr>
          <a:xfrm>
            <a:off x="1378713" y="856615"/>
            <a:ext cx="1105802" cy="815646"/>
            <a:chOff x="-1604504" y="2147667"/>
            <a:chExt cx="3687215" cy="2719712"/>
          </a:xfrm>
        </p:grpSpPr>
        <p:cxnSp>
          <p:nvCxnSpPr>
            <p:cNvPr id="26" name="直接连接符 25"/>
            <p:cNvCxnSpPr/>
            <p:nvPr/>
          </p:nvCxnSpPr>
          <p:spPr>
            <a:xfrm flipH="1">
              <a:off x="-1604504" y="2687623"/>
              <a:ext cx="2592288" cy="2179756"/>
            </a:xfrm>
            <a:prstGeom prst="line">
              <a:avLst/>
            </a:prstGeom>
            <a:noFill/>
            <a:ln w="76200" cap="flat" cmpd="sng" algn="ctr">
              <a:solidFill>
                <a:schemeClr val="tx2">
                  <a:lumMod val="50000"/>
                </a:schemeClr>
              </a:solidFill>
              <a:prstDash val="solid"/>
            </a:ln>
            <a:effectLst/>
          </p:spPr>
        </p:cxnSp>
        <p:cxnSp>
          <p:nvCxnSpPr>
            <p:cNvPr id="27" name="直接连接符 26"/>
            <p:cNvCxnSpPr/>
            <p:nvPr/>
          </p:nvCxnSpPr>
          <p:spPr>
            <a:xfrm flipH="1">
              <a:off x="-509577" y="2147667"/>
              <a:ext cx="2592288" cy="2179756"/>
            </a:xfrm>
            <a:prstGeom prst="line">
              <a:avLst/>
            </a:prstGeom>
            <a:noFill/>
            <a:ln w="12700" cap="flat" cmpd="sng" algn="ctr">
              <a:solidFill>
                <a:schemeClr val="tx2">
                  <a:lumMod val="50000"/>
                </a:schemeClr>
              </a:solidFill>
              <a:prstDash val="solid"/>
            </a:ln>
            <a:effectLst/>
          </p:spPr>
        </p:cxnSp>
      </p:grpSp>
      <p:grpSp>
        <p:nvGrpSpPr>
          <p:cNvPr id="28" name="组合 27"/>
          <p:cNvGrpSpPr/>
          <p:nvPr/>
        </p:nvGrpSpPr>
        <p:grpSpPr>
          <a:xfrm flipH="1" flipV="1">
            <a:off x="1707083" y="4546456"/>
            <a:ext cx="1105803" cy="815646"/>
            <a:chOff x="-1604504" y="2147667"/>
            <a:chExt cx="3687215" cy="2719712"/>
          </a:xfrm>
        </p:grpSpPr>
        <p:cxnSp>
          <p:nvCxnSpPr>
            <p:cNvPr id="38" name="直接连接符 37"/>
            <p:cNvCxnSpPr/>
            <p:nvPr/>
          </p:nvCxnSpPr>
          <p:spPr>
            <a:xfrm flipH="1">
              <a:off x="-1604504" y="2687623"/>
              <a:ext cx="2592288" cy="2179756"/>
            </a:xfrm>
            <a:prstGeom prst="line">
              <a:avLst/>
            </a:prstGeom>
            <a:noFill/>
            <a:ln w="76200" cap="flat" cmpd="sng" algn="ctr">
              <a:solidFill>
                <a:sysClr val="windowText" lastClr="000000">
                  <a:lumMod val="85000"/>
                  <a:lumOff val="15000"/>
                </a:sysClr>
              </a:solidFill>
              <a:prstDash val="solid"/>
            </a:ln>
            <a:effectLst/>
          </p:spPr>
        </p:cxnSp>
        <p:cxnSp>
          <p:nvCxnSpPr>
            <p:cNvPr id="39" name="直接连接符 38"/>
            <p:cNvCxnSpPr/>
            <p:nvPr/>
          </p:nvCxnSpPr>
          <p:spPr>
            <a:xfrm flipH="1">
              <a:off x="-509577" y="2147667"/>
              <a:ext cx="2592288" cy="2179756"/>
            </a:xfrm>
            <a:prstGeom prst="line">
              <a:avLst/>
            </a:prstGeom>
            <a:noFill/>
            <a:ln w="12700" cap="flat" cmpd="sng" algn="ctr">
              <a:solidFill>
                <a:sysClr val="windowText" lastClr="000000">
                  <a:lumMod val="85000"/>
                  <a:lumOff val="15000"/>
                </a:sysClr>
              </a:solidFill>
              <a:prstDash val="solid"/>
            </a:ln>
            <a:effectLst/>
          </p:spPr>
        </p:cxnSp>
      </p:grpSp>
      <p:grpSp>
        <p:nvGrpSpPr>
          <p:cNvPr id="40" name="组合 39"/>
          <p:cNvGrpSpPr/>
          <p:nvPr/>
        </p:nvGrpSpPr>
        <p:grpSpPr>
          <a:xfrm>
            <a:off x="4764013" y="1194282"/>
            <a:ext cx="804581" cy="804581"/>
            <a:chOff x="3685832" y="623962"/>
            <a:chExt cx="739840" cy="739840"/>
          </a:xfrm>
        </p:grpSpPr>
        <p:sp>
          <p:nvSpPr>
            <p:cNvPr id="44" name="椭圆 43"/>
            <p:cNvSpPr/>
            <p:nvPr/>
          </p:nvSpPr>
          <p:spPr>
            <a:xfrm>
              <a:off x="3685832" y="623962"/>
              <a:ext cx="739840" cy="739840"/>
            </a:xfrm>
            <a:prstGeom prst="ellipse">
              <a:avLst/>
            </a:prstGeom>
            <a:gradFill flip="none" rotWithShape="1">
              <a:gsLst>
                <a:gs pos="0">
                  <a:srgbClr val="FFFFFF">
                    <a:lumMod val="95000"/>
                    <a:lumOff val="5000"/>
                  </a:srgbClr>
                </a:gs>
                <a:gs pos="0">
                  <a:srgbClr val="FFFFFF">
                    <a:lumMod val="75000"/>
                  </a:srgbClr>
                </a:gs>
                <a:gs pos="70000">
                  <a:srgbClr val="FAFAFA"/>
                </a:gs>
              </a:gsLst>
              <a:lin ang="8100000" scaled="1"/>
              <a:tileRect/>
            </a:gradFill>
            <a:ln w="25400" cap="flat" cmpd="sng" algn="ctr">
              <a:solidFill>
                <a:srgbClr val="FFFFFF"/>
              </a:solidFill>
              <a:prstDash val="solid"/>
            </a:ln>
            <a:effectLst>
              <a:outerShdw blurRad="254000" dist="190500" dir="8100000" algn="tr" rotWithShape="0">
                <a:prstClr val="black">
                  <a:alpha val="15000"/>
                </a:prstClr>
              </a:outerShdw>
            </a:effectLst>
          </p:spPr>
          <p:txBody>
            <a:bodyPr rtlCol="0" anchor="ct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zh-CN" altLang="en-US" sz="2135" b="0" i="0" u="none" strike="noStrike" kern="0" cap="none" spc="0" normalizeH="0" baseline="0" noProof="0" dirty="0" smtClean="0">
                <a:ln>
                  <a:noFill/>
                </a:ln>
                <a:solidFill>
                  <a:srgbClr val="E93F30"/>
                </a:solidFill>
                <a:effectLst/>
                <a:uLnTx/>
                <a:uFillTx/>
                <a:latin typeface="Arial" panose="020B0604020202020204" pitchFamily="34" charset="0"/>
              </a:endParaRPr>
            </a:p>
          </p:txBody>
        </p:sp>
        <p:sp>
          <p:nvSpPr>
            <p:cNvPr id="45" name="TextBox 7"/>
            <p:cNvSpPr txBox="1"/>
            <p:nvPr/>
          </p:nvSpPr>
          <p:spPr>
            <a:xfrm>
              <a:off x="3786929" y="743838"/>
              <a:ext cx="537648" cy="500090"/>
            </a:xfrm>
            <a:prstGeom prst="rect">
              <a:avLst/>
            </a:prstGeom>
            <a:noFill/>
          </p:spPr>
          <p:txBody>
            <a:bodyPr wrap="none" rtlCol="0" anchor="ctr">
              <a:spAutoFit/>
            </a:bodyPr>
            <a:lstStyle/>
            <a:p>
              <a:pPr marL="0" marR="0" lvl="0" indent="0" algn="ctr" defTabSz="1219200" eaLnBrk="1" fontAlgn="auto" latinLnBrk="0" hangingPunct="1">
                <a:lnSpc>
                  <a:spcPct val="100000"/>
                </a:lnSpc>
                <a:spcBef>
                  <a:spcPts val="0"/>
                </a:spcBef>
                <a:spcAft>
                  <a:spcPts val="0"/>
                </a:spcAft>
                <a:buClrTx/>
                <a:buSzTx/>
                <a:buFontTx/>
                <a:buNone/>
                <a:defRPr/>
              </a:pPr>
              <a:r>
                <a:rPr kumimoji="0" lang="en-US" altLang="zh-CN" sz="3735" b="0" i="0" u="none" strike="noStrike" kern="0" cap="none" spc="0" normalizeH="0" baseline="0" noProof="0" dirty="0" smtClean="0">
                  <a:ln>
                    <a:noFill/>
                  </a:ln>
                  <a:solidFill>
                    <a:srgbClr val="000000">
                      <a:lumMod val="65000"/>
                      <a:lumOff val="35000"/>
                    </a:srgbClr>
                  </a:solidFill>
                  <a:effectLst>
                    <a:innerShdw blurRad="63500" dist="50800" dir="18900000">
                      <a:prstClr val="black">
                        <a:alpha val="30000"/>
                      </a:prstClr>
                    </a:innerShdw>
                  </a:effectLst>
                  <a:uLnTx/>
                  <a:uFillTx/>
                  <a:latin typeface="Arial" panose="020B0604020202020204" pitchFamily="34" charset="0"/>
                </a:rPr>
                <a:t>01</a:t>
              </a:r>
              <a:endParaRPr kumimoji="0" lang="zh-CN" altLang="en-US" sz="3735" b="0" i="0" u="none" strike="noStrike" kern="0" cap="none" spc="0" normalizeH="0" baseline="0" noProof="0" dirty="0" smtClean="0">
                <a:ln>
                  <a:noFill/>
                </a:ln>
                <a:solidFill>
                  <a:srgbClr val="000000">
                    <a:lumMod val="65000"/>
                    <a:lumOff val="35000"/>
                  </a:srgbClr>
                </a:solidFill>
                <a:effectLst>
                  <a:innerShdw blurRad="63500" dist="50800" dir="18900000">
                    <a:prstClr val="black">
                      <a:alpha val="30000"/>
                    </a:prstClr>
                  </a:innerShdw>
                </a:effectLst>
                <a:uLnTx/>
                <a:uFillTx/>
                <a:latin typeface="Arial" panose="020B0604020202020204" pitchFamily="34" charset="0"/>
              </a:endParaRPr>
            </a:p>
          </p:txBody>
        </p:sp>
      </p:grpSp>
      <p:grpSp>
        <p:nvGrpSpPr>
          <p:cNvPr id="46" name="组合 45"/>
          <p:cNvGrpSpPr/>
          <p:nvPr/>
        </p:nvGrpSpPr>
        <p:grpSpPr>
          <a:xfrm>
            <a:off x="4764013" y="2760859"/>
            <a:ext cx="804581" cy="804581"/>
            <a:chOff x="3685832" y="1673493"/>
            <a:chExt cx="739840" cy="739840"/>
          </a:xfrm>
        </p:grpSpPr>
        <p:sp>
          <p:nvSpPr>
            <p:cNvPr id="47" name="椭圆 46"/>
            <p:cNvSpPr/>
            <p:nvPr/>
          </p:nvSpPr>
          <p:spPr>
            <a:xfrm>
              <a:off x="3685832" y="1673493"/>
              <a:ext cx="739840" cy="739840"/>
            </a:xfrm>
            <a:prstGeom prst="ellipse">
              <a:avLst/>
            </a:prstGeom>
            <a:gradFill flip="none" rotWithShape="1">
              <a:gsLst>
                <a:gs pos="0">
                  <a:srgbClr val="FFFFFF">
                    <a:lumMod val="95000"/>
                    <a:lumOff val="5000"/>
                  </a:srgbClr>
                </a:gs>
                <a:gs pos="0">
                  <a:srgbClr val="FFFFFF">
                    <a:lumMod val="75000"/>
                  </a:srgbClr>
                </a:gs>
                <a:gs pos="70000">
                  <a:srgbClr val="FAFAFA"/>
                </a:gs>
              </a:gsLst>
              <a:lin ang="8100000" scaled="1"/>
              <a:tileRect/>
            </a:gradFill>
            <a:ln w="25400" cap="flat" cmpd="sng" algn="ctr">
              <a:solidFill>
                <a:srgbClr val="FFFFFF"/>
              </a:solidFill>
              <a:prstDash val="solid"/>
            </a:ln>
            <a:effectLst>
              <a:outerShdw blurRad="254000" dist="190500" dir="8100000" algn="tr" rotWithShape="0">
                <a:prstClr val="black">
                  <a:alpha val="15000"/>
                </a:prstClr>
              </a:outerShdw>
            </a:effectLst>
          </p:spPr>
          <p:txBody>
            <a:bodyPr rtlCol="0" anchor="ct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zh-CN" altLang="en-US" sz="2135" b="0" i="0" u="none" strike="noStrike" kern="0" cap="none" spc="0" normalizeH="0" baseline="0" noProof="0" dirty="0" smtClean="0">
                <a:ln>
                  <a:noFill/>
                </a:ln>
                <a:solidFill>
                  <a:srgbClr val="3574A0"/>
                </a:solidFill>
                <a:effectLst/>
                <a:uLnTx/>
                <a:uFillTx/>
                <a:latin typeface="Arial" panose="020B0604020202020204" pitchFamily="34" charset="0"/>
              </a:endParaRPr>
            </a:p>
          </p:txBody>
        </p:sp>
        <p:sp>
          <p:nvSpPr>
            <p:cNvPr id="48" name="TextBox 10"/>
            <p:cNvSpPr txBox="1"/>
            <p:nvPr/>
          </p:nvSpPr>
          <p:spPr>
            <a:xfrm>
              <a:off x="3786931" y="1793369"/>
              <a:ext cx="537648" cy="500090"/>
            </a:xfrm>
            <a:prstGeom prst="rect">
              <a:avLst/>
            </a:prstGeom>
            <a:noFill/>
          </p:spPr>
          <p:txBody>
            <a:bodyPr wrap="none" rtlCol="0" anchor="ctr">
              <a:spAutoFit/>
            </a:bodyPr>
            <a:lstStyle/>
            <a:p>
              <a:pPr marL="0" marR="0" lvl="0" indent="0" algn="ctr" defTabSz="1219200" eaLnBrk="1" fontAlgn="auto" latinLnBrk="0" hangingPunct="1">
                <a:lnSpc>
                  <a:spcPct val="100000"/>
                </a:lnSpc>
                <a:spcBef>
                  <a:spcPts val="0"/>
                </a:spcBef>
                <a:spcAft>
                  <a:spcPts val="0"/>
                </a:spcAft>
                <a:buClrTx/>
                <a:buSzTx/>
                <a:buFontTx/>
                <a:buNone/>
                <a:defRPr/>
              </a:pPr>
              <a:r>
                <a:rPr kumimoji="0" lang="en-US" altLang="zh-CN" sz="3735" b="0" i="0" u="none" strike="noStrike" kern="0" cap="none" spc="0" normalizeH="0" baseline="0" noProof="0" dirty="0" smtClean="0">
                  <a:ln>
                    <a:noFill/>
                  </a:ln>
                  <a:solidFill>
                    <a:srgbClr val="000000">
                      <a:lumMod val="65000"/>
                      <a:lumOff val="35000"/>
                    </a:srgbClr>
                  </a:solidFill>
                  <a:effectLst>
                    <a:innerShdw blurRad="63500" dist="50800" dir="18900000">
                      <a:prstClr val="black">
                        <a:alpha val="30000"/>
                      </a:prstClr>
                    </a:innerShdw>
                  </a:effectLst>
                  <a:uLnTx/>
                  <a:uFillTx/>
                  <a:latin typeface="Arial" panose="020B0604020202020204" pitchFamily="34" charset="0"/>
                </a:rPr>
                <a:t>02</a:t>
              </a:r>
              <a:endParaRPr kumimoji="0" lang="zh-CN" altLang="en-US" sz="3735" b="0" i="0" u="none" strike="noStrike" kern="0" cap="none" spc="0" normalizeH="0" baseline="0" noProof="0" dirty="0" smtClean="0">
                <a:ln>
                  <a:noFill/>
                </a:ln>
                <a:solidFill>
                  <a:srgbClr val="000000">
                    <a:lumMod val="65000"/>
                    <a:lumOff val="35000"/>
                  </a:srgbClr>
                </a:solidFill>
                <a:effectLst>
                  <a:innerShdw blurRad="63500" dist="50800" dir="18900000">
                    <a:prstClr val="black">
                      <a:alpha val="30000"/>
                    </a:prstClr>
                  </a:innerShdw>
                </a:effectLst>
                <a:uLnTx/>
                <a:uFillTx/>
                <a:latin typeface="Arial" panose="020B0604020202020204" pitchFamily="34" charset="0"/>
              </a:endParaRPr>
            </a:p>
          </p:txBody>
        </p:sp>
      </p:grpSp>
      <p:grpSp>
        <p:nvGrpSpPr>
          <p:cNvPr id="49" name="组合 48"/>
          <p:cNvGrpSpPr/>
          <p:nvPr/>
        </p:nvGrpSpPr>
        <p:grpSpPr>
          <a:xfrm>
            <a:off x="4764013" y="4327435"/>
            <a:ext cx="804581" cy="804581"/>
            <a:chOff x="3685832" y="2723024"/>
            <a:chExt cx="739840" cy="739840"/>
          </a:xfrm>
        </p:grpSpPr>
        <p:sp>
          <p:nvSpPr>
            <p:cNvPr id="50" name="椭圆 49"/>
            <p:cNvSpPr/>
            <p:nvPr/>
          </p:nvSpPr>
          <p:spPr>
            <a:xfrm>
              <a:off x="3685832" y="2723024"/>
              <a:ext cx="739840" cy="739840"/>
            </a:xfrm>
            <a:prstGeom prst="ellipse">
              <a:avLst/>
            </a:prstGeom>
            <a:gradFill flip="none" rotWithShape="1">
              <a:gsLst>
                <a:gs pos="0">
                  <a:srgbClr val="FFFFFF">
                    <a:lumMod val="95000"/>
                    <a:lumOff val="5000"/>
                  </a:srgbClr>
                </a:gs>
                <a:gs pos="0">
                  <a:srgbClr val="FFFFFF">
                    <a:lumMod val="75000"/>
                  </a:srgbClr>
                </a:gs>
                <a:gs pos="70000">
                  <a:srgbClr val="FAFAFA"/>
                </a:gs>
              </a:gsLst>
              <a:lin ang="8100000" scaled="1"/>
              <a:tileRect/>
            </a:gradFill>
            <a:ln w="19050" cap="flat" cmpd="sng" algn="ctr">
              <a:solidFill>
                <a:srgbClr val="FFFFFF"/>
              </a:solidFill>
              <a:prstDash val="solid"/>
            </a:ln>
            <a:effectLst>
              <a:outerShdw blurRad="254000" dist="190500" dir="8100000" algn="tr" rotWithShape="0">
                <a:prstClr val="black">
                  <a:alpha val="15000"/>
                </a:prstClr>
              </a:outerShdw>
            </a:effectLst>
          </p:spPr>
          <p:txBody>
            <a:bodyPr rtlCol="0" anchor="ct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zh-CN" altLang="en-US" sz="2135" b="0" i="0" u="none" strike="noStrike" kern="0" cap="none" spc="0" normalizeH="0" baseline="0" noProof="0" dirty="0" smtClean="0">
                <a:ln>
                  <a:noFill/>
                </a:ln>
                <a:solidFill>
                  <a:srgbClr val="3574A0"/>
                </a:solidFill>
                <a:effectLst/>
                <a:uLnTx/>
                <a:uFillTx/>
                <a:latin typeface="Arial" panose="020B0604020202020204" pitchFamily="34" charset="0"/>
              </a:endParaRPr>
            </a:p>
          </p:txBody>
        </p:sp>
        <p:sp>
          <p:nvSpPr>
            <p:cNvPr id="51" name="TextBox 13"/>
            <p:cNvSpPr txBox="1"/>
            <p:nvPr/>
          </p:nvSpPr>
          <p:spPr>
            <a:xfrm>
              <a:off x="3786929" y="2842900"/>
              <a:ext cx="537648" cy="500090"/>
            </a:xfrm>
            <a:prstGeom prst="rect">
              <a:avLst/>
            </a:prstGeom>
            <a:noFill/>
          </p:spPr>
          <p:txBody>
            <a:bodyPr wrap="none" rtlCol="0" anchor="ctr">
              <a:spAutoFit/>
            </a:bodyPr>
            <a:lstStyle/>
            <a:p>
              <a:pPr marL="0" marR="0" lvl="0" indent="0" algn="ctr" defTabSz="1219200" eaLnBrk="1" fontAlgn="auto" latinLnBrk="0" hangingPunct="1">
                <a:lnSpc>
                  <a:spcPct val="100000"/>
                </a:lnSpc>
                <a:spcBef>
                  <a:spcPts val="0"/>
                </a:spcBef>
                <a:spcAft>
                  <a:spcPts val="0"/>
                </a:spcAft>
                <a:buClrTx/>
                <a:buSzTx/>
                <a:buFontTx/>
                <a:buNone/>
                <a:defRPr/>
              </a:pPr>
              <a:r>
                <a:rPr kumimoji="0" lang="en-US" altLang="zh-CN" sz="3735" b="0" i="0" u="none" strike="noStrike" kern="0" cap="none" spc="0" normalizeH="0" baseline="0" noProof="0" dirty="0" smtClean="0">
                  <a:ln>
                    <a:noFill/>
                  </a:ln>
                  <a:solidFill>
                    <a:srgbClr val="000000">
                      <a:lumMod val="65000"/>
                      <a:lumOff val="35000"/>
                    </a:srgbClr>
                  </a:solidFill>
                  <a:effectLst>
                    <a:innerShdw blurRad="63500" dist="50800" dir="18900000">
                      <a:prstClr val="black">
                        <a:alpha val="30000"/>
                      </a:prstClr>
                    </a:innerShdw>
                  </a:effectLst>
                  <a:uLnTx/>
                  <a:uFillTx/>
                  <a:latin typeface="Arial" panose="020B0604020202020204" pitchFamily="34" charset="0"/>
                </a:rPr>
                <a:t>03</a:t>
              </a:r>
              <a:endParaRPr kumimoji="0" lang="zh-CN" altLang="en-US" sz="3735" b="0" i="0" u="none" strike="noStrike" kern="0" cap="none" spc="0" normalizeH="0" baseline="0" noProof="0" dirty="0" smtClean="0">
                <a:ln>
                  <a:noFill/>
                </a:ln>
                <a:solidFill>
                  <a:srgbClr val="000000">
                    <a:lumMod val="65000"/>
                    <a:lumOff val="35000"/>
                  </a:srgbClr>
                </a:solidFill>
                <a:effectLst>
                  <a:innerShdw blurRad="63500" dist="50800" dir="18900000">
                    <a:prstClr val="black">
                      <a:alpha val="30000"/>
                    </a:prstClr>
                  </a:innerShdw>
                </a:effectLst>
                <a:uLnTx/>
                <a:uFillTx/>
                <a:latin typeface="Arial" panose="020B0604020202020204" pitchFamily="34" charset="0"/>
              </a:endParaRPr>
            </a:p>
          </p:txBody>
        </p:sp>
      </p:grpSp>
      <p:sp>
        <p:nvSpPr>
          <p:cNvPr id="52" name="矩形 51">
            <a:hlinkClick r:id="rId2" action="ppaction://hlinksldjump"/>
          </p:cNvPr>
          <p:cNvSpPr/>
          <p:nvPr/>
        </p:nvSpPr>
        <p:spPr>
          <a:xfrm>
            <a:off x="5678538" y="1286748"/>
            <a:ext cx="2997835" cy="501650"/>
          </a:xfrm>
          <a:prstGeom prst="rect">
            <a:avLst/>
          </a:prstGeom>
        </p:spPr>
        <p:txBody>
          <a:bodyPr wrap="none">
            <a:spAutoFit/>
          </a:bodyPr>
          <a:lstStyle/>
          <a:p>
            <a:pPr defTabSz="1219200"/>
            <a:r>
              <a:rPr lang="zh-CN" altLang="en-US" sz="2665" b="1" dirty="0" smtClean="0">
                <a:solidFill>
                  <a:srgbClr val="4D4D4D"/>
                </a:solidFill>
                <a:latin typeface="方正姚体" panose="02010601030101010101" charset="-122"/>
                <a:ea typeface="方正姚体" panose="02010601030101010101" charset="-122"/>
                <a:cs typeface="方正姚体" panose="02010601030101010101" charset="-122"/>
              </a:rPr>
              <a:t>自主预习 新知导学</a:t>
            </a:r>
            <a:endParaRPr lang="zh-CN" altLang="en-US" sz="2665" b="1" dirty="0">
              <a:solidFill>
                <a:srgbClr val="4D4D4D"/>
              </a:solidFill>
              <a:latin typeface="方正姚体" panose="02010601030101010101" charset="-122"/>
              <a:ea typeface="方正姚体" panose="02010601030101010101" charset="-122"/>
              <a:cs typeface="方正姚体" panose="02010601030101010101" charset="-122"/>
            </a:endParaRPr>
          </a:p>
        </p:txBody>
      </p:sp>
      <p:sp>
        <p:nvSpPr>
          <p:cNvPr id="53" name="矩形 52">
            <a:hlinkClick r:id="rId3" action="ppaction://hlinksldjump"/>
          </p:cNvPr>
          <p:cNvSpPr/>
          <p:nvPr/>
        </p:nvSpPr>
        <p:spPr>
          <a:xfrm>
            <a:off x="5678538" y="2871606"/>
            <a:ext cx="2997835" cy="501650"/>
          </a:xfrm>
          <a:prstGeom prst="rect">
            <a:avLst/>
          </a:prstGeom>
        </p:spPr>
        <p:txBody>
          <a:bodyPr wrap="none">
            <a:spAutoFit/>
          </a:bodyPr>
          <a:lstStyle/>
          <a:p>
            <a:pPr defTabSz="1219200"/>
            <a:r>
              <a:rPr lang="zh-CN" altLang="en-US" sz="2665" b="1" dirty="0" smtClean="0">
                <a:solidFill>
                  <a:srgbClr val="4D4D4D"/>
                </a:solidFill>
                <a:latin typeface="方正姚体" panose="02010601030101010101" charset="-122"/>
                <a:ea typeface="方正姚体" panose="02010601030101010101" charset="-122"/>
                <a:cs typeface="方正姚体" panose="02010601030101010101" charset="-122"/>
              </a:rPr>
              <a:t>合作探究 释疑解惑</a:t>
            </a:r>
            <a:endParaRPr lang="zh-CN" altLang="en-US" sz="2665" b="1" dirty="0">
              <a:solidFill>
                <a:srgbClr val="4D4D4D"/>
              </a:solidFill>
              <a:latin typeface="方正姚体" panose="02010601030101010101" charset="-122"/>
              <a:ea typeface="方正姚体" panose="02010601030101010101" charset="-122"/>
              <a:cs typeface="方正姚体" panose="02010601030101010101" charset="-122"/>
            </a:endParaRPr>
          </a:p>
        </p:txBody>
      </p:sp>
      <p:sp>
        <p:nvSpPr>
          <p:cNvPr id="54" name="矩形 53">
            <a:hlinkClick r:id="rId4" action="ppaction://hlinksldjump"/>
          </p:cNvPr>
          <p:cNvSpPr/>
          <p:nvPr/>
        </p:nvSpPr>
        <p:spPr>
          <a:xfrm>
            <a:off x="5678538" y="4456463"/>
            <a:ext cx="1556836" cy="502445"/>
          </a:xfrm>
          <a:prstGeom prst="rect">
            <a:avLst/>
          </a:prstGeom>
        </p:spPr>
        <p:txBody>
          <a:bodyPr wrap="none">
            <a:spAutoFit/>
          </a:bodyPr>
          <a:lstStyle/>
          <a:p>
            <a:pPr defTabSz="1219200"/>
            <a:r>
              <a:rPr lang="zh-CN" altLang="en-US" sz="2665" b="1" dirty="0" smtClean="0">
                <a:solidFill>
                  <a:srgbClr val="4D4D4D"/>
                </a:solidFill>
                <a:latin typeface="方正姚体" panose="02010601030101010101" charset="-122"/>
                <a:ea typeface="方正姚体" panose="02010601030101010101" charset="-122"/>
                <a:cs typeface="方正姚体" panose="02010601030101010101" charset="-122"/>
              </a:rPr>
              <a:t>随堂练习</a:t>
            </a:r>
            <a:endParaRPr lang="zh-CN" altLang="en-US" sz="2665" b="1" dirty="0">
              <a:solidFill>
                <a:srgbClr val="4D4D4D"/>
              </a:solidFill>
              <a:latin typeface="方正姚体" panose="02010601030101010101" charset="-122"/>
              <a:ea typeface="方正姚体" panose="02010601030101010101" charset="-122"/>
              <a:cs typeface="方正姚体" panose="02010601030101010101" charset="-122"/>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17500" y="701716"/>
            <a:ext cx="11557000" cy="5689151"/>
          </a:xfrm>
          <a:prstGeom prst="rect">
            <a:avLst/>
          </a:prstGeom>
          <a:noFill/>
          <a:ln w="19050">
            <a:gradFill>
              <a:gsLst>
                <a:gs pos="100000">
                  <a:schemeClr val="accent1">
                    <a:lumMod val="5000"/>
                    <a:lumOff val="95000"/>
                  </a:schemeClr>
                </a:gs>
                <a:gs pos="57000">
                  <a:schemeClr val="tx1">
                    <a:lumMod val="50000"/>
                    <a:lumOff val="50000"/>
                  </a:schemeClr>
                </a:gs>
                <a:gs pos="29000">
                  <a:schemeClr val="tx1"/>
                </a:gs>
                <a:gs pos="100000">
                  <a:schemeClr val="bg1"/>
                </a:gs>
              </a:gsLst>
              <a:lin ang="5400000" scaled="1"/>
            </a:gra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sp>
        <p:nvSpPr>
          <p:cNvPr id="9" name="文本框 8"/>
          <p:cNvSpPr txBox="1"/>
          <p:nvPr>
            <p:custDataLst>
              <p:tags r:id="rId1"/>
            </p:custDataLst>
          </p:nvPr>
        </p:nvSpPr>
        <p:spPr>
          <a:xfrm>
            <a:off x="4766695" y="446122"/>
            <a:ext cx="3253105" cy="490640"/>
          </a:xfrm>
          <a:prstGeom prst="roundRect">
            <a:avLst>
              <a:gd name="adj" fmla="val 50000"/>
            </a:avLst>
          </a:prstGeom>
          <a:solidFill>
            <a:schemeClr val="bg2">
              <a:lumMod val="50000"/>
            </a:schemeClr>
          </a:solidFill>
        </p:spPr>
        <p:txBody>
          <a:bodyPr wrap="square" lIns="0" tIns="0" rIns="0" bIns="0" rtlCol="0" anchor="ctr" anchorCtr="0">
            <a:noAutofit/>
          </a:bodyPr>
          <a:lstStyle/>
          <a:p>
            <a:pPr lvl="0" algn="ctr" fontAlgn="base">
              <a:spcBef>
                <a:spcPct val="0"/>
              </a:spcBef>
              <a:spcAft>
                <a:spcPct val="0"/>
              </a:spcAft>
              <a:defRPr/>
            </a:pPr>
            <a:r>
              <a:rPr lang="zh-CN" altLang="en-US" sz="2800" kern="0" dirty="0">
                <a:solidFill>
                  <a:srgbClr val="FFFFFF"/>
                </a:solidFill>
                <a:latin typeface="Arial" panose="020B0604020202020204" pitchFamily="34" charset="0"/>
                <a:ea typeface="微软雅黑" panose="020B0503020204020204" pitchFamily="34" charset="-122"/>
                <a:sym typeface="Arial" panose="020B0604020202020204" pitchFamily="34" charset="0"/>
              </a:rPr>
              <a:t>课标定</a:t>
            </a:r>
            <a:r>
              <a:rPr lang="zh-CN" altLang="en-US" sz="2800" kern="0" dirty="0" smtClean="0">
                <a:solidFill>
                  <a:srgbClr val="FFFFFF"/>
                </a:solidFill>
                <a:latin typeface="Arial" panose="020B0604020202020204" pitchFamily="34" charset="0"/>
                <a:ea typeface="微软雅黑" panose="020B0503020204020204" pitchFamily="34" charset="-122"/>
                <a:sym typeface="Arial" panose="020B0604020202020204" pitchFamily="34" charset="0"/>
              </a:rPr>
              <a:t>位素养</a:t>
            </a:r>
            <a:r>
              <a:rPr lang="zh-CN" altLang="en-US" sz="2800" kern="0" dirty="0">
                <a:solidFill>
                  <a:srgbClr val="FFFFFF"/>
                </a:solidFill>
                <a:latin typeface="Arial" panose="020B0604020202020204" pitchFamily="34" charset="0"/>
                <a:ea typeface="微软雅黑" panose="020B0503020204020204" pitchFamily="34" charset="-122"/>
                <a:sym typeface="Arial" panose="020B0604020202020204" pitchFamily="34" charset="0"/>
              </a:rPr>
              <a:t>阐释</a:t>
            </a:r>
          </a:p>
        </p:txBody>
      </p:sp>
      <p:sp>
        <p:nvSpPr>
          <p:cNvPr id="3" name="矩形 2"/>
          <p:cNvSpPr>
            <a:spLocks noChangeAspect="1"/>
          </p:cNvSpPr>
          <p:nvPr/>
        </p:nvSpPr>
        <p:spPr>
          <a:xfrm>
            <a:off x="381000" y="2199079"/>
            <a:ext cx="11430000" cy="2840842"/>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1</a:t>
            </a:r>
            <a:r>
              <a:rPr lang="en-US" altLang="zh-CN" sz="2800" i="1">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理解组合的定义</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正确认识排列与组合的区别与联系</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2</a:t>
            </a:r>
            <a:r>
              <a:rPr lang="en-US" altLang="zh-CN" sz="2800" i="1">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理解排列数与组合数之间的联系</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掌握组合数公式</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能运用组合数公式进行计算</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pPr>
            <a:r>
              <a:rPr lang="en-US" altLang="zh-CN" sz="2800">
                <a:solidFill>
                  <a:srgbClr val="000000"/>
                </a:solidFill>
                <a:latin typeface="Times New Roman" panose="02020603050405020304" pitchFamily="18" charset="0"/>
              </a:rPr>
              <a:t>3</a:t>
            </a:r>
            <a:r>
              <a:rPr lang="en-US" altLang="zh-CN" sz="2800" i="1">
                <a:solidFill>
                  <a:srgbClr val="000000"/>
                </a:solidFill>
                <a:latin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通过该节的学习</a:t>
            </a:r>
            <a:r>
              <a:rPr lang="en-US" altLang="zh-CN" sz="2800">
                <a:solidFill>
                  <a:srgbClr val="000000"/>
                </a:solidFill>
                <a:latin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逐步提升数学抽象、数学建模以及运算求解三大数学核心素养</a:t>
            </a:r>
            <a:r>
              <a:rPr lang="en-US" altLang="zh-CN" sz="2800">
                <a:solidFill>
                  <a:srgbClr val="000000"/>
                </a:solidFill>
                <a:latin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培养分析问题、解决问题的能力</a:t>
            </a:r>
            <a:r>
              <a:rPr lang="en-US" altLang="zh-CN" sz="2800" i="1">
                <a:solidFill>
                  <a:srgbClr val="000000"/>
                </a:solidFill>
                <a:latin typeface="Times New Roman" panose="02020603050405020304" pitchFamily="18" charset="0"/>
              </a:rPr>
              <a:t>.</a:t>
            </a:r>
            <a:endParaRPr lang="zh-CN" altLang="en-US" sz="280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2180083" y="2636520"/>
            <a:ext cx="1105802" cy="815646"/>
            <a:chOff x="-1604504" y="2147667"/>
            <a:chExt cx="3687215" cy="2719712"/>
          </a:xfrm>
        </p:grpSpPr>
        <p:cxnSp>
          <p:nvCxnSpPr>
            <p:cNvPr id="7" name="直接连接符 6"/>
            <p:cNvCxnSpPr/>
            <p:nvPr/>
          </p:nvCxnSpPr>
          <p:spPr>
            <a:xfrm flipH="1">
              <a:off x="-1604504" y="2687623"/>
              <a:ext cx="2592288" cy="2179756"/>
            </a:xfrm>
            <a:prstGeom prst="line">
              <a:avLst/>
            </a:prstGeom>
            <a:noFill/>
            <a:ln w="76200" cap="flat" cmpd="sng" algn="ctr">
              <a:solidFill>
                <a:schemeClr val="tx2">
                  <a:lumMod val="50000"/>
                </a:schemeClr>
              </a:solidFill>
              <a:prstDash val="solid"/>
            </a:ln>
            <a:effectLst/>
          </p:spPr>
        </p:cxnSp>
        <p:cxnSp>
          <p:nvCxnSpPr>
            <p:cNvPr id="8" name="直接连接符 7"/>
            <p:cNvCxnSpPr/>
            <p:nvPr/>
          </p:nvCxnSpPr>
          <p:spPr>
            <a:xfrm flipH="1">
              <a:off x="-509577" y="2147667"/>
              <a:ext cx="2592288" cy="2179756"/>
            </a:xfrm>
            <a:prstGeom prst="line">
              <a:avLst/>
            </a:prstGeom>
            <a:noFill/>
            <a:ln w="12700" cap="flat" cmpd="sng" algn="ctr">
              <a:solidFill>
                <a:schemeClr val="tx2">
                  <a:lumMod val="50000"/>
                </a:schemeClr>
              </a:solidFill>
              <a:prstDash val="solid"/>
            </a:ln>
            <a:effectLst/>
          </p:spPr>
        </p:cxnSp>
      </p:grpSp>
      <p:grpSp>
        <p:nvGrpSpPr>
          <p:cNvPr id="9" name="组合 8"/>
          <p:cNvGrpSpPr/>
          <p:nvPr/>
        </p:nvGrpSpPr>
        <p:grpSpPr>
          <a:xfrm flipH="1" flipV="1">
            <a:off x="8735898" y="2665586"/>
            <a:ext cx="1105803" cy="815646"/>
            <a:chOff x="-1604504" y="2147667"/>
            <a:chExt cx="3687215" cy="2719712"/>
          </a:xfrm>
        </p:grpSpPr>
        <p:cxnSp>
          <p:nvCxnSpPr>
            <p:cNvPr id="10" name="直接连接符 9"/>
            <p:cNvCxnSpPr/>
            <p:nvPr/>
          </p:nvCxnSpPr>
          <p:spPr>
            <a:xfrm flipH="1">
              <a:off x="-1604504" y="2687623"/>
              <a:ext cx="2592288" cy="2179756"/>
            </a:xfrm>
            <a:prstGeom prst="line">
              <a:avLst/>
            </a:prstGeom>
            <a:noFill/>
            <a:ln w="76200" cap="flat" cmpd="sng" algn="ctr">
              <a:solidFill>
                <a:sysClr val="windowText" lastClr="000000">
                  <a:lumMod val="85000"/>
                  <a:lumOff val="15000"/>
                </a:sysClr>
              </a:solidFill>
              <a:prstDash val="solid"/>
            </a:ln>
            <a:effectLst/>
          </p:spPr>
        </p:cxnSp>
        <p:cxnSp>
          <p:nvCxnSpPr>
            <p:cNvPr id="11" name="直接连接符 10"/>
            <p:cNvCxnSpPr/>
            <p:nvPr/>
          </p:nvCxnSpPr>
          <p:spPr>
            <a:xfrm flipH="1">
              <a:off x="-509577" y="2147667"/>
              <a:ext cx="2592288" cy="2179756"/>
            </a:xfrm>
            <a:prstGeom prst="line">
              <a:avLst/>
            </a:prstGeom>
            <a:noFill/>
            <a:ln w="12700" cap="flat" cmpd="sng" algn="ctr">
              <a:solidFill>
                <a:sysClr val="windowText" lastClr="000000">
                  <a:lumMod val="85000"/>
                  <a:lumOff val="15000"/>
                </a:sysClr>
              </a:solidFill>
              <a:prstDash val="solid"/>
            </a:ln>
            <a:effectLst/>
          </p:spPr>
        </p:cxnSp>
      </p:grpSp>
      <p:sp>
        <p:nvSpPr>
          <p:cNvPr id="12" name="文本框 11"/>
          <p:cNvSpPr txBox="1"/>
          <p:nvPr/>
        </p:nvSpPr>
        <p:spPr>
          <a:xfrm>
            <a:off x="2969260" y="2585720"/>
            <a:ext cx="6252845" cy="922020"/>
          </a:xfrm>
          <a:prstGeom prst="rect">
            <a:avLst/>
          </a:prstGeom>
          <a:noFill/>
        </p:spPr>
        <p:txBody>
          <a:bodyPr wrap="square" rtlCol="0">
            <a:spAutoFit/>
          </a:bodyPr>
          <a:lstStyle/>
          <a:p>
            <a:r>
              <a:rPr lang="zh-CN" altLang="en-US" sz="5400" b="1" dirty="0" smtClean="0">
                <a:solidFill>
                  <a:srgbClr val="4D4D4D"/>
                </a:solidFill>
                <a:latin typeface="方正姚体" panose="02010601030101010101" charset="-122"/>
                <a:ea typeface="方正姚体" panose="02010601030101010101" charset="-122"/>
                <a:cs typeface="方正姚体" panose="02010601030101010101" charset="-122"/>
                <a:sym typeface="+mn-ea"/>
              </a:rPr>
              <a:t>自主预习 新知导学</a:t>
            </a:r>
            <a:endParaRPr lang="zh-CN" altLang="en-US" sz="5400" b="1" dirty="0">
              <a:solidFill>
                <a:srgbClr val="4D4D4D"/>
              </a:solidFill>
              <a:latin typeface="方正姚体" panose="02010601030101010101" charset="-122"/>
              <a:ea typeface="方正姚体" panose="02010601030101010101" charset="-122"/>
              <a:cs typeface="方正姚体" panose="02010601030101010101" charset="-122"/>
              <a:sym typeface="+mn-ea"/>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pattFill prst="smCheck">
          <a:fgClr>
            <a:srgbClr val="E8F4E9"/>
          </a:fgClr>
          <a:bgClr>
            <a:schemeClr val="bg1"/>
          </a:bgClr>
        </a:pattFill>
        <a:effectLst/>
      </p:bgPr>
    </p:bg>
    <p:spTree>
      <p:nvGrpSpPr>
        <p:cNvPr id="1" name=""/>
        <p:cNvGrpSpPr/>
        <p:nvPr/>
      </p:nvGrpSpPr>
      <p:grpSpPr>
        <a:xfrm>
          <a:off x="0" y="0"/>
          <a:ext cx="0" cy="0"/>
          <a:chOff x="0" y="0"/>
          <a:chExt cx="0" cy="0"/>
        </a:xfrm>
      </p:grpSpPr>
      <p:sp>
        <p:nvSpPr>
          <p:cNvPr id="2" name="矩形 1"/>
          <p:cNvSpPr>
            <a:spLocks noChangeAspect="1"/>
          </p:cNvSpPr>
          <p:nvPr/>
        </p:nvSpPr>
        <p:spPr>
          <a:xfrm>
            <a:off x="381000" y="101387"/>
            <a:ext cx="11430000" cy="6254020"/>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000000"/>
                </a:solidFill>
                <a:latin typeface="NEU-BZ-S92"/>
                <a:ea typeface="方正正中黑简体"/>
                <a:cs typeface="Times New Roman" panose="02020603050405020304" pitchFamily="18" charset="0"/>
              </a:rPr>
              <a:t>一、组合的概念</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b="1" smtClean="0">
                <a:solidFill>
                  <a:srgbClr val="000000"/>
                </a:solidFill>
                <a:latin typeface="Times New Roman" panose="02020603050405020304" pitchFamily="18" charset="0"/>
                <a:cs typeface="Times New Roman" panose="02020603050405020304" pitchFamily="18" charset="0"/>
              </a:rPr>
              <a:t>1</a:t>
            </a:r>
            <a:r>
              <a:rPr lang="en-US" altLang="zh-CN" sz="2800" i="1">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NEU-BZ-S92"/>
                <a:cs typeface="宋体" panose="02010600030101010101" pitchFamily="2" charset="-122"/>
              </a:rPr>
              <a:t>①</a:t>
            </a:r>
            <a:r>
              <a:rPr lang="zh-CN" altLang="zh-CN" sz="2800">
                <a:solidFill>
                  <a:srgbClr val="000000"/>
                </a:solidFill>
                <a:latin typeface="Times New Roman" panose="02020603050405020304" pitchFamily="18" charset="0"/>
                <a:cs typeface="Times New Roman" panose="02020603050405020304" pitchFamily="18" charset="0"/>
              </a:rPr>
              <a:t>从全班</a:t>
            </a:r>
            <a:r>
              <a:rPr lang="en-US" altLang="zh-CN" sz="2800">
                <a:solidFill>
                  <a:srgbClr val="000000"/>
                </a:solidFill>
                <a:latin typeface="Times New Roman" panose="02020603050405020304" pitchFamily="18" charset="0"/>
                <a:cs typeface="Times New Roman" panose="02020603050405020304" pitchFamily="18" charset="0"/>
              </a:rPr>
              <a:t>40</a:t>
            </a:r>
            <a:r>
              <a:rPr lang="zh-CN" altLang="zh-CN" sz="2800">
                <a:solidFill>
                  <a:srgbClr val="000000"/>
                </a:solidFill>
                <a:latin typeface="Times New Roman" panose="02020603050405020304" pitchFamily="18" charset="0"/>
                <a:cs typeface="Times New Roman" panose="02020603050405020304" pitchFamily="18" charset="0"/>
              </a:rPr>
              <a:t>人中选出</a:t>
            </a:r>
            <a:r>
              <a:rPr lang="en-US" altLang="zh-CN" sz="2800">
                <a:solidFill>
                  <a:srgbClr val="000000"/>
                </a:solidFill>
                <a:latin typeface="Times New Roman" panose="02020603050405020304" pitchFamily="18" charset="0"/>
                <a:cs typeface="Times New Roman" panose="02020603050405020304" pitchFamily="18" charset="0"/>
              </a:rPr>
              <a:t>5</a:t>
            </a:r>
            <a:r>
              <a:rPr lang="zh-CN" altLang="zh-CN" sz="2800">
                <a:solidFill>
                  <a:srgbClr val="000000"/>
                </a:solidFill>
                <a:latin typeface="Times New Roman" panose="02020603050405020304" pitchFamily="18" charset="0"/>
                <a:cs typeface="Times New Roman" panose="02020603050405020304" pitchFamily="18" charset="0"/>
              </a:rPr>
              <a:t>人组成班委</a:t>
            </a:r>
            <a:r>
              <a:rPr lang="zh-CN" altLang="zh-CN" sz="2800" smtClean="0">
                <a:solidFill>
                  <a:srgbClr val="000000"/>
                </a:solidFill>
                <a:latin typeface="Times New Roman" panose="02020603050405020304" pitchFamily="18" charset="0"/>
                <a:cs typeface="Times New Roman" panose="02020603050405020304" pitchFamily="18" charset="0"/>
              </a:rPr>
              <a:t>会</a:t>
            </a:r>
            <a:r>
              <a:rPr lang="en-US" altLang="zh-CN" sz="2800">
                <a:solidFill>
                  <a:srgbClr val="000000"/>
                </a:solidFill>
                <a:latin typeface="Times New Roman" panose="02020603050405020304" pitchFamily="18" charset="0"/>
                <a:cs typeface="Times New Roman" panose="02020603050405020304" pitchFamily="18" charset="0"/>
              </a:rPr>
              <a:t>,</a:t>
            </a:r>
            <a:r>
              <a:rPr lang="zh-CN" altLang="en-US" sz="2800">
                <a:solidFill>
                  <a:srgbClr val="000000"/>
                </a:solidFill>
                <a:latin typeface="Times New Roman" panose="02020603050405020304" pitchFamily="18" charset="0"/>
                <a:cs typeface="Times New Roman" panose="02020603050405020304" pitchFamily="18" charset="0"/>
              </a:rPr>
              <a:t>有多少种不同的选法</a:t>
            </a:r>
            <a:r>
              <a:rPr lang="en-US" altLang="zh-CN" sz="2800" smtClean="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000000"/>
                </a:solidFill>
                <a:latin typeface="NEU-BZ-S92"/>
                <a:cs typeface="宋体" panose="02010600030101010101" pitchFamily="2" charset="-122"/>
              </a:rPr>
              <a:t>②</a:t>
            </a:r>
            <a:r>
              <a:rPr lang="zh-CN" altLang="zh-CN" sz="2800">
                <a:solidFill>
                  <a:srgbClr val="000000"/>
                </a:solidFill>
                <a:latin typeface="Times New Roman" panose="02020603050405020304" pitchFamily="18" charset="0"/>
                <a:cs typeface="Times New Roman" panose="02020603050405020304" pitchFamily="18" charset="0"/>
              </a:rPr>
              <a:t>从全班</a:t>
            </a:r>
            <a:r>
              <a:rPr lang="en-US" altLang="zh-CN" sz="2800">
                <a:solidFill>
                  <a:srgbClr val="000000"/>
                </a:solidFill>
                <a:latin typeface="Times New Roman" panose="02020603050405020304" pitchFamily="18" charset="0"/>
                <a:cs typeface="Times New Roman" panose="02020603050405020304" pitchFamily="18" charset="0"/>
              </a:rPr>
              <a:t>40</a:t>
            </a:r>
            <a:r>
              <a:rPr lang="zh-CN" altLang="zh-CN" sz="2800">
                <a:solidFill>
                  <a:srgbClr val="000000"/>
                </a:solidFill>
                <a:latin typeface="Times New Roman" panose="02020603050405020304" pitchFamily="18" charset="0"/>
                <a:cs typeface="Times New Roman" panose="02020603050405020304" pitchFamily="18" charset="0"/>
              </a:rPr>
              <a:t>人中选出</a:t>
            </a:r>
            <a:r>
              <a:rPr lang="en-US" altLang="zh-CN" sz="2800">
                <a:solidFill>
                  <a:srgbClr val="000000"/>
                </a:solidFill>
                <a:latin typeface="Times New Roman" panose="02020603050405020304" pitchFamily="18" charset="0"/>
                <a:cs typeface="Times New Roman" panose="02020603050405020304" pitchFamily="18" charset="0"/>
              </a:rPr>
              <a:t>5</a:t>
            </a:r>
            <a:r>
              <a:rPr lang="zh-CN" altLang="zh-CN" sz="2800">
                <a:solidFill>
                  <a:srgbClr val="000000"/>
                </a:solidFill>
                <a:latin typeface="Times New Roman" panose="02020603050405020304" pitchFamily="18" charset="0"/>
                <a:cs typeface="Times New Roman" panose="02020603050405020304" pitchFamily="18" charset="0"/>
              </a:rPr>
              <a:t>人分别担任班委中的</a:t>
            </a:r>
            <a:r>
              <a:rPr lang="en-US" altLang="zh-CN" sz="2800">
                <a:solidFill>
                  <a:srgbClr val="000000"/>
                </a:solidFill>
                <a:latin typeface="Times New Roman" panose="02020603050405020304" pitchFamily="18" charset="0"/>
                <a:cs typeface="Times New Roman" panose="02020603050405020304" pitchFamily="18" charset="0"/>
              </a:rPr>
              <a:t>5</a:t>
            </a:r>
            <a:r>
              <a:rPr lang="zh-CN" altLang="zh-CN" sz="2800">
                <a:solidFill>
                  <a:srgbClr val="000000"/>
                </a:solidFill>
                <a:latin typeface="Times New Roman" panose="02020603050405020304" pitchFamily="18" charset="0"/>
                <a:cs typeface="Times New Roman" panose="02020603050405020304" pitchFamily="18" charset="0"/>
              </a:rPr>
              <a:t>个不同职</a:t>
            </a:r>
            <a:r>
              <a:rPr lang="zh-CN" altLang="zh-CN" sz="2800" smtClean="0">
                <a:solidFill>
                  <a:srgbClr val="000000"/>
                </a:solidFill>
                <a:latin typeface="Times New Roman" panose="02020603050405020304" pitchFamily="18" charset="0"/>
                <a:cs typeface="Times New Roman" panose="02020603050405020304" pitchFamily="18" charset="0"/>
              </a:rPr>
              <a:t>务</a:t>
            </a:r>
            <a:r>
              <a:rPr lang="en-US" altLang="zh-CN" sz="2800">
                <a:solidFill>
                  <a:srgbClr val="000000"/>
                </a:solidFill>
                <a:latin typeface="Times New Roman" panose="02020603050405020304" pitchFamily="18" charset="0"/>
                <a:cs typeface="Times New Roman" panose="02020603050405020304" pitchFamily="18" charset="0"/>
              </a:rPr>
              <a:t>,</a:t>
            </a:r>
            <a:r>
              <a:rPr lang="zh-CN" altLang="en-US" sz="2800">
                <a:solidFill>
                  <a:srgbClr val="000000"/>
                </a:solidFill>
                <a:latin typeface="Times New Roman" panose="02020603050405020304" pitchFamily="18" charset="0"/>
                <a:cs typeface="Times New Roman" panose="02020603050405020304" pitchFamily="18" charset="0"/>
              </a:rPr>
              <a:t>有多少种不同的选法</a:t>
            </a:r>
            <a:r>
              <a:rPr lang="en-US" altLang="zh-CN" sz="2800" smtClean="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cs typeface="Times New Roman" panose="02020603050405020304" pitchFamily="18" charset="0"/>
              </a:rPr>
              <a:t>以上两个问题中哪个是排列</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NEU-BZ-S92"/>
                <a:cs typeface="宋体" panose="02010600030101010101" pitchFamily="2" charset="-122"/>
              </a:rPr>
              <a:t>①</a:t>
            </a:r>
            <a:r>
              <a:rPr lang="zh-CN" altLang="zh-CN" sz="2800">
                <a:solidFill>
                  <a:srgbClr val="000000"/>
                </a:solidFill>
                <a:latin typeface="Times New Roman" panose="02020603050405020304" pitchFamily="18" charset="0"/>
                <a:cs typeface="Times New Roman" panose="02020603050405020304" pitchFamily="18" charset="0"/>
              </a:rPr>
              <a:t>与</a:t>
            </a:r>
            <a:r>
              <a:rPr lang="zh-CN" altLang="zh-CN" sz="2800">
                <a:solidFill>
                  <a:srgbClr val="000000"/>
                </a:solidFill>
                <a:latin typeface="NEU-BZ-S92"/>
                <a:cs typeface="宋体" panose="02010600030101010101" pitchFamily="2" charset="-122"/>
              </a:rPr>
              <a:t>②</a:t>
            </a:r>
            <a:r>
              <a:rPr lang="zh-CN" altLang="zh-CN" sz="2800">
                <a:solidFill>
                  <a:srgbClr val="000000"/>
                </a:solidFill>
                <a:latin typeface="Times New Roman" panose="02020603050405020304" pitchFamily="18" charset="0"/>
                <a:cs typeface="Times New Roman" panose="02020603050405020304" pitchFamily="18" charset="0"/>
              </a:rPr>
              <a:t>有何不同</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FF0000"/>
                </a:solidFill>
                <a:latin typeface="Arial" panose="020B0604020202020204" pitchFamily="34" charset="0"/>
                <a:ea typeface="黑体" panose="02010609060101010101" pitchFamily="49" charset="-122"/>
                <a:cs typeface="Times New Roman" panose="02020603050405020304" pitchFamily="18" charset="0"/>
              </a:rPr>
              <a:t>提示</a:t>
            </a:r>
            <a:r>
              <a:rPr lang="en-US" altLang="zh-CN" sz="280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a:solidFill>
                  <a:srgbClr val="000000"/>
                </a:solidFill>
                <a:latin typeface="NEU-BZ-S92"/>
                <a:cs typeface="宋体" panose="02010600030101010101" pitchFamily="2" charset="-122"/>
              </a:rPr>
              <a:t>②</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是排列</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NEU-BZ-S92"/>
                <a:cs typeface="宋体" panose="02010600030101010101" pitchFamily="2" charset="-122"/>
              </a:rPr>
              <a:t>①</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中选出的</a:t>
            </a:r>
            <a:r>
              <a:rPr lang="en-US" altLang="zh-CN" sz="2800">
                <a:solidFill>
                  <a:srgbClr val="000000"/>
                </a:solidFill>
                <a:latin typeface="Times New Roman" panose="02020603050405020304" pitchFamily="18" charset="0"/>
                <a:cs typeface="Times New Roman" panose="02020603050405020304" pitchFamily="18" charset="0"/>
              </a:rPr>
              <a:t>5</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人无需排列</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NEU-BZ-S92"/>
                <a:cs typeface="宋体" panose="02010600030101010101" pitchFamily="2" charset="-122"/>
              </a:rPr>
              <a:t>②</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中选出的</a:t>
            </a:r>
            <a:r>
              <a:rPr lang="en-US" altLang="zh-CN" sz="2800">
                <a:solidFill>
                  <a:srgbClr val="000000"/>
                </a:solidFill>
                <a:latin typeface="Times New Roman" panose="02020603050405020304" pitchFamily="18" charset="0"/>
                <a:cs typeface="Times New Roman" panose="02020603050405020304" pitchFamily="18" charset="0"/>
              </a:rPr>
              <a:t>5</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人有顺序</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b="1">
                <a:solidFill>
                  <a:srgbClr val="000000"/>
                </a:solidFill>
                <a:latin typeface="Times New Roman" panose="02020603050405020304" pitchFamily="18" charset="0"/>
                <a:cs typeface="Times New Roman" panose="02020603050405020304" pitchFamily="18" charset="0"/>
              </a:rPr>
              <a:t>2</a:t>
            </a:r>
            <a:r>
              <a:rPr lang="en-US" altLang="zh-CN" sz="2800" i="1" smtClean="0">
                <a:solidFill>
                  <a:srgbClr val="000000"/>
                </a:solidFill>
                <a:latin typeface="Times New Roman" panose="02020603050405020304" pitchFamily="18" charset="0"/>
                <a:cs typeface="Times New Roman" panose="02020603050405020304" pitchFamily="18" charset="0"/>
              </a:rPr>
              <a:t>.</a:t>
            </a:r>
            <a:r>
              <a:rPr lang="en-US" altLang="zh-CN" sz="2800" smtClean="0">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cs typeface="Times New Roman" panose="02020603050405020304" pitchFamily="18" charset="0"/>
              </a:rPr>
              <a:t>一般地</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从</a:t>
            </a:r>
            <a:r>
              <a:rPr lang="en-US" altLang="zh-CN" sz="2800" i="1">
                <a:solidFill>
                  <a:srgbClr val="000000"/>
                </a:solidFill>
                <a:latin typeface="Times New Roman" panose="02020603050405020304" pitchFamily="18" charset="0"/>
                <a:cs typeface="Times New Roman" panose="02020603050405020304" pitchFamily="18" charset="0"/>
              </a:rPr>
              <a:t>n</a:t>
            </a:r>
            <a:r>
              <a:rPr lang="zh-CN" altLang="zh-CN" sz="2800">
                <a:solidFill>
                  <a:srgbClr val="000000"/>
                </a:solidFill>
                <a:latin typeface="Times New Roman" panose="02020603050405020304" pitchFamily="18" charset="0"/>
                <a:cs typeface="Times New Roman" panose="02020603050405020304" pitchFamily="18" charset="0"/>
              </a:rPr>
              <a:t>个不同元素中取出</a:t>
            </a:r>
            <a:r>
              <a:rPr lang="en-US" altLang="zh-CN" sz="2800" i="1" smtClean="0">
                <a:solidFill>
                  <a:srgbClr val="000000"/>
                </a:solidFill>
                <a:latin typeface="Times New Roman" panose="02020603050405020304" pitchFamily="18" charset="0"/>
                <a:cs typeface="Times New Roman" panose="02020603050405020304" pitchFamily="18" charset="0"/>
              </a:rPr>
              <a:t>m</a:t>
            </a:r>
            <a:r>
              <a:rPr lang="en-US" altLang="zh-CN" sz="2800" smtClean="0">
                <a:solidFill>
                  <a:srgbClr val="000000"/>
                </a:solidFill>
                <a:latin typeface="Times New Roman" panose="02020603050405020304" pitchFamily="18" charset="0"/>
                <a:cs typeface="Times New Roman" panose="02020603050405020304" pitchFamily="18" charset="0"/>
              </a:rPr>
              <a:t>(</a:t>
            </a:r>
            <a:r>
              <a:rPr lang="en-US" altLang="zh-CN" sz="2800" i="1" smtClean="0">
                <a:solidFill>
                  <a:srgbClr val="000000"/>
                </a:solidFill>
                <a:latin typeface="Times New Roman" panose="02020603050405020304" pitchFamily="18" charset="0"/>
                <a:cs typeface="Times New Roman" panose="02020603050405020304" pitchFamily="18" charset="0"/>
              </a:rPr>
              <a:t>m</a:t>
            </a:r>
            <a:r>
              <a:rPr lang="en-US" altLang="zh-CN" sz="280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n</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个</a:t>
            </a:r>
            <a:r>
              <a:rPr lang="zh-CN" altLang="zh-CN" sz="2800" smtClean="0">
                <a:solidFill>
                  <a:srgbClr val="000000"/>
                </a:solidFill>
                <a:latin typeface="Times New Roman" panose="02020603050405020304" pitchFamily="18" charset="0"/>
                <a:cs typeface="Times New Roman" panose="02020603050405020304" pitchFamily="18" charset="0"/>
              </a:rPr>
              <a:t>元素</a:t>
            </a:r>
            <a:r>
              <a:rPr lang="zh-CN" altLang="zh-CN" sz="2800" smtClean="0">
                <a:solidFill>
                  <a:srgbClr val="FF0000"/>
                </a:solidFill>
                <a:latin typeface="Times New Roman" panose="02020603050405020304" pitchFamily="18" charset="0"/>
                <a:cs typeface="Times New Roman" panose="02020603050405020304" pitchFamily="18" charset="0"/>
              </a:rPr>
              <a:t>作为</a:t>
            </a:r>
            <a:r>
              <a:rPr lang="zh-CN" altLang="zh-CN" sz="2800">
                <a:solidFill>
                  <a:srgbClr val="FF0000"/>
                </a:solidFill>
                <a:latin typeface="Times New Roman" panose="02020603050405020304" pitchFamily="18" charset="0"/>
                <a:cs typeface="Times New Roman" panose="02020603050405020304" pitchFamily="18" charset="0"/>
              </a:rPr>
              <a:t>一组</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叫做从</a:t>
            </a:r>
            <a:r>
              <a:rPr lang="en-US" altLang="zh-CN" sz="2800" i="1">
                <a:solidFill>
                  <a:srgbClr val="000000"/>
                </a:solidFill>
                <a:latin typeface="Times New Roman" panose="02020603050405020304" pitchFamily="18" charset="0"/>
                <a:cs typeface="Times New Roman" panose="02020603050405020304" pitchFamily="18" charset="0"/>
              </a:rPr>
              <a:t>n</a:t>
            </a:r>
            <a:r>
              <a:rPr lang="zh-CN" altLang="zh-CN" sz="2800">
                <a:solidFill>
                  <a:srgbClr val="000000"/>
                </a:solidFill>
                <a:latin typeface="Times New Roman" panose="02020603050405020304" pitchFamily="18" charset="0"/>
                <a:cs typeface="Times New Roman" panose="02020603050405020304" pitchFamily="18" charset="0"/>
              </a:rPr>
              <a:t>个不同元素中取出</a:t>
            </a:r>
            <a:r>
              <a:rPr lang="en-US" altLang="zh-CN" sz="2800" i="1">
                <a:solidFill>
                  <a:srgbClr val="000000"/>
                </a:solidFill>
                <a:latin typeface="Times New Roman" panose="02020603050405020304" pitchFamily="18" charset="0"/>
                <a:cs typeface="Times New Roman" panose="02020603050405020304" pitchFamily="18" charset="0"/>
              </a:rPr>
              <a:t>m</a:t>
            </a:r>
            <a:r>
              <a:rPr lang="zh-CN" altLang="zh-CN" sz="2800">
                <a:solidFill>
                  <a:srgbClr val="000000"/>
                </a:solidFill>
                <a:latin typeface="Times New Roman" panose="02020603050405020304" pitchFamily="18" charset="0"/>
                <a:cs typeface="Times New Roman" panose="02020603050405020304" pitchFamily="18" charset="0"/>
              </a:rPr>
              <a:t>个元素的一个组合</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cs typeface="Times New Roman" panose="02020603050405020304" pitchFamily="18" charset="0"/>
              </a:rPr>
              <a:t>两个组合只要</a:t>
            </a:r>
            <a:r>
              <a:rPr lang="zh-CN" altLang="zh-CN" sz="2800">
                <a:solidFill>
                  <a:srgbClr val="FF0000"/>
                </a:solidFill>
                <a:latin typeface="Times New Roman" panose="02020603050405020304" pitchFamily="18" charset="0"/>
                <a:cs typeface="Times New Roman" panose="02020603050405020304" pitchFamily="18" charset="0"/>
              </a:rPr>
              <a:t>元素</a:t>
            </a:r>
            <a:r>
              <a:rPr lang="zh-CN" altLang="zh-CN" sz="2800">
                <a:solidFill>
                  <a:srgbClr val="000000"/>
                </a:solidFill>
                <a:latin typeface="Times New Roman" panose="02020603050405020304" pitchFamily="18" charset="0"/>
                <a:cs typeface="Times New Roman" panose="02020603050405020304" pitchFamily="18" charset="0"/>
              </a:rPr>
              <a:t>相同</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不论元素的顺序如何</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都是相同的</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b="1">
                <a:solidFill>
                  <a:srgbClr val="000000"/>
                </a:solidFill>
                <a:latin typeface="Times New Roman" panose="02020603050405020304" pitchFamily="18" charset="0"/>
                <a:cs typeface="Times New Roman" panose="02020603050405020304" pitchFamily="18" charset="0"/>
              </a:rPr>
              <a:t>3</a:t>
            </a:r>
            <a:r>
              <a:rPr lang="en-US" altLang="zh-CN" sz="2800" i="1" smtClean="0">
                <a:solidFill>
                  <a:srgbClr val="000000"/>
                </a:solidFill>
                <a:latin typeface="Times New Roman" panose="02020603050405020304" pitchFamily="18" charset="0"/>
                <a:cs typeface="Times New Roman" panose="02020603050405020304" pitchFamily="18" charset="0"/>
              </a:rPr>
              <a:t>.</a:t>
            </a:r>
            <a:r>
              <a:rPr lang="zh-CN" altLang="zh-CN" sz="2800" smtClean="0">
                <a:solidFill>
                  <a:srgbClr val="000000"/>
                </a:solidFill>
                <a:latin typeface="Times New Roman" panose="02020603050405020304" pitchFamily="18" charset="0"/>
                <a:cs typeface="Times New Roman" panose="02020603050405020304" pitchFamily="18" charset="0"/>
              </a:rPr>
              <a:t> 区</a:t>
            </a:r>
            <a:r>
              <a:rPr lang="zh-CN" altLang="zh-CN" sz="2800">
                <a:solidFill>
                  <a:srgbClr val="000000"/>
                </a:solidFill>
                <a:latin typeface="Times New Roman" panose="02020603050405020304" pitchFamily="18" charset="0"/>
                <a:cs typeface="Times New Roman" panose="02020603050405020304" pitchFamily="18" charset="0"/>
              </a:rPr>
              <a:t>分一个问题是排列问题还是组合问题的关键是什么</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FF0000"/>
                </a:solidFill>
                <a:latin typeface="Arial" panose="020B0604020202020204" pitchFamily="34" charset="0"/>
                <a:ea typeface="黑体" panose="02010609060101010101" pitchFamily="49" charset="-122"/>
                <a:cs typeface="Times New Roman" panose="02020603050405020304" pitchFamily="18" charset="0"/>
              </a:rPr>
              <a:t>提示</a:t>
            </a:r>
            <a:r>
              <a:rPr lang="en-US" altLang="zh-CN" sz="280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关键是看它有无顺序</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有顺序的是排列问题</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无顺序的是组合问题</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sp>
        <p:nvSpPr>
          <p:cNvPr id="5" name="矩形 4"/>
          <p:cNvSpPr/>
          <p:nvPr/>
        </p:nvSpPr>
        <p:spPr>
          <a:xfrm>
            <a:off x="8029866" y="3452667"/>
            <a:ext cx="1424529" cy="545093"/>
          </a:xfrm>
          <a:prstGeom prst="rect">
            <a:avLst/>
          </a:prstGeom>
          <a:pattFill prst="lgConfetti">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8029866" y="4004264"/>
            <a:ext cx="1424529"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7" name="矩形 6"/>
          <p:cNvSpPr/>
          <p:nvPr/>
        </p:nvSpPr>
        <p:spPr>
          <a:xfrm>
            <a:off x="3037115" y="4542291"/>
            <a:ext cx="707571" cy="545093"/>
          </a:xfrm>
          <a:prstGeom prst="rect">
            <a:avLst/>
          </a:prstGeom>
          <a:pattFill prst="lgConfetti">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8" name="直接连接符 7"/>
          <p:cNvCxnSpPr/>
          <p:nvPr/>
        </p:nvCxnSpPr>
        <p:spPr>
          <a:xfrm>
            <a:off x="3037115" y="5093888"/>
            <a:ext cx="707571"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9350289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xEl>
                                              <p:pRg st="4" end="4"/>
                                            </p:txEl>
                                          </p:spTgt>
                                        </p:tgtEl>
                                        <p:attrNameLst>
                                          <p:attrName>style.visibility</p:attrName>
                                        </p:attrNameLst>
                                      </p:cBhvr>
                                      <p:to>
                                        <p:strVal val="visible"/>
                                      </p:to>
                                    </p:set>
                                    <p:animEffect transition="in" filter="randombar(horizontal)">
                                      <p:cBhvr>
                                        <p:cTn id="7" dur="500"/>
                                        <p:tgtEl>
                                          <p:spTgt spid="2">
                                            <p:txEl>
                                              <p:pRg st="4" end="4"/>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xit" presetSubtype="10" fill="hold" grpId="0" nodeType="clickEffect">
                                  <p:stCondLst>
                                    <p:cond delay="0"/>
                                  </p:stCondLst>
                                  <p:childTnLst>
                                    <p:animEffect transition="out" filter="randombar(horizontal)">
                                      <p:cBhvr>
                                        <p:cTn id="11" dur="500"/>
                                        <p:tgtEl>
                                          <p:spTgt spid="5"/>
                                        </p:tgtEl>
                                      </p:cBhvr>
                                    </p:animEffect>
                                    <p:set>
                                      <p:cBhvr>
                                        <p:cTn id="12" dur="1" fill="hold">
                                          <p:stCondLst>
                                            <p:cond delay="499"/>
                                          </p:stCondLst>
                                        </p:cTn>
                                        <p:tgtEl>
                                          <p:spTgt spid="5"/>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4" presetClass="exit" presetSubtype="10" fill="hold" grpId="0" nodeType="clickEffect">
                                  <p:stCondLst>
                                    <p:cond delay="0"/>
                                  </p:stCondLst>
                                  <p:childTnLst>
                                    <p:animEffect transition="out" filter="randombar(horizontal)">
                                      <p:cBhvr>
                                        <p:cTn id="16" dur="500"/>
                                        <p:tgtEl>
                                          <p:spTgt spid="7"/>
                                        </p:tgtEl>
                                      </p:cBhvr>
                                    </p:animEffect>
                                    <p:set>
                                      <p:cBhvr>
                                        <p:cTn id="17" dur="1" fill="hold">
                                          <p:stCondLst>
                                            <p:cond delay="499"/>
                                          </p:stCondLst>
                                        </p:cTn>
                                        <p:tgtEl>
                                          <p:spTgt spid="7"/>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nodeType="clickEffect">
                                  <p:stCondLst>
                                    <p:cond delay="0"/>
                                  </p:stCondLst>
                                  <p:childTnLst>
                                    <p:set>
                                      <p:cBhvr>
                                        <p:cTn id="21" dur="1" fill="hold">
                                          <p:stCondLst>
                                            <p:cond delay="0"/>
                                          </p:stCondLst>
                                        </p:cTn>
                                        <p:tgtEl>
                                          <p:spTgt spid="2">
                                            <p:txEl>
                                              <p:pRg st="8" end="8"/>
                                            </p:txEl>
                                          </p:spTgt>
                                        </p:tgtEl>
                                        <p:attrNameLst>
                                          <p:attrName>style.visibility</p:attrName>
                                        </p:attrNameLst>
                                      </p:cBhvr>
                                      <p:to>
                                        <p:strVal val="visible"/>
                                      </p:to>
                                    </p:set>
                                    <p:animEffect transition="in" filter="randombar(horizontal)">
                                      <p:cBhvr>
                                        <p:cTn id="22" dur="500"/>
                                        <p:tgtEl>
                                          <p:spTgt spid="2">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1082780"/>
            <a:ext cx="11430000" cy="5133713"/>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b="1">
                <a:solidFill>
                  <a:srgbClr val="000000"/>
                </a:solidFill>
                <a:latin typeface="Times New Roman" panose="02020603050405020304" pitchFamily="18" charset="0"/>
                <a:cs typeface="Times New Roman" panose="02020603050405020304" pitchFamily="18" charset="0"/>
              </a:rPr>
              <a:t>4</a:t>
            </a:r>
            <a:r>
              <a:rPr lang="en-US" altLang="zh-CN" sz="2800" i="1" smtClean="0">
                <a:solidFill>
                  <a:srgbClr val="000000"/>
                </a:solidFill>
                <a:latin typeface="Times New Roman" panose="02020603050405020304" pitchFamily="18" charset="0"/>
                <a:cs typeface="Times New Roman" panose="02020603050405020304" pitchFamily="18" charset="0"/>
              </a:rPr>
              <a:t>.</a:t>
            </a:r>
            <a:r>
              <a:rPr lang="zh-CN" altLang="zh-CN" sz="2800" smtClean="0">
                <a:solidFill>
                  <a:srgbClr val="000000"/>
                </a:solidFill>
                <a:latin typeface="Times New Roman" panose="02020603050405020304" pitchFamily="18" charset="0"/>
                <a:cs typeface="Times New Roman" panose="02020603050405020304" pitchFamily="18" charset="0"/>
              </a:rPr>
              <a:t> 下</a:t>
            </a:r>
            <a:r>
              <a:rPr lang="zh-CN" altLang="zh-CN" sz="2800">
                <a:solidFill>
                  <a:srgbClr val="000000"/>
                </a:solidFill>
                <a:latin typeface="Times New Roman" panose="02020603050405020304" pitchFamily="18" charset="0"/>
                <a:cs typeface="Times New Roman" panose="02020603050405020304" pitchFamily="18" charset="0"/>
              </a:rPr>
              <a:t>列几个问题是组合问题的有</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i="1">
                <a:solidFill>
                  <a:srgbClr val="000000"/>
                </a:solidFill>
                <a:latin typeface="Times New Roman" panose="02020603050405020304" pitchFamily="18" charset="0"/>
                <a:cs typeface="Times New Roman" panose="02020603050405020304" pitchFamily="18" charset="0"/>
              </a:rPr>
              <a:t>　　</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000000"/>
                </a:solidFill>
                <a:latin typeface="NEU-BZ-S92"/>
                <a:cs typeface="宋体" panose="02010600030101010101" pitchFamily="2" charset="-122"/>
              </a:rPr>
              <a:t>①</a:t>
            </a:r>
            <a:r>
              <a:rPr lang="zh-CN" altLang="zh-CN" sz="2800">
                <a:solidFill>
                  <a:srgbClr val="000000"/>
                </a:solidFill>
                <a:latin typeface="Times New Roman" panose="02020603050405020304" pitchFamily="18" charset="0"/>
                <a:cs typeface="Times New Roman" panose="02020603050405020304" pitchFamily="18" charset="0"/>
              </a:rPr>
              <a:t>从甲、乙、丙</a:t>
            </a:r>
            <a:r>
              <a:rPr lang="en-US" altLang="zh-CN" sz="28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Times New Roman" panose="02020603050405020304" pitchFamily="18" charset="0"/>
                <a:cs typeface="Times New Roman" panose="02020603050405020304" pitchFamily="18" charset="0"/>
              </a:rPr>
              <a:t>名同学中选出</a:t>
            </a:r>
            <a:r>
              <a:rPr lang="en-US" altLang="zh-CN" sz="2800" smtClean="0">
                <a:solidFill>
                  <a:srgbClr val="000000"/>
                </a:solidFill>
                <a:latin typeface="Times New Roman" panose="02020603050405020304" pitchFamily="18" charset="0"/>
                <a:cs typeface="Times New Roman" panose="02020603050405020304" pitchFamily="18" charset="0"/>
              </a:rPr>
              <a:t>2</a:t>
            </a:r>
            <a:r>
              <a:rPr lang="zh-CN" altLang="en-US" sz="2800">
                <a:solidFill>
                  <a:srgbClr val="000000"/>
                </a:solidFill>
                <a:latin typeface="Times New Roman" panose="02020603050405020304" pitchFamily="18" charset="0"/>
                <a:cs typeface="Times New Roman" panose="02020603050405020304" pitchFamily="18" charset="0"/>
              </a:rPr>
              <a:t>名同学分别去参加两个社区的社会调查</a:t>
            </a:r>
            <a:r>
              <a:rPr lang="en-US" altLang="zh-CN" sz="2800" smtClean="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有多少种不同的选法</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000000"/>
                </a:solidFill>
                <a:latin typeface="NEU-BZ-S92"/>
                <a:cs typeface="宋体" panose="02010600030101010101" pitchFamily="2" charset="-122"/>
              </a:rPr>
              <a:t>②</a:t>
            </a:r>
            <a:r>
              <a:rPr lang="zh-CN" altLang="zh-CN" sz="2800">
                <a:solidFill>
                  <a:srgbClr val="000000"/>
                </a:solidFill>
                <a:latin typeface="Times New Roman" panose="02020603050405020304" pitchFamily="18" charset="0"/>
                <a:cs typeface="Times New Roman" panose="02020603050405020304" pitchFamily="18" charset="0"/>
              </a:rPr>
              <a:t>从甲、乙、丙</a:t>
            </a:r>
            <a:r>
              <a:rPr lang="en-US" altLang="zh-CN" sz="28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Times New Roman" panose="02020603050405020304" pitchFamily="18" charset="0"/>
                <a:cs typeface="Times New Roman" panose="02020603050405020304" pitchFamily="18" charset="0"/>
              </a:rPr>
              <a:t>名同学中选出</a:t>
            </a: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cs typeface="Times New Roman" panose="02020603050405020304" pitchFamily="18" charset="0"/>
              </a:rPr>
              <a:t>名同学</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有多少种不同的选法</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000000"/>
                </a:solidFill>
                <a:latin typeface="NEU-BZ-S92"/>
                <a:cs typeface="宋体" panose="02010600030101010101" pitchFamily="2" charset="-122"/>
              </a:rPr>
              <a:t>③</a:t>
            </a:r>
            <a:r>
              <a:rPr lang="en-US" altLang="zh-CN" sz="2800">
                <a:solidFill>
                  <a:srgbClr val="000000"/>
                </a:solidFill>
                <a:latin typeface="Times New Roman" panose="02020603050405020304" pitchFamily="18" charset="0"/>
                <a:cs typeface="Times New Roman" panose="02020603050405020304" pitchFamily="18" charset="0"/>
              </a:rPr>
              <a:t>4</a:t>
            </a:r>
            <a:r>
              <a:rPr lang="zh-CN" altLang="zh-CN" sz="2800">
                <a:solidFill>
                  <a:srgbClr val="000000"/>
                </a:solidFill>
                <a:latin typeface="Times New Roman" panose="02020603050405020304" pitchFamily="18" charset="0"/>
                <a:cs typeface="Times New Roman" panose="02020603050405020304" pitchFamily="18" charset="0"/>
              </a:rPr>
              <a:t>人参加</a:t>
            </a:r>
            <a:r>
              <a:rPr lang="en-US" altLang="zh-CN" sz="2800">
                <a:solidFill>
                  <a:srgbClr val="000000"/>
                </a:solidFill>
                <a:latin typeface="Times New Roman" panose="02020603050405020304" pitchFamily="18" charset="0"/>
                <a:cs typeface="Times New Roman" panose="02020603050405020304" pitchFamily="18" charset="0"/>
              </a:rPr>
              <a:t>5</a:t>
            </a:r>
            <a:r>
              <a:rPr lang="zh-CN" altLang="zh-CN" sz="2800">
                <a:solidFill>
                  <a:srgbClr val="000000"/>
                </a:solidFill>
                <a:latin typeface="Times New Roman" panose="02020603050405020304" pitchFamily="18" charset="0"/>
                <a:cs typeface="Times New Roman" panose="02020603050405020304" pitchFamily="18" charset="0"/>
              </a:rPr>
              <a:t>种不同的运动</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每人参加一种</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有多少种方法</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smtClean="0">
                <a:solidFill>
                  <a:srgbClr val="000000"/>
                </a:solidFill>
                <a:latin typeface="NEU-BZ-S92"/>
                <a:cs typeface="宋体" panose="02010600030101010101" pitchFamily="2" charset="-122"/>
              </a:rPr>
              <a:t>④</a:t>
            </a:r>
            <a:r>
              <a:rPr lang="zh-CN" altLang="en-US" sz="2800">
                <a:solidFill>
                  <a:srgbClr val="000000"/>
                </a:solidFill>
                <a:latin typeface="Times New Roman" panose="02020603050405020304" pitchFamily="18" charset="0"/>
                <a:cs typeface="Times New Roman" panose="02020603050405020304" pitchFamily="18" charset="0"/>
              </a:rPr>
              <a:t>甲、乙、丙、丁四支足球队之间进行单循环比赛</a:t>
            </a:r>
            <a:r>
              <a:rPr lang="en-US" altLang="zh-CN" sz="2800" smtClean="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共需要赛多少场</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A.</a:t>
            </a:r>
            <a:r>
              <a:rPr lang="zh-CN" altLang="zh-CN" sz="2800">
                <a:solidFill>
                  <a:srgbClr val="000000"/>
                </a:solidFill>
                <a:latin typeface="NEU-BZ-S92"/>
                <a:cs typeface="宋体" panose="02010600030101010101" pitchFamily="2" charset="-122"/>
              </a:rPr>
              <a:t>①②</a:t>
            </a:r>
            <a:r>
              <a:rPr lang="en-US" altLang="zh-CN" sz="2800">
                <a:solidFill>
                  <a:srgbClr val="000000"/>
                </a:solidFill>
                <a:latin typeface="Times New Roman" panose="02020603050405020304" pitchFamily="18" charset="0"/>
                <a:cs typeface="Times New Roman" panose="02020603050405020304" pitchFamily="18" charset="0"/>
              </a:rPr>
              <a:t>	</a:t>
            </a:r>
            <a:r>
              <a:rPr lang="en-US" altLang="zh-CN" sz="2800" smtClean="0">
                <a:solidFill>
                  <a:srgbClr val="000000"/>
                </a:solidFill>
                <a:latin typeface="Times New Roman" panose="02020603050405020304" pitchFamily="18" charset="0"/>
                <a:cs typeface="Times New Roman" panose="02020603050405020304" pitchFamily="18" charset="0"/>
              </a:rPr>
              <a:t>   B</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NEU-BZ-S92"/>
                <a:cs typeface="宋体" panose="02010600030101010101" pitchFamily="2" charset="-122"/>
              </a:rPr>
              <a:t>③④</a:t>
            </a:r>
            <a:r>
              <a:rPr lang="en-US" altLang="zh-CN" sz="2800">
                <a:solidFill>
                  <a:srgbClr val="000000"/>
                </a:solidFill>
                <a:latin typeface="Times New Roman" panose="02020603050405020304" pitchFamily="18" charset="0"/>
                <a:cs typeface="Times New Roman" panose="02020603050405020304" pitchFamily="18" charset="0"/>
              </a:rPr>
              <a:t>	C.</a:t>
            </a:r>
            <a:r>
              <a:rPr lang="zh-CN" altLang="zh-CN" sz="2800">
                <a:solidFill>
                  <a:srgbClr val="000000"/>
                </a:solidFill>
                <a:latin typeface="NEU-BZ-S92"/>
                <a:cs typeface="宋体" panose="02010600030101010101" pitchFamily="2" charset="-122"/>
              </a:rPr>
              <a:t>①</a:t>
            </a:r>
            <a:r>
              <a:rPr lang="zh-CN" altLang="zh-CN" sz="2800" smtClean="0">
                <a:solidFill>
                  <a:srgbClr val="000000"/>
                </a:solidFill>
                <a:latin typeface="NEU-BZ-S92"/>
                <a:cs typeface="宋体" panose="02010600030101010101" pitchFamily="2" charset="-122"/>
              </a:rPr>
              <a:t>③</a:t>
            </a:r>
            <a:r>
              <a:rPr lang="en-US" altLang="zh-CN" sz="2800" smtClean="0">
                <a:solidFill>
                  <a:srgbClr val="000000"/>
                </a:solidFill>
                <a:latin typeface="NEU-BZ-S92"/>
                <a:cs typeface="宋体" panose="02010600030101010101" pitchFamily="2" charset="-122"/>
              </a:rPr>
              <a:t>	</a:t>
            </a:r>
            <a:r>
              <a:rPr lang="en-US" altLang="zh-CN" sz="2800">
                <a:solidFill>
                  <a:srgbClr val="000000"/>
                </a:solidFill>
                <a:latin typeface="Times New Roman" panose="02020603050405020304" pitchFamily="18" charset="0"/>
                <a:cs typeface="Times New Roman" panose="02020603050405020304" pitchFamily="18" charset="0"/>
              </a:rPr>
              <a:t>	D.</a:t>
            </a:r>
            <a:r>
              <a:rPr lang="zh-CN" altLang="zh-CN" sz="2800">
                <a:solidFill>
                  <a:srgbClr val="000000"/>
                </a:solidFill>
                <a:latin typeface="NEU-BZ-S92"/>
                <a:cs typeface="宋体" panose="02010600030101010101" pitchFamily="2" charset="-122"/>
              </a:rPr>
              <a:t>②④</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FF0000"/>
                </a:solidFill>
                <a:latin typeface="Arial" panose="020B0604020202020204" pitchFamily="34" charset="0"/>
                <a:ea typeface="黑体" panose="02010609060101010101" pitchFamily="49" charset="-122"/>
                <a:cs typeface="Times New Roman" panose="02020603050405020304" pitchFamily="18" charset="0"/>
              </a:rPr>
              <a:t>解析</a:t>
            </a:r>
            <a:r>
              <a:rPr lang="en-US" altLang="zh-CN" sz="280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a:solidFill>
                  <a:srgbClr val="000000"/>
                </a:solidFill>
                <a:latin typeface="NEU-BZ-S92"/>
                <a:cs typeface="宋体" panose="02010600030101010101" pitchFamily="2" charset="-122"/>
              </a:rPr>
              <a:t>①③</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与顺序有关</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是排列问题</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NEU-BZ-S92"/>
                <a:cs typeface="宋体" panose="02010600030101010101" pitchFamily="2" charset="-122"/>
              </a:rPr>
              <a:t>②④</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与顺序无关</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是组合问题</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FF0000"/>
                </a:solidFill>
                <a:latin typeface="Arial" panose="020B0604020202020204" pitchFamily="34" charset="0"/>
                <a:ea typeface="黑体" panose="02010609060101010101" pitchFamily="49" charset="-122"/>
                <a:cs typeface="Times New Roman" panose="02020603050405020304" pitchFamily="18" charset="0"/>
              </a:rPr>
              <a:t>答案</a:t>
            </a:r>
            <a:r>
              <a:rPr lang="en-US" altLang="zh-CN" sz="280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D</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146378506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xEl>
                                              <p:pRg st="6" end="6"/>
                                            </p:txEl>
                                          </p:spTgt>
                                        </p:tgtEl>
                                        <p:attrNameLst>
                                          <p:attrName>style.visibility</p:attrName>
                                        </p:attrNameLst>
                                      </p:cBhvr>
                                      <p:to>
                                        <p:strVal val="visible"/>
                                      </p:to>
                                    </p:set>
                                    <p:animEffect transition="in" filter="randombar(horizontal)">
                                      <p:cBhvr>
                                        <p:cTn id="7" dur="500"/>
                                        <p:tgtEl>
                                          <p:spTgt spid="2">
                                            <p:txEl>
                                              <p:pRg st="6" end="6"/>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2">
                                            <p:txEl>
                                              <p:pRg st="7" end="7"/>
                                            </p:txEl>
                                          </p:spTgt>
                                        </p:tgtEl>
                                        <p:attrNameLst>
                                          <p:attrName>style.visibility</p:attrName>
                                        </p:attrNameLst>
                                      </p:cBhvr>
                                      <p:to>
                                        <p:strVal val="visible"/>
                                      </p:to>
                                    </p:set>
                                    <p:animEffect transition="in" filter="randombar(horizontal)">
                                      <p:cBhvr>
                                        <p:cTn id="12" dur="500"/>
                                        <p:tgtEl>
                                          <p:spTgt spid="2">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537436"/>
            <a:ext cx="11430000" cy="2893100"/>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000000"/>
                </a:solidFill>
                <a:latin typeface="NEU-BZ-S92"/>
                <a:ea typeface="方正正中黑简体"/>
                <a:cs typeface="Times New Roman" panose="02020603050405020304" pitchFamily="18" charset="0"/>
              </a:rPr>
              <a:t>二、组合数及组合数公式</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b="1" smtClean="0">
                <a:solidFill>
                  <a:srgbClr val="000000"/>
                </a:solidFill>
                <a:latin typeface="Times New Roman" panose="02020603050405020304" pitchFamily="18" charset="0"/>
                <a:cs typeface="Times New Roman" panose="02020603050405020304" pitchFamily="18" charset="0"/>
              </a:rPr>
              <a:t>1</a:t>
            </a:r>
            <a:r>
              <a:rPr lang="en-US" altLang="zh-CN" sz="2800" i="1">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从</a:t>
            </a:r>
            <a:r>
              <a:rPr lang="en-US" altLang="zh-CN" sz="2800">
                <a:solidFill>
                  <a:srgbClr val="000000"/>
                </a:solidFill>
                <a:latin typeface="Times New Roman" panose="02020603050405020304" pitchFamily="18" charset="0"/>
                <a:cs typeface="Times New Roman" panose="02020603050405020304" pitchFamily="18" charset="0"/>
              </a:rPr>
              <a:t>1,3,5,7</a:t>
            </a:r>
            <a:r>
              <a:rPr lang="zh-CN" altLang="zh-CN" sz="2800">
                <a:solidFill>
                  <a:srgbClr val="000000"/>
                </a:solidFill>
                <a:latin typeface="Times New Roman" panose="02020603050405020304" pitchFamily="18" charset="0"/>
                <a:cs typeface="Times New Roman" panose="02020603050405020304" pitchFamily="18" charset="0"/>
              </a:rPr>
              <a:t>中任取两个数相除</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cs typeface="Times New Roman" panose="02020603050405020304" pitchFamily="18" charset="0"/>
              </a:rPr>
              <a:t>可以得到多少个不同的商</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cs typeface="Times New Roman" panose="02020603050405020304" pitchFamily="18" charset="0"/>
              </a:rPr>
              <a:t>如何用分步乘法计数原理求商的个数</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Times New Roman" panose="02020603050405020304" pitchFamily="18" charset="0"/>
                <a:cs typeface="Times New Roman" panose="02020603050405020304" pitchFamily="18" charset="0"/>
              </a:rPr>
              <a:t>你能得出</a:t>
            </a:r>
            <a:r>
              <a:rPr lang="zh-CN" altLang="zh-CN" sz="2800" smtClean="0">
                <a:solidFill>
                  <a:srgbClr val="000000"/>
                </a:solidFill>
                <a:latin typeface="Times New Roman" panose="02020603050405020304" pitchFamily="18" charset="0"/>
                <a:cs typeface="Times New Roman" panose="02020603050405020304" pitchFamily="18" charset="0"/>
              </a:rPr>
              <a:t>计算</a:t>
            </a:r>
            <a:r>
              <a:rPr lang="en-US" altLang="zh-CN" sz="2800" smtClean="0">
                <a:solidFill>
                  <a:srgbClr val="000000"/>
                </a:solidFill>
                <a:latin typeface="Times New Roman" panose="02020603050405020304" pitchFamily="18" charset="0"/>
                <a:cs typeface="Times New Roman" panose="02020603050405020304" pitchFamily="18" charset="0"/>
              </a:rPr>
              <a:t>      </a:t>
            </a:r>
            <a:r>
              <a:rPr lang="zh-CN" altLang="zh-CN" sz="2800" smtClean="0">
                <a:solidFill>
                  <a:srgbClr val="000000"/>
                </a:solidFill>
                <a:latin typeface="Times New Roman" panose="02020603050405020304" pitchFamily="18" charset="0"/>
                <a:cs typeface="Times New Roman" panose="02020603050405020304" pitchFamily="18" charset="0"/>
              </a:rPr>
              <a:t>的</a:t>
            </a:r>
            <a:r>
              <a:rPr lang="zh-CN" altLang="zh-CN" sz="2800">
                <a:solidFill>
                  <a:srgbClr val="000000"/>
                </a:solidFill>
                <a:latin typeface="Times New Roman" panose="02020603050405020304" pitchFamily="18" charset="0"/>
                <a:cs typeface="Times New Roman" panose="02020603050405020304" pitchFamily="18" charset="0"/>
              </a:rPr>
              <a:t>公式吗</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3394466173"/>
              </p:ext>
            </p:extLst>
          </p:nvPr>
        </p:nvGraphicFramePr>
        <p:xfrm>
          <a:off x="2871627" y="2798709"/>
          <a:ext cx="830263" cy="493713"/>
        </p:xfrm>
        <a:graphic>
          <a:graphicData uri="http://schemas.openxmlformats.org/presentationml/2006/ole">
            <mc:AlternateContent xmlns:mc="http://schemas.openxmlformats.org/markup-compatibility/2006">
              <mc:Choice xmlns:v="urn:schemas-microsoft-com:vml" Requires="v">
                <p:oleObj spid="_x0000_s1064" name="文档" r:id="rId4" imgW="343943" imgH="197659" progId="Word.Document.12">
                  <p:embed/>
                </p:oleObj>
              </mc:Choice>
              <mc:Fallback>
                <p:oleObj name="文档" r:id="rId4" imgW="343943" imgH="197659" progId="Word.Document.12">
                  <p:embed/>
                  <p:pic>
                    <p:nvPicPr>
                      <p:cNvPr id="0" name=""/>
                      <p:cNvPicPr/>
                      <p:nvPr/>
                    </p:nvPicPr>
                    <p:blipFill>
                      <a:blip r:embed="rId5"/>
                      <a:stretch>
                        <a:fillRect/>
                      </a:stretch>
                    </p:blipFill>
                    <p:spPr>
                      <a:xfrm>
                        <a:off x="2871627" y="2798709"/>
                        <a:ext cx="830263" cy="493713"/>
                      </a:xfrm>
                      <a:prstGeom prst="rect">
                        <a:avLst/>
                      </a:prstGeom>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4119806415"/>
              </p:ext>
            </p:extLst>
          </p:nvPr>
        </p:nvGraphicFramePr>
        <p:xfrm>
          <a:off x="458424" y="3420262"/>
          <a:ext cx="11275153" cy="2702003"/>
        </p:xfrm>
        <a:graphic>
          <a:graphicData uri="http://schemas.openxmlformats.org/presentationml/2006/ole">
            <mc:AlternateContent xmlns:mc="http://schemas.openxmlformats.org/markup-compatibility/2006">
              <mc:Choice xmlns:v="urn:schemas-microsoft-com:vml" Requires="v">
                <p:oleObj spid="_x0000_s1065" name="文档" r:id="rId7" imgW="4510061" imgH="1080801" progId="Word.Document.12">
                  <p:embed/>
                </p:oleObj>
              </mc:Choice>
              <mc:Fallback>
                <p:oleObj name="文档" r:id="rId7" imgW="4510061" imgH="1080801" progId="Word.Document.12">
                  <p:embed/>
                  <p:pic>
                    <p:nvPicPr>
                      <p:cNvPr id="0" name=""/>
                      <p:cNvPicPr/>
                      <p:nvPr/>
                    </p:nvPicPr>
                    <p:blipFill>
                      <a:blip r:embed="rId8"/>
                      <a:stretch>
                        <a:fillRect/>
                      </a:stretch>
                    </p:blipFill>
                    <p:spPr>
                      <a:xfrm>
                        <a:off x="458424" y="3420262"/>
                        <a:ext cx="11275153" cy="2702003"/>
                      </a:xfrm>
                      <a:prstGeom prst="rect">
                        <a:avLst/>
                      </a:prstGeom>
                    </p:spPr>
                  </p:pic>
                </p:oleObj>
              </mc:Fallback>
            </mc:AlternateContent>
          </a:graphicData>
        </a:graphic>
      </p:graphicFrame>
    </p:spTree>
    <p:extLst>
      <p:ext uri="{BB962C8B-B14F-4D97-AF65-F5344CB8AC3E}">
        <p14:creationId xmlns:p14="http://schemas.microsoft.com/office/powerpoint/2010/main" val="262623459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randombar(horizont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829024"/>
            <a:ext cx="11430000" cy="1772793"/>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b="1">
                <a:solidFill>
                  <a:srgbClr val="000000"/>
                </a:solidFill>
                <a:latin typeface="Times New Roman" panose="02020603050405020304" pitchFamily="18" charset="0"/>
                <a:cs typeface="Times New Roman" panose="02020603050405020304" pitchFamily="18" charset="0"/>
              </a:rPr>
              <a:t>2</a:t>
            </a:r>
            <a:r>
              <a:rPr lang="en-US" altLang="zh-CN" sz="2800" i="1" smtClean="0">
                <a:solidFill>
                  <a:srgbClr val="000000"/>
                </a:solidFill>
                <a:latin typeface="Times New Roman" panose="02020603050405020304" pitchFamily="18" charset="0"/>
                <a:cs typeface="Times New Roman" panose="02020603050405020304" pitchFamily="18" charset="0"/>
              </a:rPr>
              <a:t>.</a:t>
            </a:r>
            <a:r>
              <a:rPr lang="en-US" altLang="zh-CN" sz="2800" smtClean="0">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cs typeface="Times New Roman" panose="02020603050405020304" pitchFamily="18" charset="0"/>
              </a:rPr>
              <a:t>组合数的概念</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从</a:t>
            </a:r>
            <a:r>
              <a:rPr lang="en-US" altLang="zh-CN" sz="2800" i="1">
                <a:solidFill>
                  <a:srgbClr val="000000"/>
                </a:solidFill>
                <a:latin typeface="Times New Roman" panose="02020603050405020304" pitchFamily="18" charset="0"/>
                <a:cs typeface="Times New Roman" panose="02020603050405020304" pitchFamily="18" charset="0"/>
              </a:rPr>
              <a:t>n</a:t>
            </a:r>
            <a:r>
              <a:rPr lang="zh-CN" altLang="zh-CN" sz="2800">
                <a:solidFill>
                  <a:srgbClr val="000000"/>
                </a:solidFill>
                <a:latin typeface="Times New Roman" panose="02020603050405020304" pitchFamily="18" charset="0"/>
                <a:cs typeface="Times New Roman" panose="02020603050405020304" pitchFamily="18" charset="0"/>
              </a:rPr>
              <a:t>个不同元素中取出</a:t>
            </a:r>
            <a:r>
              <a:rPr lang="en-US" altLang="zh-CN" sz="2800" i="1">
                <a:solidFill>
                  <a:srgbClr val="000000"/>
                </a:solidFill>
                <a:latin typeface="Times New Roman" panose="02020603050405020304" pitchFamily="18" charset="0"/>
                <a:cs typeface="Times New Roman" panose="02020603050405020304" pitchFamily="18" charset="0"/>
              </a:rPr>
              <a:t>m</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m</a:t>
            </a:r>
            <a:r>
              <a:rPr lang="en-US" altLang="zh-CN" sz="2800">
                <a:solidFill>
                  <a:srgbClr val="000000"/>
                </a:solidFill>
                <a:effectLst/>
                <a:latin typeface="宋体" panose="02010600030101010101" pitchFamily="2" charset="-122"/>
                <a:ea typeface="方正书宋_GBK" panose="03000509000000000000" pitchFamily="65" charset="-122"/>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n</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个元素的</a:t>
            </a:r>
            <a:r>
              <a:rPr lang="zh-CN" altLang="zh-CN" sz="2800">
                <a:solidFill>
                  <a:srgbClr val="FF0000"/>
                </a:solidFill>
                <a:latin typeface="Times New Roman" panose="02020603050405020304" pitchFamily="18" charset="0"/>
                <a:cs typeface="Times New Roman" panose="02020603050405020304" pitchFamily="18" charset="0"/>
              </a:rPr>
              <a:t>所有不同组合</a:t>
            </a:r>
            <a:r>
              <a:rPr lang="zh-CN" altLang="zh-CN" sz="2800">
                <a:solidFill>
                  <a:srgbClr val="000000"/>
                </a:solidFill>
                <a:latin typeface="Times New Roman" panose="02020603050405020304" pitchFamily="18" charset="0"/>
                <a:cs typeface="Times New Roman" panose="02020603050405020304" pitchFamily="18" charset="0"/>
              </a:rPr>
              <a:t>的个数</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叫做从</a:t>
            </a:r>
            <a:r>
              <a:rPr lang="en-US" altLang="zh-CN" sz="2800" i="1">
                <a:solidFill>
                  <a:srgbClr val="000000"/>
                </a:solidFill>
                <a:latin typeface="Times New Roman" panose="02020603050405020304" pitchFamily="18" charset="0"/>
                <a:cs typeface="Times New Roman" panose="02020603050405020304" pitchFamily="18" charset="0"/>
              </a:rPr>
              <a:t>n</a:t>
            </a:r>
            <a:r>
              <a:rPr lang="zh-CN" altLang="zh-CN" sz="2800">
                <a:solidFill>
                  <a:srgbClr val="000000"/>
                </a:solidFill>
                <a:latin typeface="Times New Roman" panose="02020603050405020304" pitchFamily="18" charset="0"/>
                <a:cs typeface="Times New Roman" panose="02020603050405020304" pitchFamily="18" charset="0"/>
              </a:rPr>
              <a:t>个不同元素中取出</a:t>
            </a:r>
            <a:r>
              <a:rPr lang="en-US" altLang="zh-CN" sz="2800" i="1">
                <a:solidFill>
                  <a:srgbClr val="000000"/>
                </a:solidFill>
                <a:latin typeface="Times New Roman" panose="02020603050405020304" pitchFamily="18" charset="0"/>
                <a:cs typeface="Times New Roman" panose="02020603050405020304" pitchFamily="18" charset="0"/>
              </a:rPr>
              <a:t>m</a:t>
            </a:r>
            <a:r>
              <a:rPr lang="zh-CN" altLang="zh-CN" sz="2800">
                <a:solidFill>
                  <a:srgbClr val="000000"/>
                </a:solidFill>
                <a:latin typeface="Times New Roman" panose="02020603050405020304" pitchFamily="18" charset="0"/>
                <a:cs typeface="Times New Roman" panose="02020603050405020304" pitchFamily="18" charset="0"/>
              </a:rPr>
              <a:t>个元素的组合数</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用</a:t>
            </a:r>
            <a:r>
              <a:rPr lang="zh-CN" altLang="zh-CN" sz="2800" smtClean="0">
                <a:solidFill>
                  <a:srgbClr val="000000"/>
                </a:solidFill>
                <a:latin typeface="Times New Roman" panose="02020603050405020304" pitchFamily="18" charset="0"/>
                <a:cs typeface="Times New Roman" panose="02020603050405020304" pitchFamily="18" charset="0"/>
              </a:rPr>
              <a:t>符号</a:t>
            </a:r>
            <a:r>
              <a:rPr lang="en-US" altLang="zh-CN" sz="2800" smtClean="0">
                <a:solidFill>
                  <a:srgbClr val="000000"/>
                </a:solidFill>
                <a:latin typeface="Times New Roman" panose="02020603050405020304" pitchFamily="18" charset="0"/>
                <a:cs typeface="Times New Roman" panose="02020603050405020304" pitchFamily="18" charset="0"/>
              </a:rPr>
              <a:t>       </a:t>
            </a:r>
            <a:r>
              <a:rPr lang="zh-CN" altLang="zh-CN" sz="2800" smtClean="0">
                <a:solidFill>
                  <a:srgbClr val="000000"/>
                </a:solidFill>
                <a:latin typeface="Times New Roman" panose="02020603050405020304" pitchFamily="18" charset="0"/>
                <a:cs typeface="Times New Roman" panose="02020603050405020304" pitchFamily="18" charset="0"/>
              </a:rPr>
              <a:t>表示</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cs typeface="Times New Roman" panose="02020603050405020304" pitchFamily="18" charset="0"/>
              </a:rPr>
              <a:t>组合数公式</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2929250563"/>
              </p:ext>
            </p:extLst>
          </p:nvPr>
        </p:nvGraphicFramePr>
        <p:xfrm>
          <a:off x="9464682" y="1408744"/>
          <a:ext cx="800531" cy="533003"/>
        </p:xfrm>
        <a:graphic>
          <a:graphicData uri="http://schemas.openxmlformats.org/presentationml/2006/ole">
            <mc:AlternateContent xmlns:mc="http://schemas.openxmlformats.org/markup-compatibility/2006">
              <mc:Choice xmlns:v="urn:schemas-microsoft-com:vml" Requires="v">
                <p:oleObj spid="_x0000_s2088" name="文档" r:id="rId4" imgW="300040" imgH="193989" progId="Word.Document.12">
                  <p:embed/>
                </p:oleObj>
              </mc:Choice>
              <mc:Fallback>
                <p:oleObj name="文档" r:id="rId4" imgW="300040" imgH="193989" progId="Word.Document.12">
                  <p:embed/>
                  <p:pic>
                    <p:nvPicPr>
                      <p:cNvPr id="0" name=""/>
                      <p:cNvPicPr>
                        <a:picLocks noChangeAspect="1" noChangeArrowheads="1"/>
                      </p:cNvPicPr>
                      <p:nvPr/>
                    </p:nvPicPr>
                    <p:blipFill>
                      <a:blip r:embed="rId5"/>
                      <a:srcRect/>
                      <a:stretch>
                        <a:fillRect/>
                      </a:stretch>
                    </p:blipFill>
                    <p:spPr bwMode="auto">
                      <a:xfrm>
                        <a:off x="9464682" y="1408744"/>
                        <a:ext cx="800531" cy="533003"/>
                      </a:xfrm>
                      <a:prstGeom prst="rect">
                        <a:avLst/>
                      </a:prstGeom>
                      <a:noFill/>
                      <a:extLst/>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161030011"/>
              </p:ext>
            </p:extLst>
          </p:nvPr>
        </p:nvGraphicFramePr>
        <p:xfrm>
          <a:off x="458424" y="2601817"/>
          <a:ext cx="11275153" cy="3535393"/>
        </p:xfrm>
        <a:graphic>
          <a:graphicData uri="http://schemas.openxmlformats.org/presentationml/2006/ole">
            <mc:AlternateContent xmlns:mc="http://schemas.openxmlformats.org/markup-compatibility/2006">
              <mc:Choice xmlns:v="urn:schemas-microsoft-com:vml" Requires="v">
                <p:oleObj spid="_x0000_s2089" name="文档" r:id="rId7" imgW="4510061" imgH="1408767" progId="Word.Document.12">
                  <p:embed/>
                </p:oleObj>
              </mc:Choice>
              <mc:Fallback>
                <p:oleObj name="文档" r:id="rId7" imgW="4510061" imgH="1408767" progId="Word.Document.12">
                  <p:embed/>
                  <p:pic>
                    <p:nvPicPr>
                      <p:cNvPr id="0" name=""/>
                      <p:cNvPicPr/>
                      <p:nvPr/>
                    </p:nvPicPr>
                    <p:blipFill>
                      <a:blip r:embed="rId8"/>
                      <a:stretch>
                        <a:fillRect/>
                      </a:stretch>
                    </p:blipFill>
                    <p:spPr>
                      <a:xfrm>
                        <a:off x="458424" y="2601817"/>
                        <a:ext cx="11275153" cy="3535393"/>
                      </a:xfrm>
                      <a:prstGeom prst="rect">
                        <a:avLst/>
                      </a:prstGeom>
                    </p:spPr>
                  </p:pic>
                </p:oleObj>
              </mc:Fallback>
            </mc:AlternateContent>
          </a:graphicData>
        </a:graphic>
      </p:graphicFrame>
      <p:sp>
        <p:nvSpPr>
          <p:cNvPr id="6" name="矩形 5"/>
          <p:cNvSpPr/>
          <p:nvPr/>
        </p:nvSpPr>
        <p:spPr>
          <a:xfrm>
            <a:off x="9444134" y="825283"/>
            <a:ext cx="2155634" cy="545093"/>
          </a:xfrm>
          <a:prstGeom prst="rect">
            <a:avLst/>
          </a:prstGeom>
          <a:pattFill prst="lgConfetti">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 name="直接连接符 6"/>
          <p:cNvCxnSpPr/>
          <p:nvPr/>
        </p:nvCxnSpPr>
        <p:spPr>
          <a:xfrm>
            <a:off x="9444134" y="1376880"/>
            <a:ext cx="215563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8" name="矩形 7"/>
          <p:cNvSpPr/>
          <p:nvPr/>
        </p:nvSpPr>
        <p:spPr>
          <a:xfrm>
            <a:off x="3428735" y="2601818"/>
            <a:ext cx="2634607" cy="859678"/>
          </a:xfrm>
          <a:prstGeom prst="rect">
            <a:avLst/>
          </a:prstGeom>
          <a:pattFill prst="lgConfetti">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 name="直接连接符 8"/>
          <p:cNvCxnSpPr/>
          <p:nvPr/>
        </p:nvCxnSpPr>
        <p:spPr>
          <a:xfrm>
            <a:off x="3428736" y="3467999"/>
            <a:ext cx="2634607"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矩形 11"/>
          <p:cNvSpPr/>
          <p:nvPr/>
        </p:nvSpPr>
        <p:spPr>
          <a:xfrm>
            <a:off x="2536107" y="3594082"/>
            <a:ext cx="1208580" cy="859678"/>
          </a:xfrm>
          <a:prstGeom prst="rect">
            <a:avLst/>
          </a:prstGeom>
          <a:pattFill prst="lgConfetti">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3" name="直接连接符 12"/>
          <p:cNvCxnSpPr/>
          <p:nvPr/>
        </p:nvCxnSpPr>
        <p:spPr>
          <a:xfrm>
            <a:off x="2536107" y="4460263"/>
            <a:ext cx="120858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矩形 14"/>
          <p:cNvSpPr/>
          <p:nvPr/>
        </p:nvSpPr>
        <p:spPr>
          <a:xfrm>
            <a:off x="1871333" y="4618621"/>
            <a:ext cx="186067" cy="430222"/>
          </a:xfrm>
          <a:prstGeom prst="rect">
            <a:avLst/>
          </a:prstGeom>
          <a:pattFill prst="lgConfetti">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6" name="直接连接符 15"/>
          <p:cNvCxnSpPr/>
          <p:nvPr/>
        </p:nvCxnSpPr>
        <p:spPr>
          <a:xfrm>
            <a:off x="1871333" y="5055346"/>
            <a:ext cx="186067"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7893637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xit" presetSubtype="10" fill="hold" grpId="0" nodeType="clickEffect">
                                  <p:stCondLst>
                                    <p:cond delay="0"/>
                                  </p:stCondLst>
                                  <p:childTnLst>
                                    <p:animEffect transition="out" filter="randombar(horizontal)">
                                      <p:cBhvr>
                                        <p:cTn id="6" dur="500"/>
                                        <p:tgtEl>
                                          <p:spTgt spid="6"/>
                                        </p:tgtEl>
                                      </p:cBhvr>
                                    </p:animEffect>
                                    <p:set>
                                      <p:cBhvr>
                                        <p:cTn id="7" dur="1" fill="hold">
                                          <p:stCondLst>
                                            <p:cond delay="499"/>
                                          </p:stCondLst>
                                        </p:cTn>
                                        <p:tgtEl>
                                          <p:spTgt spid="6"/>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4" presetClass="exit" presetSubtype="10" fill="hold" grpId="0" nodeType="clickEffect">
                                  <p:stCondLst>
                                    <p:cond delay="0"/>
                                  </p:stCondLst>
                                  <p:childTnLst>
                                    <p:animEffect transition="out" filter="randombar(horizontal)">
                                      <p:cBhvr>
                                        <p:cTn id="11" dur="500"/>
                                        <p:tgtEl>
                                          <p:spTgt spid="8"/>
                                        </p:tgtEl>
                                      </p:cBhvr>
                                    </p:animEffect>
                                    <p:set>
                                      <p:cBhvr>
                                        <p:cTn id="12" dur="1" fill="hold">
                                          <p:stCondLst>
                                            <p:cond delay="499"/>
                                          </p:stCondLst>
                                        </p:cTn>
                                        <p:tgtEl>
                                          <p:spTgt spid="8"/>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4" presetClass="exit" presetSubtype="10" fill="hold" grpId="0" nodeType="clickEffect">
                                  <p:stCondLst>
                                    <p:cond delay="0"/>
                                  </p:stCondLst>
                                  <p:childTnLst>
                                    <p:animEffect transition="out" filter="randombar(horizontal)">
                                      <p:cBhvr>
                                        <p:cTn id="16" dur="500"/>
                                        <p:tgtEl>
                                          <p:spTgt spid="12"/>
                                        </p:tgtEl>
                                      </p:cBhvr>
                                    </p:animEffect>
                                    <p:set>
                                      <p:cBhvr>
                                        <p:cTn id="17" dur="1" fill="hold">
                                          <p:stCondLst>
                                            <p:cond delay="499"/>
                                          </p:stCondLst>
                                        </p:cTn>
                                        <p:tgtEl>
                                          <p:spTgt spid="12"/>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14" presetClass="exit" presetSubtype="10" fill="hold" grpId="0" nodeType="clickEffect">
                                  <p:stCondLst>
                                    <p:cond delay="0"/>
                                  </p:stCondLst>
                                  <p:childTnLst>
                                    <p:animEffect transition="out" filter="randombar(horizontal)">
                                      <p:cBhvr>
                                        <p:cTn id="21" dur="500"/>
                                        <p:tgtEl>
                                          <p:spTgt spid="15"/>
                                        </p:tgtEl>
                                      </p:cBhvr>
                                    </p:animEffect>
                                    <p:set>
                                      <p:cBhvr>
                                        <p:cTn id="22" dur="1" fill="hold">
                                          <p:stCondLst>
                                            <p:cond delay="499"/>
                                          </p:stCondLst>
                                        </p:cTn>
                                        <p:tgtEl>
                                          <p:spTgt spid="1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12" grpId="0" animBg="1"/>
      <p:bldP spid="15"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4174450529"/>
              </p:ext>
            </p:extLst>
          </p:nvPr>
        </p:nvGraphicFramePr>
        <p:xfrm>
          <a:off x="458424" y="740559"/>
          <a:ext cx="11275153" cy="1706153"/>
        </p:xfrm>
        <a:graphic>
          <a:graphicData uri="http://schemas.openxmlformats.org/presentationml/2006/ole">
            <mc:AlternateContent xmlns:mc="http://schemas.openxmlformats.org/markup-compatibility/2006">
              <mc:Choice xmlns:v="urn:schemas-microsoft-com:vml" Requires="v">
                <p:oleObj spid="_x0000_s3112" name="文档" r:id="rId4" imgW="4510061" imgH="682461" progId="Word.Document.12">
                  <p:embed/>
                </p:oleObj>
              </mc:Choice>
              <mc:Fallback>
                <p:oleObj name="文档" r:id="rId4" imgW="4510061" imgH="682461" progId="Word.Document.12">
                  <p:embed/>
                  <p:pic>
                    <p:nvPicPr>
                      <p:cNvPr id="0" name=""/>
                      <p:cNvPicPr/>
                      <p:nvPr/>
                    </p:nvPicPr>
                    <p:blipFill>
                      <a:blip r:embed="rId5"/>
                      <a:stretch>
                        <a:fillRect/>
                      </a:stretch>
                    </p:blipFill>
                    <p:spPr>
                      <a:xfrm>
                        <a:off x="458424" y="740559"/>
                        <a:ext cx="11275153" cy="1706153"/>
                      </a:xfrm>
                      <a:prstGeom prst="rect">
                        <a:avLst/>
                      </a:prstGeom>
                    </p:spPr>
                  </p:pic>
                </p:oleObj>
              </mc:Fallback>
            </mc:AlternateContent>
          </a:graphicData>
        </a:graphic>
      </p:graphicFrame>
      <p:graphicFrame>
        <p:nvGraphicFramePr>
          <p:cNvPr id="3" name="对象 2"/>
          <p:cNvGraphicFramePr>
            <a:graphicFrameLocks noChangeAspect="1"/>
          </p:cNvGraphicFramePr>
          <p:nvPr>
            <p:extLst>
              <p:ext uri="{D42A27DB-BD31-4B8C-83A1-F6EECF244321}">
                <p14:modId xmlns:p14="http://schemas.microsoft.com/office/powerpoint/2010/main" val="2301430489"/>
              </p:ext>
            </p:extLst>
          </p:nvPr>
        </p:nvGraphicFramePr>
        <p:xfrm>
          <a:off x="458424" y="2407078"/>
          <a:ext cx="11275153" cy="2125728"/>
        </p:xfrm>
        <a:graphic>
          <a:graphicData uri="http://schemas.openxmlformats.org/presentationml/2006/ole">
            <mc:AlternateContent xmlns:mc="http://schemas.openxmlformats.org/markup-compatibility/2006">
              <mc:Choice xmlns:v="urn:schemas-microsoft-com:vml" Requires="v">
                <p:oleObj spid="_x0000_s3113" name="文档" r:id="rId7" imgW="4510061" imgH="850291" progId="Word.Document.12">
                  <p:embed/>
                </p:oleObj>
              </mc:Choice>
              <mc:Fallback>
                <p:oleObj name="文档" r:id="rId7" imgW="4510061" imgH="850291" progId="Word.Document.12">
                  <p:embed/>
                  <p:pic>
                    <p:nvPicPr>
                      <p:cNvPr id="0" name=""/>
                      <p:cNvPicPr/>
                      <p:nvPr/>
                    </p:nvPicPr>
                    <p:blipFill>
                      <a:blip r:embed="rId8"/>
                      <a:stretch>
                        <a:fillRect/>
                      </a:stretch>
                    </p:blipFill>
                    <p:spPr>
                      <a:xfrm>
                        <a:off x="458424" y="2407078"/>
                        <a:ext cx="11275153" cy="2125728"/>
                      </a:xfrm>
                      <a:prstGeom prst="rect">
                        <a:avLst/>
                      </a:prstGeom>
                    </p:spPr>
                  </p:pic>
                </p:oleObj>
              </mc:Fallback>
            </mc:AlternateContent>
          </a:graphicData>
        </a:graphic>
      </p:graphicFrame>
      <p:sp>
        <p:nvSpPr>
          <p:cNvPr id="4" name="矩形 3"/>
          <p:cNvSpPr>
            <a:spLocks noChangeAspect="1"/>
          </p:cNvSpPr>
          <p:nvPr/>
        </p:nvSpPr>
        <p:spPr>
          <a:xfrm>
            <a:off x="381000" y="4700853"/>
            <a:ext cx="2709396" cy="652486"/>
          </a:xfrm>
          <a:prstGeom prst="rect">
            <a:avLst/>
          </a:prstGeom>
        </p:spPr>
        <p:txBody>
          <a:bodyPr wrap="none">
            <a:spAutoFit/>
          </a:bodyPr>
          <a:lstStyle/>
          <a:p>
            <a:pPr>
              <a:lnSpc>
                <a:spcPct val="130000"/>
              </a:lnSpc>
              <a:spcAft>
                <a:spcPts val="0"/>
              </a:spcAft>
              <a:tabLst>
                <a:tab pos="1188085" algn="l"/>
                <a:tab pos="2163445" algn="l"/>
                <a:tab pos="3142615" algn="l"/>
                <a:tab pos="4190365" algn="l"/>
              </a:tabLst>
            </a:pPr>
            <a:r>
              <a:rPr lang="zh-CN" altLang="zh-CN" sz="2800">
                <a:solidFill>
                  <a:srgbClr val="FF0000"/>
                </a:solidFill>
                <a:latin typeface="Arial" panose="020B0604020202020204" pitchFamily="34" charset="0"/>
                <a:ea typeface="黑体" panose="02010609060101010101" pitchFamily="49" charset="-122"/>
                <a:cs typeface="Times New Roman" panose="02020603050405020304" pitchFamily="18" charset="0"/>
              </a:rPr>
              <a:t>答案</a:t>
            </a:r>
            <a:r>
              <a:rPr lang="en-US" altLang="zh-CN" sz="280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(1)B</a:t>
            </a:r>
            <a:r>
              <a:rPr lang="zh-CN" altLang="zh-CN" sz="2800" i="1">
                <a:solidFill>
                  <a:srgbClr val="000000"/>
                </a:solidFill>
                <a:latin typeface="Times New Roman" panose="02020603050405020304" pitchFamily="18" charset="0"/>
                <a:cs typeface="Times New Roman" panose="02020603050405020304" pitchFamily="18" charset="0"/>
              </a:rPr>
              <a:t>　</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smtClean="0">
                <a:solidFill>
                  <a:srgbClr val="000000"/>
                </a:solidFill>
                <a:latin typeface="Times New Roman" panose="02020603050405020304" pitchFamily="18" charset="0"/>
                <a:cs typeface="Times New Roman" panose="02020603050405020304" pitchFamily="18" charset="0"/>
              </a:rPr>
              <a:t>2)0 </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186140746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randombar(horizontal)">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553636"/>
            <a:ext cx="11430000" cy="5133713"/>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000000"/>
                </a:solidFill>
                <a:latin typeface="Arial" panose="020B0604020202020204" pitchFamily="34" charset="0"/>
                <a:ea typeface="黑体" panose="02010609060101010101" pitchFamily="49" charset="-122"/>
                <a:cs typeface="Times New Roman" panose="02020603050405020304" pitchFamily="18" charset="0"/>
              </a:rPr>
              <a:t>【思考辨析】</a:t>
            </a:r>
            <a:r>
              <a:rPr lang="zh-CN" altLang="zh-CN" sz="2800">
                <a:solidFill>
                  <a:srgbClr val="000000"/>
                </a:solidFill>
                <a:effectLst/>
                <a:latin typeface="NEU-BZ-S92"/>
                <a:ea typeface="Arial" panose="020B0604020202020204" pitchFamily="34" charset="0"/>
                <a:cs typeface="Times New Roman" panose="02020603050405020304" pitchFamily="18" charset="0"/>
              </a:rPr>
              <a:t> </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cs typeface="Times New Roman" panose="02020603050405020304" pitchFamily="18" charset="0"/>
              </a:rPr>
              <a:t>判断下列说法是否正确</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正确的在后面的括号内画</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effectLst/>
                <a:latin typeface="Cambria Math" panose="02040503050406030204" pitchFamily="18" charset="0"/>
                <a:ea typeface="NEU-BZ-S92"/>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错误的画</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cs typeface="Times New Roman" panose="02020603050405020304" pitchFamily="18" charset="0"/>
              </a:rPr>
              <a:t>两个组合相同的充要条件是其中的元素完全相同</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a:solidFill>
                  <a:srgbClr val="FF0000"/>
                </a:solidFill>
                <a:latin typeface="Times New Roman" panose="02020603050405020304" pitchFamily="18" charset="0"/>
                <a:cs typeface="Times New Roman" panose="02020603050405020304" pitchFamily="18" charset="0"/>
              </a:rPr>
              <a:t>  </a:t>
            </a:r>
            <a:r>
              <a:rPr lang="en-US" altLang="zh-CN" sz="2800">
                <a:solidFill>
                  <a:srgbClr val="FF0000"/>
                </a:solidFill>
                <a:latin typeface="Cambria Math" panose="02040503050406030204" pitchFamily="18" charset="0"/>
                <a:cs typeface="Times New Roman" panose="02020603050405020304" pitchFamily="18" charset="0"/>
              </a:rPr>
              <a:t>√</a:t>
            </a:r>
            <a:r>
              <a:rPr lang="en-US" altLang="zh-CN" sz="2800">
                <a:solidFill>
                  <a:srgbClr val="FF0000"/>
                </a:solidFill>
                <a:latin typeface="Times New Roman" panose="02020603050405020304" pitchFamily="18" charset="0"/>
                <a:cs typeface="Times New Roman" panose="02020603050405020304" pitchFamily="18" charset="0"/>
              </a:rPr>
              <a:t>  </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cs typeface="Times New Roman" panose="02020603050405020304" pitchFamily="18" charset="0"/>
              </a:rPr>
              <a:t>从</a:t>
            </a:r>
            <a:r>
              <a:rPr lang="en-US" altLang="zh-CN" sz="2800" i="1">
                <a:solidFill>
                  <a:srgbClr val="000000"/>
                </a:solidFill>
                <a:latin typeface="Times New Roman" panose="02020603050405020304" pitchFamily="18" charset="0"/>
                <a:cs typeface="Times New Roman" panose="02020603050405020304" pitchFamily="18" charset="0"/>
              </a:rPr>
              <a:t>a</a:t>
            </a:r>
            <a:r>
              <a:rPr lang="en-US" altLang="zh-CN" sz="2800" baseline="-25000">
                <a:solidFill>
                  <a:srgbClr val="000000"/>
                </a:solidFill>
                <a:latin typeface="Times New Roman" panose="02020603050405020304" pitchFamily="18" charset="0"/>
                <a:cs typeface="Times New Roman" panose="02020603050405020304" pitchFamily="18" charset="0"/>
              </a:rPr>
              <a:t>1</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a</a:t>
            </a:r>
            <a:r>
              <a:rPr lang="en-US" altLang="zh-CN" sz="2800" baseline="-25000">
                <a:solidFill>
                  <a:srgbClr val="000000"/>
                </a:solidFill>
                <a:latin typeface="Times New Roman" panose="02020603050405020304" pitchFamily="18" charset="0"/>
                <a:cs typeface="Times New Roman" panose="02020603050405020304" pitchFamily="18" charset="0"/>
              </a:rPr>
              <a:t>2</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a</a:t>
            </a:r>
            <a:r>
              <a:rPr lang="en-US" altLang="zh-CN" sz="2800" baseline="-250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Times New Roman" panose="02020603050405020304" pitchFamily="18" charset="0"/>
                <a:cs typeface="Times New Roman" panose="02020603050405020304" pitchFamily="18" charset="0"/>
              </a:rPr>
              <a:t>三个不同元素中任取两个元素组成一个组合</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所有组合的个数</a:t>
            </a:r>
            <a:r>
              <a:rPr lang="zh-CN" altLang="zh-CN" sz="2800" smtClean="0">
                <a:solidFill>
                  <a:srgbClr val="000000"/>
                </a:solidFill>
                <a:latin typeface="Times New Roman" panose="02020603050405020304" pitchFamily="18" charset="0"/>
                <a:cs typeface="Times New Roman" panose="02020603050405020304" pitchFamily="18" charset="0"/>
              </a:rPr>
              <a:t>为</a:t>
            </a:r>
            <a:r>
              <a:rPr lang="en-US" altLang="zh-CN" sz="2800" smtClean="0">
                <a:solidFill>
                  <a:srgbClr val="000000"/>
                </a:solidFill>
                <a:latin typeface="Times New Roman" panose="02020603050405020304" pitchFamily="18" charset="0"/>
                <a:cs typeface="Times New Roman" panose="02020603050405020304" pitchFamily="18" charset="0"/>
              </a:rPr>
              <a:t>     </a:t>
            </a:r>
            <a:r>
              <a:rPr lang="en-US" altLang="zh-CN" sz="2800" i="1" smtClean="0">
                <a:solidFill>
                  <a:srgbClr val="000000"/>
                </a:solidFill>
                <a:latin typeface="Times New Roman" panose="02020603050405020304" pitchFamily="18" charset="0"/>
                <a:cs typeface="Times New Roman" panose="02020603050405020304" pitchFamily="18" charset="0"/>
              </a:rPr>
              <a:t>.</a:t>
            </a:r>
            <a:r>
              <a:rPr lang="en-US" altLang="zh-CN" sz="2800" smtClean="0">
                <a:solidFill>
                  <a:srgbClr val="000000"/>
                </a:solidFill>
                <a:latin typeface="Times New Roman" panose="02020603050405020304" pitchFamily="18" charset="0"/>
                <a:cs typeface="Times New Roman" panose="02020603050405020304" pitchFamily="18" charset="0"/>
              </a:rPr>
              <a:t>(</a:t>
            </a:r>
            <a:r>
              <a:rPr lang="en-US" altLang="zh-CN" sz="2800" smtClean="0">
                <a:solidFill>
                  <a:srgbClr val="FF0000"/>
                </a:solidFill>
                <a:latin typeface="Times New Roman" panose="02020603050405020304" pitchFamily="18" charset="0"/>
                <a:cs typeface="Times New Roman" panose="02020603050405020304" pitchFamily="18" charset="0"/>
              </a:rPr>
              <a:t>  </a:t>
            </a:r>
            <a:r>
              <a:rPr lang="en-US" altLang="zh-CN" sz="2800">
                <a:solidFill>
                  <a:srgbClr val="FF0000"/>
                </a:solidFill>
                <a:latin typeface="Cambria Math" panose="02040503050406030204" pitchFamily="18" charset="0"/>
                <a:cs typeface="Times New Roman" panose="02020603050405020304" pitchFamily="18" charset="0"/>
              </a:rPr>
              <a:t>√</a:t>
            </a:r>
            <a:r>
              <a:rPr lang="en-US" altLang="zh-CN" sz="2800">
                <a:solidFill>
                  <a:srgbClr val="FF0000"/>
                </a:solidFill>
                <a:latin typeface="Times New Roman" panose="02020603050405020304" pitchFamily="18" charset="0"/>
                <a:cs typeface="Times New Roman" panose="02020603050405020304" pitchFamily="18" charset="0"/>
              </a:rPr>
              <a:t>  </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Times New Roman" panose="02020603050405020304" pitchFamily="18" charset="0"/>
                <a:cs typeface="Times New Roman" panose="02020603050405020304" pitchFamily="18" charset="0"/>
              </a:rPr>
              <a:t>从甲、乙、丙、丁</a:t>
            </a:r>
            <a:r>
              <a:rPr lang="en-US" altLang="zh-CN" sz="2800">
                <a:solidFill>
                  <a:srgbClr val="000000"/>
                </a:solidFill>
                <a:latin typeface="Times New Roman" panose="02020603050405020304" pitchFamily="18" charset="0"/>
                <a:cs typeface="Times New Roman" panose="02020603050405020304" pitchFamily="18" charset="0"/>
              </a:rPr>
              <a:t>4</a:t>
            </a:r>
            <a:r>
              <a:rPr lang="zh-CN" altLang="zh-CN" sz="2800">
                <a:solidFill>
                  <a:srgbClr val="000000"/>
                </a:solidFill>
                <a:latin typeface="Times New Roman" panose="02020603050405020304" pitchFamily="18" charset="0"/>
                <a:cs typeface="Times New Roman" panose="02020603050405020304" pitchFamily="18" charset="0"/>
              </a:rPr>
              <a:t>名同学中选出</a:t>
            </a:r>
            <a:r>
              <a:rPr lang="en-US" altLang="zh-CN" sz="2800" smtClean="0">
                <a:solidFill>
                  <a:srgbClr val="000000"/>
                </a:solidFill>
                <a:latin typeface="Times New Roman" panose="02020603050405020304" pitchFamily="18" charset="0"/>
                <a:cs typeface="Times New Roman" panose="02020603050405020304" pitchFamily="18" charset="0"/>
              </a:rPr>
              <a:t>3</a:t>
            </a:r>
            <a:r>
              <a:rPr lang="zh-CN" altLang="en-US" sz="2800">
                <a:solidFill>
                  <a:srgbClr val="000000"/>
                </a:solidFill>
                <a:latin typeface="Times New Roman" panose="02020603050405020304" pitchFamily="18" charset="0"/>
                <a:cs typeface="Times New Roman" panose="02020603050405020304" pitchFamily="18" charset="0"/>
              </a:rPr>
              <a:t>名分别去参加三个不同的培训班</a:t>
            </a:r>
            <a:r>
              <a:rPr lang="en-US" altLang="zh-CN" sz="2800" smtClean="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有多少种不同的选法是组合问题</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a:solidFill>
                  <a:srgbClr val="FF0000"/>
                </a:solidFill>
                <a:latin typeface="Times New Roman" panose="02020603050405020304" pitchFamily="18" charset="0"/>
                <a:cs typeface="Times New Roman" panose="02020603050405020304" pitchFamily="18" charset="0"/>
              </a:rPr>
              <a:t>  ×  </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(4)</a:t>
            </a:r>
            <a:r>
              <a:rPr lang="zh-CN" altLang="zh-CN" sz="2800">
                <a:solidFill>
                  <a:srgbClr val="000000"/>
                </a:solidFill>
                <a:latin typeface="Times New Roman" panose="02020603050405020304" pitchFamily="18" charset="0"/>
                <a:cs typeface="Times New Roman" panose="02020603050405020304" pitchFamily="18" charset="0"/>
              </a:rPr>
              <a:t>现有</a:t>
            </a:r>
            <a:r>
              <a:rPr lang="en-US" altLang="zh-CN" sz="2800" smtClean="0">
                <a:solidFill>
                  <a:srgbClr val="000000"/>
                </a:solidFill>
                <a:latin typeface="Times New Roman" panose="02020603050405020304" pitchFamily="18" charset="0"/>
                <a:cs typeface="Times New Roman" panose="02020603050405020304" pitchFamily="18" charset="0"/>
              </a:rPr>
              <a:t>4</a:t>
            </a:r>
            <a:r>
              <a:rPr lang="zh-CN" altLang="en-US" sz="2800">
                <a:solidFill>
                  <a:srgbClr val="000000"/>
                </a:solidFill>
                <a:latin typeface="Times New Roman" panose="02020603050405020304" pitchFamily="18" charset="0"/>
                <a:cs typeface="Times New Roman" panose="02020603050405020304" pitchFamily="18" charset="0"/>
              </a:rPr>
              <a:t>枚同种纪念币送给</a:t>
            </a:r>
            <a:r>
              <a:rPr lang="en-US" altLang="zh-CN" sz="2800" smtClean="0">
                <a:solidFill>
                  <a:srgbClr val="000000"/>
                </a:solidFill>
                <a:latin typeface="Times New Roman" panose="02020603050405020304" pitchFamily="18" charset="0"/>
                <a:cs typeface="Times New Roman" panose="02020603050405020304" pitchFamily="18" charset="0"/>
              </a:rPr>
              <a:t>10</a:t>
            </a:r>
            <a:r>
              <a:rPr lang="zh-CN" altLang="zh-CN" sz="2800">
                <a:solidFill>
                  <a:srgbClr val="000000"/>
                </a:solidFill>
                <a:latin typeface="Times New Roman" panose="02020603050405020304" pitchFamily="18" charset="0"/>
                <a:cs typeface="Times New Roman" panose="02020603050405020304" pitchFamily="18" charset="0"/>
              </a:rPr>
              <a:t>人中的</a:t>
            </a:r>
            <a:r>
              <a:rPr lang="en-US" altLang="zh-CN" sz="2800">
                <a:solidFill>
                  <a:srgbClr val="000000"/>
                </a:solidFill>
                <a:latin typeface="Times New Roman" panose="02020603050405020304" pitchFamily="18" charset="0"/>
                <a:cs typeface="Times New Roman" panose="02020603050405020304" pitchFamily="18" charset="0"/>
              </a:rPr>
              <a:t>4</a:t>
            </a:r>
            <a:r>
              <a:rPr lang="zh-CN" altLang="zh-CN" sz="2800">
                <a:solidFill>
                  <a:srgbClr val="000000"/>
                </a:solidFill>
                <a:latin typeface="Times New Roman" panose="02020603050405020304" pitchFamily="18" charset="0"/>
                <a:cs typeface="Times New Roman" panose="02020603050405020304" pitchFamily="18" charset="0"/>
              </a:rPr>
              <a:t>人留念</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有多少种送法是排列问题</a:t>
            </a:r>
            <a:r>
              <a:rPr lang="en-US" altLang="zh-CN" sz="2800" i="1" smtClean="0">
                <a:solidFill>
                  <a:srgbClr val="000000"/>
                </a:solidFill>
                <a:latin typeface="Times New Roman" panose="02020603050405020304" pitchFamily="18" charset="0"/>
                <a:cs typeface="Times New Roman" panose="02020603050405020304" pitchFamily="18" charset="0"/>
              </a:rPr>
              <a:t>.</a:t>
            </a:r>
          </a:p>
          <a:p>
            <a:pPr algn="r">
              <a:lnSpc>
                <a:spcPct val="130000"/>
              </a:lnSpc>
              <a:spcAft>
                <a:spcPts val="0"/>
              </a:spcAft>
              <a:tabLst>
                <a:tab pos="1188085" algn="l"/>
                <a:tab pos="2163445" algn="l"/>
                <a:tab pos="3142615" algn="l"/>
                <a:tab pos="4190365" algn="l"/>
              </a:tabLst>
            </a:pPr>
            <a:r>
              <a:rPr lang="en-US" altLang="zh-CN" sz="2800" smtClean="0">
                <a:solidFill>
                  <a:srgbClr val="000000"/>
                </a:solidFill>
                <a:latin typeface="Times New Roman" panose="02020603050405020304" pitchFamily="18" charset="0"/>
                <a:cs typeface="Times New Roman" panose="02020603050405020304" pitchFamily="18" charset="0"/>
              </a:rPr>
              <a:t>(</a:t>
            </a:r>
            <a:r>
              <a:rPr lang="en-US" altLang="zh-CN" sz="2800" smtClean="0">
                <a:solidFill>
                  <a:srgbClr val="FF0000"/>
                </a:solidFill>
                <a:latin typeface="Times New Roman" panose="02020603050405020304" pitchFamily="18" charset="0"/>
                <a:cs typeface="Times New Roman" panose="02020603050405020304" pitchFamily="18" charset="0"/>
              </a:rPr>
              <a:t>  </a:t>
            </a:r>
            <a:r>
              <a:rPr lang="en-US" altLang="zh-CN" sz="2800">
                <a:solidFill>
                  <a:srgbClr val="FF0000"/>
                </a:solidFill>
                <a:latin typeface="Times New Roman" panose="02020603050405020304" pitchFamily="18" charset="0"/>
                <a:cs typeface="Times New Roman" panose="02020603050405020304" pitchFamily="18" charset="0"/>
              </a:rPr>
              <a:t>×  </a:t>
            </a:r>
            <a:r>
              <a:rPr lang="en-US" altLang="zh-CN" sz="2800" smtClean="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3327329206"/>
              </p:ext>
            </p:extLst>
          </p:nvPr>
        </p:nvGraphicFramePr>
        <p:xfrm>
          <a:off x="688595" y="2814756"/>
          <a:ext cx="800531" cy="533003"/>
        </p:xfrm>
        <a:graphic>
          <a:graphicData uri="http://schemas.openxmlformats.org/presentationml/2006/ole">
            <mc:AlternateContent xmlns:mc="http://schemas.openxmlformats.org/markup-compatibility/2006">
              <mc:Choice xmlns:v="urn:schemas-microsoft-com:vml" Requires="v">
                <p:oleObj spid="_x0000_s4122" name="文档" r:id="rId4" imgW="300127" imgH="193346" progId="Word.Document.12">
                  <p:embed/>
                </p:oleObj>
              </mc:Choice>
              <mc:Fallback>
                <p:oleObj name="文档" r:id="rId4" imgW="300127" imgH="193346" progId="Word.Document.12">
                  <p:embed/>
                  <p:pic>
                    <p:nvPicPr>
                      <p:cNvPr id="0" name=""/>
                      <p:cNvPicPr>
                        <a:picLocks noChangeAspect="1" noChangeArrowheads="1"/>
                      </p:cNvPicPr>
                      <p:nvPr/>
                    </p:nvPicPr>
                    <p:blipFill>
                      <a:blip r:embed="rId5"/>
                      <a:srcRect/>
                      <a:stretch>
                        <a:fillRect/>
                      </a:stretch>
                    </p:blipFill>
                    <p:spPr bwMode="auto">
                      <a:xfrm>
                        <a:off x="688595" y="2814756"/>
                        <a:ext cx="800531" cy="533003"/>
                      </a:xfrm>
                      <a:prstGeom prst="rect">
                        <a:avLst/>
                      </a:prstGeom>
                      <a:noFill/>
                      <a:extLst/>
                    </p:spPr>
                  </p:pic>
                </p:oleObj>
              </mc:Fallback>
            </mc:AlternateContent>
          </a:graphicData>
        </a:graphic>
      </p:graphicFrame>
      <p:sp>
        <p:nvSpPr>
          <p:cNvPr id="5" name="矩形 4"/>
          <p:cNvSpPr/>
          <p:nvPr/>
        </p:nvSpPr>
        <p:spPr>
          <a:xfrm>
            <a:off x="8656319" y="1742723"/>
            <a:ext cx="480989" cy="514001"/>
          </a:xfrm>
          <a:prstGeom prst="rect">
            <a:avLst/>
          </a:prstGeom>
          <a:pattFill prst="lgConfetti">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1543556" y="2882577"/>
            <a:ext cx="480989" cy="514001"/>
          </a:xfrm>
          <a:prstGeom prst="rect">
            <a:avLst/>
          </a:prstGeom>
          <a:pattFill prst="lgConfetti">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5441010" y="3963867"/>
            <a:ext cx="480989" cy="514001"/>
          </a:xfrm>
          <a:prstGeom prst="rect">
            <a:avLst/>
          </a:prstGeom>
          <a:pattFill prst="lgConfetti">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10957525" y="5078146"/>
            <a:ext cx="640197" cy="514001"/>
          </a:xfrm>
          <a:prstGeom prst="rect">
            <a:avLst/>
          </a:prstGeom>
          <a:pattFill prst="lgConfetti">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03354852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4" fill="hold" grpId="0" nodeType="clickEffect">
                                  <p:stCondLst>
                                    <p:cond delay="0"/>
                                  </p:stCondLst>
                                  <p:childTnLst>
                                    <p:animEffect transition="out" filter="wipe(down)">
                                      <p:cBhvr>
                                        <p:cTn id="6" dur="500"/>
                                        <p:tgtEl>
                                          <p:spTgt spid="5"/>
                                        </p:tgtEl>
                                      </p:cBhvr>
                                    </p:animEffect>
                                    <p:set>
                                      <p:cBhvr>
                                        <p:cTn id="7" dur="1" fill="hold">
                                          <p:stCondLst>
                                            <p:cond delay="499"/>
                                          </p:stCondLst>
                                        </p:cTn>
                                        <p:tgtEl>
                                          <p:spTgt spid="5"/>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22" presetClass="exit" presetSubtype="4" fill="hold" grpId="0" nodeType="clickEffect">
                                  <p:stCondLst>
                                    <p:cond delay="0"/>
                                  </p:stCondLst>
                                  <p:childTnLst>
                                    <p:animEffect transition="out" filter="wipe(down)">
                                      <p:cBhvr>
                                        <p:cTn id="11" dur="500"/>
                                        <p:tgtEl>
                                          <p:spTgt spid="6"/>
                                        </p:tgtEl>
                                      </p:cBhvr>
                                    </p:animEffect>
                                    <p:set>
                                      <p:cBhvr>
                                        <p:cTn id="12" dur="1" fill="hold">
                                          <p:stCondLst>
                                            <p:cond delay="499"/>
                                          </p:stCondLst>
                                        </p:cTn>
                                        <p:tgtEl>
                                          <p:spTgt spid="6"/>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22" presetClass="exit" presetSubtype="4" fill="hold" grpId="0" nodeType="clickEffect">
                                  <p:stCondLst>
                                    <p:cond delay="0"/>
                                  </p:stCondLst>
                                  <p:childTnLst>
                                    <p:animEffect transition="out" filter="wipe(down)">
                                      <p:cBhvr>
                                        <p:cTn id="16" dur="500"/>
                                        <p:tgtEl>
                                          <p:spTgt spid="7"/>
                                        </p:tgtEl>
                                      </p:cBhvr>
                                    </p:animEffect>
                                    <p:set>
                                      <p:cBhvr>
                                        <p:cTn id="17" dur="1" fill="hold">
                                          <p:stCondLst>
                                            <p:cond delay="499"/>
                                          </p:stCondLst>
                                        </p:cTn>
                                        <p:tgtEl>
                                          <p:spTgt spid="7"/>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22" presetClass="exit" presetSubtype="4" fill="hold" grpId="0" nodeType="clickEffect">
                                  <p:stCondLst>
                                    <p:cond delay="0"/>
                                  </p:stCondLst>
                                  <p:childTnLst>
                                    <p:animEffect transition="out" filter="wipe(down)">
                                      <p:cBhvr>
                                        <p:cTn id="21" dur="500"/>
                                        <p:tgtEl>
                                          <p:spTgt spid="8"/>
                                        </p:tgtEl>
                                      </p:cBhvr>
                                    </p:animEffect>
                                    <p:set>
                                      <p:cBhvr>
                                        <p:cTn id="22" dur="1" fill="hold">
                                          <p:stCondLst>
                                            <p:cond delay="499"/>
                                          </p:stCondLst>
                                        </p:cTn>
                                        <p:tgtEl>
                                          <p:spTgt spid="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2180083" y="2636520"/>
            <a:ext cx="1105802" cy="815646"/>
            <a:chOff x="-1604504" y="2147667"/>
            <a:chExt cx="3687215" cy="2719712"/>
          </a:xfrm>
        </p:grpSpPr>
        <p:cxnSp>
          <p:nvCxnSpPr>
            <p:cNvPr id="7" name="直接连接符 6"/>
            <p:cNvCxnSpPr/>
            <p:nvPr/>
          </p:nvCxnSpPr>
          <p:spPr>
            <a:xfrm flipH="1">
              <a:off x="-1604504" y="2687623"/>
              <a:ext cx="2592288" cy="2179756"/>
            </a:xfrm>
            <a:prstGeom prst="line">
              <a:avLst/>
            </a:prstGeom>
            <a:noFill/>
            <a:ln w="76200" cap="flat" cmpd="sng" algn="ctr">
              <a:solidFill>
                <a:schemeClr val="tx2">
                  <a:lumMod val="50000"/>
                </a:schemeClr>
              </a:solidFill>
              <a:prstDash val="solid"/>
            </a:ln>
            <a:effectLst/>
          </p:spPr>
        </p:cxnSp>
        <p:cxnSp>
          <p:nvCxnSpPr>
            <p:cNvPr id="8" name="直接连接符 7"/>
            <p:cNvCxnSpPr/>
            <p:nvPr/>
          </p:nvCxnSpPr>
          <p:spPr>
            <a:xfrm flipH="1">
              <a:off x="-509577" y="2147667"/>
              <a:ext cx="2592288" cy="2179756"/>
            </a:xfrm>
            <a:prstGeom prst="line">
              <a:avLst/>
            </a:prstGeom>
            <a:noFill/>
            <a:ln w="12700" cap="flat" cmpd="sng" algn="ctr">
              <a:solidFill>
                <a:schemeClr val="tx2">
                  <a:lumMod val="50000"/>
                </a:schemeClr>
              </a:solidFill>
              <a:prstDash val="solid"/>
            </a:ln>
            <a:effectLst/>
          </p:spPr>
        </p:cxnSp>
      </p:grpSp>
      <p:grpSp>
        <p:nvGrpSpPr>
          <p:cNvPr id="9" name="组合 8"/>
          <p:cNvGrpSpPr/>
          <p:nvPr/>
        </p:nvGrpSpPr>
        <p:grpSpPr>
          <a:xfrm flipH="1" flipV="1">
            <a:off x="8735898" y="2665586"/>
            <a:ext cx="1105803" cy="815646"/>
            <a:chOff x="-1604504" y="2147667"/>
            <a:chExt cx="3687215" cy="2719712"/>
          </a:xfrm>
        </p:grpSpPr>
        <p:cxnSp>
          <p:nvCxnSpPr>
            <p:cNvPr id="10" name="直接连接符 9"/>
            <p:cNvCxnSpPr/>
            <p:nvPr/>
          </p:nvCxnSpPr>
          <p:spPr>
            <a:xfrm flipH="1">
              <a:off x="-1604504" y="2687623"/>
              <a:ext cx="2592288" cy="2179756"/>
            </a:xfrm>
            <a:prstGeom prst="line">
              <a:avLst/>
            </a:prstGeom>
            <a:noFill/>
            <a:ln w="76200" cap="flat" cmpd="sng" algn="ctr">
              <a:solidFill>
                <a:sysClr val="windowText" lastClr="000000">
                  <a:lumMod val="85000"/>
                  <a:lumOff val="15000"/>
                </a:sysClr>
              </a:solidFill>
              <a:prstDash val="solid"/>
            </a:ln>
            <a:effectLst/>
          </p:spPr>
        </p:cxnSp>
        <p:cxnSp>
          <p:nvCxnSpPr>
            <p:cNvPr id="11" name="直接连接符 10"/>
            <p:cNvCxnSpPr/>
            <p:nvPr/>
          </p:nvCxnSpPr>
          <p:spPr>
            <a:xfrm flipH="1">
              <a:off x="-509577" y="2147667"/>
              <a:ext cx="2592288" cy="2179756"/>
            </a:xfrm>
            <a:prstGeom prst="line">
              <a:avLst/>
            </a:prstGeom>
            <a:noFill/>
            <a:ln w="12700" cap="flat" cmpd="sng" algn="ctr">
              <a:solidFill>
                <a:sysClr val="windowText" lastClr="000000">
                  <a:lumMod val="85000"/>
                  <a:lumOff val="15000"/>
                </a:sysClr>
              </a:solidFill>
              <a:prstDash val="solid"/>
            </a:ln>
            <a:effectLst/>
          </p:spPr>
        </p:cxnSp>
      </p:grpSp>
      <p:sp>
        <p:nvSpPr>
          <p:cNvPr id="12" name="文本框 11"/>
          <p:cNvSpPr txBox="1"/>
          <p:nvPr/>
        </p:nvSpPr>
        <p:spPr>
          <a:xfrm>
            <a:off x="2969260" y="2585720"/>
            <a:ext cx="6252845" cy="922020"/>
          </a:xfrm>
          <a:prstGeom prst="rect">
            <a:avLst/>
          </a:prstGeom>
          <a:noFill/>
        </p:spPr>
        <p:txBody>
          <a:bodyPr wrap="square" rtlCol="0">
            <a:spAutoFit/>
          </a:bodyPr>
          <a:lstStyle/>
          <a:p>
            <a:r>
              <a:rPr lang="zh-CN" altLang="en-US" sz="5400" b="1" dirty="0" smtClean="0">
                <a:solidFill>
                  <a:srgbClr val="4D4D4D"/>
                </a:solidFill>
                <a:latin typeface="方正姚体" panose="02010601030101010101" charset="-122"/>
                <a:ea typeface="方正姚体" panose="02010601030101010101" charset="-122"/>
                <a:cs typeface="方正姚体" panose="02010601030101010101" charset="-122"/>
                <a:sym typeface="+mn-ea"/>
              </a:rPr>
              <a:t>合作探究 释疑解惑</a:t>
            </a:r>
            <a:endParaRPr lang="zh-CN" altLang="en-US" sz="5400" b="1" dirty="0">
              <a:solidFill>
                <a:srgbClr val="4D4D4D"/>
              </a:solidFill>
              <a:latin typeface="方正姚体" panose="02010601030101010101" charset="-122"/>
              <a:ea typeface="方正姚体" panose="02010601030101010101" charset="-122"/>
              <a:cs typeface="方正姚体" panose="02010601030101010101" charset="-122"/>
              <a:sym typeface="+mn-ea"/>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pattFill prst="lgConfetti">
          <a:fgClr>
            <a:srgbClr val="E8F4E9"/>
          </a:fgClr>
          <a:bgClr>
            <a:schemeClr val="bg1"/>
          </a:bgClr>
        </a:pattFill>
        <a:effectLst/>
      </p:bgPr>
    </p:bg>
    <p:spTree>
      <p:nvGrpSpPr>
        <p:cNvPr id="1" name=""/>
        <p:cNvGrpSpPr/>
        <p:nvPr/>
      </p:nvGrpSpPr>
      <p:grpSpPr>
        <a:xfrm>
          <a:off x="0" y="0"/>
          <a:ext cx="0" cy="0"/>
          <a:chOff x="0" y="0"/>
          <a:chExt cx="0" cy="0"/>
        </a:xfrm>
      </p:grpSpPr>
      <p:grpSp>
        <p:nvGrpSpPr>
          <p:cNvPr id="35" name="组合 34"/>
          <p:cNvGrpSpPr/>
          <p:nvPr/>
        </p:nvGrpSpPr>
        <p:grpSpPr>
          <a:xfrm>
            <a:off x="2" y="151371"/>
            <a:ext cx="11336478" cy="433754"/>
            <a:chOff x="381000" y="205656"/>
            <a:chExt cx="11336478" cy="433754"/>
          </a:xfrm>
        </p:grpSpPr>
        <p:sp>
          <p:nvSpPr>
            <p:cNvPr id="36" name="矩形 35"/>
            <p:cNvSpPr/>
            <p:nvPr/>
          </p:nvSpPr>
          <p:spPr>
            <a:xfrm>
              <a:off x="1999940" y="230648"/>
              <a:ext cx="192275" cy="401795"/>
            </a:xfrm>
            <a:prstGeom prst="rect">
              <a:avLst/>
            </a:prstGeom>
            <a:noFill/>
            <a:ln w="19050">
              <a:solidFill>
                <a:schemeClr val="accent4">
                  <a:lumMod val="7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grpSp>
          <p:nvGrpSpPr>
            <p:cNvPr id="37" name="组合 36"/>
            <p:cNvGrpSpPr/>
            <p:nvPr/>
          </p:nvGrpSpPr>
          <p:grpSpPr>
            <a:xfrm>
              <a:off x="381000" y="205656"/>
              <a:ext cx="11336478" cy="433754"/>
              <a:chOff x="3048000" y="2286000"/>
              <a:chExt cx="4813646" cy="457200"/>
            </a:xfrm>
          </p:grpSpPr>
          <p:sp>
            <p:nvSpPr>
              <p:cNvPr id="38" name="矩形 37"/>
              <p:cNvSpPr/>
              <p:nvPr/>
            </p:nvSpPr>
            <p:spPr>
              <a:xfrm>
                <a:off x="3048000" y="2286000"/>
                <a:ext cx="769070" cy="457200"/>
              </a:xfrm>
              <a:prstGeom prst="rect">
                <a:avLst/>
              </a:prstGeom>
              <a:solidFill>
                <a:srgbClr val="7487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dirty="0" smtClean="0">
                    <a:solidFill>
                      <a:schemeClr val="bg1"/>
                    </a:solidFill>
                  </a:rPr>
                  <a:t>探究一</a:t>
                </a:r>
              </a:p>
            </p:txBody>
          </p:sp>
          <p:sp>
            <p:nvSpPr>
              <p:cNvPr id="39" name="矩形 38"/>
              <p:cNvSpPr/>
              <p:nvPr/>
            </p:nvSpPr>
            <p:spPr>
              <a:xfrm>
                <a:off x="3909004" y="2286000"/>
                <a:ext cx="3952642" cy="457200"/>
              </a:xfrm>
              <a:prstGeom prst="rect">
                <a:avLst/>
              </a:prstGeom>
              <a:gradFill flip="none" rotWithShape="1">
                <a:gsLst>
                  <a:gs pos="0">
                    <a:srgbClr val="DCDCDC">
                      <a:shade val="30000"/>
                      <a:satMod val="115000"/>
                    </a:srgbClr>
                  </a:gs>
                  <a:gs pos="51000">
                    <a:srgbClr val="DCDCDC">
                      <a:shade val="67500"/>
                      <a:satMod val="115000"/>
                    </a:srgbClr>
                  </a:gs>
                  <a:gs pos="73000">
                    <a:srgbClr val="DCDCDC">
                      <a:shade val="100000"/>
                      <a:satMod val="115000"/>
                      <a:alpha val="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800" b="1">
                    <a:solidFill>
                      <a:schemeClr val="bg1"/>
                    </a:solidFill>
                  </a:rPr>
                  <a:t>组合概念的理解</a:t>
                </a:r>
                <a:endParaRPr lang="zh-CN" altLang="en-US" sz="2800" b="1" dirty="0">
                  <a:solidFill>
                    <a:schemeClr val="bg1"/>
                  </a:solidFill>
                </a:endParaRPr>
              </a:p>
            </p:txBody>
          </p:sp>
        </p:grpSp>
      </p:grpSp>
      <p:sp>
        <p:nvSpPr>
          <p:cNvPr id="2" name="矩形 1"/>
          <p:cNvSpPr>
            <a:spLocks noChangeAspect="1"/>
          </p:cNvSpPr>
          <p:nvPr/>
        </p:nvSpPr>
        <p:spPr>
          <a:xfrm>
            <a:off x="381000" y="1892873"/>
            <a:ext cx="11430000" cy="3453253"/>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000000"/>
                </a:solidFill>
                <a:latin typeface="Arial" panose="020B0604020202020204" pitchFamily="34" charset="0"/>
                <a:ea typeface="黑体" panose="02010609060101010101" pitchFamily="49" charset="-122"/>
                <a:cs typeface="Times New Roman" panose="02020603050405020304" pitchFamily="18" charset="0"/>
              </a:rPr>
              <a:t>【例</a:t>
            </a:r>
            <a:r>
              <a:rPr lang="en-US" altLang="zh-CN" sz="2800" b="1">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a:t>
            </a:r>
            <a:r>
              <a:rPr lang="zh-CN" altLang="zh-CN" sz="2800">
                <a:solidFill>
                  <a:srgbClr val="000000"/>
                </a:solidFill>
                <a:effectLst/>
                <a:latin typeface="NEU-BZ-S92"/>
                <a:ea typeface="Arial" panose="020B0604020202020204" pitchFamily="34" charset="0"/>
                <a:cs typeface="Times New Roman" panose="02020603050405020304" pitchFamily="18" charset="0"/>
              </a:rPr>
              <a:t> </a:t>
            </a:r>
            <a:r>
              <a:rPr lang="zh-CN" altLang="zh-CN" sz="2800">
                <a:solidFill>
                  <a:srgbClr val="000000"/>
                </a:solidFill>
                <a:latin typeface="Times New Roman" panose="02020603050405020304" pitchFamily="18" charset="0"/>
                <a:cs typeface="Times New Roman" panose="02020603050405020304" pitchFamily="18" charset="0"/>
              </a:rPr>
              <a:t>判断下列问题是组合问题还是排列问题</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并用组合数或排列数表示出来</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(1</a:t>
            </a:r>
            <a:r>
              <a:rPr lang="en-US" altLang="zh-CN" sz="2800" smtClean="0">
                <a:solidFill>
                  <a:srgbClr val="000000"/>
                </a:solidFill>
                <a:latin typeface="Times New Roman" panose="02020603050405020304" pitchFamily="18" charset="0"/>
                <a:cs typeface="Times New Roman" panose="02020603050405020304" pitchFamily="18" charset="0"/>
              </a:rPr>
              <a:t>)</a:t>
            </a:r>
            <a:r>
              <a:rPr lang="zh-CN" altLang="zh-CN" sz="2800" smtClean="0">
                <a:solidFill>
                  <a:srgbClr val="000000"/>
                </a:solidFill>
                <a:latin typeface="Times New Roman" panose="02020603050405020304" pitchFamily="18" charset="0"/>
                <a:cs typeface="Times New Roman" panose="02020603050405020304" pitchFamily="18" charset="0"/>
              </a:rPr>
              <a:t>已</a:t>
            </a:r>
            <a:r>
              <a:rPr lang="zh-CN" altLang="zh-CN" sz="2800">
                <a:solidFill>
                  <a:srgbClr val="000000"/>
                </a:solidFill>
                <a:latin typeface="Times New Roman" panose="02020603050405020304" pitchFamily="18" charset="0"/>
                <a:cs typeface="Times New Roman" panose="02020603050405020304" pitchFamily="18" charset="0"/>
              </a:rPr>
              <a:t>知集合</a:t>
            </a:r>
            <a:r>
              <a:rPr lang="en-US" altLang="zh-CN" sz="2800">
                <a:solidFill>
                  <a:srgbClr val="000000"/>
                </a:solidFill>
                <a:latin typeface="Times New Roman" panose="02020603050405020304" pitchFamily="18" charset="0"/>
                <a:cs typeface="Times New Roman" panose="02020603050405020304" pitchFamily="18" charset="0"/>
              </a:rPr>
              <a:t>{1,2,3,4,5,6,7},</a:t>
            </a:r>
            <a:r>
              <a:rPr lang="zh-CN" altLang="zh-CN" sz="2800">
                <a:solidFill>
                  <a:srgbClr val="000000"/>
                </a:solidFill>
                <a:latin typeface="Times New Roman" panose="02020603050405020304" pitchFamily="18" charset="0"/>
                <a:cs typeface="Times New Roman" panose="02020603050405020304" pitchFamily="18" charset="0"/>
              </a:rPr>
              <a:t>则集合的子集中有</a:t>
            </a:r>
            <a:r>
              <a:rPr lang="en-US" altLang="zh-CN" sz="28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Times New Roman" panose="02020603050405020304" pitchFamily="18" charset="0"/>
                <a:cs typeface="Times New Roman" panose="02020603050405020304" pitchFamily="18" charset="0"/>
              </a:rPr>
              <a:t>个元素的有多少</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smtClean="0">
                <a:solidFill>
                  <a:srgbClr val="000000"/>
                </a:solidFill>
                <a:latin typeface="Times New Roman" panose="02020603050405020304" pitchFamily="18" charset="0"/>
                <a:cs typeface="Times New Roman" panose="02020603050405020304" pitchFamily="18" charset="0"/>
              </a:rPr>
              <a:t>2)8</a:t>
            </a:r>
            <a:r>
              <a:rPr lang="zh-CN" altLang="en-US" sz="2800">
                <a:solidFill>
                  <a:srgbClr val="000000"/>
                </a:solidFill>
                <a:latin typeface="Times New Roman" panose="02020603050405020304" pitchFamily="18" charset="0"/>
                <a:cs typeface="Times New Roman" panose="02020603050405020304" pitchFamily="18" charset="0"/>
              </a:rPr>
              <a:t>人两两互发一封电子邮件</a:t>
            </a:r>
            <a:r>
              <a:rPr lang="en-US" altLang="zh-CN" sz="2800" smtClean="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共写了多少封电子邮件</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(3)8</a:t>
            </a:r>
            <a:r>
              <a:rPr lang="zh-CN" altLang="zh-CN" sz="2800">
                <a:solidFill>
                  <a:srgbClr val="000000"/>
                </a:solidFill>
                <a:latin typeface="Times New Roman" panose="02020603050405020304" pitchFamily="18" charset="0"/>
                <a:cs typeface="Times New Roman" panose="02020603050405020304" pitchFamily="18" charset="0"/>
              </a:rPr>
              <a:t>人每</a:t>
            </a: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cs typeface="Times New Roman" panose="02020603050405020304" pitchFamily="18" charset="0"/>
              </a:rPr>
              <a:t>人间通电话一次</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共通了多少次电话</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(4)</a:t>
            </a:r>
            <a:r>
              <a:rPr lang="zh-CN" altLang="zh-CN" sz="2800">
                <a:solidFill>
                  <a:srgbClr val="000000"/>
                </a:solidFill>
                <a:latin typeface="Times New Roman" panose="02020603050405020304" pitchFamily="18" charset="0"/>
                <a:cs typeface="Times New Roman" panose="02020603050405020304" pitchFamily="18" charset="0"/>
              </a:rPr>
              <a:t>某铁路线上有</a:t>
            </a:r>
            <a:r>
              <a:rPr lang="en-US" altLang="zh-CN" sz="2800">
                <a:solidFill>
                  <a:srgbClr val="000000"/>
                </a:solidFill>
                <a:latin typeface="Times New Roman" panose="02020603050405020304" pitchFamily="18" charset="0"/>
                <a:cs typeface="Times New Roman" panose="02020603050405020304" pitchFamily="18" charset="0"/>
              </a:rPr>
              <a:t>5</a:t>
            </a:r>
            <a:r>
              <a:rPr lang="zh-CN" altLang="zh-CN" sz="2800">
                <a:solidFill>
                  <a:srgbClr val="000000"/>
                </a:solidFill>
                <a:latin typeface="Times New Roman" panose="02020603050405020304" pitchFamily="18" charset="0"/>
                <a:cs typeface="Times New Roman" panose="02020603050405020304" pitchFamily="18" charset="0"/>
              </a:rPr>
              <a:t>个车站</a:t>
            </a:r>
            <a:r>
              <a:rPr lang="en-US" altLang="zh-CN" sz="2800" smtClean="0">
                <a:solidFill>
                  <a:srgbClr val="000000"/>
                </a:solidFill>
                <a:latin typeface="Times New Roman" panose="02020603050405020304" pitchFamily="18" charset="0"/>
                <a:cs typeface="Times New Roman" panose="02020603050405020304" pitchFamily="18" charset="0"/>
              </a:rPr>
              <a:t>,</a:t>
            </a:r>
            <a:r>
              <a:rPr lang="zh-CN" altLang="en-US" sz="2800">
                <a:solidFill>
                  <a:srgbClr val="000000"/>
                </a:solidFill>
                <a:latin typeface="Times New Roman" panose="02020603050405020304" pitchFamily="18" charset="0"/>
                <a:cs typeface="Times New Roman" panose="02020603050405020304" pitchFamily="18" charset="0"/>
              </a:rPr>
              <a:t>则这条铁路线上共需准备多少种车票</a:t>
            </a:r>
            <a:r>
              <a:rPr lang="en-US" altLang="zh-CN" sz="2800" smtClean="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pattFill prst="lgConfetti">
          <a:fgClr>
            <a:srgbClr val="E8F4E9"/>
          </a:fgClr>
          <a:bgClr>
            <a:schemeClr val="bg1"/>
          </a:bgClr>
        </a:pattFill>
        <a:effectLst/>
      </p:bgPr>
    </p:bg>
    <p:spTree>
      <p:nvGrpSpPr>
        <p:cNvPr id="1" name=""/>
        <p:cNvGrpSpPr/>
        <p:nvPr/>
      </p:nvGrpSpPr>
      <p:grpSpPr>
        <a:xfrm>
          <a:off x="0" y="0"/>
          <a:ext cx="0" cy="0"/>
          <a:chOff x="0" y="0"/>
          <a:chExt cx="0" cy="0"/>
        </a:xfrm>
      </p:grpSpPr>
      <p:graphicFrame>
        <p:nvGraphicFramePr>
          <p:cNvPr id="3" name="对象 2"/>
          <p:cNvGraphicFramePr>
            <a:graphicFrameLocks noChangeAspect="1"/>
          </p:cNvGraphicFramePr>
          <p:nvPr>
            <p:extLst>
              <p:ext uri="{D42A27DB-BD31-4B8C-83A1-F6EECF244321}">
                <p14:modId xmlns:p14="http://schemas.microsoft.com/office/powerpoint/2010/main" val="1500854009"/>
              </p:ext>
            </p:extLst>
          </p:nvPr>
        </p:nvGraphicFramePr>
        <p:xfrm>
          <a:off x="458424" y="1565938"/>
          <a:ext cx="11275153" cy="3980125"/>
        </p:xfrm>
        <a:graphic>
          <a:graphicData uri="http://schemas.openxmlformats.org/presentationml/2006/ole">
            <mc:AlternateContent xmlns:mc="http://schemas.openxmlformats.org/markup-compatibility/2006">
              <mc:Choice xmlns:v="urn:schemas-microsoft-com:vml" Requires="v">
                <p:oleObj spid="_x0000_s5139" name="文档" r:id="rId4" imgW="4510061" imgH="1592050" progId="Word.Document.12">
                  <p:embed/>
                </p:oleObj>
              </mc:Choice>
              <mc:Fallback>
                <p:oleObj name="文档" r:id="rId4" imgW="4510061" imgH="1592050" progId="Word.Document.12">
                  <p:embed/>
                  <p:pic>
                    <p:nvPicPr>
                      <p:cNvPr id="0" name=""/>
                      <p:cNvPicPr/>
                      <p:nvPr/>
                    </p:nvPicPr>
                    <p:blipFill>
                      <a:blip r:embed="rId5"/>
                      <a:stretch>
                        <a:fillRect/>
                      </a:stretch>
                    </p:blipFill>
                    <p:spPr>
                      <a:xfrm>
                        <a:off x="458424" y="1565938"/>
                        <a:ext cx="11275153" cy="3980125"/>
                      </a:xfrm>
                      <a:prstGeom prst="rect">
                        <a:avLst/>
                      </a:prstGeom>
                    </p:spPr>
                  </p:pic>
                </p:oleObj>
              </mc:Fallback>
            </mc:AlternateContent>
          </a:graphicData>
        </a:graphic>
      </p:graphicFrame>
    </p:spTree>
    <p:extLst>
      <p:ext uri="{BB962C8B-B14F-4D97-AF65-F5344CB8AC3E}">
        <p14:creationId xmlns:p14="http://schemas.microsoft.com/office/powerpoint/2010/main" val="84996332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pattFill prst="lgConfetti">
          <a:fgClr>
            <a:srgbClr val="E8F4E9"/>
          </a:fgClr>
          <a:bgClr>
            <a:schemeClr val="bg1"/>
          </a:bgClr>
        </a:pattFill>
        <a:effectLst/>
      </p:bgPr>
    </p:bg>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3313658424"/>
              </p:ext>
            </p:extLst>
          </p:nvPr>
        </p:nvGraphicFramePr>
        <p:xfrm>
          <a:off x="458424" y="1377384"/>
          <a:ext cx="11275153" cy="494148"/>
        </p:xfrm>
        <a:graphic>
          <a:graphicData uri="http://schemas.openxmlformats.org/presentationml/2006/ole">
            <mc:AlternateContent xmlns:mc="http://schemas.openxmlformats.org/markup-compatibility/2006">
              <mc:Choice xmlns:v="urn:schemas-microsoft-com:vml" Requires="v">
                <p:oleObj spid="_x0000_s6163" name="文档" r:id="rId4" imgW="4510061" imgH="197659" progId="Word.Document.12">
                  <p:embed/>
                </p:oleObj>
              </mc:Choice>
              <mc:Fallback>
                <p:oleObj name="文档" r:id="rId4" imgW="4510061" imgH="197659" progId="Word.Document.12">
                  <p:embed/>
                  <p:pic>
                    <p:nvPicPr>
                      <p:cNvPr id="0" name=""/>
                      <p:cNvPicPr/>
                      <p:nvPr/>
                    </p:nvPicPr>
                    <p:blipFill>
                      <a:blip r:embed="rId5"/>
                      <a:stretch>
                        <a:fillRect/>
                      </a:stretch>
                    </p:blipFill>
                    <p:spPr>
                      <a:xfrm>
                        <a:off x="458424" y="1377384"/>
                        <a:ext cx="11275153" cy="494148"/>
                      </a:xfrm>
                      <a:prstGeom prst="rect">
                        <a:avLst/>
                      </a:prstGeom>
                    </p:spPr>
                  </p:pic>
                </p:oleObj>
              </mc:Fallback>
            </mc:AlternateContent>
          </a:graphicData>
        </a:graphic>
      </p:graphicFrame>
      <p:sp>
        <p:nvSpPr>
          <p:cNvPr id="3" name="矩形 2"/>
          <p:cNvSpPr>
            <a:spLocks noChangeAspect="1"/>
          </p:cNvSpPr>
          <p:nvPr/>
        </p:nvSpPr>
        <p:spPr>
          <a:xfrm>
            <a:off x="381000" y="1871532"/>
            <a:ext cx="11430000" cy="2832827"/>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判断一个问题是不是组合问题的方法</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区分排列问题与组合问题的关键是看结果是否与元素的顺序有关</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若交换元素的位置对结果产生影响</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则是排列问题</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若交换元素的位置对结果没有影响</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则是组合问题</a:t>
            </a:r>
            <a:r>
              <a:rPr lang="en-US" altLang="zh-CN" sz="2800" i="1">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也就是说排列问题与选取元素的顺序有关</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组合问题与选取元素的顺序无关</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56435407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pattFill prst="lgConfetti">
          <a:fgClr>
            <a:srgbClr val="E8F4E9"/>
          </a:fgClr>
          <a:bgClr>
            <a:schemeClr val="bg1"/>
          </a:bgClr>
        </a:pattFill>
        <a:effectLst/>
      </p:bgPr>
    </p:bg>
    <p:spTree>
      <p:nvGrpSpPr>
        <p:cNvPr id="1" name=""/>
        <p:cNvGrpSpPr/>
        <p:nvPr/>
      </p:nvGrpSpPr>
      <p:grpSpPr>
        <a:xfrm>
          <a:off x="0" y="0"/>
          <a:ext cx="0" cy="0"/>
          <a:chOff x="0" y="0"/>
          <a:chExt cx="0" cy="0"/>
        </a:xfrm>
      </p:grpSpPr>
      <p:sp>
        <p:nvSpPr>
          <p:cNvPr id="2" name="矩形 1"/>
          <p:cNvSpPr>
            <a:spLocks noChangeAspect="1"/>
          </p:cNvSpPr>
          <p:nvPr/>
        </p:nvSpPr>
        <p:spPr>
          <a:xfrm>
            <a:off x="381000" y="545850"/>
            <a:ext cx="11430000" cy="5693866"/>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000000"/>
                </a:solidFill>
                <a:latin typeface="Arial" panose="020B0604020202020204" pitchFamily="34" charset="0"/>
                <a:ea typeface="黑体" panose="02010609060101010101" pitchFamily="49" charset="-122"/>
                <a:cs typeface="Times New Roman" panose="02020603050405020304" pitchFamily="18" charset="0"/>
              </a:rPr>
              <a:t>【变式训练</a:t>
            </a:r>
            <a:r>
              <a:rPr lang="en-US" altLang="zh-CN" sz="2800" b="1">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a:solidFill>
                  <a:srgbClr val="000000"/>
                </a:solidFill>
                <a:latin typeface="NEU-BZ-S92"/>
                <a:ea typeface="Arial" panose="020B0604020202020204" pitchFamily="34" charset="0"/>
                <a:cs typeface="Times New Roman" panose="02020603050405020304" pitchFamily="18" charset="0"/>
              </a:rPr>
              <a:t> </a:t>
            </a:r>
            <a:r>
              <a:rPr lang="zh-CN" altLang="zh-CN" sz="2800">
                <a:solidFill>
                  <a:srgbClr val="000000"/>
                </a:solidFill>
                <a:latin typeface="Times New Roman" panose="02020603050405020304" pitchFamily="18" charset="0"/>
                <a:cs typeface="Times New Roman" panose="02020603050405020304" pitchFamily="18" charset="0"/>
              </a:rPr>
              <a:t>判断下列问题是排列问题还是组合问题</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cs typeface="Times New Roman" panose="02020603050405020304" pitchFamily="18" charset="0"/>
              </a:rPr>
              <a:t>把当日动物园的</a:t>
            </a:r>
            <a:r>
              <a:rPr lang="en-US" altLang="zh-CN" sz="2800">
                <a:solidFill>
                  <a:srgbClr val="000000"/>
                </a:solidFill>
                <a:latin typeface="Times New Roman" panose="02020603050405020304" pitchFamily="18" charset="0"/>
                <a:cs typeface="Times New Roman" panose="02020603050405020304" pitchFamily="18" charset="0"/>
              </a:rPr>
              <a:t>4</a:t>
            </a:r>
            <a:r>
              <a:rPr lang="zh-CN" altLang="zh-CN" sz="2800">
                <a:solidFill>
                  <a:srgbClr val="000000"/>
                </a:solidFill>
                <a:latin typeface="Times New Roman" panose="02020603050405020304" pitchFamily="18" charset="0"/>
                <a:cs typeface="Times New Roman" panose="02020603050405020304" pitchFamily="18" charset="0"/>
              </a:rPr>
              <a:t>张门票分给</a:t>
            </a:r>
            <a:r>
              <a:rPr lang="en-US" altLang="zh-CN" sz="2800">
                <a:solidFill>
                  <a:srgbClr val="000000"/>
                </a:solidFill>
                <a:latin typeface="Times New Roman" panose="02020603050405020304" pitchFamily="18" charset="0"/>
                <a:cs typeface="Times New Roman" panose="02020603050405020304" pitchFamily="18" charset="0"/>
              </a:rPr>
              <a:t>5</a:t>
            </a:r>
            <a:r>
              <a:rPr lang="zh-CN" altLang="zh-CN" sz="2800">
                <a:solidFill>
                  <a:srgbClr val="000000"/>
                </a:solidFill>
                <a:latin typeface="Times New Roman" panose="02020603050405020304" pitchFamily="18" charset="0"/>
                <a:cs typeface="Times New Roman" panose="02020603050405020304" pitchFamily="18" charset="0"/>
              </a:rPr>
              <a:t>个人</a:t>
            </a:r>
            <a:r>
              <a:rPr lang="en-US" altLang="zh-CN" sz="2800" smtClean="0">
                <a:solidFill>
                  <a:srgbClr val="000000"/>
                </a:solidFill>
                <a:latin typeface="Times New Roman" panose="02020603050405020304" pitchFamily="18" charset="0"/>
                <a:cs typeface="Times New Roman" panose="02020603050405020304" pitchFamily="18" charset="0"/>
              </a:rPr>
              <a:t>,</a:t>
            </a:r>
            <a:r>
              <a:rPr lang="zh-CN" altLang="en-US" sz="2800">
                <a:solidFill>
                  <a:srgbClr val="000000"/>
                </a:solidFill>
                <a:latin typeface="Times New Roman" panose="02020603050405020304" pitchFamily="18" charset="0"/>
                <a:cs typeface="Times New Roman" panose="02020603050405020304" pitchFamily="18" charset="0"/>
              </a:rPr>
              <a:t>每人至多分</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en-US" sz="2800">
                <a:solidFill>
                  <a:srgbClr val="000000"/>
                </a:solidFill>
                <a:latin typeface="Times New Roman" panose="02020603050405020304" pitchFamily="18" charset="0"/>
                <a:cs typeface="Times New Roman" panose="02020603050405020304" pitchFamily="18" charset="0"/>
              </a:rPr>
              <a:t>张</a:t>
            </a:r>
            <a:r>
              <a:rPr lang="en-US" altLang="zh-CN" sz="2800" smtClean="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而且票必须分完</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有多少种分配方法</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cs typeface="Times New Roman" panose="02020603050405020304" pitchFamily="18" charset="0"/>
              </a:rPr>
              <a:t>从</a:t>
            </a:r>
            <a:r>
              <a:rPr lang="en-US" altLang="zh-CN" sz="2800">
                <a:solidFill>
                  <a:srgbClr val="000000"/>
                </a:solidFill>
                <a:latin typeface="Times New Roman" panose="02020603050405020304" pitchFamily="18" charset="0"/>
                <a:cs typeface="Times New Roman" panose="02020603050405020304" pitchFamily="18" charset="0"/>
              </a:rPr>
              <a:t>2,3,5,7,11</a:t>
            </a:r>
            <a:r>
              <a:rPr lang="zh-CN" altLang="zh-CN" sz="2800">
                <a:solidFill>
                  <a:srgbClr val="000000"/>
                </a:solidFill>
                <a:latin typeface="Times New Roman" panose="02020603050405020304" pitchFamily="18" charset="0"/>
                <a:cs typeface="Times New Roman" panose="02020603050405020304" pitchFamily="18" charset="0"/>
              </a:rPr>
              <a:t>这</a:t>
            </a:r>
            <a:r>
              <a:rPr lang="en-US" altLang="zh-CN" sz="2800">
                <a:solidFill>
                  <a:srgbClr val="000000"/>
                </a:solidFill>
                <a:latin typeface="Times New Roman" panose="02020603050405020304" pitchFamily="18" charset="0"/>
                <a:cs typeface="Times New Roman" panose="02020603050405020304" pitchFamily="18" charset="0"/>
              </a:rPr>
              <a:t>5</a:t>
            </a:r>
            <a:r>
              <a:rPr lang="zh-CN" altLang="zh-CN" sz="2800">
                <a:solidFill>
                  <a:srgbClr val="000000"/>
                </a:solidFill>
                <a:latin typeface="Times New Roman" panose="02020603050405020304" pitchFamily="18" charset="0"/>
                <a:cs typeface="Times New Roman" panose="02020603050405020304" pitchFamily="18" charset="0"/>
              </a:rPr>
              <a:t>个质数中</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每次取</a:t>
            </a: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cs typeface="Times New Roman" panose="02020603050405020304" pitchFamily="18" charset="0"/>
              </a:rPr>
              <a:t>个数分别作为分子和分母构成一个分数</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共能构成多少个不同的分数</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Times New Roman" panose="02020603050405020304" pitchFamily="18" charset="0"/>
                <a:cs typeface="Times New Roman" panose="02020603050405020304" pitchFamily="18" charset="0"/>
              </a:rPr>
              <a:t>从</a:t>
            </a:r>
            <a:r>
              <a:rPr lang="en-US" altLang="zh-CN" sz="2800">
                <a:solidFill>
                  <a:srgbClr val="000000"/>
                </a:solidFill>
                <a:latin typeface="Times New Roman" panose="02020603050405020304" pitchFamily="18" charset="0"/>
                <a:cs typeface="Times New Roman" panose="02020603050405020304" pitchFamily="18" charset="0"/>
              </a:rPr>
              <a:t>9</a:t>
            </a:r>
            <a:r>
              <a:rPr lang="zh-CN" altLang="zh-CN" sz="2800">
                <a:solidFill>
                  <a:srgbClr val="000000"/>
                </a:solidFill>
                <a:latin typeface="Times New Roman" panose="02020603050405020304" pitchFamily="18" charset="0"/>
                <a:cs typeface="Times New Roman" panose="02020603050405020304" pitchFamily="18" charset="0"/>
              </a:rPr>
              <a:t>名学生中选出</a:t>
            </a:r>
            <a:r>
              <a:rPr lang="en-US" altLang="zh-CN" sz="2800">
                <a:solidFill>
                  <a:srgbClr val="000000"/>
                </a:solidFill>
                <a:latin typeface="Times New Roman" panose="02020603050405020304" pitchFamily="18" charset="0"/>
                <a:cs typeface="Times New Roman" panose="02020603050405020304" pitchFamily="18" charset="0"/>
              </a:rPr>
              <a:t>4</a:t>
            </a:r>
            <a:r>
              <a:rPr lang="zh-CN" altLang="zh-CN" sz="2800">
                <a:solidFill>
                  <a:srgbClr val="000000"/>
                </a:solidFill>
                <a:latin typeface="Times New Roman" panose="02020603050405020304" pitchFamily="18" charset="0"/>
                <a:cs typeface="Times New Roman" panose="02020603050405020304" pitchFamily="18" charset="0"/>
              </a:rPr>
              <a:t>名参加一个联欢会</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有多少种不同的选法</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FF0000"/>
                </a:solidFill>
                <a:latin typeface="Arial" panose="020B0604020202020204" pitchFamily="34" charset="0"/>
                <a:ea typeface="黑体" panose="02010609060101010101" pitchFamily="49" charset="-122"/>
                <a:cs typeface="Times New Roman" panose="02020603050405020304" pitchFamily="18" charset="0"/>
              </a:rPr>
              <a:t>解</a:t>
            </a:r>
            <a:r>
              <a:rPr lang="en-US" altLang="zh-CN" sz="280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是组</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合问题</a:t>
            </a:r>
            <a:r>
              <a:rPr lang="en-US" altLang="zh-CN" sz="2800">
                <a:solidFill>
                  <a:srgbClr val="000000"/>
                </a:solidFill>
                <a:latin typeface="Times New Roman" panose="02020603050405020304" pitchFamily="18" charset="0"/>
                <a:cs typeface="Times New Roman" panose="02020603050405020304" pitchFamily="18" charset="0"/>
              </a:rPr>
              <a:t>,4</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张票是相同的</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都是当日动物园的门票</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不同的分配方法取决于从</a:t>
            </a:r>
            <a:r>
              <a:rPr lang="en-US" altLang="zh-CN" sz="2800">
                <a:solidFill>
                  <a:srgbClr val="000000"/>
                </a:solidFill>
                <a:latin typeface="Times New Roman" panose="02020603050405020304" pitchFamily="18" charset="0"/>
                <a:cs typeface="Times New Roman" panose="02020603050405020304" pitchFamily="18" charset="0"/>
              </a:rPr>
              <a:t>5</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人中选择哪</a:t>
            </a:r>
            <a:r>
              <a:rPr lang="en-US" altLang="zh-CN" sz="2800">
                <a:solidFill>
                  <a:srgbClr val="000000"/>
                </a:solidFill>
                <a:latin typeface="Times New Roman" panose="02020603050405020304" pitchFamily="18" charset="0"/>
                <a:cs typeface="Times New Roman" panose="02020603050405020304" pitchFamily="18" charset="0"/>
              </a:rPr>
              <a:t>4</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人</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与顺序无关</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是排列问题</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选出的</a:t>
            </a: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个数作分子或分母</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结果是不同的</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是组合问题</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选出的</a:t>
            </a:r>
            <a:r>
              <a:rPr lang="en-US" altLang="zh-CN" sz="2800">
                <a:solidFill>
                  <a:srgbClr val="000000"/>
                </a:solidFill>
                <a:latin typeface="Times New Roman" panose="02020603050405020304" pitchFamily="18" charset="0"/>
                <a:cs typeface="Times New Roman" panose="02020603050405020304" pitchFamily="18" charset="0"/>
              </a:rPr>
              <a:t>4</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人不需要排列顺序</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43930006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xEl>
                                              <p:pRg st="4" end="4"/>
                                            </p:txEl>
                                          </p:spTgt>
                                        </p:tgtEl>
                                        <p:attrNameLst>
                                          <p:attrName>style.visibility</p:attrName>
                                        </p:attrNameLst>
                                      </p:cBhvr>
                                      <p:to>
                                        <p:strVal val="visible"/>
                                      </p:to>
                                    </p:set>
                                    <p:animEffect transition="in" filter="randombar(horizontal)">
                                      <p:cBhvr>
                                        <p:cTn id="7" dur="500"/>
                                        <p:tgtEl>
                                          <p:spTgt spid="2">
                                            <p:txEl>
                                              <p:pRg st="4" end="4"/>
                                            </p:txEl>
                                          </p:spTgt>
                                        </p:tgtEl>
                                      </p:cBhvr>
                                    </p:animEffect>
                                  </p:childTnLst>
                                </p:cTn>
                              </p:par>
                              <p:par>
                                <p:cTn id="8" presetID="14" presetClass="entr" presetSubtype="10" fill="hold" nodeType="withEffect">
                                  <p:stCondLst>
                                    <p:cond delay="0"/>
                                  </p:stCondLst>
                                  <p:childTnLst>
                                    <p:set>
                                      <p:cBhvr>
                                        <p:cTn id="9" dur="1" fill="hold">
                                          <p:stCondLst>
                                            <p:cond delay="0"/>
                                          </p:stCondLst>
                                        </p:cTn>
                                        <p:tgtEl>
                                          <p:spTgt spid="2">
                                            <p:txEl>
                                              <p:pRg st="5" end="5"/>
                                            </p:txEl>
                                          </p:spTgt>
                                        </p:tgtEl>
                                        <p:attrNameLst>
                                          <p:attrName>style.visibility</p:attrName>
                                        </p:attrNameLst>
                                      </p:cBhvr>
                                      <p:to>
                                        <p:strVal val="visible"/>
                                      </p:to>
                                    </p:set>
                                    <p:animEffect transition="in" filter="randombar(horizontal)">
                                      <p:cBhvr>
                                        <p:cTn id="10" dur="500"/>
                                        <p:tgtEl>
                                          <p:spTgt spid="2">
                                            <p:txEl>
                                              <p:pRg st="5" end="5"/>
                                            </p:txEl>
                                          </p:spTgt>
                                        </p:tgtEl>
                                      </p:cBhvr>
                                    </p:animEffect>
                                  </p:childTnLst>
                                </p:cTn>
                              </p:par>
                              <p:par>
                                <p:cTn id="11" presetID="14" presetClass="entr" presetSubtype="10" fill="hold" nodeType="withEffect">
                                  <p:stCondLst>
                                    <p:cond delay="0"/>
                                  </p:stCondLst>
                                  <p:childTnLst>
                                    <p:set>
                                      <p:cBhvr>
                                        <p:cTn id="12" dur="1" fill="hold">
                                          <p:stCondLst>
                                            <p:cond delay="0"/>
                                          </p:stCondLst>
                                        </p:cTn>
                                        <p:tgtEl>
                                          <p:spTgt spid="2">
                                            <p:txEl>
                                              <p:pRg st="6" end="6"/>
                                            </p:txEl>
                                          </p:spTgt>
                                        </p:tgtEl>
                                        <p:attrNameLst>
                                          <p:attrName>style.visibility</p:attrName>
                                        </p:attrNameLst>
                                      </p:cBhvr>
                                      <p:to>
                                        <p:strVal val="visible"/>
                                      </p:to>
                                    </p:set>
                                    <p:animEffect transition="in" filter="randombar(horizontal)">
                                      <p:cBhvr>
                                        <p:cTn id="13" dur="500"/>
                                        <p:tgtEl>
                                          <p:spTgt spid="2">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p:cNvGrpSpPr/>
          <p:nvPr/>
        </p:nvGrpSpPr>
        <p:grpSpPr>
          <a:xfrm>
            <a:off x="2" y="151371"/>
            <a:ext cx="11336478" cy="433754"/>
            <a:chOff x="381000" y="205656"/>
            <a:chExt cx="11336478" cy="433754"/>
          </a:xfrm>
        </p:grpSpPr>
        <p:sp>
          <p:nvSpPr>
            <p:cNvPr id="10" name="矩形 9"/>
            <p:cNvSpPr/>
            <p:nvPr/>
          </p:nvSpPr>
          <p:spPr>
            <a:xfrm>
              <a:off x="1999940" y="230648"/>
              <a:ext cx="192275" cy="401795"/>
            </a:xfrm>
            <a:prstGeom prst="rect">
              <a:avLst/>
            </a:prstGeom>
            <a:noFill/>
            <a:ln w="19050">
              <a:solidFill>
                <a:schemeClr val="accent4">
                  <a:lumMod val="7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grpSp>
          <p:nvGrpSpPr>
            <p:cNvPr id="11" name="组合 10"/>
            <p:cNvGrpSpPr/>
            <p:nvPr/>
          </p:nvGrpSpPr>
          <p:grpSpPr>
            <a:xfrm>
              <a:off x="381000" y="205656"/>
              <a:ext cx="11336478" cy="433754"/>
              <a:chOff x="3048000" y="2286000"/>
              <a:chExt cx="4813646" cy="457200"/>
            </a:xfrm>
          </p:grpSpPr>
          <p:sp>
            <p:nvSpPr>
              <p:cNvPr id="12" name="矩形 11"/>
              <p:cNvSpPr/>
              <p:nvPr/>
            </p:nvSpPr>
            <p:spPr>
              <a:xfrm>
                <a:off x="3048000" y="2286000"/>
                <a:ext cx="769070" cy="457200"/>
              </a:xfrm>
              <a:prstGeom prst="rect">
                <a:avLst/>
              </a:prstGeom>
              <a:solidFill>
                <a:srgbClr val="7487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dirty="0" smtClean="0">
                    <a:solidFill>
                      <a:schemeClr val="bg1"/>
                    </a:solidFill>
                  </a:rPr>
                  <a:t>探究二</a:t>
                </a:r>
              </a:p>
            </p:txBody>
          </p:sp>
          <p:sp>
            <p:nvSpPr>
              <p:cNvPr id="13" name="矩形 12"/>
              <p:cNvSpPr/>
              <p:nvPr/>
            </p:nvSpPr>
            <p:spPr>
              <a:xfrm>
                <a:off x="3909004" y="2286000"/>
                <a:ext cx="3952642" cy="457200"/>
              </a:xfrm>
              <a:prstGeom prst="rect">
                <a:avLst/>
              </a:prstGeom>
              <a:gradFill flip="none" rotWithShape="1">
                <a:gsLst>
                  <a:gs pos="0">
                    <a:srgbClr val="DCDCDC">
                      <a:shade val="30000"/>
                      <a:satMod val="115000"/>
                    </a:srgbClr>
                  </a:gs>
                  <a:gs pos="51000">
                    <a:srgbClr val="DCDCDC">
                      <a:shade val="67500"/>
                      <a:satMod val="115000"/>
                    </a:srgbClr>
                  </a:gs>
                  <a:gs pos="73000">
                    <a:srgbClr val="DCDCDC">
                      <a:shade val="100000"/>
                      <a:satMod val="115000"/>
                      <a:alpha val="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800" b="1">
                    <a:solidFill>
                      <a:schemeClr val="bg1"/>
                    </a:solidFill>
                  </a:rPr>
                  <a:t>组合数的计算与证明</a:t>
                </a:r>
                <a:endParaRPr lang="zh-CN" altLang="en-US" sz="2800" b="1" dirty="0">
                  <a:solidFill>
                    <a:schemeClr val="bg1"/>
                  </a:solidFill>
                </a:endParaRPr>
              </a:p>
            </p:txBody>
          </p:sp>
        </p:grpSp>
      </p:grpSp>
      <p:graphicFrame>
        <p:nvGraphicFramePr>
          <p:cNvPr id="2" name="对象 1"/>
          <p:cNvGraphicFramePr>
            <a:graphicFrameLocks noChangeAspect="1"/>
          </p:cNvGraphicFramePr>
          <p:nvPr>
            <p:extLst>
              <p:ext uri="{D42A27DB-BD31-4B8C-83A1-F6EECF244321}">
                <p14:modId xmlns:p14="http://schemas.microsoft.com/office/powerpoint/2010/main" val="1936927459"/>
              </p:ext>
            </p:extLst>
          </p:nvPr>
        </p:nvGraphicFramePr>
        <p:xfrm>
          <a:off x="458424" y="1025191"/>
          <a:ext cx="11275153" cy="2472530"/>
        </p:xfrm>
        <a:graphic>
          <a:graphicData uri="http://schemas.openxmlformats.org/presentationml/2006/ole">
            <mc:AlternateContent xmlns:mc="http://schemas.openxmlformats.org/markup-compatibility/2006">
              <mc:Choice xmlns:v="urn:schemas-microsoft-com:vml" Requires="v">
                <p:oleObj spid="_x0000_s7218" name="文档" r:id="rId4" imgW="4510061" imgH="989012" progId="Word.Document.12">
                  <p:embed/>
                </p:oleObj>
              </mc:Choice>
              <mc:Fallback>
                <p:oleObj name="文档" r:id="rId4" imgW="4510061" imgH="989012" progId="Word.Document.12">
                  <p:embed/>
                  <p:pic>
                    <p:nvPicPr>
                      <p:cNvPr id="0" name=""/>
                      <p:cNvPicPr/>
                      <p:nvPr/>
                    </p:nvPicPr>
                    <p:blipFill>
                      <a:blip r:embed="rId5"/>
                      <a:stretch>
                        <a:fillRect/>
                      </a:stretch>
                    </p:blipFill>
                    <p:spPr>
                      <a:xfrm>
                        <a:off x="458424" y="1025191"/>
                        <a:ext cx="11275153" cy="2472530"/>
                      </a:xfrm>
                      <a:prstGeom prst="rect">
                        <a:avLst/>
                      </a:prstGeom>
                    </p:spPr>
                  </p:pic>
                </p:oleObj>
              </mc:Fallback>
            </mc:AlternateContent>
          </a:graphicData>
        </a:graphic>
      </p:graphicFrame>
      <p:graphicFrame>
        <p:nvGraphicFramePr>
          <p:cNvPr id="14" name="对象 13"/>
          <p:cNvGraphicFramePr>
            <a:graphicFrameLocks noChangeAspect="1"/>
          </p:cNvGraphicFramePr>
          <p:nvPr>
            <p:extLst>
              <p:ext uri="{D42A27DB-BD31-4B8C-83A1-F6EECF244321}">
                <p14:modId xmlns:p14="http://schemas.microsoft.com/office/powerpoint/2010/main" val="3145199384"/>
              </p:ext>
            </p:extLst>
          </p:nvPr>
        </p:nvGraphicFramePr>
        <p:xfrm>
          <a:off x="458424" y="3464674"/>
          <a:ext cx="11275153" cy="989193"/>
        </p:xfrm>
        <a:graphic>
          <a:graphicData uri="http://schemas.openxmlformats.org/presentationml/2006/ole">
            <mc:AlternateContent xmlns:mc="http://schemas.openxmlformats.org/markup-compatibility/2006">
              <mc:Choice xmlns:v="urn:schemas-microsoft-com:vml" Requires="v">
                <p:oleObj spid="_x0000_s7219" name="文档" r:id="rId7" imgW="4510061" imgH="395677" progId="Word.Document.12">
                  <p:embed/>
                </p:oleObj>
              </mc:Choice>
              <mc:Fallback>
                <p:oleObj name="文档" r:id="rId7" imgW="4510061" imgH="395677" progId="Word.Document.12">
                  <p:embed/>
                  <p:pic>
                    <p:nvPicPr>
                      <p:cNvPr id="0" name=""/>
                      <p:cNvPicPr/>
                      <p:nvPr/>
                    </p:nvPicPr>
                    <p:blipFill>
                      <a:blip r:embed="rId8"/>
                      <a:stretch>
                        <a:fillRect/>
                      </a:stretch>
                    </p:blipFill>
                    <p:spPr>
                      <a:xfrm>
                        <a:off x="458424" y="3464674"/>
                        <a:ext cx="11275153" cy="989193"/>
                      </a:xfrm>
                      <a:prstGeom prst="rect">
                        <a:avLst/>
                      </a:prstGeom>
                    </p:spPr>
                  </p:pic>
                </p:oleObj>
              </mc:Fallback>
            </mc:AlternateContent>
          </a:graphicData>
        </a:graphic>
      </p:graphicFrame>
      <p:graphicFrame>
        <p:nvGraphicFramePr>
          <p:cNvPr id="15" name="对象 14"/>
          <p:cNvGraphicFramePr>
            <a:graphicFrameLocks noChangeAspect="1"/>
          </p:cNvGraphicFramePr>
          <p:nvPr>
            <p:extLst>
              <p:ext uri="{D42A27DB-BD31-4B8C-83A1-F6EECF244321}">
                <p14:modId xmlns:p14="http://schemas.microsoft.com/office/powerpoint/2010/main" val="1381330050"/>
              </p:ext>
            </p:extLst>
          </p:nvPr>
        </p:nvGraphicFramePr>
        <p:xfrm>
          <a:off x="458424" y="4345446"/>
          <a:ext cx="11275153" cy="989193"/>
        </p:xfrm>
        <a:graphic>
          <a:graphicData uri="http://schemas.openxmlformats.org/presentationml/2006/ole">
            <mc:AlternateContent xmlns:mc="http://schemas.openxmlformats.org/markup-compatibility/2006">
              <mc:Choice xmlns:v="urn:schemas-microsoft-com:vml" Requires="v">
                <p:oleObj spid="_x0000_s7220" name="文档" r:id="rId10" imgW="4510061" imgH="395677" progId="Word.Document.12">
                  <p:embed/>
                </p:oleObj>
              </mc:Choice>
              <mc:Fallback>
                <p:oleObj name="文档" r:id="rId10" imgW="4510061" imgH="395677" progId="Word.Document.12">
                  <p:embed/>
                  <p:pic>
                    <p:nvPicPr>
                      <p:cNvPr id="0" name=""/>
                      <p:cNvPicPr/>
                      <p:nvPr/>
                    </p:nvPicPr>
                    <p:blipFill>
                      <a:blip r:embed="rId11"/>
                      <a:stretch>
                        <a:fillRect/>
                      </a:stretch>
                    </p:blipFill>
                    <p:spPr>
                      <a:xfrm>
                        <a:off x="458424" y="4345446"/>
                        <a:ext cx="11275153" cy="989193"/>
                      </a:xfrm>
                      <a:prstGeom prst="rect">
                        <a:avLst/>
                      </a:prstGeom>
                    </p:spPr>
                  </p:pic>
                </p:oleObj>
              </mc:Fallback>
            </mc:AlternateContent>
          </a:graphicData>
        </a:graphic>
      </p:graphicFrame>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2681854099"/>
              </p:ext>
            </p:extLst>
          </p:nvPr>
        </p:nvGraphicFramePr>
        <p:xfrm>
          <a:off x="458424" y="641503"/>
          <a:ext cx="11275153" cy="2125728"/>
        </p:xfrm>
        <a:graphic>
          <a:graphicData uri="http://schemas.openxmlformats.org/presentationml/2006/ole">
            <mc:AlternateContent xmlns:mc="http://schemas.openxmlformats.org/markup-compatibility/2006">
              <mc:Choice xmlns:v="urn:schemas-microsoft-com:vml" Requires="v">
                <p:oleObj spid="_x0000_s25630" name="文档" r:id="rId4" imgW="4510061" imgH="850291" progId="Word.Document.12">
                  <p:embed/>
                </p:oleObj>
              </mc:Choice>
              <mc:Fallback>
                <p:oleObj name="文档" r:id="rId4" imgW="4510061" imgH="850291" progId="Word.Document.12">
                  <p:embed/>
                  <p:pic>
                    <p:nvPicPr>
                      <p:cNvPr id="0" name=""/>
                      <p:cNvPicPr/>
                      <p:nvPr/>
                    </p:nvPicPr>
                    <p:blipFill>
                      <a:blip r:embed="rId5"/>
                      <a:stretch>
                        <a:fillRect/>
                      </a:stretch>
                    </p:blipFill>
                    <p:spPr>
                      <a:xfrm>
                        <a:off x="458424" y="641503"/>
                        <a:ext cx="11275153" cy="2125728"/>
                      </a:xfrm>
                      <a:prstGeom prst="rect">
                        <a:avLst/>
                      </a:prstGeom>
                    </p:spPr>
                  </p:pic>
                </p:oleObj>
              </mc:Fallback>
            </mc:AlternateContent>
          </a:graphicData>
        </a:graphic>
      </p:graphicFrame>
      <p:sp>
        <p:nvSpPr>
          <p:cNvPr id="3" name="矩形 2"/>
          <p:cNvSpPr>
            <a:spLocks noChangeAspect="1"/>
          </p:cNvSpPr>
          <p:nvPr/>
        </p:nvSpPr>
        <p:spPr>
          <a:xfrm>
            <a:off x="381000" y="2608505"/>
            <a:ext cx="1351652" cy="652486"/>
          </a:xfrm>
          <a:prstGeom prst="rect">
            <a:avLst/>
          </a:prstGeom>
        </p:spPr>
        <p:txBody>
          <a:bodyPr wrap="none">
            <a:spAutoFit/>
          </a:bodyPr>
          <a:lstStyle/>
          <a:p>
            <a:pPr>
              <a:lnSpc>
                <a:spcPct val="130000"/>
              </a:lnSpc>
              <a:spcAft>
                <a:spcPts val="0"/>
              </a:spcAft>
              <a:tabLst>
                <a:tab pos="1188085" algn="l"/>
                <a:tab pos="2163445" algn="l"/>
                <a:tab pos="3142615" algn="l"/>
                <a:tab pos="4190365" algn="l"/>
              </a:tabLst>
            </a:pPr>
            <a:r>
              <a:rPr lang="zh-CN" altLang="zh-CN" sz="2800">
                <a:solidFill>
                  <a:srgbClr val="FF0000"/>
                </a:solidFill>
                <a:latin typeface="Arial" panose="020B0604020202020204" pitchFamily="34" charset="0"/>
                <a:ea typeface="黑体" panose="02010609060101010101" pitchFamily="49" charset="-122"/>
                <a:cs typeface="Times New Roman" panose="02020603050405020304" pitchFamily="18" charset="0"/>
              </a:rPr>
              <a:t>答案</a:t>
            </a:r>
            <a:r>
              <a:rPr lang="en-US" altLang="zh-CN" sz="280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smtClean="0">
                <a:solidFill>
                  <a:srgbClr val="000000"/>
                </a:solidFill>
                <a:latin typeface="Times New Roman" panose="02020603050405020304" pitchFamily="18" charset="0"/>
                <a:cs typeface="Times New Roman" panose="02020603050405020304" pitchFamily="18" charset="0"/>
              </a:rPr>
              <a:t>D </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196643123"/>
              </p:ext>
            </p:extLst>
          </p:nvPr>
        </p:nvGraphicFramePr>
        <p:xfrm>
          <a:off x="458424" y="3123940"/>
          <a:ext cx="11275153" cy="3535393"/>
        </p:xfrm>
        <a:graphic>
          <a:graphicData uri="http://schemas.openxmlformats.org/presentationml/2006/ole">
            <mc:AlternateContent xmlns:mc="http://schemas.openxmlformats.org/markup-compatibility/2006">
              <mc:Choice xmlns:v="urn:schemas-microsoft-com:vml" Requires="v">
                <p:oleObj spid="_x0000_s25631" name="文档" r:id="rId7" imgW="4510061" imgH="1408767" progId="Word.Document.12">
                  <p:embed/>
                </p:oleObj>
              </mc:Choice>
              <mc:Fallback>
                <p:oleObj name="文档" r:id="rId7" imgW="4510061" imgH="1408767" progId="Word.Document.12">
                  <p:embed/>
                  <p:pic>
                    <p:nvPicPr>
                      <p:cNvPr id="0" name=""/>
                      <p:cNvPicPr/>
                      <p:nvPr/>
                    </p:nvPicPr>
                    <p:blipFill>
                      <a:blip r:embed="rId8"/>
                      <a:stretch>
                        <a:fillRect/>
                      </a:stretch>
                    </p:blipFill>
                    <p:spPr>
                      <a:xfrm>
                        <a:off x="458424" y="3123940"/>
                        <a:ext cx="11275153" cy="3535393"/>
                      </a:xfrm>
                      <a:prstGeom prst="rect">
                        <a:avLst/>
                      </a:prstGeom>
                    </p:spPr>
                  </p:pic>
                </p:oleObj>
              </mc:Fallback>
            </mc:AlternateContent>
          </a:graphicData>
        </a:graphic>
      </p:graphicFrame>
    </p:spTree>
    <p:extLst>
      <p:ext uri="{BB962C8B-B14F-4D97-AF65-F5344CB8AC3E}">
        <p14:creationId xmlns:p14="http://schemas.microsoft.com/office/powerpoint/2010/main" val="372929674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对象 3"/>
          <p:cNvGraphicFramePr>
            <a:graphicFrameLocks noChangeAspect="1"/>
          </p:cNvGraphicFramePr>
          <p:nvPr>
            <p:extLst>
              <p:ext uri="{D42A27DB-BD31-4B8C-83A1-F6EECF244321}">
                <p14:modId xmlns:p14="http://schemas.microsoft.com/office/powerpoint/2010/main" val="2103289395"/>
              </p:ext>
            </p:extLst>
          </p:nvPr>
        </p:nvGraphicFramePr>
        <p:xfrm>
          <a:off x="458424" y="1269637"/>
          <a:ext cx="11275153" cy="3545310"/>
        </p:xfrm>
        <a:graphic>
          <a:graphicData uri="http://schemas.openxmlformats.org/presentationml/2006/ole">
            <mc:AlternateContent xmlns:mc="http://schemas.openxmlformats.org/markup-compatibility/2006">
              <mc:Choice xmlns:v="urn:schemas-microsoft-com:vml" Requires="v">
                <p:oleObj spid="_x0000_s9238" name="文档" r:id="rId4" imgW="4510061" imgH="1418124" progId="Word.Document.12">
                  <p:embed/>
                </p:oleObj>
              </mc:Choice>
              <mc:Fallback>
                <p:oleObj name="文档" r:id="rId4" imgW="4510061" imgH="1418124" progId="Word.Document.12">
                  <p:embed/>
                  <p:pic>
                    <p:nvPicPr>
                      <p:cNvPr id="0" name=""/>
                      <p:cNvPicPr/>
                      <p:nvPr/>
                    </p:nvPicPr>
                    <p:blipFill>
                      <a:blip r:embed="rId5"/>
                      <a:stretch>
                        <a:fillRect/>
                      </a:stretch>
                    </p:blipFill>
                    <p:spPr>
                      <a:xfrm>
                        <a:off x="458424" y="1269637"/>
                        <a:ext cx="11275153" cy="3545310"/>
                      </a:xfrm>
                      <a:prstGeom prst="rect">
                        <a:avLst/>
                      </a:prstGeom>
                    </p:spPr>
                  </p:pic>
                </p:oleObj>
              </mc:Fallback>
            </mc:AlternateContent>
          </a:graphicData>
        </a:graphic>
      </p:graphicFrame>
    </p:spTree>
    <p:extLst>
      <p:ext uri="{BB962C8B-B14F-4D97-AF65-F5344CB8AC3E}">
        <p14:creationId xmlns:p14="http://schemas.microsoft.com/office/powerpoint/2010/main" val="195929432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延伸探究H.eps" descr="id:2147515106;FounderCES"/>
          <p:cNvPicPr/>
          <p:nvPr/>
        </p:nvPicPr>
        <p:blipFill>
          <a:blip r:embed="rId3">
            <a:clrChange>
              <a:clrFrom>
                <a:srgbClr val="FFFFFF"/>
              </a:clrFrom>
              <a:clrTo>
                <a:srgbClr val="FFFFFF">
                  <a:alpha val="0"/>
                </a:srgbClr>
              </a:clrTo>
            </a:clrChange>
          </a:blip>
          <a:stretch>
            <a:fillRect/>
          </a:stretch>
        </p:blipFill>
        <p:spPr>
          <a:xfrm>
            <a:off x="4966271" y="1501072"/>
            <a:ext cx="2259458" cy="412065"/>
          </a:xfrm>
          <a:prstGeom prst="rect">
            <a:avLst/>
          </a:prstGeom>
        </p:spPr>
      </p:pic>
      <p:graphicFrame>
        <p:nvGraphicFramePr>
          <p:cNvPr id="4" name="对象 3"/>
          <p:cNvGraphicFramePr>
            <a:graphicFrameLocks noChangeAspect="1"/>
          </p:cNvGraphicFramePr>
          <p:nvPr>
            <p:extLst>
              <p:ext uri="{D42A27DB-BD31-4B8C-83A1-F6EECF244321}">
                <p14:modId xmlns:p14="http://schemas.microsoft.com/office/powerpoint/2010/main" val="3734990522"/>
              </p:ext>
            </p:extLst>
          </p:nvPr>
        </p:nvGraphicFramePr>
        <p:xfrm>
          <a:off x="458424" y="3136196"/>
          <a:ext cx="11275153" cy="1557910"/>
        </p:xfrm>
        <a:graphic>
          <a:graphicData uri="http://schemas.openxmlformats.org/presentationml/2006/ole">
            <mc:AlternateContent xmlns:mc="http://schemas.openxmlformats.org/markup-compatibility/2006">
              <mc:Choice xmlns:v="urn:schemas-microsoft-com:vml" Requires="v">
                <p:oleObj spid="_x0000_s10276" name="文档" r:id="rId5" imgW="4510061" imgH="623164" progId="Word.Document.12">
                  <p:embed/>
                </p:oleObj>
              </mc:Choice>
              <mc:Fallback>
                <p:oleObj name="文档" r:id="rId5" imgW="4510061" imgH="623164" progId="Word.Document.12">
                  <p:embed/>
                  <p:pic>
                    <p:nvPicPr>
                      <p:cNvPr id="0" name=""/>
                      <p:cNvPicPr/>
                      <p:nvPr/>
                    </p:nvPicPr>
                    <p:blipFill>
                      <a:blip r:embed="rId6"/>
                      <a:stretch>
                        <a:fillRect/>
                      </a:stretch>
                    </p:blipFill>
                    <p:spPr>
                      <a:xfrm>
                        <a:off x="458424" y="3136196"/>
                        <a:ext cx="11275153" cy="1557910"/>
                      </a:xfrm>
                      <a:prstGeom prst="rect">
                        <a:avLst/>
                      </a:prstGeom>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2947380926"/>
              </p:ext>
            </p:extLst>
          </p:nvPr>
        </p:nvGraphicFramePr>
        <p:xfrm>
          <a:off x="458424" y="2166170"/>
          <a:ext cx="11275153" cy="991965"/>
        </p:xfrm>
        <a:graphic>
          <a:graphicData uri="http://schemas.openxmlformats.org/presentationml/2006/ole">
            <mc:AlternateContent xmlns:mc="http://schemas.openxmlformats.org/markup-compatibility/2006">
              <mc:Choice xmlns:v="urn:schemas-microsoft-com:vml" Requires="v">
                <p:oleObj spid="_x0000_s10277" name="文档" r:id="rId8" imgW="4510061" imgH="396786" progId="Word.Document.12">
                  <p:embed/>
                </p:oleObj>
              </mc:Choice>
              <mc:Fallback>
                <p:oleObj name="文档" r:id="rId8" imgW="4510061" imgH="396786" progId="Word.Document.12">
                  <p:embed/>
                  <p:pic>
                    <p:nvPicPr>
                      <p:cNvPr id="0" name=""/>
                      <p:cNvPicPr/>
                      <p:nvPr/>
                    </p:nvPicPr>
                    <p:blipFill>
                      <a:blip r:embed="rId9"/>
                      <a:stretch>
                        <a:fillRect/>
                      </a:stretch>
                    </p:blipFill>
                    <p:spPr>
                      <a:xfrm>
                        <a:off x="458424" y="2166170"/>
                        <a:ext cx="11275153" cy="991965"/>
                      </a:xfrm>
                      <a:prstGeom prst="rect">
                        <a:avLst/>
                      </a:prstGeom>
                    </p:spPr>
                  </p:pic>
                </p:oleObj>
              </mc:Fallback>
            </mc:AlternateContent>
          </a:graphicData>
        </a:graphic>
      </p:graphicFrame>
    </p:spTree>
    <p:extLst>
      <p:ext uri="{BB962C8B-B14F-4D97-AF65-F5344CB8AC3E}">
        <p14:creationId xmlns:p14="http://schemas.microsoft.com/office/powerpoint/2010/main" val="320291595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1686856507"/>
              </p:ext>
            </p:extLst>
          </p:nvPr>
        </p:nvGraphicFramePr>
        <p:xfrm>
          <a:off x="458424" y="1336288"/>
          <a:ext cx="11275153" cy="494148"/>
        </p:xfrm>
        <a:graphic>
          <a:graphicData uri="http://schemas.openxmlformats.org/presentationml/2006/ole">
            <mc:AlternateContent xmlns:mc="http://schemas.openxmlformats.org/markup-compatibility/2006">
              <mc:Choice xmlns:v="urn:schemas-microsoft-com:vml" Requires="v">
                <p:oleObj spid="_x0000_s11320" name="文档" r:id="rId4" imgW="4510061" imgH="197659" progId="Word.Document.12">
                  <p:embed/>
                </p:oleObj>
              </mc:Choice>
              <mc:Fallback>
                <p:oleObj name="文档" r:id="rId4" imgW="4510061" imgH="197659" progId="Word.Document.12">
                  <p:embed/>
                  <p:pic>
                    <p:nvPicPr>
                      <p:cNvPr id="0" name=""/>
                      <p:cNvPicPr/>
                      <p:nvPr/>
                    </p:nvPicPr>
                    <p:blipFill>
                      <a:blip r:embed="rId5"/>
                      <a:stretch>
                        <a:fillRect/>
                      </a:stretch>
                    </p:blipFill>
                    <p:spPr>
                      <a:xfrm>
                        <a:off x="458424" y="1336288"/>
                        <a:ext cx="11275153" cy="494148"/>
                      </a:xfrm>
                      <a:prstGeom prst="rect">
                        <a:avLst/>
                      </a:prstGeom>
                    </p:spPr>
                  </p:pic>
                </p:oleObj>
              </mc:Fallback>
            </mc:AlternateContent>
          </a:graphicData>
        </a:graphic>
      </p:graphicFrame>
      <p:sp>
        <p:nvSpPr>
          <p:cNvPr id="3" name="矩形 2"/>
          <p:cNvSpPr>
            <a:spLocks noChangeAspect="1"/>
          </p:cNvSpPr>
          <p:nvPr/>
        </p:nvSpPr>
        <p:spPr>
          <a:xfrm>
            <a:off x="381000" y="1994523"/>
            <a:ext cx="5301451" cy="652486"/>
          </a:xfrm>
          <a:prstGeom prst="rect">
            <a:avLst/>
          </a:prstGeom>
        </p:spPr>
        <p:txBody>
          <a:bodyPr wrap="none">
            <a:spAutoFit/>
          </a:bodyPr>
          <a:lstStyle/>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关于组合数计算公式的选取</a:t>
            </a:r>
            <a:r>
              <a:rPr lang="zh-CN" altLang="zh-CN" sz="2800" smtClean="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技巧</a:t>
            </a:r>
            <a:r>
              <a:rPr lang="en-US" altLang="zh-CN" sz="2800" smtClean="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 </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3306508714"/>
              </p:ext>
            </p:extLst>
          </p:nvPr>
        </p:nvGraphicFramePr>
        <p:xfrm>
          <a:off x="458424" y="2753178"/>
          <a:ext cx="11275153" cy="989193"/>
        </p:xfrm>
        <a:graphic>
          <a:graphicData uri="http://schemas.openxmlformats.org/presentationml/2006/ole">
            <mc:AlternateContent xmlns:mc="http://schemas.openxmlformats.org/markup-compatibility/2006">
              <mc:Choice xmlns:v="urn:schemas-microsoft-com:vml" Requires="v">
                <p:oleObj spid="_x0000_s11321" name="文档" r:id="rId7" imgW="4510061" imgH="395677" progId="Word.Document.12">
                  <p:embed/>
                </p:oleObj>
              </mc:Choice>
              <mc:Fallback>
                <p:oleObj name="文档" r:id="rId7" imgW="4510061" imgH="395677" progId="Word.Document.12">
                  <p:embed/>
                  <p:pic>
                    <p:nvPicPr>
                      <p:cNvPr id="0" name=""/>
                      <p:cNvPicPr/>
                      <p:nvPr/>
                    </p:nvPicPr>
                    <p:blipFill>
                      <a:blip r:embed="rId8"/>
                      <a:stretch>
                        <a:fillRect/>
                      </a:stretch>
                    </p:blipFill>
                    <p:spPr>
                      <a:xfrm>
                        <a:off x="458424" y="2753178"/>
                        <a:ext cx="11275153" cy="989193"/>
                      </a:xfrm>
                      <a:prstGeom prst="rect">
                        <a:avLst/>
                      </a:prstGeom>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343203184"/>
              </p:ext>
            </p:extLst>
          </p:nvPr>
        </p:nvGraphicFramePr>
        <p:xfrm>
          <a:off x="458424" y="3742371"/>
          <a:ext cx="11275153" cy="989193"/>
        </p:xfrm>
        <a:graphic>
          <a:graphicData uri="http://schemas.openxmlformats.org/presentationml/2006/ole">
            <mc:AlternateContent xmlns:mc="http://schemas.openxmlformats.org/markup-compatibility/2006">
              <mc:Choice xmlns:v="urn:schemas-microsoft-com:vml" Requires="v">
                <p:oleObj spid="_x0000_s11322" name="文档" r:id="rId10" imgW="4510061" imgH="395677" progId="Word.Document.12">
                  <p:embed/>
                </p:oleObj>
              </mc:Choice>
              <mc:Fallback>
                <p:oleObj name="文档" r:id="rId10" imgW="4510061" imgH="395677" progId="Word.Document.12">
                  <p:embed/>
                  <p:pic>
                    <p:nvPicPr>
                      <p:cNvPr id="0" name=""/>
                      <p:cNvPicPr/>
                      <p:nvPr/>
                    </p:nvPicPr>
                    <p:blipFill>
                      <a:blip r:embed="rId11"/>
                      <a:stretch>
                        <a:fillRect/>
                      </a:stretch>
                    </p:blipFill>
                    <p:spPr>
                      <a:xfrm>
                        <a:off x="458424" y="3742371"/>
                        <a:ext cx="11275153" cy="989193"/>
                      </a:xfrm>
                      <a:prstGeom prst="rect">
                        <a:avLst/>
                      </a:prstGeom>
                    </p:spPr>
                  </p:pic>
                </p:oleObj>
              </mc:Fallback>
            </mc:AlternateContent>
          </a:graphicData>
        </a:graphic>
      </p:graphicFrame>
    </p:spTree>
    <p:extLst>
      <p:ext uri="{BB962C8B-B14F-4D97-AF65-F5344CB8AC3E}">
        <p14:creationId xmlns:p14="http://schemas.microsoft.com/office/powerpoint/2010/main" val="10154809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p:cNvGraphicFramePr>
            <a:graphicFrameLocks noChangeAspect="1"/>
          </p:cNvGraphicFramePr>
          <p:nvPr>
            <p:extLst>
              <p:ext uri="{D42A27DB-BD31-4B8C-83A1-F6EECF244321}">
                <p14:modId xmlns:p14="http://schemas.microsoft.com/office/powerpoint/2010/main" val="1804291346"/>
              </p:ext>
            </p:extLst>
          </p:nvPr>
        </p:nvGraphicFramePr>
        <p:xfrm>
          <a:off x="458424" y="830317"/>
          <a:ext cx="11275153" cy="989193"/>
        </p:xfrm>
        <a:graphic>
          <a:graphicData uri="http://schemas.openxmlformats.org/presentationml/2006/ole">
            <mc:AlternateContent xmlns:mc="http://schemas.openxmlformats.org/markup-compatibility/2006">
              <mc:Choice xmlns:v="urn:schemas-microsoft-com:vml" Requires="v">
                <p:oleObj spid="_x0000_s12324" name="文档" r:id="rId4" imgW="4510061" imgH="395677" progId="Word.Document.12">
                  <p:embed/>
                </p:oleObj>
              </mc:Choice>
              <mc:Fallback>
                <p:oleObj name="文档" r:id="rId4" imgW="4510061" imgH="395677" progId="Word.Document.12">
                  <p:embed/>
                  <p:pic>
                    <p:nvPicPr>
                      <p:cNvPr id="0" name=""/>
                      <p:cNvPicPr/>
                      <p:nvPr/>
                    </p:nvPicPr>
                    <p:blipFill>
                      <a:blip r:embed="rId5"/>
                      <a:stretch>
                        <a:fillRect/>
                      </a:stretch>
                    </p:blipFill>
                    <p:spPr>
                      <a:xfrm>
                        <a:off x="458424" y="830317"/>
                        <a:ext cx="11275153" cy="989193"/>
                      </a:xfrm>
                      <a:prstGeom prst="rect">
                        <a:avLst/>
                      </a:prstGeom>
                    </p:spPr>
                  </p:pic>
                </p:oleObj>
              </mc:Fallback>
            </mc:AlternateContent>
          </a:graphicData>
        </a:graphic>
      </p:graphicFrame>
      <p:graphicFrame>
        <p:nvGraphicFramePr>
          <p:cNvPr id="2" name="对象 1"/>
          <p:cNvGraphicFramePr>
            <a:graphicFrameLocks noChangeAspect="1"/>
          </p:cNvGraphicFramePr>
          <p:nvPr>
            <p:extLst>
              <p:ext uri="{D42A27DB-BD31-4B8C-83A1-F6EECF244321}">
                <p14:modId xmlns:p14="http://schemas.microsoft.com/office/powerpoint/2010/main" val="239964666"/>
              </p:ext>
            </p:extLst>
          </p:nvPr>
        </p:nvGraphicFramePr>
        <p:xfrm>
          <a:off x="458424" y="1994171"/>
          <a:ext cx="11275153" cy="3123658"/>
        </p:xfrm>
        <a:graphic>
          <a:graphicData uri="http://schemas.openxmlformats.org/presentationml/2006/ole">
            <mc:AlternateContent xmlns:mc="http://schemas.openxmlformats.org/markup-compatibility/2006">
              <mc:Choice xmlns:v="urn:schemas-microsoft-com:vml" Requires="v">
                <p:oleObj spid="_x0000_s12325" name="文档" r:id="rId7" imgW="4510061" imgH="1250544" progId="Word.Document.12">
                  <p:embed/>
                </p:oleObj>
              </mc:Choice>
              <mc:Fallback>
                <p:oleObj name="文档" r:id="rId7" imgW="4510061" imgH="1250544" progId="Word.Document.12">
                  <p:embed/>
                  <p:pic>
                    <p:nvPicPr>
                      <p:cNvPr id="0" name=""/>
                      <p:cNvPicPr/>
                      <p:nvPr/>
                    </p:nvPicPr>
                    <p:blipFill>
                      <a:blip r:embed="rId8"/>
                      <a:stretch>
                        <a:fillRect/>
                      </a:stretch>
                    </p:blipFill>
                    <p:spPr>
                      <a:xfrm>
                        <a:off x="458424" y="1994171"/>
                        <a:ext cx="11275153" cy="3123658"/>
                      </a:xfrm>
                      <a:prstGeom prst="rect">
                        <a:avLst/>
                      </a:prstGeom>
                    </p:spPr>
                  </p:pic>
                </p:oleObj>
              </mc:Fallback>
            </mc:AlternateContent>
          </a:graphicData>
        </a:graphic>
      </p:graphicFrame>
    </p:spTree>
    <p:extLst>
      <p:ext uri="{BB962C8B-B14F-4D97-AF65-F5344CB8AC3E}">
        <p14:creationId xmlns:p14="http://schemas.microsoft.com/office/powerpoint/2010/main" val="195000643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p:cNvGrpSpPr/>
          <p:nvPr/>
        </p:nvGrpSpPr>
        <p:grpSpPr>
          <a:xfrm>
            <a:off x="2" y="151371"/>
            <a:ext cx="11336478" cy="433754"/>
            <a:chOff x="381000" y="205656"/>
            <a:chExt cx="11336478" cy="433754"/>
          </a:xfrm>
        </p:grpSpPr>
        <p:sp>
          <p:nvSpPr>
            <p:cNvPr id="10" name="矩形 9"/>
            <p:cNvSpPr/>
            <p:nvPr/>
          </p:nvSpPr>
          <p:spPr>
            <a:xfrm>
              <a:off x="1999940" y="230648"/>
              <a:ext cx="192275" cy="401795"/>
            </a:xfrm>
            <a:prstGeom prst="rect">
              <a:avLst/>
            </a:prstGeom>
            <a:noFill/>
            <a:ln w="19050">
              <a:solidFill>
                <a:schemeClr val="accent4">
                  <a:lumMod val="7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grpSp>
          <p:nvGrpSpPr>
            <p:cNvPr id="11" name="组合 10"/>
            <p:cNvGrpSpPr/>
            <p:nvPr/>
          </p:nvGrpSpPr>
          <p:grpSpPr>
            <a:xfrm>
              <a:off x="381000" y="205656"/>
              <a:ext cx="11336478" cy="433754"/>
              <a:chOff x="3048000" y="2286000"/>
              <a:chExt cx="4813646" cy="457200"/>
            </a:xfrm>
          </p:grpSpPr>
          <p:sp>
            <p:nvSpPr>
              <p:cNvPr id="12" name="矩形 11"/>
              <p:cNvSpPr/>
              <p:nvPr/>
            </p:nvSpPr>
            <p:spPr>
              <a:xfrm>
                <a:off x="3048000" y="2286000"/>
                <a:ext cx="769070" cy="457200"/>
              </a:xfrm>
              <a:prstGeom prst="rect">
                <a:avLst/>
              </a:prstGeom>
              <a:solidFill>
                <a:srgbClr val="7487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dirty="0" smtClean="0">
                    <a:solidFill>
                      <a:schemeClr val="bg1"/>
                    </a:solidFill>
                  </a:rPr>
                  <a:t>探究三</a:t>
                </a:r>
              </a:p>
            </p:txBody>
          </p:sp>
          <p:sp>
            <p:nvSpPr>
              <p:cNvPr id="13" name="矩形 12"/>
              <p:cNvSpPr/>
              <p:nvPr/>
            </p:nvSpPr>
            <p:spPr>
              <a:xfrm>
                <a:off x="3909004" y="2286000"/>
                <a:ext cx="3952642" cy="457200"/>
              </a:xfrm>
              <a:prstGeom prst="rect">
                <a:avLst/>
              </a:prstGeom>
              <a:gradFill flip="none" rotWithShape="1">
                <a:gsLst>
                  <a:gs pos="0">
                    <a:srgbClr val="DCDCDC">
                      <a:shade val="30000"/>
                      <a:satMod val="115000"/>
                    </a:srgbClr>
                  </a:gs>
                  <a:gs pos="51000">
                    <a:srgbClr val="DCDCDC">
                      <a:shade val="67500"/>
                      <a:satMod val="115000"/>
                    </a:srgbClr>
                  </a:gs>
                  <a:gs pos="73000">
                    <a:srgbClr val="DCDCDC">
                      <a:shade val="100000"/>
                      <a:satMod val="115000"/>
                      <a:alpha val="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800" b="1">
                    <a:solidFill>
                      <a:schemeClr val="bg1"/>
                    </a:solidFill>
                  </a:rPr>
                  <a:t>用组合数公式解决简单的组合问题</a:t>
                </a:r>
                <a:endParaRPr lang="zh-CN" altLang="en-US" sz="2800" b="1" dirty="0">
                  <a:solidFill>
                    <a:schemeClr val="bg1"/>
                  </a:solidFill>
                </a:endParaRPr>
              </a:p>
            </p:txBody>
          </p:sp>
        </p:grpSp>
      </p:grpSp>
      <p:sp>
        <p:nvSpPr>
          <p:cNvPr id="5" name="矩形 4"/>
          <p:cNvSpPr>
            <a:spLocks noChangeAspect="1"/>
          </p:cNvSpPr>
          <p:nvPr/>
        </p:nvSpPr>
        <p:spPr>
          <a:xfrm>
            <a:off x="381000" y="1306560"/>
            <a:ext cx="11430000" cy="3453253"/>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【例</a:t>
            </a:r>
            <a:r>
              <a:rPr lang="en-US" altLang="zh-CN" sz="2800" b="1">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lang="zh-CN" altLang="zh-CN" sz="2800">
                <a:solidFill>
                  <a:srgbClr val="000000"/>
                </a:solidFill>
                <a:latin typeface="NEU-BZ-S92"/>
                <a:ea typeface="Times New Roman" panose="02020603050405020304" pitchFamily="18" charset="0"/>
                <a:cs typeface="Times New Roman" panose="02020603050405020304" pitchFamily="18" charset="0"/>
              </a:rPr>
              <a:t> </a:t>
            </a:r>
            <a:r>
              <a:rPr lang="zh-CN" altLang="zh-CN" sz="2800">
                <a:solidFill>
                  <a:srgbClr val="000000"/>
                </a:solidFill>
                <a:latin typeface="Times New Roman" panose="02020603050405020304" pitchFamily="18" charset="0"/>
                <a:cs typeface="Times New Roman" panose="02020603050405020304" pitchFamily="18" charset="0"/>
              </a:rPr>
              <a:t>有男运动员</a:t>
            </a:r>
            <a:r>
              <a:rPr lang="en-US" altLang="zh-CN" sz="2800">
                <a:solidFill>
                  <a:srgbClr val="000000"/>
                </a:solidFill>
                <a:latin typeface="Times New Roman" panose="02020603050405020304" pitchFamily="18" charset="0"/>
                <a:cs typeface="Times New Roman" panose="02020603050405020304" pitchFamily="18" charset="0"/>
              </a:rPr>
              <a:t>6</a:t>
            </a:r>
            <a:r>
              <a:rPr lang="zh-CN" altLang="zh-CN" sz="2800">
                <a:solidFill>
                  <a:srgbClr val="000000"/>
                </a:solidFill>
                <a:latin typeface="Times New Roman" panose="02020603050405020304" pitchFamily="18" charset="0"/>
                <a:cs typeface="Times New Roman" panose="02020603050405020304" pitchFamily="18" charset="0"/>
              </a:rPr>
              <a:t>名</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女运动员</a:t>
            </a:r>
            <a:r>
              <a:rPr lang="en-US" altLang="zh-CN" sz="2800">
                <a:solidFill>
                  <a:srgbClr val="000000"/>
                </a:solidFill>
                <a:latin typeface="Times New Roman" panose="02020603050405020304" pitchFamily="18" charset="0"/>
                <a:cs typeface="Times New Roman" panose="02020603050405020304" pitchFamily="18" charset="0"/>
              </a:rPr>
              <a:t>4</a:t>
            </a:r>
            <a:r>
              <a:rPr lang="zh-CN" altLang="zh-CN" sz="2800">
                <a:solidFill>
                  <a:srgbClr val="000000"/>
                </a:solidFill>
                <a:latin typeface="Times New Roman" panose="02020603050405020304" pitchFamily="18" charset="0"/>
                <a:cs typeface="Times New Roman" panose="02020603050405020304" pitchFamily="18" charset="0"/>
              </a:rPr>
              <a:t>名</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其中男、女队长各</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cs typeface="Times New Roman" panose="02020603050405020304" pitchFamily="18" charset="0"/>
              </a:rPr>
              <a:t>名</a:t>
            </a:r>
            <a:r>
              <a:rPr lang="en-US" altLang="zh-CN" sz="2800" i="1">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现选派</a:t>
            </a:r>
            <a:r>
              <a:rPr lang="en-US" altLang="zh-CN" sz="2800">
                <a:solidFill>
                  <a:srgbClr val="000000"/>
                </a:solidFill>
                <a:latin typeface="Times New Roman" panose="02020603050405020304" pitchFamily="18" charset="0"/>
                <a:cs typeface="Times New Roman" panose="02020603050405020304" pitchFamily="18" charset="0"/>
              </a:rPr>
              <a:t>5</a:t>
            </a:r>
            <a:r>
              <a:rPr lang="zh-CN" altLang="zh-CN" sz="2800">
                <a:solidFill>
                  <a:srgbClr val="000000"/>
                </a:solidFill>
                <a:latin typeface="Times New Roman" panose="02020603050405020304" pitchFamily="18" charset="0"/>
                <a:cs typeface="Times New Roman" panose="02020603050405020304" pitchFamily="18" charset="0"/>
              </a:rPr>
              <a:t>人外出参加比赛</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在下列情形中各有多少种选派方法</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cs typeface="Times New Roman" panose="02020603050405020304" pitchFamily="18" charset="0"/>
              </a:rPr>
              <a:t>任意选派</a:t>
            </a:r>
            <a:r>
              <a:rPr lang="en-US" altLang="zh-CN" sz="2800">
                <a:solidFill>
                  <a:srgbClr val="000000"/>
                </a:solidFill>
                <a:latin typeface="Times New Roman" panose="02020603050405020304" pitchFamily="18" charset="0"/>
                <a:cs typeface="Times New Roman" panose="02020603050405020304" pitchFamily="18" charset="0"/>
              </a:rPr>
              <a:t>5</a:t>
            </a:r>
            <a:r>
              <a:rPr lang="zh-CN" altLang="zh-CN" sz="2800">
                <a:solidFill>
                  <a:srgbClr val="000000"/>
                </a:solidFill>
                <a:latin typeface="Times New Roman" panose="02020603050405020304" pitchFamily="18" charset="0"/>
                <a:cs typeface="Times New Roman" panose="02020603050405020304" pitchFamily="18" charset="0"/>
              </a:rPr>
              <a:t>人</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cs typeface="Times New Roman" panose="02020603050405020304" pitchFamily="18" charset="0"/>
              </a:rPr>
              <a:t>男运动员</a:t>
            </a:r>
            <a:r>
              <a:rPr lang="en-US" altLang="zh-CN" sz="28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Times New Roman" panose="02020603050405020304" pitchFamily="18" charset="0"/>
                <a:cs typeface="Times New Roman" panose="02020603050405020304" pitchFamily="18" charset="0"/>
              </a:rPr>
              <a:t>名</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女运动员</a:t>
            </a: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cs typeface="Times New Roman" panose="02020603050405020304" pitchFamily="18" charset="0"/>
              </a:rPr>
              <a:t>名</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(3</a:t>
            </a:r>
            <a:r>
              <a:rPr lang="en-US" altLang="zh-CN" sz="2800" smtClean="0">
                <a:solidFill>
                  <a:srgbClr val="000000"/>
                </a:solidFill>
                <a:latin typeface="Times New Roman" panose="02020603050405020304" pitchFamily="18" charset="0"/>
                <a:cs typeface="Times New Roman" panose="02020603050405020304" pitchFamily="18" charset="0"/>
              </a:rPr>
              <a:t>)</a:t>
            </a:r>
            <a:r>
              <a:rPr lang="zh-CN" altLang="en-US" sz="2800">
                <a:solidFill>
                  <a:srgbClr val="000000"/>
                </a:solidFill>
                <a:latin typeface="Times New Roman" panose="02020603050405020304" pitchFamily="18" charset="0"/>
                <a:cs typeface="Times New Roman" panose="02020603050405020304" pitchFamily="18" charset="0"/>
              </a:rPr>
              <a:t> </a:t>
            </a:r>
            <a:r>
              <a:rPr lang="en-US" altLang="zh-CN" sz="2800">
                <a:solidFill>
                  <a:srgbClr val="000000"/>
                </a:solidFill>
                <a:latin typeface="Times New Roman" panose="02020603050405020304" pitchFamily="18" charset="0"/>
                <a:cs typeface="Times New Roman" panose="02020603050405020304" pitchFamily="18" charset="0"/>
              </a:rPr>
              <a:t>2</a:t>
            </a:r>
            <a:r>
              <a:rPr lang="zh-CN" altLang="en-US" sz="2800">
                <a:solidFill>
                  <a:srgbClr val="000000"/>
                </a:solidFill>
                <a:latin typeface="Times New Roman" panose="02020603050405020304" pitchFamily="18" charset="0"/>
                <a:cs typeface="Times New Roman" panose="02020603050405020304" pitchFamily="18" charset="0"/>
              </a:rPr>
              <a:t>名队长必须参加</a:t>
            </a:r>
            <a:r>
              <a:rPr lang="en-US" altLang="zh-CN" sz="2800" smtClean="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(4)</a:t>
            </a:r>
            <a:r>
              <a:rPr lang="zh-CN" altLang="zh-CN" sz="2800">
                <a:solidFill>
                  <a:srgbClr val="000000"/>
                </a:solidFill>
                <a:latin typeface="Times New Roman" panose="02020603050405020304" pitchFamily="18" charset="0"/>
                <a:cs typeface="Times New Roman" panose="02020603050405020304" pitchFamily="18" charset="0"/>
              </a:rPr>
              <a:t>至少有</a:t>
            </a:r>
            <a:r>
              <a:rPr lang="en-US" altLang="zh-CN" sz="28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Times New Roman" panose="02020603050405020304" pitchFamily="18" charset="0"/>
                <a:cs typeface="Times New Roman" panose="02020603050405020304" pitchFamily="18" charset="0"/>
              </a:rPr>
              <a:t>名女运动员</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3667668328"/>
              </p:ext>
            </p:extLst>
          </p:nvPr>
        </p:nvGraphicFramePr>
        <p:xfrm>
          <a:off x="444500" y="769938"/>
          <a:ext cx="11250613" cy="4813300"/>
        </p:xfrm>
        <a:graphic>
          <a:graphicData uri="http://schemas.openxmlformats.org/presentationml/2006/ole">
            <mc:AlternateContent xmlns:mc="http://schemas.openxmlformats.org/markup-compatibility/2006">
              <mc:Choice xmlns:v="urn:schemas-microsoft-com:vml" Requires="v">
                <p:oleObj spid="_x0000_s26640" name="文档" r:id="rId4" imgW="4510061" imgH="1938883" progId="Word.Document.12">
                  <p:embed/>
                </p:oleObj>
              </mc:Choice>
              <mc:Fallback>
                <p:oleObj name="文档" r:id="rId4" imgW="4510061" imgH="1938883" progId="Word.Document.12">
                  <p:embed/>
                  <p:pic>
                    <p:nvPicPr>
                      <p:cNvPr id="0" name=""/>
                      <p:cNvPicPr/>
                      <p:nvPr/>
                    </p:nvPicPr>
                    <p:blipFill>
                      <a:blip r:embed="rId5"/>
                      <a:stretch>
                        <a:fillRect/>
                      </a:stretch>
                    </p:blipFill>
                    <p:spPr>
                      <a:xfrm>
                        <a:off x="444500" y="769938"/>
                        <a:ext cx="11250613" cy="4813300"/>
                      </a:xfrm>
                      <a:prstGeom prst="rect">
                        <a:avLst/>
                      </a:prstGeom>
                    </p:spPr>
                  </p:pic>
                </p:oleObj>
              </mc:Fallback>
            </mc:AlternateContent>
          </a:graphicData>
        </a:graphic>
      </p:graphicFrame>
    </p:spTree>
    <p:extLst>
      <p:ext uri="{BB962C8B-B14F-4D97-AF65-F5344CB8AC3E}">
        <p14:creationId xmlns:p14="http://schemas.microsoft.com/office/powerpoint/2010/main" val="382804547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1048674289"/>
              </p:ext>
            </p:extLst>
          </p:nvPr>
        </p:nvGraphicFramePr>
        <p:xfrm>
          <a:off x="458424" y="1613690"/>
          <a:ext cx="11275153" cy="494148"/>
        </p:xfrm>
        <a:graphic>
          <a:graphicData uri="http://schemas.openxmlformats.org/presentationml/2006/ole">
            <mc:AlternateContent xmlns:mc="http://schemas.openxmlformats.org/markup-compatibility/2006">
              <mc:Choice xmlns:v="urn:schemas-microsoft-com:vml" Requires="v">
                <p:oleObj spid="_x0000_s27664" name="文档" r:id="rId4" imgW="4510061" imgH="197659" progId="Word.Document.12">
                  <p:embed/>
                </p:oleObj>
              </mc:Choice>
              <mc:Fallback>
                <p:oleObj name="文档" r:id="rId4" imgW="4510061" imgH="197659" progId="Word.Document.12">
                  <p:embed/>
                  <p:pic>
                    <p:nvPicPr>
                      <p:cNvPr id="0" name=""/>
                      <p:cNvPicPr/>
                      <p:nvPr/>
                    </p:nvPicPr>
                    <p:blipFill>
                      <a:blip r:embed="rId5"/>
                      <a:stretch>
                        <a:fillRect/>
                      </a:stretch>
                    </p:blipFill>
                    <p:spPr>
                      <a:xfrm>
                        <a:off x="458424" y="1613690"/>
                        <a:ext cx="11275153" cy="494148"/>
                      </a:xfrm>
                      <a:prstGeom prst="rect">
                        <a:avLst/>
                      </a:prstGeom>
                    </p:spPr>
                  </p:pic>
                </p:oleObj>
              </mc:Fallback>
            </mc:AlternateContent>
          </a:graphicData>
        </a:graphic>
      </p:graphicFrame>
      <p:sp>
        <p:nvSpPr>
          <p:cNvPr id="3" name="矩形 2"/>
          <p:cNvSpPr>
            <a:spLocks noChangeAspect="1"/>
          </p:cNvSpPr>
          <p:nvPr/>
        </p:nvSpPr>
        <p:spPr>
          <a:xfrm>
            <a:off x="381000" y="2203086"/>
            <a:ext cx="11430000" cy="2832827"/>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求解简单组合问题的基本策略</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要判断问题是不是组合问题</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组合问题与排列问题的区别在于组合问题与取出元素的顺序无关</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而排列问题与取出元素的顺序有关</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要注意对问题进行合理的分类与分步</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与两个计数原理结合起来解决问题</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182518632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1938634"/>
            <a:ext cx="11430000" cy="2272673"/>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【变式训练</a:t>
            </a:r>
            <a:r>
              <a:rPr lang="en-US" altLang="zh-CN" sz="2800" b="1">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lang="zh-CN" altLang="zh-CN" sz="2800">
                <a:solidFill>
                  <a:srgbClr val="000000"/>
                </a:solidFill>
                <a:latin typeface="NEU-BZ-S92"/>
                <a:ea typeface="Times New Roman" panose="02020603050405020304" pitchFamily="18" charset="0"/>
                <a:cs typeface="Times New Roman" panose="02020603050405020304" pitchFamily="18" charset="0"/>
              </a:rPr>
              <a:t> </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cs typeface="Times New Roman" panose="02020603050405020304" pitchFamily="18" charset="0"/>
              </a:rPr>
              <a:t>有</a:t>
            </a:r>
            <a:r>
              <a:rPr lang="en-US" altLang="zh-CN" sz="2800">
                <a:solidFill>
                  <a:srgbClr val="000000"/>
                </a:solidFill>
                <a:latin typeface="Times New Roman" panose="02020603050405020304" pitchFamily="18" charset="0"/>
                <a:cs typeface="Times New Roman" panose="02020603050405020304" pitchFamily="18" charset="0"/>
              </a:rPr>
              <a:t>4</a:t>
            </a:r>
            <a:r>
              <a:rPr lang="zh-CN" altLang="zh-CN" sz="2800">
                <a:solidFill>
                  <a:srgbClr val="000000"/>
                </a:solidFill>
                <a:latin typeface="Times New Roman" panose="02020603050405020304" pitchFamily="18" charset="0"/>
                <a:cs typeface="Times New Roman" panose="02020603050405020304" pitchFamily="18" charset="0"/>
              </a:rPr>
              <a:t>名男医生、</a:t>
            </a:r>
            <a:r>
              <a:rPr lang="en-US" altLang="zh-CN" sz="28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Times New Roman" panose="02020603050405020304" pitchFamily="18" charset="0"/>
                <a:cs typeface="Times New Roman" panose="02020603050405020304" pitchFamily="18" charset="0"/>
              </a:rPr>
              <a:t>名女医生</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从中选出</a:t>
            </a: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cs typeface="Times New Roman" panose="02020603050405020304" pitchFamily="18" charset="0"/>
              </a:rPr>
              <a:t>名男医生、</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cs typeface="Times New Roman" panose="02020603050405020304" pitchFamily="18" charset="0"/>
              </a:rPr>
              <a:t>名女医生组成一个医疗小组</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则不同的选法共有</a:t>
            </a:r>
            <a:r>
              <a:rPr lang="zh-CN" altLang="zh-CN" sz="2800" i="1" u="sng">
                <a:solidFill>
                  <a:srgbClr val="FF0000"/>
                </a:solidFill>
                <a:uFill>
                  <a:solidFill>
                    <a:srgbClr val="000000"/>
                  </a:solidFill>
                </a:uFill>
                <a:latin typeface="Times New Roman" panose="02020603050405020304" pitchFamily="18" charset="0"/>
                <a:cs typeface="Times New Roman" panose="02020603050405020304" pitchFamily="18" charset="0"/>
              </a:rPr>
              <a:t>　　　　</a:t>
            </a:r>
            <a:r>
              <a:rPr lang="zh-CN" altLang="zh-CN" sz="2800">
                <a:solidFill>
                  <a:srgbClr val="000000"/>
                </a:solidFill>
                <a:latin typeface="Times New Roman" panose="02020603050405020304" pitchFamily="18" charset="0"/>
                <a:cs typeface="Times New Roman" panose="02020603050405020304" pitchFamily="18" charset="0"/>
              </a:rPr>
              <a:t>种</a:t>
            </a:r>
            <a:r>
              <a:rPr lang="en-US" altLang="zh-CN" sz="2800" i="1">
                <a:solidFill>
                  <a:srgbClr val="000000"/>
                </a:solidFill>
                <a:latin typeface="Times New Roman" panose="02020603050405020304" pitchFamily="18" charset="0"/>
                <a:cs typeface="Times New Roman" panose="02020603050405020304" pitchFamily="18" charset="0"/>
              </a:rPr>
              <a:t>. </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cs typeface="Times New Roman" panose="02020603050405020304" pitchFamily="18" charset="0"/>
              </a:rPr>
              <a:t>袋中装有质地、大小相同的</a:t>
            </a:r>
            <a:r>
              <a:rPr lang="en-US" altLang="zh-CN" sz="2800">
                <a:solidFill>
                  <a:srgbClr val="000000"/>
                </a:solidFill>
                <a:latin typeface="Times New Roman" panose="02020603050405020304" pitchFamily="18" charset="0"/>
                <a:cs typeface="Times New Roman" panose="02020603050405020304" pitchFamily="18" charset="0"/>
              </a:rPr>
              <a:t>4</a:t>
            </a:r>
            <a:r>
              <a:rPr lang="zh-CN" altLang="zh-CN" sz="2800">
                <a:solidFill>
                  <a:srgbClr val="000000"/>
                </a:solidFill>
                <a:latin typeface="Times New Roman" panose="02020603050405020304" pitchFamily="18" charset="0"/>
                <a:cs typeface="Times New Roman" panose="02020603050405020304" pitchFamily="18" charset="0"/>
              </a:rPr>
              <a:t>个红球和</a:t>
            </a:r>
            <a:r>
              <a:rPr lang="en-US" altLang="zh-CN" sz="2800">
                <a:solidFill>
                  <a:srgbClr val="000000"/>
                </a:solidFill>
                <a:latin typeface="Times New Roman" panose="02020603050405020304" pitchFamily="18" charset="0"/>
                <a:cs typeface="Times New Roman" panose="02020603050405020304" pitchFamily="18" charset="0"/>
              </a:rPr>
              <a:t>6</a:t>
            </a:r>
            <a:r>
              <a:rPr lang="zh-CN" altLang="zh-CN" sz="2800">
                <a:solidFill>
                  <a:srgbClr val="000000"/>
                </a:solidFill>
                <a:latin typeface="Times New Roman" panose="02020603050405020304" pitchFamily="18" charset="0"/>
                <a:cs typeface="Times New Roman" panose="02020603050405020304" pitchFamily="18" charset="0"/>
              </a:rPr>
              <a:t>个白球</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从中取出</a:t>
            </a:r>
            <a:r>
              <a:rPr lang="en-US" altLang="zh-CN" sz="2800">
                <a:solidFill>
                  <a:srgbClr val="000000"/>
                </a:solidFill>
                <a:latin typeface="Times New Roman" panose="02020603050405020304" pitchFamily="18" charset="0"/>
                <a:cs typeface="Times New Roman" panose="02020603050405020304" pitchFamily="18" charset="0"/>
              </a:rPr>
              <a:t>4</a:t>
            </a:r>
            <a:r>
              <a:rPr lang="zh-CN" altLang="zh-CN" sz="2800">
                <a:solidFill>
                  <a:srgbClr val="000000"/>
                </a:solidFill>
                <a:latin typeface="Times New Roman" panose="02020603050405020304" pitchFamily="18" charset="0"/>
                <a:cs typeface="Times New Roman" panose="02020603050405020304" pitchFamily="18" charset="0"/>
              </a:rPr>
              <a:t>个球</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若取出的球必须是两种颜色</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则有</a:t>
            </a:r>
            <a:r>
              <a:rPr lang="zh-CN" altLang="zh-CN" sz="2800" i="1" u="sng">
                <a:solidFill>
                  <a:srgbClr val="FF0000"/>
                </a:solidFill>
                <a:uFill>
                  <a:solidFill>
                    <a:srgbClr val="000000"/>
                  </a:solidFill>
                </a:uFill>
                <a:latin typeface="Times New Roman" panose="02020603050405020304" pitchFamily="18" charset="0"/>
                <a:cs typeface="Times New Roman" panose="02020603050405020304" pitchFamily="18" charset="0"/>
              </a:rPr>
              <a:t>　　　　</a:t>
            </a:r>
            <a:r>
              <a:rPr lang="zh-CN" altLang="zh-CN" sz="2800">
                <a:solidFill>
                  <a:srgbClr val="000000"/>
                </a:solidFill>
                <a:latin typeface="Times New Roman" panose="02020603050405020304" pitchFamily="18" charset="0"/>
                <a:cs typeface="Times New Roman" panose="02020603050405020304" pitchFamily="18" charset="0"/>
              </a:rPr>
              <a:t>种不同的取法</a:t>
            </a:r>
            <a:r>
              <a:rPr lang="en-US" altLang="zh-CN" sz="2800" i="1">
                <a:solidFill>
                  <a:srgbClr val="000000"/>
                </a:solidFill>
                <a:latin typeface="Times New Roman" panose="02020603050405020304" pitchFamily="18" charset="0"/>
                <a:cs typeface="Times New Roman" panose="02020603050405020304" pitchFamily="18" charset="0"/>
              </a:rPr>
              <a:t>. </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305502805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1032950518"/>
              </p:ext>
            </p:extLst>
          </p:nvPr>
        </p:nvGraphicFramePr>
        <p:xfrm>
          <a:off x="458424" y="1349831"/>
          <a:ext cx="11275153" cy="2850663"/>
        </p:xfrm>
        <a:graphic>
          <a:graphicData uri="http://schemas.openxmlformats.org/presentationml/2006/ole">
            <mc:AlternateContent xmlns:mc="http://schemas.openxmlformats.org/markup-compatibility/2006">
              <mc:Choice xmlns:v="urn:schemas-microsoft-com:vml" Requires="v">
                <p:oleObj spid="_x0000_s28688" name="文档" r:id="rId4" imgW="4510061" imgH="1140986" progId="Word.Document.12">
                  <p:embed/>
                </p:oleObj>
              </mc:Choice>
              <mc:Fallback>
                <p:oleObj name="文档" r:id="rId4" imgW="4510061" imgH="1140986" progId="Word.Document.12">
                  <p:embed/>
                  <p:pic>
                    <p:nvPicPr>
                      <p:cNvPr id="0" name=""/>
                      <p:cNvPicPr/>
                      <p:nvPr/>
                    </p:nvPicPr>
                    <p:blipFill>
                      <a:blip r:embed="rId5"/>
                      <a:stretch>
                        <a:fillRect/>
                      </a:stretch>
                    </p:blipFill>
                    <p:spPr>
                      <a:xfrm>
                        <a:off x="458424" y="1349831"/>
                        <a:ext cx="11275153" cy="2850663"/>
                      </a:xfrm>
                      <a:prstGeom prst="rect">
                        <a:avLst/>
                      </a:prstGeom>
                    </p:spPr>
                  </p:pic>
                </p:oleObj>
              </mc:Fallback>
            </mc:AlternateContent>
          </a:graphicData>
        </a:graphic>
      </p:graphicFrame>
      <p:sp>
        <p:nvSpPr>
          <p:cNvPr id="3" name="矩形 2"/>
          <p:cNvSpPr>
            <a:spLocks noChangeAspect="1"/>
          </p:cNvSpPr>
          <p:nvPr/>
        </p:nvSpPr>
        <p:spPr>
          <a:xfrm>
            <a:off x="381000" y="4376696"/>
            <a:ext cx="3188693" cy="652486"/>
          </a:xfrm>
          <a:prstGeom prst="rect">
            <a:avLst/>
          </a:prstGeom>
        </p:spPr>
        <p:txBody>
          <a:bodyPr wrap="none">
            <a:spAutoFit/>
          </a:bodyPr>
          <a:lstStyle/>
          <a:p>
            <a:pPr>
              <a:lnSpc>
                <a:spcPct val="130000"/>
              </a:lnSpc>
              <a:spcAft>
                <a:spcPts val="0"/>
              </a:spcAft>
              <a:tabLst>
                <a:tab pos="1188085" algn="l"/>
                <a:tab pos="2163445" algn="l"/>
                <a:tab pos="3142615" algn="l"/>
                <a:tab pos="4190365" algn="l"/>
              </a:tabLst>
            </a:pPr>
            <a:r>
              <a:rPr lang="zh-CN" altLang="zh-CN" sz="280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答案</a:t>
            </a:r>
            <a:r>
              <a:rPr lang="en-US" altLang="zh-CN" sz="280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(1)18</a:t>
            </a:r>
            <a:r>
              <a:rPr lang="zh-CN" altLang="zh-CN" sz="2800" i="1">
                <a:solidFill>
                  <a:srgbClr val="000000"/>
                </a:solidFill>
                <a:latin typeface="Times New Roman" panose="02020603050405020304" pitchFamily="18" charset="0"/>
                <a:cs typeface="Times New Roman" panose="02020603050405020304" pitchFamily="18" charset="0"/>
              </a:rPr>
              <a:t>　</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smtClean="0">
                <a:solidFill>
                  <a:srgbClr val="000000"/>
                </a:solidFill>
                <a:latin typeface="Times New Roman" panose="02020603050405020304" pitchFamily="18" charset="0"/>
                <a:cs typeface="Times New Roman" panose="02020603050405020304" pitchFamily="18" charset="0"/>
              </a:rPr>
              <a:t>2)194 </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271813222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2" y="151371"/>
            <a:ext cx="11336478" cy="433754"/>
            <a:chOff x="3048000" y="2286000"/>
            <a:chExt cx="4813646" cy="457200"/>
          </a:xfrm>
        </p:grpSpPr>
        <p:sp>
          <p:nvSpPr>
            <p:cNvPr id="6" name="矩形 5"/>
            <p:cNvSpPr/>
            <p:nvPr/>
          </p:nvSpPr>
          <p:spPr>
            <a:xfrm>
              <a:off x="3048000" y="2286000"/>
              <a:ext cx="209403" cy="457200"/>
            </a:xfrm>
            <a:prstGeom prst="rect">
              <a:avLst/>
            </a:prstGeom>
            <a:solidFill>
              <a:srgbClr val="7487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smtClean="0">
                  <a:solidFill>
                    <a:schemeClr val="bg1"/>
                  </a:solidFill>
                </a:rPr>
                <a:t> </a:t>
              </a:r>
              <a:endParaRPr lang="zh-CN" altLang="en-US" sz="2800" b="1" dirty="0" smtClean="0">
                <a:solidFill>
                  <a:schemeClr val="bg1"/>
                </a:solidFill>
              </a:endParaRPr>
            </a:p>
          </p:txBody>
        </p:sp>
        <p:sp>
          <p:nvSpPr>
            <p:cNvPr id="8" name="矩形 7"/>
            <p:cNvSpPr/>
            <p:nvPr/>
          </p:nvSpPr>
          <p:spPr>
            <a:xfrm>
              <a:off x="3345506" y="2286000"/>
              <a:ext cx="4516140" cy="457200"/>
            </a:xfrm>
            <a:prstGeom prst="rect">
              <a:avLst/>
            </a:prstGeom>
            <a:gradFill flip="none" rotWithShape="1">
              <a:gsLst>
                <a:gs pos="0">
                  <a:srgbClr val="DCDCDC">
                    <a:shade val="30000"/>
                    <a:satMod val="115000"/>
                  </a:srgbClr>
                </a:gs>
                <a:gs pos="51000">
                  <a:srgbClr val="DCDCDC">
                    <a:shade val="67500"/>
                    <a:satMod val="115000"/>
                  </a:srgbClr>
                </a:gs>
                <a:gs pos="73000">
                  <a:srgbClr val="DCDCDC">
                    <a:shade val="100000"/>
                    <a:satMod val="115000"/>
                    <a:alpha val="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800" b="1">
                  <a:solidFill>
                    <a:schemeClr val="bg1"/>
                  </a:solidFill>
                </a:rPr>
                <a:t>易错辨析</a:t>
              </a:r>
              <a:endParaRPr lang="zh-CN" altLang="en-US" sz="2800" b="1" dirty="0">
                <a:solidFill>
                  <a:schemeClr val="bg1"/>
                </a:solidFill>
              </a:endParaRPr>
            </a:p>
          </p:txBody>
        </p:sp>
      </p:grpSp>
      <p:graphicFrame>
        <p:nvGraphicFramePr>
          <p:cNvPr id="9" name="对象 8"/>
          <p:cNvGraphicFramePr>
            <a:graphicFrameLocks noChangeAspect="1"/>
          </p:cNvGraphicFramePr>
          <p:nvPr>
            <p:extLst>
              <p:ext uri="{D42A27DB-BD31-4B8C-83A1-F6EECF244321}">
                <p14:modId xmlns:p14="http://schemas.microsoft.com/office/powerpoint/2010/main" val="1026513903"/>
              </p:ext>
            </p:extLst>
          </p:nvPr>
        </p:nvGraphicFramePr>
        <p:xfrm>
          <a:off x="463550" y="659972"/>
          <a:ext cx="11264900" cy="5681663"/>
        </p:xfrm>
        <a:graphic>
          <a:graphicData uri="http://schemas.openxmlformats.org/presentationml/2006/ole">
            <mc:AlternateContent xmlns:mc="http://schemas.openxmlformats.org/markup-compatibility/2006">
              <mc:Choice xmlns:v="urn:schemas-microsoft-com:vml" Requires="v">
                <p:oleObj spid="_x0000_s18454" name="文档" r:id="rId4" imgW="4558286" imgH="2293144" progId="Word.Document.12">
                  <p:embed/>
                </p:oleObj>
              </mc:Choice>
              <mc:Fallback>
                <p:oleObj name="文档" r:id="rId4" imgW="4558286" imgH="2293144" progId="Word.Document.12">
                  <p:embed/>
                  <p:pic>
                    <p:nvPicPr>
                      <p:cNvPr id="0" name=""/>
                      <p:cNvPicPr/>
                      <p:nvPr/>
                    </p:nvPicPr>
                    <p:blipFill>
                      <a:blip r:embed="rId5"/>
                      <a:stretch>
                        <a:fillRect/>
                      </a:stretch>
                    </p:blipFill>
                    <p:spPr>
                      <a:xfrm>
                        <a:off x="463550" y="659972"/>
                        <a:ext cx="11264900" cy="5681663"/>
                      </a:xfrm>
                      <a:prstGeom prst="rect">
                        <a:avLst/>
                      </a:prstGeom>
                    </p:spPr>
                  </p:pic>
                </p:oleObj>
              </mc:Fallback>
            </mc:AlternateContent>
          </a:graphicData>
        </a:graphic>
      </p:graphicFrame>
    </p:spTree>
    <p:extLst>
      <p:ext uri="{BB962C8B-B14F-4D97-AF65-F5344CB8AC3E}">
        <p14:creationId xmlns:p14="http://schemas.microsoft.com/office/powerpoint/2010/main" val="424954606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1535691"/>
            <a:ext cx="11430000" cy="652486"/>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cs typeface="Times New Roman" panose="02020603050405020304" pitchFamily="18" charset="0"/>
              </a:rPr>
              <a:t>以上解答过程中有什么错误</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导致错误的原因是什么</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你如何防范</a:t>
            </a:r>
            <a:r>
              <a:rPr lang="en-US" altLang="zh-CN" sz="2800" smtClean="0">
                <a:solidFill>
                  <a:srgbClr val="000000"/>
                </a:solidFill>
                <a:latin typeface="Times New Roman" panose="02020603050405020304" pitchFamily="18" charset="0"/>
                <a:cs typeface="Times New Roman" panose="02020603050405020304" pitchFamily="18" charset="0"/>
              </a:rPr>
              <a:t>? </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sp>
        <p:nvSpPr>
          <p:cNvPr id="4" name="矩形 3"/>
          <p:cNvSpPr>
            <a:spLocks noChangeAspect="1"/>
          </p:cNvSpPr>
          <p:nvPr/>
        </p:nvSpPr>
        <p:spPr>
          <a:xfrm>
            <a:off x="381000" y="2188177"/>
            <a:ext cx="11430000" cy="1212640"/>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提示</a:t>
            </a:r>
            <a:r>
              <a:rPr lang="en-US" altLang="zh-CN" sz="2800">
                <a:solidFill>
                  <a:srgbClr val="FF0000"/>
                </a:solidFill>
                <a:effectLst/>
                <a:latin typeface="Times New Roman" panose="02020603050405020304" pitchFamily="18" charset="0"/>
                <a:ea typeface="黑体" panose="02010609060101010101" pitchFamily="49" charset="-122"/>
                <a:cs typeface="Times New Roman" panose="02020603050405020304" pitchFamily="18" charset="0"/>
              </a:rPr>
              <a:t>:</a:t>
            </a:r>
            <a:r>
              <a:rPr lang="zh-CN" altLang="zh-CN" sz="2800" smtClean="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在</a:t>
            </a:r>
            <a:r>
              <a:rPr lang="en-US" altLang="zh-CN" sz="2800" smtClean="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     </a:t>
            </a:r>
            <a:r>
              <a:rPr lang="zh-CN" altLang="zh-CN" sz="2800" smtClean="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中</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有限制条件</a:t>
            </a:r>
            <a:r>
              <a:rPr lang="en-US" altLang="zh-CN" sz="2800">
                <a:solidFill>
                  <a:srgbClr val="000000"/>
                </a:solidFill>
                <a:latin typeface="Times New Roman" panose="02020603050405020304" pitchFamily="18" charset="0"/>
                <a:cs typeface="Times New Roman" panose="02020603050405020304" pitchFamily="18" charset="0"/>
              </a:rPr>
              <a:t>0≤</a:t>
            </a:r>
            <a:r>
              <a:rPr lang="en-US" altLang="zh-CN" sz="2800" i="1">
                <a:solidFill>
                  <a:srgbClr val="000000"/>
                </a:solidFill>
                <a:latin typeface="Times New Roman" panose="02020603050405020304" pitchFamily="18" charset="0"/>
                <a:cs typeface="Times New Roman" panose="02020603050405020304" pitchFamily="18" charset="0"/>
              </a:rPr>
              <a:t>m</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n</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m</a:t>
            </a:r>
            <a:r>
              <a:rPr lang="zh-CN" altLang="zh-CN" sz="2800">
                <a:solidFill>
                  <a:srgbClr val="000000"/>
                </a:solidFill>
                <a:latin typeface="NEU-BZ-S92"/>
                <a:cs typeface="宋体" panose="02010600030101010101" pitchFamily="2" charset="-122"/>
              </a:rPr>
              <a:t>∈</a:t>
            </a:r>
            <a:r>
              <a:rPr lang="en-US" altLang="zh-CN" sz="2800" b="1">
                <a:solidFill>
                  <a:srgbClr val="000000"/>
                </a:solidFill>
                <a:latin typeface="Times New Roman" panose="02020603050405020304" pitchFamily="18" charset="0"/>
                <a:cs typeface="Times New Roman" panose="02020603050405020304" pitchFamily="18" charset="0"/>
              </a:rPr>
              <a:t>N</a:t>
            </a:r>
            <a:r>
              <a:rPr lang="en-US" altLang="zh-CN" sz="2800" i="1" baseline="30000">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n</a:t>
            </a:r>
            <a:r>
              <a:rPr lang="zh-CN" altLang="zh-CN" sz="2800">
                <a:solidFill>
                  <a:srgbClr val="000000"/>
                </a:solidFill>
                <a:latin typeface="NEU-BZ-S92"/>
                <a:cs typeface="宋体" panose="02010600030101010101" pitchFamily="2" charset="-122"/>
              </a:rPr>
              <a:t>∈</a:t>
            </a:r>
            <a:r>
              <a:rPr lang="en-US" altLang="zh-CN" sz="2800" b="1">
                <a:solidFill>
                  <a:srgbClr val="000000"/>
                </a:solidFill>
                <a:latin typeface="Times New Roman" panose="02020603050405020304" pitchFamily="18" charset="0"/>
                <a:cs typeface="Times New Roman" panose="02020603050405020304" pitchFamily="18" charset="0"/>
              </a:rPr>
              <a:t>N</a:t>
            </a:r>
            <a:r>
              <a:rPr lang="en-US" altLang="zh-CN" sz="2800" i="1" baseline="30000">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错解中忽视了这些限制条件</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从而导致错误</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5" name="对象 4"/>
          <p:cNvGraphicFramePr>
            <a:graphicFrameLocks noChangeAspect="1"/>
          </p:cNvGraphicFramePr>
          <p:nvPr>
            <p:extLst>
              <p:ext uri="{D42A27DB-BD31-4B8C-83A1-F6EECF244321}">
                <p14:modId xmlns:p14="http://schemas.microsoft.com/office/powerpoint/2010/main" val="422998043"/>
              </p:ext>
            </p:extLst>
          </p:nvPr>
        </p:nvGraphicFramePr>
        <p:xfrm>
          <a:off x="1486884" y="2206296"/>
          <a:ext cx="792162" cy="512763"/>
        </p:xfrm>
        <a:graphic>
          <a:graphicData uri="http://schemas.openxmlformats.org/presentationml/2006/ole">
            <mc:AlternateContent xmlns:mc="http://schemas.openxmlformats.org/markup-compatibility/2006">
              <mc:Choice xmlns:v="urn:schemas-microsoft-com:vml" Requires="v">
                <p:oleObj spid="_x0000_s29712" name="文档" r:id="rId4" imgW="300127" imgH="193346" progId="Word.Document.12">
                  <p:embed/>
                </p:oleObj>
              </mc:Choice>
              <mc:Fallback>
                <p:oleObj name="文档" r:id="rId4" imgW="300127" imgH="193346" progId="Word.Document.12">
                  <p:embed/>
                  <p:pic>
                    <p:nvPicPr>
                      <p:cNvPr id="0" name=""/>
                      <p:cNvPicPr>
                        <a:picLocks noChangeAspect="1" noChangeArrowheads="1"/>
                      </p:cNvPicPr>
                      <p:nvPr/>
                    </p:nvPicPr>
                    <p:blipFill>
                      <a:blip r:embed="rId5"/>
                      <a:srcRect/>
                      <a:stretch>
                        <a:fillRect/>
                      </a:stretch>
                    </p:blipFill>
                    <p:spPr bwMode="auto">
                      <a:xfrm>
                        <a:off x="1486884" y="2206296"/>
                        <a:ext cx="792162" cy="512763"/>
                      </a:xfrm>
                      <a:prstGeom prst="rect">
                        <a:avLst/>
                      </a:prstGeom>
                      <a:noFill/>
                      <a:extLst/>
                    </p:spPr>
                  </p:pic>
                </p:oleObj>
              </mc:Fallback>
            </mc:AlternateContent>
          </a:graphicData>
        </a:graphic>
      </p:graphicFrame>
    </p:spTree>
    <p:extLst>
      <p:ext uri="{BB962C8B-B14F-4D97-AF65-F5344CB8AC3E}">
        <p14:creationId xmlns:p14="http://schemas.microsoft.com/office/powerpoint/2010/main" val="89647823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randombar(horizontal)">
                                      <p:cBhvr>
                                        <p:cTn id="7" dur="500"/>
                                        <p:tgtEl>
                                          <p:spTgt spid="5"/>
                                        </p:tgtEl>
                                      </p:cBhvr>
                                    </p:animEffect>
                                  </p:childTnLst>
                                </p:cTn>
                              </p:par>
                              <p:par>
                                <p:cTn id="8" presetID="14" presetClass="entr" presetSubtype="1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randombar(horizontal)">
                                      <p:cBhvr>
                                        <p:cTn id="1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2305547782"/>
              </p:ext>
            </p:extLst>
          </p:nvPr>
        </p:nvGraphicFramePr>
        <p:xfrm>
          <a:off x="458424" y="627406"/>
          <a:ext cx="11275153" cy="4685935"/>
        </p:xfrm>
        <a:graphic>
          <a:graphicData uri="http://schemas.openxmlformats.org/presentationml/2006/ole">
            <mc:AlternateContent xmlns:mc="http://schemas.openxmlformats.org/markup-compatibility/2006">
              <mc:Choice xmlns:v="urn:schemas-microsoft-com:vml" Requires="v">
                <p:oleObj spid="_x0000_s30736" name="文档" r:id="rId4" imgW="4510061" imgH="1903926" progId="Word.Document.12">
                  <p:embed/>
                </p:oleObj>
              </mc:Choice>
              <mc:Fallback>
                <p:oleObj name="文档" r:id="rId4" imgW="4510061" imgH="1903926" progId="Word.Document.12">
                  <p:embed/>
                  <p:pic>
                    <p:nvPicPr>
                      <p:cNvPr id="0" name=""/>
                      <p:cNvPicPr/>
                      <p:nvPr/>
                    </p:nvPicPr>
                    <p:blipFill>
                      <a:blip r:embed="rId5"/>
                      <a:stretch>
                        <a:fillRect/>
                      </a:stretch>
                    </p:blipFill>
                    <p:spPr>
                      <a:xfrm>
                        <a:off x="458424" y="627406"/>
                        <a:ext cx="11275153" cy="4685935"/>
                      </a:xfrm>
                      <a:prstGeom prst="rect">
                        <a:avLst/>
                      </a:prstGeom>
                    </p:spPr>
                  </p:pic>
                </p:oleObj>
              </mc:Fallback>
            </mc:AlternateContent>
          </a:graphicData>
        </a:graphic>
      </p:graphicFrame>
      <p:sp>
        <p:nvSpPr>
          <p:cNvPr id="3" name="矩形 2"/>
          <p:cNvSpPr>
            <a:spLocks noChangeAspect="1"/>
          </p:cNvSpPr>
          <p:nvPr/>
        </p:nvSpPr>
        <p:spPr>
          <a:xfrm>
            <a:off x="381000" y="5313341"/>
            <a:ext cx="1330814" cy="652486"/>
          </a:xfrm>
          <a:prstGeom prst="rect">
            <a:avLst/>
          </a:prstGeom>
        </p:spPr>
        <p:txBody>
          <a:bodyPr wrap="none">
            <a:spAutoFit/>
          </a:bodyPr>
          <a:lstStyle/>
          <a:p>
            <a:pPr>
              <a:lnSpc>
                <a:spcPct val="130000"/>
              </a:lnSpc>
              <a:spcAft>
                <a:spcPts val="0"/>
              </a:spcAft>
              <a:tabLst>
                <a:tab pos="1188085" algn="l"/>
                <a:tab pos="2163445" algn="l"/>
                <a:tab pos="3142615" algn="l"/>
                <a:tab pos="4190365" algn="l"/>
              </a:tabLst>
            </a:pPr>
            <a:r>
              <a:rPr lang="zh-CN" altLang="zh-CN" sz="280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答案</a:t>
            </a:r>
            <a:r>
              <a:rPr lang="en-US" altLang="zh-CN" sz="280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a:t>
            </a:r>
            <a:r>
              <a:rPr lang="en-US" altLang="zh-CN" sz="2800" smtClean="0">
                <a:solidFill>
                  <a:srgbClr val="000000"/>
                </a:solidFill>
                <a:latin typeface="Times New Roman" panose="02020603050405020304" pitchFamily="18" charset="0"/>
                <a:cs typeface="Times New Roman" panose="02020603050405020304" pitchFamily="18" charset="0"/>
              </a:rPr>
              <a:t>B </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217221327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对象 4"/>
          <p:cNvGraphicFramePr>
            <a:graphicFrameLocks noChangeAspect="1"/>
          </p:cNvGraphicFramePr>
          <p:nvPr>
            <p:extLst>
              <p:ext uri="{D42A27DB-BD31-4B8C-83A1-F6EECF244321}">
                <p14:modId xmlns:p14="http://schemas.microsoft.com/office/powerpoint/2010/main" val="3332077286"/>
              </p:ext>
            </p:extLst>
          </p:nvPr>
        </p:nvGraphicFramePr>
        <p:xfrm>
          <a:off x="458424" y="1912851"/>
          <a:ext cx="11275153" cy="570313"/>
        </p:xfrm>
        <a:graphic>
          <a:graphicData uri="http://schemas.openxmlformats.org/presentationml/2006/ole">
            <mc:AlternateContent xmlns:mc="http://schemas.openxmlformats.org/markup-compatibility/2006">
              <mc:Choice xmlns:v="urn:schemas-microsoft-com:vml" Requires="v">
                <p:oleObj spid="_x0000_s20499" name="文档" r:id="rId4" imgW="4510061" imgH="228125" progId="Word.Document.12">
                  <p:embed/>
                </p:oleObj>
              </mc:Choice>
              <mc:Fallback>
                <p:oleObj name="文档" r:id="rId4" imgW="4510061" imgH="228125" progId="Word.Document.12">
                  <p:embed/>
                  <p:pic>
                    <p:nvPicPr>
                      <p:cNvPr id="0" name=""/>
                      <p:cNvPicPr/>
                      <p:nvPr/>
                    </p:nvPicPr>
                    <p:blipFill>
                      <a:blip r:embed="rId5"/>
                      <a:stretch>
                        <a:fillRect/>
                      </a:stretch>
                    </p:blipFill>
                    <p:spPr>
                      <a:xfrm>
                        <a:off x="458424" y="1912851"/>
                        <a:ext cx="11275153" cy="570313"/>
                      </a:xfrm>
                      <a:prstGeom prst="rect">
                        <a:avLst/>
                      </a:prstGeom>
                    </p:spPr>
                  </p:pic>
                </p:oleObj>
              </mc:Fallback>
            </mc:AlternateContent>
          </a:graphicData>
        </a:graphic>
      </p:graphicFrame>
      <p:sp>
        <p:nvSpPr>
          <p:cNvPr id="6" name="矩形 5"/>
          <p:cNvSpPr>
            <a:spLocks noChangeAspect="1"/>
          </p:cNvSpPr>
          <p:nvPr/>
        </p:nvSpPr>
        <p:spPr>
          <a:xfrm>
            <a:off x="381000" y="2483164"/>
            <a:ext cx="11430000" cy="2272673"/>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求解与组合数有关的方程或不等式时</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一方面要合理运用组合数公式将含有组合数的式子转化为一般的代数表达式</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通过解方程或不等式求解</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另一方面要特别注意根据组合数中字母的限制条件对得到的结果进行检验</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避免错误</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381710205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994990235"/>
              </p:ext>
            </p:extLst>
          </p:nvPr>
        </p:nvGraphicFramePr>
        <p:xfrm>
          <a:off x="458424" y="544235"/>
          <a:ext cx="11275153" cy="989193"/>
        </p:xfrm>
        <a:graphic>
          <a:graphicData uri="http://schemas.openxmlformats.org/presentationml/2006/ole">
            <mc:AlternateContent xmlns:mc="http://schemas.openxmlformats.org/markup-compatibility/2006">
              <mc:Choice xmlns:v="urn:schemas-microsoft-com:vml" Requires="v">
                <p:oleObj spid="_x0000_s21540" name="文档" r:id="rId4" imgW="4510061" imgH="395677" progId="Word.Document.12">
                  <p:embed/>
                </p:oleObj>
              </mc:Choice>
              <mc:Fallback>
                <p:oleObj name="文档" r:id="rId4" imgW="4510061" imgH="395677" progId="Word.Document.12">
                  <p:embed/>
                  <p:pic>
                    <p:nvPicPr>
                      <p:cNvPr id="0" name=""/>
                      <p:cNvPicPr/>
                      <p:nvPr/>
                    </p:nvPicPr>
                    <p:blipFill>
                      <a:blip r:embed="rId5"/>
                      <a:stretch>
                        <a:fillRect/>
                      </a:stretch>
                    </p:blipFill>
                    <p:spPr>
                      <a:xfrm>
                        <a:off x="458424" y="544235"/>
                        <a:ext cx="11275153" cy="989193"/>
                      </a:xfrm>
                      <a:prstGeom prst="rect">
                        <a:avLst/>
                      </a:prstGeom>
                    </p:spPr>
                  </p:pic>
                </p:oleObj>
              </mc:Fallback>
            </mc:AlternateContent>
          </a:graphicData>
        </a:graphic>
      </p:graphicFrame>
      <p:graphicFrame>
        <p:nvGraphicFramePr>
          <p:cNvPr id="3" name="对象 2"/>
          <p:cNvGraphicFramePr>
            <a:graphicFrameLocks noChangeAspect="1"/>
          </p:cNvGraphicFramePr>
          <p:nvPr>
            <p:extLst>
              <p:ext uri="{D42A27DB-BD31-4B8C-83A1-F6EECF244321}">
                <p14:modId xmlns:p14="http://schemas.microsoft.com/office/powerpoint/2010/main" val="1838928488"/>
              </p:ext>
            </p:extLst>
          </p:nvPr>
        </p:nvGraphicFramePr>
        <p:xfrm>
          <a:off x="458424" y="1533428"/>
          <a:ext cx="11275153" cy="2546203"/>
        </p:xfrm>
        <a:graphic>
          <a:graphicData uri="http://schemas.openxmlformats.org/presentationml/2006/ole">
            <mc:AlternateContent xmlns:mc="http://schemas.openxmlformats.org/markup-compatibility/2006">
              <mc:Choice xmlns:v="urn:schemas-microsoft-com:vml" Requires="v">
                <p:oleObj spid="_x0000_s21541" name="文档" r:id="rId7" imgW="4510061" imgH="1018481" progId="Word.Document.12">
                  <p:embed/>
                </p:oleObj>
              </mc:Choice>
              <mc:Fallback>
                <p:oleObj name="文档" r:id="rId7" imgW="4510061" imgH="1018481" progId="Word.Document.12">
                  <p:embed/>
                  <p:pic>
                    <p:nvPicPr>
                      <p:cNvPr id="0" name=""/>
                      <p:cNvPicPr/>
                      <p:nvPr/>
                    </p:nvPicPr>
                    <p:blipFill>
                      <a:blip r:embed="rId8"/>
                      <a:stretch>
                        <a:fillRect/>
                      </a:stretch>
                    </p:blipFill>
                    <p:spPr>
                      <a:xfrm>
                        <a:off x="458424" y="1533428"/>
                        <a:ext cx="11275153" cy="2546203"/>
                      </a:xfrm>
                      <a:prstGeom prst="rect">
                        <a:avLst/>
                      </a:prstGeom>
                    </p:spPr>
                  </p:pic>
                </p:oleObj>
              </mc:Fallback>
            </mc:AlternateContent>
          </a:graphicData>
        </a:graphic>
      </p:graphicFrame>
      <p:sp>
        <p:nvSpPr>
          <p:cNvPr id="4" name="矩形 3"/>
          <p:cNvSpPr>
            <a:spLocks noChangeAspect="1"/>
          </p:cNvSpPr>
          <p:nvPr/>
        </p:nvSpPr>
        <p:spPr>
          <a:xfrm>
            <a:off x="381000" y="4079631"/>
            <a:ext cx="11430000" cy="1212640"/>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smtClean="0">
                <a:solidFill>
                  <a:srgbClr val="000000"/>
                </a:solidFill>
                <a:latin typeface="NEU-BZ-S92"/>
                <a:cs typeface="宋体" panose="02010600030101010101" pitchFamily="2" charset="-122"/>
              </a:rPr>
              <a:t>∴</a:t>
            </a:r>
            <a:r>
              <a:rPr lang="en-US" altLang="zh-CN" sz="2800" i="1">
                <a:solidFill>
                  <a:srgbClr val="000000"/>
                </a:solidFill>
                <a:latin typeface="Times New Roman" panose="02020603050405020304" pitchFamily="18" charset="0"/>
                <a:cs typeface="Times New Roman" panose="02020603050405020304" pitchFamily="18" charset="0"/>
              </a:rPr>
              <a:t>n</a:t>
            </a:r>
            <a:r>
              <a:rPr lang="en-US" altLang="zh-CN" sz="2800" baseline="30000">
                <a:solidFill>
                  <a:srgbClr val="000000"/>
                </a:solidFill>
                <a:latin typeface="Times New Roman" panose="02020603050405020304" pitchFamily="18" charset="0"/>
                <a:cs typeface="Times New Roman" panose="02020603050405020304" pitchFamily="18" charset="0"/>
              </a:rPr>
              <a:t>2</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11</a:t>
            </a:r>
            <a:r>
              <a:rPr lang="en-US" altLang="zh-CN" sz="2800" i="1">
                <a:solidFill>
                  <a:srgbClr val="000000"/>
                </a:solidFill>
                <a:latin typeface="Times New Roman" panose="02020603050405020304" pitchFamily="18" charset="0"/>
                <a:cs typeface="Times New Roman" panose="02020603050405020304" pitchFamily="18" charset="0"/>
              </a:rPr>
              <a:t>n-</a:t>
            </a:r>
            <a:r>
              <a:rPr lang="en-US" altLang="zh-CN" sz="2800">
                <a:solidFill>
                  <a:srgbClr val="000000"/>
                </a:solidFill>
                <a:latin typeface="Times New Roman" panose="02020603050405020304" pitchFamily="18" charset="0"/>
                <a:cs typeface="Times New Roman" panose="02020603050405020304" pitchFamily="18" charset="0"/>
              </a:rPr>
              <a:t>12</a:t>
            </a:r>
            <a:r>
              <a:rPr lang="en-US" altLang="zh-CN" sz="2800" i="1">
                <a:solidFill>
                  <a:srgbClr val="000000"/>
                </a:solidFill>
                <a:latin typeface="Times New Roman" panose="02020603050405020304" pitchFamily="18" charset="0"/>
                <a:cs typeface="Times New Roman" panose="02020603050405020304" pitchFamily="18" charset="0"/>
              </a:rPr>
              <a:t>&lt;</a:t>
            </a:r>
            <a:r>
              <a:rPr lang="en-US" altLang="zh-CN" sz="2800">
                <a:solidFill>
                  <a:srgbClr val="000000"/>
                </a:solidFill>
                <a:latin typeface="Times New Roman" panose="02020603050405020304" pitchFamily="18" charset="0"/>
                <a:cs typeface="Times New Roman" panose="02020603050405020304" pitchFamily="18" charset="0"/>
              </a:rPr>
              <a:t>0,</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解得</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a:t>
            </a:r>
            <a:r>
              <a:rPr lang="en-US" altLang="zh-CN" sz="2800" i="1">
                <a:solidFill>
                  <a:srgbClr val="000000"/>
                </a:solidFill>
                <a:latin typeface="Times New Roman" panose="02020603050405020304" pitchFamily="18" charset="0"/>
                <a:cs typeface="Times New Roman" panose="02020603050405020304" pitchFamily="18" charset="0"/>
              </a:rPr>
              <a:t>&lt;n&lt;</a:t>
            </a:r>
            <a:r>
              <a:rPr lang="en-US" altLang="zh-CN" sz="2800">
                <a:solidFill>
                  <a:srgbClr val="000000"/>
                </a:solidFill>
                <a:latin typeface="Times New Roman" panose="02020603050405020304" pitchFamily="18" charset="0"/>
                <a:cs typeface="Times New Roman" panose="02020603050405020304" pitchFamily="18" charset="0"/>
              </a:rPr>
              <a:t>12</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结合</a:t>
            </a:r>
            <a:r>
              <a:rPr lang="en-US" altLang="zh-CN" sz="2800" i="1">
                <a:solidFill>
                  <a:srgbClr val="000000"/>
                </a:solidFill>
                <a:latin typeface="Times New Roman" panose="02020603050405020304" pitchFamily="18" charset="0"/>
                <a:cs typeface="Times New Roman" panose="02020603050405020304" pitchFamily="18" charset="0"/>
              </a:rPr>
              <a:t>n</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的取值范围</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得</a:t>
            </a:r>
            <a:r>
              <a:rPr lang="en-US" altLang="zh-CN" sz="2800" i="1">
                <a:solidFill>
                  <a:srgbClr val="000000"/>
                </a:solidFill>
                <a:latin typeface="Times New Roman" panose="02020603050405020304" pitchFamily="18" charset="0"/>
                <a:cs typeface="Times New Roman" panose="02020603050405020304" pitchFamily="18" charset="0"/>
              </a:rPr>
              <a:t>n=</a:t>
            </a:r>
            <a:r>
              <a:rPr lang="en-US" altLang="zh-CN" sz="2800">
                <a:solidFill>
                  <a:srgbClr val="000000"/>
                </a:solidFill>
                <a:latin typeface="Times New Roman" panose="02020603050405020304" pitchFamily="18" charset="0"/>
                <a:cs typeface="Times New Roman" panose="02020603050405020304" pitchFamily="18" charset="0"/>
              </a:rPr>
              <a:t>5,6,7,8,9,10,11</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143407944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par>
                                <p:cTn id="8" presetID="14" presetClass="entr" presetSubtype="1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randombar(horizontal)">
                                      <p:cBhvr>
                                        <p:cTn id="1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2617835" y="2558415"/>
            <a:ext cx="1105802" cy="815646"/>
            <a:chOff x="-1604504" y="2147667"/>
            <a:chExt cx="3687215" cy="2719712"/>
          </a:xfrm>
        </p:grpSpPr>
        <p:cxnSp>
          <p:nvCxnSpPr>
            <p:cNvPr id="7" name="直接连接符 6"/>
            <p:cNvCxnSpPr/>
            <p:nvPr/>
          </p:nvCxnSpPr>
          <p:spPr>
            <a:xfrm flipH="1">
              <a:off x="-1604504" y="2687623"/>
              <a:ext cx="2592288" cy="2179756"/>
            </a:xfrm>
            <a:prstGeom prst="line">
              <a:avLst/>
            </a:prstGeom>
            <a:noFill/>
            <a:ln w="76200" cap="flat" cmpd="sng" algn="ctr">
              <a:solidFill>
                <a:schemeClr val="tx2">
                  <a:lumMod val="50000"/>
                </a:schemeClr>
              </a:solidFill>
              <a:prstDash val="solid"/>
            </a:ln>
            <a:effectLst/>
          </p:spPr>
        </p:cxnSp>
        <p:cxnSp>
          <p:nvCxnSpPr>
            <p:cNvPr id="8" name="直接连接符 7"/>
            <p:cNvCxnSpPr/>
            <p:nvPr/>
          </p:nvCxnSpPr>
          <p:spPr>
            <a:xfrm flipH="1">
              <a:off x="-509577" y="2147667"/>
              <a:ext cx="2592288" cy="2179756"/>
            </a:xfrm>
            <a:prstGeom prst="line">
              <a:avLst/>
            </a:prstGeom>
            <a:noFill/>
            <a:ln w="12700" cap="flat" cmpd="sng" algn="ctr">
              <a:solidFill>
                <a:schemeClr val="tx2">
                  <a:lumMod val="50000"/>
                </a:schemeClr>
              </a:solidFill>
              <a:prstDash val="solid"/>
            </a:ln>
            <a:effectLst/>
          </p:spPr>
        </p:cxnSp>
      </p:grpSp>
      <p:grpSp>
        <p:nvGrpSpPr>
          <p:cNvPr id="9" name="组合 8"/>
          <p:cNvGrpSpPr/>
          <p:nvPr/>
        </p:nvGrpSpPr>
        <p:grpSpPr>
          <a:xfrm flipH="1" flipV="1">
            <a:off x="8334801" y="2587481"/>
            <a:ext cx="1105803" cy="815646"/>
            <a:chOff x="-1604504" y="2147667"/>
            <a:chExt cx="3687215" cy="2719712"/>
          </a:xfrm>
        </p:grpSpPr>
        <p:cxnSp>
          <p:nvCxnSpPr>
            <p:cNvPr id="10" name="直接连接符 9"/>
            <p:cNvCxnSpPr/>
            <p:nvPr/>
          </p:nvCxnSpPr>
          <p:spPr>
            <a:xfrm flipH="1">
              <a:off x="-1604504" y="2687623"/>
              <a:ext cx="2592288" cy="2179756"/>
            </a:xfrm>
            <a:prstGeom prst="line">
              <a:avLst/>
            </a:prstGeom>
            <a:noFill/>
            <a:ln w="76200" cap="flat" cmpd="sng" algn="ctr">
              <a:solidFill>
                <a:sysClr val="windowText" lastClr="000000">
                  <a:lumMod val="85000"/>
                  <a:lumOff val="15000"/>
                </a:sysClr>
              </a:solidFill>
              <a:prstDash val="solid"/>
            </a:ln>
            <a:effectLst/>
          </p:spPr>
        </p:cxnSp>
        <p:cxnSp>
          <p:nvCxnSpPr>
            <p:cNvPr id="11" name="直接连接符 10"/>
            <p:cNvCxnSpPr/>
            <p:nvPr/>
          </p:nvCxnSpPr>
          <p:spPr>
            <a:xfrm flipH="1">
              <a:off x="-509577" y="2147667"/>
              <a:ext cx="2592288" cy="2179756"/>
            </a:xfrm>
            <a:prstGeom prst="line">
              <a:avLst/>
            </a:prstGeom>
            <a:noFill/>
            <a:ln w="12700" cap="flat" cmpd="sng" algn="ctr">
              <a:solidFill>
                <a:sysClr val="windowText" lastClr="000000">
                  <a:lumMod val="85000"/>
                  <a:lumOff val="15000"/>
                </a:sysClr>
              </a:solidFill>
              <a:prstDash val="solid"/>
            </a:ln>
            <a:effectLst/>
          </p:spPr>
        </p:cxnSp>
      </p:grpSp>
      <p:sp>
        <p:nvSpPr>
          <p:cNvPr id="12" name="文本框 11"/>
          <p:cNvSpPr txBox="1"/>
          <p:nvPr/>
        </p:nvSpPr>
        <p:spPr>
          <a:xfrm>
            <a:off x="3612492" y="2507615"/>
            <a:ext cx="4587875" cy="922020"/>
          </a:xfrm>
          <a:prstGeom prst="rect">
            <a:avLst/>
          </a:prstGeom>
          <a:noFill/>
        </p:spPr>
        <p:txBody>
          <a:bodyPr wrap="square" rtlCol="0">
            <a:spAutoFit/>
          </a:bodyPr>
          <a:lstStyle/>
          <a:p>
            <a:pPr algn="ctr"/>
            <a:r>
              <a:rPr lang="zh-CN" altLang="en-US" sz="5400" b="1" dirty="0" smtClean="0">
                <a:solidFill>
                  <a:srgbClr val="4D4D4D"/>
                </a:solidFill>
                <a:latin typeface="方正姚体" panose="02010601030101010101" charset="-122"/>
                <a:ea typeface="方正姚体" panose="02010601030101010101" charset="-122"/>
                <a:cs typeface="隶书" panose="02010509060101010101" pitchFamily="49" charset="-122"/>
                <a:sym typeface="+mn-ea"/>
              </a:rPr>
              <a:t>随堂练习</a:t>
            </a:r>
            <a:endParaRPr lang="zh-CN" altLang="en-US" sz="5400" b="1" dirty="0">
              <a:solidFill>
                <a:srgbClr val="4D4D4D"/>
              </a:solidFill>
              <a:latin typeface="方正姚体" panose="02010601030101010101" charset="-122"/>
              <a:ea typeface="方正姚体" panose="02010601030101010101" charset="-122"/>
              <a:cs typeface="隶书" panose="02010509060101010101" pitchFamily="49" charset="-122"/>
              <a:sym typeface="+mn-ea"/>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spect="1"/>
          </p:cNvSpPr>
          <p:nvPr/>
        </p:nvSpPr>
        <p:spPr>
          <a:xfrm>
            <a:off x="381000" y="777230"/>
            <a:ext cx="11430000" cy="4513287"/>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b="1">
                <a:solidFill>
                  <a:srgbClr val="000000"/>
                </a:solidFill>
                <a:latin typeface="Times New Roman" panose="02020603050405020304" pitchFamily="18" charset="0"/>
                <a:cs typeface="Times New Roman" panose="02020603050405020304" pitchFamily="18" charset="0"/>
              </a:rPr>
              <a:t>1</a:t>
            </a:r>
            <a:r>
              <a:rPr lang="en-US" altLang="zh-CN" sz="2800" i="1">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以下四个问题属于组合问题的是</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i="1">
                <a:solidFill>
                  <a:srgbClr val="000000"/>
                </a:solidFill>
                <a:latin typeface="Times New Roman" panose="02020603050405020304" pitchFamily="18" charset="0"/>
                <a:cs typeface="Times New Roman" panose="02020603050405020304" pitchFamily="18" charset="0"/>
              </a:rPr>
              <a:t>　　</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A.</a:t>
            </a:r>
            <a:r>
              <a:rPr lang="zh-CN" altLang="zh-CN" sz="2800">
                <a:solidFill>
                  <a:srgbClr val="000000"/>
                </a:solidFill>
                <a:latin typeface="Times New Roman" panose="02020603050405020304" pitchFamily="18" charset="0"/>
                <a:cs typeface="Times New Roman" panose="02020603050405020304" pitchFamily="18" charset="0"/>
              </a:rPr>
              <a:t>从</a:t>
            </a:r>
            <a:r>
              <a:rPr lang="en-US" altLang="zh-CN" sz="28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Times New Roman" panose="02020603050405020304" pitchFamily="18" charset="0"/>
                <a:cs typeface="Times New Roman" panose="02020603050405020304" pitchFamily="18" charset="0"/>
              </a:rPr>
              <a:t>个不同的小球中</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取出</a:t>
            </a: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cs typeface="Times New Roman" panose="02020603050405020304" pitchFamily="18" charset="0"/>
              </a:rPr>
              <a:t>个排成一列</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共有多少种排列方法</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B.</a:t>
            </a:r>
            <a:r>
              <a:rPr lang="zh-CN" altLang="zh-CN" sz="2800">
                <a:solidFill>
                  <a:srgbClr val="000000"/>
                </a:solidFill>
                <a:latin typeface="Times New Roman" panose="02020603050405020304" pitchFamily="18" charset="0"/>
                <a:cs typeface="Times New Roman" panose="02020603050405020304" pitchFamily="18" charset="0"/>
              </a:rPr>
              <a:t>老师在给全班</a:t>
            </a:r>
            <a:r>
              <a:rPr lang="en-US" altLang="zh-CN" sz="2800">
                <a:solidFill>
                  <a:srgbClr val="000000"/>
                </a:solidFill>
                <a:latin typeface="Times New Roman" panose="02020603050405020304" pitchFamily="18" charset="0"/>
                <a:cs typeface="Times New Roman" panose="02020603050405020304" pitchFamily="18" charset="0"/>
              </a:rPr>
              <a:t>44</a:t>
            </a:r>
            <a:r>
              <a:rPr lang="zh-CN" altLang="zh-CN" sz="2800">
                <a:solidFill>
                  <a:srgbClr val="000000"/>
                </a:solidFill>
                <a:latin typeface="Times New Roman" panose="02020603050405020304" pitchFamily="18" charset="0"/>
                <a:cs typeface="Times New Roman" panose="02020603050405020304" pitchFamily="18" charset="0"/>
              </a:rPr>
              <a:t>名同学排座次时</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将甲、乙两名同学安排为同桌</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共有多少种安排方法</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C.</a:t>
            </a:r>
            <a:r>
              <a:rPr lang="zh-CN" altLang="zh-CN" sz="2800">
                <a:solidFill>
                  <a:srgbClr val="000000"/>
                </a:solidFill>
                <a:latin typeface="Times New Roman" panose="02020603050405020304" pitchFamily="18" charset="0"/>
                <a:cs typeface="Times New Roman" panose="02020603050405020304" pitchFamily="18" charset="0"/>
              </a:rPr>
              <a:t>在电视节目中</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主持人从</a:t>
            </a:r>
            <a:r>
              <a:rPr lang="en-US" altLang="zh-CN" sz="2800">
                <a:solidFill>
                  <a:srgbClr val="000000"/>
                </a:solidFill>
                <a:latin typeface="Times New Roman" panose="02020603050405020304" pitchFamily="18" charset="0"/>
                <a:cs typeface="Times New Roman" panose="02020603050405020304" pitchFamily="18" charset="0"/>
              </a:rPr>
              <a:t>100</a:t>
            </a:r>
            <a:r>
              <a:rPr lang="zh-CN" altLang="zh-CN" sz="2800">
                <a:solidFill>
                  <a:srgbClr val="000000"/>
                </a:solidFill>
                <a:latin typeface="Times New Roman" panose="02020603050405020304" pitchFamily="18" charset="0"/>
                <a:cs typeface="Times New Roman" panose="02020603050405020304" pitchFamily="18" charset="0"/>
              </a:rPr>
              <a:t>位幸运观众中选出</a:t>
            </a: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cs typeface="Times New Roman" panose="02020603050405020304" pitchFamily="18" charset="0"/>
              </a:rPr>
              <a:t>位幸运之星</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共有多少种选法</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D.</a:t>
            </a:r>
            <a:r>
              <a:rPr lang="zh-CN" altLang="zh-CN" sz="2800">
                <a:solidFill>
                  <a:srgbClr val="000000"/>
                </a:solidFill>
                <a:latin typeface="Times New Roman" panose="02020603050405020304" pitchFamily="18" charset="0"/>
                <a:cs typeface="Times New Roman" panose="02020603050405020304" pitchFamily="18" charset="0"/>
              </a:rPr>
              <a:t>从</a:t>
            </a:r>
            <a:r>
              <a:rPr lang="en-US" altLang="zh-CN" sz="2800">
                <a:solidFill>
                  <a:srgbClr val="000000"/>
                </a:solidFill>
                <a:latin typeface="Times New Roman" panose="02020603050405020304" pitchFamily="18" charset="0"/>
                <a:cs typeface="Times New Roman" panose="02020603050405020304" pitchFamily="18" charset="0"/>
              </a:rPr>
              <a:t>13</a:t>
            </a:r>
            <a:r>
              <a:rPr lang="zh-CN" altLang="zh-CN" sz="2800">
                <a:solidFill>
                  <a:srgbClr val="000000"/>
                </a:solidFill>
                <a:latin typeface="Times New Roman" panose="02020603050405020304" pitchFamily="18" charset="0"/>
                <a:cs typeface="Times New Roman" panose="02020603050405020304" pitchFamily="18" charset="0"/>
              </a:rPr>
              <a:t>位司机中任选出</a:t>
            </a: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cs typeface="Times New Roman" panose="02020603050405020304" pitchFamily="18" charset="0"/>
              </a:rPr>
              <a:t>位开同一辆车往返甲、乙两地</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共有多少种选法</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答案</a:t>
            </a:r>
            <a:r>
              <a:rPr lang="en-US" altLang="zh-CN" sz="280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C</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animEffect transition="in" filter="randombar(horizontal)">
                                      <p:cBhvr>
                                        <p:cTn id="7"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1394103"/>
            <a:ext cx="11430000" cy="3453253"/>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b="1">
                <a:solidFill>
                  <a:srgbClr val="000000"/>
                </a:solidFill>
                <a:latin typeface="Times New Roman" panose="02020603050405020304" pitchFamily="18" charset="0"/>
                <a:cs typeface="Times New Roman" panose="02020603050405020304" pitchFamily="18" charset="0"/>
              </a:rPr>
              <a:t>2</a:t>
            </a:r>
            <a:r>
              <a:rPr lang="en-US" altLang="zh-CN" sz="2800" i="1">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从</a:t>
            </a:r>
            <a:r>
              <a:rPr lang="en-US" altLang="zh-CN" sz="2800">
                <a:solidFill>
                  <a:srgbClr val="000000"/>
                </a:solidFill>
                <a:latin typeface="Times New Roman" panose="02020603050405020304" pitchFamily="18" charset="0"/>
                <a:cs typeface="Times New Roman" panose="02020603050405020304" pitchFamily="18" charset="0"/>
              </a:rPr>
              <a:t>5</a:t>
            </a:r>
            <a:r>
              <a:rPr lang="zh-CN" altLang="zh-CN" sz="2800">
                <a:solidFill>
                  <a:srgbClr val="000000"/>
                </a:solidFill>
                <a:latin typeface="Times New Roman" panose="02020603050405020304" pitchFamily="18" charset="0"/>
                <a:cs typeface="Times New Roman" panose="02020603050405020304" pitchFamily="18" charset="0"/>
              </a:rPr>
              <a:t>人中选</a:t>
            </a:r>
            <a:r>
              <a:rPr lang="en-US" altLang="zh-CN" sz="28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Times New Roman" panose="02020603050405020304" pitchFamily="18" charset="0"/>
                <a:cs typeface="Times New Roman" panose="02020603050405020304" pitchFamily="18" charset="0"/>
              </a:rPr>
              <a:t>人参加座谈会</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其中甲必须参加</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则不同的选法有</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i="1">
                <a:solidFill>
                  <a:srgbClr val="000000"/>
                </a:solidFill>
                <a:latin typeface="Times New Roman" panose="02020603050405020304" pitchFamily="18" charset="0"/>
                <a:cs typeface="Times New Roman" panose="02020603050405020304" pitchFamily="18" charset="0"/>
              </a:rPr>
              <a:t>　　</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A.60</a:t>
            </a:r>
            <a:r>
              <a:rPr lang="zh-CN" altLang="zh-CN" sz="2800">
                <a:solidFill>
                  <a:srgbClr val="000000"/>
                </a:solidFill>
                <a:latin typeface="Times New Roman" panose="02020603050405020304" pitchFamily="18" charset="0"/>
                <a:cs typeface="Times New Roman" panose="02020603050405020304" pitchFamily="18" charset="0"/>
              </a:rPr>
              <a:t>种</a:t>
            </a:r>
            <a:r>
              <a:rPr lang="en-US" altLang="zh-CN" sz="2800">
                <a:solidFill>
                  <a:srgbClr val="000000"/>
                </a:solidFill>
                <a:latin typeface="Times New Roman" panose="02020603050405020304" pitchFamily="18" charset="0"/>
                <a:cs typeface="Times New Roman" panose="02020603050405020304" pitchFamily="18" charset="0"/>
              </a:rPr>
              <a:t>	B.36</a:t>
            </a:r>
            <a:r>
              <a:rPr lang="zh-CN" altLang="zh-CN" sz="2800">
                <a:solidFill>
                  <a:srgbClr val="000000"/>
                </a:solidFill>
                <a:latin typeface="Times New Roman" panose="02020603050405020304" pitchFamily="18" charset="0"/>
                <a:cs typeface="Times New Roman" panose="02020603050405020304" pitchFamily="18" charset="0"/>
              </a:rPr>
              <a:t>种</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C.10</a:t>
            </a:r>
            <a:r>
              <a:rPr lang="zh-CN" altLang="zh-CN" sz="2800">
                <a:solidFill>
                  <a:srgbClr val="000000"/>
                </a:solidFill>
                <a:latin typeface="Times New Roman" panose="02020603050405020304" pitchFamily="18" charset="0"/>
                <a:cs typeface="Times New Roman" panose="02020603050405020304" pitchFamily="18" charset="0"/>
              </a:rPr>
              <a:t>种</a:t>
            </a:r>
            <a:r>
              <a:rPr lang="en-US" altLang="zh-CN" sz="2800">
                <a:solidFill>
                  <a:srgbClr val="000000"/>
                </a:solidFill>
                <a:latin typeface="Times New Roman" panose="02020603050405020304" pitchFamily="18" charset="0"/>
                <a:cs typeface="Times New Roman" panose="02020603050405020304" pitchFamily="18" charset="0"/>
              </a:rPr>
              <a:t>	D.6</a:t>
            </a:r>
            <a:r>
              <a:rPr lang="zh-CN" altLang="zh-CN" sz="2800" smtClean="0">
                <a:solidFill>
                  <a:srgbClr val="000000"/>
                </a:solidFill>
                <a:latin typeface="Times New Roman" panose="02020603050405020304" pitchFamily="18" charset="0"/>
                <a:cs typeface="Times New Roman" panose="02020603050405020304" pitchFamily="18" charset="0"/>
              </a:rPr>
              <a:t>种</a:t>
            </a:r>
            <a:endParaRPr lang="en-US" altLang="zh-CN" sz="2800" smtClean="0">
              <a:solidFill>
                <a:srgbClr val="000000"/>
              </a:solidFill>
              <a:latin typeface="Times New Roman" panose="02020603050405020304" pitchFamily="18" charset="0"/>
              <a:cs typeface="Times New Roman" panose="02020603050405020304" pitchFamily="18" charset="0"/>
            </a:endParaRPr>
          </a:p>
          <a:p>
            <a:pPr>
              <a:lnSpc>
                <a:spcPct val="130000"/>
              </a:lnSpc>
              <a:spcAft>
                <a:spcPts val="0"/>
              </a:spcAft>
              <a:tabLst>
                <a:tab pos="1188085" algn="l"/>
                <a:tab pos="2163445" algn="l"/>
                <a:tab pos="3142615" algn="l"/>
                <a:tab pos="4190365" algn="l"/>
              </a:tabLst>
            </a:pPr>
            <a:endParaRPr lang="en-US" altLang="zh-CN" sz="2800">
              <a:solidFill>
                <a:srgbClr val="000000"/>
              </a:solidFill>
              <a:latin typeface="Times New Roman" panose="02020603050405020304" pitchFamily="18" charset="0"/>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答案</a:t>
            </a:r>
            <a:r>
              <a:rPr lang="en-US" altLang="zh-CN" sz="280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D</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4032668279"/>
              </p:ext>
            </p:extLst>
          </p:nvPr>
        </p:nvGraphicFramePr>
        <p:xfrm>
          <a:off x="458424" y="3110455"/>
          <a:ext cx="11275153" cy="1140625"/>
        </p:xfrm>
        <a:graphic>
          <a:graphicData uri="http://schemas.openxmlformats.org/presentationml/2006/ole">
            <mc:AlternateContent xmlns:mc="http://schemas.openxmlformats.org/markup-compatibility/2006">
              <mc:Choice xmlns:v="urn:schemas-microsoft-com:vml" Requires="v">
                <p:oleObj spid="_x0000_s31760" name="文档" r:id="rId4" imgW="4510061" imgH="456250" progId="Word.Document.12">
                  <p:embed/>
                </p:oleObj>
              </mc:Choice>
              <mc:Fallback>
                <p:oleObj name="文档" r:id="rId4" imgW="4510061" imgH="456250" progId="Word.Document.12">
                  <p:embed/>
                  <p:pic>
                    <p:nvPicPr>
                      <p:cNvPr id="0" name=""/>
                      <p:cNvPicPr/>
                      <p:nvPr/>
                    </p:nvPicPr>
                    <p:blipFill>
                      <a:blip r:embed="rId5"/>
                      <a:stretch>
                        <a:fillRect/>
                      </a:stretch>
                    </p:blipFill>
                    <p:spPr>
                      <a:xfrm>
                        <a:off x="458424" y="3110455"/>
                        <a:ext cx="11275153" cy="1140625"/>
                      </a:xfrm>
                      <a:prstGeom prst="rect">
                        <a:avLst/>
                      </a:prstGeom>
                    </p:spPr>
                  </p:pic>
                </p:oleObj>
              </mc:Fallback>
            </mc:AlternateContent>
          </a:graphicData>
        </a:graphic>
      </p:graphicFrame>
    </p:spTree>
    <p:extLst>
      <p:ext uri="{BB962C8B-B14F-4D97-AF65-F5344CB8AC3E}">
        <p14:creationId xmlns:p14="http://schemas.microsoft.com/office/powerpoint/2010/main" val="347148258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2">
                                            <p:txEl>
                                              <p:pRg st="5" end="5"/>
                                            </p:txEl>
                                          </p:spTgt>
                                        </p:tgtEl>
                                        <p:attrNameLst>
                                          <p:attrName>style.visibility</p:attrName>
                                        </p:attrNameLst>
                                      </p:cBhvr>
                                      <p:to>
                                        <p:strVal val="visible"/>
                                      </p:to>
                                    </p:set>
                                    <p:animEffect transition="in" filter="randombar(horizontal)">
                                      <p:cBhvr>
                                        <p:cTn id="12" dur="500"/>
                                        <p:tgtEl>
                                          <p:spTgt spid="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对象 4"/>
          <p:cNvGraphicFramePr>
            <a:graphicFrameLocks noChangeAspect="1"/>
          </p:cNvGraphicFramePr>
          <p:nvPr>
            <p:extLst>
              <p:ext uri="{D42A27DB-BD31-4B8C-83A1-F6EECF244321}">
                <p14:modId xmlns:p14="http://schemas.microsoft.com/office/powerpoint/2010/main" val="1979260718"/>
              </p:ext>
            </p:extLst>
          </p:nvPr>
        </p:nvGraphicFramePr>
        <p:xfrm>
          <a:off x="458424" y="1685644"/>
          <a:ext cx="11275153" cy="568718"/>
        </p:xfrm>
        <a:graphic>
          <a:graphicData uri="http://schemas.openxmlformats.org/presentationml/2006/ole">
            <mc:AlternateContent xmlns:mc="http://schemas.openxmlformats.org/markup-compatibility/2006">
              <mc:Choice xmlns:v="urn:schemas-microsoft-com:vml" Requires="v">
                <p:oleObj spid="_x0000_s23594" name="文档" r:id="rId4" imgW="4510061" imgH="227487" progId="Word.Document.12">
                  <p:embed/>
                </p:oleObj>
              </mc:Choice>
              <mc:Fallback>
                <p:oleObj name="文档" r:id="rId4" imgW="4510061" imgH="227487" progId="Word.Document.12">
                  <p:embed/>
                  <p:pic>
                    <p:nvPicPr>
                      <p:cNvPr id="0" name=""/>
                      <p:cNvPicPr/>
                      <p:nvPr/>
                    </p:nvPicPr>
                    <p:blipFill>
                      <a:blip r:embed="rId5"/>
                      <a:stretch>
                        <a:fillRect/>
                      </a:stretch>
                    </p:blipFill>
                    <p:spPr>
                      <a:xfrm>
                        <a:off x="458424" y="1685644"/>
                        <a:ext cx="11275153" cy="568718"/>
                      </a:xfrm>
                      <a:prstGeom prst="rect">
                        <a:avLst/>
                      </a:prstGeom>
                    </p:spPr>
                  </p:pic>
                </p:oleObj>
              </mc:Fallback>
            </mc:AlternateContent>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1584594499"/>
              </p:ext>
            </p:extLst>
          </p:nvPr>
        </p:nvGraphicFramePr>
        <p:xfrm>
          <a:off x="458424" y="2254362"/>
          <a:ext cx="11275153" cy="989193"/>
        </p:xfrm>
        <a:graphic>
          <a:graphicData uri="http://schemas.openxmlformats.org/presentationml/2006/ole">
            <mc:AlternateContent xmlns:mc="http://schemas.openxmlformats.org/markup-compatibility/2006">
              <mc:Choice xmlns:v="urn:schemas-microsoft-com:vml" Requires="v">
                <p:oleObj spid="_x0000_s23595" name="文档" r:id="rId7" imgW="4510061" imgH="395677" progId="Word.Document.12">
                  <p:embed/>
                </p:oleObj>
              </mc:Choice>
              <mc:Fallback>
                <p:oleObj name="文档" r:id="rId7" imgW="4510061" imgH="395677" progId="Word.Document.12">
                  <p:embed/>
                  <p:pic>
                    <p:nvPicPr>
                      <p:cNvPr id="0" name=""/>
                      <p:cNvPicPr/>
                      <p:nvPr/>
                    </p:nvPicPr>
                    <p:blipFill>
                      <a:blip r:embed="rId8"/>
                      <a:stretch>
                        <a:fillRect/>
                      </a:stretch>
                    </p:blipFill>
                    <p:spPr>
                      <a:xfrm>
                        <a:off x="458424" y="2254362"/>
                        <a:ext cx="11275153" cy="989193"/>
                      </a:xfrm>
                      <a:prstGeom prst="rect">
                        <a:avLst/>
                      </a:prstGeom>
                    </p:spPr>
                  </p:pic>
                </p:oleObj>
              </mc:Fallback>
            </mc:AlternateContent>
          </a:graphicData>
        </a:graphic>
      </p:graphicFrame>
      <p:sp>
        <p:nvSpPr>
          <p:cNvPr id="7" name="矩形 6"/>
          <p:cNvSpPr>
            <a:spLocks noChangeAspect="1"/>
          </p:cNvSpPr>
          <p:nvPr/>
        </p:nvSpPr>
        <p:spPr>
          <a:xfrm>
            <a:off x="381000" y="3243555"/>
            <a:ext cx="2977097" cy="652486"/>
          </a:xfrm>
          <a:prstGeom prst="rect">
            <a:avLst/>
          </a:prstGeom>
        </p:spPr>
        <p:txBody>
          <a:bodyPr wrap="none">
            <a:spAutoFit/>
          </a:bodyPr>
          <a:lstStyle/>
          <a:p>
            <a:pPr>
              <a:lnSpc>
                <a:spcPct val="130000"/>
              </a:lnSpc>
              <a:spcAft>
                <a:spcPts val="0"/>
              </a:spcAft>
              <a:tabLst>
                <a:tab pos="1188085" algn="l"/>
                <a:tab pos="2163445" algn="l"/>
                <a:tab pos="3142615" algn="l"/>
                <a:tab pos="4190365" algn="l"/>
              </a:tabLst>
            </a:pPr>
            <a:r>
              <a:rPr lang="zh-CN" altLang="zh-CN" sz="2800">
                <a:solidFill>
                  <a:srgbClr val="FF0000"/>
                </a:solidFill>
                <a:latin typeface="Arial" panose="020B0604020202020204" pitchFamily="34" charset="0"/>
                <a:ea typeface="黑体" panose="02010609060101010101" pitchFamily="49" charset="-122"/>
                <a:cs typeface="Times New Roman" panose="02020603050405020304" pitchFamily="18" charset="0"/>
              </a:rPr>
              <a:t>答案</a:t>
            </a:r>
            <a:r>
              <a:rPr lang="en-US" altLang="zh-CN" sz="280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20</a:t>
            </a:r>
            <a:r>
              <a:rPr lang="zh-CN" altLang="zh-CN" sz="2800" i="1">
                <a:solidFill>
                  <a:srgbClr val="000000"/>
                </a:solidFill>
                <a:latin typeface="Times New Roman" panose="02020603050405020304" pitchFamily="18" charset="0"/>
                <a:cs typeface="Times New Roman" panose="02020603050405020304" pitchFamily="18" charset="0"/>
              </a:rPr>
              <a:t>　</a:t>
            </a:r>
            <a:r>
              <a:rPr lang="en-US" altLang="zh-CN" sz="2800">
                <a:solidFill>
                  <a:srgbClr val="000000"/>
                </a:solidFill>
                <a:latin typeface="Times New Roman" panose="02020603050405020304" pitchFamily="18" charset="0"/>
                <a:cs typeface="Times New Roman" panose="02020603050405020304" pitchFamily="18" charset="0"/>
              </a:rPr>
              <a:t>161 </a:t>
            </a:r>
            <a:r>
              <a:rPr lang="en-US" altLang="zh-CN" sz="2800" smtClean="0">
                <a:solidFill>
                  <a:srgbClr val="000000"/>
                </a:solidFill>
                <a:latin typeface="Times New Roman" panose="02020603050405020304" pitchFamily="18" charset="0"/>
                <a:cs typeface="Times New Roman" panose="02020603050405020304" pitchFamily="18" charset="0"/>
              </a:rPr>
              <a:t>700 </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164786125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randombar(horizont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randombar(horizontal)">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3124012249"/>
              </p:ext>
            </p:extLst>
          </p:nvPr>
        </p:nvGraphicFramePr>
        <p:xfrm>
          <a:off x="458424" y="174364"/>
          <a:ext cx="11275153" cy="989193"/>
        </p:xfrm>
        <a:graphic>
          <a:graphicData uri="http://schemas.openxmlformats.org/presentationml/2006/ole">
            <mc:AlternateContent xmlns:mc="http://schemas.openxmlformats.org/markup-compatibility/2006">
              <mc:Choice xmlns:v="urn:schemas-microsoft-com:vml" Requires="v">
                <p:oleObj spid="_x0000_s24612" name="文档" r:id="rId4" imgW="4510061" imgH="395677" progId="Word.Document.12">
                  <p:embed/>
                </p:oleObj>
              </mc:Choice>
              <mc:Fallback>
                <p:oleObj name="文档" r:id="rId4" imgW="4510061" imgH="395677" progId="Word.Document.12">
                  <p:embed/>
                  <p:pic>
                    <p:nvPicPr>
                      <p:cNvPr id="0" name=""/>
                      <p:cNvPicPr/>
                      <p:nvPr/>
                    </p:nvPicPr>
                    <p:blipFill>
                      <a:blip r:embed="rId5"/>
                      <a:stretch>
                        <a:fillRect/>
                      </a:stretch>
                    </p:blipFill>
                    <p:spPr>
                      <a:xfrm>
                        <a:off x="458424" y="174364"/>
                        <a:ext cx="11275153" cy="989193"/>
                      </a:xfrm>
                      <a:prstGeom prst="rect">
                        <a:avLst/>
                      </a:prstGeom>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3723238069"/>
              </p:ext>
            </p:extLst>
          </p:nvPr>
        </p:nvGraphicFramePr>
        <p:xfrm>
          <a:off x="458424" y="1153283"/>
          <a:ext cx="11275153" cy="5255348"/>
        </p:xfrm>
        <a:graphic>
          <a:graphicData uri="http://schemas.openxmlformats.org/presentationml/2006/ole">
            <mc:AlternateContent xmlns:mc="http://schemas.openxmlformats.org/markup-compatibility/2006">
              <mc:Choice xmlns:v="urn:schemas-microsoft-com:vml" Requires="v">
                <p:oleObj spid="_x0000_s24613" name="文档" r:id="rId7" imgW="4510061" imgH="2103941" progId="Word.Document.12">
                  <p:embed/>
                </p:oleObj>
              </mc:Choice>
              <mc:Fallback>
                <p:oleObj name="文档" r:id="rId7" imgW="4510061" imgH="2103941" progId="Word.Document.12">
                  <p:embed/>
                  <p:pic>
                    <p:nvPicPr>
                      <p:cNvPr id="0" name=""/>
                      <p:cNvPicPr/>
                      <p:nvPr/>
                    </p:nvPicPr>
                    <p:blipFill>
                      <a:blip r:embed="rId8"/>
                      <a:stretch>
                        <a:fillRect/>
                      </a:stretch>
                    </p:blipFill>
                    <p:spPr>
                      <a:xfrm>
                        <a:off x="458424" y="1153283"/>
                        <a:ext cx="11275153" cy="5255348"/>
                      </a:xfrm>
                      <a:prstGeom prst="rect">
                        <a:avLst/>
                      </a:prstGeom>
                    </p:spPr>
                  </p:pic>
                </p:oleObj>
              </mc:Fallback>
            </mc:AlternateContent>
          </a:graphicData>
        </a:graphic>
      </p:graphicFrame>
    </p:spTree>
    <p:extLst>
      <p:ext uri="{BB962C8B-B14F-4D97-AF65-F5344CB8AC3E}">
        <p14:creationId xmlns:p14="http://schemas.microsoft.com/office/powerpoint/2010/main" val="325306018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descr="阴影"/>
          <p:cNvPicPr>
            <a:picLocks noChangeAspect="1"/>
          </p:cNvPicPr>
          <p:nvPr/>
        </p:nvPicPr>
        <p:blipFill>
          <a:blip r:embed="rId2"/>
          <a:stretch>
            <a:fillRect/>
          </a:stretch>
        </p:blipFill>
        <p:spPr>
          <a:xfrm>
            <a:off x="2325712" y="1511279"/>
            <a:ext cx="7280625" cy="3396125"/>
          </a:xfrm>
          <a:prstGeom prst="rect">
            <a:avLst/>
          </a:prstGeom>
        </p:spPr>
      </p:pic>
      <p:sp>
        <p:nvSpPr>
          <p:cNvPr id="9" name="文本框 8"/>
          <p:cNvSpPr txBox="1"/>
          <p:nvPr/>
        </p:nvSpPr>
        <p:spPr>
          <a:xfrm>
            <a:off x="1809976" y="4908623"/>
            <a:ext cx="8572049" cy="1292662"/>
          </a:xfrm>
          <a:prstGeom prst="rect">
            <a:avLst/>
          </a:prstGeom>
          <a:noFill/>
        </p:spPr>
        <p:txBody>
          <a:bodyPr wrap="square" rtlCol="0">
            <a:spAutoFit/>
          </a:bodyPr>
          <a:lstStyle/>
          <a:p>
            <a:pPr algn="ctr" fontAlgn="auto">
              <a:lnSpc>
                <a:spcPct val="150000"/>
              </a:lnSpc>
            </a:pPr>
            <a:r>
              <a:rPr lang="zh-CN" altLang="en-US" sz="2400" smtClean="0">
                <a:solidFill>
                  <a:srgbClr val="55463D"/>
                </a:solidFill>
              </a:rPr>
              <a:t>更多精彩内容请登录</a:t>
            </a:r>
            <a:r>
              <a:rPr lang="zh-CN" altLang="en-US" sz="2800" b="1" smtClean="0">
                <a:solidFill>
                  <a:srgbClr val="55463D"/>
                </a:solidFill>
                <a:latin typeface="华文新魏" panose="02010800040101010101" pitchFamily="2" charset="-122"/>
                <a:ea typeface="华文新魏" panose="02010800040101010101" pitchFamily="2" charset="-122"/>
              </a:rPr>
              <a:t>志鸿优化网</a:t>
            </a:r>
            <a:endParaRPr lang="en-US" altLang="zh-CN" sz="2400" b="1" smtClean="0">
              <a:solidFill>
                <a:srgbClr val="55463D"/>
              </a:solidFill>
              <a:latin typeface="华文新魏" panose="02010800040101010101" pitchFamily="2" charset="-122"/>
              <a:ea typeface="华文新魏" panose="02010800040101010101" pitchFamily="2" charset="-122"/>
            </a:endParaRPr>
          </a:p>
          <a:p>
            <a:pPr algn="ctr" fontAlgn="auto">
              <a:lnSpc>
                <a:spcPct val="150000"/>
              </a:lnSpc>
            </a:pPr>
            <a:r>
              <a:rPr lang="en-US" altLang="zh-CN" sz="2400" smtClean="0">
                <a:solidFill>
                  <a:srgbClr val="55463D"/>
                </a:solidFill>
              </a:rPr>
              <a:t>http</a:t>
            </a:r>
            <a:r>
              <a:rPr lang="en-US" altLang="zh-CN" sz="2400">
                <a:solidFill>
                  <a:srgbClr val="55463D"/>
                </a:solidFill>
              </a:rPr>
              <a:t>://www.zhyh.org</a:t>
            </a:r>
            <a:r>
              <a:rPr lang="en-US" altLang="zh-CN" sz="2400" smtClean="0">
                <a:solidFill>
                  <a:srgbClr val="55463D"/>
                </a:solidFill>
              </a:rPr>
              <a:t>/</a:t>
            </a:r>
            <a:endParaRPr lang="zh-CN" altLang="en-US" sz="2400">
              <a:solidFill>
                <a:srgbClr val="55463D"/>
              </a:solidFill>
            </a:endParaRPr>
          </a:p>
        </p:txBody>
      </p:sp>
      <p:pic>
        <p:nvPicPr>
          <p:cNvPr id="11" name="图片 10"/>
          <p:cNvPicPr>
            <a:picLocks noChangeAspect="1"/>
          </p:cNvPicPr>
          <p:nvPr/>
        </p:nvPicPr>
        <p:blipFill>
          <a:blip r:embed="rId3">
            <a:clrChange>
              <a:clrFrom>
                <a:srgbClr val="ECECEE"/>
              </a:clrFrom>
              <a:clrTo>
                <a:srgbClr val="ECECEE">
                  <a:alpha val="0"/>
                </a:srgbClr>
              </a:clrTo>
            </a:clrChange>
          </a:blip>
          <a:stretch>
            <a:fillRect/>
          </a:stretch>
        </p:blipFill>
        <p:spPr>
          <a:xfrm>
            <a:off x="123290" y="4517181"/>
            <a:ext cx="2325712" cy="2253486"/>
          </a:xfrm>
          <a:prstGeom prst="rect">
            <a:avLst/>
          </a:prstGeom>
        </p:spPr>
      </p:pic>
      <p:sp>
        <p:nvSpPr>
          <p:cNvPr id="6" name="文本框 5"/>
          <p:cNvSpPr txBox="1"/>
          <p:nvPr/>
        </p:nvSpPr>
        <p:spPr>
          <a:xfrm>
            <a:off x="2624485" y="2222090"/>
            <a:ext cx="6648062" cy="1015663"/>
          </a:xfrm>
          <a:prstGeom prst="rect">
            <a:avLst/>
          </a:prstGeom>
          <a:noFill/>
        </p:spPr>
        <p:txBody>
          <a:bodyPr wrap="square" rtlCol="0">
            <a:spAutoFit/>
          </a:bodyPr>
          <a:lstStyle/>
          <a:p>
            <a:pPr algn="ctr"/>
            <a:r>
              <a:rPr lang="zh-CN" altLang="en-US" sz="6000" b="1">
                <a:solidFill>
                  <a:srgbClr val="55463D"/>
                </a:solidFill>
                <a:latin typeface="思源黑体 CN Medium" panose="020B0600000000000000" pitchFamily="34" charset="-122"/>
                <a:ea typeface="思源黑体 CN Medium" panose="020B0600000000000000" pitchFamily="34" charset="-122"/>
              </a:rPr>
              <a:t>本  课  结  束</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5"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randombar(vertical)">
                                      <p:cBhvr>
                                        <p:cTn id="7" dur="500"/>
                                        <p:tgtEl>
                                          <p:spTgt spid="9"/>
                                        </p:tgtEl>
                                      </p:cBhvr>
                                    </p:animEffect>
                                  </p:childTnLst>
                                </p:cTn>
                              </p:par>
                              <p:par>
                                <p:cTn id="8" presetID="3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800" decel="100000"/>
                                        <p:tgtEl>
                                          <p:spTgt spid="11"/>
                                        </p:tgtEl>
                                      </p:cBhvr>
                                    </p:animEffect>
                                    <p:anim calcmode="lin" valueType="num">
                                      <p:cBhvr>
                                        <p:cTn id="11" dur="800" decel="100000" fill="hold"/>
                                        <p:tgtEl>
                                          <p:spTgt spid="11"/>
                                        </p:tgtEl>
                                        <p:attrNameLst>
                                          <p:attrName>style.rotation</p:attrName>
                                        </p:attrNameLst>
                                      </p:cBhvr>
                                      <p:tavLst>
                                        <p:tav tm="0">
                                          <p:val>
                                            <p:fltVal val="-90"/>
                                          </p:val>
                                        </p:tav>
                                        <p:tav tm="100000">
                                          <p:val>
                                            <p:fltVal val="0"/>
                                          </p:val>
                                        </p:tav>
                                      </p:tavLst>
                                    </p:anim>
                                    <p:anim calcmode="lin" valueType="num">
                                      <p:cBhvr>
                                        <p:cTn id="12" dur="800" decel="100000" fill="hold"/>
                                        <p:tgtEl>
                                          <p:spTgt spid="11"/>
                                        </p:tgtEl>
                                        <p:attrNameLst>
                                          <p:attrName>ppt_x</p:attrName>
                                        </p:attrNameLst>
                                      </p:cBhvr>
                                      <p:tavLst>
                                        <p:tav tm="0">
                                          <p:val>
                                            <p:strVal val="#ppt_x+0.4"/>
                                          </p:val>
                                        </p:tav>
                                        <p:tav tm="100000">
                                          <p:val>
                                            <p:strVal val="#ppt_x-0.05"/>
                                          </p:val>
                                        </p:tav>
                                      </p:tavLst>
                                    </p:anim>
                                    <p:anim calcmode="lin" valueType="num">
                                      <p:cBhvr>
                                        <p:cTn id="13" dur="800" decel="100000" fill="hold"/>
                                        <p:tgtEl>
                                          <p:spTgt spid="11"/>
                                        </p:tgtEl>
                                        <p:attrNameLst>
                                          <p:attrName>ppt_y</p:attrName>
                                        </p:attrNameLst>
                                      </p:cBhvr>
                                      <p:tavLst>
                                        <p:tav tm="0">
                                          <p:val>
                                            <p:strVal val="#ppt_y-0.4"/>
                                          </p:val>
                                        </p:tav>
                                        <p:tav tm="100000">
                                          <p:val>
                                            <p:strVal val="#ppt_y+0.1"/>
                                          </p:val>
                                        </p:tav>
                                      </p:tavLst>
                                    </p:anim>
                                    <p:anim calcmode="lin" valueType="num">
                                      <p:cBhvr>
                                        <p:cTn id="14" dur="200" accel="100000" fill="hold">
                                          <p:stCondLst>
                                            <p:cond delay="800"/>
                                          </p:stCondLst>
                                        </p:cTn>
                                        <p:tgtEl>
                                          <p:spTgt spid="11"/>
                                        </p:tgtEl>
                                        <p:attrNameLst>
                                          <p:attrName>ppt_x</p:attrName>
                                        </p:attrNameLst>
                                      </p:cBhvr>
                                      <p:tavLst>
                                        <p:tav tm="0">
                                          <p:val>
                                            <p:strVal val="#ppt_x-0.05"/>
                                          </p:val>
                                        </p:tav>
                                        <p:tav tm="100000">
                                          <p:val>
                                            <p:strVal val="#ppt_x"/>
                                          </p:val>
                                        </p:tav>
                                      </p:tavLst>
                                    </p:anim>
                                    <p:anim calcmode="lin" valueType="num">
                                      <p:cBhvr>
                                        <p:cTn id="15" dur="200" accel="100000" fill="hold">
                                          <p:stCondLst>
                                            <p:cond delay="800"/>
                                          </p:stCondLst>
                                        </p:cTn>
                                        <p:tgtEl>
                                          <p:spTgt spid="11"/>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tags/tag1.xml><?xml version="1.0" encoding="utf-8"?>
<p:tagLst xmlns:a="http://schemas.openxmlformats.org/drawingml/2006/main" xmlns:r="http://schemas.openxmlformats.org/officeDocument/2006/relationships" xmlns:p="http://schemas.openxmlformats.org/presentationml/2006/main">
  <p:tag name="MH" val="20161022204519"/>
  <p:tag name="MH_LIBRARY" val="GRAPHIC"/>
  <p:tag name="MH_ORDER" val="TextBox 3"/>
</p:tagLst>
</file>

<file path=ppt/theme/theme1.xml><?xml version="1.0" encoding="utf-8"?>
<a:theme xmlns:a="http://schemas.openxmlformats.org/drawingml/2006/main" name="1_Office 主题">
  <a:themeElements>
    <a:clrScheme name="模块">
      <a:dk1>
        <a:sysClr val="windowText" lastClr="000000"/>
      </a:dk1>
      <a:lt1>
        <a:sysClr val="window" lastClr="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演示文稿1" id="{721B1EAD-A6C0-47A7-B782-D5918D0D228F}" vid="{2963E896-880A-42B6-99FF-93DBD5586BD1}"/>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理科模板</Template>
  <TotalTime>114</TotalTime>
  <Words>1953</Words>
  <Application>Microsoft Office PowerPoint</Application>
  <PresentationFormat>宽屏</PresentationFormat>
  <Paragraphs>109</Paragraphs>
  <Slides>37</Slides>
  <Notes>0</Notes>
  <HiddenSlides>0</HiddenSlides>
  <MMClips>0</MMClips>
  <ScaleCrop>false</ScaleCrop>
  <HeadingPairs>
    <vt:vector size="8" baseType="variant">
      <vt:variant>
        <vt:lpstr>已用的字体</vt:lpstr>
      </vt:variant>
      <vt:variant>
        <vt:i4>18</vt:i4>
      </vt:variant>
      <vt:variant>
        <vt:lpstr>主题</vt:lpstr>
      </vt:variant>
      <vt:variant>
        <vt:i4>1</vt:i4>
      </vt:variant>
      <vt:variant>
        <vt:lpstr>嵌入 OLE 服务器</vt:lpstr>
      </vt:variant>
      <vt:variant>
        <vt:i4>1</vt:i4>
      </vt:variant>
      <vt:variant>
        <vt:lpstr>幻灯片标题</vt:lpstr>
      </vt:variant>
      <vt:variant>
        <vt:i4>37</vt:i4>
      </vt:variant>
    </vt:vector>
  </HeadingPairs>
  <TitlesOfParts>
    <vt:vector size="57" baseType="lpstr">
      <vt:lpstr>NEU-BZ-S92</vt:lpstr>
      <vt:lpstr>Open Sans</vt:lpstr>
      <vt:lpstr>方正书宋_GBK</vt:lpstr>
      <vt:lpstr>方正姚体</vt:lpstr>
      <vt:lpstr>方正正中黑简体</vt:lpstr>
      <vt:lpstr>仿宋</vt:lpstr>
      <vt:lpstr>黑体</vt:lpstr>
      <vt:lpstr>华文细黑</vt:lpstr>
      <vt:lpstr>华文新魏</vt:lpstr>
      <vt:lpstr>楷体</vt:lpstr>
      <vt:lpstr>隶书</vt:lpstr>
      <vt:lpstr>思源黑体 CN Medium</vt:lpstr>
      <vt:lpstr>宋体</vt:lpstr>
      <vt:lpstr>微软雅黑</vt:lpstr>
      <vt:lpstr>Arial</vt:lpstr>
      <vt:lpstr>Calibri</vt:lpstr>
      <vt:lpstr>Cambria Math</vt:lpstr>
      <vt:lpstr>Times New Roman</vt:lpstr>
      <vt:lpstr>1_Office 主题</vt:lpstr>
      <vt:lpstr>文档</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ITSK.com</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SkyUser</dc:creator>
  <cp:lastModifiedBy>Windows User</cp:lastModifiedBy>
  <cp:revision>41</cp:revision>
  <dcterms:created xsi:type="dcterms:W3CDTF">2021-08-30T08:30:26Z</dcterms:created>
  <dcterms:modified xsi:type="dcterms:W3CDTF">2025-08-20T01:05:21Z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2052-11.1.0.10000</vt:lpwstr>
  </property>
</Properties>
</file>