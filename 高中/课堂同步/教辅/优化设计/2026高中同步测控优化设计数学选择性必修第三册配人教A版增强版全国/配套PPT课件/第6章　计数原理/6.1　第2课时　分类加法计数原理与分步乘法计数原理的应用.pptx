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6"/>
  </p:notesMasterIdLst>
  <p:sldIdLst>
    <p:sldId id="677" r:id="rId2"/>
    <p:sldId id="488" r:id="rId3"/>
    <p:sldId id="494" r:id="rId4"/>
    <p:sldId id="392" r:id="rId5"/>
    <p:sldId id="686" r:id="rId6"/>
    <p:sldId id="756" r:id="rId7"/>
    <p:sldId id="768" r:id="rId8"/>
    <p:sldId id="757" r:id="rId9"/>
    <p:sldId id="407" r:id="rId10"/>
    <p:sldId id="394" r:id="rId11"/>
    <p:sldId id="700" r:id="rId12"/>
    <p:sldId id="701" r:id="rId13"/>
    <p:sldId id="769" r:id="rId14"/>
    <p:sldId id="402" r:id="rId15"/>
    <p:sldId id="720" r:id="rId16"/>
    <p:sldId id="770" r:id="rId17"/>
    <p:sldId id="771" r:id="rId18"/>
    <p:sldId id="498" r:id="rId19"/>
    <p:sldId id="733" r:id="rId20"/>
    <p:sldId id="743" r:id="rId21"/>
    <p:sldId id="772" r:id="rId22"/>
    <p:sldId id="744" r:id="rId23"/>
    <p:sldId id="760" r:id="rId24"/>
    <p:sldId id="741" r:id="rId25"/>
    <p:sldId id="738" r:id="rId26"/>
    <p:sldId id="751" r:id="rId27"/>
    <p:sldId id="752" r:id="rId28"/>
    <p:sldId id="764" r:id="rId29"/>
    <p:sldId id="398" r:id="rId30"/>
    <p:sldId id="395" r:id="rId31"/>
    <p:sldId id="773" r:id="rId32"/>
    <p:sldId id="767" r:id="rId33"/>
    <p:sldId id="766" r:id="rId34"/>
    <p:sldId id="490" r:id="rId3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68">
          <p15:clr>
            <a:srgbClr val="A4A3A4"/>
          </p15:clr>
        </p15:guide>
        <p15:guide id="2" pos="211" userDrawn="1">
          <p15:clr>
            <a:srgbClr val="A4A3A4"/>
          </p15:clr>
        </p15:guide>
        <p15:guide id="3" orient="horz" pos="436" userDrawn="1">
          <p15:clr>
            <a:srgbClr val="A4A3A4"/>
          </p15:clr>
        </p15:guide>
        <p15:guide id="4" orient="horz" pos="777" userDrawn="1">
          <p15:clr>
            <a:srgbClr val="A4A3A4"/>
          </p15:clr>
        </p15:guide>
        <p15:guide id="5" orient="horz" pos="28" userDrawn="1">
          <p15:clr>
            <a:srgbClr val="A4A3A4"/>
          </p15:clr>
        </p15:guide>
        <p15:guide id="6" pos="25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C5B3E"/>
    <a:srgbClr val="7088DB"/>
    <a:srgbClr val="CF5B1B"/>
    <a:srgbClr val="38425D"/>
    <a:srgbClr val="4472C4"/>
    <a:srgbClr val="DFF0F5"/>
    <a:srgbClr val="4040C8"/>
    <a:srgbClr val="159470"/>
    <a:srgbClr val="157392"/>
    <a:srgbClr val="15937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60"/>
  </p:normalViewPr>
  <p:slideViewPr>
    <p:cSldViewPr snapToGrid="0">
      <p:cViewPr varScale="1">
        <p:scale>
          <a:sx n="93" d="100"/>
          <a:sy n="93" d="100"/>
        </p:scale>
        <p:origin x="456" y="90"/>
      </p:cViewPr>
      <p:guideLst>
        <p:guide orient="horz" pos="368"/>
        <p:guide pos="211"/>
        <p:guide orient="horz" pos="436"/>
        <p:guide orient="horz" pos="777"/>
        <p:guide orient="horz" pos="28"/>
        <p:guide pos="257"/>
      </p:guideLst>
    </p:cSldViewPr>
  </p:slideViewPr>
  <p:notesTextViewPr>
    <p:cViewPr>
      <p:scale>
        <a:sx n="1" d="1"/>
        <a:sy n="1" d="1"/>
      </p:scale>
      <p:origin x="0" y="0"/>
    </p:cViewPr>
  </p:notesTextViewPr>
  <p:sorterViewPr>
    <p:cViewPr>
      <p:scale>
        <a:sx n="100" d="100"/>
        <a:sy n="100" d="100"/>
      </p:scale>
      <p:origin x="0" y="-9918"/>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4B3386-1164-4DE5-87D6-99DD641BC976}" type="datetimeFigureOut">
              <a:rPr lang="zh-CN" altLang="en-US" smtClean="0"/>
              <a:t>2025-08-20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BDB411-4171-48A7-B819-B87F89F6C7EE}" type="slidenum">
              <a:rPr lang="zh-CN" altLang="en-US" smtClean="0"/>
              <a:t>‹#›</a:t>
            </a:fld>
            <a:endParaRPr lang="zh-CN" altLang="en-US"/>
          </a:p>
        </p:txBody>
      </p:sp>
    </p:spTree>
    <p:extLst>
      <p:ext uri="{BB962C8B-B14F-4D97-AF65-F5344CB8AC3E}">
        <p14:creationId xmlns:p14="http://schemas.microsoft.com/office/powerpoint/2010/main" val="12544889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slide" Target="../slides/slide14.xml"/><Relationship Id="rId2" Type="http://schemas.openxmlformats.org/officeDocument/2006/relationships/slide" Target="../slides/slide10.xml"/><Relationship Id="rId1" Type="http://schemas.openxmlformats.org/officeDocument/2006/relationships/slideMaster" Target="../slideMasters/slideMaster1.xml"/><Relationship Id="rId5" Type="http://schemas.openxmlformats.org/officeDocument/2006/relationships/slide" Target="../slides/slide24.xml"/><Relationship Id="rId4" Type="http://schemas.openxmlformats.org/officeDocument/2006/relationships/slide" Target="../slides/slide18.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6_标题幻灯片">
    <p:spTree>
      <p:nvGrpSpPr>
        <p:cNvPr id="1" name=""/>
        <p:cNvGrpSpPr/>
        <p:nvPr/>
      </p:nvGrpSpPr>
      <p:grpSpPr>
        <a:xfrm>
          <a:off x="0" y="0"/>
          <a:ext cx="0" cy="0"/>
          <a:chOff x="0" y="0"/>
          <a:chExt cx="0" cy="0"/>
        </a:xfrm>
      </p:grpSpPr>
      <p:sp>
        <p:nvSpPr>
          <p:cNvPr id="7" name="圆角矩形 6">
            <a:hlinkClick r:id="rId2" action="ppaction://hlinksldjump"/>
          </p:cNvPr>
          <p:cNvSpPr/>
          <p:nvPr userDrawn="1"/>
        </p:nvSpPr>
        <p:spPr>
          <a:xfrm>
            <a:off x="7803007"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smtClean="0">
                <a:ln>
                  <a:solidFill>
                    <a:schemeClr val="bg1"/>
                  </a:solidFill>
                </a:ln>
                <a:solidFill>
                  <a:schemeClr val="bg1"/>
                </a:solidFill>
              </a:rPr>
              <a:t>探究一</a:t>
            </a:r>
            <a:endParaRPr lang="zh-CN" altLang="en-US" sz="1400" dirty="0">
              <a:ln>
                <a:solidFill>
                  <a:schemeClr val="bg1"/>
                </a:solidFill>
              </a:ln>
              <a:solidFill>
                <a:schemeClr val="bg1"/>
              </a:solidFill>
            </a:endParaRPr>
          </a:p>
        </p:txBody>
      </p:sp>
      <p:sp>
        <p:nvSpPr>
          <p:cNvPr id="8" name="圆角矩形 7">
            <a:hlinkClick r:id="rId3" action="ppaction://hlinksldjump"/>
          </p:cNvPr>
          <p:cNvSpPr/>
          <p:nvPr userDrawn="1"/>
        </p:nvSpPr>
        <p:spPr>
          <a:xfrm>
            <a:off x="8869351"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1400" dirty="0" smtClean="0">
                <a:ln>
                  <a:solidFill>
                    <a:schemeClr val="bg1"/>
                  </a:solidFill>
                </a:ln>
                <a:solidFill>
                  <a:schemeClr val="bg1"/>
                </a:solidFill>
              </a:rPr>
              <a:t>探究二</a:t>
            </a:r>
            <a:endParaRPr lang="zh-CN" altLang="en-US" sz="1400" dirty="0">
              <a:ln>
                <a:solidFill>
                  <a:schemeClr val="bg1"/>
                </a:solidFill>
              </a:ln>
              <a:solidFill>
                <a:schemeClr val="bg1"/>
              </a:solidFill>
            </a:endParaRPr>
          </a:p>
        </p:txBody>
      </p:sp>
      <p:sp>
        <p:nvSpPr>
          <p:cNvPr id="9" name="圆角矩形 8">
            <a:hlinkClick r:id="rId4" action="ppaction://hlinksldjump"/>
          </p:cNvPr>
          <p:cNvSpPr/>
          <p:nvPr userDrawn="1"/>
        </p:nvSpPr>
        <p:spPr>
          <a:xfrm>
            <a:off x="9935695"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1400" dirty="0" smtClean="0">
                <a:ln>
                  <a:solidFill>
                    <a:schemeClr val="bg1"/>
                  </a:solidFill>
                </a:ln>
                <a:solidFill>
                  <a:schemeClr val="bg1"/>
                </a:solidFill>
              </a:rPr>
              <a:t>探究三</a:t>
            </a:r>
            <a:endParaRPr lang="zh-CN" altLang="en-US" sz="1400" dirty="0">
              <a:ln>
                <a:solidFill>
                  <a:schemeClr val="bg1"/>
                </a:solidFill>
              </a:ln>
              <a:solidFill>
                <a:schemeClr val="bg1"/>
              </a:solidFill>
            </a:endParaRPr>
          </a:p>
        </p:txBody>
      </p:sp>
      <p:sp>
        <p:nvSpPr>
          <p:cNvPr id="6" name="圆角矩形 5">
            <a:hlinkClick r:id="rId5" action="ppaction://hlinksldjump"/>
          </p:cNvPr>
          <p:cNvSpPr/>
          <p:nvPr userDrawn="1"/>
        </p:nvSpPr>
        <p:spPr>
          <a:xfrm>
            <a:off x="11002039"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1400" dirty="0" smtClean="0">
                <a:ln>
                  <a:solidFill>
                    <a:schemeClr val="bg1"/>
                  </a:solidFill>
                </a:ln>
                <a:solidFill>
                  <a:schemeClr val="bg1"/>
                </a:solidFill>
              </a:rPr>
              <a:t>易错辨析</a:t>
            </a:r>
            <a:endParaRPr lang="zh-CN" altLang="en-US" sz="1400" dirty="0">
              <a:ln>
                <a:solidFill>
                  <a:schemeClr val="bg1"/>
                </a:solidFill>
              </a:ln>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61" r:id="rId3"/>
  </p:sldLayoutIdLst>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9.xml"/><Relationship Id="rId2" Type="http://schemas.openxmlformats.org/officeDocument/2006/relationships/slide" Target="slide4.xml"/><Relationship Id="rId1" Type="http://schemas.openxmlformats.org/officeDocument/2006/relationships/slideLayout" Target="../slideLayouts/slideLayout1.xml"/><Relationship Id="rId4" Type="http://schemas.openxmlformats.org/officeDocument/2006/relationships/slide" Target="slide29.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300879" y="519978"/>
            <a:ext cx="4047903" cy="461665"/>
          </a:xfrm>
          <a:prstGeom prst="rect">
            <a:avLst/>
          </a:prstGeom>
        </p:spPr>
        <p:txBody>
          <a:bodyPr wrap="none">
            <a:spAutoFit/>
          </a:bodyPr>
          <a:lstStyle/>
          <a:p>
            <a:pPr algn="dist"/>
            <a:r>
              <a:rPr lang="zh-CN" altLang="en-US" sz="2400" b="1" spc="600" dirty="0" smtClean="0">
                <a:solidFill>
                  <a:srgbClr val="757C82"/>
                </a:solidFill>
                <a:latin typeface="黑体" panose="02010609060101010101" pitchFamily="49" charset="-122"/>
                <a:ea typeface="黑体" panose="02010609060101010101" pitchFamily="49" charset="-122"/>
              </a:rPr>
              <a:t>高中同步测控优化设计</a:t>
            </a:r>
            <a:endParaRPr lang="zh-CN" altLang="en-US" sz="2400" b="1" spc="600" dirty="0">
              <a:solidFill>
                <a:srgbClr val="757C82"/>
              </a:solidFill>
              <a:latin typeface="黑体" panose="02010609060101010101" pitchFamily="49" charset="-122"/>
              <a:ea typeface="黑体" panose="02010609060101010101" pitchFamily="49" charset="-122"/>
            </a:endParaRPr>
          </a:p>
        </p:txBody>
      </p:sp>
      <p:cxnSp>
        <p:nvCxnSpPr>
          <p:cNvPr id="3" name="直接连接符 2"/>
          <p:cNvCxnSpPr/>
          <p:nvPr/>
        </p:nvCxnSpPr>
        <p:spPr>
          <a:xfrm>
            <a:off x="2282351" y="1003843"/>
            <a:ext cx="4305485" cy="0"/>
          </a:xfrm>
          <a:prstGeom prst="line">
            <a:avLst/>
          </a:prstGeom>
          <a:ln>
            <a:solidFill>
              <a:schemeClr val="tx1"/>
            </a:solidFill>
            <a:prstDash val="lgDashDotDot"/>
            <a:headEnd type="diamond" w="med" len="med"/>
            <a:tailEnd type="diamond" w="med" len="med"/>
          </a:ln>
          <a:effectLst/>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2173232" y="1026313"/>
            <a:ext cx="4414604" cy="338554"/>
          </a:xfrm>
          <a:prstGeom prst="rect">
            <a:avLst/>
          </a:prstGeom>
        </p:spPr>
        <p:txBody>
          <a:bodyPr wrap="square">
            <a:spAutoFit/>
          </a:bodyPr>
          <a:lstStyle/>
          <a:p>
            <a:pPr algn="ctr"/>
            <a:r>
              <a:rPr lang="en-US" altLang="zh-CN" sz="1600" b="1" dirty="0" smtClean="0">
                <a:solidFill>
                  <a:srgbClr val="757C82"/>
                </a:solidFill>
                <a:latin typeface="黑体" panose="02010609060101010101" pitchFamily="49" charset="-122"/>
                <a:ea typeface="黑体" panose="02010609060101010101" pitchFamily="49" charset="-122"/>
              </a:rPr>
              <a:t>GAO ZHONG TONG </a:t>
            </a:r>
            <a:r>
              <a:rPr lang="en-US" altLang="zh-CN" sz="1600" b="1" dirty="0">
                <a:solidFill>
                  <a:srgbClr val="757C82"/>
                </a:solidFill>
                <a:latin typeface="黑体" panose="02010609060101010101" pitchFamily="49" charset="-122"/>
                <a:ea typeface="黑体" panose="02010609060101010101" pitchFamily="49" charset="-122"/>
              </a:rPr>
              <a:t>B</a:t>
            </a:r>
            <a:r>
              <a:rPr lang="en-US" altLang="zh-CN" sz="1600" b="1" dirty="0" smtClean="0">
                <a:solidFill>
                  <a:srgbClr val="757C82"/>
                </a:solidFill>
                <a:latin typeface="黑体" panose="02010609060101010101" pitchFamily="49" charset="-122"/>
                <a:ea typeface="黑体" panose="02010609060101010101" pitchFamily="49" charset="-122"/>
              </a:rPr>
              <a:t>U CE KONG YOU HUA SHE JI</a:t>
            </a:r>
          </a:p>
        </p:txBody>
      </p:sp>
      <p:grpSp>
        <p:nvGrpSpPr>
          <p:cNvPr id="5" name="组合 4"/>
          <p:cNvGrpSpPr/>
          <p:nvPr/>
        </p:nvGrpSpPr>
        <p:grpSpPr>
          <a:xfrm>
            <a:off x="635" y="2775585"/>
            <a:ext cx="12191365" cy="1478915"/>
            <a:chOff x="303375" y="3227146"/>
            <a:chExt cx="11560182" cy="1479076"/>
          </a:xfrm>
        </p:grpSpPr>
        <p:sp>
          <p:nvSpPr>
            <p:cNvPr id="6" name="矩形 5"/>
            <p:cNvSpPr/>
            <p:nvPr/>
          </p:nvSpPr>
          <p:spPr>
            <a:xfrm>
              <a:off x="303375" y="3227146"/>
              <a:ext cx="11560182" cy="1479076"/>
            </a:xfrm>
            <a:prstGeom prst="rect">
              <a:avLst/>
            </a:prstGeom>
            <a:solidFill>
              <a:srgbClr val="6B7278"/>
            </a:solidFill>
            <a:ln>
              <a:noFill/>
            </a:ln>
            <a:scene3d>
              <a:camera prst="orthographicFront"/>
              <a:lightRig rig="threePt" dir="t"/>
            </a:scene3d>
            <a:sp3d>
              <a:bevelT w="114300" prst="hardEdg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3665034" y="3366453"/>
              <a:ext cx="8158783" cy="1200460"/>
            </a:xfrm>
            <a:prstGeom prst="rect">
              <a:avLst/>
            </a:prstGeom>
          </p:spPr>
          <p:txBody>
            <a:bodyPr wrap="square">
              <a:spAutoFit/>
            </a:bodyPr>
            <a:lstStyle/>
            <a:p>
              <a:r>
                <a:rPr lang="zh-CN" altLang="en-US" sz="3600" b="1">
                  <a:solidFill>
                    <a:schemeClr val="bg1"/>
                  </a:solidFill>
                  <a:latin typeface="华文细黑" panose="02010600040101010101" charset="-122"/>
                  <a:ea typeface="华文细黑" panose="02010600040101010101" charset="-122"/>
                </a:rPr>
                <a:t>第</a:t>
              </a:r>
              <a:r>
                <a:rPr lang="en-US" altLang="zh-CN" sz="3600" b="1">
                  <a:solidFill>
                    <a:schemeClr val="bg1"/>
                  </a:solidFill>
                  <a:latin typeface="华文细黑" panose="02010600040101010101" charset="-122"/>
                  <a:ea typeface="华文细黑" panose="02010600040101010101" charset="-122"/>
                </a:rPr>
                <a:t>2</a:t>
              </a:r>
              <a:r>
                <a:rPr lang="zh-CN" altLang="en-US" sz="3600" b="1">
                  <a:solidFill>
                    <a:schemeClr val="bg1"/>
                  </a:solidFill>
                  <a:latin typeface="华文细黑" panose="02010600040101010101" charset="-122"/>
                  <a:ea typeface="华文细黑" panose="02010600040101010101" charset="-122"/>
                </a:rPr>
                <a:t>课时　分类加法计数原理与分步乘</a:t>
              </a:r>
              <a:r>
                <a:rPr lang="zh-CN" altLang="en-US" sz="3600" b="1" smtClean="0">
                  <a:solidFill>
                    <a:schemeClr val="bg1"/>
                  </a:solidFill>
                  <a:latin typeface="华文细黑" panose="02010600040101010101" charset="-122"/>
                  <a:ea typeface="华文细黑" panose="02010600040101010101" charset="-122"/>
                </a:rPr>
                <a:t>法</a:t>
              </a:r>
              <a:endParaRPr lang="en-US" altLang="zh-CN" sz="3600" b="1" smtClean="0">
                <a:solidFill>
                  <a:schemeClr val="bg1"/>
                </a:solidFill>
                <a:latin typeface="华文细黑" panose="02010600040101010101" charset="-122"/>
                <a:ea typeface="华文细黑" panose="02010600040101010101" charset="-122"/>
              </a:endParaRPr>
            </a:p>
            <a:p>
              <a:r>
                <a:rPr lang="en-US" altLang="zh-CN" sz="3600" b="1">
                  <a:solidFill>
                    <a:schemeClr val="bg1"/>
                  </a:solidFill>
                  <a:latin typeface="华文细黑" panose="02010600040101010101" charset="-122"/>
                  <a:ea typeface="华文细黑" panose="02010600040101010101" charset="-122"/>
                </a:rPr>
                <a:t> </a:t>
              </a:r>
              <a:r>
                <a:rPr lang="en-US" altLang="zh-CN" sz="3600" b="1" smtClean="0">
                  <a:solidFill>
                    <a:schemeClr val="bg1"/>
                  </a:solidFill>
                  <a:latin typeface="华文细黑" panose="02010600040101010101" charset="-122"/>
                  <a:ea typeface="华文细黑" panose="02010600040101010101" charset="-122"/>
                </a:rPr>
                <a:t>                 </a:t>
              </a:r>
              <a:r>
                <a:rPr lang="zh-CN" altLang="en-US" sz="3600" b="1" smtClean="0">
                  <a:solidFill>
                    <a:schemeClr val="bg1"/>
                  </a:solidFill>
                  <a:latin typeface="华文细黑" panose="02010600040101010101" charset="-122"/>
                  <a:ea typeface="华文细黑" panose="02010600040101010101" charset="-122"/>
                </a:rPr>
                <a:t>计</a:t>
              </a:r>
              <a:r>
                <a:rPr lang="zh-CN" altLang="en-US" sz="3600" b="1">
                  <a:solidFill>
                    <a:schemeClr val="bg1"/>
                  </a:solidFill>
                  <a:latin typeface="华文细黑" panose="02010600040101010101" charset="-122"/>
                  <a:ea typeface="华文细黑" panose="02010600040101010101" charset="-122"/>
                </a:rPr>
                <a:t>数原理的应用</a:t>
              </a:r>
            </a:p>
          </p:txBody>
        </p:sp>
      </p:grpSp>
      <p:sp>
        <p:nvSpPr>
          <p:cNvPr id="8" name="矩形 7"/>
          <p:cNvSpPr/>
          <p:nvPr/>
        </p:nvSpPr>
        <p:spPr>
          <a:xfrm>
            <a:off x="1109345" y="2277745"/>
            <a:ext cx="2282825" cy="2407920"/>
          </a:xfrm>
          <a:prstGeom prst="rect">
            <a:avLst/>
          </a:prstGeom>
          <a:solidFill>
            <a:srgbClr val="748773"/>
          </a:solidFill>
          <a:ln w="12700" cap="flat" cmpd="sng" algn="ctr">
            <a:noFill/>
            <a:prstDash val="solid"/>
            <a:miter lim="800000"/>
          </a:ln>
          <a:effectLst>
            <a:outerShdw blurRad="317500" dist="127000" dir="2700000" algn="tl" rotWithShape="0">
              <a:prstClr val="black">
                <a:alpha val="25000"/>
              </a:prstClr>
            </a:outerShdw>
          </a:effectLst>
          <a:scene3d>
            <a:camera prst="orthographicFront"/>
            <a:lightRig rig="threePt" dir="t"/>
          </a:scene3d>
          <a:sp3d>
            <a:bevelT w="101600" prst="riblet"/>
          </a:sp3d>
        </p:spPr>
        <p:txBody>
          <a:bodyPr wrap="none" rtlCol="0" anchor="ctr"/>
          <a:lstStyle/>
          <a:p>
            <a:pPr algn="ctr"/>
            <a:r>
              <a:rPr lang="zh-CN" altLang="en-US" sz="3600" b="1" kern="0" smtClean="0">
                <a:solidFill>
                  <a:schemeClr val="bg1"/>
                </a:solidFill>
                <a:latin typeface="华文细黑" panose="02010600040101010101" charset="-122"/>
                <a:ea typeface="华文细黑" panose="02010600040101010101" charset="-122"/>
                <a:cs typeface="Open Sans" panose="020B0606030504020204" pitchFamily="34" charset="0"/>
              </a:rPr>
              <a:t>第六章</a:t>
            </a:r>
            <a:endParaRPr lang="en-US" altLang="zh-CN" sz="3600" b="1" kern="0" dirty="0" smtClean="0">
              <a:solidFill>
                <a:schemeClr val="bg1"/>
              </a:solidFill>
              <a:latin typeface="华文细黑" panose="02010600040101010101" charset="-122"/>
              <a:ea typeface="华文细黑" panose="02010600040101010101" charset="-122"/>
              <a:cs typeface="Open Sans" panose="020B0606030504020204" pitchFamily="34" charset="0"/>
            </a:endParaRPr>
          </a:p>
        </p:txBody>
      </p:sp>
      <p:pic>
        <p:nvPicPr>
          <p:cNvPr id="10" name="图片 9" descr="e37b0ec1d4924ecca897357d279cf883"/>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Effect>
                      <a14:saturation sat="0"/>
                    </a14:imgEffect>
                  </a14:imgLayer>
                </a14:imgProps>
              </a:ext>
            </a:extLst>
          </a:blip>
          <a:stretch>
            <a:fillRect/>
          </a:stretch>
        </p:blipFill>
        <p:spPr>
          <a:xfrm>
            <a:off x="801370" y="175260"/>
            <a:ext cx="1453515" cy="1453515"/>
          </a:xfrm>
          <a:prstGeom prst="rect">
            <a:avLst/>
          </a:prstGeom>
        </p:spPr>
      </p:pic>
      <p:sp>
        <p:nvSpPr>
          <p:cNvPr id="11" name="矩形 10"/>
          <p:cNvSpPr/>
          <p:nvPr/>
        </p:nvSpPr>
        <p:spPr>
          <a:xfrm>
            <a:off x="1001385" y="587446"/>
            <a:ext cx="1052723" cy="5870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smtClean="0">
                <a:solidFill>
                  <a:srgbClr val="757C82"/>
                </a:solidFill>
                <a:latin typeface="Times New Roman" panose="02020603050405020304" pitchFamily="18" charset="0"/>
                <a:cs typeface="Times New Roman" panose="02020603050405020304" pitchFamily="18" charset="0"/>
              </a:rPr>
              <a:t>2025</a:t>
            </a:r>
            <a:endParaRPr lang="en-US" altLang="zh-CN" sz="2800" b="1" dirty="0" smtClean="0">
              <a:solidFill>
                <a:srgbClr val="757C8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499843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bldLst>
      <p:bldP spid="2" grpId="0"/>
      <p:bldP spid="4" grpId="0"/>
      <p:bldP spid="8" grpId="0" bldLvl="0" animBg="1"/>
      <p:bldP spid="11" grpId="0" bldLvl="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nvSpPr>
        <p:spPr>
          <a:xfrm>
            <a:off x="1788494" y="1591871"/>
            <a:ext cx="942982" cy="3046988"/>
          </a:xfrm>
          <a:prstGeom prst="rect">
            <a:avLst/>
          </a:prstGeom>
          <a:noFill/>
        </p:spPr>
        <p:txBody>
          <a:bodyPr wrap="square" rtlCol="0">
            <a:spAutoFit/>
          </a:bodyPr>
          <a:lstStyle/>
          <a:p>
            <a:r>
              <a:rPr kumimoji="1" lang="zh-CN" altLang="en-US" sz="4800" smtClean="0">
                <a:solidFill>
                  <a:srgbClr val="2C3814"/>
                </a:solidFill>
                <a:cs typeface="+mn-ea"/>
                <a:sym typeface="+mn-lt"/>
              </a:rPr>
              <a:t>内容索引</a:t>
            </a:r>
            <a:endParaRPr kumimoji="1" lang="zh-CN" altLang="en-US" sz="4800" dirty="0">
              <a:solidFill>
                <a:srgbClr val="2C3814"/>
              </a:solidFill>
              <a:cs typeface="+mn-ea"/>
              <a:sym typeface="+mn-lt"/>
            </a:endParaRPr>
          </a:p>
        </p:txBody>
      </p:sp>
      <p:grpSp>
        <p:nvGrpSpPr>
          <p:cNvPr id="25" name="组合 24"/>
          <p:cNvGrpSpPr/>
          <p:nvPr/>
        </p:nvGrpSpPr>
        <p:grpSpPr>
          <a:xfrm>
            <a:off x="1378713" y="856615"/>
            <a:ext cx="1105802" cy="815646"/>
            <a:chOff x="-1604504" y="2147667"/>
            <a:chExt cx="3687215" cy="2719712"/>
          </a:xfrm>
        </p:grpSpPr>
        <p:cxnSp>
          <p:nvCxnSpPr>
            <p:cNvPr id="26" name="直接连接符 25"/>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27" name="直接连接符 26"/>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28" name="组合 27"/>
          <p:cNvGrpSpPr/>
          <p:nvPr/>
        </p:nvGrpSpPr>
        <p:grpSpPr>
          <a:xfrm flipH="1" flipV="1">
            <a:off x="1707083" y="4546456"/>
            <a:ext cx="1105803" cy="815646"/>
            <a:chOff x="-1604504" y="2147667"/>
            <a:chExt cx="3687215" cy="2719712"/>
          </a:xfrm>
        </p:grpSpPr>
        <p:cxnSp>
          <p:nvCxnSpPr>
            <p:cNvPr id="38" name="直接连接符 37"/>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39" name="直接连接符 38"/>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grpSp>
        <p:nvGrpSpPr>
          <p:cNvPr id="40" name="组合 39"/>
          <p:cNvGrpSpPr/>
          <p:nvPr/>
        </p:nvGrpSpPr>
        <p:grpSpPr>
          <a:xfrm>
            <a:off x="4764013" y="1194282"/>
            <a:ext cx="804581" cy="804581"/>
            <a:chOff x="3685832" y="623962"/>
            <a:chExt cx="739840" cy="739840"/>
          </a:xfrm>
        </p:grpSpPr>
        <p:sp>
          <p:nvSpPr>
            <p:cNvPr id="44" name="椭圆 43"/>
            <p:cNvSpPr/>
            <p:nvPr/>
          </p:nvSpPr>
          <p:spPr>
            <a:xfrm>
              <a:off x="3685832" y="623962"/>
              <a:ext cx="739840" cy="739840"/>
            </a:xfrm>
            <a:prstGeom prst="ellipse">
              <a:avLst/>
            </a:prstGeom>
            <a:gradFill flip="none" rotWithShape="1">
              <a:gsLst>
                <a:gs pos="0">
                  <a:srgbClr val="FFFFFF">
                    <a:lumMod val="95000"/>
                    <a:lumOff val="5000"/>
                  </a:srgbClr>
                </a:gs>
                <a:gs pos="0">
                  <a:srgbClr val="FFFFFF">
                    <a:lumMod val="75000"/>
                  </a:srgbClr>
                </a:gs>
                <a:gs pos="70000">
                  <a:srgbClr val="FAFAFA"/>
                </a:gs>
              </a:gsLst>
              <a:lin ang="8100000" scaled="1"/>
              <a:tileRect/>
            </a:gradFill>
            <a:ln w="25400" cap="flat" cmpd="sng" algn="ctr">
              <a:solidFill>
                <a:srgbClr val="FFFFFF"/>
              </a:solidFill>
              <a:prstDash val="solid"/>
            </a:ln>
            <a:effectLst>
              <a:outerShdw blurRad="254000" dist="190500" dir="8100000" algn="tr" rotWithShape="0">
                <a:prstClr val="black">
                  <a:alpha val="15000"/>
                </a:prstClr>
              </a:outerShdw>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135" b="0" i="0" u="none" strike="noStrike" kern="0" cap="none" spc="0" normalizeH="0" baseline="0" noProof="0" dirty="0" smtClean="0">
                <a:ln>
                  <a:noFill/>
                </a:ln>
                <a:solidFill>
                  <a:srgbClr val="E93F30"/>
                </a:solidFill>
                <a:effectLst/>
                <a:uLnTx/>
                <a:uFillTx/>
                <a:latin typeface="Arial" panose="020B0604020202020204" pitchFamily="34" charset="0"/>
              </a:endParaRPr>
            </a:p>
          </p:txBody>
        </p:sp>
        <p:sp>
          <p:nvSpPr>
            <p:cNvPr id="45" name="TextBox 7"/>
            <p:cNvSpPr txBox="1"/>
            <p:nvPr/>
          </p:nvSpPr>
          <p:spPr>
            <a:xfrm>
              <a:off x="3786929" y="743838"/>
              <a:ext cx="537648" cy="500090"/>
            </a:xfrm>
            <a:prstGeom prst="rect">
              <a:avLst/>
            </a:prstGeom>
            <a:noFill/>
          </p:spPr>
          <p:txBody>
            <a:bodyPr wrap="none" rtlCol="0" anchor="ctr">
              <a:spAutoFit/>
            </a:bodyPr>
            <a:lstStyle/>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rPr>
                <a:t>01</a:t>
              </a:r>
              <a:endParaRPr kumimoji="0" lang="zh-CN" altLang="en-US"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endParaRPr>
            </a:p>
          </p:txBody>
        </p:sp>
      </p:grpSp>
      <p:grpSp>
        <p:nvGrpSpPr>
          <p:cNvPr id="46" name="组合 45"/>
          <p:cNvGrpSpPr/>
          <p:nvPr/>
        </p:nvGrpSpPr>
        <p:grpSpPr>
          <a:xfrm>
            <a:off x="4764013" y="2760859"/>
            <a:ext cx="804581" cy="804581"/>
            <a:chOff x="3685832" y="1673493"/>
            <a:chExt cx="739840" cy="739840"/>
          </a:xfrm>
        </p:grpSpPr>
        <p:sp>
          <p:nvSpPr>
            <p:cNvPr id="47" name="椭圆 46"/>
            <p:cNvSpPr/>
            <p:nvPr/>
          </p:nvSpPr>
          <p:spPr>
            <a:xfrm>
              <a:off x="3685832" y="1673493"/>
              <a:ext cx="739840" cy="739840"/>
            </a:xfrm>
            <a:prstGeom prst="ellipse">
              <a:avLst/>
            </a:prstGeom>
            <a:gradFill flip="none" rotWithShape="1">
              <a:gsLst>
                <a:gs pos="0">
                  <a:srgbClr val="FFFFFF">
                    <a:lumMod val="95000"/>
                    <a:lumOff val="5000"/>
                  </a:srgbClr>
                </a:gs>
                <a:gs pos="0">
                  <a:srgbClr val="FFFFFF">
                    <a:lumMod val="75000"/>
                  </a:srgbClr>
                </a:gs>
                <a:gs pos="70000">
                  <a:srgbClr val="FAFAFA"/>
                </a:gs>
              </a:gsLst>
              <a:lin ang="8100000" scaled="1"/>
              <a:tileRect/>
            </a:gradFill>
            <a:ln w="25400" cap="flat" cmpd="sng" algn="ctr">
              <a:solidFill>
                <a:srgbClr val="FFFFFF"/>
              </a:solidFill>
              <a:prstDash val="solid"/>
            </a:ln>
            <a:effectLst>
              <a:outerShdw blurRad="254000" dist="190500" dir="8100000" algn="tr" rotWithShape="0">
                <a:prstClr val="black">
                  <a:alpha val="15000"/>
                </a:prstClr>
              </a:outerShdw>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135" b="0" i="0" u="none" strike="noStrike" kern="0" cap="none" spc="0" normalizeH="0" baseline="0" noProof="0" dirty="0" smtClean="0">
                <a:ln>
                  <a:noFill/>
                </a:ln>
                <a:solidFill>
                  <a:srgbClr val="3574A0"/>
                </a:solidFill>
                <a:effectLst/>
                <a:uLnTx/>
                <a:uFillTx/>
                <a:latin typeface="Arial" panose="020B0604020202020204" pitchFamily="34" charset="0"/>
              </a:endParaRPr>
            </a:p>
          </p:txBody>
        </p:sp>
        <p:sp>
          <p:nvSpPr>
            <p:cNvPr id="48" name="TextBox 10"/>
            <p:cNvSpPr txBox="1"/>
            <p:nvPr/>
          </p:nvSpPr>
          <p:spPr>
            <a:xfrm>
              <a:off x="3786931" y="1793369"/>
              <a:ext cx="537648" cy="500090"/>
            </a:xfrm>
            <a:prstGeom prst="rect">
              <a:avLst/>
            </a:prstGeom>
            <a:noFill/>
          </p:spPr>
          <p:txBody>
            <a:bodyPr wrap="none" rtlCol="0" anchor="ctr">
              <a:spAutoFit/>
            </a:bodyPr>
            <a:lstStyle/>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rPr>
                <a:t>02</a:t>
              </a:r>
              <a:endParaRPr kumimoji="0" lang="zh-CN" altLang="en-US"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endParaRPr>
            </a:p>
          </p:txBody>
        </p:sp>
      </p:grpSp>
      <p:grpSp>
        <p:nvGrpSpPr>
          <p:cNvPr id="49" name="组合 48"/>
          <p:cNvGrpSpPr/>
          <p:nvPr/>
        </p:nvGrpSpPr>
        <p:grpSpPr>
          <a:xfrm>
            <a:off x="4764013" y="4327435"/>
            <a:ext cx="804581" cy="804581"/>
            <a:chOff x="3685832" y="2723024"/>
            <a:chExt cx="739840" cy="739840"/>
          </a:xfrm>
        </p:grpSpPr>
        <p:sp>
          <p:nvSpPr>
            <p:cNvPr id="50" name="椭圆 49"/>
            <p:cNvSpPr/>
            <p:nvPr/>
          </p:nvSpPr>
          <p:spPr>
            <a:xfrm>
              <a:off x="3685832" y="2723024"/>
              <a:ext cx="739840" cy="739840"/>
            </a:xfrm>
            <a:prstGeom prst="ellipse">
              <a:avLst/>
            </a:prstGeom>
            <a:gradFill flip="none" rotWithShape="1">
              <a:gsLst>
                <a:gs pos="0">
                  <a:srgbClr val="FFFFFF">
                    <a:lumMod val="95000"/>
                    <a:lumOff val="5000"/>
                  </a:srgbClr>
                </a:gs>
                <a:gs pos="0">
                  <a:srgbClr val="FFFFFF">
                    <a:lumMod val="75000"/>
                  </a:srgbClr>
                </a:gs>
                <a:gs pos="70000">
                  <a:srgbClr val="FAFAFA"/>
                </a:gs>
              </a:gsLst>
              <a:lin ang="8100000" scaled="1"/>
              <a:tileRect/>
            </a:gradFill>
            <a:ln w="19050" cap="flat" cmpd="sng" algn="ctr">
              <a:solidFill>
                <a:srgbClr val="FFFFFF"/>
              </a:solidFill>
              <a:prstDash val="solid"/>
            </a:ln>
            <a:effectLst>
              <a:outerShdw blurRad="254000" dist="190500" dir="8100000" algn="tr" rotWithShape="0">
                <a:prstClr val="black">
                  <a:alpha val="15000"/>
                </a:prstClr>
              </a:outerShdw>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135" b="0" i="0" u="none" strike="noStrike" kern="0" cap="none" spc="0" normalizeH="0" baseline="0" noProof="0" dirty="0" smtClean="0">
                <a:ln>
                  <a:noFill/>
                </a:ln>
                <a:solidFill>
                  <a:srgbClr val="3574A0"/>
                </a:solidFill>
                <a:effectLst/>
                <a:uLnTx/>
                <a:uFillTx/>
                <a:latin typeface="Arial" panose="020B0604020202020204" pitchFamily="34" charset="0"/>
              </a:endParaRPr>
            </a:p>
          </p:txBody>
        </p:sp>
        <p:sp>
          <p:nvSpPr>
            <p:cNvPr id="51" name="TextBox 13"/>
            <p:cNvSpPr txBox="1"/>
            <p:nvPr/>
          </p:nvSpPr>
          <p:spPr>
            <a:xfrm>
              <a:off x="3786929" y="2842900"/>
              <a:ext cx="537648" cy="500090"/>
            </a:xfrm>
            <a:prstGeom prst="rect">
              <a:avLst/>
            </a:prstGeom>
            <a:noFill/>
          </p:spPr>
          <p:txBody>
            <a:bodyPr wrap="none" rtlCol="0" anchor="ctr">
              <a:spAutoFit/>
            </a:bodyPr>
            <a:lstStyle/>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rPr>
                <a:t>03</a:t>
              </a:r>
              <a:endParaRPr kumimoji="0" lang="zh-CN" altLang="en-US"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endParaRPr>
            </a:p>
          </p:txBody>
        </p:sp>
      </p:grpSp>
      <p:sp>
        <p:nvSpPr>
          <p:cNvPr id="52" name="矩形 51">
            <a:hlinkClick r:id="rId2" action="ppaction://hlinksldjump"/>
          </p:cNvPr>
          <p:cNvSpPr/>
          <p:nvPr/>
        </p:nvSpPr>
        <p:spPr>
          <a:xfrm>
            <a:off x="5678538" y="1286748"/>
            <a:ext cx="2997835" cy="501650"/>
          </a:xfrm>
          <a:prstGeom prst="rect">
            <a:avLst/>
          </a:prstGeom>
        </p:spPr>
        <p:txBody>
          <a:bodyPr wrap="none">
            <a:spAutoFit/>
          </a:bodyPr>
          <a:lstStyle/>
          <a:p>
            <a:pPr defTabSz="1219200"/>
            <a:r>
              <a:rPr lang="zh-CN" altLang="en-US" sz="2665" b="1" dirty="0" smtClean="0">
                <a:solidFill>
                  <a:srgbClr val="4D4D4D"/>
                </a:solidFill>
                <a:latin typeface="方正姚体" panose="02010601030101010101" charset="-122"/>
                <a:ea typeface="方正姚体" panose="02010601030101010101" charset="-122"/>
                <a:cs typeface="方正姚体" panose="02010601030101010101" charset="-122"/>
              </a:rPr>
              <a:t>自主预习 新知导学</a:t>
            </a:r>
            <a:endParaRPr lang="zh-CN" altLang="en-US" sz="2665" b="1" dirty="0">
              <a:solidFill>
                <a:srgbClr val="4D4D4D"/>
              </a:solidFill>
              <a:latin typeface="方正姚体" panose="02010601030101010101" charset="-122"/>
              <a:ea typeface="方正姚体" panose="02010601030101010101" charset="-122"/>
              <a:cs typeface="方正姚体" panose="02010601030101010101" charset="-122"/>
            </a:endParaRPr>
          </a:p>
        </p:txBody>
      </p:sp>
      <p:sp>
        <p:nvSpPr>
          <p:cNvPr id="53" name="矩形 52">
            <a:hlinkClick r:id="rId3" action="ppaction://hlinksldjump"/>
          </p:cNvPr>
          <p:cNvSpPr/>
          <p:nvPr/>
        </p:nvSpPr>
        <p:spPr>
          <a:xfrm>
            <a:off x="5678538" y="2871606"/>
            <a:ext cx="2997835" cy="501650"/>
          </a:xfrm>
          <a:prstGeom prst="rect">
            <a:avLst/>
          </a:prstGeom>
        </p:spPr>
        <p:txBody>
          <a:bodyPr wrap="none">
            <a:spAutoFit/>
          </a:bodyPr>
          <a:lstStyle/>
          <a:p>
            <a:pPr defTabSz="1219200"/>
            <a:r>
              <a:rPr lang="zh-CN" altLang="en-US" sz="2665" b="1" dirty="0" smtClean="0">
                <a:solidFill>
                  <a:srgbClr val="4D4D4D"/>
                </a:solidFill>
                <a:latin typeface="方正姚体" panose="02010601030101010101" charset="-122"/>
                <a:ea typeface="方正姚体" panose="02010601030101010101" charset="-122"/>
                <a:cs typeface="方正姚体" panose="02010601030101010101" charset="-122"/>
              </a:rPr>
              <a:t>合作探究 释疑解惑</a:t>
            </a:r>
            <a:endParaRPr lang="zh-CN" altLang="en-US" sz="2665" b="1" dirty="0">
              <a:solidFill>
                <a:srgbClr val="4D4D4D"/>
              </a:solidFill>
              <a:latin typeface="方正姚体" panose="02010601030101010101" charset="-122"/>
              <a:ea typeface="方正姚体" panose="02010601030101010101" charset="-122"/>
              <a:cs typeface="方正姚体" panose="02010601030101010101" charset="-122"/>
            </a:endParaRPr>
          </a:p>
        </p:txBody>
      </p:sp>
      <p:sp>
        <p:nvSpPr>
          <p:cNvPr id="54" name="矩形 53">
            <a:hlinkClick r:id="rId4" action="ppaction://hlinksldjump"/>
          </p:cNvPr>
          <p:cNvSpPr/>
          <p:nvPr/>
        </p:nvSpPr>
        <p:spPr>
          <a:xfrm>
            <a:off x="5678538" y="4456463"/>
            <a:ext cx="1556836" cy="502445"/>
          </a:xfrm>
          <a:prstGeom prst="rect">
            <a:avLst/>
          </a:prstGeom>
        </p:spPr>
        <p:txBody>
          <a:bodyPr wrap="none">
            <a:spAutoFit/>
          </a:bodyPr>
          <a:lstStyle/>
          <a:p>
            <a:pPr defTabSz="1219200"/>
            <a:r>
              <a:rPr lang="zh-CN" altLang="en-US" sz="2665" b="1" dirty="0" smtClean="0">
                <a:solidFill>
                  <a:srgbClr val="4D4D4D"/>
                </a:solidFill>
                <a:latin typeface="方正姚体" panose="02010601030101010101" charset="-122"/>
                <a:ea typeface="方正姚体" panose="02010601030101010101" charset="-122"/>
                <a:cs typeface="方正姚体" panose="02010601030101010101" charset="-122"/>
              </a:rPr>
              <a:t>随堂练习</a:t>
            </a:r>
            <a:endParaRPr lang="zh-CN" altLang="en-US" sz="2665" b="1" dirty="0">
              <a:solidFill>
                <a:srgbClr val="4D4D4D"/>
              </a:solidFill>
              <a:latin typeface="方正姚体" panose="02010601030101010101" charset="-122"/>
              <a:ea typeface="方正姚体" panose="02010601030101010101" charset="-122"/>
              <a:cs typeface="方正姚体" panose="02010601030101010101" charset="-12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17500" y="701716"/>
            <a:ext cx="11557000" cy="5689151"/>
          </a:xfrm>
          <a:prstGeom prst="rect">
            <a:avLst/>
          </a:prstGeom>
          <a:noFill/>
          <a:ln w="19050">
            <a:gradFill>
              <a:gsLst>
                <a:gs pos="100000">
                  <a:schemeClr val="accent1">
                    <a:lumMod val="5000"/>
                    <a:lumOff val="95000"/>
                  </a:schemeClr>
                </a:gs>
                <a:gs pos="57000">
                  <a:schemeClr val="tx1">
                    <a:lumMod val="50000"/>
                    <a:lumOff val="50000"/>
                  </a:schemeClr>
                </a:gs>
                <a:gs pos="29000">
                  <a:schemeClr val="tx1"/>
                </a:gs>
                <a:gs pos="100000">
                  <a:schemeClr val="bg1"/>
                </a:gs>
              </a:gsLst>
              <a:lin ang="5400000" scaled="1"/>
            </a:gra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sp>
        <p:nvSpPr>
          <p:cNvPr id="9" name="文本框 8"/>
          <p:cNvSpPr txBox="1"/>
          <p:nvPr>
            <p:custDataLst>
              <p:tags r:id="rId1"/>
            </p:custDataLst>
          </p:nvPr>
        </p:nvSpPr>
        <p:spPr>
          <a:xfrm>
            <a:off x="4766695" y="446122"/>
            <a:ext cx="3253105" cy="490640"/>
          </a:xfrm>
          <a:prstGeom prst="roundRect">
            <a:avLst>
              <a:gd name="adj" fmla="val 50000"/>
            </a:avLst>
          </a:prstGeom>
          <a:solidFill>
            <a:schemeClr val="bg2">
              <a:lumMod val="50000"/>
            </a:schemeClr>
          </a:solidFill>
        </p:spPr>
        <p:txBody>
          <a:bodyPr wrap="square" lIns="0" tIns="0" rIns="0" bIns="0" rtlCol="0" anchor="ctr" anchorCtr="0">
            <a:noAutofit/>
          </a:bodyPr>
          <a:lstStyle/>
          <a:p>
            <a:pPr lvl="0" algn="ctr" fontAlgn="base">
              <a:spcBef>
                <a:spcPct val="0"/>
              </a:spcBef>
              <a:spcAft>
                <a:spcPct val="0"/>
              </a:spcAft>
              <a:defRPr/>
            </a:pPr>
            <a:r>
              <a:rPr lang="zh-CN" altLang="en-US" sz="2800" kern="0" dirty="0">
                <a:solidFill>
                  <a:srgbClr val="FFFFFF"/>
                </a:solidFill>
                <a:latin typeface="Arial" panose="020B0604020202020204" pitchFamily="34" charset="0"/>
                <a:ea typeface="微软雅黑" panose="020B0503020204020204" pitchFamily="34" charset="-122"/>
                <a:sym typeface="Arial" panose="020B0604020202020204" pitchFamily="34" charset="0"/>
              </a:rPr>
              <a:t>课标定</a:t>
            </a:r>
            <a:r>
              <a:rPr lang="zh-CN" altLang="en-US" sz="2800" kern="0" dirty="0" smtClean="0">
                <a:solidFill>
                  <a:srgbClr val="FFFFFF"/>
                </a:solidFill>
                <a:latin typeface="Arial" panose="020B0604020202020204" pitchFamily="34" charset="0"/>
                <a:ea typeface="微软雅黑" panose="020B0503020204020204" pitchFamily="34" charset="-122"/>
                <a:sym typeface="Arial" panose="020B0604020202020204" pitchFamily="34" charset="0"/>
              </a:rPr>
              <a:t>位素养</a:t>
            </a:r>
            <a:r>
              <a:rPr lang="zh-CN" altLang="en-US" sz="2800" kern="0" dirty="0">
                <a:solidFill>
                  <a:srgbClr val="FFFFFF"/>
                </a:solidFill>
                <a:latin typeface="Arial" panose="020B0604020202020204" pitchFamily="34" charset="0"/>
                <a:ea typeface="微软雅黑" panose="020B0503020204020204" pitchFamily="34" charset="-122"/>
                <a:sym typeface="Arial" panose="020B0604020202020204" pitchFamily="34" charset="0"/>
              </a:rPr>
              <a:t>阐释</a:t>
            </a:r>
          </a:p>
        </p:txBody>
      </p:sp>
      <p:sp>
        <p:nvSpPr>
          <p:cNvPr id="3" name="矩形 2"/>
          <p:cNvSpPr>
            <a:spLocks noChangeAspect="1"/>
          </p:cNvSpPr>
          <p:nvPr/>
        </p:nvSpPr>
        <p:spPr>
          <a:xfrm>
            <a:off x="381000" y="2479155"/>
            <a:ext cx="11430000" cy="1720536"/>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能够利用两个计数原理解决一些简单的实际问题</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pPr>
            <a:r>
              <a:rPr lang="en-US" altLang="zh-CN" sz="2800">
                <a:solidFill>
                  <a:srgbClr val="000000"/>
                </a:solidFill>
                <a:latin typeface="Times New Roman" panose="02020603050405020304" pitchFamily="18" charset="0"/>
              </a:rPr>
              <a:t>2</a:t>
            </a:r>
            <a:r>
              <a:rPr lang="en-US" altLang="zh-CN" sz="2800" i="1">
                <a:solidFill>
                  <a:srgbClr val="000000"/>
                </a:solidFill>
                <a:latin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通过运用两个计数原理解决问题的训练</a:t>
            </a:r>
            <a:r>
              <a:rPr lang="en-US" altLang="zh-CN" sz="2800">
                <a:solidFill>
                  <a:srgbClr val="000000"/>
                </a:solidFill>
                <a:latin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提升数学运算、数学抽象以及数学建模等核心素养</a:t>
            </a:r>
            <a:r>
              <a:rPr lang="en-US" altLang="zh-CN" sz="2800">
                <a:solidFill>
                  <a:srgbClr val="000000"/>
                </a:solidFill>
                <a:latin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培养分析问题、解决问题的能力</a:t>
            </a:r>
            <a:r>
              <a:rPr lang="en-US" altLang="zh-CN" sz="2800" i="1">
                <a:solidFill>
                  <a:srgbClr val="000000"/>
                </a:solidFill>
                <a:latin typeface="Times New Roman" panose="02020603050405020304" pitchFamily="18" charset="0"/>
              </a:rPr>
              <a:t>.</a:t>
            </a:r>
            <a:endParaRPr lang="zh-CN" altLang="en-US" sz="280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2180083" y="2636520"/>
            <a:ext cx="1105802" cy="815646"/>
            <a:chOff x="-1604504" y="2147667"/>
            <a:chExt cx="3687215" cy="2719712"/>
          </a:xfrm>
        </p:grpSpPr>
        <p:cxnSp>
          <p:nvCxnSpPr>
            <p:cNvPr id="7" name="直接连接符 6"/>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8" name="直接连接符 7"/>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9" name="组合 8"/>
          <p:cNvGrpSpPr/>
          <p:nvPr/>
        </p:nvGrpSpPr>
        <p:grpSpPr>
          <a:xfrm flipH="1" flipV="1">
            <a:off x="8735898" y="2665586"/>
            <a:ext cx="1105803" cy="815646"/>
            <a:chOff x="-1604504" y="2147667"/>
            <a:chExt cx="3687215" cy="2719712"/>
          </a:xfrm>
        </p:grpSpPr>
        <p:cxnSp>
          <p:nvCxnSpPr>
            <p:cNvPr id="10" name="直接连接符 9"/>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11" name="直接连接符 10"/>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sp>
        <p:nvSpPr>
          <p:cNvPr id="12" name="文本框 11"/>
          <p:cNvSpPr txBox="1"/>
          <p:nvPr/>
        </p:nvSpPr>
        <p:spPr>
          <a:xfrm>
            <a:off x="2969260" y="2585720"/>
            <a:ext cx="6252845" cy="922020"/>
          </a:xfrm>
          <a:prstGeom prst="rect">
            <a:avLst/>
          </a:prstGeom>
          <a:noFill/>
        </p:spPr>
        <p:txBody>
          <a:bodyPr wrap="square" rtlCol="0">
            <a:spAutoFit/>
          </a:bodyPr>
          <a:lstStyle/>
          <a:p>
            <a:r>
              <a:rPr lang="zh-CN" altLang="en-US" sz="5400" b="1" dirty="0" smtClean="0">
                <a:solidFill>
                  <a:srgbClr val="4D4D4D"/>
                </a:solidFill>
                <a:latin typeface="方正姚体" panose="02010601030101010101" charset="-122"/>
                <a:ea typeface="方正姚体" panose="02010601030101010101" charset="-122"/>
                <a:cs typeface="方正姚体" panose="02010601030101010101" charset="-122"/>
                <a:sym typeface="+mn-ea"/>
              </a:rPr>
              <a:t>自主预习 新知导学</a:t>
            </a:r>
            <a:endParaRPr lang="zh-CN" altLang="en-US" sz="5400" b="1" dirty="0">
              <a:solidFill>
                <a:srgbClr val="4D4D4D"/>
              </a:solidFill>
              <a:latin typeface="方正姚体" panose="02010601030101010101" charset="-122"/>
              <a:ea typeface="方正姚体" panose="02010601030101010101" charset="-122"/>
              <a:cs typeface="方正姚体" panose="02010601030101010101" charset="-122"/>
              <a:sym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708412"/>
            <a:ext cx="11430000" cy="121264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NEU-BZ-S92"/>
                <a:ea typeface="方正正中黑简体"/>
                <a:cs typeface="Times New Roman" panose="02020603050405020304" pitchFamily="18" charset="0"/>
              </a:rPr>
              <a:t>两个计数原理的综合应用</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b="1" smtClean="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分类加法计数原理与分步乘法计数原理的区别与联系</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表格 2"/>
          <p:cNvGraphicFramePr>
            <a:graphicFrameLocks noGrp="1" noChangeAspect="1"/>
          </p:cNvGraphicFramePr>
          <p:nvPr>
            <p:extLst>
              <p:ext uri="{D42A27DB-BD31-4B8C-83A1-F6EECF244321}">
                <p14:modId xmlns:p14="http://schemas.microsoft.com/office/powerpoint/2010/main" val="2573266162"/>
              </p:ext>
            </p:extLst>
          </p:nvPr>
        </p:nvGraphicFramePr>
        <p:xfrm>
          <a:off x="381000" y="1921052"/>
          <a:ext cx="11430000" cy="4101084"/>
        </p:xfrm>
        <a:graphic>
          <a:graphicData uri="http://schemas.openxmlformats.org/drawingml/2006/table">
            <a:tbl>
              <a:tblPr firstRow="1" firstCol="1" bandRow="1"/>
              <a:tblGrid>
                <a:gridCol w="1170398"/>
                <a:gridCol w="4541177"/>
                <a:gridCol w="5718425"/>
              </a:tblGrid>
              <a:tr h="0">
                <a:tc>
                  <a:txBody>
                    <a:bodyPr/>
                    <a:lstStyle/>
                    <a:p>
                      <a:pPr>
                        <a:lnSpc>
                          <a:spcPct val="115000"/>
                        </a:lnSpc>
                        <a:spcAft>
                          <a:spcPts val="0"/>
                        </a:spcAft>
                        <a:tabLst>
                          <a:tab pos="1188085" algn="l"/>
                          <a:tab pos="2163445" algn="l"/>
                          <a:tab pos="3142615" algn="l"/>
                          <a:tab pos="4190365" algn="l"/>
                        </a:tabLst>
                      </a:pPr>
                      <a:r>
                        <a:rPr lang="zh-CN" sz="26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内容</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tabLst>
                          <a:tab pos="1188085" algn="l"/>
                          <a:tab pos="2163445" algn="l"/>
                          <a:tab pos="3142615" algn="l"/>
                          <a:tab pos="4190365" algn="l"/>
                        </a:tabLst>
                      </a:pPr>
                      <a:r>
                        <a:rPr lang="zh-CN"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分类加法计数原理</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tabLst>
                          <a:tab pos="1188085" algn="l"/>
                          <a:tab pos="2163445" algn="l"/>
                          <a:tab pos="3142615" algn="l"/>
                          <a:tab pos="4190365" algn="l"/>
                        </a:tabLst>
                      </a:pPr>
                      <a:r>
                        <a:rPr lang="zh-CN"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分步乘法计数原理</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nSpc>
                          <a:spcPct val="115000"/>
                        </a:lnSpc>
                        <a:spcAft>
                          <a:spcPts val="0"/>
                        </a:spcAft>
                        <a:tabLst>
                          <a:tab pos="1188085" algn="l"/>
                          <a:tab pos="2163445" algn="l"/>
                          <a:tab pos="3142615" algn="l"/>
                          <a:tab pos="4190365" algn="l"/>
                        </a:tabLst>
                      </a:pPr>
                      <a:r>
                        <a:rPr lang="zh-CN" sz="26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关键词</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tabLst>
                          <a:tab pos="1188085" algn="l"/>
                          <a:tab pos="2163445" algn="l"/>
                          <a:tab pos="3142615" algn="l"/>
                          <a:tab pos="4190365" algn="l"/>
                        </a:tabLst>
                      </a:pPr>
                      <a:r>
                        <a:rPr lang="zh-CN"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分类</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tabLst>
                          <a:tab pos="1188085" algn="l"/>
                          <a:tab pos="2163445" algn="l"/>
                          <a:tab pos="3142615" algn="l"/>
                          <a:tab pos="4190365" algn="l"/>
                        </a:tabLst>
                      </a:pPr>
                      <a:r>
                        <a:rPr lang="zh-CN"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分步</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nSpc>
                          <a:spcPct val="115000"/>
                        </a:lnSpc>
                        <a:spcAft>
                          <a:spcPts val="0"/>
                        </a:spcAft>
                        <a:tabLst>
                          <a:tab pos="1188085" algn="l"/>
                          <a:tab pos="2163445" algn="l"/>
                          <a:tab pos="3142615" algn="l"/>
                          <a:tab pos="4190365" algn="l"/>
                        </a:tabLst>
                      </a:pPr>
                      <a:r>
                        <a:rPr lang="zh-CN" sz="26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本质</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tabLst>
                          <a:tab pos="1188085" algn="l"/>
                          <a:tab pos="2163445" algn="l"/>
                          <a:tab pos="3142615" algn="l"/>
                          <a:tab pos="4190365" algn="l"/>
                        </a:tabLst>
                      </a:pPr>
                      <a:r>
                        <a:rPr lang="zh-CN"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每类方法都能独立地完成这件事</a:t>
                      </a:r>
                      <a:r>
                        <a:rPr lang="en-US"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它是独立的、一次性的且每次得到的是最后结果</a:t>
                      </a:r>
                      <a:r>
                        <a:rPr lang="en-US"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用其中任何一种方法都可以做完这件事</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66675" marR="666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tabLst>
                          <a:tab pos="1188085" algn="l"/>
                          <a:tab pos="2163445" algn="l"/>
                          <a:tab pos="3142615" algn="l"/>
                          <a:tab pos="4190365" algn="l"/>
                        </a:tabLst>
                      </a:pPr>
                      <a:r>
                        <a:rPr lang="zh-CN"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任何一步都不能独立完成这件事</a:t>
                      </a:r>
                      <a:r>
                        <a:rPr lang="en-US"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各个步骤中的方法互相依存</a:t>
                      </a:r>
                      <a:r>
                        <a:rPr lang="en-US"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缺少任何一步也不能完成这件事</a:t>
                      </a:r>
                      <a:r>
                        <a:rPr lang="en-US"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只有每一个步骤都完成才算做完这件事</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66675" marR="66675"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nSpc>
                          <a:spcPct val="115000"/>
                        </a:lnSpc>
                        <a:spcAft>
                          <a:spcPts val="0"/>
                        </a:spcAft>
                        <a:tabLst>
                          <a:tab pos="1188085" algn="l"/>
                          <a:tab pos="2163445" algn="l"/>
                          <a:tab pos="3142615" algn="l"/>
                          <a:tab pos="4190365" algn="l"/>
                        </a:tabLst>
                      </a:pPr>
                      <a:r>
                        <a:rPr lang="zh-CN" sz="26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各类</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15000"/>
                        </a:lnSpc>
                        <a:spcAft>
                          <a:spcPts val="0"/>
                        </a:spcAft>
                        <a:tabLst>
                          <a:tab pos="1188085" algn="l"/>
                          <a:tab pos="2163445" algn="l"/>
                          <a:tab pos="3142615" algn="l"/>
                          <a:tab pos="4190365" algn="l"/>
                        </a:tabLst>
                      </a:pPr>
                      <a:r>
                        <a:rPr lang="en-US"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sz="26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步</a:t>
                      </a:r>
                      <a:r>
                        <a:rPr lang="en-US"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sz="26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的</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15000"/>
                        </a:lnSpc>
                        <a:spcAft>
                          <a:spcPts val="0"/>
                        </a:spcAft>
                        <a:tabLst>
                          <a:tab pos="1188085" algn="l"/>
                          <a:tab pos="2163445" algn="l"/>
                          <a:tab pos="3142615" algn="l"/>
                          <a:tab pos="4190365" algn="l"/>
                        </a:tabLst>
                      </a:pPr>
                      <a:r>
                        <a:rPr lang="zh-CN" sz="26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关系</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nSpc>
                          <a:spcPct val="115000"/>
                        </a:lnSpc>
                        <a:spcAft>
                          <a:spcPts val="0"/>
                        </a:spcAft>
                        <a:tabLst>
                          <a:tab pos="1188085" algn="l"/>
                          <a:tab pos="2163445" algn="l"/>
                          <a:tab pos="3142615" algn="l"/>
                          <a:tab pos="4190365" algn="l"/>
                        </a:tabLst>
                      </a:pPr>
                      <a:r>
                        <a:rPr lang="zh-CN"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各类方法之间是互斥的、并列的、独立的</a:t>
                      </a:r>
                      <a:r>
                        <a:rPr lang="en-US"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即</a:t>
                      </a:r>
                      <a:r>
                        <a:rPr lang="en-US"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分类互斥</a:t>
                      </a:r>
                      <a:r>
                        <a:rPr lang="en-US"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66675" marR="666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nSpc>
                          <a:spcPct val="115000"/>
                        </a:lnSpc>
                        <a:spcAft>
                          <a:spcPts val="0"/>
                        </a:spcAft>
                        <a:tabLst>
                          <a:tab pos="1188085" algn="l"/>
                          <a:tab pos="2163445" algn="l"/>
                          <a:tab pos="3142615" algn="l"/>
                          <a:tab pos="4190365" algn="l"/>
                        </a:tabLst>
                      </a:pPr>
                      <a:r>
                        <a:rPr lang="zh-CN"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各步之间是关联的、独立的</a:t>
                      </a:r>
                      <a:r>
                        <a:rPr lang="en-US"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关联</a:t>
                      </a:r>
                      <a:r>
                        <a:rPr lang="en-US"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确保连续性</a:t>
                      </a:r>
                      <a:r>
                        <a:rPr lang="en-US"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独立</a:t>
                      </a:r>
                      <a:r>
                        <a:rPr lang="en-US"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确保不重复</a:t>
                      </a:r>
                      <a:r>
                        <a:rPr lang="en-US"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即</a:t>
                      </a:r>
                      <a:r>
                        <a:rPr lang="en-US"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分步互依</a:t>
                      </a:r>
                      <a:r>
                        <a:rPr lang="en-US"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66675" marR="66675"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30935028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818326"/>
            <a:ext cx="11430000" cy="4013406"/>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某学生在书店对</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cs typeface="Times New Roman" panose="02020603050405020304" pitchFamily="18" charset="0"/>
              </a:rPr>
              <a:t>本不同的书感兴趣</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决定至少买其中的</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本</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则不同的购买方法有</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i="1">
                <a:solidFill>
                  <a:srgbClr val="000000"/>
                </a:solidFill>
                <a:latin typeface="Times New Roman" panose="02020603050405020304" pitchFamily="18" charset="0"/>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A.3</a:t>
            </a:r>
            <a:r>
              <a:rPr lang="zh-CN" altLang="zh-CN" sz="2800">
                <a:solidFill>
                  <a:srgbClr val="000000"/>
                </a:solidFill>
                <a:latin typeface="Times New Roman" panose="02020603050405020304" pitchFamily="18" charset="0"/>
                <a:cs typeface="Times New Roman" panose="02020603050405020304" pitchFamily="18" charset="0"/>
              </a:rPr>
              <a:t>种</a:t>
            </a:r>
            <a:r>
              <a:rPr lang="en-US" altLang="zh-CN" sz="2800">
                <a:solidFill>
                  <a:srgbClr val="000000"/>
                </a:solidFill>
                <a:latin typeface="Times New Roman" panose="02020603050405020304" pitchFamily="18" charset="0"/>
                <a:cs typeface="Times New Roman" panose="02020603050405020304" pitchFamily="18" charset="0"/>
              </a:rPr>
              <a:t>	B.6</a:t>
            </a:r>
            <a:r>
              <a:rPr lang="zh-CN" altLang="zh-CN" sz="2800">
                <a:solidFill>
                  <a:srgbClr val="000000"/>
                </a:solidFill>
                <a:latin typeface="Times New Roman" panose="02020603050405020304" pitchFamily="18" charset="0"/>
                <a:cs typeface="Times New Roman" panose="02020603050405020304" pitchFamily="18" charset="0"/>
              </a:rPr>
              <a:t>种</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C.7</a:t>
            </a:r>
            <a:r>
              <a:rPr lang="zh-CN" altLang="zh-CN" sz="2800">
                <a:solidFill>
                  <a:srgbClr val="000000"/>
                </a:solidFill>
                <a:latin typeface="Times New Roman" panose="02020603050405020304" pitchFamily="18" charset="0"/>
                <a:cs typeface="Times New Roman" panose="02020603050405020304" pitchFamily="18" charset="0"/>
              </a:rPr>
              <a:t>种</a:t>
            </a:r>
            <a:r>
              <a:rPr lang="en-US" altLang="zh-CN" sz="2800">
                <a:solidFill>
                  <a:srgbClr val="000000"/>
                </a:solidFill>
                <a:latin typeface="Times New Roman" panose="02020603050405020304" pitchFamily="18" charset="0"/>
                <a:cs typeface="Times New Roman" panose="02020603050405020304" pitchFamily="18" charset="0"/>
              </a:rPr>
              <a:t>	D.9</a:t>
            </a:r>
            <a:r>
              <a:rPr lang="zh-CN" altLang="zh-CN" sz="2800">
                <a:solidFill>
                  <a:srgbClr val="000000"/>
                </a:solidFill>
                <a:latin typeface="Times New Roman" panose="02020603050405020304" pitchFamily="18" charset="0"/>
                <a:cs typeface="Times New Roman" panose="02020603050405020304" pitchFamily="18" charset="0"/>
              </a:rPr>
              <a:t>种</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在</a:t>
            </a:r>
            <a:r>
              <a:rPr lang="en-US" altLang="zh-CN" sz="2800">
                <a:solidFill>
                  <a:srgbClr val="000000"/>
                </a:solidFill>
                <a:latin typeface="Times New Roman" panose="02020603050405020304" pitchFamily="18" charset="0"/>
                <a:cs typeface="Times New Roman" panose="02020603050405020304" pitchFamily="18" charset="0"/>
              </a:rPr>
              <a:t>1,2,3,4</a:t>
            </a:r>
            <a:r>
              <a:rPr lang="zh-CN" altLang="zh-CN" sz="2800">
                <a:solidFill>
                  <a:srgbClr val="000000"/>
                </a:solidFill>
                <a:latin typeface="Times New Roman" panose="02020603050405020304" pitchFamily="18" charset="0"/>
                <a:cs typeface="Times New Roman" panose="02020603050405020304" pitchFamily="18" charset="0"/>
              </a:rPr>
              <a:t>这四个数中任取数</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不重复取</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作和</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则得到的不同的和共有</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i="1">
                <a:solidFill>
                  <a:srgbClr val="000000"/>
                </a:solidFill>
                <a:latin typeface="Times New Roman" panose="02020603050405020304" pitchFamily="18" charset="0"/>
                <a:cs typeface="Times New Roman" panose="02020603050405020304" pitchFamily="18" charset="0"/>
              </a:rPr>
              <a:t>　</a:t>
            </a:r>
            <a:r>
              <a:rPr lang="en-US" altLang="zh-CN" sz="2800" smtClean="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A.8</a:t>
            </a:r>
            <a:r>
              <a:rPr lang="zh-CN" altLang="zh-CN" sz="2800">
                <a:solidFill>
                  <a:srgbClr val="000000"/>
                </a:solidFill>
                <a:latin typeface="Times New Roman" panose="02020603050405020304" pitchFamily="18" charset="0"/>
                <a:cs typeface="Times New Roman" panose="02020603050405020304" pitchFamily="18" charset="0"/>
              </a:rPr>
              <a:t>个</a:t>
            </a:r>
            <a:r>
              <a:rPr lang="en-US" altLang="zh-CN" sz="2800">
                <a:solidFill>
                  <a:srgbClr val="000000"/>
                </a:solidFill>
                <a:latin typeface="Times New Roman" panose="02020603050405020304" pitchFamily="18" charset="0"/>
                <a:cs typeface="Times New Roman" panose="02020603050405020304" pitchFamily="18" charset="0"/>
              </a:rPr>
              <a:t>	B.9</a:t>
            </a:r>
            <a:r>
              <a:rPr lang="zh-CN" altLang="zh-CN" sz="2800">
                <a:solidFill>
                  <a:srgbClr val="000000"/>
                </a:solidFill>
                <a:latin typeface="Times New Roman" panose="02020603050405020304" pitchFamily="18" charset="0"/>
                <a:cs typeface="Times New Roman" panose="02020603050405020304" pitchFamily="18" charset="0"/>
              </a:rPr>
              <a:t>个</a:t>
            </a:r>
            <a:r>
              <a:rPr lang="en-US" altLang="zh-CN" sz="2800">
                <a:solidFill>
                  <a:srgbClr val="000000"/>
                </a:solidFill>
                <a:latin typeface="Times New Roman" panose="02020603050405020304" pitchFamily="18" charset="0"/>
                <a:cs typeface="Times New Roman" panose="02020603050405020304" pitchFamily="18" charset="0"/>
              </a:rPr>
              <a:t>	</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C.10</a:t>
            </a:r>
            <a:r>
              <a:rPr lang="zh-CN" altLang="zh-CN" sz="2800">
                <a:solidFill>
                  <a:srgbClr val="000000"/>
                </a:solidFill>
                <a:latin typeface="Times New Roman" panose="02020603050405020304" pitchFamily="18" charset="0"/>
                <a:cs typeface="Times New Roman" panose="02020603050405020304" pitchFamily="18" charset="0"/>
              </a:rPr>
              <a:t>个</a:t>
            </a:r>
            <a:r>
              <a:rPr lang="en-US" altLang="zh-CN" sz="2800">
                <a:solidFill>
                  <a:srgbClr val="000000"/>
                </a:solidFill>
                <a:latin typeface="Times New Roman" panose="02020603050405020304" pitchFamily="18" charset="0"/>
                <a:cs typeface="Times New Roman" panose="02020603050405020304" pitchFamily="18" charset="0"/>
              </a:rPr>
              <a:t>	D.5</a:t>
            </a:r>
            <a:r>
              <a:rPr lang="zh-CN" altLang="zh-CN" sz="2800">
                <a:solidFill>
                  <a:srgbClr val="000000"/>
                </a:solidFill>
                <a:latin typeface="Times New Roman" panose="02020603050405020304" pitchFamily="18" charset="0"/>
                <a:cs typeface="Times New Roman" panose="02020603050405020304" pitchFamily="18" charset="0"/>
              </a:rPr>
              <a:t>个</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91101650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81000" y="1047032"/>
            <a:ext cx="11430000" cy="395313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解析</a:t>
            </a:r>
            <a:r>
              <a:rPr lang="en-US"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分</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类</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买</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本书</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买</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本书</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买</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本书</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各类的方法依次为</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故不同的购买方法有</a:t>
            </a:r>
            <a:r>
              <a:rPr lang="en-US" altLang="zh-CN" sz="2800">
                <a:solidFill>
                  <a:srgbClr val="000000"/>
                </a:solidFill>
                <a:latin typeface="Times New Roman" panose="02020603050405020304" pitchFamily="18" charset="0"/>
                <a:cs typeface="Times New Roman" panose="02020603050405020304" pitchFamily="18" charset="0"/>
              </a:rPr>
              <a:t>3</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3</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7</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故选</a:t>
            </a:r>
            <a:r>
              <a:rPr lang="en-US" altLang="zh-CN" sz="2800">
                <a:solidFill>
                  <a:srgbClr val="000000"/>
                </a:solidFill>
                <a:latin typeface="Times New Roman" panose="02020603050405020304" pitchFamily="18" charset="0"/>
                <a:cs typeface="Times New Roman" panose="02020603050405020304" pitchFamily="18" charset="0"/>
              </a:rPr>
              <a:t>C</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第</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类</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两个数的和是</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3,1</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3</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4,1</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4</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5,2</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3</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5,2</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4</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6,3</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4</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7;</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第</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类</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三个数的和是</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3</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6,1</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4</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7,1</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3</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4</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8,2</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3</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4</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9;</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第</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类</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四个数的和是</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3</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4</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10,</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故得到不同的和为</a:t>
            </a:r>
            <a:r>
              <a:rPr lang="en-US" altLang="zh-CN" sz="2800">
                <a:solidFill>
                  <a:srgbClr val="000000"/>
                </a:solidFill>
                <a:latin typeface="Times New Roman" panose="02020603050405020304" pitchFamily="18" charset="0"/>
                <a:cs typeface="Times New Roman" panose="02020603050405020304" pitchFamily="18" charset="0"/>
              </a:rPr>
              <a:t>3,4,5,6,7,8,9,10,</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共有</a:t>
            </a:r>
            <a:r>
              <a:rPr lang="en-US" altLang="zh-CN" sz="2800">
                <a:solidFill>
                  <a:srgbClr val="000000"/>
                </a:solidFill>
                <a:latin typeface="Times New Roman" panose="02020603050405020304" pitchFamily="18" charset="0"/>
                <a:cs typeface="Times New Roman" panose="02020603050405020304" pitchFamily="18" charset="0"/>
              </a:rPr>
              <a:t>8</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个</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故选</a:t>
            </a:r>
            <a:r>
              <a:rPr lang="en-US" altLang="zh-CN" sz="2800">
                <a:solidFill>
                  <a:srgbClr val="000000"/>
                </a:solidFill>
                <a:latin typeface="Times New Roman" panose="02020603050405020304" pitchFamily="18" charset="0"/>
                <a:cs typeface="Times New Roman" panose="02020603050405020304" pitchFamily="18" charset="0"/>
              </a:rPr>
              <a:t>A</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答案</a:t>
            </a:r>
            <a:r>
              <a:rPr lang="en-US"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(1)C</a:t>
            </a:r>
            <a:r>
              <a:rPr lang="zh-CN" altLang="zh-CN" sz="2800" i="1">
                <a:solidFill>
                  <a:srgbClr val="000000"/>
                </a:solidFill>
                <a:latin typeface="Times New Roman" panose="02020603050405020304" pitchFamily="18" charset="0"/>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(2)A</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24768019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randombar(horizontal)">
                                      <p:cBhvr>
                                        <p:cTn id="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003261"/>
            <a:ext cx="11430000" cy="4513287"/>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rPr>
              <a:t>【思考辨析】</a:t>
            </a:r>
            <a:r>
              <a:rPr lang="zh-CN" altLang="zh-CN" sz="2800">
                <a:solidFill>
                  <a:srgbClr val="000000"/>
                </a:solidFill>
                <a:latin typeface="NEU-BZ-S92"/>
                <a:ea typeface="Arial" panose="020B0604020202020204" pitchFamily="34" charset="0"/>
                <a:cs typeface="Times New Roman" panose="02020603050405020304" pitchFamily="18" charset="0"/>
              </a:rPr>
              <a:t> </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cs typeface="Times New Roman" panose="02020603050405020304" pitchFamily="18" charset="0"/>
              </a:rPr>
              <a:t>判断下列说法是否正确</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正确的在后面的括号内画</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Cambria Math" panose="02040503050406030204" pitchFamily="18" charset="0"/>
                <a:ea typeface="NEU-BZ-S9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错误的画</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如果完成一件事情有</a:t>
            </a:r>
            <a:r>
              <a:rPr lang="en-US" altLang="zh-CN" sz="2800" i="1">
                <a:solidFill>
                  <a:srgbClr val="000000"/>
                </a:solidFill>
                <a:latin typeface="Times New Roman" panose="02020603050405020304" pitchFamily="18" charset="0"/>
                <a:cs typeface="Times New Roman" panose="02020603050405020304" pitchFamily="18" charset="0"/>
              </a:rPr>
              <a:t>n</a:t>
            </a:r>
            <a:r>
              <a:rPr lang="zh-CN" altLang="zh-CN" sz="2800">
                <a:solidFill>
                  <a:srgbClr val="000000"/>
                </a:solidFill>
                <a:latin typeface="Times New Roman" panose="02020603050405020304" pitchFamily="18" charset="0"/>
                <a:cs typeface="Times New Roman" panose="02020603050405020304" pitchFamily="18" charset="0"/>
              </a:rPr>
              <a:t>类不同的办法</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在每一类中都有若干种不同的方法</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那么完成这件事所有的方法为</a:t>
            </a:r>
            <a:r>
              <a:rPr lang="en-US" altLang="zh-CN" sz="2800" i="1">
                <a:solidFill>
                  <a:srgbClr val="000000"/>
                </a:solidFill>
                <a:latin typeface="Times New Roman" panose="02020603050405020304" pitchFamily="18" charset="0"/>
                <a:cs typeface="Times New Roman" panose="02020603050405020304" pitchFamily="18" charset="0"/>
              </a:rPr>
              <a:t>n</a:t>
            </a:r>
            <a:r>
              <a:rPr lang="zh-CN" altLang="zh-CN" sz="2800">
                <a:solidFill>
                  <a:srgbClr val="000000"/>
                </a:solidFill>
                <a:latin typeface="Times New Roman" panose="02020603050405020304" pitchFamily="18" charset="0"/>
                <a:cs typeface="Times New Roman" panose="02020603050405020304" pitchFamily="18" charset="0"/>
              </a:rPr>
              <a:t>类所有方法的和</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a:solidFill>
                  <a:srgbClr val="FF0000"/>
                </a:solidFill>
                <a:latin typeface="Times New Roman" panose="02020603050405020304" pitchFamily="18" charset="0"/>
                <a:cs typeface="Times New Roman" panose="02020603050405020304" pitchFamily="18" charset="0"/>
              </a:rPr>
              <a:t>  </a:t>
            </a:r>
            <a:r>
              <a:rPr lang="en-US" altLang="zh-CN" sz="2800">
                <a:solidFill>
                  <a:srgbClr val="FF0000"/>
                </a:solidFill>
                <a:latin typeface="Cambria Math" panose="02040503050406030204" pitchFamily="18" charset="0"/>
                <a:cs typeface="Times New Roman" panose="02020603050405020304" pitchFamily="18" charset="0"/>
              </a:rPr>
              <a:t>√</a:t>
            </a:r>
            <a:r>
              <a:rPr lang="en-US" altLang="zh-CN" sz="2800">
                <a:solidFill>
                  <a:srgbClr val="FF0000"/>
                </a:solidFill>
                <a:latin typeface="Times New Roman" panose="02020603050405020304" pitchFamily="18" charset="0"/>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在分步乘法计数原理中</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若事情是分</a:t>
            </a:r>
            <a:r>
              <a:rPr lang="en-US" altLang="zh-CN" sz="2800" i="1">
                <a:solidFill>
                  <a:srgbClr val="000000"/>
                </a:solidFill>
                <a:latin typeface="Times New Roman" panose="02020603050405020304" pitchFamily="18" charset="0"/>
                <a:cs typeface="Times New Roman" panose="02020603050405020304" pitchFamily="18" charset="0"/>
              </a:rPr>
              <a:t>n</a:t>
            </a:r>
            <a:r>
              <a:rPr lang="zh-CN" altLang="zh-CN" sz="2800">
                <a:solidFill>
                  <a:srgbClr val="000000"/>
                </a:solidFill>
                <a:latin typeface="Times New Roman" panose="02020603050405020304" pitchFamily="18" charset="0"/>
                <a:cs typeface="Times New Roman" panose="02020603050405020304" pitchFamily="18" charset="0"/>
              </a:rPr>
              <a:t>步完成的</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则其中任何一步都不能完成这件事</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只有所有步骤都完成后</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才能完成这件事</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a:solidFill>
                  <a:srgbClr val="FF0000"/>
                </a:solidFill>
                <a:latin typeface="Times New Roman" panose="02020603050405020304" pitchFamily="18" charset="0"/>
                <a:cs typeface="Times New Roman" panose="02020603050405020304" pitchFamily="18" charset="0"/>
              </a:rPr>
              <a:t>  </a:t>
            </a:r>
            <a:r>
              <a:rPr lang="en-US" altLang="zh-CN" sz="2800">
                <a:solidFill>
                  <a:srgbClr val="FF0000"/>
                </a:solidFill>
                <a:latin typeface="Cambria Math" panose="02040503050406030204" pitchFamily="18" charset="0"/>
                <a:cs typeface="Times New Roman" panose="02020603050405020304" pitchFamily="18" charset="0"/>
              </a:rPr>
              <a:t>√</a:t>
            </a:r>
            <a:r>
              <a:rPr lang="en-US" altLang="zh-CN" sz="2800">
                <a:solidFill>
                  <a:srgbClr val="FF0000"/>
                </a:solidFill>
                <a:latin typeface="Times New Roman" panose="02020603050405020304" pitchFamily="18" charset="0"/>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cs typeface="Times New Roman" panose="02020603050405020304" pitchFamily="18" charset="0"/>
              </a:rPr>
              <a:t>分类加法计数原理和分步乘法计数原理都是有关做一件事的不同方法的种类问题</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两个计数原理可以看成相同的方法</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a:solidFill>
                  <a:srgbClr val="FF0000"/>
                </a:solidFill>
                <a:latin typeface="Times New Roman" panose="02020603050405020304" pitchFamily="18" charset="0"/>
                <a:cs typeface="Times New Roman" panose="02020603050405020304" pitchFamily="18" charset="0"/>
              </a:rPr>
              <a:t>  ×  </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3" name="矩形 2"/>
          <p:cNvSpPr/>
          <p:nvPr/>
        </p:nvSpPr>
        <p:spPr>
          <a:xfrm>
            <a:off x="8493033" y="2745903"/>
            <a:ext cx="480989" cy="514001"/>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8744413" y="3834477"/>
            <a:ext cx="480989" cy="514001"/>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8012044" y="4989289"/>
            <a:ext cx="480989" cy="514001"/>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42294360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xit" presetSubtype="4" fill="hold" grpId="0" nodeType="clickEffect">
                                  <p:stCondLst>
                                    <p:cond delay="0"/>
                                  </p:stCondLst>
                                  <p:childTnLst>
                                    <p:animEffect transition="out" filter="wipe(down)">
                                      <p:cBhvr>
                                        <p:cTn id="11" dur="500"/>
                                        <p:tgtEl>
                                          <p:spTgt spid="4"/>
                                        </p:tgtEl>
                                      </p:cBhvr>
                                    </p:animEffect>
                                    <p:set>
                                      <p:cBhvr>
                                        <p:cTn id="12" dur="1" fill="hold">
                                          <p:stCondLst>
                                            <p:cond delay="499"/>
                                          </p:stCondLst>
                                        </p:cTn>
                                        <p:tgtEl>
                                          <p:spTgt spid="4"/>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2" presetClass="exit" presetSubtype="4" fill="hold" grpId="0" nodeType="clickEffect">
                                  <p:stCondLst>
                                    <p:cond delay="0"/>
                                  </p:stCondLst>
                                  <p:childTnLst>
                                    <p:animEffect transition="out" filter="wipe(down)">
                                      <p:cBhvr>
                                        <p:cTn id="16" dur="500"/>
                                        <p:tgtEl>
                                          <p:spTgt spid="5"/>
                                        </p:tgtEl>
                                      </p:cBhvr>
                                    </p:animEffect>
                                    <p:set>
                                      <p:cBhvr>
                                        <p:cTn id="17" dur="1" fill="hold">
                                          <p:stCondLst>
                                            <p:cond delay="499"/>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2180083" y="2636520"/>
            <a:ext cx="1105802" cy="815646"/>
            <a:chOff x="-1604504" y="2147667"/>
            <a:chExt cx="3687215" cy="2719712"/>
          </a:xfrm>
        </p:grpSpPr>
        <p:cxnSp>
          <p:nvCxnSpPr>
            <p:cNvPr id="7" name="直接连接符 6"/>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8" name="直接连接符 7"/>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9" name="组合 8"/>
          <p:cNvGrpSpPr/>
          <p:nvPr/>
        </p:nvGrpSpPr>
        <p:grpSpPr>
          <a:xfrm flipH="1" flipV="1">
            <a:off x="8735898" y="2665586"/>
            <a:ext cx="1105803" cy="815646"/>
            <a:chOff x="-1604504" y="2147667"/>
            <a:chExt cx="3687215" cy="2719712"/>
          </a:xfrm>
        </p:grpSpPr>
        <p:cxnSp>
          <p:nvCxnSpPr>
            <p:cNvPr id="10" name="直接连接符 9"/>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11" name="直接连接符 10"/>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sp>
        <p:nvSpPr>
          <p:cNvPr id="12" name="文本框 11"/>
          <p:cNvSpPr txBox="1"/>
          <p:nvPr/>
        </p:nvSpPr>
        <p:spPr>
          <a:xfrm>
            <a:off x="2969260" y="2585720"/>
            <a:ext cx="6252845" cy="922020"/>
          </a:xfrm>
          <a:prstGeom prst="rect">
            <a:avLst/>
          </a:prstGeom>
          <a:noFill/>
        </p:spPr>
        <p:txBody>
          <a:bodyPr wrap="square" rtlCol="0">
            <a:spAutoFit/>
          </a:bodyPr>
          <a:lstStyle/>
          <a:p>
            <a:r>
              <a:rPr lang="zh-CN" altLang="en-US" sz="5400" b="1" dirty="0" smtClean="0">
                <a:solidFill>
                  <a:srgbClr val="4D4D4D"/>
                </a:solidFill>
                <a:latin typeface="方正姚体" panose="02010601030101010101" charset="-122"/>
                <a:ea typeface="方正姚体" panose="02010601030101010101" charset="-122"/>
                <a:cs typeface="方正姚体" panose="02010601030101010101" charset="-122"/>
                <a:sym typeface="+mn-ea"/>
              </a:rPr>
              <a:t>合作探究 释疑解惑</a:t>
            </a:r>
            <a:endParaRPr lang="zh-CN" altLang="en-US" sz="5400" b="1" dirty="0">
              <a:solidFill>
                <a:srgbClr val="4D4D4D"/>
              </a:solidFill>
              <a:latin typeface="方正姚体" panose="02010601030101010101" charset="-122"/>
              <a:ea typeface="方正姚体" panose="02010601030101010101" charset="-122"/>
              <a:cs typeface="方正姚体" panose="02010601030101010101" charset="-122"/>
              <a:sym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grpSp>
        <p:nvGrpSpPr>
          <p:cNvPr id="35" name="组合 34"/>
          <p:cNvGrpSpPr/>
          <p:nvPr/>
        </p:nvGrpSpPr>
        <p:grpSpPr>
          <a:xfrm>
            <a:off x="2" y="151371"/>
            <a:ext cx="11336478" cy="433754"/>
            <a:chOff x="381000" y="205656"/>
            <a:chExt cx="11336478" cy="433754"/>
          </a:xfrm>
        </p:grpSpPr>
        <p:sp>
          <p:nvSpPr>
            <p:cNvPr id="36" name="矩形 35"/>
            <p:cNvSpPr/>
            <p:nvPr/>
          </p:nvSpPr>
          <p:spPr>
            <a:xfrm>
              <a:off x="1999940" y="230648"/>
              <a:ext cx="192275" cy="401795"/>
            </a:xfrm>
            <a:prstGeom prst="rect">
              <a:avLst/>
            </a:prstGeom>
            <a:noFill/>
            <a:ln w="1905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nvGrpSpPr>
            <p:cNvPr id="37" name="组合 36"/>
            <p:cNvGrpSpPr/>
            <p:nvPr/>
          </p:nvGrpSpPr>
          <p:grpSpPr>
            <a:xfrm>
              <a:off x="381000" y="205656"/>
              <a:ext cx="11336478" cy="433754"/>
              <a:chOff x="3048000" y="2286000"/>
              <a:chExt cx="4813646" cy="457200"/>
            </a:xfrm>
          </p:grpSpPr>
          <p:sp>
            <p:nvSpPr>
              <p:cNvPr id="38" name="矩形 37"/>
              <p:cNvSpPr/>
              <p:nvPr/>
            </p:nvSpPr>
            <p:spPr>
              <a:xfrm>
                <a:off x="3048000" y="2286000"/>
                <a:ext cx="769070"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rPr>
                  <a:t>探究一</a:t>
                </a:r>
              </a:p>
            </p:txBody>
          </p:sp>
          <p:sp>
            <p:nvSpPr>
              <p:cNvPr id="39" name="矩形 38"/>
              <p:cNvSpPr/>
              <p:nvPr/>
            </p:nvSpPr>
            <p:spPr>
              <a:xfrm>
                <a:off x="3909004" y="2286000"/>
                <a:ext cx="3952642"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a:solidFill>
                      <a:schemeClr val="bg1"/>
                    </a:solidFill>
                  </a:rPr>
                  <a:t>选</a:t>
                </a:r>
                <a:r>
                  <a:rPr lang="en-US" altLang="zh-CN" sz="2800" b="1">
                    <a:solidFill>
                      <a:schemeClr val="bg1"/>
                    </a:solidFill>
                  </a:rPr>
                  <a:t>(</a:t>
                </a:r>
                <a:r>
                  <a:rPr lang="zh-CN" altLang="en-US" sz="2800" b="1">
                    <a:solidFill>
                      <a:schemeClr val="bg1"/>
                    </a:solidFill>
                  </a:rPr>
                  <a:t>抽</a:t>
                </a:r>
                <a:r>
                  <a:rPr lang="en-US" altLang="zh-CN" sz="2800" b="1">
                    <a:solidFill>
                      <a:schemeClr val="bg1"/>
                    </a:solidFill>
                  </a:rPr>
                  <a:t>)</a:t>
                </a:r>
                <a:r>
                  <a:rPr lang="zh-CN" altLang="en-US" sz="2800" b="1">
                    <a:solidFill>
                      <a:schemeClr val="bg1"/>
                    </a:solidFill>
                  </a:rPr>
                  <a:t>取与分配问题</a:t>
                </a:r>
                <a:endParaRPr lang="zh-CN" altLang="en-US" sz="2800" b="1" dirty="0">
                  <a:solidFill>
                    <a:schemeClr val="bg1"/>
                  </a:solidFill>
                </a:endParaRPr>
              </a:p>
            </p:txBody>
          </p:sp>
        </p:grpSp>
      </p:grpSp>
      <p:sp>
        <p:nvSpPr>
          <p:cNvPr id="3" name="矩形 2"/>
          <p:cNvSpPr>
            <a:spLocks noChangeAspect="1"/>
          </p:cNvSpPr>
          <p:nvPr/>
        </p:nvSpPr>
        <p:spPr>
          <a:xfrm>
            <a:off x="381000" y="685872"/>
            <a:ext cx="11430000" cy="2332946"/>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【例</a:t>
            </a:r>
            <a:r>
              <a:rPr lang="en-US" altLang="zh-CN" sz="2800" b="1">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zh-CN" sz="2800">
                <a:solidFill>
                  <a:srgbClr val="000000"/>
                </a:solidFill>
                <a:latin typeface="NEU-BZ-S92"/>
                <a:ea typeface="Times New Roman" panose="02020603050405020304" pitchFamily="18" charset="0"/>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(1)4</a:t>
            </a:r>
            <a:r>
              <a:rPr lang="zh-CN" altLang="zh-CN" sz="2800">
                <a:solidFill>
                  <a:srgbClr val="000000"/>
                </a:solidFill>
                <a:latin typeface="Times New Roman" panose="02020603050405020304" pitchFamily="18" charset="0"/>
                <a:cs typeface="Times New Roman" panose="02020603050405020304" pitchFamily="18" charset="0"/>
              </a:rPr>
              <a:t>名同学报名参加跑步、跳高、跳远三个比赛项目</a:t>
            </a:r>
            <a:r>
              <a:rPr lang="en-US" altLang="zh-CN" sz="2800" smtClean="0">
                <a:solidFill>
                  <a:srgbClr val="000000"/>
                </a:solidFill>
                <a:latin typeface="Times New Roman" panose="02020603050405020304" pitchFamily="18" charset="0"/>
                <a:cs typeface="Times New Roman" panose="02020603050405020304" pitchFamily="18" charset="0"/>
              </a:rPr>
              <a:t>,</a:t>
            </a:r>
            <a:r>
              <a:rPr lang="zh-CN" altLang="en-US" sz="2800">
                <a:solidFill>
                  <a:srgbClr val="000000"/>
                </a:solidFill>
                <a:latin typeface="Times New Roman" panose="02020603050405020304" pitchFamily="18" charset="0"/>
                <a:cs typeface="Times New Roman" panose="02020603050405020304" pitchFamily="18" charset="0"/>
              </a:rPr>
              <a:t>每人限报一个</a:t>
            </a:r>
            <a:r>
              <a:rPr lang="en-US" altLang="zh-CN" sz="2800" smtClean="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共有多少种不同的报名方法</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(2)4</a:t>
            </a:r>
            <a:r>
              <a:rPr lang="zh-CN" altLang="zh-CN" sz="2800">
                <a:solidFill>
                  <a:srgbClr val="000000"/>
                </a:solidFill>
                <a:latin typeface="Times New Roman" panose="02020603050405020304" pitchFamily="18" charset="0"/>
                <a:cs typeface="Times New Roman" panose="02020603050405020304" pitchFamily="18" charset="0"/>
              </a:rPr>
              <a:t>名同学争夺跑步、跳高、跳远三个比赛项目的冠军</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共有多少种可能的结果</a:t>
            </a:r>
            <a:r>
              <a:rPr lang="en-US" altLang="zh-CN" sz="2800" smtClean="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p:txBody>
      </p:sp>
      <p:sp>
        <p:nvSpPr>
          <p:cNvPr id="2" name="矩形 1"/>
          <p:cNvSpPr>
            <a:spLocks noChangeAspect="1"/>
          </p:cNvSpPr>
          <p:nvPr/>
        </p:nvSpPr>
        <p:spPr>
          <a:xfrm>
            <a:off x="381000" y="2929878"/>
            <a:ext cx="11430000" cy="339298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解</a:t>
            </a:r>
            <a:r>
              <a:rPr lang="en-US"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依题意</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应该以</a:t>
            </a:r>
            <a:r>
              <a:rPr lang="en-US" altLang="zh-CN" sz="2800">
                <a:solidFill>
                  <a:srgbClr val="000000"/>
                </a:solidFill>
                <a:latin typeface="Times New Roman" panose="02020603050405020304" pitchFamily="18" charset="0"/>
                <a:cs typeface="Times New Roman" panose="02020603050405020304" pitchFamily="18" charset="0"/>
              </a:rPr>
              <a:t>“4</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名同学</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为主体考虑</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只有</a:t>
            </a:r>
            <a:r>
              <a:rPr lang="en-US" altLang="zh-CN" sz="2800">
                <a:solidFill>
                  <a:srgbClr val="000000"/>
                </a:solidFill>
                <a:latin typeface="Times New Roman" panose="02020603050405020304" pitchFamily="18" charset="0"/>
                <a:cs typeface="Times New Roman" panose="02020603050405020304" pitchFamily="18" charset="0"/>
              </a:rPr>
              <a:t>4</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名同学都报名确定了项目</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这件事情才算完成</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而每名同学的报名方法都有</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由分步乘法计数原理</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可得共有</a:t>
            </a:r>
            <a:r>
              <a:rPr lang="en-US" altLang="zh-CN" sz="2800">
                <a:solidFill>
                  <a:srgbClr val="000000"/>
                </a:solidFill>
                <a:latin typeface="Times New Roman" panose="02020603050405020304" pitchFamily="18" charset="0"/>
                <a:cs typeface="Times New Roman" panose="02020603050405020304" pitchFamily="18" charset="0"/>
              </a:rPr>
              <a:t>3×3×3×3</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3</a:t>
            </a:r>
            <a:r>
              <a:rPr lang="en-US" altLang="zh-CN" sz="2800" baseline="30000">
                <a:solidFill>
                  <a:srgbClr val="000000"/>
                </a:solidFill>
                <a:latin typeface="Times New Roman" panose="02020603050405020304" pitchFamily="18" charset="0"/>
                <a:cs typeface="Times New Roman" panose="02020603050405020304" pitchFamily="18" charset="0"/>
              </a:rPr>
              <a:t>4</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81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种报名方法</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依题意</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应该以</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三个冠军</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为主体考虑</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只有三个冠军都确定了得主</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这件事情才算完成</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而每项冠军的得主都有</a:t>
            </a:r>
            <a:r>
              <a:rPr lang="en-US" altLang="zh-CN" sz="2800">
                <a:solidFill>
                  <a:srgbClr val="000000"/>
                </a:solidFill>
                <a:latin typeface="Times New Roman" panose="02020603050405020304" pitchFamily="18" charset="0"/>
                <a:cs typeface="Times New Roman" panose="02020603050405020304" pitchFamily="18" charset="0"/>
              </a:rPr>
              <a:t>4</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种情况</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由分步乘法计数原理</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可得共有</a:t>
            </a:r>
            <a:r>
              <a:rPr lang="en-US" altLang="zh-CN" sz="2800">
                <a:solidFill>
                  <a:srgbClr val="000000"/>
                </a:solidFill>
                <a:latin typeface="Times New Roman" panose="02020603050405020304" pitchFamily="18" charset="0"/>
                <a:cs typeface="Times New Roman" panose="02020603050405020304" pitchFamily="18" charset="0"/>
              </a:rPr>
              <a:t>4×4×4</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4</a:t>
            </a:r>
            <a:r>
              <a:rPr lang="en-US" altLang="zh-CN" sz="2800" baseline="30000">
                <a:solidFill>
                  <a:srgbClr val="000000"/>
                </a:solidFill>
                <a:latin typeface="Times New Roman" panose="02020603050405020304" pitchFamily="18" charset="0"/>
                <a:cs typeface="Times New Roman" panose="02020603050405020304" pitchFamily="18" charset="0"/>
              </a:rPr>
              <a:t>3</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64</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种可能的结果</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pic>
        <p:nvPicPr>
          <p:cNvPr id="2" name="反思感悟H.eps" descr="id:2147515084;FounderCES"/>
          <p:cNvPicPr/>
          <p:nvPr/>
        </p:nvPicPr>
        <p:blipFill>
          <a:blip r:embed="rId2">
            <a:clrChange>
              <a:clrFrom>
                <a:srgbClr val="FFFFFF"/>
              </a:clrFrom>
              <a:clrTo>
                <a:srgbClr val="FFFFFF">
                  <a:alpha val="0"/>
                </a:srgbClr>
              </a:clrTo>
            </a:clrChange>
          </a:blip>
          <a:stretch>
            <a:fillRect/>
          </a:stretch>
        </p:blipFill>
        <p:spPr>
          <a:xfrm>
            <a:off x="381000" y="1136900"/>
            <a:ext cx="2151080" cy="506033"/>
          </a:xfrm>
          <a:prstGeom prst="rect">
            <a:avLst/>
          </a:prstGeom>
        </p:spPr>
      </p:pic>
      <p:sp>
        <p:nvSpPr>
          <p:cNvPr id="4" name="矩形 3"/>
          <p:cNvSpPr>
            <a:spLocks noChangeAspect="1"/>
          </p:cNvSpPr>
          <p:nvPr/>
        </p:nvSpPr>
        <p:spPr>
          <a:xfrm>
            <a:off x="381000" y="1642933"/>
            <a:ext cx="11430000" cy="395313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选准主体</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解决元素可重复的计数问题</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利用分步乘法计数原理解决实际问题</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通常情况下</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每一步中可用的方法都是不重复的</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即每一步中的方法数各不相同</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但在有些实际问题中</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每一步可用的方法允许重复</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亦即元素可重复利用</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因此每一步中的方法数相同</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解决这类问题时</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关键是选准主体元素</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一定会</a:t>
            </a:r>
            <a:r>
              <a:rPr lang="en-US"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必须要</a:t>
            </a:r>
            <a:r>
              <a:rPr lang="en-US"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的是主体元素</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只有每个主体元素都确定方法数后</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这件事情才算完成</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从而可运用分步乘法计数原理解决问题</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56435407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sp>
        <p:nvSpPr>
          <p:cNvPr id="4" name="矩形 3"/>
          <p:cNvSpPr>
            <a:spLocks noChangeAspect="1"/>
          </p:cNvSpPr>
          <p:nvPr/>
        </p:nvSpPr>
        <p:spPr>
          <a:xfrm>
            <a:off x="381000" y="1362857"/>
            <a:ext cx="11430000" cy="4013406"/>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【变式训练</a:t>
            </a:r>
            <a:r>
              <a:rPr lang="en-US" altLang="zh-CN" sz="2800" b="1">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zh-CN" sz="2800">
                <a:solidFill>
                  <a:srgbClr val="000000"/>
                </a:solidFill>
                <a:latin typeface="NEU-BZ-S92"/>
                <a:ea typeface="Times New Roman" panose="02020603050405020304" pitchFamily="18" charset="0"/>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(1)5</a:t>
            </a:r>
            <a:r>
              <a:rPr lang="zh-CN" altLang="zh-CN" sz="2800">
                <a:solidFill>
                  <a:srgbClr val="000000"/>
                </a:solidFill>
                <a:latin typeface="Times New Roman" panose="02020603050405020304" pitchFamily="18" charset="0"/>
                <a:cs typeface="Times New Roman" panose="02020603050405020304" pitchFamily="18" charset="0"/>
              </a:rPr>
              <a:t>名同学报名参加两个课外活动小组</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每名同学限报其中的一个小组</a:t>
            </a:r>
            <a:r>
              <a:rPr lang="en-US" altLang="zh-CN" sz="2800" smtClean="0">
                <a:solidFill>
                  <a:srgbClr val="000000"/>
                </a:solidFill>
                <a:latin typeface="Times New Roman" panose="02020603050405020304" pitchFamily="18" charset="0"/>
                <a:cs typeface="Times New Roman" panose="02020603050405020304" pitchFamily="18" charset="0"/>
              </a:rPr>
              <a:t>,</a:t>
            </a:r>
            <a:r>
              <a:rPr lang="zh-CN" altLang="zh-CN" sz="2800" smtClean="0">
                <a:solidFill>
                  <a:srgbClr val="000000"/>
                </a:solidFill>
                <a:latin typeface="Times New Roman" panose="02020603050405020304" pitchFamily="18" charset="0"/>
                <a:cs typeface="Times New Roman" panose="02020603050405020304" pitchFamily="18" charset="0"/>
              </a:rPr>
              <a:t>则</a:t>
            </a:r>
            <a:r>
              <a:rPr lang="zh-CN" altLang="zh-CN" sz="2800">
                <a:solidFill>
                  <a:srgbClr val="000000"/>
                </a:solidFill>
                <a:latin typeface="Times New Roman" panose="02020603050405020304" pitchFamily="18" charset="0"/>
                <a:cs typeface="Times New Roman" panose="02020603050405020304" pitchFamily="18" charset="0"/>
              </a:rPr>
              <a:t>不同的报名方法共有</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i="1">
                <a:solidFill>
                  <a:srgbClr val="000000"/>
                </a:solidFill>
                <a:latin typeface="Times New Roman" panose="02020603050405020304" pitchFamily="18" charset="0"/>
                <a:cs typeface="Times New Roman" panose="02020603050405020304" pitchFamily="18" charset="0"/>
              </a:rPr>
              <a:t>　　</a:t>
            </a:r>
            <a:r>
              <a:rPr lang="en-US" altLang="zh-CN" sz="2800" smtClean="0">
                <a:solidFill>
                  <a:srgbClr val="000000"/>
                </a:solidFill>
                <a:latin typeface="Times New Roman" panose="02020603050405020304" pitchFamily="18" charset="0"/>
                <a:cs typeface="Times New Roman" panose="02020603050405020304" pitchFamily="18" charset="0"/>
              </a:rPr>
              <a:t>)</a:t>
            </a:r>
            <a:r>
              <a:rPr lang="zh-CN" altLang="zh-CN" sz="2800" i="1">
                <a:solidFill>
                  <a:srgbClr val="000000"/>
                </a:solidFill>
                <a:latin typeface="Times New Roman" panose="02020603050405020304" pitchFamily="18" charset="0"/>
                <a:cs typeface="Times New Roman" panose="02020603050405020304" pitchFamily="18" charset="0"/>
              </a:rPr>
              <a:t>　　　　　　　　　　　　　　　　</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A.10</a:t>
            </a:r>
            <a:r>
              <a:rPr lang="zh-CN" altLang="zh-CN" sz="2800">
                <a:solidFill>
                  <a:srgbClr val="000000"/>
                </a:solidFill>
                <a:latin typeface="Times New Roman" panose="02020603050405020304" pitchFamily="18" charset="0"/>
                <a:cs typeface="Times New Roman" panose="02020603050405020304" pitchFamily="18" charset="0"/>
              </a:rPr>
              <a:t>种</a:t>
            </a:r>
            <a:r>
              <a:rPr lang="en-US" altLang="zh-CN" sz="2800">
                <a:solidFill>
                  <a:srgbClr val="000000"/>
                </a:solidFill>
                <a:latin typeface="Times New Roman" panose="02020603050405020304" pitchFamily="18" charset="0"/>
                <a:cs typeface="Times New Roman" panose="02020603050405020304" pitchFamily="18" charset="0"/>
              </a:rPr>
              <a:t>	B.20</a:t>
            </a:r>
            <a:r>
              <a:rPr lang="zh-CN" altLang="zh-CN" sz="2800">
                <a:solidFill>
                  <a:srgbClr val="000000"/>
                </a:solidFill>
                <a:latin typeface="Times New Roman" panose="02020603050405020304" pitchFamily="18" charset="0"/>
                <a:cs typeface="Times New Roman" panose="02020603050405020304" pitchFamily="18" charset="0"/>
              </a:rPr>
              <a:t>种</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C.25</a:t>
            </a:r>
            <a:r>
              <a:rPr lang="zh-CN" altLang="zh-CN" sz="2800">
                <a:solidFill>
                  <a:srgbClr val="000000"/>
                </a:solidFill>
                <a:latin typeface="Times New Roman" panose="02020603050405020304" pitchFamily="18" charset="0"/>
                <a:cs typeface="Times New Roman" panose="02020603050405020304" pitchFamily="18" charset="0"/>
              </a:rPr>
              <a:t>种</a:t>
            </a:r>
            <a:r>
              <a:rPr lang="en-US" altLang="zh-CN" sz="2800">
                <a:solidFill>
                  <a:srgbClr val="000000"/>
                </a:solidFill>
                <a:latin typeface="Times New Roman" panose="02020603050405020304" pitchFamily="18" charset="0"/>
                <a:cs typeface="Times New Roman" panose="02020603050405020304" pitchFamily="18" charset="0"/>
              </a:rPr>
              <a:t>	D.32</a:t>
            </a:r>
            <a:r>
              <a:rPr lang="zh-CN" altLang="zh-CN" sz="2800">
                <a:solidFill>
                  <a:srgbClr val="000000"/>
                </a:solidFill>
                <a:latin typeface="Times New Roman" panose="02020603050405020304" pitchFamily="18" charset="0"/>
                <a:cs typeface="Times New Roman" panose="02020603050405020304" pitchFamily="18" charset="0"/>
              </a:rPr>
              <a:t>种</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某公交车上有</a:t>
            </a:r>
            <a:r>
              <a:rPr lang="en-US" altLang="zh-CN" sz="2800">
                <a:solidFill>
                  <a:srgbClr val="000000"/>
                </a:solidFill>
                <a:latin typeface="Times New Roman" panose="02020603050405020304" pitchFamily="18" charset="0"/>
                <a:cs typeface="Times New Roman" panose="02020603050405020304" pitchFamily="18" charset="0"/>
              </a:rPr>
              <a:t>6</a:t>
            </a:r>
            <a:r>
              <a:rPr lang="zh-CN" altLang="zh-CN" sz="2800">
                <a:solidFill>
                  <a:srgbClr val="000000"/>
                </a:solidFill>
                <a:latin typeface="Times New Roman" panose="02020603050405020304" pitchFamily="18" charset="0"/>
                <a:cs typeface="Times New Roman" panose="02020603050405020304" pitchFamily="18" charset="0"/>
              </a:rPr>
              <a:t>名乘客</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沿途</a:t>
            </a:r>
            <a:r>
              <a:rPr lang="en-US" altLang="zh-CN" sz="2800">
                <a:solidFill>
                  <a:srgbClr val="000000"/>
                </a:solidFill>
                <a:latin typeface="Times New Roman" panose="02020603050405020304" pitchFamily="18" charset="0"/>
                <a:cs typeface="Times New Roman" panose="02020603050405020304" pitchFamily="18" charset="0"/>
              </a:rPr>
              <a:t>4</a:t>
            </a:r>
            <a:r>
              <a:rPr lang="zh-CN" altLang="zh-CN" sz="2800">
                <a:solidFill>
                  <a:srgbClr val="000000"/>
                </a:solidFill>
                <a:latin typeface="Times New Roman" panose="02020603050405020304" pitchFamily="18" charset="0"/>
                <a:cs typeface="Times New Roman" panose="02020603050405020304" pitchFamily="18" charset="0"/>
              </a:rPr>
              <a:t>个车站</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则乘客下车的可能方式有</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i="1">
                <a:solidFill>
                  <a:srgbClr val="000000"/>
                </a:solidFill>
                <a:latin typeface="Times New Roman" panose="02020603050405020304" pitchFamily="18" charset="0"/>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A.6</a:t>
            </a:r>
            <a:r>
              <a:rPr lang="en-US" altLang="zh-CN" sz="2800" baseline="30000">
                <a:solidFill>
                  <a:srgbClr val="000000"/>
                </a:solidFill>
                <a:latin typeface="Times New Roman" panose="02020603050405020304" pitchFamily="18" charset="0"/>
                <a:cs typeface="Times New Roman" panose="02020603050405020304" pitchFamily="18" charset="0"/>
              </a:rPr>
              <a:t>4</a:t>
            </a:r>
            <a:r>
              <a:rPr lang="zh-CN" altLang="zh-CN" sz="2800">
                <a:solidFill>
                  <a:srgbClr val="000000"/>
                </a:solidFill>
                <a:latin typeface="Times New Roman" panose="02020603050405020304" pitchFamily="18" charset="0"/>
                <a:cs typeface="Times New Roman" panose="02020603050405020304" pitchFamily="18" charset="0"/>
              </a:rPr>
              <a:t>种</a:t>
            </a:r>
            <a:r>
              <a:rPr lang="en-US" altLang="zh-CN" sz="2800">
                <a:solidFill>
                  <a:srgbClr val="000000"/>
                </a:solidFill>
                <a:latin typeface="Times New Roman" panose="02020603050405020304" pitchFamily="18" charset="0"/>
                <a:cs typeface="Times New Roman" panose="02020603050405020304" pitchFamily="18" charset="0"/>
              </a:rPr>
              <a:t>	B.4</a:t>
            </a:r>
            <a:r>
              <a:rPr lang="en-US" altLang="zh-CN" sz="2800" baseline="30000">
                <a:solidFill>
                  <a:srgbClr val="000000"/>
                </a:solidFill>
                <a:latin typeface="Times New Roman" panose="02020603050405020304" pitchFamily="18" charset="0"/>
                <a:cs typeface="Times New Roman" panose="02020603050405020304" pitchFamily="18" charset="0"/>
              </a:rPr>
              <a:t>6</a:t>
            </a:r>
            <a:r>
              <a:rPr lang="zh-CN" altLang="zh-CN" sz="2800">
                <a:solidFill>
                  <a:srgbClr val="000000"/>
                </a:solidFill>
                <a:latin typeface="Times New Roman" panose="02020603050405020304" pitchFamily="18" charset="0"/>
                <a:cs typeface="Times New Roman" panose="02020603050405020304" pitchFamily="18" charset="0"/>
              </a:rPr>
              <a:t>种</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C.24</a:t>
            </a:r>
            <a:r>
              <a:rPr lang="zh-CN" altLang="zh-CN" sz="2800">
                <a:solidFill>
                  <a:srgbClr val="000000"/>
                </a:solidFill>
                <a:latin typeface="Times New Roman" panose="02020603050405020304" pitchFamily="18" charset="0"/>
                <a:cs typeface="Times New Roman" panose="02020603050405020304" pitchFamily="18" charset="0"/>
              </a:rPr>
              <a:t>种</a:t>
            </a:r>
            <a:r>
              <a:rPr lang="en-US" altLang="zh-CN" sz="2800">
                <a:solidFill>
                  <a:srgbClr val="000000"/>
                </a:solidFill>
                <a:latin typeface="Times New Roman" panose="02020603050405020304" pitchFamily="18" charset="0"/>
                <a:cs typeface="Times New Roman" panose="02020603050405020304" pitchFamily="18" charset="0"/>
              </a:rPr>
              <a:t>	D.360</a:t>
            </a:r>
            <a:r>
              <a:rPr lang="zh-CN" altLang="zh-CN" sz="2800">
                <a:solidFill>
                  <a:srgbClr val="000000"/>
                </a:solidFill>
                <a:latin typeface="Times New Roman" panose="02020603050405020304" pitchFamily="18" charset="0"/>
                <a:cs typeface="Times New Roman" panose="02020603050405020304" pitchFamily="18" charset="0"/>
              </a:rPr>
              <a:t>种</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43930006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81000" y="1149774"/>
            <a:ext cx="11430000" cy="339298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解析</a:t>
            </a:r>
            <a:r>
              <a:rPr lang="en-US"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依题意</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应该以</a:t>
            </a:r>
            <a:r>
              <a:rPr lang="en-US" altLang="zh-CN" sz="2800">
                <a:solidFill>
                  <a:srgbClr val="000000"/>
                </a:solidFill>
                <a:latin typeface="Times New Roman" panose="02020603050405020304" pitchFamily="18" charset="0"/>
                <a:cs typeface="Times New Roman" panose="02020603050405020304" pitchFamily="18" charset="0"/>
              </a:rPr>
              <a:t>“5</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名同学</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为主体考虑</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每名同学都有</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种选择</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根据分步乘法计数原理</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可得不同的报名方法共有</a:t>
            </a: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baseline="30000">
                <a:solidFill>
                  <a:srgbClr val="000000"/>
                </a:solidFill>
                <a:latin typeface="Times New Roman" panose="02020603050405020304" pitchFamily="18" charset="0"/>
                <a:cs typeface="Times New Roman" panose="02020603050405020304" pitchFamily="18" charset="0"/>
              </a:rPr>
              <a:t>5</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32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故选</a:t>
            </a:r>
            <a:r>
              <a:rPr lang="en-US" altLang="zh-CN" sz="2800">
                <a:solidFill>
                  <a:srgbClr val="000000"/>
                </a:solidFill>
                <a:latin typeface="Times New Roman" panose="02020603050405020304" pitchFamily="18" charset="0"/>
                <a:cs typeface="Times New Roman" panose="02020603050405020304" pitchFamily="18" charset="0"/>
              </a:rPr>
              <a:t>D</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由题意</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每名乘客都肯定要下车</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但某个车站可能没有乘客下车</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因此以乘客为主体考虑</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每名乘客都有</a:t>
            </a:r>
            <a:r>
              <a:rPr lang="en-US" altLang="zh-CN" sz="2800">
                <a:solidFill>
                  <a:srgbClr val="000000"/>
                </a:solidFill>
                <a:latin typeface="Times New Roman" panose="02020603050405020304" pitchFamily="18" charset="0"/>
                <a:cs typeface="Times New Roman" panose="02020603050405020304" pitchFamily="18" charset="0"/>
              </a:rPr>
              <a:t>4</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种选择</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故乘客下车的可能方式有</a:t>
            </a:r>
            <a:r>
              <a:rPr lang="en-US" altLang="zh-CN" sz="2800">
                <a:solidFill>
                  <a:srgbClr val="000000"/>
                </a:solidFill>
                <a:latin typeface="Times New Roman" panose="02020603050405020304" pitchFamily="18" charset="0"/>
                <a:cs typeface="Times New Roman" panose="02020603050405020304" pitchFamily="18" charset="0"/>
              </a:rPr>
              <a:t>4×4×4×4×4×4</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4</a:t>
            </a:r>
            <a:r>
              <a:rPr lang="en-US" altLang="zh-CN" sz="2800" baseline="30000">
                <a:solidFill>
                  <a:srgbClr val="000000"/>
                </a:solidFill>
                <a:latin typeface="Times New Roman" panose="02020603050405020304" pitchFamily="18" charset="0"/>
                <a:cs typeface="Times New Roman" panose="02020603050405020304" pitchFamily="18" charset="0"/>
              </a:rPr>
              <a:t>6</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故选</a:t>
            </a:r>
            <a:r>
              <a:rPr lang="en-US" altLang="zh-CN" sz="2800">
                <a:solidFill>
                  <a:srgbClr val="000000"/>
                </a:solidFill>
                <a:latin typeface="Times New Roman" panose="02020603050405020304" pitchFamily="18" charset="0"/>
                <a:cs typeface="Times New Roman" panose="02020603050405020304" pitchFamily="18" charset="0"/>
              </a:rPr>
              <a:t>B</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答案</a:t>
            </a:r>
            <a:r>
              <a:rPr lang="en-US"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(1)D</a:t>
            </a:r>
            <a:r>
              <a:rPr lang="zh-CN" altLang="zh-CN" sz="2800" i="1">
                <a:solidFill>
                  <a:srgbClr val="000000"/>
                </a:solidFill>
                <a:latin typeface="Times New Roman" panose="02020603050405020304" pitchFamily="18" charset="0"/>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(2)B</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85770803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randombar(horizontal)">
                                      <p:cBhvr>
                                        <p:cTn id="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2" y="151371"/>
            <a:ext cx="11336478" cy="433754"/>
            <a:chOff x="381000" y="205656"/>
            <a:chExt cx="11336478" cy="433754"/>
          </a:xfrm>
        </p:grpSpPr>
        <p:sp>
          <p:nvSpPr>
            <p:cNvPr id="10" name="矩形 9"/>
            <p:cNvSpPr/>
            <p:nvPr/>
          </p:nvSpPr>
          <p:spPr>
            <a:xfrm>
              <a:off x="1999940" y="230648"/>
              <a:ext cx="192275" cy="401795"/>
            </a:xfrm>
            <a:prstGeom prst="rect">
              <a:avLst/>
            </a:prstGeom>
            <a:noFill/>
            <a:ln w="1905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nvGrpSpPr>
            <p:cNvPr id="11" name="组合 10"/>
            <p:cNvGrpSpPr/>
            <p:nvPr/>
          </p:nvGrpSpPr>
          <p:grpSpPr>
            <a:xfrm>
              <a:off x="381000" y="205656"/>
              <a:ext cx="11336478" cy="433754"/>
              <a:chOff x="3048000" y="2286000"/>
              <a:chExt cx="4813646" cy="457200"/>
            </a:xfrm>
          </p:grpSpPr>
          <p:sp>
            <p:nvSpPr>
              <p:cNvPr id="12" name="矩形 11"/>
              <p:cNvSpPr/>
              <p:nvPr/>
            </p:nvSpPr>
            <p:spPr>
              <a:xfrm>
                <a:off x="3048000" y="2286000"/>
                <a:ext cx="769070"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rPr>
                  <a:t>探究二</a:t>
                </a:r>
              </a:p>
            </p:txBody>
          </p:sp>
          <p:sp>
            <p:nvSpPr>
              <p:cNvPr id="13" name="矩形 12"/>
              <p:cNvSpPr/>
              <p:nvPr/>
            </p:nvSpPr>
            <p:spPr>
              <a:xfrm>
                <a:off x="3909004" y="2286000"/>
                <a:ext cx="3952642"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a:solidFill>
                      <a:schemeClr val="bg1"/>
                    </a:solidFill>
                  </a:rPr>
                  <a:t>有限制条件的计数问题</a:t>
                </a:r>
                <a:endParaRPr lang="zh-CN" altLang="en-US" sz="2800" b="1" dirty="0">
                  <a:solidFill>
                    <a:schemeClr val="bg1"/>
                  </a:solidFill>
                </a:endParaRPr>
              </a:p>
            </p:txBody>
          </p:sp>
        </p:grpSp>
      </p:grpSp>
      <p:sp>
        <p:nvSpPr>
          <p:cNvPr id="3" name="矩形 2"/>
          <p:cNvSpPr>
            <a:spLocks noChangeAspect="1"/>
          </p:cNvSpPr>
          <p:nvPr/>
        </p:nvSpPr>
        <p:spPr>
          <a:xfrm>
            <a:off x="381000" y="1137250"/>
            <a:ext cx="11430000" cy="2332946"/>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【例</a:t>
            </a:r>
            <a:r>
              <a:rPr lang="en-US" altLang="zh-CN" sz="2800" b="1">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zh-CN" sz="2800">
                <a:solidFill>
                  <a:srgbClr val="000000"/>
                </a:solidFill>
                <a:latin typeface="NEU-BZ-S92"/>
                <a:ea typeface="Times New Roman" panose="02020603050405020304" pitchFamily="18" charset="0"/>
                <a:cs typeface="Times New Roman" panose="02020603050405020304" pitchFamily="18" charset="0"/>
              </a:rPr>
              <a:t> </a:t>
            </a:r>
            <a:r>
              <a:rPr lang="zh-CN" altLang="zh-CN" sz="2800">
                <a:solidFill>
                  <a:srgbClr val="000000"/>
                </a:solidFill>
                <a:latin typeface="Times New Roman" panose="02020603050405020304" pitchFamily="18" charset="0"/>
                <a:cs typeface="Times New Roman" panose="02020603050405020304" pitchFamily="18" charset="0"/>
              </a:rPr>
              <a:t>若甲、乙</a:t>
            </a:r>
            <a:r>
              <a:rPr lang="zh-CN" altLang="zh-CN" sz="2800" smtClean="0">
                <a:solidFill>
                  <a:srgbClr val="000000"/>
                </a:solidFill>
                <a:latin typeface="Times New Roman" panose="02020603050405020304" pitchFamily="18" charset="0"/>
                <a:cs typeface="Times New Roman" panose="02020603050405020304" pitchFamily="18" charset="0"/>
              </a:rPr>
              <a:t>、</a:t>
            </a:r>
            <a:r>
              <a:rPr lang="zh-CN" altLang="en-US" sz="2800">
                <a:solidFill>
                  <a:srgbClr val="000000"/>
                </a:solidFill>
                <a:latin typeface="Times New Roman" panose="02020603050405020304" pitchFamily="18" charset="0"/>
                <a:cs typeface="Times New Roman" panose="02020603050405020304" pitchFamily="18" charset="0"/>
              </a:rPr>
              <a:t>丙三名同学计划利用寒假从</a:t>
            </a:r>
            <a:r>
              <a:rPr lang="en-US" altLang="zh-CN" sz="2800" smtClean="0">
                <a:solidFill>
                  <a:srgbClr val="000000"/>
                </a:solidFill>
                <a:latin typeface="Times New Roman" panose="02020603050405020304" pitchFamily="18" charset="0"/>
                <a:cs typeface="Times New Roman" panose="02020603050405020304" pitchFamily="18" charset="0"/>
              </a:rPr>
              <a:t>A,B,C,D</a:t>
            </a:r>
            <a:r>
              <a:rPr lang="zh-CN" altLang="zh-CN" sz="2800">
                <a:solidFill>
                  <a:srgbClr val="000000"/>
                </a:solidFill>
                <a:latin typeface="Times New Roman" panose="02020603050405020304" pitchFamily="18" charset="0"/>
                <a:cs typeface="Times New Roman" panose="02020603050405020304" pitchFamily="18" charset="0"/>
              </a:rPr>
              <a:t>这</a:t>
            </a:r>
            <a:r>
              <a:rPr lang="en-US" altLang="zh-CN" sz="2800" smtClean="0">
                <a:solidFill>
                  <a:srgbClr val="000000"/>
                </a:solidFill>
                <a:latin typeface="Times New Roman" panose="02020603050405020304" pitchFamily="18" charset="0"/>
                <a:cs typeface="Times New Roman" panose="02020603050405020304" pitchFamily="18" charset="0"/>
              </a:rPr>
              <a:t>4</a:t>
            </a:r>
            <a:r>
              <a:rPr lang="zh-CN" altLang="en-US" sz="2800">
                <a:solidFill>
                  <a:srgbClr val="000000"/>
                </a:solidFill>
                <a:latin typeface="Times New Roman" panose="02020603050405020304" pitchFamily="18" charset="0"/>
                <a:cs typeface="Times New Roman" panose="02020603050405020304" pitchFamily="18" charset="0"/>
              </a:rPr>
              <a:t>处景点中任选</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en-US" sz="2800">
                <a:solidFill>
                  <a:srgbClr val="000000"/>
                </a:solidFill>
                <a:latin typeface="Times New Roman" panose="02020603050405020304" pitchFamily="18" charset="0"/>
                <a:cs typeface="Times New Roman" panose="02020603050405020304" pitchFamily="18" charset="0"/>
              </a:rPr>
              <a:t>处景点旅游</a:t>
            </a:r>
            <a:r>
              <a:rPr lang="en-US" altLang="zh-CN" sz="2800" smtClean="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每人彼此独立地选景点游玩</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且</a:t>
            </a:r>
            <a:r>
              <a:rPr lang="en-US" altLang="zh-CN" sz="2800">
                <a:solidFill>
                  <a:srgbClr val="000000"/>
                </a:solidFill>
                <a:latin typeface="Times New Roman" panose="02020603050405020304" pitchFamily="18" charset="0"/>
                <a:cs typeface="Times New Roman" panose="02020603050405020304" pitchFamily="18" charset="0"/>
              </a:rPr>
              <a:t>A</a:t>
            </a:r>
            <a:r>
              <a:rPr lang="zh-CN" altLang="zh-CN" sz="2800">
                <a:solidFill>
                  <a:srgbClr val="000000"/>
                </a:solidFill>
                <a:latin typeface="Times New Roman" panose="02020603050405020304" pitchFamily="18" charset="0"/>
                <a:cs typeface="Times New Roman" panose="02020603050405020304" pitchFamily="18" charset="0"/>
              </a:rPr>
              <a:t>必须有人去</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则不同的选择方法有</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i="1">
                <a:solidFill>
                  <a:srgbClr val="000000"/>
                </a:solidFill>
                <a:latin typeface="Times New Roman" panose="02020603050405020304" pitchFamily="18" charset="0"/>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A.16</a:t>
            </a:r>
            <a:r>
              <a:rPr lang="zh-CN" altLang="zh-CN" sz="2800" smtClean="0">
                <a:solidFill>
                  <a:srgbClr val="000000"/>
                </a:solidFill>
                <a:latin typeface="Times New Roman" panose="02020603050405020304" pitchFamily="18" charset="0"/>
                <a:cs typeface="Times New Roman" panose="02020603050405020304" pitchFamily="18" charset="0"/>
              </a:rPr>
              <a:t>种</a:t>
            </a:r>
            <a:r>
              <a:rPr lang="en-US" altLang="zh-CN" sz="2800" smtClean="0">
                <a:solidFill>
                  <a:srgbClr val="000000"/>
                </a:solidFill>
                <a:latin typeface="Times New Roman" panose="02020603050405020304" pitchFamily="18" charset="0"/>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	B.18</a:t>
            </a:r>
            <a:r>
              <a:rPr lang="zh-CN" altLang="zh-CN" sz="2800">
                <a:solidFill>
                  <a:srgbClr val="000000"/>
                </a:solidFill>
                <a:latin typeface="Times New Roman" panose="02020603050405020304" pitchFamily="18" charset="0"/>
                <a:cs typeface="Times New Roman" panose="02020603050405020304" pitchFamily="18" charset="0"/>
              </a:rPr>
              <a:t>种</a:t>
            </a:r>
            <a:r>
              <a:rPr lang="en-US" altLang="zh-CN" sz="2800">
                <a:solidFill>
                  <a:srgbClr val="000000"/>
                </a:solidFill>
                <a:latin typeface="Times New Roman" panose="02020603050405020304" pitchFamily="18" charset="0"/>
                <a:cs typeface="Times New Roman" panose="02020603050405020304" pitchFamily="18" charset="0"/>
              </a:rPr>
              <a:t>	C.37</a:t>
            </a:r>
            <a:r>
              <a:rPr lang="zh-CN" altLang="zh-CN" sz="2800">
                <a:solidFill>
                  <a:srgbClr val="000000"/>
                </a:solidFill>
                <a:latin typeface="Times New Roman" panose="02020603050405020304" pitchFamily="18" charset="0"/>
                <a:cs typeface="Times New Roman" panose="02020603050405020304" pitchFamily="18" charset="0"/>
              </a:rPr>
              <a:t>种</a:t>
            </a:r>
            <a:r>
              <a:rPr lang="en-US" altLang="zh-CN" sz="2800">
                <a:solidFill>
                  <a:srgbClr val="000000"/>
                </a:solidFill>
                <a:latin typeface="Times New Roman" panose="02020603050405020304" pitchFamily="18" charset="0"/>
                <a:cs typeface="Times New Roman" panose="02020603050405020304" pitchFamily="18" charset="0"/>
              </a:rPr>
              <a:t>	D.40</a:t>
            </a:r>
            <a:r>
              <a:rPr lang="zh-CN" altLang="zh-CN" sz="2800">
                <a:solidFill>
                  <a:srgbClr val="000000"/>
                </a:solidFill>
                <a:latin typeface="Times New Roman" panose="02020603050405020304" pitchFamily="18" charset="0"/>
                <a:cs typeface="Times New Roman" panose="02020603050405020304" pitchFamily="18" charset="0"/>
              </a:rPr>
              <a:t>种</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2" name="矩形 1"/>
          <p:cNvSpPr>
            <a:spLocks noChangeAspect="1"/>
          </p:cNvSpPr>
          <p:nvPr/>
        </p:nvSpPr>
        <p:spPr>
          <a:xfrm>
            <a:off x="381000" y="3470196"/>
            <a:ext cx="11430000" cy="2332946"/>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解析</a:t>
            </a:r>
            <a:r>
              <a:rPr lang="en-US"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方法</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直接法</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满足题意的不同的选择方法有以下三类</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三名同学中只有一名同学去</a:t>
            </a:r>
            <a:r>
              <a:rPr lang="en-US" altLang="zh-CN" sz="2800">
                <a:solidFill>
                  <a:srgbClr val="000000"/>
                </a:solidFill>
                <a:latin typeface="Times New Roman" panose="02020603050405020304" pitchFamily="18" charset="0"/>
                <a:cs typeface="Times New Roman" panose="02020603050405020304" pitchFamily="18" charset="0"/>
              </a:rPr>
              <a:t>A,</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这时分两步完成</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第一步</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选一名同学去</a:t>
            </a:r>
            <a:r>
              <a:rPr lang="en-US" altLang="zh-CN" sz="2800">
                <a:solidFill>
                  <a:srgbClr val="000000"/>
                </a:solidFill>
                <a:latin typeface="Times New Roman" panose="02020603050405020304" pitchFamily="18" charset="0"/>
                <a:cs typeface="Times New Roman" panose="02020603050405020304" pitchFamily="18" charset="0"/>
              </a:rPr>
              <a:t>A,</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有</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种方法</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第二步</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剩下的两名同学分别从</a:t>
            </a:r>
            <a:r>
              <a:rPr lang="en-US" altLang="zh-CN" sz="2800" smtClean="0">
                <a:solidFill>
                  <a:srgbClr val="000000"/>
                </a:solidFill>
                <a:latin typeface="Times New Roman" panose="02020603050405020304" pitchFamily="18" charset="0"/>
                <a:cs typeface="Times New Roman" panose="02020603050405020304" pitchFamily="18" charset="0"/>
              </a:rPr>
              <a:t>B,C,D</a:t>
            </a:r>
            <a:r>
              <a:rPr lang="zh-CN" altLang="en-US"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中任选</a:t>
            </a:r>
            <a:r>
              <a:rPr lang="en-US"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1</a:t>
            </a:r>
            <a:r>
              <a:rPr lang="zh-CN" altLang="en-US"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处景点旅游</a:t>
            </a:r>
            <a:r>
              <a:rPr lang="en-US" altLang="zh-CN" sz="2800" smtClean="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有</a:t>
            </a:r>
            <a:r>
              <a:rPr lang="en-US" altLang="zh-CN" sz="2800">
                <a:solidFill>
                  <a:srgbClr val="000000"/>
                </a:solidFill>
                <a:latin typeface="Times New Roman" panose="02020603050405020304" pitchFamily="18" charset="0"/>
                <a:cs typeface="Times New Roman" panose="02020603050405020304" pitchFamily="18" charset="0"/>
              </a:rPr>
              <a:t>3</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9</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种方法</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根据分步乘法计数原理</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一共有</a:t>
            </a:r>
            <a:r>
              <a:rPr lang="en-US" altLang="zh-CN" sz="2800">
                <a:solidFill>
                  <a:srgbClr val="000000"/>
                </a:solidFill>
                <a:latin typeface="Times New Roman" panose="02020603050405020304" pitchFamily="18" charset="0"/>
                <a:cs typeface="Times New Roman" panose="02020603050405020304" pitchFamily="18" charset="0"/>
              </a:rPr>
              <a:t>3×3</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27</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种选择方法</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494056"/>
            <a:ext cx="11430000" cy="5693866"/>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smtClean="0">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三名同学中有两名同学去</a:t>
            </a:r>
            <a:r>
              <a:rPr lang="en-US" altLang="zh-CN" sz="2800">
                <a:solidFill>
                  <a:srgbClr val="000000"/>
                </a:solidFill>
                <a:latin typeface="Times New Roman" panose="02020603050405020304" pitchFamily="18" charset="0"/>
                <a:cs typeface="Times New Roman" panose="02020603050405020304" pitchFamily="18" charset="0"/>
              </a:rPr>
              <a:t>A,</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这时分两步完成</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第一步</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选两名同学去</a:t>
            </a:r>
            <a:r>
              <a:rPr lang="en-US" altLang="zh-CN" sz="2800">
                <a:solidFill>
                  <a:srgbClr val="000000"/>
                </a:solidFill>
                <a:latin typeface="Times New Roman" panose="02020603050405020304" pitchFamily="18" charset="0"/>
                <a:cs typeface="Times New Roman" panose="02020603050405020304" pitchFamily="18" charset="0"/>
              </a:rPr>
              <a:t>A:</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甲乙、甲丙、乙丙</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有</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种方法</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第二步</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剩下的一名同学从</a:t>
            </a:r>
            <a:r>
              <a:rPr lang="en-US" altLang="zh-CN" sz="2800" smtClean="0">
                <a:solidFill>
                  <a:srgbClr val="000000"/>
                </a:solidFill>
                <a:latin typeface="Times New Roman" panose="02020603050405020304" pitchFamily="18" charset="0"/>
                <a:cs typeface="Times New Roman" panose="02020603050405020304" pitchFamily="18" charset="0"/>
              </a:rPr>
              <a:t>B,C,D</a:t>
            </a:r>
            <a:r>
              <a:rPr lang="zh-CN" altLang="en-US"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中任选</a:t>
            </a:r>
            <a:r>
              <a:rPr lang="en-US"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1</a:t>
            </a:r>
            <a:r>
              <a:rPr lang="zh-CN" altLang="en-US"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处景点旅游</a:t>
            </a:r>
            <a:r>
              <a:rPr lang="en-US" altLang="zh-CN" sz="2800" smtClean="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有</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种方法</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根据分步乘法计数原理</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一共有</a:t>
            </a:r>
            <a:r>
              <a:rPr lang="en-US" altLang="zh-CN" sz="2800">
                <a:solidFill>
                  <a:srgbClr val="000000"/>
                </a:solidFill>
                <a:latin typeface="Times New Roman" panose="02020603050405020304" pitchFamily="18" charset="0"/>
                <a:cs typeface="Times New Roman" panose="02020603050405020304" pitchFamily="18" charset="0"/>
              </a:rPr>
              <a:t>3×3</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9</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种选择方法</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三名同学都去</a:t>
            </a:r>
            <a:r>
              <a:rPr lang="en-US" altLang="zh-CN" sz="2800">
                <a:solidFill>
                  <a:srgbClr val="000000"/>
                </a:solidFill>
                <a:latin typeface="Times New Roman" panose="02020603050405020304" pitchFamily="18" charset="0"/>
                <a:cs typeface="Times New Roman" panose="02020603050405020304" pitchFamily="18" charset="0"/>
              </a:rPr>
              <a:t>A,</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只有</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种选择方法</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综上</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由分类加法计数原理可知一共有</a:t>
            </a:r>
            <a:r>
              <a:rPr lang="en-US" altLang="zh-CN" sz="2800">
                <a:solidFill>
                  <a:srgbClr val="000000"/>
                </a:solidFill>
                <a:latin typeface="Times New Roman" panose="02020603050405020304" pitchFamily="18" charset="0"/>
                <a:cs typeface="Times New Roman" panose="02020603050405020304" pitchFamily="18" charset="0"/>
              </a:rPr>
              <a:t>27</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9</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37</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种不同的选择方法</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方法</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间接法</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三名同学去</a:t>
            </a:r>
            <a:r>
              <a:rPr lang="en-US" altLang="zh-CN" sz="2800" smtClean="0">
                <a:solidFill>
                  <a:srgbClr val="000000"/>
                </a:solidFill>
                <a:latin typeface="Times New Roman" panose="02020603050405020304" pitchFamily="18" charset="0"/>
                <a:cs typeface="Times New Roman" panose="02020603050405020304" pitchFamily="18" charset="0"/>
              </a:rPr>
              <a:t>4</a:t>
            </a:r>
            <a:r>
              <a:rPr lang="zh-CN" altLang="en-US"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处</a:t>
            </a:r>
            <a:r>
              <a:rPr lang="zh-CN" altLang="zh-CN" sz="280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景</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点</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若没有特别要求</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则每名同学都有</a:t>
            </a:r>
            <a:r>
              <a:rPr lang="en-US" altLang="zh-CN" sz="2800">
                <a:solidFill>
                  <a:srgbClr val="000000"/>
                </a:solidFill>
                <a:latin typeface="Times New Roman" panose="02020603050405020304" pitchFamily="18" charset="0"/>
                <a:cs typeface="Times New Roman" panose="02020603050405020304" pitchFamily="18" charset="0"/>
              </a:rPr>
              <a:t>4</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种选择方法</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一共有</a:t>
            </a:r>
            <a:r>
              <a:rPr lang="en-US" altLang="zh-CN" sz="2800">
                <a:solidFill>
                  <a:srgbClr val="000000"/>
                </a:solidFill>
                <a:latin typeface="Times New Roman" panose="02020603050405020304" pitchFamily="18" charset="0"/>
                <a:cs typeface="Times New Roman" panose="02020603050405020304" pitchFamily="18" charset="0"/>
              </a:rPr>
              <a:t>4</a:t>
            </a:r>
            <a:r>
              <a:rPr lang="en-US" altLang="zh-CN" sz="2800" baseline="30000">
                <a:solidFill>
                  <a:srgbClr val="000000"/>
                </a:solidFill>
                <a:latin typeface="Times New Roman" panose="02020603050405020304" pitchFamily="18" charset="0"/>
                <a:cs typeface="Times New Roman" panose="02020603050405020304" pitchFamily="18" charset="0"/>
              </a:rPr>
              <a:t>3</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64</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种选择方法</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其中如果没有人去</a:t>
            </a:r>
            <a:r>
              <a:rPr lang="en-US" altLang="zh-CN" sz="2800">
                <a:solidFill>
                  <a:srgbClr val="000000"/>
                </a:solidFill>
                <a:latin typeface="Times New Roman" panose="02020603050405020304" pitchFamily="18" charset="0"/>
                <a:cs typeface="Times New Roman" panose="02020603050405020304" pitchFamily="18" charset="0"/>
              </a:rPr>
              <a:t>A,</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那么三名同学只去</a:t>
            </a:r>
            <a:r>
              <a:rPr lang="en-US" altLang="zh-CN" sz="2800" smtClean="0">
                <a:solidFill>
                  <a:srgbClr val="000000"/>
                </a:solidFill>
                <a:latin typeface="Times New Roman" panose="02020603050405020304" pitchFamily="18" charset="0"/>
                <a:cs typeface="Times New Roman" panose="02020603050405020304" pitchFamily="18" charset="0"/>
              </a:rPr>
              <a:t>3</a:t>
            </a:r>
            <a:r>
              <a:rPr lang="zh-CN" altLang="en-US"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处</a:t>
            </a:r>
            <a:r>
              <a:rPr lang="zh-CN" altLang="zh-CN" sz="280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景</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点</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一共有</a:t>
            </a:r>
            <a:r>
              <a:rPr lang="en-US" altLang="zh-CN" sz="2800">
                <a:solidFill>
                  <a:srgbClr val="000000"/>
                </a:solidFill>
                <a:latin typeface="Times New Roman" panose="02020603050405020304" pitchFamily="18" charset="0"/>
                <a:cs typeface="Times New Roman" panose="02020603050405020304" pitchFamily="18" charset="0"/>
              </a:rPr>
              <a:t>3</a:t>
            </a:r>
            <a:r>
              <a:rPr lang="en-US" altLang="zh-CN" sz="2800" baseline="30000">
                <a:solidFill>
                  <a:srgbClr val="000000"/>
                </a:solidFill>
                <a:latin typeface="Times New Roman" panose="02020603050405020304" pitchFamily="18" charset="0"/>
                <a:cs typeface="Times New Roman" panose="02020603050405020304" pitchFamily="18" charset="0"/>
              </a:rPr>
              <a:t>3</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27</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种选择方法</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故</a:t>
            </a:r>
            <a:r>
              <a:rPr lang="en-US" altLang="zh-CN" sz="2800">
                <a:solidFill>
                  <a:srgbClr val="000000"/>
                </a:solidFill>
                <a:latin typeface="Times New Roman" panose="02020603050405020304" pitchFamily="18" charset="0"/>
                <a:cs typeface="Times New Roman" panose="02020603050405020304" pitchFamily="18" charset="0"/>
              </a:rPr>
              <a:t>A</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必须有人去时</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共有</a:t>
            </a:r>
            <a:r>
              <a:rPr lang="en-US" altLang="zh-CN" sz="2800">
                <a:solidFill>
                  <a:srgbClr val="000000"/>
                </a:solidFill>
                <a:latin typeface="Times New Roman" panose="02020603050405020304" pitchFamily="18" charset="0"/>
                <a:cs typeface="Times New Roman" panose="02020603050405020304" pitchFamily="18" charset="0"/>
              </a:rPr>
              <a:t>64</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27</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37</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种不同的选择方法</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答案</a:t>
            </a:r>
            <a:r>
              <a:rPr lang="en-US"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C</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1611119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4" end="4"/>
                                            </p:txEl>
                                          </p:spTgt>
                                        </p:tgtEl>
                                        <p:attrNameLst>
                                          <p:attrName>style.visibility</p:attrName>
                                        </p:attrNameLst>
                                      </p:cBhvr>
                                      <p:to>
                                        <p:strVal val="visible"/>
                                      </p:to>
                                    </p:set>
                                    <p:animEffect transition="in" filter="randombar(horizontal)">
                                      <p:cBhvr>
                                        <p:cTn id="7"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反思感悟H.eps" descr="id:2147515084;FounderCES"/>
          <p:cNvPicPr/>
          <p:nvPr/>
        </p:nvPicPr>
        <p:blipFill>
          <a:blip r:embed="rId2">
            <a:clrChange>
              <a:clrFrom>
                <a:srgbClr val="FFFFFF"/>
              </a:clrFrom>
              <a:clrTo>
                <a:srgbClr val="FFFFFF">
                  <a:alpha val="0"/>
                </a:srgbClr>
              </a:clrTo>
            </a:clrChange>
          </a:blip>
          <a:stretch>
            <a:fillRect/>
          </a:stretch>
        </p:blipFill>
        <p:spPr>
          <a:xfrm>
            <a:off x="381000" y="1416977"/>
            <a:ext cx="2151080" cy="506033"/>
          </a:xfrm>
          <a:prstGeom prst="rect">
            <a:avLst/>
          </a:prstGeom>
        </p:spPr>
      </p:pic>
      <p:sp>
        <p:nvSpPr>
          <p:cNvPr id="3" name="矩形 2"/>
          <p:cNvSpPr>
            <a:spLocks noChangeAspect="1"/>
          </p:cNvSpPr>
          <p:nvPr/>
        </p:nvSpPr>
        <p:spPr>
          <a:xfrm>
            <a:off x="381000" y="1923010"/>
            <a:ext cx="11430000" cy="345325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求解有限制条件的计数问题的基本方法</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直接法</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先按照限制条件进行分类</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在每一类情况中</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运用两个计数原理求出所有符合要求的方法种数</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再根据分类加法计数原理</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将每一类中的方法数相加即得结果</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间接法</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先不考虑限制条件</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运用两个计数原理求出所有可能的方法种数</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再求出不满足限制条件时的方法种数</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相减即得所求结果</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79919734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522626"/>
            <a:ext cx="11430000" cy="5693866"/>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【变式训练</a:t>
            </a:r>
            <a:r>
              <a:rPr lang="en-US" altLang="zh-CN" sz="2800" b="1">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zh-CN" sz="2800">
                <a:solidFill>
                  <a:srgbClr val="000000"/>
                </a:solidFill>
                <a:latin typeface="NEU-BZ-S92"/>
                <a:ea typeface="Times New Roman" panose="02020603050405020304" pitchFamily="18" charset="0"/>
                <a:cs typeface="Times New Roman" panose="02020603050405020304" pitchFamily="18" charset="0"/>
              </a:rPr>
              <a:t> </a:t>
            </a:r>
            <a:r>
              <a:rPr lang="zh-CN" altLang="zh-CN" sz="2800">
                <a:solidFill>
                  <a:srgbClr val="000000"/>
                </a:solidFill>
                <a:latin typeface="Times New Roman" panose="02020603050405020304" pitchFamily="18" charset="0"/>
                <a:cs typeface="Times New Roman" panose="02020603050405020304" pitchFamily="18" charset="0"/>
              </a:rPr>
              <a:t>某班从</a:t>
            </a:r>
            <a:r>
              <a:rPr lang="en-US" altLang="zh-CN" sz="2800">
                <a:solidFill>
                  <a:srgbClr val="000000"/>
                </a:solidFill>
                <a:latin typeface="Times New Roman" panose="02020603050405020304" pitchFamily="18" charset="0"/>
                <a:cs typeface="Times New Roman" panose="02020603050405020304" pitchFamily="18" charset="0"/>
              </a:rPr>
              <a:t>6</a:t>
            </a:r>
            <a:r>
              <a:rPr lang="zh-CN" altLang="zh-CN" sz="2800">
                <a:solidFill>
                  <a:srgbClr val="000000"/>
                </a:solidFill>
                <a:latin typeface="Times New Roman" panose="02020603050405020304" pitchFamily="18" charset="0"/>
                <a:cs typeface="Times New Roman" panose="02020603050405020304" pitchFamily="18" charset="0"/>
              </a:rPr>
              <a:t>人中选出</a:t>
            </a:r>
            <a:r>
              <a:rPr lang="en-US" altLang="zh-CN" sz="2800">
                <a:solidFill>
                  <a:srgbClr val="000000"/>
                </a:solidFill>
                <a:latin typeface="Times New Roman" panose="02020603050405020304" pitchFamily="18" charset="0"/>
                <a:cs typeface="Times New Roman" panose="02020603050405020304" pitchFamily="18" charset="0"/>
              </a:rPr>
              <a:t>4</a:t>
            </a:r>
            <a:r>
              <a:rPr lang="zh-CN" altLang="zh-CN" sz="2800">
                <a:solidFill>
                  <a:srgbClr val="000000"/>
                </a:solidFill>
                <a:latin typeface="Times New Roman" panose="02020603050405020304" pitchFamily="18" charset="0"/>
                <a:cs typeface="Times New Roman" panose="02020603050405020304" pitchFamily="18" charset="0"/>
              </a:rPr>
              <a:t>人参加学校举办的数学、物理、化学</a:t>
            </a:r>
            <a:r>
              <a:rPr lang="zh-CN" altLang="zh-CN" sz="2800" smtClean="0">
                <a:solidFill>
                  <a:srgbClr val="000000"/>
                </a:solidFill>
                <a:latin typeface="Times New Roman" panose="02020603050405020304" pitchFamily="18" charset="0"/>
                <a:cs typeface="Times New Roman" panose="02020603050405020304" pitchFamily="18" charset="0"/>
              </a:rPr>
              <a:t>、</a:t>
            </a:r>
            <a:r>
              <a:rPr lang="zh-CN" altLang="en-US" sz="2800">
                <a:solidFill>
                  <a:srgbClr val="000000"/>
                </a:solidFill>
                <a:latin typeface="Times New Roman" panose="02020603050405020304" pitchFamily="18" charset="0"/>
                <a:cs typeface="Times New Roman" panose="02020603050405020304" pitchFamily="18" charset="0"/>
              </a:rPr>
              <a:t>生物学课外活动</a:t>
            </a:r>
            <a:r>
              <a:rPr lang="en-US" altLang="zh-CN" sz="2800" smtClean="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每人只能参加其中一项</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且每项课外活动都有人参加</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其中甲、乙两人都不能参加化学课外活动</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则不同的参加课外活动方案的种数为</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i="1">
                <a:solidFill>
                  <a:srgbClr val="000000"/>
                </a:solidFill>
                <a:latin typeface="Times New Roman" panose="02020603050405020304" pitchFamily="18" charset="0"/>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A.94	B.180	</a:t>
            </a:r>
            <a:r>
              <a:rPr lang="en-US" altLang="zh-CN" sz="2800" smtClean="0">
                <a:solidFill>
                  <a:srgbClr val="000000"/>
                </a:solidFill>
                <a:latin typeface="Times New Roman" panose="02020603050405020304" pitchFamily="18" charset="0"/>
                <a:cs typeface="Times New Roman" panose="02020603050405020304" pitchFamily="18" charset="0"/>
              </a:rPr>
              <a:t>	C.240</a:t>
            </a:r>
            <a:r>
              <a:rPr lang="en-US" altLang="zh-CN" sz="2800">
                <a:solidFill>
                  <a:srgbClr val="000000"/>
                </a:solidFill>
                <a:latin typeface="Times New Roman" panose="02020603050405020304" pitchFamily="18" charset="0"/>
                <a:cs typeface="Times New Roman" panose="02020603050405020304" pitchFamily="18" charset="0"/>
              </a:rPr>
              <a:t>	</a:t>
            </a:r>
            <a:r>
              <a:rPr lang="en-US" altLang="zh-CN" sz="2800" smtClean="0">
                <a:solidFill>
                  <a:srgbClr val="000000"/>
                </a:solidFill>
                <a:latin typeface="Times New Roman" panose="02020603050405020304" pitchFamily="18" charset="0"/>
                <a:cs typeface="Times New Roman" panose="02020603050405020304" pitchFamily="18" charset="0"/>
              </a:rPr>
              <a:t>	D.286</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解析</a:t>
            </a:r>
            <a:r>
              <a:rPr lang="en-US"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第一步</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因为甲、乙两人都不能参加化学课外活动</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所以从剩下的</a:t>
            </a:r>
            <a:r>
              <a:rPr lang="en-US" altLang="zh-CN" sz="2800">
                <a:solidFill>
                  <a:srgbClr val="000000"/>
                </a:solidFill>
                <a:latin typeface="Times New Roman" panose="02020603050405020304" pitchFamily="18" charset="0"/>
                <a:cs typeface="Times New Roman" panose="02020603050405020304" pitchFamily="18" charset="0"/>
              </a:rPr>
              <a:t>4</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人中选</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人参加化学课外活动</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共有</a:t>
            </a:r>
            <a:r>
              <a:rPr lang="en-US" altLang="zh-CN" sz="2800">
                <a:solidFill>
                  <a:srgbClr val="000000"/>
                </a:solidFill>
                <a:latin typeface="Times New Roman" panose="02020603050405020304" pitchFamily="18" charset="0"/>
                <a:cs typeface="Times New Roman" panose="02020603050405020304" pitchFamily="18" charset="0"/>
              </a:rPr>
              <a:t>4</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种选法</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第二步</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在剩下的</a:t>
            </a:r>
            <a:r>
              <a:rPr lang="en-US" altLang="zh-CN" sz="2800">
                <a:solidFill>
                  <a:srgbClr val="000000"/>
                </a:solidFill>
                <a:latin typeface="Times New Roman" panose="02020603050405020304" pitchFamily="18" charset="0"/>
                <a:cs typeface="Times New Roman" panose="02020603050405020304" pitchFamily="18" charset="0"/>
              </a:rPr>
              <a:t>5</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人中任选</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人参加数学、物理</a:t>
            </a:r>
            <a:r>
              <a:rPr lang="zh-CN" altLang="zh-CN" sz="280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en-US"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生物学课外活动</a:t>
            </a:r>
            <a:r>
              <a:rPr lang="en-US" altLang="zh-CN" sz="2800" smtClean="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共有</a:t>
            </a:r>
            <a:r>
              <a:rPr lang="en-US" altLang="zh-CN" sz="2800">
                <a:solidFill>
                  <a:srgbClr val="000000"/>
                </a:solidFill>
                <a:latin typeface="Times New Roman" panose="02020603050405020304" pitchFamily="18" charset="0"/>
                <a:cs typeface="Times New Roman" panose="02020603050405020304" pitchFamily="18" charset="0"/>
              </a:rPr>
              <a:t>5×4×3</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60</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种选法</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由分步乘法计数原理</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得不同参加课外活动方案的种数为</a:t>
            </a:r>
            <a:r>
              <a:rPr lang="en-US" altLang="zh-CN" sz="2800">
                <a:solidFill>
                  <a:srgbClr val="000000"/>
                </a:solidFill>
                <a:latin typeface="Times New Roman" panose="02020603050405020304" pitchFamily="18" charset="0"/>
                <a:cs typeface="Times New Roman" panose="02020603050405020304" pitchFamily="18" charset="0"/>
              </a:rPr>
              <a:t>4×60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240,</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故选</a:t>
            </a:r>
            <a:r>
              <a:rPr lang="en-US" altLang="zh-CN" sz="2800">
                <a:solidFill>
                  <a:srgbClr val="000000"/>
                </a:solidFill>
                <a:latin typeface="Times New Roman" panose="02020603050405020304" pitchFamily="18" charset="0"/>
                <a:cs typeface="Times New Roman" panose="02020603050405020304" pitchFamily="18" charset="0"/>
              </a:rPr>
              <a:t>C</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答案</a:t>
            </a:r>
            <a:r>
              <a:rPr lang="en-US"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C</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5996903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randombar(horizontal)">
                                      <p:cBhvr>
                                        <p:cTn id="7" dur="500"/>
                                        <p:tgtEl>
                                          <p:spTgt spid="2">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2">
                                            <p:txEl>
                                              <p:pRg st="3" end="3"/>
                                            </p:txEl>
                                          </p:spTgt>
                                        </p:tgtEl>
                                        <p:attrNameLst>
                                          <p:attrName>style.visibility</p:attrName>
                                        </p:attrNameLst>
                                      </p:cBhvr>
                                      <p:to>
                                        <p:strVal val="visible"/>
                                      </p:to>
                                    </p:set>
                                    <p:animEffect transition="in" filter="randombar(horizontal)">
                                      <p:cBhvr>
                                        <p:cTn id="12"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2" y="151371"/>
            <a:ext cx="11336478" cy="433754"/>
            <a:chOff x="381000" y="205656"/>
            <a:chExt cx="11336478" cy="433754"/>
          </a:xfrm>
        </p:grpSpPr>
        <p:sp>
          <p:nvSpPr>
            <p:cNvPr id="10" name="矩形 9"/>
            <p:cNvSpPr/>
            <p:nvPr/>
          </p:nvSpPr>
          <p:spPr>
            <a:xfrm>
              <a:off x="1999940" y="230648"/>
              <a:ext cx="192275" cy="401795"/>
            </a:xfrm>
            <a:prstGeom prst="rect">
              <a:avLst/>
            </a:prstGeom>
            <a:noFill/>
            <a:ln w="1905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nvGrpSpPr>
            <p:cNvPr id="11" name="组合 10"/>
            <p:cNvGrpSpPr/>
            <p:nvPr/>
          </p:nvGrpSpPr>
          <p:grpSpPr>
            <a:xfrm>
              <a:off x="381000" y="205656"/>
              <a:ext cx="11336478" cy="433754"/>
              <a:chOff x="3048000" y="2286000"/>
              <a:chExt cx="4813646" cy="457200"/>
            </a:xfrm>
          </p:grpSpPr>
          <p:sp>
            <p:nvSpPr>
              <p:cNvPr id="12" name="矩形 11"/>
              <p:cNvSpPr/>
              <p:nvPr/>
            </p:nvSpPr>
            <p:spPr>
              <a:xfrm>
                <a:off x="3048000" y="2286000"/>
                <a:ext cx="769070"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rPr>
                  <a:t>探究三</a:t>
                </a:r>
              </a:p>
            </p:txBody>
          </p:sp>
          <p:sp>
            <p:nvSpPr>
              <p:cNvPr id="13" name="矩形 12"/>
              <p:cNvSpPr/>
              <p:nvPr/>
            </p:nvSpPr>
            <p:spPr>
              <a:xfrm>
                <a:off x="3909004" y="2286000"/>
                <a:ext cx="3952642"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a:solidFill>
                      <a:schemeClr val="bg1"/>
                    </a:solidFill>
                  </a:rPr>
                  <a:t>涂色问题</a:t>
                </a:r>
                <a:endParaRPr lang="zh-CN" altLang="en-US" sz="2800" b="1" dirty="0">
                  <a:solidFill>
                    <a:schemeClr val="bg1"/>
                  </a:solidFill>
                </a:endParaRPr>
              </a:p>
            </p:txBody>
          </p:sp>
        </p:grpSp>
      </p:grpSp>
      <p:sp>
        <p:nvSpPr>
          <p:cNvPr id="8" name="矩形 7"/>
          <p:cNvSpPr>
            <a:spLocks noChangeAspect="1"/>
          </p:cNvSpPr>
          <p:nvPr/>
        </p:nvSpPr>
        <p:spPr>
          <a:xfrm>
            <a:off x="381000" y="599725"/>
            <a:ext cx="9050676" cy="1772793"/>
          </a:xfrm>
          <a:prstGeom prst="rect">
            <a:avLst/>
          </a:prstGeom>
        </p:spPr>
        <p:txBody>
          <a:bodyPr wrap="square">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【例</a:t>
            </a:r>
            <a:r>
              <a:rPr lang="en-US" altLang="zh-CN" sz="2800" b="1">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zh-CN" sz="2800">
                <a:solidFill>
                  <a:srgbClr val="000000"/>
                </a:solidFill>
                <a:latin typeface="NEU-BZ-S92"/>
                <a:ea typeface="Times New Roman" panose="02020603050405020304" pitchFamily="18" charset="0"/>
                <a:cs typeface="Times New Roman" panose="02020603050405020304" pitchFamily="18" charset="0"/>
              </a:rPr>
              <a:t> </a:t>
            </a:r>
            <a:r>
              <a:rPr lang="zh-CN" altLang="zh-CN" sz="2800">
                <a:solidFill>
                  <a:srgbClr val="000000"/>
                </a:solidFill>
                <a:latin typeface="Times New Roman" panose="02020603050405020304" pitchFamily="18" charset="0"/>
                <a:cs typeface="Times New Roman" panose="02020603050405020304" pitchFamily="18" charset="0"/>
              </a:rPr>
              <a:t>如图</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用红、黄、绿、黑</a:t>
            </a:r>
            <a:r>
              <a:rPr lang="en-US" altLang="zh-CN" sz="2800">
                <a:solidFill>
                  <a:srgbClr val="000000"/>
                </a:solidFill>
                <a:latin typeface="Times New Roman" panose="02020603050405020304" pitchFamily="18" charset="0"/>
                <a:cs typeface="Times New Roman" panose="02020603050405020304" pitchFamily="18" charset="0"/>
              </a:rPr>
              <a:t>4</a:t>
            </a:r>
            <a:r>
              <a:rPr lang="zh-CN" altLang="zh-CN" sz="2800">
                <a:solidFill>
                  <a:srgbClr val="000000"/>
                </a:solidFill>
                <a:latin typeface="Times New Roman" panose="02020603050405020304" pitchFamily="18" charset="0"/>
                <a:cs typeface="Times New Roman" panose="02020603050405020304" pitchFamily="18" charset="0"/>
              </a:rPr>
              <a:t>种不同的颜色给五个区域涂色</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要求相邻的两个区域的颜色都不相同</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则有多少种不同的涂色方法</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p:txBody>
      </p:sp>
      <p:pic>
        <p:nvPicPr>
          <p:cNvPr id="14" name="ZMX3TRAX03.eps" descr="id:2147515241;FounderCES"/>
          <p:cNvPicPr/>
          <p:nvPr/>
        </p:nvPicPr>
        <p:blipFill>
          <a:blip r:embed="rId2">
            <a:clrChange>
              <a:clrFrom>
                <a:srgbClr val="FFFFFF"/>
              </a:clrFrom>
              <a:clrTo>
                <a:srgbClr val="FFFFFF">
                  <a:alpha val="0"/>
                </a:srgbClr>
              </a:clrTo>
            </a:clrChange>
          </a:blip>
          <a:stretch>
            <a:fillRect/>
          </a:stretch>
        </p:blipFill>
        <p:spPr>
          <a:xfrm>
            <a:off x="9431676" y="851417"/>
            <a:ext cx="2083949" cy="1353285"/>
          </a:xfrm>
          <a:prstGeom prst="rect">
            <a:avLst/>
          </a:prstGeom>
        </p:spPr>
      </p:pic>
      <p:pic>
        <p:nvPicPr>
          <p:cNvPr id="15" name="ZMX3TRAX04.eps" descr="id:2147515248;FounderCES"/>
          <p:cNvPicPr/>
          <p:nvPr/>
        </p:nvPicPr>
        <p:blipFill>
          <a:blip r:embed="rId3">
            <a:clrChange>
              <a:clrFrom>
                <a:srgbClr val="FFFFFF"/>
              </a:clrFrom>
              <a:clrTo>
                <a:srgbClr val="FFFFFF">
                  <a:alpha val="0"/>
                </a:srgbClr>
              </a:clrTo>
            </a:clrChange>
          </a:blip>
          <a:stretch>
            <a:fillRect/>
          </a:stretch>
        </p:blipFill>
        <p:spPr>
          <a:xfrm>
            <a:off x="5054887" y="2958065"/>
            <a:ext cx="2162218" cy="1379861"/>
          </a:xfrm>
          <a:prstGeom prst="rect">
            <a:avLst/>
          </a:prstGeom>
        </p:spPr>
      </p:pic>
      <p:sp>
        <p:nvSpPr>
          <p:cNvPr id="16" name="矩形 15"/>
          <p:cNvSpPr>
            <a:spLocks noChangeAspect="1"/>
          </p:cNvSpPr>
          <p:nvPr/>
        </p:nvSpPr>
        <p:spPr>
          <a:xfrm>
            <a:off x="381000" y="2419788"/>
            <a:ext cx="11430000" cy="3754874"/>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解</a:t>
            </a:r>
            <a:r>
              <a:rPr lang="en-US"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给图中区域标上记号</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B</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C</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D</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E</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如</a:t>
            </a:r>
            <a:r>
              <a:rPr lang="zh-CN" altLang="zh-CN" sz="280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图</a:t>
            </a:r>
            <a:r>
              <a:rPr lang="en-US" altLang="zh-CN" sz="2800" i="1" smtClean="0">
                <a:solidFill>
                  <a:srgbClr val="000000"/>
                </a:solidFill>
                <a:latin typeface="Times New Roman" panose="02020603050405020304" pitchFamily="18" charset="0"/>
                <a:cs typeface="Times New Roman" panose="02020603050405020304" pitchFamily="18" charset="0"/>
              </a:rPr>
              <a:t>.</a:t>
            </a:r>
            <a:endParaRPr lang="en-US" altLang="zh-CN" sz="2800" i="1">
              <a:solidFill>
                <a:srgbClr val="000000"/>
              </a:solidFill>
              <a:latin typeface="Times New Roman" panose="02020603050405020304" pitchFamily="18" charset="0"/>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en-US" altLang="zh-CN" sz="2800" i="1">
              <a:solidFill>
                <a:srgbClr val="000000"/>
              </a:solidFill>
              <a:latin typeface="Times New Roman" panose="02020603050405020304" pitchFamily="18" charset="0"/>
              <a:ea typeface="方正书宋_GBK" panose="03000509000000000000" pitchFamily="65" charset="-122"/>
              <a:cs typeface="Times New Roman" panose="02020603050405020304" pitchFamily="18" charset="0"/>
            </a:endParaRPr>
          </a:p>
          <a:p>
            <a:pPr>
              <a:spcAft>
                <a:spcPts val="0"/>
              </a:spcAft>
              <a:tabLst>
                <a:tab pos="1188085" algn="l"/>
                <a:tab pos="2163445" algn="l"/>
                <a:tab pos="3142615" algn="l"/>
                <a:tab pos="4190365" algn="l"/>
              </a:tabLst>
            </a:pPr>
            <a:endParaRPr lang="en-US" altLang="zh-CN" sz="2800" smtClean="0">
              <a:solidFill>
                <a:srgbClr val="000000"/>
              </a:solidFill>
              <a:latin typeface="NEU-BZ-S92"/>
              <a:ea typeface="方正书宋_GBK" panose="03000509000000000000" pitchFamily="65" charset="-122"/>
              <a:cs typeface="Times New Roman" panose="02020603050405020304" pitchFamily="18" charset="0"/>
            </a:endParaRPr>
          </a:p>
          <a:p>
            <a:pPr>
              <a:spcAft>
                <a:spcPts val="0"/>
              </a:spcAft>
              <a:tabLst>
                <a:tab pos="1188085" algn="l"/>
                <a:tab pos="2163445" algn="l"/>
                <a:tab pos="3142615" algn="l"/>
                <a:tab pos="4190365" algn="l"/>
              </a:tabLst>
            </a:pP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当</a:t>
            </a:r>
            <a:r>
              <a:rPr lang="en-US" altLang="zh-CN" sz="2800" i="1">
                <a:solidFill>
                  <a:srgbClr val="000000"/>
                </a:solidFill>
                <a:latin typeface="Times New Roman" panose="02020603050405020304" pitchFamily="18" charset="0"/>
                <a:cs typeface="Times New Roman" panose="02020603050405020304" pitchFamily="18" charset="0"/>
              </a:rPr>
              <a:t>B</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与</a:t>
            </a:r>
            <a:r>
              <a:rPr lang="en-US" altLang="zh-CN" sz="2800" i="1">
                <a:solidFill>
                  <a:srgbClr val="000000"/>
                </a:solidFill>
                <a:latin typeface="Times New Roman" panose="02020603050405020304" pitchFamily="18" charset="0"/>
                <a:cs typeface="Times New Roman" panose="02020603050405020304" pitchFamily="18" charset="0"/>
              </a:rPr>
              <a:t>D</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同色时</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有</a:t>
            </a:r>
            <a:r>
              <a:rPr lang="en-US" altLang="zh-CN" sz="2800">
                <a:solidFill>
                  <a:srgbClr val="000000"/>
                </a:solidFill>
                <a:latin typeface="Times New Roman" panose="02020603050405020304" pitchFamily="18" charset="0"/>
                <a:cs typeface="Times New Roman" panose="02020603050405020304" pitchFamily="18" charset="0"/>
              </a:rPr>
              <a:t>4×3×2×1×2</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48</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种不同的涂色方</a:t>
            </a:r>
            <a:r>
              <a:rPr lang="zh-CN" altLang="zh-CN" sz="280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法</a:t>
            </a:r>
            <a:r>
              <a:rPr lang="en-US" altLang="zh-CN" sz="280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当</a:t>
            </a:r>
            <a:r>
              <a:rPr lang="en-US" altLang="zh-CN" sz="2800" i="1">
                <a:solidFill>
                  <a:srgbClr val="000000"/>
                </a:solidFill>
                <a:latin typeface="Times New Roman" panose="02020603050405020304" pitchFamily="18" charset="0"/>
                <a:cs typeface="Times New Roman" panose="02020603050405020304" pitchFamily="18" charset="0"/>
              </a:rPr>
              <a:t>B</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与</a:t>
            </a:r>
            <a:r>
              <a:rPr lang="en-US" altLang="zh-CN" sz="2800" i="1">
                <a:solidFill>
                  <a:srgbClr val="000000"/>
                </a:solidFill>
                <a:latin typeface="Times New Roman" panose="02020603050405020304" pitchFamily="18" charset="0"/>
                <a:cs typeface="Times New Roman" panose="02020603050405020304" pitchFamily="18" charset="0"/>
              </a:rPr>
              <a:t>D</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不同色时</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有</a:t>
            </a:r>
            <a:r>
              <a:rPr lang="en-US" altLang="zh-CN" sz="2800">
                <a:solidFill>
                  <a:srgbClr val="000000"/>
                </a:solidFill>
                <a:latin typeface="Times New Roman" panose="02020603050405020304" pitchFamily="18" charset="0"/>
                <a:cs typeface="Times New Roman" panose="02020603050405020304" pitchFamily="18" charset="0"/>
              </a:rPr>
              <a:t>4×3×2×1×1</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24</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种不同的涂色方法</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故共有</a:t>
            </a:r>
            <a:r>
              <a:rPr lang="en-US" altLang="zh-CN" sz="2800">
                <a:solidFill>
                  <a:srgbClr val="000000"/>
                </a:solidFill>
                <a:latin typeface="Times New Roman" panose="02020603050405020304" pitchFamily="18" charset="0"/>
                <a:cs typeface="Times New Roman" panose="02020603050405020304" pitchFamily="18" charset="0"/>
              </a:rPr>
              <a:t>48</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24</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72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种不同的涂色方法</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randombar(horizontal)">
                                      <p:cBhvr>
                                        <p:cTn id="7" dur="500"/>
                                        <p:tgtEl>
                                          <p:spTgt spid="15"/>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randombar(horizontal)">
                                      <p:cBhvr>
                                        <p:cTn id="10"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延伸探究H.eps" descr="id:2147515106;FounderCES"/>
          <p:cNvPicPr/>
          <p:nvPr/>
        </p:nvPicPr>
        <p:blipFill>
          <a:blip r:embed="rId2">
            <a:clrChange>
              <a:clrFrom>
                <a:srgbClr val="FFFFFF"/>
              </a:clrFrom>
              <a:clrTo>
                <a:srgbClr val="FFFFFF">
                  <a:alpha val="0"/>
                </a:srgbClr>
              </a:clrTo>
            </a:clrChange>
          </a:blip>
          <a:stretch>
            <a:fillRect/>
          </a:stretch>
        </p:blipFill>
        <p:spPr>
          <a:xfrm>
            <a:off x="4966271" y="525027"/>
            <a:ext cx="2259458" cy="412065"/>
          </a:xfrm>
          <a:prstGeom prst="rect">
            <a:avLst/>
          </a:prstGeom>
        </p:spPr>
      </p:pic>
      <p:sp>
        <p:nvSpPr>
          <p:cNvPr id="4" name="矩形 3"/>
          <p:cNvSpPr>
            <a:spLocks noChangeAspect="1"/>
          </p:cNvSpPr>
          <p:nvPr/>
        </p:nvSpPr>
        <p:spPr>
          <a:xfrm>
            <a:off x="381000" y="937092"/>
            <a:ext cx="11430000" cy="1152367"/>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如图</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现有</a:t>
            </a:r>
            <a:r>
              <a:rPr lang="en-US" altLang="zh-CN" sz="2800">
                <a:solidFill>
                  <a:srgbClr val="000000"/>
                </a:solidFill>
                <a:latin typeface="Times New Roman" panose="02020603050405020304" pitchFamily="18" charset="0"/>
                <a:cs typeface="Times New Roman" panose="02020603050405020304" pitchFamily="18" charset="0"/>
              </a:rPr>
              <a:t>5</a:t>
            </a:r>
            <a:r>
              <a:rPr lang="zh-CN" altLang="zh-CN" sz="2800">
                <a:solidFill>
                  <a:srgbClr val="000000"/>
                </a:solidFill>
                <a:latin typeface="Times New Roman" panose="02020603050405020304" pitchFamily="18" charset="0"/>
                <a:cs typeface="Times New Roman" panose="02020603050405020304" pitchFamily="18" charset="0"/>
              </a:rPr>
              <a:t>种不同颜色要对四个区块进行着色</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要求有公共边界的两个区块不能用同一种颜色</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则不同的着色方案数为</a:t>
            </a:r>
            <a:r>
              <a:rPr lang="zh-CN" altLang="zh-CN" sz="2800" i="1" u="sng">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en-US" altLang="zh-CN" sz="2800" i="1">
                <a:solidFill>
                  <a:srgbClr val="000000"/>
                </a:solidFill>
                <a:latin typeface="Times New Roman" panose="02020603050405020304" pitchFamily="18" charset="0"/>
                <a:cs typeface="Times New Roman" panose="02020603050405020304" pitchFamily="18" charset="0"/>
              </a:rPr>
              <a:t>. </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p:txBody>
      </p:sp>
      <p:pic>
        <p:nvPicPr>
          <p:cNvPr id="5" name="QMX3TRAX06.eps" descr="id:2147512152;FounderCES"/>
          <p:cNvPicPr/>
          <p:nvPr/>
        </p:nvPicPr>
        <p:blipFill>
          <a:blip r:embed="rId3">
            <a:clrChange>
              <a:clrFrom>
                <a:srgbClr val="FFFFFF"/>
              </a:clrFrom>
              <a:clrTo>
                <a:srgbClr val="FFFFFF">
                  <a:alpha val="0"/>
                </a:srgbClr>
              </a:clrTo>
            </a:clrChange>
          </a:blip>
          <a:stretch>
            <a:fillRect/>
          </a:stretch>
        </p:blipFill>
        <p:spPr>
          <a:xfrm>
            <a:off x="5470592" y="2089459"/>
            <a:ext cx="1755137" cy="2032684"/>
          </a:xfrm>
          <a:prstGeom prst="rect">
            <a:avLst/>
          </a:prstGeom>
        </p:spPr>
      </p:pic>
      <p:sp>
        <p:nvSpPr>
          <p:cNvPr id="6" name="矩形 5"/>
          <p:cNvSpPr>
            <a:spLocks noChangeAspect="1"/>
          </p:cNvSpPr>
          <p:nvPr/>
        </p:nvSpPr>
        <p:spPr>
          <a:xfrm>
            <a:off x="381000" y="4067769"/>
            <a:ext cx="11430000" cy="227267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解析</a:t>
            </a:r>
            <a:r>
              <a:rPr lang="en-US"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按</a:t>
            </a:r>
            <a:r>
              <a:rPr lang="en-US" altLang="zh-CN" sz="2800">
                <a:solidFill>
                  <a:srgbClr val="000000"/>
                </a:solidFill>
                <a:latin typeface="Times New Roman" panose="02020603050405020304" pitchFamily="18" charset="0"/>
                <a:cs typeface="Times New Roman" panose="02020603050405020304" pitchFamily="18" charset="0"/>
              </a:rPr>
              <a:t>A,B,C,D</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顺序着色</a:t>
            </a:r>
            <a:r>
              <a:rPr lang="en-US" altLang="zh-CN" sz="2800">
                <a:solidFill>
                  <a:srgbClr val="000000"/>
                </a:solidFill>
                <a:latin typeface="Times New Roman" panose="02020603050405020304" pitchFamily="18" charset="0"/>
                <a:cs typeface="Times New Roman" panose="02020603050405020304" pitchFamily="18" charset="0"/>
              </a:rPr>
              <a:t>,A</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区块有</a:t>
            </a:r>
            <a:r>
              <a:rPr lang="en-US" altLang="zh-CN" sz="2800">
                <a:solidFill>
                  <a:srgbClr val="000000"/>
                </a:solidFill>
                <a:latin typeface="Times New Roman" panose="02020603050405020304" pitchFamily="18" charset="0"/>
                <a:cs typeface="Times New Roman" panose="02020603050405020304" pitchFamily="18" charset="0"/>
              </a:rPr>
              <a:t>5</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种着色方案</a:t>
            </a:r>
            <a:r>
              <a:rPr lang="en-US" altLang="zh-CN" sz="2800">
                <a:solidFill>
                  <a:srgbClr val="000000"/>
                </a:solidFill>
                <a:latin typeface="Times New Roman" panose="02020603050405020304" pitchFamily="18" charset="0"/>
                <a:cs typeface="Times New Roman" panose="02020603050405020304" pitchFamily="18" charset="0"/>
              </a:rPr>
              <a:t>,B</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区块有</a:t>
            </a:r>
            <a:r>
              <a:rPr lang="en-US" altLang="zh-CN" sz="2800">
                <a:solidFill>
                  <a:srgbClr val="000000"/>
                </a:solidFill>
                <a:latin typeface="Times New Roman" panose="02020603050405020304" pitchFamily="18" charset="0"/>
                <a:cs typeface="Times New Roman" panose="02020603050405020304" pitchFamily="18" charset="0"/>
              </a:rPr>
              <a:t>4</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种着色方案</a:t>
            </a:r>
            <a:r>
              <a:rPr lang="en-US" altLang="zh-CN" sz="2800">
                <a:solidFill>
                  <a:srgbClr val="000000"/>
                </a:solidFill>
                <a:latin typeface="Times New Roman" panose="02020603050405020304" pitchFamily="18" charset="0"/>
                <a:cs typeface="Times New Roman" panose="02020603050405020304" pitchFamily="18" charset="0"/>
              </a:rPr>
              <a:t>,C</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区块有</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种着色方案</a:t>
            </a:r>
            <a:r>
              <a:rPr lang="en-US" altLang="zh-CN" sz="2800">
                <a:solidFill>
                  <a:srgbClr val="000000"/>
                </a:solidFill>
                <a:latin typeface="Times New Roman" panose="02020603050405020304" pitchFamily="18" charset="0"/>
                <a:cs typeface="Times New Roman" panose="02020603050405020304" pitchFamily="18" charset="0"/>
              </a:rPr>
              <a:t>,D</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区块有</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种着色方案</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故不同的着色方案数为</a:t>
            </a:r>
            <a:r>
              <a:rPr lang="en-US" altLang="zh-CN" sz="2800">
                <a:solidFill>
                  <a:srgbClr val="000000"/>
                </a:solidFill>
                <a:latin typeface="Times New Roman" panose="02020603050405020304" pitchFamily="18" charset="0"/>
                <a:cs typeface="Times New Roman" panose="02020603050405020304" pitchFamily="18" charset="0"/>
              </a:rPr>
              <a:t>5×4×3×3</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180</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答案</a:t>
            </a:r>
            <a:r>
              <a:rPr lang="en-US"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180</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5879975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randombar(horizontal)">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randombar(horizontal)">
                                      <p:cBhvr>
                                        <p:cTn id="12" dur="500"/>
                                        <p:tgtEl>
                                          <p:spTgt spid="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81000" y="802704"/>
            <a:ext cx="11430000" cy="4013406"/>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如图</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该几何体由三棱锥</a:t>
            </a:r>
            <a:r>
              <a:rPr lang="en-US" altLang="zh-CN" sz="2800" i="1">
                <a:solidFill>
                  <a:srgbClr val="000000"/>
                </a:solidFill>
                <a:latin typeface="Times New Roman" panose="02020603050405020304" pitchFamily="18" charset="0"/>
                <a:cs typeface="Times New Roman" panose="02020603050405020304" pitchFamily="18" charset="0"/>
              </a:rPr>
              <a:t>P-ABC</a:t>
            </a:r>
            <a:r>
              <a:rPr lang="zh-CN" altLang="zh-CN" sz="2800">
                <a:solidFill>
                  <a:srgbClr val="000000"/>
                </a:solidFill>
                <a:latin typeface="Times New Roman" panose="02020603050405020304" pitchFamily="18" charset="0"/>
                <a:cs typeface="Times New Roman" panose="02020603050405020304" pitchFamily="18" charset="0"/>
              </a:rPr>
              <a:t>与三棱柱</a:t>
            </a:r>
            <a:r>
              <a:rPr lang="en-US" altLang="zh-CN" sz="2800" i="1">
                <a:solidFill>
                  <a:srgbClr val="000000"/>
                </a:solidFill>
                <a:latin typeface="Times New Roman" panose="02020603050405020304" pitchFamily="18" charset="0"/>
                <a:cs typeface="Times New Roman" panose="02020603050405020304" pitchFamily="18" charset="0"/>
              </a:rPr>
              <a:t>ABC-A</a:t>
            </a:r>
            <a:r>
              <a:rPr lang="en-US" altLang="zh-CN" sz="2800" baseline="-250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B</a:t>
            </a:r>
            <a:r>
              <a:rPr lang="en-US" altLang="zh-CN" sz="2800" baseline="-250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C</a:t>
            </a:r>
            <a:r>
              <a:rPr lang="en-US" altLang="zh-CN" sz="2800" baseline="-250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组合而成</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现用</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cs typeface="Times New Roman" panose="02020603050405020304" pitchFamily="18" charset="0"/>
              </a:rPr>
              <a:t>种不同颜色对这个几何体的表面涂色</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底面</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baseline="-250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B</a:t>
            </a:r>
            <a:r>
              <a:rPr lang="en-US" altLang="zh-CN" sz="2800" baseline="-250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C</a:t>
            </a:r>
            <a:r>
              <a:rPr lang="en-US" altLang="zh-CN" sz="2800" baseline="-250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不涂色</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要求相邻的面均不同色</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则不同的涂色方案共有</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i="1">
                <a:solidFill>
                  <a:srgbClr val="000000"/>
                </a:solidFill>
                <a:latin typeface="Times New Roman" panose="02020603050405020304" pitchFamily="18" charset="0"/>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A.36</a:t>
            </a:r>
            <a:r>
              <a:rPr lang="zh-CN" altLang="zh-CN" sz="2800">
                <a:solidFill>
                  <a:srgbClr val="000000"/>
                </a:solidFill>
                <a:latin typeface="Times New Roman" panose="02020603050405020304" pitchFamily="18" charset="0"/>
                <a:cs typeface="Times New Roman" panose="02020603050405020304" pitchFamily="18" charset="0"/>
              </a:rPr>
              <a:t>种</a:t>
            </a:r>
            <a:r>
              <a:rPr lang="en-US" altLang="zh-CN" sz="2800">
                <a:solidFill>
                  <a:srgbClr val="000000"/>
                </a:solidFill>
                <a:latin typeface="Times New Roman" panose="02020603050405020304" pitchFamily="18" charset="0"/>
                <a:cs typeface="Times New Roman" panose="02020603050405020304" pitchFamily="18" charset="0"/>
              </a:rPr>
              <a:t>	</a:t>
            </a:r>
            <a:endParaRPr lang="en-US" altLang="zh-CN" sz="2800" smtClean="0">
              <a:solidFill>
                <a:srgbClr val="000000"/>
              </a:solidFill>
              <a:latin typeface="Times New Roman" panose="02020603050405020304" pitchFamily="18" charset="0"/>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smtClean="0">
                <a:solidFill>
                  <a:srgbClr val="000000"/>
                </a:solidFill>
                <a:latin typeface="Times New Roman" panose="02020603050405020304" pitchFamily="18" charset="0"/>
                <a:cs typeface="Times New Roman" panose="02020603050405020304" pitchFamily="18" charset="0"/>
              </a:rPr>
              <a:t>B.24</a:t>
            </a:r>
            <a:r>
              <a:rPr lang="zh-CN" altLang="zh-CN" sz="2800">
                <a:solidFill>
                  <a:srgbClr val="000000"/>
                </a:solidFill>
                <a:latin typeface="Times New Roman" panose="02020603050405020304" pitchFamily="18" charset="0"/>
                <a:cs typeface="Times New Roman" panose="02020603050405020304" pitchFamily="18" charset="0"/>
              </a:rPr>
              <a:t>种</a:t>
            </a:r>
            <a:r>
              <a:rPr lang="en-US" altLang="zh-CN" sz="2800">
                <a:solidFill>
                  <a:srgbClr val="000000"/>
                </a:solidFill>
                <a:latin typeface="Times New Roman" panose="02020603050405020304" pitchFamily="18" charset="0"/>
                <a:cs typeface="Times New Roman" panose="02020603050405020304" pitchFamily="18" charset="0"/>
              </a:rPr>
              <a:t>	</a:t>
            </a:r>
            <a:endParaRPr lang="en-US" altLang="zh-CN" sz="2800" smtClean="0">
              <a:solidFill>
                <a:srgbClr val="000000"/>
              </a:solidFill>
              <a:latin typeface="Times New Roman" panose="02020603050405020304" pitchFamily="18" charset="0"/>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smtClean="0">
                <a:solidFill>
                  <a:srgbClr val="000000"/>
                </a:solidFill>
                <a:latin typeface="Times New Roman" panose="02020603050405020304" pitchFamily="18" charset="0"/>
                <a:cs typeface="Times New Roman" panose="02020603050405020304" pitchFamily="18" charset="0"/>
              </a:rPr>
              <a:t>C.12</a:t>
            </a:r>
            <a:r>
              <a:rPr lang="zh-CN" altLang="zh-CN" sz="2800">
                <a:solidFill>
                  <a:srgbClr val="000000"/>
                </a:solidFill>
                <a:latin typeface="Times New Roman" panose="02020603050405020304" pitchFamily="18" charset="0"/>
                <a:cs typeface="Times New Roman" panose="02020603050405020304" pitchFamily="18" charset="0"/>
              </a:rPr>
              <a:t>种</a:t>
            </a:r>
            <a:r>
              <a:rPr lang="en-US" altLang="zh-CN" sz="2800">
                <a:solidFill>
                  <a:srgbClr val="000000"/>
                </a:solidFill>
                <a:latin typeface="Times New Roman" panose="02020603050405020304" pitchFamily="18" charset="0"/>
                <a:cs typeface="Times New Roman" panose="02020603050405020304" pitchFamily="18" charset="0"/>
              </a:rPr>
              <a:t>	</a:t>
            </a:r>
            <a:endParaRPr lang="en-US" altLang="zh-CN" sz="2800" smtClean="0">
              <a:solidFill>
                <a:srgbClr val="000000"/>
              </a:solidFill>
              <a:latin typeface="Times New Roman" panose="02020603050405020304" pitchFamily="18" charset="0"/>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smtClean="0">
                <a:solidFill>
                  <a:srgbClr val="000000"/>
                </a:solidFill>
                <a:latin typeface="Times New Roman" panose="02020603050405020304" pitchFamily="18" charset="0"/>
                <a:cs typeface="Times New Roman" panose="02020603050405020304" pitchFamily="18" charset="0"/>
              </a:rPr>
              <a:t>D.9</a:t>
            </a:r>
            <a:r>
              <a:rPr lang="zh-CN" altLang="zh-CN" sz="2800" smtClean="0">
                <a:solidFill>
                  <a:srgbClr val="000000"/>
                </a:solidFill>
                <a:latin typeface="Times New Roman" panose="02020603050405020304" pitchFamily="18" charset="0"/>
                <a:cs typeface="Times New Roman" panose="02020603050405020304" pitchFamily="18" charset="0"/>
              </a:rPr>
              <a:t>种</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p:txBody>
      </p:sp>
      <p:pic>
        <p:nvPicPr>
          <p:cNvPr id="4" name="QMX3TRAX07.eps" descr="id:2147512159;FounderCES"/>
          <p:cNvPicPr/>
          <p:nvPr/>
        </p:nvPicPr>
        <p:blipFill>
          <a:blip r:embed="rId2">
            <a:clrChange>
              <a:clrFrom>
                <a:srgbClr val="FFFFFF"/>
              </a:clrFrom>
              <a:clrTo>
                <a:srgbClr val="FFFFFF">
                  <a:alpha val="0"/>
                </a:srgbClr>
              </a:clrTo>
            </a:clrChange>
          </a:blip>
          <a:stretch>
            <a:fillRect/>
          </a:stretch>
        </p:blipFill>
        <p:spPr>
          <a:xfrm>
            <a:off x="6975685" y="2012238"/>
            <a:ext cx="2188863" cy="3235071"/>
          </a:xfrm>
          <a:prstGeom prst="rect">
            <a:avLst/>
          </a:prstGeom>
        </p:spPr>
      </p:pic>
    </p:spTree>
    <p:extLst>
      <p:ext uri="{BB962C8B-B14F-4D97-AF65-F5344CB8AC3E}">
        <p14:creationId xmlns:p14="http://schemas.microsoft.com/office/powerpoint/2010/main" val="7280695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327109"/>
            <a:ext cx="11430000" cy="3453253"/>
          </a:xfrm>
          <a:prstGeom prst="rect">
            <a:avLst/>
          </a:prstGeom>
        </p:spPr>
        <p:txBody>
          <a:bodyPr>
            <a:spAutoFit/>
          </a:bodyPr>
          <a:lstStyle/>
          <a:p>
            <a:pPr>
              <a:lnSpc>
                <a:spcPct val="130000"/>
              </a:lnSpc>
              <a:tabLst>
                <a:tab pos="1188085" algn="l"/>
                <a:tab pos="2163445" algn="l"/>
                <a:tab pos="3142615" algn="l"/>
                <a:tab pos="4190365" algn="l"/>
              </a:tabLst>
            </a:pPr>
            <a:r>
              <a:rPr lang="zh-CN"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解析</a:t>
            </a:r>
            <a:r>
              <a:rPr lang="en-US" altLang="zh-CN" sz="2800" smtClean="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第</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步</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涂三棱锥</a:t>
            </a:r>
            <a:r>
              <a:rPr lang="en-US" altLang="zh-CN" sz="2800" i="1">
                <a:solidFill>
                  <a:srgbClr val="000000"/>
                </a:solidFill>
                <a:latin typeface="Times New Roman" panose="02020603050405020304" pitchFamily="18" charset="0"/>
                <a:cs typeface="Times New Roman" panose="02020603050405020304" pitchFamily="18" charset="0"/>
              </a:rPr>
              <a:t>P-ABC</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的三个侧面</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因为要求相邻的面均不同色</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所以共有</a:t>
            </a:r>
            <a:r>
              <a:rPr lang="en-US" altLang="zh-CN" sz="2800">
                <a:solidFill>
                  <a:srgbClr val="000000"/>
                </a:solidFill>
                <a:latin typeface="Times New Roman" panose="02020603050405020304" pitchFamily="18" charset="0"/>
                <a:cs typeface="Times New Roman" panose="02020603050405020304" pitchFamily="18" charset="0"/>
              </a:rPr>
              <a:t>3×2×1</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6</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种不同的涂法</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第</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步</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涂三棱柱</a:t>
            </a:r>
            <a:r>
              <a:rPr lang="en-US" altLang="zh-CN" sz="2800" i="1">
                <a:solidFill>
                  <a:srgbClr val="000000"/>
                </a:solidFill>
                <a:latin typeface="Times New Roman" panose="02020603050405020304" pitchFamily="18" charset="0"/>
                <a:cs typeface="Times New Roman" panose="02020603050405020304" pitchFamily="18" charset="0"/>
              </a:rPr>
              <a:t>ABC-A</a:t>
            </a:r>
            <a:r>
              <a:rPr lang="en-US" altLang="zh-CN" sz="2800" baseline="-250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B</a:t>
            </a:r>
            <a:r>
              <a:rPr lang="en-US" altLang="zh-CN" sz="2800" baseline="-250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C</a:t>
            </a:r>
            <a:r>
              <a:rPr lang="en-US" altLang="zh-CN" sz="2800" baseline="-250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的三个侧面</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先涂侧面</a:t>
            </a:r>
            <a:r>
              <a:rPr lang="en-US" altLang="zh-CN" sz="2800" i="1">
                <a:solidFill>
                  <a:srgbClr val="000000"/>
                </a:solidFill>
                <a:latin typeface="Times New Roman" panose="02020603050405020304" pitchFamily="18" charset="0"/>
                <a:cs typeface="Times New Roman" panose="02020603050405020304" pitchFamily="18" charset="0"/>
              </a:rPr>
              <a:t>AA</a:t>
            </a:r>
            <a:r>
              <a:rPr lang="en-US" altLang="zh-CN" sz="2800" baseline="-250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B</a:t>
            </a:r>
            <a:r>
              <a:rPr lang="en-US" altLang="zh-CN" sz="2800" baseline="-250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B</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有</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种涂法</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再涂侧面</a:t>
            </a:r>
            <a:r>
              <a:rPr lang="en-US" altLang="zh-CN" sz="2800" i="1">
                <a:solidFill>
                  <a:srgbClr val="000000"/>
                </a:solidFill>
                <a:latin typeface="Times New Roman" panose="02020603050405020304" pitchFamily="18" charset="0"/>
                <a:cs typeface="Times New Roman" panose="02020603050405020304" pitchFamily="18" charset="0"/>
              </a:rPr>
              <a:t>BB</a:t>
            </a:r>
            <a:r>
              <a:rPr lang="en-US" altLang="zh-CN" sz="2800" baseline="-250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C</a:t>
            </a:r>
            <a:r>
              <a:rPr lang="en-US" altLang="zh-CN" sz="2800" baseline="-250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C</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和侧面</a:t>
            </a:r>
            <a:r>
              <a:rPr lang="en-US" altLang="zh-CN" sz="2800" i="1">
                <a:solidFill>
                  <a:srgbClr val="000000"/>
                </a:solidFill>
                <a:latin typeface="Times New Roman" panose="02020603050405020304" pitchFamily="18" charset="0"/>
                <a:cs typeface="Times New Roman" panose="02020603050405020304" pitchFamily="18" charset="0"/>
              </a:rPr>
              <a:t>CC</a:t>
            </a:r>
            <a:r>
              <a:rPr lang="en-US" altLang="zh-CN" sz="2800" baseline="-250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baseline="-250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都只有</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种涂法</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所以涂三棱柱的三个侧面共有</a:t>
            </a:r>
            <a:r>
              <a:rPr lang="en-US" altLang="zh-CN" sz="2800">
                <a:solidFill>
                  <a:srgbClr val="000000"/>
                </a:solidFill>
                <a:latin typeface="Times New Roman" panose="02020603050405020304" pitchFamily="18" charset="0"/>
                <a:cs typeface="Times New Roman" panose="02020603050405020304" pitchFamily="18" charset="0"/>
              </a:rPr>
              <a:t>2×1×1</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种不同的涂法</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所以不同的涂色方案共有</a:t>
            </a:r>
            <a:r>
              <a:rPr lang="en-US" altLang="zh-CN" sz="2800">
                <a:solidFill>
                  <a:srgbClr val="000000"/>
                </a:solidFill>
                <a:latin typeface="Times New Roman" panose="02020603050405020304" pitchFamily="18" charset="0"/>
                <a:cs typeface="Times New Roman" panose="02020603050405020304" pitchFamily="18" charset="0"/>
              </a:rPr>
              <a:t>6×2</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故选</a:t>
            </a:r>
            <a:r>
              <a:rPr lang="en-US" altLang="zh-CN" sz="2800">
                <a:solidFill>
                  <a:srgbClr val="000000"/>
                </a:solidFill>
                <a:latin typeface="Times New Roman" panose="02020603050405020304" pitchFamily="18" charset="0"/>
                <a:cs typeface="Times New Roman" panose="02020603050405020304" pitchFamily="18" charset="0"/>
              </a:rPr>
              <a:t>C</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smtClean="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答</a:t>
            </a:r>
            <a:r>
              <a:rPr lang="zh-CN"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案</a:t>
            </a:r>
            <a:r>
              <a:rPr lang="en-US"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C</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75351456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反思感悟H.eps" descr="id:2147515084;FounderCES"/>
          <p:cNvPicPr/>
          <p:nvPr/>
        </p:nvPicPr>
        <p:blipFill>
          <a:blip r:embed="rId2">
            <a:clrChange>
              <a:clrFrom>
                <a:srgbClr val="FFFFFF"/>
              </a:clrFrom>
              <a:clrTo>
                <a:srgbClr val="FFFFFF">
                  <a:alpha val="0"/>
                </a:srgbClr>
              </a:clrTo>
            </a:clrChange>
          </a:blip>
          <a:stretch>
            <a:fillRect/>
          </a:stretch>
        </p:blipFill>
        <p:spPr>
          <a:xfrm>
            <a:off x="381000" y="445551"/>
            <a:ext cx="2151080" cy="506033"/>
          </a:xfrm>
          <a:prstGeom prst="rect">
            <a:avLst/>
          </a:prstGeom>
        </p:spPr>
      </p:pic>
      <p:sp>
        <p:nvSpPr>
          <p:cNvPr id="4" name="矩形 3"/>
          <p:cNvSpPr>
            <a:spLocks noChangeAspect="1"/>
          </p:cNvSpPr>
          <p:nvPr/>
        </p:nvSpPr>
        <p:spPr>
          <a:xfrm>
            <a:off x="381000" y="1082780"/>
            <a:ext cx="11430000" cy="507344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解决涂色问题的基本策略</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选择正确的涂色顺序</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按顺序逐一涂色</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弄清每一区域涂色的方法数</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根据分步乘法计数原理进行计算</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若图形不规则</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则往往从某一区域开始涂色</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如果图形具有一定的对称性</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那么可以先对涂色方案进行分类</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对每一类再进行分步涂色</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利用分类加法计数原理与分步乘法计数原理进行计算求解</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按照涂色实际所用的颜色数分类求解</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在每一类中</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运用分步乘法计数原理计算</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最后用分类加法计数原理得到所有涂色的方法数</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对空间几何体的涂色问题</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可将空间问题平面化</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转化为平面区域的涂色问题进行解决</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6570342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81000" y="897846"/>
            <a:ext cx="11430000" cy="513371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【变式训练</a:t>
            </a:r>
            <a:r>
              <a:rPr lang="en-US" altLang="zh-CN" sz="2800" b="1">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zh-CN" sz="2800">
                <a:solidFill>
                  <a:srgbClr val="000000"/>
                </a:solidFill>
                <a:latin typeface="NEU-BZ-S92"/>
                <a:ea typeface="Times New Roman" panose="02020603050405020304" pitchFamily="18" charset="0"/>
                <a:cs typeface="Times New Roman" panose="02020603050405020304" pitchFamily="18" charset="0"/>
              </a:rPr>
              <a:t> </a:t>
            </a:r>
            <a:r>
              <a:rPr lang="zh-CN" altLang="zh-CN" sz="2800">
                <a:solidFill>
                  <a:srgbClr val="000000"/>
                </a:solidFill>
                <a:latin typeface="Times New Roman" panose="02020603050405020304" pitchFamily="18" charset="0"/>
                <a:cs typeface="Times New Roman" panose="02020603050405020304" pitchFamily="18" charset="0"/>
              </a:rPr>
              <a:t>某学校高二数学兴趣小组给一个底面边长互不相等的直四棱柱容器的侧面和下底面染色</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提出如下的</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四色问题</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要求相邻两个面不得使用同一种颜色</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现有</a:t>
            </a:r>
            <a:r>
              <a:rPr lang="en-US" altLang="zh-CN" sz="2800">
                <a:solidFill>
                  <a:srgbClr val="000000"/>
                </a:solidFill>
                <a:latin typeface="Times New Roman" panose="02020603050405020304" pitchFamily="18" charset="0"/>
                <a:cs typeface="Times New Roman" panose="02020603050405020304" pitchFamily="18" charset="0"/>
              </a:rPr>
              <a:t>4</a:t>
            </a:r>
            <a:r>
              <a:rPr lang="zh-CN" altLang="zh-CN" sz="2800">
                <a:solidFill>
                  <a:srgbClr val="000000"/>
                </a:solidFill>
                <a:latin typeface="Times New Roman" panose="02020603050405020304" pitchFamily="18" charset="0"/>
                <a:cs typeface="Times New Roman" panose="02020603050405020304" pitchFamily="18" charset="0"/>
              </a:rPr>
              <a:t>种颜色可供选择</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则不同的染色方案有</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i="1">
                <a:solidFill>
                  <a:srgbClr val="000000"/>
                </a:solidFill>
                <a:latin typeface="Times New Roman" panose="02020603050405020304" pitchFamily="18" charset="0"/>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A.18</a:t>
            </a:r>
            <a:r>
              <a:rPr lang="zh-CN" altLang="zh-CN" sz="2800" smtClean="0">
                <a:solidFill>
                  <a:srgbClr val="000000"/>
                </a:solidFill>
                <a:latin typeface="Times New Roman" panose="02020603050405020304" pitchFamily="18" charset="0"/>
                <a:cs typeface="Times New Roman" panose="02020603050405020304" pitchFamily="18" charset="0"/>
              </a:rPr>
              <a:t>种</a:t>
            </a:r>
            <a:r>
              <a:rPr lang="en-US" altLang="zh-CN" sz="2800" smtClean="0">
                <a:solidFill>
                  <a:srgbClr val="000000"/>
                </a:solidFill>
                <a:latin typeface="Times New Roman" panose="02020603050405020304" pitchFamily="18" charset="0"/>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	B.36</a:t>
            </a:r>
            <a:r>
              <a:rPr lang="zh-CN" altLang="zh-CN" sz="2800">
                <a:solidFill>
                  <a:srgbClr val="000000"/>
                </a:solidFill>
                <a:latin typeface="Times New Roman" panose="02020603050405020304" pitchFamily="18" charset="0"/>
                <a:cs typeface="Times New Roman" panose="02020603050405020304" pitchFamily="18" charset="0"/>
              </a:rPr>
              <a:t>种</a:t>
            </a:r>
            <a:r>
              <a:rPr lang="en-US" altLang="zh-CN" sz="2800">
                <a:solidFill>
                  <a:srgbClr val="000000"/>
                </a:solidFill>
                <a:latin typeface="Times New Roman" panose="02020603050405020304" pitchFamily="18" charset="0"/>
                <a:cs typeface="Times New Roman" panose="02020603050405020304" pitchFamily="18" charset="0"/>
              </a:rPr>
              <a:t>	C.48</a:t>
            </a:r>
            <a:r>
              <a:rPr lang="zh-CN" altLang="zh-CN" sz="2800">
                <a:solidFill>
                  <a:srgbClr val="000000"/>
                </a:solidFill>
                <a:latin typeface="Times New Roman" panose="02020603050405020304" pitchFamily="18" charset="0"/>
                <a:cs typeface="Times New Roman" panose="02020603050405020304" pitchFamily="18" charset="0"/>
              </a:rPr>
              <a:t>种</a:t>
            </a:r>
            <a:r>
              <a:rPr lang="en-US" altLang="zh-CN" sz="2800">
                <a:solidFill>
                  <a:srgbClr val="000000"/>
                </a:solidFill>
                <a:latin typeface="Times New Roman" panose="02020603050405020304" pitchFamily="18" charset="0"/>
                <a:cs typeface="Times New Roman" panose="02020603050405020304" pitchFamily="18" charset="0"/>
              </a:rPr>
              <a:t>	D.72</a:t>
            </a:r>
            <a:r>
              <a:rPr lang="zh-CN" altLang="zh-CN" sz="2800">
                <a:solidFill>
                  <a:srgbClr val="000000"/>
                </a:solidFill>
                <a:latin typeface="Times New Roman" panose="02020603050405020304" pitchFamily="18" charset="0"/>
                <a:cs typeface="Times New Roman" panose="02020603050405020304" pitchFamily="18" charset="0"/>
              </a:rPr>
              <a:t>种</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tabLst>
                <a:tab pos="1188085" algn="l"/>
                <a:tab pos="2163445" algn="l"/>
                <a:tab pos="3142615" algn="l"/>
                <a:tab pos="4190365" algn="l"/>
              </a:tabLst>
            </a:pPr>
            <a:r>
              <a:rPr lang="zh-CN"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解析</a:t>
            </a:r>
            <a:r>
              <a:rPr lang="en-US" altLang="zh-CN" sz="2800" smtClean="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若选择</a:t>
            </a:r>
            <a:r>
              <a:rPr lang="en-US" altLang="zh-CN" sz="2800">
                <a:solidFill>
                  <a:srgbClr val="000000"/>
                </a:solidFill>
                <a:latin typeface="Times New Roman" panose="02020603050405020304" pitchFamily="18" charset="0"/>
              </a:rPr>
              <a:t>4</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种颜色</a:t>
            </a:r>
            <a:r>
              <a:rPr lang="en-US" altLang="zh-CN" sz="2800">
                <a:solidFill>
                  <a:srgbClr val="000000"/>
                </a:solidFill>
                <a:latin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则前后侧面或左右侧面用</a:t>
            </a:r>
            <a:r>
              <a:rPr lang="en-US" altLang="zh-CN" sz="2800">
                <a:solidFill>
                  <a:srgbClr val="000000"/>
                </a:solidFill>
                <a:latin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种颜色</a:t>
            </a:r>
            <a:r>
              <a:rPr lang="en-US" altLang="zh-CN" sz="2800">
                <a:solidFill>
                  <a:srgbClr val="000000"/>
                </a:solidFill>
                <a:latin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其他</a:t>
            </a:r>
            <a:r>
              <a:rPr lang="en-US" altLang="zh-CN" sz="2800">
                <a:solidFill>
                  <a:srgbClr val="000000"/>
                </a:solidFill>
                <a:latin typeface="Times New Roman" panose="02020603050405020304" pitchFamily="18" charset="0"/>
              </a:rPr>
              <a:t>3</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个面</a:t>
            </a:r>
            <a:r>
              <a:rPr lang="en-US" altLang="zh-CN" sz="2800">
                <a:solidFill>
                  <a:srgbClr val="000000"/>
                </a:solidFill>
                <a:latin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用剩下的</a:t>
            </a:r>
            <a:r>
              <a:rPr lang="en-US" altLang="zh-CN" sz="2800">
                <a:solidFill>
                  <a:srgbClr val="000000"/>
                </a:solidFill>
                <a:latin typeface="Times New Roman" panose="02020603050405020304" pitchFamily="18" charset="0"/>
              </a:rPr>
              <a:t>3</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种颜色</a:t>
            </a:r>
            <a:r>
              <a:rPr lang="en-US" altLang="zh-CN" sz="2800">
                <a:solidFill>
                  <a:srgbClr val="000000"/>
                </a:solidFill>
                <a:latin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所以有</a:t>
            </a:r>
            <a:r>
              <a:rPr lang="en-US" altLang="zh-CN" sz="2800">
                <a:solidFill>
                  <a:srgbClr val="000000"/>
                </a:solidFill>
                <a:latin typeface="Times New Roman" panose="02020603050405020304" pitchFamily="18" charset="0"/>
              </a:rPr>
              <a:t>2×4×3×2×1</a:t>
            </a:r>
            <a:r>
              <a:rPr lang="en-US" altLang="zh-CN" sz="2800" i="1">
                <a:solidFill>
                  <a:srgbClr val="000000"/>
                </a:solidFill>
                <a:latin typeface="Times New Roman" panose="02020603050405020304" pitchFamily="18" charset="0"/>
              </a:rPr>
              <a:t>=</a:t>
            </a:r>
            <a:r>
              <a:rPr lang="en-US" altLang="zh-CN" sz="2800">
                <a:solidFill>
                  <a:srgbClr val="000000"/>
                </a:solidFill>
                <a:latin typeface="Times New Roman" panose="02020603050405020304" pitchFamily="18" charset="0"/>
              </a:rPr>
              <a:t>48</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a:t>
            </a:r>
            <a:r>
              <a:rPr lang="en-US" altLang="zh-CN" sz="2800">
                <a:solidFill>
                  <a:srgbClr val="000000"/>
                </a:solidFill>
                <a:latin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若选择</a:t>
            </a:r>
            <a:r>
              <a:rPr lang="en-US" altLang="zh-CN" sz="2800">
                <a:solidFill>
                  <a:srgbClr val="000000"/>
                </a:solidFill>
                <a:latin typeface="Times New Roman" panose="02020603050405020304" pitchFamily="18" charset="0"/>
              </a:rPr>
              <a:t>3</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种颜色</a:t>
            </a:r>
            <a:r>
              <a:rPr lang="en-US" altLang="zh-CN" sz="2800">
                <a:solidFill>
                  <a:srgbClr val="000000"/>
                </a:solidFill>
                <a:latin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则前后侧面用</a:t>
            </a:r>
            <a:r>
              <a:rPr lang="en-US" altLang="zh-CN" sz="2800">
                <a:solidFill>
                  <a:srgbClr val="000000"/>
                </a:solidFill>
                <a:latin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种颜色</a:t>
            </a:r>
            <a:r>
              <a:rPr lang="en-US" altLang="zh-CN" sz="2800">
                <a:solidFill>
                  <a:srgbClr val="000000"/>
                </a:solidFill>
                <a:latin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左右侧面用另</a:t>
            </a:r>
            <a:r>
              <a:rPr lang="en-US" altLang="zh-CN" sz="2800">
                <a:solidFill>
                  <a:srgbClr val="000000"/>
                </a:solidFill>
                <a:latin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种颜色</a:t>
            </a:r>
            <a:r>
              <a:rPr lang="en-US" altLang="zh-CN" sz="2800">
                <a:solidFill>
                  <a:srgbClr val="000000"/>
                </a:solidFill>
                <a:latin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下底面用剩下的</a:t>
            </a:r>
            <a:r>
              <a:rPr lang="en-US" altLang="zh-CN" sz="2800">
                <a:solidFill>
                  <a:srgbClr val="000000"/>
                </a:solidFill>
                <a:latin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种颜色</a:t>
            </a:r>
            <a:r>
              <a:rPr lang="en-US" altLang="zh-CN" sz="2800">
                <a:solidFill>
                  <a:srgbClr val="000000"/>
                </a:solidFill>
                <a:latin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所以有</a:t>
            </a:r>
            <a:r>
              <a:rPr lang="en-US" altLang="zh-CN" sz="2800">
                <a:solidFill>
                  <a:srgbClr val="000000"/>
                </a:solidFill>
                <a:latin typeface="Times New Roman" panose="02020603050405020304" pitchFamily="18" charset="0"/>
              </a:rPr>
              <a:t>4×3×2</a:t>
            </a:r>
            <a:r>
              <a:rPr lang="en-US" altLang="zh-CN" sz="2800" i="1">
                <a:solidFill>
                  <a:srgbClr val="000000"/>
                </a:solidFill>
                <a:latin typeface="Times New Roman" panose="02020603050405020304" pitchFamily="18" charset="0"/>
              </a:rPr>
              <a:t>=</a:t>
            </a:r>
            <a:r>
              <a:rPr lang="en-US" altLang="zh-CN" sz="2800">
                <a:solidFill>
                  <a:srgbClr val="000000"/>
                </a:solidFill>
                <a:latin typeface="Times New Roman" panose="02020603050405020304" pitchFamily="18" charset="0"/>
              </a:rPr>
              <a:t>24</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a:t>
            </a:r>
            <a:r>
              <a:rPr lang="en-US" altLang="zh-CN" sz="2800" i="1">
                <a:solidFill>
                  <a:srgbClr val="000000"/>
                </a:solidFill>
                <a:latin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综上</a:t>
            </a:r>
            <a:r>
              <a:rPr lang="en-US" altLang="zh-CN" sz="2800">
                <a:solidFill>
                  <a:srgbClr val="000000"/>
                </a:solidFill>
                <a:latin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不同的染色方案有</a:t>
            </a:r>
            <a:r>
              <a:rPr lang="en-US" altLang="zh-CN" sz="2800">
                <a:solidFill>
                  <a:srgbClr val="000000"/>
                </a:solidFill>
                <a:latin typeface="Times New Roman" panose="02020603050405020304" pitchFamily="18" charset="0"/>
              </a:rPr>
              <a:t>24</a:t>
            </a:r>
            <a:r>
              <a:rPr lang="en-US" altLang="zh-CN" sz="2800" i="1">
                <a:solidFill>
                  <a:srgbClr val="000000"/>
                </a:solidFill>
                <a:latin typeface="Times New Roman" panose="02020603050405020304" pitchFamily="18" charset="0"/>
              </a:rPr>
              <a:t>+</a:t>
            </a:r>
            <a:r>
              <a:rPr lang="en-US" altLang="zh-CN" sz="2800">
                <a:solidFill>
                  <a:srgbClr val="000000"/>
                </a:solidFill>
                <a:latin typeface="Times New Roman" panose="02020603050405020304" pitchFamily="18" charset="0"/>
              </a:rPr>
              <a:t>48</a:t>
            </a:r>
            <a:r>
              <a:rPr lang="en-US" altLang="zh-CN" sz="2800" i="1">
                <a:solidFill>
                  <a:srgbClr val="000000"/>
                </a:solidFill>
                <a:latin typeface="Times New Roman" panose="02020603050405020304" pitchFamily="18" charset="0"/>
              </a:rPr>
              <a:t>=</a:t>
            </a:r>
            <a:r>
              <a:rPr lang="en-US" altLang="zh-CN" sz="2800">
                <a:solidFill>
                  <a:srgbClr val="000000"/>
                </a:solidFill>
                <a:latin typeface="Times New Roman" panose="02020603050405020304" pitchFamily="18" charset="0"/>
              </a:rPr>
              <a:t>72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a:t>
            </a:r>
            <a:r>
              <a:rPr lang="en-US" altLang="zh-CN" sz="2800" i="1">
                <a:solidFill>
                  <a:srgbClr val="000000"/>
                </a:solidFill>
                <a:latin typeface="Times New Roman" panose="02020603050405020304" pitchFamily="18" charset="0"/>
              </a:rPr>
              <a:t>.</a:t>
            </a:r>
            <a:endParaRPr lang="zh-CN" altLang="en-US" sz="2800"/>
          </a:p>
          <a:p>
            <a:pPr>
              <a:lnSpc>
                <a:spcPct val="130000"/>
              </a:lnSpc>
              <a:spcAft>
                <a:spcPts val="0"/>
              </a:spcAft>
              <a:tabLst>
                <a:tab pos="1188085" algn="l"/>
                <a:tab pos="2163445" algn="l"/>
                <a:tab pos="3142615" algn="l"/>
                <a:tab pos="4190365" algn="l"/>
              </a:tabLst>
            </a:pPr>
            <a:r>
              <a:rPr lang="zh-CN" altLang="zh-CN" sz="2800" smtClean="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答</a:t>
            </a:r>
            <a:r>
              <a:rPr lang="zh-CN"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案</a:t>
            </a:r>
            <a:r>
              <a:rPr lang="en-US"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D</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66059178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randombar(horizontal)">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randombar(horizontal)">
                                      <p:cBhvr>
                                        <p:cTn id="1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2" y="151371"/>
            <a:ext cx="11336478" cy="433754"/>
            <a:chOff x="3048000" y="2286000"/>
            <a:chExt cx="4813646" cy="457200"/>
          </a:xfrm>
        </p:grpSpPr>
        <p:sp>
          <p:nvSpPr>
            <p:cNvPr id="6" name="矩形 5"/>
            <p:cNvSpPr/>
            <p:nvPr/>
          </p:nvSpPr>
          <p:spPr>
            <a:xfrm>
              <a:off x="3048000" y="2286000"/>
              <a:ext cx="209403"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smtClean="0">
                  <a:solidFill>
                    <a:schemeClr val="bg1"/>
                  </a:solidFill>
                </a:rPr>
                <a:t> </a:t>
              </a:r>
              <a:endParaRPr lang="zh-CN" altLang="en-US" sz="2800" b="1" dirty="0" smtClean="0">
                <a:solidFill>
                  <a:schemeClr val="bg1"/>
                </a:solidFill>
              </a:endParaRPr>
            </a:p>
          </p:txBody>
        </p:sp>
        <p:sp>
          <p:nvSpPr>
            <p:cNvPr id="8" name="矩形 7"/>
            <p:cNvSpPr/>
            <p:nvPr/>
          </p:nvSpPr>
          <p:spPr>
            <a:xfrm>
              <a:off x="3345506" y="2286000"/>
              <a:ext cx="4516140"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a:solidFill>
                    <a:schemeClr val="bg1"/>
                  </a:solidFill>
                </a:rPr>
                <a:t>易错辨析</a:t>
              </a:r>
              <a:endParaRPr lang="zh-CN" altLang="en-US" sz="2800" b="1" dirty="0">
                <a:solidFill>
                  <a:schemeClr val="bg1"/>
                </a:solidFill>
              </a:endParaRPr>
            </a:p>
          </p:txBody>
        </p:sp>
      </p:grpSp>
      <p:sp>
        <p:nvSpPr>
          <p:cNvPr id="2" name="矩形 1"/>
          <p:cNvSpPr>
            <a:spLocks noChangeAspect="1"/>
          </p:cNvSpPr>
          <p:nvPr/>
        </p:nvSpPr>
        <p:spPr>
          <a:xfrm>
            <a:off x="381000" y="820576"/>
            <a:ext cx="11430000" cy="4953664"/>
          </a:xfrm>
          <a:prstGeom prst="rect">
            <a:avLst/>
          </a:prstGeom>
        </p:spPr>
        <p:txBody>
          <a:bodyPr>
            <a:spAutoFit/>
          </a:bodyPr>
          <a:lstStyle/>
          <a:p>
            <a:pPr algn="ctr">
              <a:lnSpc>
                <a:spcPct val="130000"/>
              </a:lnSpc>
              <a:spcAft>
                <a:spcPts val="0"/>
              </a:spcAft>
              <a:tabLst>
                <a:tab pos="1188085" algn="l"/>
                <a:tab pos="2163445" algn="l"/>
                <a:tab pos="3142615" algn="l"/>
                <a:tab pos="4190365" algn="l"/>
              </a:tabLst>
            </a:pPr>
            <a:r>
              <a:rPr lang="zh-CN" altLang="zh-CN" sz="2700">
                <a:solidFill>
                  <a:srgbClr val="000000"/>
                </a:solidFill>
                <a:latin typeface="Arial" panose="020B0604020202020204" pitchFamily="34" charset="0"/>
                <a:ea typeface="黑体" panose="02010609060101010101" pitchFamily="49" charset="-122"/>
                <a:cs typeface="Times New Roman" panose="02020603050405020304" pitchFamily="18" charset="0"/>
              </a:rPr>
              <a:t>忽略题目中的隐含条件而致错</a:t>
            </a:r>
            <a:endParaRPr lang="zh-CN" altLang="zh-CN" sz="27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700">
                <a:solidFill>
                  <a:srgbClr val="000000"/>
                </a:solidFill>
                <a:latin typeface="Arial" panose="020B0604020202020204" pitchFamily="34" charset="0"/>
                <a:ea typeface="黑体" panose="02010609060101010101" pitchFamily="49" charset="-122"/>
                <a:cs typeface="Times New Roman" panose="02020603050405020304" pitchFamily="18" charset="0"/>
              </a:rPr>
              <a:t>【典例】</a:t>
            </a:r>
            <a:r>
              <a:rPr lang="zh-CN" altLang="zh-CN" sz="2700">
                <a:solidFill>
                  <a:srgbClr val="000000"/>
                </a:solidFill>
                <a:latin typeface="NEU-BZ-S92"/>
                <a:ea typeface="Arial" panose="020B0604020202020204" pitchFamily="34" charset="0"/>
                <a:cs typeface="Times New Roman" panose="02020603050405020304" pitchFamily="18" charset="0"/>
              </a:rPr>
              <a:t> </a:t>
            </a:r>
            <a:r>
              <a:rPr lang="zh-CN" altLang="zh-CN" sz="2700">
                <a:solidFill>
                  <a:srgbClr val="000000"/>
                </a:solidFill>
                <a:latin typeface="Times New Roman" panose="02020603050405020304" pitchFamily="18" charset="0"/>
                <a:cs typeface="Times New Roman" panose="02020603050405020304" pitchFamily="18" charset="0"/>
              </a:rPr>
              <a:t>某外语组有</a:t>
            </a:r>
            <a:r>
              <a:rPr lang="en-US" altLang="zh-CN" sz="2700">
                <a:solidFill>
                  <a:srgbClr val="000000"/>
                </a:solidFill>
                <a:latin typeface="Times New Roman" panose="02020603050405020304" pitchFamily="18" charset="0"/>
                <a:cs typeface="Times New Roman" panose="02020603050405020304" pitchFamily="18" charset="0"/>
              </a:rPr>
              <a:t>9</a:t>
            </a:r>
            <a:r>
              <a:rPr lang="zh-CN" altLang="zh-CN" sz="2700">
                <a:solidFill>
                  <a:srgbClr val="000000"/>
                </a:solidFill>
                <a:latin typeface="Times New Roman" panose="02020603050405020304" pitchFamily="18" charset="0"/>
                <a:cs typeface="Times New Roman" panose="02020603050405020304" pitchFamily="18" charset="0"/>
              </a:rPr>
              <a:t>人</a:t>
            </a:r>
            <a:r>
              <a:rPr lang="en-US" altLang="zh-CN" sz="2700">
                <a:solidFill>
                  <a:srgbClr val="000000"/>
                </a:solidFill>
                <a:latin typeface="Times New Roman" panose="02020603050405020304" pitchFamily="18" charset="0"/>
                <a:cs typeface="Times New Roman" panose="02020603050405020304" pitchFamily="18" charset="0"/>
              </a:rPr>
              <a:t>,</a:t>
            </a:r>
            <a:r>
              <a:rPr lang="zh-CN" altLang="zh-CN" sz="2700">
                <a:solidFill>
                  <a:srgbClr val="000000"/>
                </a:solidFill>
                <a:latin typeface="Times New Roman" panose="02020603050405020304" pitchFamily="18" charset="0"/>
                <a:cs typeface="Times New Roman" panose="02020603050405020304" pitchFamily="18" charset="0"/>
              </a:rPr>
              <a:t>每人至少会英语和日语中的一门</a:t>
            </a:r>
            <a:r>
              <a:rPr lang="en-US" altLang="zh-CN" sz="2700">
                <a:solidFill>
                  <a:srgbClr val="000000"/>
                </a:solidFill>
                <a:latin typeface="Times New Roman" panose="02020603050405020304" pitchFamily="18" charset="0"/>
                <a:cs typeface="Times New Roman" panose="02020603050405020304" pitchFamily="18" charset="0"/>
              </a:rPr>
              <a:t>,</a:t>
            </a:r>
            <a:r>
              <a:rPr lang="zh-CN" altLang="zh-CN" sz="2700">
                <a:solidFill>
                  <a:srgbClr val="000000"/>
                </a:solidFill>
                <a:latin typeface="Times New Roman" panose="02020603050405020304" pitchFamily="18" charset="0"/>
                <a:cs typeface="Times New Roman" panose="02020603050405020304" pitchFamily="18" charset="0"/>
              </a:rPr>
              <a:t>其中</a:t>
            </a:r>
            <a:r>
              <a:rPr lang="en-US" altLang="zh-CN" sz="2700">
                <a:solidFill>
                  <a:srgbClr val="000000"/>
                </a:solidFill>
                <a:latin typeface="Times New Roman" panose="02020603050405020304" pitchFamily="18" charset="0"/>
                <a:cs typeface="Times New Roman" panose="02020603050405020304" pitchFamily="18" charset="0"/>
              </a:rPr>
              <a:t>7</a:t>
            </a:r>
            <a:r>
              <a:rPr lang="zh-CN" altLang="zh-CN" sz="2700">
                <a:solidFill>
                  <a:srgbClr val="000000"/>
                </a:solidFill>
                <a:latin typeface="Times New Roman" panose="02020603050405020304" pitchFamily="18" charset="0"/>
                <a:cs typeface="Times New Roman" panose="02020603050405020304" pitchFamily="18" charset="0"/>
              </a:rPr>
              <a:t>人会英语</a:t>
            </a:r>
            <a:r>
              <a:rPr lang="en-US" altLang="zh-CN" sz="2700">
                <a:solidFill>
                  <a:srgbClr val="000000"/>
                </a:solidFill>
                <a:latin typeface="Times New Roman" panose="02020603050405020304" pitchFamily="18" charset="0"/>
                <a:cs typeface="Times New Roman" panose="02020603050405020304" pitchFamily="18" charset="0"/>
              </a:rPr>
              <a:t>,3</a:t>
            </a:r>
            <a:r>
              <a:rPr lang="zh-CN" altLang="zh-CN" sz="2700">
                <a:solidFill>
                  <a:srgbClr val="000000"/>
                </a:solidFill>
                <a:latin typeface="Times New Roman" panose="02020603050405020304" pitchFamily="18" charset="0"/>
                <a:cs typeface="Times New Roman" panose="02020603050405020304" pitchFamily="18" charset="0"/>
              </a:rPr>
              <a:t>人会日语</a:t>
            </a:r>
            <a:r>
              <a:rPr lang="en-US" altLang="zh-CN" sz="2700">
                <a:solidFill>
                  <a:srgbClr val="000000"/>
                </a:solidFill>
                <a:latin typeface="Times New Roman" panose="02020603050405020304" pitchFamily="18" charset="0"/>
                <a:cs typeface="Times New Roman" panose="02020603050405020304" pitchFamily="18" charset="0"/>
              </a:rPr>
              <a:t>,</a:t>
            </a:r>
            <a:r>
              <a:rPr lang="zh-CN" altLang="zh-CN" sz="2700">
                <a:solidFill>
                  <a:srgbClr val="000000"/>
                </a:solidFill>
                <a:latin typeface="Times New Roman" panose="02020603050405020304" pitchFamily="18" charset="0"/>
                <a:cs typeface="Times New Roman" panose="02020603050405020304" pitchFamily="18" charset="0"/>
              </a:rPr>
              <a:t>从中选出会英语和日语的各</a:t>
            </a:r>
            <a:r>
              <a:rPr lang="en-US" altLang="zh-CN" sz="2700">
                <a:solidFill>
                  <a:srgbClr val="000000"/>
                </a:solidFill>
                <a:latin typeface="Times New Roman" panose="02020603050405020304" pitchFamily="18" charset="0"/>
                <a:cs typeface="Times New Roman" panose="02020603050405020304" pitchFamily="18" charset="0"/>
              </a:rPr>
              <a:t>1</a:t>
            </a:r>
            <a:r>
              <a:rPr lang="zh-CN" altLang="zh-CN" sz="2700">
                <a:solidFill>
                  <a:srgbClr val="000000"/>
                </a:solidFill>
                <a:latin typeface="Times New Roman" panose="02020603050405020304" pitchFamily="18" charset="0"/>
                <a:cs typeface="Times New Roman" panose="02020603050405020304" pitchFamily="18" charset="0"/>
              </a:rPr>
              <a:t>人</a:t>
            </a:r>
            <a:r>
              <a:rPr lang="en-US" altLang="zh-CN" sz="2700">
                <a:solidFill>
                  <a:srgbClr val="000000"/>
                </a:solidFill>
                <a:latin typeface="Times New Roman" panose="02020603050405020304" pitchFamily="18" charset="0"/>
                <a:cs typeface="Times New Roman" panose="02020603050405020304" pitchFamily="18" charset="0"/>
              </a:rPr>
              <a:t>,</a:t>
            </a:r>
            <a:r>
              <a:rPr lang="zh-CN" altLang="zh-CN" sz="2700">
                <a:solidFill>
                  <a:srgbClr val="000000"/>
                </a:solidFill>
                <a:latin typeface="Times New Roman" panose="02020603050405020304" pitchFamily="18" charset="0"/>
                <a:cs typeface="Times New Roman" panose="02020603050405020304" pitchFamily="18" charset="0"/>
              </a:rPr>
              <a:t>则不同的选法有</a:t>
            </a:r>
            <a:r>
              <a:rPr lang="zh-CN" altLang="zh-CN" sz="2700" i="1" u="sng">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zh-CN" altLang="zh-CN" sz="2700">
                <a:solidFill>
                  <a:srgbClr val="000000"/>
                </a:solidFill>
                <a:latin typeface="Times New Roman" panose="02020603050405020304" pitchFamily="18" charset="0"/>
                <a:cs typeface="Times New Roman" panose="02020603050405020304" pitchFamily="18" charset="0"/>
              </a:rPr>
              <a:t>种</a:t>
            </a:r>
            <a:r>
              <a:rPr lang="en-US" altLang="zh-CN" sz="2700" i="1">
                <a:solidFill>
                  <a:srgbClr val="000000"/>
                </a:solidFill>
                <a:latin typeface="Times New Roman" panose="02020603050405020304" pitchFamily="18" charset="0"/>
                <a:cs typeface="Times New Roman" panose="02020603050405020304" pitchFamily="18" charset="0"/>
              </a:rPr>
              <a:t>.</a:t>
            </a:r>
            <a:r>
              <a:rPr lang="en-US" altLang="zh-CN" sz="2700" i="1">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 </a:t>
            </a:r>
            <a:endParaRPr lang="zh-CN" altLang="zh-CN" sz="27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700">
                <a:solidFill>
                  <a:srgbClr val="000000"/>
                </a:solidFill>
                <a:latin typeface="Arial" panose="020B0604020202020204" pitchFamily="34" charset="0"/>
                <a:ea typeface="黑体" panose="02010609060101010101" pitchFamily="49" charset="-122"/>
                <a:cs typeface="Times New Roman" panose="02020603050405020304" pitchFamily="18" charset="0"/>
              </a:rPr>
              <a:t>错解</a:t>
            </a:r>
            <a:r>
              <a:rPr lang="en-US" altLang="zh-CN" sz="270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700">
                <a:solidFill>
                  <a:srgbClr val="000000"/>
                </a:solidFill>
                <a:latin typeface="Times New Roman" panose="02020603050405020304" pitchFamily="18" charset="0"/>
                <a:cs typeface="Times New Roman" panose="02020603050405020304" pitchFamily="18" charset="0"/>
              </a:rPr>
              <a:t>第</a:t>
            </a:r>
            <a:r>
              <a:rPr lang="en-US" altLang="zh-CN" sz="2700">
                <a:solidFill>
                  <a:srgbClr val="000000"/>
                </a:solidFill>
                <a:latin typeface="Times New Roman" panose="02020603050405020304" pitchFamily="18" charset="0"/>
                <a:cs typeface="Times New Roman" panose="02020603050405020304" pitchFamily="18" charset="0"/>
              </a:rPr>
              <a:t>1</a:t>
            </a:r>
            <a:r>
              <a:rPr lang="zh-CN" altLang="zh-CN" sz="2700">
                <a:solidFill>
                  <a:srgbClr val="000000"/>
                </a:solidFill>
                <a:latin typeface="Times New Roman" panose="02020603050405020304" pitchFamily="18" charset="0"/>
                <a:cs typeface="Times New Roman" panose="02020603050405020304" pitchFamily="18" charset="0"/>
              </a:rPr>
              <a:t>步</a:t>
            </a:r>
            <a:r>
              <a:rPr lang="en-US" altLang="zh-CN" sz="2700">
                <a:solidFill>
                  <a:srgbClr val="000000"/>
                </a:solidFill>
                <a:latin typeface="Times New Roman" panose="02020603050405020304" pitchFamily="18" charset="0"/>
                <a:cs typeface="Times New Roman" panose="02020603050405020304" pitchFamily="18" charset="0"/>
              </a:rPr>
              <a:t>,</a:t>
            </a:r>
            <a:r>
              <a:rPr lang="zh-CN" altLang="zh-CN" sz="2700">
                <a:solidFill>
                  <a:srgbClr val="000000"/>
                </a:solidFill>
                <a:latin typeface="Times New Roman" panose="02020603050405020304" pitchFamily="18" charset="0"/>
                <a:cs typeface="Times New Roman" panose="02020603050405020304" pitchFamily="18" charset="0"/>
              </a:rPr>
              <a:t>从会英语的</a:t>
            </a:r>
            <a:r>
              <a:rPr lang="en-US" altLang="zh-CN" sz="2700">
                <a:solidFill>
                  <a:srgbClr val="000000"/>
                </a:solidFill>
                <a:latin typeface="Times New Roman" panose="02020603050405020304" pitchFamily="18" charset="0"/>
                <a:cs typeface="Times New Roman" panose="02020603050405020304" pitchFamily="18" charset="0"/>
              </a:rPr>
              <a:t>7</a:t>
            </a:r>
            <a:r>
              <a:rPr lang="zh-CN" altLang="zh-CN" sz="2700">
                <a:solidFill>
                  <a:srgbClr val="000000"/>
                </a:solidFill>
                <a:latin typeface="Times New Roman" panose="02020603050405020304" pitchFamily="18" charset="0"/>
                <a:cs typeface="Times New Roman" panose="02020603050405020304" pitchFamily="18" charset="0"/>
              </a:rPr>
              <a:t>人中选</a:t>
            </a:r>
            <a:r>
              <a:rPr lang="en-US" altLang="zh-CN" sz="2700">
                <a:solidFill>
                  <a:srgbClr val="000000"/>
                </a:solidFill>
                <a:latin typeface="Times New Roman" panose="02020603050405020304" pitchFamily="18" charset="0"/>
                <a:cs typeface="Times New Roman" panose="02020603050405020304" pitchFamily="18" charset="0"/>
              </a:rPr>
              <a:t>1</a:t>
            </a:r>
            <a:r>
              <a:rPr lang="zh-CN" altLang="zh-CN" sz="2700">
                <a:solidFill>
                  <a:srgbClr val="000000"/>
                </a:solidFill>
                <a:latin typeface="Times New Roman" panose="02020603050405020304" pitchFamily="18" charset="0"/>
                <a:cs typeface="Times New Roman" panose="02020603050405020304" pitchFamily="18" charset="0"/>
              </a:rPr>
              <a:t>人</a:t>
            </a:r>
            <a:r>
              <a:rPr lang="en-US" altLang="zh-CN" sz="2700">
                <a:solidFill>
                  <a:srgbClr val="000000"/>
                </a:solidFill>
                <a:latin typeface="Times New Roman" panose="02020603050405020304" pitchFamily="18" charset="0"/>
                <a:cs typeface="Times New Roman" panose="02020603050405020304" pitchFamily="18" charset="0"/>
              </a:rPr>
              <a:t>,</a:t>
            </a:r>
            <a:r>
              <a:rPr lang="zh-CN" altLang="zh-CN" sz="2700">
                <a:solidFill>
                  <a:srgbClr val="000000"/>
                </a:solidFill>
                <a:latin typeface="Times New Roman" panose="02020603050405020304" pitchFamily="18" charset="0"/>
                <a:cs typeface="Times New Roman" panose="02020603050405020304" pitchFamily="18" charset="0"/>
              </a:rPr>
              <a:t>有</a:t>
            </a:r>
            <a:r>
              <a:rPr lang="en-US" altLang="zh-CN" sz="2700">
                <a:solidFill>
                  <a:srgbClr val="000000"/>
                </a:solidFill>
                <a:latin typeface="Times New Roman" panose="02020603050405020304" pitchFamily="18" charset="0"/>
                <a:cs typeface="Times New Roman" panose="02020603050405020304" pitchFamily="18" charset="0"/>
              </a:rPr>
              <a:t>7</a:t>
            </a:r>
            <a:r>
              <a:rPr lang="zh-CN" altLang="zh-CN" sz="2700">
                <a:solidFill>
                  <a:srgbClr val="000000"/>
                </a:solidFill>
                <a:latin typeface="Times New Roman" panose="02020603050405020304" pitchFamily="18" charset="0"/>
                <a:cs typeface="Times New Roman" panose="02020603050405020304" pitchFamily="18" charset="0"/>
              </a:rPr>
              <a:t>种选法</a:t>
            </a:r>
            <a:r>
              <a:rPr lang="en-US" altLang="zh-CN" sz="2700">
                <a:solidFill>
                  <a:srgbClr val="000000"/>
                </a:solidFill>
                <a:latin typeface="Times New Roman" panose="02020603050405020304" pitchFamily="18" charset="0"/>
                <a:cs typeface="Times New Roman" panose="02020603050405020304" pitchFamily="18" charset="0"/>
              </a:rPr>
              <a:t>;</a:t>
            </a:r>
            <a:r>
              <a:rPr lang="zh-CN" altLang="zh-CN" sz="2700">
                <a:solidFill>
                  <a:srgbClr val="000000"/>
                </a:solidFill>
                <a:latin typeface="Times New Roman" panose="02020603050405020304" pitchFamily="18" charset="0"/>
                <a:cs typeface="Times New Roman" panose="02020603050405020304" pitchFamily="18" charset="0"/>
              </a:rPr>
              <a:t>第</a:t>
            </a:r>
            <a:r>
              <a:rPr lang="en-US" altLang="zh-CN" sz="2700">
                <a:solidFill>
                  <a:srgbClr val="000000"/>
                </a:solidFill>
                <a:latin typeface="Times New Roman" panose="02020603050405020304" pitchFamily="18" charset="0"/>
                <a:cs typeface="Times New Roman" panose="02020603050405020304" pitchFamily="18" charset="0"/>
              </a:rPr>
              <a:t>2</a:t>
            </a:r>
            <a:r>
              <a:rPr lang="zh-CN" altLang="zh-CN" sz="2700">
                <a:solidFill>
                  <a:srgbClr val="000000"/>
                </a:solidFill>
                <a:latin typeface="Times New Roman" panose="02020603050405020304" pitchFamily="18" charset="0"/>
                <a:cs typeface="Times New Roman" panose="02020603050405020304" pitchFamily="18" charset="0"/>
              </a:rPr>
              <a:t>步</a:t>
            </a:r>
            <a:r>
              <a:rPr lang="en-US" altLang="zh-CN" sz="2700">
                <a:solidFill>
                  <a:srgbClr val="000000"/>
                </a:solidFill>
                <a:latin typeface="Times New Roman" panose="02020603050405020304" pitchFamily="18" charset="0"/>
                <a:cs typeface="Times New Roman" panose="02020603050405020304" pitchFamily="18" charset="0"/>
              </a:rPr>
              <a:t>,</a:t>
            </a:r>
            <a:r>
              <a:rPr lang="zh-CN" altLang="zh-CN" sz="2700">
                <a:solidFill>
                  <a:srgbClr val="000000"/>
                </a:solidFill>
                <a:latin typeface="Times New Roman" panose="02020603050405020304" pitchFamily="18" charset="0"/>
                <a:cs typeface="Times New Roman" panose="02020603050405020304" pitchFamily="18" charset="0"/>
              </a:rPr>
              <a:t>从会日语的</a:t>
            </a:r>
            <a:r>
              <a:rPr lang="en-US" altLang="zh-CN" sz="2700">
                <a:solidFill>
                  <a:srgbClr val="000000"/>
                </a:solidFill>
                <a:latin typeface="Times New Roman" panose="02020603050405020304" pitchFamily="18" charset="0"/>
                <a:cs typeface="Times New Roman" panose="02020603050405020304" pitchFamily="18" charset="0"/>
              </a:rPr>
              <a:t>3</a:t>
            </a:r>
            <a:r>
              <a:rPr lang="zh-CN" altLang="zh-CN" sz="2700">
                <a:solidFill>
                  <a:srgbClr val="000000"/>
                </a:solidFill>
                <a:latin typeface="Times New Roman" panose="02020603050405020304" pitchFamily="18" charset="0"/>
                <a:cs typeface="Times New Roman" panose="02020603050405020304" pitchFamily="18" charset="0"/>
              </a:rPr>
              <a:t>人中选</a:t>
            </a:r>
            <a:r>
              <a:rPr lang="en-US" altLang="zh-CN" sz="2700">
                <a:solidFill>
                  <a:srgbClr val="000000"/>
                </a:solidFill>
                <a:latin typeface="Times New Roman" panose="02020603050405020304" pitchFamily="18" charset="0"/>
                <a:cs typeface="Times New Roman" panose="02020603050405020304" pitchFamily="18" charset="0"/>
              </a:rPr>
              <a:t>1</a:t>
            </a:r>
            <a:r>
              <a:rPr lang="zh-CN" altLang="zh-CN" sz="2700">
                <a:solidFill>
                  <a:srgbClr val="000000"/>
                </a:solidFill>
                <a:latin typeface="Times New Roman" panose="02020603050405020304" pitchFamily="18" charset="0"/>
                <a:cs typeface="Times New Roman" panose="02020603050405020304" pitchFamily="18" charset="0"/>
              </a:rPr>
              <a:t>人</a:t>
            </a:r>
            <a:r>
              <a:rPr lang="en-US" altLang="zh-CN" sz="2700">
                <a:solidFill>
                  <a:srgbClr val="000000"/>
                </a:solidFill>
                <a:latin typeface="Times New Roman" panose="02020603050405020304" pitchFamily="18" charset="0"/>
                <a:cs typeface="Times New Roman" panose="02020603050405020304" pitchFamily="18" charset="0"/>
              </a:rPr>
              <a:t>,</a:t>
            </a:r>
            <a:r>
              <a:rPr lang="zh-CN" altLang="zh-CN" sz="2700">
                <a:solidFill>
                  <a:srgbClr val="000000"/>
                </a:solidFill>
                <a:latin typeface="Times New Roman" panose="02020603050405020304" pitchFamily="18" charset="0"/>
                <a:cs typeface="Times New Roman" panose="02020603050405020304" pitchFamily="18" charset="0"/>
              </a:rPr>
              <a:t>有</a:t>
            </a:r>
            <a:r>
              <a:rPr lang="en-US" altLang="zh-CN" sz="2700">
                <a:solidFill>
                  <a:srgbClr val="000000"/>
                </a:solidFill>
                <a:latin typeface="Times New Roman" panose="02020603050405020304" pitchFamily="18" charset="0"/>
                <a:cs typeface="Times New Roman" panose="02020603050405020304" pitchFamily="18" charset="0"/>
              </a:rPr>
              <a:t>3</a:t>
            </a:r>
            <a:r>
              <a:rPr lang="zh-CN" altLang="zh-CN" sz="2700">
                <a:solidFill>
                  <a:srgbClr val="000000"/>
                </a:solidFill>
                <a:latin typeface="Times New Roman" panose="02020603050405020304" pitchFamily="18" charset="0"/>
                <a:cs typeface="Times New Roman" panose="02020603050405020304" pitchFamily="18" charset="0"/>
              </a:rPr>
              <a:t>种选法</a:t>
            </a:r>
            <a:r>
              <a:rPr lang="en-US" altLang="zh-CN" sz="2700">
                <a:solidFill>
                  <a:srgbClr val="000000"/>
                </a:solidFill>
                <a:latin typeface="Times New Roman" panose="02020603050405020304" pitchFamily="18" charset="0"/>
                <a:cs typeface="Times New Roman" panose="02020603050405020304" pitchFamily="18" charset="0"/>
              </a:rPr>
              <a:t>,</a:t>
            </a:r>
            <a:r>
              <a:rPr lang="zh-CN" altLang="zh-CN" sz="2700">
                <a:solidFill>
                  <a:srgbClr val="000000"/>
                </a:solidFill>
                <a:latin typeface="Times New Roman" panose="02020603050405020304" pitchFamily="18" charset="0"/>
                <a:cs typeface="Times New Roman" panose="02020603050405020304" pitchFamily="18" charset="0"/>
              </a:rPr>
              <a:t>故共有</a:t>
            </a:r>
            <a:r>
              <a:rPr lang="en-US" altLang="zh-CN" sz="2700" smtClean="0">
                <a:solidFill>
                  <a:srgbClr val="000000"/>
                </a:solidFill>
                <a:latin typeface="Times New Roman" panose="02020603050405020304" pitchFamily="18" charset="0"/>
                <a:cs typeface="Times New Roman" panose="02020603050405020304" pitchFamily="18" charset="0"/>
              </a:rPr>
              <a:t>7×3</a:t>
            </a:r>
            <a:r>
              <a:rPr lang="en-US" altLang="zh-CN" sz="2700" i="1" smtClean="0">
                <a:solidFill>
                  <a:srgbClr val="000000"/>
                </a:solidFill>
                <a:latin typeface="Times New Roman" panose="02020603050405020304" pitchFamily="18" charset="0"/>
                <a:cs typeface="Times New Roman" panose="02020603050405020304" pitchFamily="18" charset="0"/>
              </a:rPr>
              <a:t>=</a:t>
            </a:r>
            <a:r>
              <a:rPr lang="en-US" altLang="zh-CN" sz="2700" smtClean="0">
                <a:solidFill>
                  <a:srgbClr val="000000"/>
                </a:solidFill>
                <a:latin typeface="Times New Roman" panose="02020603050405020304" pitchFamily="18" charset="0"/>
                <a:cs typeface="Times New Roman" panose="02020603050405020304" pitchFamily="18" charset="0"/>
              </a:rPr>
              <a:t>21</a:t>
            </a:r>
            <a:r>
              <a:rPr lang="zh-CN" altLang="zh-CN" sz="2700" smtClean="0">
                <a:solidFill>
                  <a:srgbClr val="000000"/>
                </a:solidFill>
                <a:latin typeface="Times New Roman" panose="02020603050405020304" pitchFamily="18" charset="0"/>
                <a:cs typeface="Times New Roman" panose="02020603050405020304" pitchFamily="18" charset="0"/>
              </a:rPr>
              <a:t>种不</a:t>
            </a:r>
            <a:r>
              <a:rPr lang="zh-CN" altLang="zh-CN" sz="2700">
                <a:solidFill>
                  <a:srgbClr val="000000"/>
                </a:solidFill>
                <a:latin typeface="Times New Roman" panose="02020603050405020304" pitchFamily="18" charset="0"/>
                <a:cs typeface="Times New Roman" panose="02020603050405020304" pitchFamily="18" charset="0"/>
              </a:rPr>
              <a:t>同的选法</a:t>
            </a:r>
            <a:r>
              <a:rPr lang="en-US" altLang="zh-CN" sz="2700" i="1">
                <a:solidFill>
                  <a:srgbClr val="000000"/>
                </a:solidFill>
                <a:latin typeface="Times New Roman" panose="02020603050405020304" pitchFamily="18" charset="0"/>
                <a:cs typeface="Times New Roman" panose="02020603050405020304" pitchFamily="18" charset="0"/>
              </a:rPr>
              <a:t>.</a:t>
            </a:r>
            <a:endParaRPr lang="zh-CN" altLang="zh-CN" sz="27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700">
                <a:latin typeface="Arial" panose="020B0604020202020204" pitchFamily="34" charset="0"/>
                <a:ea typeface="黑体" panose="02010609060101010101" pitchFamily="49" charset="-122"/>
                <a:cs typeface="Times New Roman" panose="02020603050405020304" pitchFamily="18" charset="0"/>
              </a:rPr>
              <a:t>答案</a:t>
            </a:r>
            <a:r>
              <a:rPr lang="en-US" altLang="zh-CN" sz="2700">
                <a:latin typeface="Arial" panose="020B0604020202020204" pitchFamily="34" charset="0"/>
                <a:ea typeface="黑体" panose="02010609060101010101" pitchFamily="49" charset="-122"/>
                <a:cs typeface="Times New Roman" panose="02020603050405020304" pitchFamily="18" charset="0"/>
              </a:rPr>
              <a:t>:</a:t>
            </a:r>
            <a:r>
              <a:rPr lang="en-US" altLang="zh-CN" sz="2700">
                <a:latin typeface="Times New Roman" panose="02020603050405020304" pitchFamily="18" charset="0"/>
                <a:cs typeface="Times New Roman" panose="02020603050405020304" pitchFamily="18" charset="0"/>
              </a:rPr>
              <a:t>21</a:t>
            </a:r>
            <a:endParaRPr lang="zh-CN" altLang="zh-CN" sz="2700">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700">
                <a:solidFill>
                  <a:srgbClr val="000000"/>
                </a:solidFill>
                <a:latin typeface="Times New Roman" panose="02020603050405020304" pitchFamily="18" charset="0"/>
                <a:cs typeface="Times New Roman" panose="02020603050405020304" pitchFamily="18" charset="0"/>
              </a:rPr>
              <a:t>以上解答过程中都有哪些错误</a:t>
            </a:r>
            <a:r>
              <a:rPr lang="en-US" altLang="zh-CN" sz="2700">
                <a:solidFill>
                  <a:srgbClr val="000000"/>
                </a:solidFill>
                <a:latin typeface="Times New Roman" panose="02020603050405020304" pitchFamily="18" charset="0"/>
                <a:cs typeface="Times New Roman" panose="02020603050405020304" pitchFamily="18" charset="0"/>
              </a:rPr>
              <a:t>?</a:t>
            </a:r>
            <a:r>
              <a:rPr lang="zh-CN" altLang="zh-CN" sz="2700">
                <a:solidFill>
                  <a:srgbClr val="000000"/>
                </a:solidFill>
                <a:latin typeface="Times New Roman" panose="02020603050405020304" pitchFamily="18" charset="0"/>
                <a:cs typeface="Times New Roman" panose="02020603050405020304" pitchFamily="18" charset="0"/>
              </a:rPr>
              <a:t>出错的原因是什么</a:t>
            </a:r>
            <a:r>
              <a:rPr lang="en-US" altLang="zh-CN" sz="2700">
                <a:solidFill>
                  <a:srgbClr val="000000"/>
                </a:solidFill>
                <a:latin typeface="Times New Roman" panose="02020603050405020304" pitchFamily="18" charset="0"/>
                <a:cs typeface="Times New Roman" panose="02020603050405020304" pitchFamily="18" charset="0"/>
              </a:rPr>
              <a:t>?</a:t>
            </a:r>
            <a:r>
              <a:rPr lang="zh-CN" altLang="zh-CN" sz="2700">
                <a:solidFill>
                  <a:srgbClr val="000000"/>
                </a:solidFill>
                <a:latin typeface="Times New Roman" panose="02020603050405020304" pitchFamily="18" charset="0"/>
                <a:cs typeface="Times New Roman" panose="02020603050405020304" pitchFamily="18" charset="0"/>
              </a:rPr>
              <a:t>你如何改正</a:t>
            </a:r>
            <a:r>
              <a:rPr lang="en-US" altLang="zh-CN" sz="2700">
                <a:solidFill>
                  <a:srgbClr val="000000"/>
                </a:solidFill>
                <a:latin typeface="Times New Roman" panose="02020603050405020304" pitchFamily="18" charset="0"/>
                <a:cs typeface="Times New Roman" panose="02020603050405020304" pitchFamily="18" charset="0"/>
              </a:rPr>
              <a:t>?</a:t>
            </a:r>
            <a:r>
              <a:rPr lang="zh-CN" altLang="zh-CN" sz="2700">
                <a:solidFill>
                  <a:srgbClr val="000000"/>
                </a:solidFill>
                <a:latin typeface="Times New Roman" panose="02020603050405020304" pitchFamily="18" charset="0"/>
                <a:cs typeface="Times New Roman" panose="02020603050405020304" pitchFamily="18" charset="0"/>
              </a:rPr>
              <a:t>你如何防范</a:t>
            </a:r>
            <a:r>
              <a:rPr lang="en-US" altLang="zh-CN" sz="2700">
                <a:solidFill>
                  <a:srgbClr val="000000"/>
                </a:solidFill>
                <a:latin typeface="Times New Roman" panose="02020603050405020304" pitchFamily="18" charset="0"/>
                <a:cs typeface="Times New Roman" panose="02020603050405020304" pitchFamily="18" charset="0"/>
              </a:rPr>
              <a:t>?</a:t>
            </a:r>
            <a:endParaRPr lang="zh-CN" altLang="zh-CN" sz="27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700">
                <a:solidFill>
                  <a:srgbClr val="FF0000"/>
                </a:solidFill>
                <a:latin typeface="Arial" panose="020B0604020202020204" pitchFamily="34" charset="0"/>
                <a:ea typeface="黑体" panose="02010609060101010101" pitchFamily="49" charset="-122"/>
                <a:cs typeface="Times New Roman" panose="02020603050405020304" pitchFamily="18" charset="0"/>
              </a:rPr>
              <a:t>提示</a:t>
            </a:r>
            <a:r>
              <a:rPr lang="en-US" altLang="zh-CN" sz="270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7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错误的根本原因在于忽视了其中有</a:t>
            </a:r>
            <a:r>
              <a:rPr lang="en-US" altLang="zh-CN" sz="2700">
                <a:solidFill>
                  <a:srgbClr val="000000"/>
                </a:solidFill>
                <a:latin typeface="Times New Roman" panose="02020603050405020304" pitchFamily="18" charset="0"/>
                <a:cs typeface="Times New Roman" panose="02020603050405020304" pitchFamily="18" charset="0"/>
              </a:rPr>
              <a:t>1</a:t>
            </a:r>
            <a:r>
              <a:rPr lang="zh-CN" altLang="zh-CN" sz="27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人既会英语又会日语这一隐含条件</a:t>
            </a:r>
            <a:r>
              <a:rPr lang="en-US" altLang="zh-CN" sz="2700">
                <a:solidFill>
                  <a:srgbClr val="000000"/>
                </a:solidFill>
                <a:latin typeface="Times New Roman" panose="02020603050405020304" pitchFamily="18" charset="0"/>
                <a:cs typeface="Times New Roman" panose="02020603050405020304" pitchFamily="18" charset="0"/>
              </a:rPr>
              <a:t>,</a:t>
            </a:r>
            <a:r>
              <a:rPr lang="zh-CN" altLang="zh-CN" sz="27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从而导致解题错误</a:t>
            </a:r>
            <a:r>
              <a:rPr lang="en-US" altLang="zh-CN" sz="2700" i="1">
                <a:solidFill>
                  <a:srgbClr val="000000"/>
                </a:solidFill>
                <a:latin typeface="Times New Roman" panose="02020603050405020304" pitchFamily="18" charset="0"/>
                <a:cs typeface="Times New Roman" panose="02020603050405020304" pitchFamily="18" charset="0"/>
              </a:rPr>
              <a:t>.</a:t>
            </a:r>
            <a:endParaRPr lang="zh-CN" altLang="zh-CN" sz="27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424954606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5" end="5"/>
                                            </p:txEl>
                                          </p:spTgt>
                                        </p:tgtEl>
                                        <p:attrNameLst>
                                          <p:attrName>style.visibility</p:attrName>
                                        </p:attrNameLst>
                                      </p:cBhvr>
                                      <p:to>
                                        <p:strVal val="visible"/>
                                      </p:to>
                                    </p:set>
                                    <p:animEffect transition="in" filter="randombar(horizontal)">
                                      <p:cBhvr>
                                        <p:cTn id="7"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013535"/>
            <a:ext cx="11430000" cy="457356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正解</a:t>
            </a:r>
            <a:r>
              <a:rPr lang="en-US"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依题意得</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既会英语又会日语的有</a:t>
            </a:r>
            <a:r>
              <a:rPr lang="en-US" altLang="zh-CN" sz="2800">
                <a:solidFill>
                  <a:srgbClr val="000000"/>
                </a:solidFill>
                <a:latin typeface="Times New Roman" panose="02020603050405020304" pitchFamily="18" charset="0"/>
                <a:cs typeface="Times New Roman" panose="02020603050405020304" pitchFamily="18" charset="0"/>
              </a:rPr>
              <a:t>7</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3</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9</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人</a:t>
            </a:r>
            <a:r>
              <a:rPr lang="en-US" altLang="zh-CN" sz="2800">
                <a:solidFill>
                  <a:srgbClr val="000000"/>
                </a:solidFill>
                <a:latin typeface="Times New Roman" panose="02020603050405020304" pitchFamily="18" charset="0"/>
                <a:cs typeface="Times New Roman" panose="02020603050405020304" pitchFamily="18" charset="0"/>
              </a:rPr>
              <a:t>,6</a:t>
            </a:r>
            <a:r>
              <a:rPr lang="zh-CN" altLang="zh-CN" sz="2800">
                <a:solidFill>
                  <a:srgbClr val="000000"/>
                </a:solidFill>
                <a:latin typeface="Times New Roman" panose="02020603050405020304" pitchFamily="18" charset="0"/>
                <a:cs typeface="Times New Roman" panose="02020603050405020304" pitchFamily="18" charset="0"/>
              </a:rPr>
              <a:t>人只会英语</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人只会日语</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cs typeface="Times New Roman" panose="02020603050405020304" pitchFamily="18" charset="0"/>
              </a:rPr>
              <a:t>第</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类</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从只会英语的</a:t>
            </a:r>
            <a:r>
              <a:rPr lang="en-US" altLang="zh-CN" sz="2800">
                <a:solidFill>
                  <a:srgbClr val="000000"/>
                </a:solidFill>
                <a:latin typeface="Times New Roman" panose="02020603050405020304" pitchFamily="18" charset="0"/>
                <a:cs typeface="Times New Roman" panose="02020603050405020304" pitchFamily="18" charset="0"/>
              </a:rPr>
              <a:t>6</a:t>
            </a:r>
            <a:r>
              <a:rPr lang="zh-CN" altLang="zh-CN" sz="2800">
                <a:solidFill>
                  <a:srgbClr val="000000"/>
                </a:solidFill>
                <a:latin typeface="Times New Roman" panose="02020603050405020304" pitchFamily="18" charset="0"/>
                <a:cs typeface="Times New Roman" panose="02020603050405020304" pitchFamily="18" charset="0"/>
              </a:rPr>
              <a:t>人中选</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人有</a:t>
            </a:r>
            <a:r>
              <a:rPr lang="en-US" altLang="zh-CN" sz="2800">
                <a:solidFill>
                  <a:srgbClr val="000000"/>
                </a:solidFill>
                <a:latin typeface="Times New Roman" panose="02020603050405020304" pitchFamily="18" charset="0"/>
                <a:cs typeface="Times New Roman" panose="02020603050405020304" pitchFamily="18" charset="0"/>
              </a:rPr>
              <a:t>6</a:t>
            </a:r>
            <a:r>
              <a:rPr lang="zh-CN" altLang="zh-CN" sz="2800">
                <a:solidFill>
                  <a:srgbClr val="000000"/>
                </a:solidFill>
                <a:latin typeface="Times New Roman" panose="02020603050405020304" pitchFamily="18" charset="0"/>
                <a:cs typeface="Times New Roman" panose="02020603050405020304" pitchFamily="18" charset="0"/>
              </a:rPr>
              <a:t>种方法</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此时选会日语的有</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cs typeface="Times New Roman" panose="02020603050405020304" pitchFamily="18" charset="0"/>
              </a:rPr>
              <a:t>种方法</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cs typeface="Times New Roman" panose="02020603050405020304" pitchFamily="18" charset="0"/>
              </a:rPr>
              <a:t>由分步乘法计数原理得选法种数为</a:t>
            </a:r>
            <a:r>
              <a:rPr lang="en-US" altLang="zh-CN" sz="2800">
                <a:solidFill>
                  <a:srgbClr val="000000"/>
                </a:solidFill>
                <a:latin typeface="Times New Roman" panose="02020603050405020304" pitchFamily="18" charset="0"/>
                <a:cs typeface="Times New Roman" panose="02020603050405020304" pitchFamily="18" charset="0"/>
              </a:rPr>
              <a:t>6×3</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18;</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cs typeface="Times New Roman" panose="02020603050405020304" pitchFamily="18" charset="0"/>
              </a:rPr>
              <a:t>第</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类</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从不只会英语的</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人中选</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人有</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种方法</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此时选会日语的有</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种方法</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由分步乘法计数原理得选法种数为</a:t>
            </a:r>
            <a:r>
              <a:rPr lang="en-US" altLang="zh-CN" sz="2800">
                <a:solidFill>
                  <a:srgbClr val="000000"/>
                </a:solidFill>
                <a:latin typeface="Times New Roman" panose="02020603050405020304" pitchFamily="18" charset="0"/>
                <a:cs typeface="Times New Roman" panose="02020603050405020304" pitchFamily="18" charset="0"/>
              </a:rPr>
              <a:t>1×2</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tabLst>
                <a:tab pos="1188085" algn="l"/>
                <a:tab pos="2163445" algn="l"/>
                <a:tab pos="3142615" algn="l"/>
                <a:tab pos="4190365" algn="l"/>
              </a:tabLst>
            </a:pPr>
            <a:r>
              <a:rPr lang="zh-CN" altLang="zh-CN" sz="2800">
                <a:solidFill>
                  <a:srgbClr val="000000"/>
                </a:solidFill>
                <a:latin typeface="Times New Roman" panose="02020603050405020304" pitchFamily="18" charset="0"/>
                <a:cs typeface="Times New Roman" panose="02020603050405020304" pitchFamily="18" charset="0"/>
              </a:rPr>
              <a:t>由分类加法计数原理</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可知不同选法共有</a:t>
            </a:r>
            <a:r>
              <a:rPr lang="en-US" altLang="zh-CN" sz="2800">
                <a:solidFill>
                  <a:srgbClr val="000000"/>
                </a:solidFill>
                <a:latin typeface="Times New Roman" panose="02020603050405020304" pitchFamily="18" charset="0"/>
                <a:cs typeface="Times New Roman" panose="02020603050405020304" pitchFamily="18" charset="0"/>
              </a:rPr>
              <a:t>18</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20</a:t>
            </a:r>
            <a:r>
              <a:rPr lang="zh-CN" altLang="zh-CN" sz="2800">
                <a:solidFill>
                  <a:srgbClr val="000000"/>
                </a:solidFill>
                <a:latin typeface="Times New Roman" panose="02020603050405020304" pitchFamily="18" charset="0"/>
                <a:cs typeface="Times New Roman" panose="02020603050405020304" pitchFamily="18" charset="0"/>
              </a:rPr>
              <a:t>种</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smtClean="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答</a:t>
            </a:r>
            <a:r>
              <a:rPr lang="zh-CN"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案</a:t>
            </a:r>
            <a:r>
              <a:rPr lang="en-US"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20</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81285578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5" end="5"/>
                                            </p:txEl>
                                          </p:spTgt>
                                        </p:tgtEl>
                                        <p:attrNameLst>
                                          <p:attrName>style.visibility</p:attrName>
                                        </p:attrNameLst>
                                      </p:cBhvr>
                                      <p:to>
                                        <p:strVal val="visible"/>
                                      </p:to>
                                    </p:set>
                                    <p:animEffect transition="in" filter="randombar(horizontal)">
                                      <p:cBhvr>
                                        <p:cTn id="7"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防范措施H.eps" descr="id:2147515141;FounderCES"/>
          <p:cNvPicPr/>
          <p:nvPr/>
        </p:nvPicPr>
        <p:blipFill>
          <a:blip r:embed="rId2">
            <a:clrChange>
              <a:clrFrom>
                <a:srgbClr val="FFFFFF"/>
              </a:clrFrom>
              <a:clrTo>
                <a:srgbClr val="FFFFFF">
                  <a:alpha val="0"/>
                </a:srgbClr>
              </a:clrTo>
            </a:clrChange>
          </a:blip>
          <a:stretch>
            <a:fillRect/>
          </a:stretch>
        </p:blipFill>
        <p:spPr>
          <a:xfrm>
            <a:off x="381000" y="2361833"/>
            <a:ext cx="2151080" cy="506033"/>
          </a:xfrm>
          <a:prstGeom prst="rect">
            <a:avLst/>
          </a:prstGeom>
        </p:spPr>
      </p:pic>
      <p:sp>
        <p:nvSpPr>
          <p:cNvPr id="3" name="矩形 2"/>
          <p:cNvSpPr>
            <a:spLocks noChangeAspect="1"/>
          </p:cNvSpPr>
          <p:nvPr/>
        </p:nvSpPr>
        <p:spPr>
          <a:xfrm>
            <a:off x="381000" y="3043317"/>
            <a:ext cx="11430000" cy="1152367"/>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解答此类问题的关键是确定好分类的标准</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合理恰当地进行分类</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而且要做到不重不漏</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利用分类加法</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分步乘法</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计数原理进行解决</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8171020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2239258"/>
            <a:ext cx="11430000" cy="177279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rPr>
              <a:t>【变式训练】</a:t>
            </a:r>
            <a:r>
              <a:rPr lang="zh-CN" altLang="zh-CN" sz="2800">
                <a:solidFill>
                  <a:srgbClr val="000000"/>
                </a:solidFill>
                <a:latin typeface="NEU-BZ-S92"/>
                <a:ea typeface="Arial" panose="020B0604020202020204" pitchFamily="34" charset="0"/>
                <a:cs typeface="Times New Roman" panose="02020603050405020304" pitchFamily="18" charset="0"/>
              </a:rPr>
              <a:t> </a:t>
            </a:r>
            <a:r>
              <a:rPr lang="zh-CN" altLang="zh-CN" sz="2800">
                <a:solidFill>
                  <a:srgbClr val="000000"/>
                </a:solidFill>
                <a:latin typeface="Times New Roman" panose="02020603050405020304" pitchFamily="18" charset="0"/>
                <a:cs typeface="Times New Roman" panose="02020603050405020304" pitchFamily="18" charset="0"/>
              </a:rPr>
              <a:t>在</a:t>
            </a:r>
            <a:r>
              <a:rPr lang="en-US" altLang="zh-CN" sz="2800">
                <a:solidFill>
                  <a:srgbClr val="000000"/>
                </a:solidFill>
                <a:latin typeface="Times New Roman" panose="02020603050405020304" pitchFamily="18" charset="0"/>
                <a:cs typeface="Times New Roman" panose="02020603050405020304" pitchFamily="18" charset="0"/>
              </a:rPr>
              <a:t>7</a:t>
            </a:r>
            <a:r>
              <a:rPr lang="zh-CN" altLang="zh-CN" sz="2800">
                <a:solidFill>
                  <a:srgbClr val="000000"/>
                </a:solidFill>
                <a:latin typeface="Times New Roman" panose="02020603050405020304" pitchFamily="18" charset="0"/>
                <a:cs typeface="Times New Roman" panose="02020603050405020304" pitchFamily="18" charset="0"/>
              </a:rPr>
              <a:t>名学生中</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有</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cs typeface="Times New Roman" panose="02020603050405020304" pitchFamily="18" charset="0"/>
              </a:rPr>
              <a:t>名会下象棋但不会下围棋</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有</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名会下围棋但不会下象棋</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另</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名既会下象棋又会下围</a:t>
            </a:r>
            <a:r>
              <a:rPr lang="zh-CN" altLang="zh-CN" sz="2800" smtClean="0">
                <a:solidFill>
                  <a:srgbClr val="000000"/>
                </a:solidFill>
                <a:latin typeface="Times New Roman" panose="02020603050405020304" pitchFamily="18" charset="0"/>
                <a:cs typeface="Times New Roman" panose="02020603050405020304" pitchFamily="18" charset="0"/>
              </a:rPr>
              <a:t>棋</a:t>
            </a:r>
            <a:r>
              <a:rPr lang="en-US" altLang="zh-CN" sz="2800" smtClean="0">
                <a:solidFill>
                  <a:srgbClr val="000000"/>
                </a:solidFill>
                <a:latin typeface="Times New Roman" panose="02020603050405020304" pitchFamily="18" charset="0"/>
                <a:cs typeface="Times New Roman" panose="02020603050405020304" pitchFamily="18" charset="0"/>
              </a:rPr>
              <a:t>.</a:t>
            </a:r>
            <a:r>
              <a:rPr lang="zh-CN" altLang="zh-CN" sz="2800" smtClean="0">
                <a:solidFill>
                  <a:srgbClr val="000000"/>
                </a:solidFill>
                <a:latin typeface="Times New Roman" panose="02020603050405020304" pitchFamily="18" charset="0"/>
                <a:cs typeface="Times New Roman" panose="02020603050405020304" pitchFamily="18" charset="0"/>
              </a:rPr>
              <a:t>现</a:t>
            </a:r>
            <a:r>
              <a:rPr lang="zh-CN" altLang="zh-CN" sz="2800">
                <a:solidFill>
                  <a:srgbClr val="000000"/>
                </a:solidFill>
                <a:latin typeface="Times New Roman" panose="02020603050405020304" pitchFamily="18" charset="0"/>
                <a:cs typeface="Times New Roman" panose="02020603050405020304" pitchFamily="18" charset="0"/>
              </a:rPr>
              <a:t>从</a:t>
            </a:r>
            <a:r>
              <a:rPr lang="en-US" altLang="zh-CN" sz="2800">
                <a:solidFill>
                  <a:srgbClr val="000000"/>
                </a:solidFill>
                <a:latin typeface="Times New Roman" panose="02020603050405020304" pitchFamily="18" charset="0"/>
                <a:cs typeface="Times New Roman" panose="02020603050405020304" pitchFamily="18" charset="0"/>
              </a:rPr>
              <a:t>7</a:t>
            </a:r>
            <a:r>
              <a:rPr lang="zh-CN" altLang="zh-CN" sz="2800">
                <a:solidFill>
                  <a:srgbClr val="000000"/>
                </a:solidFill>
                <a:latin typeface="Times New Roman" panose="02020603050405020304" pitchFamily="18" charset="0"/>
                <a:cs typeface="Times New Roman" panose="02020603050405020304" pitchFamily="18" charset="0"/>
              </a:rPr>
              <a:t>人中选</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人同时参加象棋比赛和围棋比赛</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共有多少种不同的选法</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4340794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81000" y="317683"/>
            <a:ext cx="11430000" cy="6049798"/>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sz="25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解</a:t>
            </a:r>
            <a:r>
              <a:rPr lang="en-US" altLang="zh-CN" sz="25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zh-CN" sz="25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选参加象棋比赛的学生有两种方法</a:t>
            </a:r>
            <a:r>
              <a:rPr lang="en-US" altLang="zh-CN" sz="2500">
                <a:solidFill>
                  <a:srgbClr val="000000"/>
                </a:solidFill>
                <a:latin typeface="Times New Roman" panose="02020603050405020304" pitchFamily="18" charset="0"/>
                <a:cs typeface="Times New Roman" panose="02020603050405020304" pitchFamily="18" charset="0"/>
              </a:rPr>
              <a:t>:</a:t>
            </a:r>
            <a:r>
              <a:rPr lang="zh-CN" altLang="zh-CN" sz="25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在只会下象棋的</a:t>
            </a:r>
            <a:r>
              <a:rPr lang="en-US" altLang="zh-CN" sz="2500">
                <a:solidFill>
                  <a:srgbClr val="000000"/>
                </a:solidFill>
                <a:latin typeface="Times New Roman" panose="02020603050405020304" pitchFamily="18" charset="0"/>
                <a:cs typeface="Times New Roman" panose="02020603050405020304" pitchFamily="18" charset="0"/>
              </a:rPr>
              <a:t>3</a:t>
            </a:r>
            <a:r>
              <a:rPr lang="zh-CN" altLang="zh-CN" sz="25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人中选或在既会下象棋又会下围棋的</a:t>
            </a:r>
            <a:r>
              <a:rPr lang="en-US" altLang="zh-CN" sz="2500">
                <a:solidFill>
                  <a:srgbClr val="000000"/>
                </a:solidFill>
                <a:latin typeface="Times New Roman" panose="02020603050405020304" pitchFamily="18" charset="0"/>
                <a:cs typeface="Times New Roman" panose="02020603050405020304" pitchFamily="18" charset="0"/>
              </a:rPr>
              <a:t>2</a:t>
            </a:r>
            <a:r>
              <a:rPr lang="zh-CN" altLang="zh-CN" sz="25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人中选</a:t>
            </a:r>
            <a:r>
              <a:rPr lang="en-US" altLang="zh-CN" sz="2500" i="1">
                <a:solidFill>
                  <a:srgbClr val="000000"/>
                </a:solidFill>
                <a:latin typeface="Times New Roman" panose="02020603050405020304" pitchFamily="18" charset="0"/>
                <a:cs typeface="Times New Roman" panose="02020603050405020304" pitchFamily="18" charset="0"/>
              </a:rPr>
              <a:t>.</a:t>
            </a:r>
            <a:endParaRPr lang="zh-CN" altLang="zh-CN" sz="250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sz="25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选参加围棋比赛的学生也有两种选法</a:t>
            </a:r>
            <a:r>
              <a:rPr lang="en-US" altLang="zh-CN" sz="2500">
                <a:solidFill>
                  <a:srgbClr val="000000"/>
                </a:solidFill>
                <a:latin typeface="Times New Roman" panose="02020603050405020304" pitchFamily="18" charset="0"/>
                <a:cs typeface="Times New Roman" panose="02020603050405020304" pitchFamily="18" charset="0"/>
              </a:rPr>
              <a:t>:</a:t>
            </a:r>
            <a:r>
              <a:rPr lang="zh-CN" altLang="zh-CN" sz="25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在只会下围棋的</a:t>
            </a:r>
            <a:r>
              <a:rPr lang="en-US" altLang="zh-CN" sz="2500">
                <a:solidFill>
                  <a:srgbClr val="000000"/>
                </a:solidFill>
                <a:latin typeface="Times New Roman" panose="02020603050405020304" pitchFamily="18" charset="0"/>
                <a:cs typeface="Times New Roman" panose="02020603050405020304" pitchFamily="18" charset="0"/>
              </a:rPr>
              <a:t>2</a:t>
            </a:r>
            <a:r>
              <a:rPr lang="zh-CN" altLang="zh-CN" sz="25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人中选或在既会下象棋又会下围棋的</a:t>
            </a:r>
            <a:r>
              <a:rPr lang="en-US" altLang="zh-CN" sz="2500">
                <a:solidFill>
                  <a:srgbClr val="000000"/>
                </a:solidFill>
                <a:latin typeface="Times New Roman" panose="02020603050405020304" pitchFamily="18" charset="0"/>
                <a:cs typeface="Times New Roman" panose="02020603050405020304" pitchFamily="18" charset="0"/>
              </a:rPr>
              <a:t>2</a:t>
            </a:r>
            <a:r>
              <a:rPr lang="zh-CN" altLang="zh-CN" sz="25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人中选</a:t>
            </a:r>
            <a:r>
              <a:rPr lang="en-US" altLang="zh-CN" sz="2500" i="1">
                <a:solidFill>
                  <a:srgbClr val="000000"/>
                </a:solidFill>
                <a:latin typeface="Times New Roman" panose="02020603050405020304" pitchFamily="18" charset="0"/>
                <a:cs typeface="Times New Roman" panose="02020603050405020304" pitchFamily="18" charset="0"/>
              </a:rPr>
              <a:t>.</a:t>
            </a:r>
            <a:endParaRPr lang="zh-CN" altLang="zh-CN" sz="250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sz="25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互相搭配</a:t>
            </a:r>
            <a:r>
              <a:rPr lang="en-US" altLang="zh-CN" sz="2500">
                <a:solidFill>
                  <a:srgbClr val="000000"/>
                </a:solidFill>
                <a:latin typeface="Times New Roman" panose="02020603050405020304" pitchFamily="18" charset="0"/>
                <a:cs typeface="Times New Roman" panose="02020603050405020304" pitchFamily="18" charset="0"/>
              </a:rPr>
              <a:t>,</a:t>
            </a:r>
            <a:r>
              <a:rPr lang="zh-CN" altLang="zh-CN" sz="25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可得四类不同的选法</a:t>
            </a:r>
            <a:r>
              <a:rPr lang="en-US" altLang="zh-CN" sz="2500" i="1">
                <a:solidFill>
                  <a:srgbClr val="000000"/>
                </a:solidFill>
                <a:latin typeface="Times New Roman" panose="02020603050405020304" pitchFamily="18" charset="0"/>
                <a:cs typeface="Times New Roman" panose="02020603050405020304" pitchFamily="18" charset="0"/>
              </a:rPr>
              <a:t>.</a:t>
            </a:r>
            <a:endParaRPr lang="zh-CN" altLang="zh-CN" sz="250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sz="25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第</a:t>
            </a:r>
            <a:r>
              <a:rPr lang="en-US" altLang="zh-CN" sz="2500">
                <a:solidFill>
                  <a:srgbClr val="000000"/>
                </a:solidFill>
                <a:latin typeface="Times New Roman" panose="02020603050405020304" pitchFamily="18" charset="0"/>
                <a:cs typeface="Times New Roman" panose="02020603050405020304" pitchFamily="18" charset="0"/>
              </a:rPr>
              <a:t>1</a:t>
            </a:r>
            <a:r>
              <a:rPr lang="zh-CN" altLang="zh-CN" sz="25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类</a:t>
            </a:r>
            <a:r>
              <a:rPr lang="en-US" altLang="zh-CN" sz="2500">
                <a:solidFill>
                  <a:srgbClr val="000000"/>
                </a:solidFill>
                <a:latin typeface="Times New Roman" panose="02020603050405020304" pitchFamily="18" charset="0"/>
                <a:cs typeface="Times New Roman" panose="02020603050405020304" pitchFamily="18" charset="0"/>
              </a:rPr>
              <a:t>,</a:t>
            </a:r>
            <a:r>
              <a:rPr lang="zh-CN" altLang="zh-CN" sz="25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从</a:t>
            </a:r>
            <a:r>
              <a:rPr lang="en-US" altLang="zh-CN" sz="2500">
                <a:solidFill>
                  <a:srgbClr val="000000"/>
                </a:solidFill>
                <a:latin typeface="Times New Roman" panose="02020603050405020304" pitchFamily="18" charset="0"/>
                <a:cs typeface="Times New Roman" panose="02020603050405020304" pitchFamily="18" charset="0"/>
              </a:rPr>
              <a:t>3</a:t>
            </a:r>
            <a:r>
              <a:rPr lang="zh-CN" altLang="zh-CN" sz="25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名只会下象棋的学生中选</a:t>
            </a:r>
            <a:r>
              <a:rPr lang="en-US" altLang="zh-CN" sz="2500">
                <a:solidFill>
                  <a:srgbClr val="000000"/>
                </a:solidFill>
                <a:latin typeface="Times New Roman" panose="02020603050405020304" pitchFamily="18" charset="0"/>
                <a:cs typeface="Times New Roman" panose="02020603050405020304" pitchFamily="18" charset="0"/>
              </a:rPr>
              <a:t>1</a:t>
            </a:r>
            <a:r>
              <a:rPr lang="zh-CN" altLang="zh-CN" sz="25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名参加象棋比赛</a:t>
            </a:r>
            <a:r>
              <a:rPr lang="en-US" altLang="zh-CN" sz="2500">
                <a:solidFill>
                  <a:srgbClr val="000000"/>
                </a:solidFill>
                <a:latin typeface="Times New Roman" panose="02020603050405020304" pitchFamily="18" charset="0"/>
                <a:cs typeface="Times New Roman" panose="02020603050405020304" pitchFamily="18" charset="0"/>
              </a:rPr>
              <a:t>,</a:t>
            </a:r>
            <a:r>
              <a:rPr lang="zh-CN" altLang="zh-CN" sz="25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同时从</a:t>
            </a:r>
            <a:r>
              <a:rPr lang="en-US" altLang="zh-CN" sz="2500">
                <a:solidFill>
                  <a:srgbClr val="000000"/>
                </a:solidFill>
                <a:latin typeface="Times New Roman" panose="02020603050405020304" pitchFamily="18" charset="0"/>
                <a:cs typeface="Times New Roman" panose="02020603050405020304" pitchFamily="18" charset="0"/>
              </a:rPr>
              <a:t>2</a:t>
            </a:r>
            <a:r>
              <a:rPr lang="zh-CN" altLang="zh-CN" sz="25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名只会下围棋的学生中选</a:t>
            </a:r>
            <a:r>
              <a:rPr lang="en-US" altLang="zh-CN" sz="2500">
                <a:solidFill>
                  <a:srgbClr val="000000"/>
                </a:solidFill>
                <a:latin typeface="Times New Roman" panose="02020603050405020304" pitchFamily="18" charset="0"/>
                <a:cs typeface="Times New Roman" panose="02020603050405020304" pitchFamily="18" charset="0"/>
              </a:rPr>
              <a:t>1</a:t>
            </a:r>
            <a:r>
              <a:rPr lang="zh-CN" altLang="zh-CN" sz="25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名参加围棋比赛</a:t>
            </a:r>
            <a:r>
              <a:rPr lang="en-US" altLang="zh-CN" sz="2500">
                <a:solidFill>
                  <a:srgbClr val="000000"/>
                </a:solidFill>
                <a:latin typeface="Times New Roman" panose="02020603050405020304" pitchFamily="18" charset="0"/>
                <a:cs typeface="Times New Roman" panose="02020603050405020304" pitchFamily="18" charset="0"/>
              </a:rPr>
              <a:t>,</a:t>
            </a:r>
            <a:r>
              <a:rPr lang="zh-CN" altLang="zh-CN" sz="25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有</a:t>
            </a:r>
            <a:r>
              <a:rPr lang="en-US" altLang="zh-CN" sz="2500">
                <a:solidFill>
                  <a:srgbClr val="000000"/>
                </a:solidFill>
                <a:latin typeface="Times New Roman" panose="02020603050405020304" pitchFamily="18" charset="0"/>
                <a:cs typeface="Times New Roman" panose="02020603050405020304" pitchFamily="18" charset="0"/>
              </a:rPr>
              <a:t>3×2</a:t>
            </a:r>
            <a:r>
              <a:rPr lang="en-US" altLang="zh-CN" sz="2500" i="1">
                <a:solidFill>
                  <a:srgbClr val="000000"/>
                </a:solidFill>
                <a:latin typeface="Times New Roman" panose="02020603050405020304" pitchFamily="18" charset="0"/>
                <a:cs typeface="Times New Roman" panose="02020603050405020304" pitchFamily="18" charset="0"/>
              </a:rPr>
              <a:t>=</a:t>
            </a:r>
            <a:r>
              <a:rPr lang="en-US" altLang="zh-CN" sz="2500">
                <a:solidFill>
                  <a:srgbClr val="000000"/>
                </a:solidFill>
                <a:latin typeface="Times New Roman" panose="02020603050405020304" pitchFamily="18" charset="0"/>
                <a:cs typeface="Times New Roman" panose="02020603050405020304" pitchFamily="18" charset="0"/>
              </a:rPr>
              <a:t>6</a:t>
            </a:r>
            <a:r>
              <a:rPr lang="zh-CN" altLang="zh-CN" sz="25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种选法</a:t>
            </a:r>
            <a:r>
              <a:rPr lang="en-US" altLang="zh-CN" sz="2500">
                <a:solidFill>
                  <a:srgbClr val="000000"/>
                </a:solidFill>
                <a:latin typeface="Times New Roman" panose="02020603050405020304" pitchFamily="18" charset="0"/>
                <a:cs typeface="Times New Roman" panose="02020603050405020304" pitchFamily="18" charset="0"/>
              </a:rPr>
              <a:t>;</a:t>
            </a:r>
            <a:endParaRPr lang="zh-CN" altLang="zh-CN" sz="250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sz="25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第</a:t>
            </a:r>
            <a:r>
              <a:rPr lang="en-US" altLang="zh-CN" sz="2500">
                <a:solidFill>
                  <a:srgbClr val="000000"/>
                </a:solidFill>
                <a:latin typeface="Times New Roman" panose="02020603050405020304" pitchFamily="18" charset="0"/>
                <a:cs typeface="Times New Roman" panose="02020603050405020304" pitchFamily="18" charset="0"/>
              </a:rPr>
              <a:t>2</a:t>
            </a:r>
            <a:r>
              <a:rPr lang="zh-CN" altLang="zh-CN" sz="25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类</a:t>
            </a:r>
            <a:r>
              <a:rPr lang="en-US" altLang="zh-CN" sz="2500">
                <a:solidFill>
                  <a:srgbClr val="000000"/>
                </a:solidFill>
                <a:latin typeface="Times New Roman" panose="02020603050405020304" pitchFamily="18" charset="0"/>
                <a:cs typeface="Times New Roman" panose="02020603050405020304" pitchFamily="18" charset="0"/>
              </a:rPr>
              <a:t>,</a:t>
            </a:r>
            <a:r>
              <a:rPr lang="zh-CN" altLang="zh-CN" sz="25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从</a:t>
            </a:r>
            <a:r>
              <a:rPr lang="en-US" altLang="zh-CN" sz="2500">
                <a:solidFill>
                  <a:srgbClr val="000000"/>
                </a:solidFill>
                <a:latin typeface="Times New Roman" panose="02020603050405020304" pitchFamily="18" charset="0"/>
                <a:cs typeface="Times New Roman" panose="02020603050405020304" pitchFamily="18" charset="0"/>
              </a:rPr>
              <a:t>3</a:t>
            </a:r>
            <a:r>
              <a:rPr lang="zh-CN" altLang="zh-CN" sz="25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名只会下象棋的学生中选</a:t>
            </a:r>
            <a:r>
              <a:rPr lang="en-US" altLang="zh-CN" sz="2500">
                <a:solidFill>
                  <a:srgbClr val="000000"/>
                </a:solidFill>
                <a:latin typeface="Times New Roman" panose="02020603050405020304" pitchFamily="18" charset="0"/>
                <a:cs typeface="Times New Roman" panose="02020603050405020304" pitchFamily="18" charset="0"/>
              </a:rPr>
              <a:t>1</a:t>
            </a:r>
            <a:r>
              <a:rPr lang="zh-CN" altLang="zh-CN" sz="25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名参加象棋比赛</a:t>
            </a:r>
            <a:r>
              <a:rPr lang="en-US" altLang="zh-CN" sz="2500">
                <a:solidFill>
                  <a:srgbClr val="000000"/>
                </a:solidFill>
                <a:latin typeface="Times New Roman" panose="02020603050405020304" pitchFamily="18" charset="0"/>
                <a:cs typeface="Times New Roman" panose="02020603050405020304" pitchFamily="18" charset="0"/>
              </a:rPr>
              <a:t>,</a:t>
            </a:r>
            <a:r>
              <a:rPr lang="zh-CN" altLang="zh-CN" sz="25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同时从</a:t>
            </a:r>
            <a:r>
              <a:rPr lang="en-US" altLang="zh-CN" sz="2500">
                <a:solidFill>
                  <a:srgbClr val="000000"/>
                </a:solidFill>
                <a:latin typeface="Times New Roman" panose="02020603050405020304" pitchFamily="18" charset="0"/>
                <a:cs typeface="Times New Roman" panose="02020603050405020304" pitchFamily="18" charset="0"/>
              </a:rPr>
              <a:t>2</a:t>
            </a:r>
            <a:r>
              <a:rPr lang="zh-CN" altLang="zh-CN" sz="25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名既会下象棋又会下围棋的学生中选</a:t>
            </a:r>
            <a:r>
              <a:rPr lang="en-US" altLang="zh-CN" sz="2500">
                <a:solidFill>
                  <a:srgbClr val="000000"/>
                </a:solidFill>
                <a:latin typeface="Times New Roman" panose="02020603050405020304" pitchFamily="18" charset="0"/>
                <a:cs typeface="Times New Roman" panose="02020603050405020304" pitchFamily="18" charset="0"/>
              </a:rPr>
              <a:t>1</a:t>
            </a:r>
            <a:r>
              <a:rPr lang="zh-CN" altLang="zh-CN" sz="25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名参加围棋比赛</a:t>
            </a:r>
            <a:r>
              <a:rPr lang="en-US" altLang="zh-CN" sz="2500">
                <a:solidFill>
                  <a:srgbClr val="000000"/>
                </a:solidFill>
                <a:latin typeface="Times New Roman" panose="02020603050405020304" pitchFamily="18" charset="0"/>
                <a:cs typeface="Times New Roman" panose="02020603050405020304" pitchFamily="18" charset="0"/>
              </a:rPr>
              <a:t>,</a:t>
            </a:r>
            <a:r>
              <a:rPr lang="zh-CN" altLang="zh-CN" sz="25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有</a:t>
            </a:r>
            <a:r>
              <a:rPr lang="en-US" altLang="zh-CN" sz="2500">
                <a:solidFill>
                  <a:srgbClr val="000000"/>
                </a:solidFill>
                <a:latin typeface="Times New Roman" panose="02020603050405020304" pitchFamily="18" charset="0"/>
                <a:cs typeface="Times New Roman" panose="02020603050405020304" pitchFamily="18" charset="0"/>
              </a:rPr>
              <a:t>3×2</a:t>
            </a:r>
            <a:r>
              <a:rPr lang="en-US" altLang="zh-CN" sz="2500" i="1">
                <a:solidFill>
                  <a:srgbClr val="000000"/>
                </a:solidFill>
                <a:latin typeface="Times New Roman" panose="02020603050405020304" pitchFamily="18" charset="0"/>
                <a:cs typeface="Times New Roman" panose="02020603050405020304" pitchFamily="18" charset="0"/>
              </a:rPr>
              <a:t>=</a:t>
            </a:r>
            <a:r>
              <a:rPr lang="en-US" altLang="zh-CN" sz="2500">
                <a:solidFill>
                  <a:srgbClr val="000000"/>
                </a:solidFill>
                <a:latin typeface="Times New Roman" panose="02020603050405020304" pitchFamily="18" charset="0"/>
                <a:cs typeface="Times New Roman" panose="02020603050405020304" pitchFamily="18" charset="0"/>
              </a:rPr>
              <a:t>6</a:t>
            </a:r>
            <a:r>
              <a:rPr lang="zh-CN" altLang="zh-CN" sz="25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种选法</a:t>
            </a:r>
            <a:r>
              <a:rPr lang="en-US" altLang="zh-CN" sz="2500">
                <a:solidFill>
                  <a:srgbClr val="000000"/>
                </a:solidFill>
                <a:latin typeface="Times New Roman" panose="02020603050405020304" pitchFamily="18" charset="0"/>
                <a:cs typeface="Times New Roman" panose="02020603050405020304" pitchFamily="18" charset="0"/>
              </a:rPr>
              <a:t>;</a:t>
            </a:r>
            <a:endParaRPr lang="zh-CN" altLang="zh-CN" sz="250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sz="25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第</a:t>
            </a:r>
            <a:r>
              <a:rPr lang="en-US" altLang="zh-CN" sz="2500">
                <a:solidFill>
                  <a:srgbClr val="000000"/>
                </a:solidFill>
                <a:latin typeface="Times New Roman" panose="02020603050405020304" pitchFamily="18" charset="0"/>
                <a:cs typeface="Times New Roman" panose="02020603050405020304" pitchFamily="18" charset="0"/>
              </a:rPr>
              <a:t>3</a:t>
            </a:r>
            <a:r>
              <a:rPr lang="zh-CN" altLang="zh-CN" sz="25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类</a:t>
            </a:r>
            <a:r>
              <a:rPr lang="en-US" altLang="zh-CN" sz="2500">
                <a:solidFill>
                  <a:srgbClr val="000000"/>
                </a:solidFill>
                <a:latin typeface="Times New Roman" panose="02020603050405020304" pitchFamily="18" charset="0"/>
                <a:cs typeface="Times New Roman" panose="02020603050405020304" pitchFamily="18" charset="0"/>
              </a:rPr>
              <a:t>,</a:t>
            </a:r>
            <a:r>
              <a:rPr lang="zh-CN" altLang="zh-CN" sz="25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从</a:t>
            </a:r>
            <a:r>
              <a:rPr lang="en-US" altLang="zh-CN" sz="2500">
                <a:solidFill>
                  <a:srgbClr val="000000"/>
                </a:solidFill>
                <a:latin typeface="Times New Roman" panose="02020603050405020304" pitchFamily="18" charset="0"/>
                <a:cs typeface="Times New Roman" panose="02020603050405020304" pitchFamily="18" charset="0"/>
              </a:rPr>
              <a:t>2</a:t>
            </a:r>
            <a:r>
              <a:rPr lang="zh-CN" altLang="zh-CN" sz="25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名只会下围棋的学生中选</a:t>
            </a:r>
            <a:r>
              <a:rPr lang="en-US" altLang="zh-CN" sz="2500">
                <a:solidFill>
                  <a:srgbClr val="000000"/>
                </a:solidFill>
                <a:latin typeface="Times New Roman" panose="02020603050405020304" pitchFamily="18" charset="0"/>
                <a:cs typeface="Times New Roman" panose="02020603050405020304" pitchFamily="18" charset="0"/>
              </a:rPr>
              <a:t>1</a:t>
            </a:r>
            <a:r>
              <a:rPr lang="zh-CN" altLang="zh-CN" sz="25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名参加围棋比赛</a:t>
            </a:r>
            <a:r>
              <a:rPr lang="en-US" altLang="zh-CN" sz="2500">
                <a:solidFill>
                  <a:srgbClr val="000000"/>
                </a:solidFill>
                <a:latin typeface="Times New Roman" panose="02020603050405020304" pitchFamily="18" charset="0"/>
                <a:cs typeface="Times New Roman" panose="02020603050405020304" pitchFamily="18" charset="0"/>
              </a:rPr>
              <a:t>,</a:t>
            </a:r>
            <a:r>
              <a:rPr lang="zh-CN" altLang="zh-CN" sz="25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同时从</a:t>
            </a:r>
            <a:r>
              <a:rPr lang="en-US" altLang="zh-CN" sz="2500">
                <a:solidFill>
                  <a:srgbClr val="000000"/>
                </a:solidFill>
                <a:latin typeface="Times New Roman" panose="02020603050405020304" pitchFamily="18" charset="0"/>
                <a:cs typeface="Times New Roman" panose="02020603050405020304" pitchFamily="18" charset="0"/>
              </a:rPr>
              <a:t>2</a:t>
            </a:r>
            <a:r>
              <a:rPr lang="zh-CN" altLang="zh-CN" sz="25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名既会下象棋又会下围棋的学生中选</a:t>
            </a:r>
            <a:r>
              <a:rPr lang="en-US" altLang="zh-CN" sz="2500">
                <a:solidFill>
                  <a:srgbClr val="000000"/>
                </a:solidFill>
                <a:latin typeface="Times New Roman" panose="02020603050405020304" pitchFamily="18" charset="0"/>
                <a:cs typeface="Times New Roman" panose="02020603050405020304" pitchFamily="18" charset="0"/>
              </a:rPr>
              <a:t>1</a:t>
            </a:r>
            <a:r>
              <a:rPr lang="zh-CN" altLang="zh-CN" sz="25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名参加象棋比赛</a:t>
            </a:r>
            <a:r>
              <a:rPr lang="en-US" altLang="zh-CN" sz="2500">
                <a:solidFill>
                  <a:srgbClr val="000000"/>
                </a:solidFill>
                <a:latin typeface="Times New Roman" panose="02020603050405020304" pitchFamily="18" charset="0"/>
                <a:cs typeface="Times New Roman" panose="02020603050405020304" pitchFamily="18" charset="0"/>
              </a:rPr>
              <a:t>,</a:t>
            </a:r>
            <a:r>
              <a:rPr lang="zh-CN" altLang="zh-CN" sz="25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有</a:t>
            </a:r>
            <a:r>
              <a:rPr lang="en-US" altLang="zh-CN" sz="2500">
                <a:solidFill>
                  <a:srgbClr val="000000"/>
                </a:solidFill>
                <a:latin typeface="Times New Roman" panose="02020603050405020304" pitchFamily="18" charset="0"/>
                <a:cs typeface="Times New Roman" panose="02020603050405020304" pitchFamily="18" charset="0"/>
              </a:rPr>
              <a:t>2×2</a:t>
            </a:r>
            <a:r>
              <a:rPr lang="en-US" altLang="zh-CN" sz="2500" i="1">
                <a:solidFill>
                  <a:srgbClr val="000000"/>
                </a:solidFill>
                <a:latin typeface="Times New Roman" panose="02020603050405020304" pitchFamily="18" charset="0"/>
                <a:cs typeface="Times New Roman" panose="02020603050405020304" pitchFamily="18" charset="0"/>
              </a:rPr>
              <a:t>=</a:t>
            </a:r>
            <a:r>
              <a:rPr lang="en-US" altLang="zh-CN" sz="2500">
                <a:solidFill>
                  <a:srgbClr val="000000"/>
                </a:solidFill>
                <a:latin typeface="Times New Roman" panose="02020603050405020304" pitchFamily="18" charset="0"/>
                <a:cs typeface="Times New Roman" panose="02020603050405020304" pitchFamily="18" charset="0"/>
              </a:rPr>
              <a:t>4</a:t>
            </a:r>
            <a:r>
              <a:rPr lang="zh-CN" altLang="zh-CN" sz="25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种选法</a:t>
            </a:r>
            <a:r>
              <a:rPr lang="en-US" altLang="zh-CN" sz="2500">
                <a:solidFill>
                  <a:srgbClr val="000000"/>
                </a:solidFill>
                <a:latin typeface="Times New Roman" panose="02020603050405020304" pitchFamily="18" charset="0"/>
                <a:cs typeface="Times New Roman" panose="02020603050405020304" pitchFamily="18" charset="0"/>
              </a:rPr>
              <a:t>;</a:t>
            </a:r>
            <a:endParaRPr lang="zh-CN" altLang="zh-CN" sz="250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sz="25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第</a:t>
            </a:r>
            <a:r>
              <a:rPr lang="en-US" altLang="zh-CN" sz="2500">
                <a:solidFill>
                  <a:srgbClr val="000000"/>
                </a:solidFill>
                <a:latin typeface="Times New Roman" panose="02020603050405020304" pitchFamily="18" charset="0"/>
                <a:cs typeface="Times New Roman" panose="02020603050405020304" pitchFamily="18" charset="0"/>
              </a:rPr>
              <a:t>4</a:t>
            </a:r>
            <a:r>
              <a:rPr lang="zh-CN" altLang="zh-CN" sz="25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类</a:t>
            </a:r>
            <a:r>
              <a:rPr lang="en-US" altLang="zh-CN" sz="2500">
                <a:solidFill>
                  <a:srgbClr val="000000"/>
                </a:solidFill>
                <a:latin typeface="Times New Roman" panose="02020603050405020304" pitchFamily="18" charset="0"/>
                <a:cs typeface="Times New Roman" panose="02020603050405020304" pitchFamily="18" charset="0"/>
              </a:rPr>
              <a:t>,2</a:t>
            </a:r>
            <a:r>
              <a:rPr lang="zh-CN" altLang="zh-CN" sz="25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名既会下象棋又会下围棋的学生分别参加象棋比赛和围棋比赛</a:t>
            </a:r>
            <a:r>
              <a:rPr lang="en-US" altLang="zh-CN" sz="2500">
                <a:solidFill>
                  <a:srgbClr val="000000"/>
                </a:solidFill>
                <a:latin typeface="Times New Roman" panose="02020603050405020304" pitchFamily="18" charset="0"/>
                <a:cs typeface="Times New Roman" panose="02020603050405020304" pitchFamily="18" charset="0"/>
              </a:rPr>
              <a:t>,</a:t>
            </a:r>
            <a:r>
              <a:rPr lang="zh-CN" altLang="zh-CN" sz="25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有</a:t>
            </a:r>
            <a:r>
              <a:rPr lang="en-US" altLang="zh-CN" sz="2500">
                <a:solidFill>
                  <a:srgbClr val="000000"/>
                </a:solidFill>
                <a:latin typeface="Times New Roman" panose="02020603050405020304" pitchFamily="18" charset="0"/>
                <a:cs typeface="Times New Roman" panose="02020603050405020304" pitchFamily="18" charset="0"/>
              </a:rPr>
              <a:t>2</a:t>
            </a:r>
            <a:r>
              <a:rPr lang="zh-CN" altLang="zh-CN" sz="25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种选法</a:t>
            </a:r>
            <a:r>
              <a:rPr lang="en-US" altLang="zh-CN" sz="2500" i="1">
                <a:solidFill>
                  <a:srgbClr val="000000"/>
                </a:solidFill>
                <a:latin typeface="Times New Roman" panose="02020603050405020304" pitchFamily="18" charset="0"/>
                <a:cs typeface="Times New Roman" panose="02020603050405020304" pitchFamily="18" charset="0"/>
              </a:rPr>
              <a:t>.</a:t>
            </a:r>
            <a:endParaRPr lang="zh-CN" altLang="zh-CN" sz="250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sz="25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故共有</a:t>
            </a:r>
            <a:r>
              <a:rPr lang="en-US" altLang="zh-CN" sz="2500">
                <a:solidFill>
                  <a:srgbClr val="000000"/>
                </a:solidFill>
                <a:latin typeface="Times New Roman" panose="02020603050405020304" pitchFamily="18" charset="0"/>
                <a:cs typeface="Times New Roman" panose="02020603050405020304" pitchFamily="18" charset="0"/>
              </a:rPr>
              <a:t>6</a:t>
            </a:r>
            <a:r>
              <a:rPr lang="en-US" altLang="zh-CN" sz="2500" i="1">
                <a:solidFill>
                  <a:srgbClr val="000000"/>
                </a:solidFill>
                <a:latin typeface="Times New Roman" panose="02020603050405020304" pitchFamily="18" charset="0"/>
                <a:cs typeface="Times New Roman" panose="02020603050405020304" pitchFamily="18" charset="0"/>
              </a:rPr>
              <a:t>+</a:t>
            </a:r>
            <a:r>
              <a:rPr lang="en-US" altLang="zh-CN" sz="2500">
                <a:solidFill>
                  <a:srgbClr val="000000"/>
                </a:solidFill>
                <a:latin typeface="Times New Roman" panose="02020603050405020304" pitchFamily="18" charset="0"/>
                <a:cs typeface="Times New Roman" panose="02020603050405020304" pitchFamily="18" charset="0"/>
              </a:rPr>
              <a:t>6</a:t>
            </a:r>
            <a:r>
              <a:rPr lang="en-US" altLang="zh-CN" sz="2500" i="1">
                <a:solidFill>
                  <a:srgbClr val="000000"/>
                </a:solidFill>
                <a:latin typeface="Times New Roman" panose="02020603050405020304" pitchFamily="18" charset="0"/>
                <a:cs typeface="Times New Roman" panose="02020603050405020304" pitchFamily="18" charset="0"/>
              </a:rPr>
              <a:t>+</a:t>
            </a:r>
            <a:r>
              <a:rPr lang="en-US" altLang="zh-CN" sz="2500">
                <a:solidFill>
                  <a:srgbClr val="000000"/>
                </a:solidFill>
                <a:latin typeface="Times New Roman" panose="02020603050405020304" pitchFamily="18" charset="0"/>
                <a:cs typeface="Times New Roman" panose="02020603050405020304" pitchFamily="18" charset="0"/>
              </a:rPr>
              <a:t>4</a:t>
            </a:r>
            <a:r>
              <a:rPr lang="en-US" altLang="zh-CN" sz="2500" i="1">
                <a:solidFill>
                  <a:srgbClr val="000000"/>
                </a:solidFill>
                <a:latin typeface="Times New Roman" panose="02020603050405020304" pitchFamily="18" charset="0"/>
                <a:cs typeface="Times New Roman" panose="02020603050405020304" pitchFamily="18" charset="0"/>
              </a:rPr>
              <a:t>+</a:t>
            </a:r>
            <a:r>
              <a:rPr lang="en-US" altLang="zh-CN" sz="2500">
                <a:solidFill>
                  <a:srgbClr val="000000"/>
                </a:solidFill>
                <a:latin typeface="Times New Roman" panose="02020603050405020304" pitchFamily="18" charset="0"/>
                <a:cs typeface="Times New Roman" panose="02020603050405020304" pitchFamily="18" charset="0"/>
              </a:rPr>
              <a:t>2</a:t>
            </a:r>
            <a:r>
              <a:rPr lang="en-US" altLang="zh-CN" sz="2500" i="1">
                <a:solidFill>
                  <a:srgbClr val="000000"/>
                </a:solidFill>
                <a:latin typeface="Times New Roman" panose="02020603050405020304" pitchFamily="18" charset="0"/>
                <a:cs typeface="Times New Roman" panose="02020603050405020304" pitchFamily="18" charset="0"/>
              </a:rPr>
              <a:t>=</a:t>
            </a:r>
            <a:r>
              <a:rPr lang="en-US" altLang="zh-CN" sz="2500">
                <a:solidFill>
                  <a:srgbClr val="000000"/>
                </a:solidFill>
                <a:latin typeface="Times New Roman" panose="02020603050405020304" pitchFamily="18" charset="0"/>
                <a:cs typeface="Times New Roman" panose="02020603050405020304" pitchFamily="18" charset="0"/>
              </a:rPr>
              <a:t>18</a:t>
            </a:r>
            <a:r>
              <a:rPr lang="zh-CN" altLang="zh-CN" sz="25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种选法</a:t>
            </a:r>
            <a:r>
              <a:rPr lang="en-US" altLang="zh-CN" sz="2500" i="1">
                <a:solidFill>
                  <a:srgbClr val="000000"/>
                </a:solidFill>
                <a:latin typeface="Times New Roman" panose="02020603050405020304" pitchFamily="18" charset="0"/>
                <a:cs typeface="Times New Roman" panose="02020603050405020304" pitchFamily="18" charset="0"/>
              </a:rPr>
              <a:t>.</a:t>
            </a:r>
            <a:endParaRPr lang="zh-CN" altLang="zh-CN" sz="25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35035393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2617835" y="2558415"/>
            <a:ext cx="1105802" cy="815646"/>
            <a:chOff x="-1604504" y="2147667"/>
            <a:chExt cx="3687215" cy="2719712"/>
          </a:xfrm>
        </p:grpSpPr>
        <p:cxnSp>
          <p:nvCxnSpPr>
            <p:cNvPr id="7" name="直接连接符 6"/>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8" name="直接连接符 7"/>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9" name="组合 8"/>
          <p:cNvGrpSpPr/>
          <p:nvPr/>
        </p:nvGrpSpPr>
        <p:grpSpPr>
          <a:xfrm flipH="1" flipV="1">
            <a:off x="8334801" y="2587481"/>
            <a:ext cx="1105803" cy="815646"/>
            <a:chOff x="-1604504" y="2147667"/>
            <a:chExt cx="3687215" cy="2719712"/>
          </a:xfrm>
        </p:grpSpPr>
        <p:cxnSp>
          <p:nvCxnSpPr>
            <p:cNvPr id="10" name="直接连接符 9"/>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11" name="直接连接符 10"/>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sp>
        <p:nvSpPr>
          <p:cNvPr id="12" name="文本框 11"/>
          <p:cNvSpPr txBox="1"/>
          <p:nvPr/>
        </p:nvSpPr>
        <p:spPr>
          <a:xfrm>
            <a:off x="3612492" y="2507615"/>
            <a:ext cx="4587875" cy="922020"/>
          </a:xfrm>
          <a:prstGeom prst="rect">
            <a:avLst/>
          </a:prstGeom>
          <a:noFill/>
        </p:spPr>
        <p:txBody>
          <a:bodyPr wrap="square" rtlCol="0">
            <a:spAutoFit/>
          </a:bodyPr>
          <a:lstStyle/>
          <a:p>
            <a:pPr algn="ctr"/>
            <a:r>
              <a:rPr lang="zh-CN" altLang="en-US" sz="5400" b="1" dirty="0" smtClean="0">
                <a:solidFill>
                  <a:srgbClr val="4D4D4D"/>
                </a:solidFill>
                <a:latin typeface="方正姚体" panose="02010601030101010101" charset="-122"/>
                <a:ea typeface="方正姚体" panose="02010601030101010101" charset="-122"/>
                <a:cs typeface="隶书" panose="02010509060101010101" pitchFamily="49" charset="-122"/>
                <a:sym typeface="+mn-ea"/>
              </a:rPr>
              <a:t>随堂练习</a:t>
            </a:r>
            <a:endParaRPr lang="zh-CN" altLang="en-US" sz="5400" b="1" dirty="0">
              <a:solidFill>
                <a:srgbClr val="4D4D4D"/>
              </a:solidFill>
              <a:latin typeface="方正姚体" panose="02010601030101010101" charset="-122"/>
              <a:ea typeface="方正姚体" panose="02010601030101010101" charset="-122"/>
              <a:cs typeface="隶书" panose="02010509060101010101" pitchFamily="49" charset="-122"/>
              <a:sym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0452" y="1098403"/>
            <a:ext cx="11430000" cy="345325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把</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cs typeface="Times New Roman" panose="02020603050405020304" pitchFamily="18" charset="0"/>
              </a:rPr>
              <a:t>个不同的小球任意放到</a:t>
            </a:r>
            <a:r>
              <a:rPr lang="en-US" altLang="zh-CN" sz="2800">
                <a:solidFill>
                  <a:srgbClr val="000000"/>
                </a:solidFill>
                <a:latin typeface="Times New Roman" panose="02020603050405020304" pitchFamily="18" charset="0"/>
                <a:cs typeface="Times New Roman" panose="02020603050405020304" pitchFamily="18" charset="0"/>
              </a:rPr>
              <a:t>4</a:t>
            </a:r>
            <a:r>
              <a:rPr lang="zh-CN" altLang="zh-CN" sz="2800">
                <a:solidFill>
                  <a:srgbClr val="000000"/>
                </a:solidFill>
                <a:latin typeface="Times New Roman" panose="02020603050405020304" pitchFamily="18" charset="0"/>
                <a:cs typeface="Times New Roman" panose="02020603050405020304" pitchFamily="18" charset="0"/>
              </a:rPr>
              <a:t>个不同的盒子中</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所有可能的放法共有</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i="1">
                <a:solidFill>
                  <a:srgbClr val="000000"/>
                </a:solidFill>
                <a:latin typeface="Times New Roman" panose="02020603050405020304" pitchFamily="18" charset="0"/>
                <a:cs typeface="Times New Roman" panose="02020603050405020304" pitchFamily="18" charset="0"/>
              </a:rPr>
              <a:t>　　</a:t>
            </a:r>
            <a:r>
              <a:rPr lang="en-US" altLang="zh-CN" sz="2800" smtClean="0">
                <a:solidFill>
                  <a:srgbClr val="000000"/>
                </a:solidFill>
                <a:latin typeface="Times New Roman" panose="02020603050405020304" pitchFamily="18" charset="0"/>
                <a:cs typeface="Times New Roman" panose="02020603050405020304" pitchFamily="18" charset="0"/>
              </a:rPr>
              <a:t>)</a:t>
            </a:r>
            <a:r>
              <a:rPr lang="zh-CN" altLang="zh-CN" sz="2800" i="1">
                <a:solidFill>
                  <a:srgbClr val="000000"/>
                </a:solidFill>
                <a:latin typeface="Times New Roman" panose="02020603050405020304" pitchFamily="18" charset="0"/>
                <a:cs typeface="Times New Roman" panose="02020603050405020304" pitchFamily="18" charset="0"/>
              </a:rPr>
              <a:t>　　　　　　　　　　　　　　　　</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A.24</a:t>
            </a:r>
            <a:r>
              <a:rPr lang="zh-CN" altLang="zh-CN" sz="2800">
                <a:solidFill>
                  <a:srgbClr val="000000"/>
                </a:solidFill>
                <a:latin typeface="Times New Roman" panose="02020603050405020304" pitchFamily="18" charset="0"/>
                <a:cs typeface="Times New Roman" panose="02020603050405020304" pitchFamily="18" charset="0"/>
              </a:rPr>
              <a:t>种</a:t>
            </a:r>
            <a:r>
              <a:rPr lang="en-US" altLang="zh-CN" sz="2800">
                <a:solidFill>
                  <a:srgbClr val="000000"/>
                </a:solidFill>
                <a:latin typeface="Times New Roman" panose="02020603050405020304" pitchFamily="18" charset="0"/>
                <a:cs typeface="Times New Roman" panose="02020603050405020304" pitchFamily="18" charset="0"/>
              </a:rPr>
              <a:t>	</a:t>
            </a:r>
            <a:r>
              <a:rPr lang="en-US" altLang="zh-CN" sz="2800" smtClean="0">
                <a:solidFill>
                  <a:srgbClr val="000000"/>
                </a:solidFill>
                <a:latin typeface="Times New Roman" panose="02020603050405020304" pitchFamily="18" charset="0"/>
                <a:cs typeface="Times New Roman" panose="02020603050405020304" pitchFamily="18" charset="0"/>
              </a:rPr>
              <a:t>	B.4</a:t>
            </a:r>
            <a:r>
              <a:rPr lang="zh-CN" altLang="zh-CN" sz="2800">
                <a:solidFill>
                  <a:srgbClr val="000000"/>
                </a:solidFill>
                <a:latin typeface="Times New Roman" panose="02020603050405020304" pitchFamily="18" charset="0"/>
                <a:cs typeface="Times New Roman" panose="02020603050405020304" pitchFamily="18" charset="0"/>
              </a:rPr>
              <a:t>种</a:t>
            </a:r>
            <a:r>
              <a:rPr lang="en-US" altLang="zh-CN" sz="2800">
                <a:solidFill>
                  <a:srgbClr val="000000"/>
                </a:solidFill>
                <a:latin typeface="Times New Roman" panose="02020603050405020304" pitchFamily="18" charset="0"/>
                <a:cs typeface="Times New Roman" panose="02020603050405020304" pitchFamily="18" charset="0"/>
              </a:rPr>
              <a:t>	</a:t>
            </a:r>
            <a:r>
              <a:rPr lang="en-US" altLang="zh-CN" sz="2800" smtClean="0">
                <a:solidFill>
                  <a:srgbClr val="000000"/>
                </a:solidFill>
                <a:latin typeface="Times New Roman" panose="02020603050405020304" pitchFamily="18" charset="0"/>
                <a:cs typeface="Times New Roman" panose="02020603050405020304" pitchFamily="18" charset="0"/>
              </a:rPr>
              <a:t>	C.4</a:t>
            </a:r>
            <a:r>
              <a:rPr lang="en-US" altLang="zh-CN" sz="2800" baseline="30000" smtClean="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cs typeface="Times New Roman" panose="02020603050405020304" pitchFamily="18" charset="0"/>
              </a:rPr>
              <a:t>种</a:t>
            </a:r>
            <a:r>
              <a:rPr lang="en-US" altLang="zh-CN" sz="2800">
                <a:solidFill>
                  <a:srgbClr val="000000"/>
                </a:solidFill>
                <a:latin typeface="Times New Roman" panose="02020603050405020304" pitchFamily="18" charset="0"/>
                <a:cs typeface="Times New Roman" panose="02020603050405020304" pitchFamily="18" charset="0"/>
              </a:rPr>
              <a:t>	</a:t>
            </a:r>
            <a:r>
              <a:rPr lang="en-US" altLang="zh-CN" sz="2800" smtClean="0">
                <a:solidFill>
                  <a:srgbClr val="000000"/>
                </a:solidFill>
                <a:latin typeface="Times New Roman" panose="02020603050405020304" pitchFamily="18" charset="0"/>
                <a:cs typeface="Times New Roman" panose="02020603050405020304" pitchFamily="18" charset="0"/>
              </a:rPr>
              <a:t>	D.3</a:t>
            </a:r>
            <a:r>
              <a:rPr lang="en-US" altLang="zh-CN" sz="2800" baseline="30000" smtClean="0">
                <a:solidFill>
                  <a:srgbClr val="000000"/>
                </a:solidFill>
                <a:latin typeface="Times New Roman" panose="02020603050405020304" pitchFamily="18" charset="0"/>
                <a:cs typeface="Times New Roman" panose="02020603050405020304" pitchFamily="18" charset="0"/>
              </a:rPr>
              <a:t>4</a:t>
            </a:r>
            <a:r>
              <a:rPr lang="zh-CN" altLang="zh-CN" sz="2800">
                <a:solidFill>
                  <a:srgbClr val="000000"/>
                </a:solidFill>
                <a:latin typeface="Times New Roman" panose="02020603050405020304" pitchFamily="18" charset="0"/>
                <a:cs typeface="Times New Roman" panose="02020603050405020304" pitchFamily="18" charset="0"/>
              </a:rPr>
              <a:t>种</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解析</a:t>
            </a:r>
            <a:r>
              <a:rPr lang="en-US"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zh-CN" sz="280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第</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个小球放到盒子中有</a:t>
            </a:r>
            <a:r>
              <a:rPr lang="en-US" altLang="zh-CN" sz="2800">
                <a:solidFill>
                  <a:srgbClr val="000000"/>
                </a:solidFill>
                <a:latin typeface="Times New Roman" panose="02020603050405020304" pitchFamily="18" charset="0"/>
                <a:cs typeface="Times New Roman" panose="02020603050405020304" pitchFamily="18" charset="0"/>
              </a:rPr>
              <a:t>4</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种放法</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第</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个小球放到盒子中也有</a:t>
            </a:r>
            <a:r>
              <a:rPr lang="en-US" altLang="zh-CN" sz="2800">
                <a:solidFill>
                  <a:srgbClr val="000000"/>
                </a:solidFill>
                <a:latin typeface="Times New Roman" panose="02020603050405020304" pitchFamily="18" charset="0"/>
                <a:cs typeface="Times New Roman" panose="02020603050405020304" pitchFamily="18" charset="0"/>
              </a:rPr>
              <a:t>4</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种放法</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第</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个小球放到盒子中也有</a:t>
            </a:r>
            <a:r>
              <a:rPr lang="en-US" altLang="zh-CN" sz="2800">
                <a:solidFill>
                  <a:srgbClr val="000000"/>
                </a:solidFill>
                <a:latin typeface="Times New Roman" panose="02020603050405020304" pitchFamily="18" charset="0"/>
                <a:cs typeface="Times New Roman" panose="02020603050405020304" pitchFamily="18" charset="0"/>
              </a:rPr>
              <a:t>4</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种放法</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把这</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个小球放完</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就做完了这件事情</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由分步乘法计数原理可得共有</a:t>
            </a:r>
            <a:r>
              <a:rPr lang="en-US" altLang="zh-CN" sz="2800">
                <a:solidFill>
                  <a:srgbClr val="000000"/>
                </a:solidFill>
                <a:latin typeface="Times New Roman" panose="02020603050405020304" pitchFamily="18" charset="0"/>
                <a:cs typeface="Times New Roman" panose="02020603050405020304" pitchFamily="18" charset="0"/>
              </a:rPr>
              <a:t>4</a:t>
            </a:r>
            <a:r>
              <a:rPr lang="en-US" altLang="zh-CN" sz="2800" baseline="300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种方法</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故选</a:t>
            </a:r>
            <a:r>
              <a:rPr lang="en-US" altLang="zh-CN" sz="2800">
                <a:solidFill>
                  <a:srgbClr val="000000"/>
                </a:solidFill>
                <a:latin typeface="Times New Roman" panose="02020603050405020304" pitchFamily="18" charset="0"/>
                <a:cs typeface="Times New Roman" panose="02020603050405020304" pitchFamily="18" charset="0"/>
              </a:rPr>
              <a:t>C</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答案</a:t>
            </a:r>
            <a:r>
              <a:rPr lang="en-US"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sz="2800" smtClean="0">
                <a:solidFill>
                  <a:srgbClr val="000000"/>
                </a:solidFill>
                <a:latin typeface="Times New Roman" panose="02020603050405020304" pitchFamily="18" charset="0"/>
                <a:cs typeface="Times New Roman" panose="02020603050405020304" pitchFamily="18" charset="0"/>
              </a:rPr>
              <a:t>C</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randombar(horizontal)">
                                      <p:cBhvr>
                                        <p:cTn id="7" dur="500"/>
                                        <p:tgtEl>
                                          <p:spTgt spid="2">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2">
                                            <p:txEl>
                                              <p:pRg st="3" end="3"/>
                                            </p:txEl>
                                          </p:spTgt>
                                        </p:tgtEl>
                                        <p:attrNameLst>
                                          <p:attrName>style.visibility</p:attrName>
                                        </p:attrNameLst>
                                      </p:cBhvr>
                                      <p:to>
                                        <p:strVal val="visible"/>
                                      </p:to>
                                    </p:set>
                                    <p:animEffect transition="in" filter="randombar(horizontal)">
                                      <p:cBhvr>
                                        <p:cTn id="12"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481530"/>
            <a:ext cx="11430000" cy="5693866"/>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某学校高二年级的</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cs typeface="Times New Roman" panose="02020603050405020304" pitchFamily="18" charset="0"/>
              </a:rPr>
              <a:t>个班级将要去甲、乙、丙、丁</a:t>
            </a:r>
            <a:r>
              <a:rPr lang="en-US" altLang="zh-CN" sz="2800">
                <a:solidFill>
                  <a:srgbClr val="000000"/>
                </a:solidFill>
                <a:latin typeface="Times New Roman" panose="02020603050405020304" pitchFamily="18" charset="0"/>
                <a:cs typeface="Times New Roman" panose="02020603050405020304" pitchFamily="18" charset="0"/>
              </a:rPr>
              <a:t>4</a:t>
            </a:r>
            <a:r>
              <a:rPr lang="zh-CN" altLang="zh-CN" sz="2800">
                <a:solidFill>
                  <a:srgbClr val="000000"/>
                </a:solidFill>
                <a:latin typeface="Times New Roman" panose="02020603050405020304" pitchFamily="18" charset="0"/>
                <a:cs typeface="Times New Roman" panose="02020603050405020304" pitchFamily="18" charset="0"/>
              </a:rPr>
              <a:t>个工厂参观学习</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要求每个班只能去</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个工厂参观学习</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且甲工厂必须有班级去参观学习</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则不同的参观方案有</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i="1">
                <a:solidFill>
                  <a:srgbClr val="000000"/>
                </a:solidFill>
                <a:latin typeface="Times New Roman" panose="02020603050405020304" pitchFamily="18" charset="0"/>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A.16</a:t>
            </a:r>
            <a:r>
              <a:rPr lang="zh-CN" altLang="zh-CN" sz="2800">
                <a:solidFill>
                  <a:srgbClr val="000000"/>
                </a:solidFill>
                <a:latin typeface="Times New Roman" panose="02020603050405020304" pitchFamily="18" charset="0"/>
                <a:cs typeface="Times New Roman" panose="02020603050405020304" pitchFamily="18" charset="0"/>
              </a:rPr>
              <a:t>种</a:t>
            </a:r>
            <a:r>
              <a:rPr lang="en-US" altLang="zh-CN" sz="2800">
                <a:solidFill>
                  <a:srgbClr val="000000"/>
                </a:solidFill>
                <a:latin typeface="Times New Roman" panose="02020603050405020304" pitchFamily="18" charset="0"/>
                <a:cs typeface="Times New Roman" panose="02020603050405020304" pitchFamily="18" charset="0"/>
              </a:rPr>
              <a:t>	</a:t>
            </a:r>
            <a:r>
              <a:rPr lang="en-US" altLang="zh-CN" sz="2800" smtClean="0">
                <a:solidFill>
                  <a:srgbClr val="000000"/>
                </a:solidFill>
                <a:latin typeface="Times New Roman" panose="02020603050405020304" pitchFamily="18" charset="0"/>
                <a:cs typeface="Times New Roman" panose="02020603050405020304" pitchFamily="18" charset="0"/>
              </a:rPr>
              <a:t>	B.27</a:t>
            </a:r>
            <a:r>
              <a:rPr lang="zh-CN" altLang="zh-CN" sz="2800" smtClean="0">
                <a:solidFill>
                  <a:srgbClr val="000000"/>
                </a:solidFill>
                <a:latin typeface="Times New Roman" panose="02020603050405020304" pitchFamily="18" charset="0"/>
                <a:cs typeface="Times New Roman" panose="02020603050405020304" pitchFamily="18" charset="0"/>
              </a:rPr>
              <a:t>种</a:t>
            </a:r>
            <a:r>
              <a:rPr lang="en-US" altLang="zh-CN" sz="2800" smtClean="0">
                <a:solidFill>
                  <a:srgbClr val="000000"/>
                </a:solidFill>
                <a:latin typeface="Times New Roman" panose="02020603050405020304" pitchFamily="18" charset="0"/>
                <a:cs typeface="Times New Roman" panose="02020603050405020304" pitchFamily="18" charset="0"/>
              </a:rPr>
              <a:t>	C.37</a:t>
            </a:r>
            <a:r>
              <a:rPr lang="zh-CN" altLang="zh-CN" sz="2800">
                <a:solidFill>
                  <a:srgbClr val="000000"/>
                </a:solidFill>
                <a:latin typeface="Times New Roman" panose="02020603050405020304" pitchFamily="18" charset="0"/>
                <a:cs typeface="Times New Roman" panose="02020603050405020304" pitchFamily="18" charset="0"/>
              </a:rPr>
              <a:t>种</a:t>
            </a:r>
            <a:r>
              <a:rPr lang="en-US" altLang="zh-CN" sz="2800">
                <a:solidFill>
                  <a:srgbClr val="000000"/>
                </a:solidFill>
                <a:latin typeface="Times New Roman" panose="02020603050405020304" pitchFamily="18" charset="0"/>
                <a:cs typeface="Times New Roman" panose="02020603050405020304" pitchFamily="18" charset="0"/>
              </a:rPr>
              <a:t>	</a:t>
            </a:r>
            <a:r>
              <a:rPr lang="en-US" altLang="zh-CN" sz="2800" smtClean="0">
                <a:solidFill>
                  <a:srgbClr val="000000"/>
                </a:solidFill>
                <a:latin typeface="Times New Roman" panose="02020603050405020304" pitchFamily="18" charset="0"/>
                <a:cs typeface="Times New Roman" panose="02020603050405020304" pitchFamily="18" charset="0"/>
              </a:rPr>
              <a:t>	D.48</a:t>
            </a:r>
            <a:r>
              <a:rPr lang="zh-CN" altLang="zh-CN" sz="2800">
                <a:solidFill>
                  <a:srgbClr val="000000"/>
                </a:solidFill>
                <a:latin typeface="Times New Roman" panose="02020603050405020304" pitchFamily="18" charset="0"/>
                <a:cs typeface="Times New Roman" panose="02020603050405020304" pitchFamily="18" charset="0"/>
              </a:rPr>
              <a:t>种</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解析</a:t>
            </a:r>
            <a:r>
              <a:rPr lang="en-US"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每个班级都可以从这</a:t>
            </a:r>
            <a:r>
              <a:rPr lang="en-US" altLang="zh-CN" sz="2800">
                <a:solidFill>
                  <a:srgbClr val="000000"/>
                </a:solidFill>
                <a:latin typeface="Times New Roman" panose="02020603050405020304" pitchFamily="18" charset="0"/>
                <a:cs typeface="Times New Roman" panose="02020603050405020304" pitchFamily="18" charset="0"/>
              </a:rPr>
              <a:t>4</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个工厂中选</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个参观学习</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各有</a:t>
            </a:r>
            <a:r>
              <a:rPr lang="en-US" altLang="zh-CN" sz="2800">
                <a:solidFill>
                  <a:srgbClr val="000000"/>
                </a:solidFill>
                <a:latin typeface="Times New Roman" panose="02020603050405020304" pitchFamily="18" charset="0"/>
                <a:cs typeface="Times New Roman" panose="02020603050405020304" pitchFamily="18" charset="0"/>
              </a:rPr>
              <a:t>4</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种选择</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根据分步乘法计数原理</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共有</a:t>
            </a:r>
            <a:r>
              <a:rPr lang="en-US" altLang="zh-CN" sz="2800">
                <a:solidFill>
                  <a:srgbClr val="000000"/>
                </a:solidFill>
                <a:latin typeface="Times New Roman" panose="02020603050405020304" pitchFamily="18" charset="0"/>
                <a:cs typeface="Times New Roman" panose="02020603050405020304" pitchFamily="18" charset="0"/>
              </a:rPr>
              <a:t>4</a:t>
            </a:r>
            <a:r>
              <a:rPr lang="en-US" altLang="zh-CN" sz="2800" baseline="30000">
                <a:solidFill>
                  <a:srgbClr val="000000"/>
                </a:solidFill>
                <a:latin typeface="Times New Roman" panose="02020603050405020304" pitchFamily="18" charset="0"/>
                <a:cs typeface="Times New Roman" panose="02020603050405020304" pitchFamily="18" charset="0"/>
              </a:rPr>
              <a:t>3</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64</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种参观方案</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若甲工厂没有班级参观学习</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此时每个班级都可以从其余</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个工厂中选</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个参观学习</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各有</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种选择</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共有</a:t>
            </a:r>
            <a:r>
              <a:rPr lang="en-US" altLang="zh-CN" sz="2800">
                <a:solidFill>
                  <a:srgbClr val="000000"/>
                </a:solidFill>
                <a:latin typeface="Times New Roman" panose="02020603050405020304" pitchFamily="18" charset="0"/>
                <a:cs typeface="Times New Roman" panose="02020603050405020304" pitchFamily="18" charset="0"/>
              </a:rPr>
              <a:t>3</a:t>
            </a:r>
            <a:r>
              <a:rPr lang="en-US" altLang="zh-CN" sz="2800" baseline="30000">
                <a:solidFill>
                  <a:srgbClr val="000000"/>
                </a:solidFill>
                <a:latin typeface="Times New Roman" panose="02020603050405020304" pitchFamily="18" charset="0"/>
                <a:cs typeface="Times New Roman" panose="02020603050405020304" pitchFamily="18" charset="0"/>
              </a:rPr>
              <a:t>3</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27</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种参观方案</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所以甲工厂必须有班级去参观学习时</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不同的参观方案有</a:t>
            </a:r>
            <a:r>
              <a:rPr lang="en-US" altLang="zh-CN" sz="2800">
                <a:solidFill>
                  <a:srgbClr val="000000"/>
                </a:solidFill>
                <a:latin typeface="Times New Roman" panose="02020603050405020304" pitchFamily="18" charset="0"/>
                <a:cs typeface="Times New Roman" panose="02020603050405020304" pitchFamily="18" charset="0"/>
              </a:rPr>
              <a:t>64</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27</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37</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故选</a:t>
            </a:r>
            <a:r>
              <a:rPr lang="en-US" altLang="zh-CN" sz="2800">
                <a:solidFill>
                  <a:srgbClr val="000000"/>
                </a:solidFill>
                <a:latin typeface="Times New Roman" panose="02020603050405020304" pitchFamily="18" charset="0"/>
                <a:cs typeface="Times New Roman" panose="02020603050405020304" pitchFamily="18" charset="0"/>
              </a:rPr>
              <a:t>C</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答案</a:t>
            </a:r>
            <a:r>
              <a:rPr lang="en-US"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C</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69148904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randombar(horizontal)">
                                      <p:cBhvr>
                                        <p:cTn id="7" dur="500"/>
                                        <p:tgtEl>
                                          <p:spTgt spid="2">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2">
                                            <p:txEl>
                                              <p:pRg st="3" end="3"/>
                                            </p:txEl>
                                          </p:spTgt>
                                        </p:tgtEl>
                                        <p:attrNameLst>
                                          <p:attrName>style.visibility</p:attrName>
                                        </p:attrNameLst>
                                      </p:cBhvr>
                                      <p:to>
                                        <p:strVal val="visible"/>
                                      </p:to>
                                    </p:set>
                                    <p:animEffect transition="in" filter="randombar(horizontal)">
                                      <p:cBhvr>
                                        <p:cTn id="12"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81000" y="928668"/>
            <a:ext cx="11430000" cy="513371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smtClean="0">
                <a:solidFill>
                  <a:srgbClr val="000000"/>
                </a:solidFill>
                <a:latin typeface="Times New Roman" panose="02020603050405020304" pitchFamily="18" charset="0"/>
                <a:cs typeface="Times New Roman" panose="02020603050405020304" pitchFamily="18" charset="0"/>
              </a:rPr>
              <a:t>3</a:t>
            </a:r>
            <a:r>
              <a:rPr lang="en-US" altLang="zh-CN" sz="2800" i="1" smtClean="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某校高一年级有四个班</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四位老师各教一个班的数学</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在该年级某次数学考试中</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要求每位数学老师均不在本班监考</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则不同的安排监考的方法种数为</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i="1">
                <a:solidFill>
                  <a:srgbClr val="000000"/>
                </a:solidFill>
                <a:latin typeface="Times New Roman" panose="02020603050405020304" pitchFamily="18" charset="0"/>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A.8	B.9	C.12	D.24</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解析</a:t>
            </a:r>
            <a:r>
              <a:rPr lang="en-US"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设四个班分别是</a:t>
            </a:r>
            <a:r>
              <a:rPr lang="en-US" altLang="zh-CN" sz="2800">
                <a:solidFill>
                  <a:srgbClr val="000000"/>
                </a:solidFill>
                <a:latin typeface="Times New Roman" panose="02020603050405020304" pitchFamily="18" charset="0"/>
                <a:cs typeface="Times New Roman" panose="02020603050405020304" pitchFamily="18" charset="0"/>
              </a:rPr>
              <a:t>A,B,C,D,</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对应的数学老师分别是</a:t>
            </a:r>
            <a:r>
              <a:rPr lang="en-US" altLang="zh-CN" sz="2800">
                <a:solidFill>
                  <a:srgbClr val="000000"/>
                </a:solidFill>
                <a:latin typeface="Times New Roman" panose="02020603050405020304" pitchFamily="18" charset="0"/>
                <a:cs typeface="Times New Roman" panose="02020603050405020304" pitchFamily="18" charset="0"/>
              </a:rPr>
              <a:t>a,b,c,d.</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让</a:t>
            </a:r>
            <a:r>
              <a:rPr lang="en-US" altLang="zh-CN" sz="2800">
                <a:solidFill>
                  <a:srgbClr val="000000"/>
                </a:solidFill>
                <a:latin typeface="Times New Roman" panose="02020603050405020304" pitchFamily="18" charset="0"/>
                <a:cs typeface="Times New Roman" panose="02020603050405020304" pitchFamily="18" charset="0"/>
              </a:rPr>
              <a:t>a</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老师先选</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可从</a:t>
            </a:r>
            <a:r>
              <a:rPr lang="en-US" altLang="zh-CN" sz="2800">
                <a:solidFill>
                  <a:srgbClr val="000000"/>
                </a:solidFill>
                <a:latin typeface="Times New Roman" panose="02020603050405020304" pitchFamily="18" charset="0"/>
                <a:cs typeface="Times New Roman" panose="02020603050405020304" pitchFamily="18" charset="0"/>
              </a:rPr>
              <a:t>B,C,D</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班中选一个</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有</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种选法</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不妨假设</a:t>
            </a:r>
            <a:r>
              <a:rPr lang="en-US" altLang="zh-CN" sz="2800">
                <a:solidFill>
                  <a:srgbClr val="000000"/>
                </a:solidFill>
                <a:latin typeface="Times New Roman" panose="02020603050405020304" pitchFamily="18" charset="0"/>
                <a:cs typeface="Times New Roman" panose="02020603050405020304" pitchFamily="18" charset="0"/>
              </a:rPr>
              <a:t>a</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老师选的是</a:t>
            </a:r>
            <a:r>
              <a:rPr lang="en-US" altLang="zh-CN" sz="2800">
                <a:solidFill>
                  <a:srgbClr val="000000"/>
                </a:solidFill>
                <a:latin typeface="Times New Roman" panose="02020603050405020304" pitchFamily="18" charset="0"/>
                <a:cs typeface="Times New Roman" panose="02020603050405020304" pitchFamily="18" charset="0"/>
              </a:rPr>
              <a:t>B,</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则</a:t>
            </a:r>
            <a:r>
              <a:rPr lang="en-US" altLang="zh-CN" sz="2800">
                <a:solidFill>
                  <a:srgbClr val="000000"/>
                </a:solidFill>
                <a:latin typeface="Times New Roman" panose="02020603050405020304" pitchFamily="18" charset="0"/>
                <a:cs typeface="Times New Roman" panose="02020603050405020304" pitchFamily="18" charset="0"/>
              </a:rPr>
              <a:t>b</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老师从剩下的三个班级中任选一个</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有</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种选法</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剩下的两位老师都只有</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种选法</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由分步乘法计数原理</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知共有</a:t>
            </a:r>
            <a:r>
              <a:rPr lang="en-US" altLang="zh-CN" sz="2800">
                <a:solidFill>
                  <a:srgbClr val="000000"/>
                </a:solidFill>
                <a:latin typeface="Times New Roman" panose="02020603050405020304" pitchFamily="18" charset="0"/>
                <a:cs typeface="Times New Roman" panose="02020603050405020304" pitchFamily="18" charset="0"/>
              </a:rPr>
              <a:t>3×3×1×1=9</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种不同的安排方法</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故选</a:t>
            </a:r>
            <a:r>
              <a:rPr lang="en-US" altLang="zh-CN" sz="2800">
                <a:solidFill>
                  <a:srgbClr val="000000"/>
                </a:solidFill>
                <a:latin typeface="Times New Roman" panose="02020603050405020304" pitchFamily="18" charset="0"/>
                <a:cs typeface="Times New Roman" panose="02020603050405020304" pitchFamily="18" charset="0"/>
              </a:rPr>
              <a:t>B</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答案</a:t>
            </a:r>
            <a:r>
              <a:rPr lang="en-US"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B</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84188394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randombar(horizontal)">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randombar(horizontal)">
                                      <p:cBhvr>
                                        <p:cTn id="1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589620"/>
            <a:ext cx="11430000" cy="513371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smtClean="0">
                <a:solidFill>
                  <a:srgbClr val="000000"/>
                </a:solidFill>
                <a:latin typeface="Times New Roman" panose="02020603050405020304" pitchFamily="18" charset="0"/>
                <a:cs typeface="Times New Roman" panose="02020603050405020304" pitchFamily="18" charset="0"/>
              </a:rPr>
              <a:t>4</a:t>
            </a:r>
            <a:r>
              <a:rPr lang="en-US" altLang="zh-CN" sz="2800" i="1" smtClean="0">
                <a:solidFill>
                  <a:srgbClr val="000000"/>
                </a:solidFill>
                <a:latin typeface="Times New Roman" panose="02020603050405020304" pitchFamily="18" charset="0"/>
                <a:cs typeface="Times New Roman" panose="02020603050405020304" pitchFamily="18" charset="0"/>
              </a:rPr>
              <a:t>.</a:t>
            </a:r>
            <a:r>
              <a:rPr lang="zh-CN" altLang="zh-CN" sz="2800" smtClean="0">
                <a:solidFill>
                  <a:srgbClr val="000000"/>
                </a:solidFill>
                <a:latin typeface="Times New Roman" panose="02020603050405020304" pitchFamily="18" charset="0"/>
                <a:cs typeface="Times New Roman" panose="02020603050405020304" pitchFamily="18" charset="0"/>
              </a:rPr>
              <a:t>如</a:t>
            </a:r>
            <a:r>
              <a:rPr lang="zh-CN" altLang="zh-CN" sz="2800">
                <a:solidFill>
                  <a:srgbClr val="000000"/>
                </a:solidFill>
                <a:latin typeface="Times New Roman" panose="02020603050405020304" pitchFamily="18" charset="0"/>
                <a:cs typeface="Times New Roman" panose="02020603050405020304" pitchFamily="18" charset="0"/>
              </a:rPr>
              <a:t>图</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一环形花坛分成</a:t>
            </a:r>
            <a:r>
              <a:rPr lang="en-US" altLang="zh-CN" sz="2800">
                <a:solidFill>
                  <a:srgbClr val="000000"/>
                </a:solidFill>
                <a:latin typeface="Times New Roman" panose="02020603050405020304" pitchFamily="18" charset="0"/>
                <a:cs typeface="Times New Roman" panose="02020603050405020304" pitchFamily="18" charset="0"/>
              </a:rPr>
              <a:t>A,B,C,D</a:t>
            </a:r>
            <a:r>
              <a:rPr lang="en-US" altLang="zh-CN" sz="2800" smtClean="0">
                <a:solidFill>
                  <a:srgbClr val="000000"/>
                </a:solidFill>
                <a:latin typeface="Times New Roman" panose="02020603050405020304" pitchFamily="18" charset="0"/>
                <a:cs typeface="Times New Roman" panose="02020603050405020304" pitchFamily="18" charset="0"/>
              </a:rPr>
              <a:t>,</a:t>
            </a:r>
            <a:r>
              <a:rPr lang="zh-CN" altLang="en-US" sz="2800">
                <a:solidFill>
                  <a:srgbClr val="000000"/>
                </a:solidFill>
                <a:latin typeface="Times New Roman" panose="02020603050405020304" pitchFamily="18" charset="0"/>
                <a:cs typeface="Times New Roman" panose="02020603050405020304" pitchFamily="18" charset="0"/>
              </a:rPr>
              <a:t>共</a:t>
            </a:r>
            <a:r>
              <a:rPr lang="en-US" altLang="zh-CN" sz="2800" smtClean="0">
                <a:solidFill>
                  <a:srgbClr val="000000"/>
                </a:solidFill>
                <a:latin typeface="Times New Roman" panose="02020603050405020304" pitchFamily="18" charset="0"/>
                <a:cs typeface="Times New Roman" panose="02020603050405020304" pitchFamily="18" charset="0"/>
              </a:rPr>
              <a:t>4</a:t>
            </a:r>
            <a:r>
              <a:rPr lang="zh-CN" altLang="zh-CN" sz="2800" smtClean="0">
                <a:solidFill>
                  <a:srgbClr val="000000"/>
                </a:solidFill>
                <a:latin typeface="Times New Roman" panose="02020603050405020304" pitchFamily="18" charset="0"/>
                <a:cs typeface="Times New Roman" panose="02020603050405020304" pitchFamily="18" charset="0"/>
              </a:rPr>
              <a:t>个</a:t>
            </a:r>
            <a:r>
              <a:rPr lang="zh-CN" altLang="zh-CN" sz="2800">
                <a:solidFill>
                  <a:srgbClr val="000000"/>
                </a:solidFill>
                <a:latin typeface="Times New Roman" panose="02020603050405020304" pitchFamily="18" charset="0"/>
                <a:cs typeface="Times New Roman" panose="02020603050405020304" pitchFamily="18" charset="0"/>
              </a:rPr>
              <a:t>区</a:t>
            </a:r>
            <a:r>
              <a:rPr lang="zh-CN" altLang="zh-CN" sz="2800" smtClean="0">
                <a:solidFill>
                  <a:srgbClr val="000000"/>
                </a:solidFill>
                <a:latin typeface="Times New Roman" panose="02020603050405020304" pitchFamily="18" charset="0"/>
                <a:cs typeface="Times New Roman" panose="02020603050405020304" pitchFamily="18" charset="0"/>
              </a:rPr>
              <a:t>域</a:t>
            </a:r>
            <a:r>
              <a:rPr lang="en-US" altLang="zh-CN" sz="2800" smtClean="0">
                <a:solidFill>
                  <a:srgbClr val="000000"/>
                </a:solidFill>
                <a:latin typeface="Times New Roman" panose="02020603050405020304" pitchFamily="18" charset="0"/>
                <a:cs typeface="Times New Roman" panose="02020603050405020304" pitchFamily="18" charset="0"/>
              </a:rPr>
              <a:t>.</a:t>
            </a:r>
            <a:r>
              <a:rPr lang="zh-CN" altLang="zh-CN" sz="2800" smtClean="0">
                <a:solidFill>
                  <a:srgbClr val="000000"/>
                </a:solidFill>
                <a:latin typeface="Times New Roman" panose="02020603050405020304" pitchFamily="18" charset="0"/>
                <a:cs typeface="Times New Roman" panose="02020603050405020304" pitchFamily="18" charset="0"/>
              </a:rPr>
              <a:t>现</a:t>
            </a:r>
            <a:r>
              <a:rPr lang="zh-CN" altLang="zh-CN" sz="2800">
                <a:solidFill>
                  <a:srgbClr val="000000"/>
                </a:solidFill>
                <a:latin typeface="Times New Roman" panose="02020603050405020304" pitchFamily="18" charset="0"/>
                <a:cs typeface="Times New Roman" panose="02020603050405020304" pitchFamily="18" charset="0"/>
              </a:rPr>
              <a:t>有</a:t>
            </a:r>
            <a:r>
              <a:rPr lang="en-US" altLang="zh-CN" sz="2800">
                <a:solidFill>
                  <a:srgbClr val="000000"/>
                </a:solidFill>
                <a:latin typeface="Times New Roman" panose="02020603050405020304" pitchFamily="18" charset="0"/>
                <a:cs typeface="Times New Roman" panose="02020603050405020304" pitchFamily="18" charset="0"/>
              </a:rPr>
              <a:t>4</a:t>
            </a:r>
            <a:r>
              <a:rPr lang="zh-CN" altLang="zh-CN" sz="2800">
                <a:solidFill>
                  <a:srgbClr val="000000"/>
                </a:solidFill>
                <a:latin typeface="Times New Roman" panose="02020603050405020304" pitchFamily="18" charset="0"/>
                <a:cs typeface="Times New Roman" panose="02020603050405020304" pitchFamily="18" charset="0"/>
              </a:rPr>
              <a:t>种不同</a:t>
            </a:r>
            <a:r>
              <a:rPr lang="zh-CN" altLang="zh-CN" sz="2800" smtClean="0">
                <a:solidFill>
                  <a:srgbClr val="000000"/>
                </a:solidFill>
                <a:latin typeface="Times New Roman" panose="02020603050405020304" pitchFamily="18" charset="0"/>
                <a:cs typeface="Times New Roman" panose="02020603050405020304" pitchFamily="18" charset="0"/>
              </a:rPr>
              <a:t>的</a:t>
            </a:r>
            <a:endParaRPr lang="en-US" altLang="zh-CN" sz="2800" smtClean="0">
              <a:solidFill>
                <a:srgbClr val="000000"/>
              </a:solidFill>
              <a:latin typeface="Times New Roman" panose="02020603050405020304" pitchFamily="18" charset="0"/>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smtClean="0">
                <a:solidFill>
                  <a:srgbClr val="000000"/>
                </a:solidFill>
                <a:latin typeface="Times New Roman" panose="02020603050405020304" pitchFamily="18" charset="0"/>
                <a:cs typeface="Times New Roman" panose="02020603050405020304" pitchFamily="18" charset="0"/>
              </a:rPr>
              <a:t>花</a:t>
            </a:r>
            <a:r>
              <a:rPr lang="zh-CN" altLang="zh-CN" sz="2800">
                <a:solidFill>
                  <a:srgbClr val="000000"/>
                </a:solidFill>
                <a:latin typeface="Times New Roman" panose="02020603050405020304" pitchFamily="18" charset="0"/>
                <a:cs typeface="Times New Roman" panose="02020603050405020304" pitchFamily="18" charset="0"/>
              </a:rPr>
              <a:t>供选种</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要求在每个区域里种</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种花</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且相邻的</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个区域</a:t>
            </a:r>
            <a:r>
              <a:rPr lang="zh-CN" altLang="zh-CN" sz="2800" smtClean="0">
                <a:solidFill>
                  <a:srgbClr val="000000"/>
                </a:solidFill>
                <a:latin typeface="Times New Roman" panose="02020603050405020304" pitchFamily="18" charset="0"/>
                <a:cs typeface="Times New Roman" panose="02020603050405020304" pitchFamily="18" charset="0"/>
              </a:rPr>
              <a:t>种</a:t>
            </a:r>
            <a:endParaRPr lang="en-US" altLang="zh-CN" sz="2800" smtClean="0">
              <a:solidFill>
                <a:srgbClr val="000000"/>
              </a:solidFill>
              <a:latin typeface="Times New Roman" panose="02020603050405020304" pitchFamily="18" charset="0"/>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smtClean="0">
                <a:solidFill>
                  <a:srgbClr val="000000"/>
                </a:solidFill>
                <a:latin typeface="Times New Roman" panose="02020603050405020304" pitchFamily="18" charset="0"/>
                <a:cs typeface="Times New Roman" panose="02020603050405020304" pitchFamily="18" charset="0"/>
              </a:rPr>
              <a:t>不同</a:t>
            </a:r>
            <a:r>
              <a:rPr lang="zh-CN" altLang="zh-CN" sz="2800">
                <a:solidFill>
                  <a:srgbClr val="000000"/>
                </a:solidFill>
                <a:latin typeface="Times New Roman" panose="02020603050405020304" pitchFamily="18" charset="0"/>
                <a:cs typeface="Times New Roman" panose="02020603050405020304" pitchFamily="18" charset="0"/>
              </a:rPr>
              <a:t>的花</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则不同的种法有</a:t>
            </a:r>
            <a:r>
              <a:rPr lang="zh-CN" altLang="zh-CN" sz="2800" i="1" u="sng">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zh-CN" altLang="zh-CN" sz="2800">
                <a:solidFill>
                  <a:srgbClr val="000000"/>
                </a:solidFill>
                <a:latin typeface="Times New Roman" panose="02020603050405020304" pitchFamily="18" charset="0"/>
                <a:cs typeface="Times New Roman" panose="02020603050405020304" pitchFamily="18" charset="0"/>
              </a:rPr>
              <a:t>种</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 </a:t>
            </a:r>
            <a:endParaRPr lang="en-US" altLang="zh-CN" sz="2800" i="1" smtClean="0">
              <a:solidFill>
                <a:srgbClr val="000000"/>
              </a:solidFill>
              <a:latin typeface="宋体" panose="02010600030101010101" pitchFamily="2" charset="-12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解析</a:t>
            </a:r>
            <a:r>
              <a:rPr lang="en-US"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A,C</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区域种同样的花时</a:t>
            </a:r>
            <a:r>
              <a:rPr lang="en-US" altLang="zh-CN" sz="2800">
                <a:solidFill>
                  <a:srgbClr val="000000"/>
                </a:solidFill>
                <a:latin typeface="Times New Roman" panose="02020603050405020304" pitchFamily="18" charset="0"/>
                <a:cs typeface="Times New Roman" panose="02020603050405020304" pitchFamily="18" charset="0"/>
              </a:rPr>
              <a:t>,A,C</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区域有</a:t>
            </a:r>
            <a:r>
              <a:rPr lang="en-US" altLang="zh-CN" sz="2800">
                <a:solidFill>
                  <a:srgbClr val="000000"/>
                </a:solidFill>
                <a:latin typeface="Times New Roman" panose="02020603050405020304" pitchFamily="18" charset="0"/>
                <a:cs typeface="Times New Roman" panose="02020603050405020304" pitchFamily="18" charset="0"/>
              </a:rPr>
              <a:t>4</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种种法</a:t>
            </a:r>
            <a:r>
              <a:rPr lang="en-US" altLang="zh-CN" sz="2800">
                <a:solidFill>
                  <a:srgbClr val="000000"/>
                </a:solidFill>
                <a:latin typeface="Times New Roman" panose="02020603050405020304" pitchFamily="18" charset="0"/>
                <a:cs typeface="Times New Roman" panose="02020603050405020304" pitchFamily="18" charset="0"/>
              </a:rPr>
              <a:t>,B</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区域有</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种种法</a:t>
            </a:r>
            <a:r>
              <a:rPr lang="en-US" altLang="zh-CN" sz="2800">
                <a:solidFill>
                  <a:srgbClr val="000000"/>
                </a:solidFill>
                <a:latin typeface="Times New Roman" panose="02020603050405020304" pitchFamily="18" charset="0"/>
                <a:cs typeface="Times New Roman" panose="02020603050405020304" pitchFamily="18" charset="0"/>
              </a:rPr>
              <a:t>,D</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区域有</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种种法</a:t>
            </a:r>
            <a:r>
              <a:rPr lang="en-US" altLang="zh-CN" sz="2800">
                <a:solidFill>
                  <a:srgbClr val="000000"/>
                </a:solidFill>
                <a:latin typeface="Times New Roman" panose="02020603050405020304" pitchFamily="18" charset="0"/>
                <a:cs typeface="Times New Roman" panose="02020603050405020304" pitchFamily="18" charset="0"/>
              </a:rPr>
              <a:t>;A,C</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区域种不同的花时</a:t>
            </a:r>
            <a:r>
              <a:rPr lang="en-US" altLang="zh-CN" sz="2800">
                <a:solidFill>
                  <a:srgbClr val="000000"/>
                </a:solidFill>
                <a:latin typeface="Times New Roman" panose="02020603050405020304" pitchFamily="18" charset="0"/>
                <a:cs typeface="Times New Roman" panose="02020603050405020304" pitchFamily="18" charset="0"/>
              </a:rPr>
              <a:t>,A</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区域有</a:t>
            </a:r>
            <a:r>
              <a:rPr lang="en-US" altLang="zh-CN" sz="2800">
                <a:solidFill>
                  <a:srgbClr val="000000"/>
                </a:solidFill>
                <a:latin typeface="Times New Roman" panose="02020603050405020304" pitchFamily="18" charset="0"/>
                <a:cs typeface="Times New Roman" panose="02020603050405020304" pitchFamily="18" charset="0"/>
              </a:rPr>
              <a:t>4</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种种法</a:t>
            </a:r>
            <a:r>
              <a:rPr lang="en-US" altLang="zh-CN" sz="2800">
                <a:solidFill>
                  <a:srgbClr val="000000"/>
                </a:solidFill>
                <a:latin typeface="Times New Roman" panose="02020603050405020304" pitchFamily="18" charset="0"/>
                <a:cs typeface="Times New Roman" panose="02020603050405020304" pitchFamily="18" charset="0"/>
              </a:rPr>
              <a:t>,C</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区域有</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种种法</a:t>
            </a:r>
            <a:r>
              <a:rPr lang="en-US" altLang="zh-CN" sz="2800">
                <a:solidFill>
                  <a:srgbClr val="000000"/>
                </a:solidFill>
                <a:latin typeface="Times New Roman" panose="02020603050405020304" pitchFamily="18" charset="0"/>
                <a:cs typeface="Times New Roman" panose="02020603050405020304" pitchFamily="18" charset="0"/>
              </a:rPr>
              <a:t>,B</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区域有</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种种法</a:t>
            </a:r>
            <a:r>
              <a:rPr lang="en-US" altLang="zh-CN" sz="2800">
                <a:solidFill>
                  <a:srgbClr val="000000"/>
                </a:solidFill>
                <a:latin typeface="Times New Roman" panose="02020603050405020304" pitchFamily="18" charset="0"/>
                <a:cs typeface="Times New Roman" panose="02020603050405020304" pitchFamily="18" charset="0"/>
              </a:rPr>
              <a:t>,D</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区域有</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种种法</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故一共有</a:t>
            </a:r>
            <a:r>
              <a:rPr lang="en-US" altLang="zh-CN" sz="2800">
                <a:solidFill>
                  <a:srgbClr val="000000"/>
                </a:solidFill>
                <a:latin typeface="Times New Roman" panose="02020603050405020304" pitchFamily="18" charset="0"/>
                <a:cs typeface="Times New Roman" panose="02020603050405020304" pitchFamily="18" charset="0"/>
              </a:rPr>
              <a:t>4×3×3</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4×3×2×2</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84</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种不同的种法</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84</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pic>
        <p:nvPicPr>
          <p:cNvPr id="3" name="ZMX3TRAX05.eps" descr="id:2147515304;FounderCES"/>
          <p:cNvPicPr/>
          <p:nvPr/>
        </p:nvPicPr>
        <p:blipFill>
          <a:blip r:embed="rId2">
            <a:clrChange>
              <a:clrFrom>
                <a:srgbClr val="FFFFFF"/>
              </a:clrFrom>
              <a:clrTo>
                <a:srgbClr val="FFFFFF">
                  <a:alpha val="0"/>
                </a:srgbClr>
              </a:clrTo>
            </a:clrChange>
          </a:blip>
          <a:stretch>
            <a:fillRect/>
          </a:stretch>
        </p:blipFill>
        <p:spPr>
          <a:xfrm>
            <a:off x="9672937" y="589620"/>
            <a:ext cx="2138063" cy="2099980"/>
          </a:xfrm>
          <a:prstGeom prst="rect">
            <a:avLst/>
          </a:prstGeom>
        </p:spPr>
      </p:pic>
    </p:spTree>
    <p:extLst>
      <p:ext uri="{BB962C8B-B14F-4D97-AF65-F5344CB8AC3E}">
        <p14:creationId xmlns:p14="http://schemas.microsoft.com/office/powerpoint/2010/main" val="81660790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4" end="4"/>
                                            </p:txEl>
                                          </p:spTgt>
                                        </p:tgtEl>
                                        <p:attrNameLst>
                                          <p:attrName>style.visibility</p:attrName>
                                        </p:attrNameLst>
                                      </p:cBhvr>
                                      <p:to>
                                        <p:strVal val="visible"/>
                                      </p:to>
                                    </p:set>
                                    <p:animEffect transition="in" filter="randombar(horizontal)">
                                      <p:cBhvr>
                                        <p:cTn id="7" dur="500"/>
                                        <p:tgtEl>
                                          <p:spTgt spid="2">
                                            <p:txEl>
                                              <p:pRg st="4" end="4"/>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2">
                                            <p:txEl>
                                              <p:pRg st="5" end="5"/>
                                            </p:txEl>
                                          </p:spTgt>
                                        </p:tgtEl>
                                        <p:attrNameLst>
                                          <p:attrName>style.visibility</p:attrName>
                                        </p:attrNameLst>
                                      </p:cBhvr>
                                      <p:to>
                                        <p:strVal val="visible"/>
                                      </p:to>
                                    </p:set>
                                    <p:animEffect transition="in" filter="randombar(horizontal)">
                                      <p:cBhvr>
                                        <p:cTn id="10" dur="500"/>
                                        <p:tgtEl>
                                          <p:spTgt spid="2">
                                            <p:txEl>
                                              <p:pRg st="5" end="5"/>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nodeType="clickEffect">
                                  <p:stCondLst>
                                    <p:cond delay="0"/>
                                  </p:stCondLst>
                                  <p:childTnLst>
                                    <p:set>
                                      <p:cBhvr>
                                        <p:cTn id="14" dur="1" fill="hold">
                                          <p:stCondLst>
                                            <p:cond delay="0"/>
                                          </p:stCondLst>
                                        </p:cTn>
                                        <p:tgtEl>
                                          <p:spTgt spid="2">
                                            <p:txEl>
                                              <p:pRg st="6" end="6"/>
                                            </p:txEl>
                                          </p:spTgt>
                                        </p:tgtEl>
                                        <p:attrNameLst>
                                          <p:attrName>style.visibility</p:attrName>
                                        </p:attrNameLst>
                                      </p:cBhvr>
                                      <p:to>
                                        <p:strVal val="visible"/>
                                      </p:to>
                                    </p:set>
                                    <p:animEffect transition="in" filter="randombar(horizontal)">
                                      <p:cBhvr>
                                        <p:cTn id="15"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阴影"/>
          <p:cNvPicPr>
            <a:picLocks noChangeAspect="1"/>
          </p:cNvPicPr>
          <p:nvPr/>
        </p:nvPicPr>
        <p:blipFill>
          <a:blip r:embed="rId2"/>
          <a:stretch>
            <a:fillRect/>
          </a:stretch>
        </p:blipFill>
        <p:spPr>
          <a:xfrm>
            <a:off x="2325712" y="1511279"/>
            <a:ext cx="7280625" cy="3396125"/>
          </a:xfrm>
          <a:prstGeom prst="rect">
            <a:avLst/>
          </a:prstGeom>
        </p:spPr>
      </p:pic>
      <p:sp>
        <p:nvSpPr>
          <p:cNvPr id="9" name="文本框 8"/>
          <p:cNvSpPr txBox="1"/>
          <p:nvPr/>
        </p:nvSpPr>
        <p:spPr>
          <a:xfrm>
            <a:off x="1809976" y="4908623"/>
            <a:ext cx="8572049" cy="1292662"/>
          </a:xfrm>
          <a:prstGeom prst="rect">
            <a:avLst/>
          </a:prstGeom>
          <a:noFill/>
        </p:spPr>
        <p:txBody>
          <a:bodyPr wrap="square" rtlCol="0">
            <a:spAutoFit/>
          </a:bodyPr>
          <a:lstStyle/>
          <a:p>
            <a:pPr algn="ctr" fontAlgn="auto">
              <a:lnSpc>
                <a:spcPct val="150000"/>
              </a:lnSpc>
            </a:pPr>
            <a:r>
              <a:rPr lang="zh-CN" altLang="en-US" sz="2400" smtClean="0">
                <a:solidFill>
                  <a:srgbClr val="55463D"/>
                </a:solidFill>
              </a:rPr>
              <a:t>更多精彩内容请登录</a:t>
            </a:r>
            <a:r>
              <a:rPr lang="zh-CN" altLang="en-US" sz="2800" b="1" smtClean="0">
                <a:solidFill>
                  <a:srgbClr val="55463D"/>
                </a:solidFill>
                <a:latin typeface="华文新魏" panose="02010800040101010101" pitchFamily="2" charset="-122"/>
                <a:ea typeface="华文新魏" panose="02010800040101010101" pitchFamily="2" charset="-122"/>
              </a:rPr>
              <a:t>志鸿优化网</a:t>
            </a:r>
            <a:endParaRPr lang="en-US" altLang="zh-CN" sz="2400" b="1" smtClean="0">
              <a:solidFill>
                <a:srgbClr val="55463D"/>
              </a:solidFill>
              <a:latin typeface="华文新魏" panose="02010800040101010101" pitchFamily="2" charset="-122"/>
              <a:ea typeface="华文新魏" panose="02010800040101010101" pitchFamily="2" charset="-122"/>
            </a:endParaRPr>
          </a:p>
          <a:p>
            <a:pPr algn="ctr" fontAlgn="auto">
              <a:lnSpc>
                <a:spcPct val="150000"/>
              </a:lnSpc>
            </a:pPr>
            <a:r>
              <a:rPr lang="en-US" altLang="zh-CN" sz="2400" smtClean="0">
                <a:solidFill>
                  <a:srgbClr val="55463D"/>
                </a:solidFill>
              </a:rPr>
              <a:t>http</a:t>
            </a:r>
            <a:r>
              <a:rPr lang="en-US" altLang="zh-CN" sz="2400">
                <a:solidFill>
                  <a:srgbClr val="55463D"/>
                </a:solidFill>
              </a:rPr>
              <a:t>://www.zhyh.org</a:t>
            </a:r>
            <a:r>
              <a:rPr lang="en-US" altLang="zh-CN" sz="2400" smtClean="0">
                <a:solidFill>
                  <a:srgbClr val="55463D"/>
                </a:solidFill>
              </a:rPr>
              <a:t>/</a:t>
            </a:r>
            <a:endParaRPr lang="zh-CN" altLang="en-US" sz="2400">
              <a:solidFill>
                <a:srgbClr val="55463D"/>
              </a:solidFill>
            </a:endParaRPr>
          </a:p>
        </p:txBody>
      </p:sp>
      <p:pic>
        <p:nvPicPr>
          <p:cNvPr id="11" name="图片 10"/>
          <p:cNvPicPr>
            <a:picLocks noChangeAspect="1"/>
          </p:cNvPicPr>
          <p:nvPr/>
        </p:nvPicPr>
        <p:blipFill>
          <a:blip r:embed="rId3">
            <a:clrChange>
              <a:clrFrom>
                <a:srgbClr val="ECECEE"/>
              </a:clrFrom>
              <a:clrTo>
                <a:srgbClr val="ECECEE">
                  <a:alpha val="0"/>
                </a:srgbClr>
              </a:clrTo>
            </a:clrChange>
          </a:blip>
          <a:stretch>
            <a:fillRect/>
          </a:stretch>
        </p:blipFill>
        <p:spPr>
          <a:xfrm>
            <a:off x="123290" y="4517181"/>
            <a:ext cx="2325712" cy="2253486"/>
          </a:xfrm>
          <a:prstGeom prst="rect">
            <a:avLst/>
          </a:prstGeom>
        </p:spPr>
      </p:pic>
      <p:sp>
        <p:nvSpPr>
          <p:cNvPr id="6" name="文本框 5"/>
          <p:cNvSpPr txBox="1"/>
          <p:nvPr/>
        </p:nvSpPr>
        <p:spPr>
          <a:xfrm>
            <a:off x="2624485" y="2222090"/>
            <a:ext cx="6648062" cy="1015663"/>
          </a:xfrm>
          <a:prstGeom prst="rect">
            <a:avLst/>
          </a:prstGeom>
          <a:noFill/>
        </p:spPr>
        <p:txBody>
          <a:bodyPr wrap="square" rtlCol="0">
            <a:spAutoFit/>
          </a:bodyPr>
          <a:lstStyle/>
          <a:p>
            <a:pPr algn="ctr"/>
            <a:r>
              <a:rPr lang="zh-CN" altLang="en-US" sz="6000" b="1">
                <a:solidFill>
                  <a:srgbClr val="55463D"/>
                </a:solidFill>
                <a:latin typeface="思源黑体 CN Medium" panose="020B0600000000000000" pitchFamily="34" charset="-122"/>
                <a:ea typeface="思源黑体 CN Medium" panose="020B0600000000000000" pitchFamily="34" charset="-122"/>
              </a:rPr>
              <a:t>本  课  结  束</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5"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randombar(vertical)">
                                      <p:cBhvr>
                                        <p:cTn id="7" dur="500"/>
                                        <p:tgtEl>
                                          <p:spTgt spid="9"/>
                                        </p:tgtEl>
                                      </p:cBhvr>
                                    </p:animEffect>
                                  </p:childTnLst>
                                </p:cTn>
                              </p:par>
                              <p:par>
                                <p:cTn id="8" presetID="3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800" decel="100000"/>
                                        <p:tgtEl>
                                          <p:spTgt spid="11"/>
                                        </p:tgtEl>
                                      </p:cBhvr>
                                    </p:animEffect>
                                    <p:anim calcmode="lin" valueType="num">
                                      <p:cBhvr>
                                        <p:cTn id="11" dur="800" decel="100000" fill="hold"/>
                                        <p:tgtEl>
                                          <p:spTgt spid="11"/>
                                        </p:tgtEl>
                                        <p:attrNameLst>
                                          <p:attrName>style.rotation</p:attrName>
                                        </p:attrNameLst>
                                      </p:cBhvr>
                                      <p:tavLst>
                                        <p:tav tm="0">
                                          <p:val>
                                            <p:fltVal val="-90"/>
                                          </p:val>
                                        </p:tav>
                                        <p:tav tm="100000">
                                          <p:val>
                                            <p:fltVal val="0"/>
                                          </p:val>
                                        </p:tav>
                                      </p:tavLst>
                                    </p:anim>
                                    <p:anim calcmode="lin" valueType="num">
                                      <p:cBhvr>
                                        <p:cTn id="12" dur="800" decel="100000" fill="hold"/>
                                        <p:tgtEl>
                                          <p:spTgt spid="11"/>
                                        </p:tgtEl>
                                        <p:attrNameLst>
                                          <p:attrName>ppt_x</p:attrName>
                                        </p:attrNameLst>
                                      </p:cBhvr>
                                      <p:tavLst>
                                        <p:tav tm="0">
                                          <p:val>
                                            <p:strVal val="#ppt_x+0.4"/>
                                          </p:val>
                                        </p:tav>
                                        <p:tav tm="100000">
                                          <p:val>
                                            <p:strVal val="#ppt_x-0.05"/>
                                          </p:val>
                                        </p:tav>
                                      </p:tavLst>
                                    </p:anim>
                                    <p:anim calcmode="lin" valueType="num">
                                      <p:cBhvr>
                                        <p:cTn id="13" dur="800" decel="100000" fill="hold"/>
                                        <p:tgtEl>
                                          <p:spTgt spid="11"/>
                                        </p:tgtEl>
                                        <p:attrNameLst>
                                          <p:attrName>ppt_y</p:attrName>
                                        </p:attrNameLst>
                                      </p:cBhvr>
                                      <p:tavLst>
                                        <p:tav tm="0">
                                          <p:val>
                                            <p:strVal val="#ppt_y-0.4"/>
                                          </p:val>
                                        </p:tav>
                                        <p:tav tm="100000">
                                          <p:val>
                                            <p:strVal val="#ppt_y+0.1"/>
                                          </p:val>
                                        </p:tav>
                                      </p:tavLst>
                                    </p:anim>
                                    <p:anim calcmode="lin" valueType="num">
                                      <p:cBhvr>
                                        <p:cTn id="14" dur="200" accel="100000" fill="hold">
                                          <p:stCondLst>
                                            <p:cond delay="800"/>
                                          </p:stCondLst>
                                        </p:cTn>
                                        <p:tgtEl>
                                          <p:spTgt spid="11"/>
                                        </p:tgtEl>
                                        <p:attrNameLst>
                                          <p:attrName>ppt_x</p:attrName>
                                        </p:attrNameLst>
                                      </p:cBhvr>
                                      <p:tavLst>
                                        <p:tav tm="0">
                                          <p:val>
                                            <p:strVal val="#ppt_x-0.05"/>
                                          </p:val>
                                        </p:tav>
                                        <p:tav tm="100000">
                                          <p:val>
                                            <p:strVal val="#ppt_x"/>
                                          </p:val>
                                        </p:tav>
                                      </p:tavLst>
                                    </p:anim>
                                    <p:anim calcmode="lin" valueType="num">
                                      <p:cBhvr>
                                        <p:cTn id="15" dur="200" accel="100000" fill="hold">
                                          <p:stCondLst>
                                            <p:cond delay="800"/>
                                          </p:stCondLst>
                                        </p:cTn>
                                        <p:tgtEl>
                                          <p:spTgt spid="11"/>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tags/tag1.xml><?xml version="1.0" encoding="utf-8"?>
<p:tagLst xmlns:a="http://schemas.openxmlformats.org/drawingml/2006/main" xmlns:r="http://schemas.openxmlformats.org/officeDocument/2006/relationships" xmlns:p="http://schemas.openxmlformats.org/presentationml/2006/main">
  <p:tag name="MH" val="20161022204519"/>
  <p:tag name="MH_LIBRARY" val="GRAPHIC"/>
  <p:tag name="MH_ORDER" val="TextBox 3"/>
</p:tagLst>
</file>

<file path=ppt/theme/theme1.xml><?xml version="1.0" encoding="utf-8"?>
<a:theme xmlns:a="http://schemas.openxmlformats.org/drawingml/2006/main" name="1_Office 主题">
  <a:themeElements>
    <a:clrScheme name="模块">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演示文稿1" id="{721B1EAD-A6C0-47A7-B782-D5918D0D228F}" vid="{2963E896-880A-42B6-99FF-93DBD5586BD1}"/>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理科模板</Template>
  <TotalTime>122</TotalTime>
  <Words>3949</Words>
  <Application>Microsoft Office PowerPoint</Application>
  <PresentationFormat>宽屏</PresentationFormat>
  <Paragraphs>160</Paragraphs>
  <Slides>34</Slides>
  <Notes>0</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34</vt:i4>
      </vt:variant>
    </vt:vector>
  </HeadingPairs>
  <TitlesOfParts>
    <vt:vector size="53" baseType="lpstr">
      <vt:lpstr>NEU-BZ-S92</vt:lpstr>
      <vt:lpstr>Open Sans</vt:lpstr>
      <vt:lpstr>方正书宋_GBK</vt:lpstr>
      <vt:lpstr>方正姚体</vt:lpstr>
      <vt:lpstr>方正正中黑简体</vt:lpstr>
      <vt:lpstr>仿宋</vt:lpstr>
      <vt:lpstr>黑体</vt:lpstr>
      <vt:lpstr>华文细黑</vt:lpstr>
      <vt:lpstr>华文新魏</vt:lpstr>
      <vt:lpstr>楷体</vt:lpstr>
      <vt:lpstr>隶书</vt:lpstr>
      <vt:lpstr>思源黑体 CN Medium</vt:lpstr>
      <vt:lpstr>宋体</vt:lpstr>
      <vt:lpstr>微软雅黑</vt:lpstr>
      <vt:lpstr>Arial</vt:lpstr>
      <vt:lpstr>Calibri</vt:lpstr>
      <vt:lpstr>Cambria Math</vt:lpstr>
      <vt:lpstr>Times New Roman</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ITSK.com</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SkyUser</dc:creator>
  <cp:lastModifiedBy>Windows User</cp:lastModifiedBy>
  <cp:revision>49</cp:revision>
  <dcterms:created xsi:type="dcterms:W3CDTF">2021-08-30T08:30:26Z</dcterms:created>
  <dcterms:modified xsi:type="dcterms:W3CDTF">2025-08-20T01:04:54Z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2052-11.1.0.10000</vt:lpwstr>
  </property>
</Properties>
</file>