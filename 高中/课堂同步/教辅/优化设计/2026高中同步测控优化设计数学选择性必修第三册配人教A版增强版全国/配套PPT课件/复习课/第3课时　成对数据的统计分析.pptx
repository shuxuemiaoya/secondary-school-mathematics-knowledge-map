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docx" ContentType="application/vnd.openxmlformats-officedocument.wordprocessingml.document"/>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677" r:id="rId2"/>
    <p:sldId id="488" r:id="rId3"/>
    <p:sldId id="392" r:id="rId4"/>
    <p:sldId id="686" r:id="rId5"/>
    <p:sldId id="757" r:id="rId6"/>
    <p:sldId id="758" r:id="rId7"/>
    <p:sldId id="759" r:id="rId8"/>
    <p:sldId id="761" r:id="rId9"/>
    <p:sldId id="762" r:id="rId10"/>
    <p:sldId id="763" r:id="rId11"/>
    <p:sldId id="764" r:id="rId12"/>
    <p:sldId id="765" r:id="rId13"/>
    <p:sldId id="766" r:id="rId14"/>
    <p:sldId id="767" r:id="rId15"/>
    <p:sldId id="407" r:id="rId16"/>
    <p:sldId id="394" r:id="rId17"/>
    <p:sldId id="768" r:id="rId18"/>
    <p:sldId id="769" r:id="rId19"/>
    <p:sldId id="770" r:id="rId20"/>
    <p:sldId id="771" r:id="rId21"/>
    <p:sldId id="772" r:id="rId22"/>
    <p:sldId id="773" r:id="rId23"/>
    <p:sldId id="774" r:id="rId24"/>
    <p:sldId id="775" r:id="rId25"/>
    <p:sldId id="776" r:id="rId26"/>
    <p:sldId id="811" r:id="rId27"/>
    <p:sldId id="778" r:id="rId28"/>
    <p:sldId id="813" r:id="rId29"/>
    <p:sldId id="780" r:id="rId30"/>
    <p:sldId id="781" r:id="rId31"/>
    <p:sldId id="782" r:id="rId32"/>
    <p:sldId id="783" r:id="rId33"/>
    <p:sldId id="784" r:id="rId34"/>
    <p:sldId id="756" r:id="rId35"/>
    <p:sldId id="804" r:id="rId36"/>
    <p:sldId id="803" r:id="rId37"/>
    <p:sldId id="785" r:id="rId38"/>
    <p:sldId id="791" r:id="rId39"/>
    <p:sldId id="786" r:id="rId40"/>
    <p:sldId id="793" r:id="rId41"/>
    <p:sldId id="808" r:id="rId42"/>
    <p:sldId id="809" r:id="rId43"/>
    <p:sldId id="810" r:id="rId44"/>
    <p:sldId id="807" r:id="rId45"/>
    <p:sldId id="805" r:id="rId46"/>
    <p:sldId id="806" r:id="rId47"/>
    <p:sldId id="802" r:id="rId48"/>
    <p:sldId id="798" r:id="rId49"/>
    <p:sldId id="799" r:id="rId50"/>
    <p:sldId id="490" r:id="rId5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8">
          <p15:clr>
            <a:srgbClr val="A4A3A4"/>
          </p15:clr>
        </p15:guide>
        <p15:guide id="2" pos="211" userDrawn="1">
          <p15:clr>
            <a:srgbClr val="A4A3A4"/>
          </p15:clr>
        </p15:guide>
        <p15:guide id="3" orient="horz" pos="436" userDrawn="1">
          <p15:clr>
            <a:srgbClr val="A4A3A4"/>
          </p15:clr>
        </p15:guide>
        <p15:guide id="4" orient="horz" pos="777" userDrawn="1">
          <p15:clr>
            <a:srgbClr val="A4A3A4"/>
          </p15:clr>
        </p15:guide>
        <p15:guide id="5" orient="horz" pos="28" userDrawn="1">
          <p15:clr>
            <a:srgbClr val="A4A3A4"/>
          </p15:clr>
        </p15:guide>
        <p15:guide id="6" pos="25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5B3E"/>
    <a:srgbClr val="7088DB"/>
    <a:srgbClr val="CF5B1B"/>
    <a:srgbClr val="38425D"/>
    <a:srgbClr val="4472C4"/>
    <a:srgbClr val="DFF0F5"/>
    <a:srgbClr val="4040C8"/>
    <a:srgbClr val="159470"/>
    <a:srgbClr val="157392"/>
    <a:srgbClr val="1593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5559" autoAdjust="0"/>
  </p:normalViewPr>
  <p:slideViewPr>
    <p:cSldViewPr snapToGrid="0">
      <p:cViewPr varScale="1">
        <p:scale>
          <a:sx n="93" d="100"/>
          <a:sy n="93" d="100"/>
        </p:scale>
        <p:origin x="456" y="90"/>
      </p:cViewPr>
      <p:guideLst>
        <p:guide orient="horz" pos="368"/>
        <p:guide pos="211"/>
        <p:guide orient="horz" pos="436"/>
        <p:guide orient="horz" pos="777"/>
        <p:guide orient="horz" pos="28"/>
        <p:guide pos="257"/>
      </p:guideLst>
    </p:cSldViewPr>
  </p:slideViewPr>
  <p:notesTextViewPr>
    <p:cViewPr>
      <p:scale>
        <a:sx n="1" d="1"/>
        <a:sy n="1" d="1"/>
      </p:scale>
      <p:origin x="0" y="0"/>
    </p:cViewPr>
  </p:notesTextViewPr>
  <p:sorterViewPr>
    <p:cViewPr>
      <p:scale>
        <a:sx n="100" d="100"/>
        <a:sy n="100" d="100"/>
      </p:scale>
      <p:origin x="0" y="-991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image" Target="../media/image16.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image" Target="../media/image20.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emf"/><Relationship Id="rId1" Type="http://schemas.openxmlformats.org/officeDocument/2006/relationships/image" Target="../media/image27.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3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B3386-1164-4DE5-87D6-99DD641BC976}" type="datetimeFigureOut">
              <a:rPr lang="zh-CN" altLang="en-US" smtClean="0"/>
              <a:t>2025-08-20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DB411-4171-48A7-B819-B87F89F6C7EE}" type="slidenum">
              <a:rPr lang="zh-CN" altLang="en-US" smtClean="0"/>
              <a:t>‹#›</a:t>
            </a:fld>
            <a:endParaRPr lang="zh-CN" altLang="en-US"/>
          </a:p>
        </p:txBody>
      </p:sp>
    </p:spTree>
    <p:extLst>
      <p:ext uri="{BB962C8B-B14F-4D97-AF65-F5344CB8AC3E}">
        <p14:creationId xmlns:p14="http://schemas.microsoft.com/office/powerpoint/2010/main" val="1254488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 Target="../slides/slide34.xml"/><Relationship Id="rId2" Type="http://schemas.openxmlformats.org/officeDocument/2006/relationships/slide" Target="../slides/slide1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6_标题幻灯片">
    <p:spTree>
      <p:nvGrpSpPr>
        <p:cNvPr id="1" name=""/>
        <p:cNvGrpSpPr/>
        <p:nvPr/>
      </p:nvGrpSpPr>
      <p:grpSpPr>
        <a:xfrm>
          <a:off x="0" y="0"/>
          <a:ext cx="0" cy="0"/>
          <a:chOff x="0" y="0"/>
          <a:chExt cx="0" cy="0"/>
        </a:xfrm>
      </p:grpSpPr>
      <p:sp>
        <p:nvSpPr>
          <p:cNvPr id="7" name="圆角矩形 6">
            <a:hlinkClick r:id="rId2" action="ppaction://hlinksldjump"/>
          </p:cNvPr>
          <p:cNvSpPr/>
          <p:nvPr userDrawn="1"/>
        </p:nvSpPr>
        <p:spPr>
          <a:xfrm>
            <a:off x="9935695"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专题整合</a:t>
            </a:r>
            <a:endParaRPr lang="zh-CN" altLang="en-US" sz="1400" dirty="0" smtClean="0">
              <a:ln>
                <a:solidFill>
                  <a:schemeClr val="bg1"/>
                </a:solidFill>
              </a:ln>
              <a:solidFill>
                <a:schemeClr val="bg1"/>
              </a:solidFill>
            </a:endParaRPr>
          </a:p>
        </p:txBody>
      </p:sp>
      <p:sp>
        <p:nvSpPr>
          <p:cNvPr id="8" name="圆角矩形 7">
            <a:hlinkClick r:id="rId3" action="ppaction://hlinksldjump"/>
          </p:cNvPr>
          <p:cNvSpPr/>
          <p:nvPr userDrawn="1"/>
        </p:nvSpPr>
        <p:spPr>
          <a:xfrm>
            <a:off x="11002039"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smtClean="0">
                <a:ln>
                  <a:solidFill>
                    <a:schemeClr val="bg1"/>
                  </a:solidFill>
                </a:ln>
                <a:solidFill>
                  <a:schemeClr val="bg1"/>
                </a:solidFill>
              </a:rPr>
              <a:t>高考体验</a:t>
            </a:r>
            <a:endParaRPr lang="zh-CN" altLang="en-US" sz="1400" dirty="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3.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1.vml"/><Relationship Id="rId5" Type="http://schemas.openxmlformats.org/officeDocument/2006/relationships/image" Target="../media/image3.emf"/><Relationship Id="rId4" Type="http://schemas.openxmlformats.org/officeDocument/2006/relationships/package" Target="../embeddings/Microsoft_Word___1.docx"/></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3.xml"/><Relationship Id="rId1" Type="http://schemas.openxmlformats.org/officeDocument/2006/relationships/vmlDrawing" Target="../drawings/vmlDrawing2.vml"/><Relationship Id="rId5" Type="http://schemas.openxmlformats.org/officeDocument/2006/relationships/image" Target="../media/image4.emf"/><Relationship Id="rId4" Type="http://schemas.openxmlformats.org/officeDocument/2006/relationships/package" Target="../embeddings/Microsoft_Word___2.docx"/></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3.xml"/><Relationship Id="rId1" Type="http://schemas.openxmlformats.org/officeDocument/2006/relationships/vmlDrawing" Target="../drawings/vmlDrawing3.vml"/><Relationship Id="rId5" Type="http://schemas.openxmlformats.org/officeDocument/2006/relationships/image" Target="../media/image5.emf"/><Relationship Id="rId4" Type="http://schemas.openxmlformats.org/officeDocument/2006/relationships/package" Target="../embeddings/Microsoft_Word___3.docx"/></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3.xml"/><Relationship Id="rId1" Type="http://schemas.openxmlformats.org/officeDocument/2006/relationships/vmlDrawing" Target="../drawings/vmlDrawing4.vml"/><Relationship Id="rId5" Type="http://schemas.openxmlformats.org/officeDocument/2006/relationships/image" Target="../media/image6.emf"/><Relationship Id="rId4" Type="http://schemas.openxmlformats.org/officeDocument/2006/relationships/package" Target="../embeddings/Microsoft_Word___4.docx"/></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3.xml"/><Relationship Id="rId1" Type="http://schemas.openxmlformats.org/officeDocument/2006/relationships/vmlDrawing" Target="../drawings/vmlDrawing5.vml"/><Relationship Id="rId5" Type="http://schemas.openxmlformats.org/officeDocument/2006/relationships/image" Target="../media/image7.emf"/><Relationship Id="rId4" Type="http://schemas.openxmlformats.org/officeDocument/2006/relationships/package" Target="../embeddings/Microsoft_Word___5.docx"/></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3.xml"/><Relationship Id="rId1" Type="http://schemas.openxmlformats.org/officeDocument/2006/relationships/vmlDrawing" Target="../drawings/vmlDrawing6.vml"/><Relationship Id="rId5" Type="http://schemas.openxmlformats.org/officeDocument/2006/relationships/image" Target="../media/image8.emf"/><Relationship Id="rId4" Type="http://schemas.openxmlformats.org/officeDocument/2006/relationships/package" Target="../embeddings/Microsoft_Word___6.docx"/></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10.emf"/><Relationship Id="rId4" Type="http://schemas.openxmlformats.org/officeDocument/2006/relationships/package" Target="../embeddings/Microsoft_Word___7.docx"/></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11.emf"/><Relationship Id="rId4" Type="http://schemas.openxmlformats.org/officeDocument/2006/relationships/package" Target="../embeddings/Microsoft_Word___8.docx"/></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12.emf"/><Relationship Id="rId4" Type="http://schemas.openxmlformats.org/officeDocument/2006/relationships/package" Target="../embeddings/Microsoft_Word___9.docx"/></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13.emf"/><Relationship Id="rId4" Type="http://schemas.openxmlformats.org/officeDocument/2006/relationships/package" Target="../embeddings/Microsoft_Word___10.docx"/></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11.vml"/><Relationship Id="rId5" Type="http://schemas.openxmlformats.org/officeDocument/2006/relationships/image" Target="../media/image14.emf"/><Relationship Id="rId4" Type="http://schemas.openxmlformats.org/officeDocument/2006/relationships/package" Target="../embeddings/Microsoft_Word___11.docx"/></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image" Target="../media/image15.emf"/><Relationship Id="rId4" Type="http://schemas.openxmlformats.org/officeDocument/2006/relationships/package" Target="../embeddings/Microsoft_Word___12.docx"/></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8" Type="http://schemas.openxmlformats.org/officeDocument/2006/relationships/image" Target="../media/image17.emf"/><Relationship Id="rId3" Type="http://schemas.openxmlformats.org/officeDocument/2006/relationships/oleObject" Target="../embeddings/oleObject13.bin"/><Relationship Id="rId7" Type="http://schemas.openxmlformats.org/officeDocument/2006/relationships/package" Target="../embeddings/Microsoft_Word___14.docx"/><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oleObject" Target="../embeddings/oleObject14.bin"/><Relationship Id="rId5" Type="http://schemas.openxmlformats.org/officeDocument/2006/relationships/image" Target="../media/image16.emf"/><Relationship Id="rId4" Type="http://schemas.openxmlformats.org/officeDocument/2006/relationships/package" Target="../embeddings/Microsoft_Word___13.docx"/></Relationships>
</file>

<file path=ppt/slides/_rels/slide3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14.vml"/><Relationship Id="rId5" Type="http://schemas.openxmlformats.org/officeDocument/2006/relationships/image" Target="../media/image19.emf"/><Relationship Id="rId4" Type="http://schemas.openxmlformats.org/officeDocument/2006/relationships/package" Target="../embeddings/Microsoft_Word___15.docx"/></Relationships>
</file>

<file path=ppt/slides/_rels/slide33.xml.rels><?xml version="1.0" encoding="UTF-8" standalone="yes"?>
<Relationships xmlns="http://schemas.openxmlformats.org/package/2006/relationships"><Relationship Id="rId8" Type="http://schemas.openxmlformats.org/officeDocument/2006/relationships/image" Target="../media/image21.emf"/><Relationship Id="rId3" Type="http://schemas.openxmlformats.org/officeDocument/2006/relationships/oleObject" Target="../embeddings/oleObject16.bin"/><Relationship Id="rId7" Type="http://schemas.openxmlformats.org/officeDocument/2006/relationships/package" Target="../embeddings/Microsoft_Word___17.docx"/><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oleObject" Target="../embeddings/oleObject17.bin"/><Relationship Id="rId11" Type="http://schemas.openxmlformats.org/officeDocument/2006/relationships/image" Target="../media/image22.emf"/><Relationship Id="rId5" Type="http://schemas.openxmlformats.org/officeDocument/2006/relationships/image" Target="../media/image20.emf"/><Relationship Id="rId10" Type="http://schemas.openxmlformats.org/officeDocument/2006/relationships/package" Target="../embeddings/Microsoft_Word___18.docx"/><Relationship Id="rId4" Type="http://schemas.openxmlformats.org/officeDocument/2006/relationships/package" Target="../embeddings/Microsoft_Word___16.docx"/><Relationship Id="rId9" Type="http://schemas.openxmlformats.org/officeDocument/2006/relationships/oleObject" Target="../embeddings/oleObject18.bin"/></Relationships>
</file>

<file path=ppt/slides/_rels/slide3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16.vml"/><Relationship Id="rId5" Type="http://schemas.openxmlformats.org/officeDocument/2006/relationships/image" Target="../media/image24.emf"/><Relationship Id="rId4" Type="http://schemas.openxmlformats.org/officeDocument/2006/relationships/package" Target="../embeddings/Microsoft_Word___19.docx"/></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7.vml"/><Relationship Id="rId5" Type="http://schemas.openxmlformats.org/officeDocument/2006/relationships/image" Target="../media/image25.emf"/><Relationship Id="rId4" Type="http://schemas.openxmlformats.org/officeDocument/2006/relationships/package" Target="../embeddings/Microsoft_Word___20.docx"/></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18.vml"/><Relationship Id="rId5" Type="http://schemas.openxmlformats.org/officeDocument/2006/relationships/image" Target="../media/image26.emf"/><Relationship Id="rId4" Type="http://schemas.openxmlformats.org/officeDocument/2006/relationships/package" Target="../embeddings/Microsoft_Word___21.docx"/></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28.emf"/><Relationship Id="rId3" Type="http://schemas.openxmlformats.org/officeDocument/2006/relationships/oleObject" Target="../embeddings/oleObject22.bin"/><Relationship Id="rId7" Type="http://schemas.openxmlformats.org/officeDocument/2006/relationships/package" Target="../embeddings/Microsoft_Word___23.docx"/><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oleObject" Target="../embeddings/oleObject23.bin"/><Relationship Id="rId11" Type="http://schemas.openxmlformats.org/officeDocument/2006/relationships/image" Target="../media/image29.emf"/><Relationship Id="rId5" Type="http://schemas.openxmlformats.org/officeDocument/2006/relationships/image" Target="../media/image27.emf"/><Relationship Id="rId10" Type="http://schemas.openxmlformats.org/officeDocument/2006/relationships/package" Target="../embeddings/Microsoft_Word___24.docx"/><Relationship Id="rId4" Type="http://schemas.openxmlformats.org/officeDocument/2006/relationships/package" Target="../embeddings/Microsoft_Word___22.docx"/><Relationship Id="rId9" Type="http://schemas.openxmlformats.org/officeDocument/2006/relationships/oleObject" Target="../embeddings/oleObject24.bin"/></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vmlDrawing" Target="../drawings/vmlDrawing20.vml"/><Relationship Id="rId5" Type="http://schemas.openxmlformats.org/officeDocument/2006/relationships/image" Target="../media/image30.emf"/><Relationship Id="rId4" Type="http://schemas.openxmlformats.org/officeDocument/2006/relationships/package" Target="../embeddings/Microsoft_Word___25.docx"/></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vmlDrawing" Target="../drawings/vmlDrawing21.vml"/><Relationship Id="rId5" Type="http://schemas.openxmlformats.org/officeDocument/2006/relationships/image" Target="../media/image31.emf"/><Relationship Id="rId4" Type="http://schemas.openxmlformats.org/officeDocument/2006/relationships/package" Target="../embeddings/Microsoft_Word___26.docx"/></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2.xml"/><Relationship Id="rId1" Type="http://schemas.openxmlformats.org/officeDocument/2006/relationships/vmlDrawing" Target="../drawings/vmlDrawing22.vml"/><Relationship Id="rId5" Type="http://schemas.openxmlformats.org/officeDocument/2006/relationships/image" Target="../media/image32.emf"/><Relationship Id="rId4" Type="http://schemas.openxmlformats.org/officeDocument/2006/relationships/package" Target="../embeddings/Microsoft_Word___27.docx"/></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23.vml"/><Relationship Id="rId5" Type="http://schemas.openxmlformats.org/officeDocument/2006/relationships/image" Target="../media/image33.emf"/><Relationship Id="rId4" Type="http://schemas.openxmlformats.org/officeDocument/2006/relationships/package" Target="../embeddings/Microsoft_Word___28.docx"/></Relationships>
</file>

<file path=ppt/slides/_rels/slide4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00879" y="519978"/>
            <a:ext cx="4047903" cy="461665"/>
          </a:xfrm>
          <a:prstGeom prst="rect">
            <a:avLst/>
          </a:prstGeom>
        </p:spPr>
        <p:txBody>
          <a:bodyPr wrap="none">
            <a:spAutoFit/>
          </a:bodyPr>
          <a:lstStyle/>
          <a:p>
            <a:pPr algn="dist"/>
            <a:r>
              <a:rPr lang="zh-CN" altLang="en-US" sz="2400" b="1" spc="600" dirty="0" smtClean="0">
                <a:solidFill>
                  <a:srgbClr val="757C82"/>
                </a:solidFill>
                <a:latin typeface="黑体" panose="02010609060101010101" pitchFamily="49" charset="-122"/>
                <a:ea typeface="黑体" panose="02010609060101010101" pitchFamily="49" charset="-122"/>
              </a:rPr>
              <a:t>高中同步测控优化设计</a:t>
            </a:r>
            <a:endParaRPr lang="zh-CN" altLang="en-US" sz="2400" b="1" spc="600" dirty="0">
              <a:solidFill>
                <a:srgbClr val="757C82"/>
              </a:solidFill>
              <a:latin typeface="黑体" panose="02010609060101010101" pitchFamily="49" charset="-122"/>
              <a:ea typeface="黑体" panose="02010609060101010101" pitchFamily="49" charset="-122"/>
            </a:endParaRPr>
          </a:p>
        </p:txBody>
      </p:sp>
      <p:cxnSp>
        <p:nvCxnSpPr>
          <p:cNvPr id="3" name="直接连接符 2"/>
          <p:cNvCxnSpPr/>
          <p:nvPr/>
        </p:nvCxnSpPr>
        <p:spPr>
          <a:xfrm>
            <a:off x="2282351" y="1003843"/>
            <a:ext cx="4305485" cy="0"/>
          </a:xfrm>
          <a:prstGeom prst="line">
            <a:avLst/>
          </a:prstGeom>
          <a:ln>
            <a:solidFill>
              <a:schemeClr val="tx1"/>
            </a:solidFill>
            <a:prstDash val="lgDashDotDot"/>
            <a:headEnd type="diamond" w="med" len="med"/>
            <a:tailEnd type="diamond" w="med" len="med"/>
          </a:ln>
          <a:effectLst/>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173232" y="1026313"/>
            <a:ext cx="4414604" cy="338554"/>
          </a:xfrm>
          <a:prstGeom prst="rect">
            <a:avLst/>
          </a:prstGeom>
        </p:spPr>
        <p:txBody>
          <a:bodyPr wrap="square">
            <a:spAutoFit/>
          </a:bodyPr>
          <a:lstStyle/>
          <a:p>
            <a:pPr algn="ctr"/>
            <a:r>
              <a:rPr lang="en-US" altLang="zh-CN" sz="1600" b="1" dirty="0" smtClean="0">
                <a:solidFill>
                  <a:srgbClr val="757C82"/>
                </a:solidFill>
                <a:latin typeface="黑体" panose="02010609060101010101" pitchFamily="49" charset="-122"/>
                <a:ea typeface="黑体" panose="02010609060101010101" pitchFamily="49" charset="-122"/>
              </a:rPr>
              <a:t>GAO ZHONG TONG </a:t>
            </a:r>
            <a:r>
              <a:rPr lang="en-US" altLang="zh-CN" sz="1600" b="1" dirty="0">
                <a:solidFill>
                  <a:srgbClr val="757C82"/>
                </a:solidFill>
                <a:latin typeface="黑体" panose="02010609060101010101" pitchFamily="49" charset="-122"/>
                <a:ea typeface="黑体" panose="02010609060101010101" pitchFamily="49" charset="-122"/>
              </a:rPr>
              <a:t>B</a:t>
            </a:r>
            <a:r>
              <a:rPr lang="en-US" altLang="zh-CN" sz="1600" b="1" dirty="0" smtClean="0">
                <a:solidFill>
                  <a:srgbClr val="757C82"/>
                </a:solidFill>
                <a:latin typeface="黑体" panose="02010609060101010101" pitchFamily="49" charset="-122"/>
                <a:ea typeface="黑体" panose="02010609060101010101" pitchFamily="49" charset="-122"/>
              </a:rPr>
              <a:t>U CE KONG YOU HUA SHE JI</a:t>
            </a:r>
          </a:p>
        </p:txBody>
      </p:sp>
      <p:grpSp>
        <p:nvGrpSpPr>
          <p:cNvPr id="5" name="组合 4"/>
          <p:cNvGrpSpPr/>
          <p:nvPr/>
        </p:nvGrpSpPr>
        <p:grpSpPr>
          <a:xfrm>
            <a:off x="635" y="2775585"/>
            <a:ext cx="12191365" cy="1478915"/>
            <a:chOff x="303375" y="3227146"/>
            <a:chExt cx="11560182" cy="1479076"/>
          </a:xfrm>
        </p:grpSpPr>
        <p:sp>
          <p:nvSpPr>
            <p:cNvPr id="6" name="矩形 5"/>
            <p:cNvSpPr/>
            <p:nvPr/>
          </p:nvSpPr>
          <p:spPr>
            <a:xfrm>
              <a:off x="303375" y="3227146"/>
              <a:ext cx="11560182" cy="1479076"/>
            </a:xfrm>
            <a:prstGeom prst="rect">
              <a:avLst/>
            </a:prstGeom>
            <a:solidFill>
              <a:srgbClr val="6B7278"/>
            </a:solidFill>
            <a:ln>
              <a:no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665034" y="3614538"/>
              <a:ext cx="8158783" cy="645230"/>
            </a:xfrm>
            <a:prstGeom prst="rect">
              <a:avLst/>
            </a:prstGeom>
          </p:spPr>
          <p:txBody>
            <a:bodyPr wrap="square">
              <a:spAutoFit/>
            </a:bodyPr>
            <a:lstStyle/>
            <a:p>
              <a:r>
                <a:rPr lang="zh-CN" altLang="en-US" sz="3600" b="1">
                  <a:solidFill>
                    <a:schemeClr val="bg1"/>
                  </a:solidFill>
                  <a:latin typeface="华文细黑" panose="02010600040101010101" charset="-122"/>
                  <a:ea typeface="华文细黑" panose="02010600040101010101" charset="-122"/>
                </a:rPr>
                <a:t>第</a:t>
              </a:r>
              <a:r>
                <a:rPr lang="en-US" altLang="zh-CN" sz="3600" b="1">
                  <a:solidFill>
                    <a:schemeClr val="bg1"/>
                  </a:solidFill>
                  <a:latin typeface="华文细黑" panose="02010600040101010101" charset="-122"/>
                  <a:ea typeface="华文细黑" panose="02010600040101010101" charset="-122"/>
                </a:rPr>
                <a:t>3</a:t>
              </a:r>
              <a:r>
                <a:rPr lang="zh-CN" altLang="en-US" sz="3600" b="1">
                  <a:solidFill>
                    <a:schemeClr val="bg1"/>
                  </a:solidFill>
                  <a:latin typeface="华文细黑" panose="02010600040101010101" charset="-122"/>
                  <a:ea typeface="华文细黑" panose="02010600040101010101" charset="-122"/>
                </a:rPr>
                <a:t>课时　成对数据的统计分析</a:t>
              </a:r>
            </a:p>
          </p:txBody>
        </p:sp>
      </p:grpSp>
      <p:sp>
        <p:nvSpPr>
          <p:cNvPr id="8" name="矩形 7"/>
          <p:cNvSpPr/>
          <p:nvPr/>
        </p:nvSpPr>
        <p:spPr>
          <a:xfrm>
            <a:off x="1109345" y="2277745"/>
            <a:ext cx="2282825" cy="2407920"/>
          </a:xfrm>
          <a:prstGeom prst="rect">
            <a:avLst/>
          </a:prstGeom>
          <a:solidFill>
            <a:srgbClr val="748773"/>
          </a:solidFill>
          <a:ln w="12700" cap="flat" cmpd="sng" algn="ctr">
            <a:noFill/>
            <a:prstDash val="solid"/>
            <a:miter lim="800000"/>
          </a:ln>
          <a:effectLst>
            <a:outerShdw blurRad="317500" dist="127000" dir="2700000" algn="tl" rotWithShape="0">
              <a:prstClr val="black">
                <a:alpha val="25000"/>
              </a:prstClr>
            </a:outerShdw>
          </a:effectLst>
          <a:scene3d>
            <a:camera prst="orthographicFront"/>
            <a:lightRig rig="threePt" dir="t"/>
          </a:scene3d>
          <a:sp3d>
            <a:bevelT w="101600" prst="riblet"/>
          </a:sp3d>
        </p:spPr>
        <p:txBody>
          <a:bodyPr wrap="none" rtlCol="0" anchor="ctr"/>
          <a:lstStyle/>
          <a:p>
            <a:pPr algn="ctr"/>
            <a:r>
              <a:rPr lang="zh-CN" altLang="en-US" sz="3600" b="1" kern="0">
                <a:solidFill>
                  <a:schemeClr val="bg1"/>
                </a:solidFill>
                <a:latin typeface="华文细黑" panose="02010600040101010101" charset="-122"/>
                <a:ea typeface="华文细黑" panose="02010600040101010101" charset="-122"/>
                <a:cs typeface="Open Sans" panose="020B0606030504020204" pitchFamily="34" charset="0"/>
              </a:rPr>
              <a:t>复习课</a:t>
            </a:r>
            <a:endPar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endParaRPr>
          </a:p>
        </p:txBody>
      </p:sp>
      <p:pic>
        <p:nvPicPr>
          <p:cNvPr id="10" name="图片 9" descr="e37b0ec1d4924ecca897357d279cf88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801370" y="175260"/>
            <a:ext cx="1453515" cy="1453515"/>
          </a:xfrm>
          <a:prstGeom prst="rect">
            <a:avLst/>
          </a:prstGeom>
        </p:spPr>
      </p:pic>
      <p:sp>
        <p:nvSpPr>
          <p:cNvPr id="11" name="矩形 10"/>
          <p:cNvSpPr/>
          <p:nvPr/>
        </p:nvSpPr>
        <p:spPr>
          <a:xfrm>
            <a:off x="1001385" y="587446"/>
            <a:ext cx="1052723" cy="5870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mtClean="0">
                <a:solidFill>
                  <a:srgbClr val="757C82"/>
                </a:solidFill>
                <a:latin typeface="Times New Roman" panose="02020603050405020304" pitchFamily="18" charset="0"/>
                <a:cs typeface="Times New Roman" panose="02020603050405020304" pitchFamily="18" charset="0"/>
              </a:rPr>
              <a:t>2025</a:t>
            </a:r>
            <a:endParaRPr lang="en-US" altLang="zh-CN" sz="2800" b="1" dirty="0" smtClean="0">
              <a:solidFill>
                <a:srgbClr val="757C8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99843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bldLst>
      <p:bldP spid="2" grpId="0"/>
      <p:bldP spid="4" grpId="0"/>
      <p:bldP spid="8" grpId="0" bldLvl="0" animBg="1"/>
      <p:bldP spid="1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1788494" y="1591871"/>
            <a:ext cx="942982" cy="3046988"/>
          </a:xfrm>
          <a:prstGeom prst="rect">
            <a:avLst/>
          </a:prstGeom>
          <a:noFill/>
        </p:spPr>
        <p:txBody>
          <a:bodyPr wrap="square" rtlCol="0">
            <a:spAutoFit/>
          </a:bodyPr>
          <a:lstStyle/>
          <a:p>
            <a:r>
              <a:rPr kumimoji="1" lang="zh-CN" altLang="en-US" sz="4800" smtClean="0">
                <a:solidFill>
                  <a:srgbClr val="2C3814"/>
                </a:solidFill>
                <a:cs typeface="+mn-ea"/>
                <a:sym typeface="+mn-lt"/>
              </a:rPr>
              <a:t>内容索引</a:t>
            </a:r>
            <a:endParaRPr kumimoji="1" lang="zh-CN" altLang="en-US" sz="4800" dirty="0">
              <a:solidFill>
                <a:srgbClr val="2C3814"/>
              </a:solidFill>
              <a:cs typeface="+mn-ea"/>
              <a:sym typeface="+mn-lt"/>
            </a:endParaRPr>
          </a:p>
        </p:txBody>
      </p:sp>
      <p:grpSp>
        <p:nvGrpSpPr>
          <p:cNvPr id="25" name="组合 24"/>
          <p:cNvGrpSpPr/>
          <p:nvPr/>
        </p:nvGrpSpPr>
        <p:grpSpPr>
          <a:xfrm>
            <a:off x="1378713" y="856615"/>
            <a:ext cx="1105802" cy="815646"/>
            <a:chOff x="-1604504" y="2147667"/>
            <a:chExt cx="3687215" cy="2719712"/>
          </a:xfrm>
        </p:grpSpPr>
        <p:cxnSp>
          <p:nvCxnSpPr>
            <p:cNvPr id="26" name="直接连接符 25"/>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27" name="直接连接符 26"/>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28" name="组合 27"/>
          <p:cNvGrpSpPr/>
          <p:nvPr/>
        </p:nvGrpSpPr>
        <p:grpSpPr>
          <a:xfrm flipH="1" flipV="1">
            <a:off x="1707083" y="4546456"/>
            <a:ext cx="1105803" cy="815646"/>
            <a:chOff x="-1604504" y="2147667"/>
            <a:chExt cx="3687215" cy="2719712"/>
          </a:xfrm>
        </p:grpSpPr>
        <p:cxnSp>
          <p:nvCxnSpPr>
            <p:cNvPr id="38" name="直接连接符 37"/>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39" name="直接连接符 38"/>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grpSp>
        <p:nvGrpSpPr>
          <p:cNvPr id="40" name="组合 39"/>
          <p:cNvGrpSpPr/>
          <p:nvPr/>
        </p:nvGrpSpPr>
        <p:grpSpPr>
          <a:xfrm>
            <a:off x="4764013" y="1672261"/>
            <a:ext cx="804581" cy="804581"/>
            <a:chOff x="3685832" y="623962"/>
            <a:chExt cx="739840" cy="739840"/>
          </a:xfrm>
        </p:grpSpPr>
        <p:sp>
          <p:nvSpPr>
            <p:cNvPr id="44" name="椭圆 43"/>
            <p:cNvSpPr/>
            <p:nvPr/>
          </p:nvSpPr>
          <p:spPr>
            <a:xfrm>
              <a:off x="3685832" y="623962"/>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E93F30"/>
                </a:solidFill>
                <a:effectLst/>
                <a:uLnTx/>
                <a:uFillTx/>
                <a:latin typeface="Arial" panose="020B0604020202020204" pitchFamily="34" charset="0"/>
              </a:endParaRPr>
            </a:p>
          </p:txBody>
        </p:sp>
        <p:sp>
          <p:nvSpPr>
            <p:cNvPr id="45" name="TextBox 7"/>
            <p:cNvSpPr txBox="1"/>
            <p:nvPr/>
          </p:nvSpPr>
          <p:spPr>
            <a:xfrm>
              <a:off x="3786929" y="743838"/>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01</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6" name="组合 45"/>
          <p:cNvGrpSpPr/>
          <p:nvPr/>
        </p:nvGrpSpPr>
        <p:grpSpPr>
          <a:xfrm>
            <a:off x="4764013" y="3238838"/>
            <a:ext cx="804581" cy="804581"/>
            <a:chOff x="3685832" y="1673493"/>
            <a:chExt cx="739840" cy="739840"/>
          </a:xfrm>
        </p:grpSpPr>
        <p:sp>
          <p:nvSpPr>
            <p:cNvPr id="47" name="椭圆 46"/>
            <p:cNvSpPr/>
            <p:nvPr/>
          </p:nvSpPr>
          <p:spPr>
            <a:xfrm>
              <a:off x="3685832" y="1673493"/>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48" name="TextBox 10"/>
            <p:cNvSpPr txBox="1"/>
            <p:nvPr/>
          </p:nvSpPr>
          <p:spPr>
            <a:xfrm>
              <a:off x="3786931" y="1793369"/>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02</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sp>
        <p:nvSpPr>
          <p:cNvPr id="52" name="矩形 51">
            <a:hlinkClick r:id="rId2" action="ppaction://hlinksldjump"/>
          </p:cNvPr>
          <p:cNvSpPr/>
          <p:nvPr/>
        </p:nvSpPr>
        <p:spPr>
          <a:xfrm>
            <a:off x="5678538" y="1764727"/>
            <a:ext cx="2997835" cy="501650"/>
          </a:xfrm>
          <a:prstGeom prst="rect">
            <a:avLst/>
          </a:prstGeom>
        </p:spPr>
        <p:txBody>
          <a:bodyPr wrap="none">
            <a:spAutoFit/>
          </a:bodyPr>
          <a:lstStyle/>
          <a:p>
            <a:pPr defTabSz="1219200"/>
            <a:r>
              <a:rPr lang="zh-CN" altLang="en-US" sz="2665" b="1" smtClean="0">
                <a:solidFill>
                  <a:srgbClr val="4D4D4D"/>
                </a:solidFill>
                <a:latin typeface="方正姚体" panose="02010601030101010101" charset="-122"/>
                <a:ea typeface="方正姚体" panose="02010601030101010101" charset="-122"/>
                <a:cs typeface="方正姚体" panose="02010601030101010101" charset="-122"/>
              </a:rPr>
              <a:t>知识梳理 构建体系</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3" name="矩形 52">
            <a:hlinkClick r:id="rId3" action="ppaction://hlinksldjump"/>
          </p:cNvPr>
          <p:cNvSpPr/>
          <p:nvPr/>
        </p:nvSpPr>
        <p:spPr>
          <a:xfrm>
            <a:off x="5678538" y="3349585"/>
            <a:ext cx="2997835" cy="501650"/>
          </a:xfrm>
          <a:prstGeom prst="rect">
            <a:avLst/>
          </a:prstGeom>
        </p:spPr>
        <p:txBody>
          <a:bodyPr wrap="none">
            <a:spAutoFit/>
          </a:bodyPr>
          <a:lstStyle/>
          <a:p>
            <a:pPr defTabSz="1219200"/>
            <a:r>
              <a:rPr lang="zh-CN" altLang="en-US" sz="2665" b="1" smtClean="0">
                <a:solidFill>
                  <a:srgbClr val="4D4D4D"/>
                </a:solidFill>
                <a:latin typeface="方正姚体" panose="02010601030101010101" charset="-122"/>
                <a:ea typeface="方正姚体" panose="02010601030101010101" charset="-122"/>
                <a:cs typeface="方正姚体" panose="02010601030101010101" charset="-122"/>
              </a:rPr>
              <a:t>专题归纳 核心突破</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smtClean="0">
                <a:solidFill>
                  <a:srgbClr val="4D4D4D"/>
                </a:solidFill>
                <a:latin typeface="方正姚体" panose="02010601030101010101" charset="-122"/>
                <a:ea typeface="方正姚体" panose="02010601030101010101" charset="-122"/>
                <a:cs typeface="方正姚体" panose="02010601030101010101" charset="-122"/>
                <a:sym typeface="+mn-ea"/>
              </a:rPr>
              <a:t>知识梳理 构建体系</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326773"/>
            <a:ext cx="2438488" cy="591059"/>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b="1" smtClean="0">
                <a:solidFill>
                  <a:srgbClr val="CF5B1B"/>
                </a:solidFill>
                <a:latin typeface="Times New Roman" panose="02020603050405020304" pitchFamily="18" charset="0"/>
                <a:ea typeface="方正姚体" panose="02010601030101010101" pitchFamily="2" charset="-122"/>
                <a:cs typeface="Times New Roman" panose="02020603050405020304" pitchFamily="18" charset="0"/>
              </a:rPr>
              <a:t>【知识网络】</a:t>
            </a:r>
            <a:r>
              <a:rPr lang="en-US" altLang="zh-CN" sz="2800" b="1" smtClean="0">
                <a:solidFill>
                  <a:srgbClr val="CF5B1B"/>
                </a:solidFill>
                <a:latin typeface="Times New Roman" panose="02020603050405020304" pitchFamily="18" charset="0"/>
                <a:ea typeface="方正姚体" panose="02010601030101010101" pitchFamily="2" charset="-122"/>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5" name="QMX3TRAX43.eps" descr="id:2147516700;FounderCES"/>
          <p:cNvPicPr/>
          <p:nvPr/>
        </p:nvPicPr>
        <p:blipFill>
          <a:blip r:embed="rId2">
            <a:clrChange>
              <a:clrFrom>
                <a:srgbClr val="FFFFFF"/>
              </a:clrFrom>
              <a:clrTo>
                <a:srgbClr val="FFFFFF">
                  <a:alpha val="0"/>
                </a:srgbClr>
              </a:clrTo>
            </a:clrChange>
          </a:blip>
          <a:stretch>
            <a:fillRect/>
          </a:stretch>
        </p:blipFill>
        <p:spPr>
          <a:xfrm>
            <a:off x="2676198" y="491159"/>
            <a:ext cx="6630012" cy="5786351"/>
          </a:xfrm>
          <a:prstGeom prst="rect">
            <a:avLst/>
          </a:prstGeom>
        </p:spPr>
      </p:pic>
    </p:spTree>
    <p:extLst>
      <p:ext uri="{BB962C8B-B14F-4D97-AF65-F5344CB8AC3E}">
        <p14:creationId xmlns:p14="http://schemas.microsoft.com/office/powerpoint/2010/main" val="3093502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1057992"/>
            <a:ext cx="11430000" cy="401340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b="1">
                <a:solidFill>
                  <a:srgbClr val="CF5B1B"/>
                </a:solidFill>
                <a:latin typeface="Times New Roman" panose="02020603050405020304" pitchFamily="18" charset="0"/>
                <a:ea typeface="方正姚体" panose="02010601030101010101" pitchFamily="2" charset="-122"/>
                <a:cs typeface="Times New Roman" panose="02020603050405020304" pitchFamily="18" charset="0"/>
              </a:rPr>
              <a:t>【要点梳理】</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一、成对数据的统计相关性</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相关关系、散点图</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两个变量有关系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但又没有确切到可由其中的一个去精确地决定另一个的程度</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这种关系</a:t>
            </a:r>
            <a:r>
              <a:rPr lang="zh-CN" altLang="zh-CN" sz="2800" smtClean="0">
                <a:solidFill>
                  <a:srgbClr val="000000"/>
                </a:solidFill>
                <a:latin typeface="Times New Roman" panose="02020603050405020304" pitchFamily="18" charset="0"/>
                <a:cs typeface="Times New Roman" panose="02020603050405020304" pitchFamily="18" charset="0"/>
              </a:rPr>
              <a:t>称为</a:t>
            </a:r>
            <a:r>
              <a:rPr lang="en-US" altLang="zh-CN" sz="2800" smtClean="0">
                <a:solidFill>
                  <a:srgbClr val="000000"/>
                </a:solidFill>
                <a:latin typeface="Times New Roman" panose="02020603050405020304" pitchFamily="18" charset="0"/>
                <a:cs typeface="Times New Roman" panose="02020603050405020304" pitchFamily="18" charset="0"/>
              </a:rPr>
              <a:t> </a:t>
            </a:r>
            <a:r>
              <a:rPr lang="zh-CN" altLang="zh-CN" sz="2800" smtClean="0">
                <a:solidFill>
                  <a:srgbClr val="FF0000"/>
                </a:solidFill>
                <a:latin typeface="Times New Roman" panose="02020603050405020304" pitchFamily="18" charset="0"/>
                <a:cs typeface="Times New Roman" panose="02020603050405020304" pitchFamily="18" charset="0"/>
              </a:rPr>
              <a:t>相关关系</a:t>
            </a:r>
            <a:r>
              <a:rPr lang="en-US" altLang="zh-CN" sz="2800" smtClean="0">
                <a:solidFill>
                  <a:srgbClr val="FF0000"/>
                </a:solidFill>
                <a:latin typeface="Times New Roman" panose="02020603050405020304" pitchFamily="18" charset="0"/>
                <a:cs typeface="Times New Roman" panose="02020603050405020304" pitchFamily="18" charset="0"/>
              </a:rPr>
              <a:t> </a:t>
            </a:r>
            <a:r>
              <a:rPr lang="en-US" altLang="zh-CN" sz="2800" i="1"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每一个序号下的成对样本数据都可用直角坐标系中的点表示出来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由这些点组成了统计图</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我们把这样的统计图</a:t>
            </a:r>
            <a:r>
              <a:rPr lang="zh-CN" altLang="zh-CN" sz="2800" smtClean="0">
                <a:solidFill>
                  <a:srgbClr val="000000"/>
                </a:solidFill>
                <a:latin typeface="Times New Roman" panose="02020603050405020304" pitchFamily="18" charset="0"/>
                <a:cs typeface="Times New Roman" panose="02020603050405020304" pitchFamily="18" charset="0"/>
              </a:rPr>
              <a:t>叫做</a:t>
            </a:r>
            <a:r>
              <a:rPr lang="en-US" altLang="zh-CN" sz="2800" smtClean="0">
                <a:solidFill>
                  <a:srgbClr val="000000"/>
                </a:solidFill>
                <a:latin typeface="Times New Roman" panose="02020603050405020304" pitchFamily="18" charset="0"/>
                <a:cs typeface="Times New Roman" panose="02020603050405020304" pitchFamily="18" charset="0"/>
              </a:rPr>
              <a:t> </a:t>
            </a:r>
            <a:r>
              <a:rPr lang="zh-CN" altLang="zh-CN" sz="2800" smtClean="0">
                <a:solidFill>
                  <a:srgbClr val="FF0000"/>
                </a:solidFill>
                <a:latin typeface="Times New Roman" panose="02020603050405020304" pitchFamily="18" charset="0"/>
                <a:cs typeface="Times New Roman" panose="02020603050405020304" pitchFamily="18" charset="0"/>
              </a:rPr>
              <a:t>散点图</a:t>
            </a:r>
            <a:r>
              <a:rPr lang="en-US" altLang="zh-CN" sz="2800" smtClean="0">
                <a:solidFill>
                  <a:srgbClr val="FF0000"/>
                </a:solidFill>
                <a:latin typeface="Times New Roman" panose="02020603050405020304" pitchFamily="18" charset="0"/>
                <a:cs typeface="Times New Roman" panose="02020603050405020304" pitchFamily="18" charset="0"/>
              </a:rPr>
              <a:t> </a:t>
            </a:r>
            <a:r>
              <a:rPr lang="en-US" altLang="zh-CN" sz="2800" i="1"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
        <p:nvSpPr>
          <p:cNvPr id="4" name="矩形 3"/>
          <p:cNvSpPr/>
          <p:nvPr/>
        </p:nvSpPr>
        <p:spPr>
          <a:xfrm>
            <a:off x="3771166" y="3290488"/>
            <a:ext cx="1566982"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3771166" y="3842085"/>
            <a:ext cx="156698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7341680" y="4379060"/>
            <a:ext cx="1203605"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7341680" y="4930657"/>
            <a:ext cx="120360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75065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362857"/>
            <a:ext cx="11430000" cy="457356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如果从整体上看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当一个变量的值增加时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另一个变量的相应值也呈现增加的趋势</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我们就称这两个变量</a:t>
            </a:r>
            <a:r>
              <a:rPr lang="zh-CN" altLang="zh-CN" sz="2800">
                <a:solidFill>
                  <a:srgbClr val="FF0000"/>
                </a:solidFill>
                <a:latin typeface="Times New Roman" panose="02020603050405020304" pitchFamily="18" charset="0"/>
                <a:cs typeface="Times New Roman" panose="02020603050405020304" pitchFamily="18" charset="0"/>
              </a:rPr>
              <a:t>正相关</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如果当一个变量的值增加时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另一个变量的相应值呈现减少的趋势</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则称这两个变量</a:t>
            </a:r>
            <a:r>
              <a:rPr lang="zh-CN" altLang="zh-CN" sz="2800">
                <a:solidFill>
                  <a:srgbClr val="000000"/>
                </a:solidFill>
                <a:latin typeface="NEU-BZ-S92"/>
                <a:ea typeface="Times New Roman" panose="02020603050405020304" pitchFamily="18" charset="0"/>
                <a:cs typeface="Times New Roman" panose="02020603050405020304" pitchFamily="18" charset="0"/>
              </a:rPr>
              <a:t> </a:t>
            </a:r>
            <a:r>
              <a:rPr lang="zh-CN" altLang="zh-CN" sz="2800">
                <a:solidFill>
                  <a:srgbClr val="FF0000"/>
                </a:solidFill>
                <a:uFill>
                  <a:solidFill>
                    <a:srgbClr val="000000"/>
                  </a:solidFill>
                </a:uFill>
                <a:latin typeface="Times New Roman" panose="02020603050405020304" pitchFamily="18" charset="0"/>
                <a:cs typeface="Times New Roman" panose="02020603050405020304" pitchFamily="18" charset="0"/>
              </a:rPr>
              <a:t>负相关</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一般地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如果两个变量的取值呈现正相关或负相关</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而且散点落在一条直线附近</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我们就称这两个变量线性相关</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一般地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如果两个变量具有相关性</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但不是线性相关</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那么我们就称这两个变量非线性相关或曲线相关</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
        <p:nvSpPr>
          <p:cNvPr id="4" name="矩形 3"/>
          <p:cNvSpPr/>
          <p:nvPr/>
        </p:nvSpPr>
        <p:spPr>
          <a:xfrm>
            <a:off x="5540565" y="1918521"/>
            <a:ext cx="1088836"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5540564" y="2470118"/>
            <a:ext cx="10888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1946857" y="3039750"/>
            <a:ext cx="1185861"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1946856" y="3591347"/>
            <a:ext cx="118586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2147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64146"/>
            <a:ext cx="11430000" cy="233294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cs typeface="Times New Roman" panose="02020603050405020304" pitchFamily="18" charset="0"/>
              </a:rPr>
              <a:t>样本相关系数</a:t>
            </a:r>
            <a:endParaRPr lang="en-US" altLang="zh-CN" sz="280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020149496"/>
              </p:ext>
            </p:extLst>
          </p:nvPr>
        </p:nvGraphicFramePr>
        <p:xfrm>
          <a:off x="458424" y="1015860"/>
          <a:ext cx="11275153" cy="1977485"/>
        </p:xfrm>
        <a:graphic>
          <a:graphicData uri="http://schemas.openxmlformats.org/presentationml/2006/ole">
            <mc:AlternateContent xmlns:mc="http://schemas.openxmlformats.org/markup-compatibility/2006">
              <mc:Choice xmlns:v="urn:schemas-microsoft-com:vml" Requires="v">
                <p:oleObj spid="_x0000_s3092" name="文档" r:id="rId4" imgW="4510061" imgH="790994" progId="Word.Document.12">
                  <p:embed/>
                </p:oleObj>
              </mc:Choice>
              <mc:Fallback>
                <p:oleObj name="文档" r:id="rId4" imgW="4510061" imgH="790994" progId="Word.Document.12">
                  <p:embed/>
                  <p:pic>
                    <p:nvPicPr>
                      <p:cNvPr id="0" name=""/>
                      <p:cNvPicPr/>
                      <p:nvPr/>
                    </p:nvPicPr>
                    <p:blipFill>
                      <a:blip r:embed="rId5"/>
                      <a:stretch>
                        <a:fillRect/>
                      </a:stretch>
                    </p:blipFill>
                    <p:spPr>
                      <a:xfrm>
                        <a:off x="458424" y="1015860"/>
                        <a:ext cx="11275153" cy="1977485"/>
                      </a:xfrm>
                      <a:prstGeom prst="rect">
                        <a:avLst/>
                      </a:prstGeom>
                    </p:spPr>
                  </p:pic>
                </p:oleObj>
              </mc:Fallback>
            </mc:AlternateContent>
          </a:graphicData>
        </a:graphic>
      </p:graphicFrame>
      <p:sp>
        <p:nvSpPr>
          <p:cNvPr id="4" name="矩形 3"/>
          <p:cNvSpPr>
            <a:spLocks noChangeAspect="1"/>
          </p:cNvSpPr>
          <p:nvPr/>
        </p:nvSpPr>
        <p:spPr>
          <a:xfrm>
            <a:off x="381000" y="2897092"/>
            <a:ext cx="11430000" cy="283282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当</a:t>
            </a:r>
            <a:r>
              <a:rPr lang="en-US" altLang="zh-CN" sz="2800" i="1">
                <a:solidFill>
                  <a:srgbClr val="000000"/>
                </a:solidFill>
                <a:latin typeface="Times New Roman" panose="02020603050405020304" pitchFamily="18" charset="0"/>
                <a:cs typeface="Times New Roman" panose="02020603050405020304" pitchFamily="18" charset="0"/>
              </a:rPr>
              <a:t>r&gt;</a:t>
            </a:r>
            <a:r>
              <a:rPr lang="en-US" altLang="zh-CN" sz="28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latin typeface="Times New Roman" panose="02020603050405020304" pitchFamily="18" charset="0"/>
                <a:cs typeface="Times New Roman" panose="02020603050405020304" pitchFamily="18" charset="0"/>
              </a:rPr>
              <a:t>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正相关</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当</a:t>
            </a:r>
            <a:r>
              <a:rPr lang="en-US" altLang="zh-CN" sz="2800" i="1">
                <a:solidFill>
                  <a:srgbClr val="000000"/>
                </a:solidFill>
                <a:latin typeface="Times New Roman" panose="02020603050405020304" pitchFamily="18" charset="0"/>
                <a:cs typeface="Times New Roman" panose="02020603050405020304" pitchFamily="18" charset="0"/>
              </a:rPr>
              <a:t>r&lt;</a:t>
            </a:r>
            <a:r>
              <a:rPr lang="en-US" altLang="zh-CN" sz="28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latin typeface="Times New Roman" panose="02020603050405020304" pitchFamily="18" charset="0"/>
                <a:cs typeface="Times New Roman" panose="02020603050405020304" pitchFamily="18" charset="0"/>
              </a:rPr>
              <a:t>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负相关</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样本相关系数</a:t>
            </a:r>
            <a:r>
              <a:rPr lang="en-US" altLang="zh-CN" sz="2800" i="1">
                <a:solidFill>
                  <a:srgbClr val="000000"/>
                </a:solidFill>
                <a:latin typeface="Times New Roman" panose="02020603050405020304" pitchFamily="18" charset="0"/>
                <a:cs typeface="Times New Roman" panose="02020603050405020304" pitchFamily="18" charset="0"/>
              </a:rPr>
              <a:t>r</a:t>
            </a:r>
            <a:r>
              <a:rPr lang="zh-CN" altLang="zh-CN" sz="2800">
                <a:solidFill>
                  <a:srgbClr val="000000"/>
                </a:solidFill>
                <a:latin typeface="Times New Roman" panose="02020603050405020304" pitchFamily="18" charset="0"/>
                <a:cs typeface="Times New Roman" panose="02020603050405020304" pitchFamily="18" charset="0"/>
              </a:rPr>
              <a:t>的取值范围为</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样本相关系数</a:t>
            </a:r>
            <a:r>
              <a:rPr lang="en-US" altLang="zh-CN" sz="2800" i="1">
                <a:solidFill>
                  <a:srgbClr val="000000"/>
                </a:solidFill>
                <a:latin typeface="Times New Roman" panose="02020603050405020304" pitchFamily="18" charset="0"/>
                <a:cs typeface="Times New Roman" panose="02020603050405020304" pitchFamily="18" charset="0"/>
              </a:rPr>
              <a:t>r</a:t>
            </a:r>
            <a:r>
              <a:rPr lang="zh-CN" altLang="zh-CN" sz="2800">
                <a:solidFill>
                  <a:srgbClr val="000000"/>
                </a:solidFill>
                <a:latin typeface="Times New Roman" panose="02020603050405020304" pitchFamily="18" charset="0"/>
                <a:cs typeface="Times New Roman" panose="02020603050405020304" pitchFamily="18" charset="0"/>
              </a:rPr>
              <a:t>的绝对值的大小可以反映成对数据之间线性相关的程度</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当</a:t>
            </a:r>
            <a:r>
              <a:rPr lang="en-US" altLang="zh-CN" sz="2800" i="1">
                <a:solidFill>
                  <a:srgbClr val="000000"/>
                </a:solidFill>
                <a:latin typeface="Times New Roman" panose="02020603050405020304" pitchFamily="18" charset="0"/>
                <a:cs typeface="Times New Roman" panose="02020603050405020304" pitchFamily="18" charset="0"/>
              </a:rPr>
              <a:t>|r|</a:t>
            </a:r>
            <a:r>
              <a:rPr lang="zh-CN" altLang="zh-CN" sz="2800">
                <a:solidFill>
                  <a:srgbClr val="000000"/>
                </a:solidFill>
                <a:latin typeface="Times New Roman" panose="02020603050405020304" pitchFamily="18" charset="0"/>
                <a:cs typeface="Times New Roman" panose="02020603050405020304" pitchFamily="18" charset="0"/>
              </a:rPr>
              <a:t>越接近</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成对样本数据的线性相关程度越强</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当</a:t>
            </a:r>
            <a:r>
              <a:rPr lang="en-US" altLang="zh-CN" sz="2800" i="1">
                <a:solidFill>
                  <a:srgbClr val="000000"/>
                </a:solidFill>
                <a:latin typeface="Times New Roman" panose="02020603050405020304" pitchFamily="18" charset="0"/>
                <a:cs typeface="Times New Roman" panose="02020603050405020304" pitchFamily="18" charset="0"/>
              </a:rPr>
              <a:t>|r|</a:t>
            </a:r>
            <a:r>
              <a:rPr lang="zh-CN" altLang="zh-CN" sz="2800">
                <a:solidFill>
                  <a:srgbClr val="000000"/>
                </a:solidFill>
                <a:latin typeface="Times New Roman" panose="02020603050405020304" pitchFamily="18" charset="0"/>
                <a:cs typeface="Times New Roman" panose="02020603050405020304" pitchFamily="18" charset="0"/>
              </a:rPr>
              <a:t>越接近</a:t>
            </a:r>
            <a:r>
              <a:rPr lang="en-US" altLang="zh-CN" sz="28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latin typeface="Times New Roman" panose="02020603050405020304" pitchFamily="18" charset="0"/>
                <a:cs typeface="Times New Roman" panose="02020603050405020304" pitchFamily="18" charset="0"/>
              </a:rPr>
              <a:t>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成对样本数据的线性相关程度越弱</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8708113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061950"/>
            <a:ext cx="11430000" cy="4487382"/>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二、一元线性回归模型及其应用</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一元线性回归模型及经验回归方程</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用</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表示父亲身高</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表示儿子身高</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e</a:t>
            </a:r>
            <a:r>
              <a:rPr lang="zh-CN" altLang="zh-CN" sz="2800">
                <a:solidFill>
                  <a:srgbClr val="000000"/>
                </a:solidFill>
                <a:latin typeface="Times New Roman" panose="02020603050405020304" pitchFamily="18" charset="0"/>
                <a:cs typeface="Times New Roman" panose="02020603050405020304" pitchFamily="18" charset="0"/>
              </a:rPr>
              <a:t>表示随机误差</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假定随机误差</a:t>
            </a:r>
            <a:r>
              <a:rPr lang="en-US" altLang="zh-CN" sz="2800" i="1">
                <a:solidFill>
                  <a:srgbClr val="000000"/>
                </a:solidFill>
                <a:latin typeface="Times New Roman" panose="02020603050405020304" pitchFamily="18" charset="0"/>
                <a:cs typeface="Times New Roman" panose="02020603050405020304" pitchFamily="18" charset="0"/>
              </a:rPr>
              <a:t>e</a:t>
            </a:r>
            <a:r>
              <a:rPr lang="zh-CN" altLang="zh-CN" sz="2800">
                <a:solidFill>
                  <a:srgbClr val="000000"/>
                </a:solidFill>
                <a:latin typeface="Times New Roman" panose="02020603050405020304" pitchFamily="18" charset="0"/>
                <a:cs typeface="Times New Roman" panose="02020603050405020304" pitchFamily="18" charset="0"/>
              </a:rPr>
              <a:t>的均值为</a:t>
            </a:r>
            <a:r>
              <a:rPr lang="en-US" altLang="zh-CN" sz="28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latin typeface="Times New Roman" panose="02020603050405020304" pitchFamily="18" charset="0"/>
                <a:cs typeface="Times New Roman" panose="02020603050405020304" pitchFamily="18" charset="0"/>
              </a:rPr>
              <a:t>方差为与父亲身高无关的定值</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σ</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则它们之间的关系可以表示</a:t>
            </a:r>
            <a:r>
              <a:rPr lang="zh-CN" altLang="zh-CN" sz="2800" smtClean="0">
                <a:solidFill>
                  <a:srgbClr val="000000"/>
                </a:solidFill>
                <a:latin typeface="Times New Roman" panose="02020603050405020304" pitchFamily="18" charset="0"/>
                <a:cs typeface="Times New Roman" panose="02020603050405020304" pitchFamily="18" charset="0"/>
              </a:rPr>
              <a:t>为</a:t>
            </a:r>
            <a:r>
              <a:rPr lang="en-US" altLang="zh-CN" sz="2800" smtClean="0">
                <a:solidFill>
                  <a:srgbClr val="000000"/>
                </a:solidFill>
                <a:latin typeface="Times New Roman" panose="02020603050405020304" pitchFamily="18" charset="0"/>
                <a:cs typeface="Times New Roman" panose="02020603050405020304" pitchFamily="18" charset="0"/>
              </a:rPr>
              <a:t>                        </a:t>
            </a:r>
          </a:p>
          <a:p>
            <a:pPr>
              <a:lnSpc>
                <a:spcPct val="20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000000"/>
                </a:solidFill>
                <a:latin typeface="Times New Roman" panose="02020603050405020304" pitchFamily="18" charset="0"/>
                <a:cs typeface="Times New Roman" panose="02020603050405020304" pitchFamily="18" charset="0"/>
              </a:rPr>
              <a:t>                                     </a:t>
            </a:r>
            <a:r>
              <a:rPr lang="zh-CN" altLang="zh-CN" sz="2800" smtClean="0">
                <a:solidFill>
                  <a:srgbClr val="000000"/>
                </a:solidFill>
                <a:latin typeface="Times New Roman" panose="02020603050405020304" pitchFamily="18" charset="0"/>
                <a:cs typeface="Times New Roman" panose="02020603050405020304" pitchFamily="18" charset="0"/>
              </a:rPr>
              <a:t>我们</a:t>
            </a:r>
            <a:r>
              <a:rPr lang="zh-CN" altLang="zh-CN" sz="2800">
                <a:solidFill>
                  <a:srgbClr val="000000"/>
                </a:solidFill>
                <a:latin typeface="Times New Roman" panose="02020603050405020304" pitchFamily="18" charset="0"/>
                <a:cs typeface="Times New Roman" panose="02020603050405020304" pitchFamily="18" charset="0"/>
              </a:rPr>
              <a:t>称此式为</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关于</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的一元线性回归模型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其中</a:t>
            </a:r>
            <a:r>
              <a:rPr lang="en-US" altLang="zh-CN" sz="2800" smtClean="0">
                <a:solidFill>
                  <a:srgbClr val="000000"/>
                </a:solidFill>
                <a:latin typeface="Times New Roman" panose="02020603050405020304" pitchFamily="18" charset="0"/>
                <a:cs typeface="Times New Roman" panose="02020603050405020304" pitchFamily="18" charset="0"/>
              </a:rPr>
              <a:t>,</a:t>
            </a:r>
          </a:p>
          <a:p>
            <a:pPr>
              <a:lnSpc>
                <a:spcPct val="150000"/>
              </a:lnSpc>
              <a:spcAft>
                <a:spcPts val="0"/>
              </a:spcAft>
              <a:tabLst>
                <a:tab pos="1188085" algn="l"/>
                <a:tab pos="2163445" algn="l"/>
                <a:tab pos="3142615" algn="l"/>
                <a:tab pos="4190365" algn="l"/>
              </a:tabLst>
            </a:pPr>
            <a:r>
              <a:rPr lang="en-US" altLang="zh-CN" sz="2800" i="1" smtClean="0">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称为因变量或响应变量</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称为自变量或解释变量</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和</a:t>
            </a:r>
            <a:r>
              <a:rPr lang="en-US" altLang="zh-CN" sz="2800" i="1">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cs typeface="Times New Roman" panose="02020603050405020304" pitchFamily="18" charset="0"/>
              </a:rPr>
              <a:t>为模型的未知参数</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称为截距参数</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cs typeface="Times New Roman" panose="02020603050405020304" pitchFamily="18" charset="0"/>
              </a:rPr>
              <a:t>称为斜率参数</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e</a:t>
            </a:r>
            <a:r>
              <a:rPr lang="zh-CN" altLang="zh-CN" sz="2800">
                <a:solidFill>
                  <a:srgbClr val="000000"/>
                </a:solidFill>
                <a:latin typeface="Times New Roman" panose="02020603050405020304" pitchFamily="18" charset="0"/>
                <a:cs typeface="Times New Roman" panose="02020603050405020304" pitchFamily="18" charset="0"/>
              </a:rPr>
              <a:t>是</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bx+a</a:t>
            </a:r>
            <a:r>
              <a:rPr lang="zh-CN" altLang="zh-CN" sz="2800">
                <a:solidFill>
                  <a:srgbClr val="000000"/>
                </a:solidFill>
                <a:latin typeface="Times New Roman" panose="02020603050405020304" pitchFamily="18" charset="0"/>
                <a:cs typeface="Times New Roman" panose="02020603050405020304" pitchFamily="18" charset="0"/>
              </a:rPr>
              <a:t>之间的随机误差</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952389401"/>
              </p:ext>
            </p:extLst>
          </p:nvPr>
        </p:nvGraphicFramePr>
        <p:xfrm>
          <a:off x="457200" y="3284407"/>
          <a:ext cx="3489325" cy="987425"/>
        </p:xfrm>
        <a:graphic>
          <a:graphicData uri="http://schemas.openxmlformats.org/presentationml/2006/ole">
            <mc:AlternateContent xmlns:mc="http://schemas.openxmlformats.org/markup-compatibility/2006">
              <mc:Choice xmlns:v="urn:schemas-microsoft-com:vml" Requires="v">
                <p:oleObj spid="_x0000_s4116" name="文档" r:id="rId4" imgW="1412446" imgH="395677" progId="Word.Document.12">
                  <p:embed/>
                </p:oleObj>
              </mc:Choice>
              <mc:Fallback>
                <p:oleObj name="文档" r:id="rId4" imgW="1412446" imgH="395677" progId="Word.Document.12">
                  <p:embed/>
                  <p:pic>
                    <p:nvPicPr>
                      <p:cNvPr id="0" name=""/>
                      <p:cNvPicPr/>
                      <p:nvPr/>
                    </p:nvPicPr>
                    <p:blipFill>
                      <a:blip r:embed="rId5"/>
                      <a:stretch>
                        <a:fillRect/>
                      </a:stretch>
                    </p:blipFill>
                    <p:spPr>
                      <a:xfrm>
                        <a:off x="457200" y="3284407"/>
                        <a:ext cx="3489325" cy="987425"/>
                      </a:xfrm>
                      <a:prstGeom prst="rect">
                        <a:avLst/>
                      </a:prstGeom>
                    </p:spPr>
                  </p:pic>
                </p:oleObj>
              </mc:Fallback>
            </mc:AlternateContent>
          </a:graphicData>
        </a:graphic>
      </p:graphicFrame>
    </p:spTree>
    <p:extLst>
      <p:ext uri="{BB962C8B-B14F-4D97-AF65-F5344CB8AC3E}">
        <p14:creationId xmlns:p14="http://schemas.microsoft.com/office/powerpoint/2010/main" val="657179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4236570281"/>
              </p:ext>
            </p:extLst>
          </p:nvPr>
        </p:nvGraphicFramePr>
        <p:xfrm>
          <a:off x="458424" y="1294157"/>
          <a:ext cx="11275153" cy="4523685"/>
        </p:xfrm>
        <a:graphic>
          <a:graphicData uri="http://schemas.openxmlformats.org/presentationml/2006/ole">
            <mc:AlternateContent xmlns:mc="http://schemas.openxmlformats.org/markup-compatibility/2006">
              <mc:Choice xmlns:v="urn:schemas-microsoft-com:vml" Requires="v">
                <p:oleObj spid="_x0000_s5140" name="文档" r:id="rId4" imgW="4510061" imgH="1809474" progId="Word.Document.12">
                  <p:embed/>
                </p:oleObj>
              </mc:Choice>
              <mc:Fallback>
                <p:oleObj name="文档" r:id="rId4" imgW="4510061" imgH="1809474" progId="Word.Document.12">
                  <p:embed/>
                  <p:pic>
                    <p:nvPicPr>
                      <p:cNvPr id="0" name=""/>
                      <p:cNvPicPr/>
                      <p:nvPr/>
                    </p:nvPicPr>
                    <p:blipFill>
                      <a:blip r:embed="rId5"/>
                      <a:stretch>
                        <a:fillRect/>
                      </a:stretch>
                    </p:blipFill>
                    <p:spPr>
                      <a:xfrm>
                        <a:off x="458424" y="1294157"/>
                        <a:ext cx="11275153" cy="4523685"/>
                      </a:xfrm>
                      <a:prstGeom prst="rect">
                        <a:avLst/>
                      </a:prstGeom>
                    </p:spPr>
                  </p:pic>
                </p:oleObj>
              </mc:Fallback>
            </mc:AlternateContent>
          </a:graphicData>
        </a:graphic>
      </p:graphicFrame>
      <p:sp>
        <p:nvSpPr>
          <p:cNvPr id="3" name="矩形 2"/>
          <p:cNvSpPr/>
          <p:nvPr/>
        </p:nvSpPr>
        <p:spPr>
          <a:xfrm>
            <a:off x="469310" y="5075379"/>
            <a:ext cx="1729605"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469310" y="5626976"/>
            <a:ext cx="172960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32321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95216"/>
            <a:ext cx="2698175"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线性回归</a:t>
            </a:r>
            <a:r>
              <a:rPr lang="zh-CN" altLang="zh-CN" sz="2800" smtClean="0">
                <a:solidFill>
                  <a:srgbClr val="000000"/>
                </a:solidFill>
                <a:latin typeface="Times New Roman" panose="02020603050405020304" pitchFamily="18" charset="0"/>
                <a:cs typeface="Times New Roman" panose="02020603050405020304" pitchFamily="18" charset="0"/>
              </a:rPr>
              <a:t>分析</a:t>
            </a:r>
            <a:r>
              <a:rPr lang="en-US" altLang="zh-CN" sz="2800" smtClean="0">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137731786"/>
              </p:ext>
            </p:extLst>
          </p:nvPr>
        </p:nvGraphicFramePr>
        <p:xfrm>
          <a:off x="458424" y="785262"/>
          <a:ext cx="11275153" cy="5603120"/>
        </p:xfrm>
        <a:graphic>
          <a:graphicData uri="http://schemas.openxmlformats.org/presentationml/2006/ole">
            <mc:AlternateContent xmlns:mc="http://schemas.openxmlformats.org/markup-compatibility/2006">
              <mc:Choice xmlns:v="urn:schemas-microsoft-com:vml" Requires="v">
                <p:oleObj spid="_x0000_s6164" name="文档" r:id="rId4" imgW="4510061" imgH="2241248" progId="Word.Document.12">
                  <p:embed/>
                </p:oleObj>
              </mc:Choice>
              <mc:Fallback>
                <p:oleObj name="文档" r:id="rId4" imgW="4510061" imgH="2241248" progId="Word.Document.12">
                  <p:embed/>
                  <p:pic>
                    <p:nvPicPr>
                      <p:cNvPr id="0" name=""/>
                      <p:cNvPicPr/>
                      <p:nvPr/>
                    </p:nvPicPr>
                    <p:blipFill>
                      <a:blip r:embed="rId5"/>
                      <a:stretch>
                        <a:fillRect/>
                      </a:stretch>
                    </p:blipFill>
                    <p:spPr>
                      <a:xfrm>
                        <a:off x="458424" y="785262"/>
                        <a:ext cx="11275153" cy="5603120"/>
                      </a:xfrm>
                      <a:prstGeom prst="rect">
                        <a:avLst/>
                      </a:prstGeom>
                    </p:spPr>
                  </p:pic>
                </p:oleObj>
              </mc:Fallback>
            </mc:AlternateContent>
          </a:graphicData>
        </a:graphic>
      </p:graphicFrame>
      <p:sp>
        <p:nvSpPr>
          <p:cNvPr id="5" name="矩形 4"/>
          <p:cNvSpPr/>
          <p:nvPr/>
        </p:nvSpPr>
        <p:spPr>
          <a:xfrm>
            <a:off x="9253716" y="2640458"/>
            <a:ext cx="1503328" cy="90463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467444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335180"/>
            <a:ext cx="11430000" cy="327512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700">
                <a:solidFill>
                  <a:srgbClr val="000000"/>
                </a:solidFill>
                <a:latin typeface="Arial" panose="020B0604020202020204" pitchFamily="34" charset="0"/>
                <a:ea typeface="黑体" panose="02010609060101010101" pitchFamily="49" charset="-122"/>
                <a:cs typeface="Times New Roman" panose="02020603050405020304" pitchFamily="18" charset="0"/>
              </a:rPr>
              <a:t>三、列联表与独立性检验</a:t>
            </a:r>
            <a:endParaRPr lang="zh-CN" altLang="zh-CN" sz="27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700" b="1">
                <a:solidFill>
                  <a:srgbClr val="000000"/>
                </a:solidFill>
                <a:latin typeface="Times New Roman" panose="02020603050405020304" pitchFamily="18" charset="0"/>
                <a:cs typeface="Times New Roman" panose="02020603050405020304" pitchFamily="18" charset="0"/>
              </a:rPr>
              <a:t>1</a:t>
            </a:r>
            <a:r>
              <a:rPr lang="en-US" altLang="zh-CN" sz="2700" i="1">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cs typeface="Times New Roman" panose="02020603050405020304" pitchFamily="18" charset="0"/>
              </a:rPr>
              <a:t>列联表</a:t>
            </a:r>
            <a:endParaRPr lang="zh-CN" altLang="zh-CN" sz="27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700">
                <a:solidFill>
                  <a:srgbClr val="000000"/>
                </a:solidFill>
                <a:latin typeface="Times New Roman" panose="02020603050405020304" pitchFamily="18" charset="0"/>
                <a:cs typeface="Times New Roman" panose="02020603050405020304" pitchFamily="18" charset="0"/>
              </a:rPr>
              <a:t>(1)</a:t>
            </a:r>
            <a:r>
              <a:rPr lang="zh-CN" altLang="zh-CN" sz="2700">
                <a:solidFill>
                  <a:srgbClr val="000000"/>
                </a:solidFill>
                <a:latin typeface="Times New Roman" panose="02020603050405020304" pitchFamily="18" charset="0"/>
                <a:cs typeface="Times New Roman" panose="02020603050405020304" pitchFamily="18" charset="0"/>
              </a:rPr>
              <a:t>我们经常会使用一种特殊的随机变量</a:t>
            </a:r>
            <a:r>
              <a:rPr lang="en-US" altLang="zh-CN" sz="2700">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cs typeface="Times New Roman" panose="02020603050405020304" pitchFamily="18" charset="0"/>
              </a:rPr>
              <a:t>以区别不同的现象或性质</a:t>
            </a:r>
            <a:r>
              <a:rPr lang="en-US" altLang="zh-CN" sz="2700">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cs typeface="Times New Roman" panose="02020603050405020304" pitchFamily="18" charset="0"/>
              </a:rPr>
              <a:t>这类随机变量称为分类变量</a:t>
            </a:r>
            <a:r>
              <a:rPr lang="en-US" altLang="zh-CN" sz="2700" i="1">
                <a:solidFill>
                  <a:srgbClr val="000000"/>
                </a:solidFill>
                <a:latin typeface="Times New Roman" panose="02020603050405020304" pitchFamily="18" charset="0"/>
                <a:cs typeface="Times New Roman" panose="02020603050405020304" pitchFamily="18" charset="0"/>
              </a:rPr>
              <a:t>.</a:t>
            </a:r>
            <a:endParaRPr lang="zh-CN" altLang="zh-CN" sz="27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700">
                <a:solidFill>
                  <a:srgbClr val="000000"/>
                </a:solidFill>
                <a:latin typeface="Times New Roman" panose="02020603050405020304" pitchFamily="18" charset="0"/>
                <a:cs typeface="Times New Roman" panose="02020603050405020304" pitchFamily="18" charset="0"/>
              </a:rPr>
              <a:t>(2)</a:t>
            </a:r>
            <a:r>
              <a:rPr lang="zh-CN" altLang="zh-CN" sz="2700">
                <a:solidFill>
                  <a:srgbClr val="000000"/>
                </a:solidFill>
                <a:latin typeface="Times New Roman" panose="02020603050405020304" pitchFamily="18" charset="0"/>
                <a:cs typeface="Times New Roman" panose="02020603050405020304" pitchFamily="18" charset="0"/>
              </a:rPr>
              <a:t>按研究问题的需要</a:t>
            </a:r>
            <a:r>
              <a:rPr lang="en-US" altLang="zh-CN" sz="2700">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cs typeface="Times New Roman" panose="02020603050405020304" pitchFamily="18" charset="0"/>
              </a:rPr>
              <a:t>将数据分类统计</a:t>
            </a:r>
            <a:r>
              <a:rPr lang="en-US" altLang="zh-CN" sz="2700">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cs typeface="Times New Roman" panose="02020603050405020304" pitchFamily="18" charset="0"/>
              </a:rPr>
              <a:t>并做成表格加以保存</a:t>
            </a:r>
            <a:r>
              <a:rPr lang="en-US" altLang="zh-CN" sz="2700" i="1">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cs typeface="Times New Roman" panose="02020603050405020304" pitchFamily="18" charset="0"/>
              </a:rPr>
              <a:t>这种形式的数据统计表称为</a:t>
            </a:r>
            <a:r>
              <a:rPr lang="en-US" altLang="zh-CN" sz="2700">
                <a:solidFill>
                  <a:srgbClr val="000000"/>
                </a:solidFill>
                <a:latin typeface="Times New Roman" panose="02020603050405020304" pitchFamily="18" charset="0"/>
                <a:cs typeface="Times New Roman" panose="02020603050405020304" pitchFamily="18" charset="0"/>
              </a:rPr>
              <a:t>2×2</a:t>
            </a:r>
            <a:r>
              <a:rPr lang="zh-CN" altLang="zh-CN" sz="2700">
                <a:solidFill>
                  <a:srgbClr val="000000"/>
                </a:solidFill>
                <a:latin typeface="Times New Roman" panose="02020603050405020304" pitchFamily="18" charset="0"/>
                <a:cs typeface="Times New Roman" panose="02020603050405020304" pitchFamily="18" charset="0"/>
              </a:rPr>
              <a:t>列联表</a:t>
            </a:r>
            <a:r>
              <a:rPr lang="en-US" altLang="zh-CN" sz="2700">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cs typeface="Times New Roman" panose="02020603050405020304" pitchFamily="18" charset="0"/>
              </a:rPr>
              <a:t>关于分类变量</a:t>
            </a:r>
            <a:r>
              <a:rPr lang="en-US" altLang="zh-CN" sz="2700" i="1">
                <a:solidFill>
                  <a:srgbClr val="000000"/>
                </a:solidFill>
                <a:latin typeface="Times New Roman" panose="02020603050405020304" pitchFamily="18" charset="0"/>
                <a:cs typeface="Times New Roman" panose="02020603050405020304" pitchFamily="18" charset="0"/>
              </a:rPr>
              <a:t>X</a:t>
            </a:r>
            <a:r>
              <a:rPr lang="zh-CN" altLang="zh-CN" sz="2700">
                <a:solidFill>
                  <a:srgbClr val="000000"/>
                </a:solidFill>
                <a:latin typeface="Times New Roman" panose="02020603050405020304" pitchFamily="18" charset="0"/>
                <a:cs typeface="Times New Roman" panose="02020603050405020304" pitchFamily="18" charset="0"/>
              </a:rPr>
              <a:t>和</a:t>
            </a:r>
            <a:r>
              <a:rPr lang="en-US" altLang="zh-CN" sz="2700" i="1">
                <a:solidFill>
                  <a:srgbClr val="000000"/>
                </a:solidFill>
                <a:latin typeface="Times New Roman" panose="02020603050405020304" pitchFamily="18" charset="0"/>
                <a:cs typeface="Times New Roman" panose="02020603050405020304" pitchFamily="18" charset="0"/>
              </a:rPr>
              <a:t>Y</a:t>
            </a:r>
            <a:r>
              <a:rPr lang="zh-CN" altLang="zh-CN" sz="2700">
                <a:solidFill>
                  <a:srgbClr val="000000"/>
                </a:solidFill>
                <a:latin typeface="Times New Roman" panose="02020603050405020304" pitchFamily="18" charset="0"/>
                <a:cs typeface="Times New Roman" panose="02020603050405020304" pitchFamily="18" charset="0"/>
              </a:rPr>
              <a:t>的抽样数据的</a:t>
            </a:r>
            <a:r>
              <a:rPr lang="en-US" altLang="zh-CN" sz="2700">
                <a:solidFill>
                  <a:srgbClr val="000000"/>
                </a:solidFill>
                <a:latin typeface="Times New Roman" panose="02020603050405020304" pitchFamily="18" charset="0"/>
                <a:cs typeface="Times New Roman" panose="02020603050405020304" pitchFamily="18" charset="0"/>
              </a:rPr>
              <a:t>2×2</a:t>
            </a:r>
            <a:r>
              <a:rPr lang="zh-CN" altLang="zh-CN" sz="2700">
                <a:solidFill>
                  <a:srgbClr val="000000"/>
                </a:solidFill>
                <a:latin typeface="Times New Roman" panose="02020603050405020304" pitchFamily="18" charset="0"/>
                <a:cs typeface="Times New Roman" panose="02020603050405020304" pitchFamily="18" charset="0"/>
              </a:rPr>
              <a:t>列联表如下</a:t>
            </a:r>
            <a:r>
              <a:rPr lang="en-US" altLang="zh-CN" sz="2700">
                <a:solidFill>
                  <a:srgbClr val="000000"/>
                </a:solidFill>
                <a:latin typeface="Times New Roman" panose="02020603050405020304" pitchFamily="18" charset="0"/>
                <a:cs typeface="Times New Roman" panose="02020603050405020304" pitchFamily="18" charset="0"/>
              </a:rPr>
              <a:t>:</a:t>
            </a:r>
            <a:endParaRPr lang="zh-CN" altLang="zh-CN" sz="27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1197749974"/>
              </p:ext>
            </p:extLst>
          </p:nvPr>
        </p:nvGraphicFramePr>
        <p:xfrm>
          <a:off x="381000" y="3610307"/>
          <a:ext cx="11430000" cy="2366010"/>
        </p:xfrm>
        <a:graphic>
          <a:graphicData uri="http://schemas.openxmlformats.org/drawingml/2006/table">
            <a:tbl>
              <a:tblPr firstRow="1" firstCol="1" bandRow="1"/>
              <a:tblGrid>
                <a:gridCol w="2857500"/>
                <a:gridCol w="2857500"/>
                <a:gridCol w="2857500"/>
                <a:gridCol w="2857500"/>
              </a:tblGrid>
              <a:tr h="0">
                <a:tc rowSpan="2">
                  <a:txBody>
                    <a:bodyPr/>
                    <a:lstStyle/>
                    <a:p>
                      <a:pPr algn="ctr">
                        <a:lnSpc>
                          <a:spcPct val="115000"/>
                        </a:lnSpc>
                        <a:spcAft>
                          <a:spcPts val="0"/>
                        </a:spcAft>
                        <a:tabLst>
                          <a:tab pos="1188085" algn="l"/>
                          <a:tab pos="2163445" algn="l"/>
                          <a:tab pos="3142615" algn="l"/>
                          <a:tab pos="4190365" algn="l"/>
                        </a:tabLst>
                      </a:pPr>
                      <a:r>
                        <a:rPr lang="en-US" sz="27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lang="zh-CN" sz="27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15000"/>
                        </a:lnSpc>
                        <a:spcAft>
                          <a:spcPts val="0"/>
                        </a:spcAft>
                        <a:tabLst>
                          <a:tab pos="1188085" algn="l"/>
                          <a:tab pos="2163445" algn="l"/>
                          <a:tab pos="3142615" algn="l"/>
                          <a:tab pos="4190365" algn="l"/>
                        </a:tabLst>
                      </a:pPr>
                      <a:r>
                        <a:rPr lang="en-US" sz="27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endParaRPr lang="zh-CN" sz="27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rowSpan="2">
                  <a:txBody>
                    <a:bodyPr/>
                    <a:lstStyle/>
                    <a:p>
                      <a:pPr algn="ctr">
                        <a:lnSpc>
                          <a:spcPct val="115000"/>
                        </a:lnSpc>
                        <a:spcAft>
                          <a:spcPts val="0"/>
                        </a:spcAft>
                        <a:tabLst>
                          <a:tab pos="1188085" algn="l"/>
                          <a:tab pos="2163445" algn="l"/>
                          <a:tab pos="3142615" algn="l"/>
                          <a:tab pos="4190365" algn="l"/>
                        </a:tabLst>
                      </a:pPr>
                      <a:r>
                        <a:rPr lang="zh-CN" sz="27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27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vMerge="1">
                  <a:txBody>
                    <a:bodyPr/>
                    <a:lstStyle/>
                    <a:p>
                      <a:endParaRPr lang="zh-CN" altLang="en-US"/>
                    </a:p>
                  </a:txBody>
                  <a:tcPr/>
                </a:tc>
                <a:tc>
                  <a:txBody>
                    <a:bodyPr/>
                    <a:lstStyle/>
                    <a:p>
                      <a:pPr algn="ctr">
                        <a:lnSpc>
                          <a:spcPct val="115000"/>
                        </a:lnSpc>
                        <a:spcAft>
                          <a:spcPts val="0"/>
                        </a:spcAft>
                        <a:tabLst>
                          <a:tab pos="1188085" algn="l"/>
                          <a:tab pos="2163445" algn="l"/>
                          <a:tab pos="3142615" algn="l"/>
                          <a:tab pos="4190365" algn="l"/>
                        </a:tabLst>
                      </a:pPr>
                      <a:r>
                        <a:rPr lang="en-US" sz="27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r>
                        <a:rPr lang="en-US" sz="27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lang="zh-CN" sz="27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7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r>
                        <a:rPr lang="en-US" sz="27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7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ltLang="en-US"/>
                    </a:p>
                  </a:txBody>
                  <a:tcPr/>
                </a:tc>
              </a:tr>
              <a:tr h="0">
                <a:tc>
                  <a:txBody>
                    <a:bodyPr/>
                    <a:lstStyle/>
                    <a:p>
                      <a:pPr algn="ctr">
                        <a:lnSpc>
                          <a:spcPct val="115000"/>
                        </a:lnSpc>
                        <a:spcAft>
                          <a:spcPts val="0"/>
                        </a:spcAft>
                        <a:tabLst>
                          <a:tab pos="1188085" algn="l"/>
                          <a:tab pos="2163445" algn="l"/>
                          <a:tab pos="3142615" algn="l"/>
                          <a:tab pos="4190365" algn="l"/>
                        </a:tabLst>
                      </a:pPr>
                      <a:r>
                        <a:rPr lang="en-US" sz="27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sz="27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lang="zh-CN" sz="27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7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endParaRPr lang="zh-CN" sz="27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7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a:t>
                      </a:r>
                      <a:endParaRPr lang="zh-CN" sz="27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7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a+b</a:t>
                      </a:r>
                      <a:endParaRPr lang="zh-CN" sz="27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en-US" sz="27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sz="27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7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7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a:t>
                      </a:r>
                      <a:endParaRPr lang="zh-CN" sz="27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7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a:t>
                      </a:r>
                      <a:endParaRPr lang="zh-CN" sz="27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7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c+d</a:t>
                      </a:r>
                      <a:endParaRPr lang="zh-CN" sz="27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zh-CN" sz="27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27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7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a+c</a:t>
                      </a:r>
                      <a:endParaRPr lang="zh-CN" sz="27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7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b+d</a:t>
                      </a:r>
                      <a:endParaRPr lang="zh-CN" sz="27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7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n=a+b+c+d</a:t>
                      </a:r>
                      <a:endParaRPr lang="zh-CN" sz="27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6711585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364016"/>
            <a:ext cx="11430000" cy="4875181"/>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cs typeface="Times New Roman" panose="02020603050405020304" pitchFamily="18" charset="0"/>
              </a:rPr>
              <a:t>独立性检验</a:t>
            </a:r>
            <a:endParaRPr lang="en-US" altLang="zh-CN" sz="2800" smtClean="0">
              <a:solidFill>
                <a:srgbClr val="000000"/>
              </a:solidFill>
              <a:latin typeface="Times New Roman" panose="02020603050405020304" pitchFamily="18" charset="0"/>
              <a:cs typeface="Times New Roman" panose="02020603050405020304" pitchFamily="18" charset="0"/>
            </a:endParaRPr>
          </a:p>
          <a:p>
            <a:pPr>
              <a:spcAft>
                <a:spcPts val="0"/>
              </a:spcAft>
              <a:tabLst>
                <a:tab pos="1188085" algn="l"/>
                <a:tab pos="2163445" algn="l"/>
                <a:tab pos="3142615" algn="l"/>
                <a:tab pos="4190365" algn="l"/>
              </a:tabLst>
            </a:pPr>
            <a:endParaRPr lang="en-US" altLang="zh-CN" sz="280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基于小概率值</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a:solidFill>
                  <a:srgbClr val="000000"/>
                </a:solidFill>
                <a:latin typeface="Times New Roman" panose="02020603050405020304" pitchFamily="18" charset="0"/>
                <a:cs typeface="Times New Roman" panose="02020603050405020304" pitchFamily="18" charset="0"/>
              </a:rPr>
              <a:t>的检验规则是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当</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i="1" baseline="-2500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a:solidFill>
                  <a:srgbClr val="000000"/>
                </a:solidFill>
                <a:latin typeface="Times New Roman" panose="02020603050405020304" pitchFamily="18" charset="0"/>
                <a:cs typeface="Times New Roman" panose="02020603050405020304" pitchFamily="18" charset="0"/>
              </a:rPr>
              <a:t>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我们就推断</a:t>
            </a:r>
            <a:r>
              <a:rPr lang="en-US" altLang="zh-CN" sz="2800" i="1">
                <a:solidFill>
                  <a:srgbClr val="000000"/>
                </a:solidFill>
                <a:latin typeface="Times New Roman" panose="02020603050405020304" pitchFamily="18" charset="0"/>
                <a:cs typeface="Times New Roman" panose="02020603050405020304" pitchFamily="18" charset="0"/>
              </a:rPr>
              <a:t>H</a:t>
            </a:r>
            <a:r>
              <a:rPr lang="en-US" altLang="zh-CN" sz="2800" baseline="-250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latin typeface="Times New Roman" panose="02020603050405020304" pitchFamily="18" charset="0"/>
                <a:cs typeface="Times New Roman" panose="02020603050405020304" pitchFamily="18" charset="0"/>
              </a:rPr>
              <a:t>不成立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即认为</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和</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不独立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该推断犯错误的概率不超过</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当</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&lt;x</a:t>
            </a:r>
            <a:r>
              <a:rPr lang="en-US" altLang="zh-CN" sz="2800" i="1" baseline="-2500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a:solidFill>
                  <a:srgbClr val="000000"/>
                </a:solidFill>
                <a:latin typeface="Times New Roman" panose="02020603050405020304" pitchFamily="18" charset="0"/>
                <a:cs typeface="Times New Roman" panose="02020603050405020304" pitchFamily="18" charset="0"/>
              </a:rPr>
              <a:t>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我们没有充分证据推断</a:t>
            </a:r>
            <a:r>
              <a:rPr lang="en-US" altLang="zh-CN" sz="2800" i="1">
                <a:solidFill>
                  <a:srgbClr val="000000"/>
                </a:solidFill>
                <a:latin typeface="Times New Roman" panose="02020603050405020304" pitchFamily="18" charset="0"/>
                <a:cs typeface="Times New Roman" panose="02020603050405020304" pitchFamily="18" charset="0"/>
              </a:rPr>
              <a:t>H</a:t>
            </a:r>
            <a:r>
              <a:rPr lang="en-US" altLang="zh-CN" sz="2800" baseline="-250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latin typeface="Times New Roman" panose="02020603050405020304" pitchFamily="18" charset="0"/>
                <a:cs typeface="Times New Roman" panose="02020603050405020304" pitchFamily="18" charset="0"/>
              </a:rPr>
              <a:t>不成立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可以认为</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和</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独立</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独立性检验中常用的小概率值和相应的临界值</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565369586"/>
              </p:ext>
            </p:extLst>
          </p:nvPr>
        </p:nvGraphicFramePr>
        <p:xfrm>
          <a:off x="458424" y="838265"/>
          <a:ext cx="11275153" cy="2125728"/>
        </p:xfrm>
        <a:graphic>
          <a:graphicData uri="http://schemas.openxmlformats.org/presentationml/2006/ole">
            <mc:AlternateContent xmlns:mc="http://schemas.openxmlformats.org/markup-compatibility/2006">
              <mc:Choice xmlns:v="urn:schemas-microsoft-com:vml" Requires="v">
                <p:oleObj spid="_x0000_s2067" name="文档" r:id="rId4" imgW="4510061" imgH="850291" progId="Word.Document.12">
                  <p:embed/>
                </p:oleObj>
              </mc:Choice>
              <mc:Fallback>
                <p:oleObj name="文档" r:id="rId4" imgW="4510061" imgH="850291" progId="Word.Document.12">
                  <p:embed/>
                  <p:pic>
                    <p:nvPicPr>
                      <p:cNvPr id="0" name=""/>
                      <p:cNvPicPr/>
                      <p:nvPr/>
                    </p:nvPicPr>
                    <p:blipFill>
                      <a:blip r:embed="rId5"/>
                      <a:stretch>
                        <a:fillRect/>
                      </a:stretch>
                    </p:blipFill>
                    <p:spPr>
                      <a:xfrm>
                        <a:off x="458424" y="838265"/>
                        <a:ext cx="11275153" cy="2125728"/>
                      </a:xfrm>
                      <a:prstGeom prst="rect">
                        <a:avLst/>
                      </a:prstGeom>
                    </p:spPr>
                  </p:pic>
                </p:oleObj>
              </mc:Fallback>
            </mc:AlternateContent>
          </a:graphicData>
        </a:graphic>
      </p:graphicFrame>
      <p:graphicFrame>
        <p:nvGraphicFramePr>
          <p:cNvPr id="4" name="表格 3"/>
          <p:cNvGraphicFramePr>
            <a:graphicFrameLocks noGrp="1" noChangeAspect="1"/>
          </p:cNvGraphicFramePr>
          <p:nvPr>
            <p:extLst>
              <p:ext uri="{D42A27DB-BD31-4B8C-83A1-F6EECF244321}">
                <p14:modId xmlns:p14="http://schemas.microsoft.com/office/powerpoint/2010/main" val="3345875205"/>
              </p:ext>
            </p:extLst>
          </p:nvPr>
        </p:nvGraphicFramePr>
        <p:xfrm>
          <a:off x="381000" y="5163094"/>
          <a:ext cx="11430000" cy="981456"/>
        </p:xfrm>
        <a:graphic>
          <a:graphicData uri="http://schemas.openxmlformats.org/drawingml/2006/table">
            <a:tbl>
              <a:tblPr firstRow="1" firstCol="1" bandRow="1"/>
              <a:tblGrid>
                <a:gridCol w="1905000"/>
                <a:gridCol w="1905000"/>
                <a:gridCol w="1905000"/>
                <a:gridCol w="1905000"/>
                <a:gridCol w="1905000"/>
                <a:gridCol w="1905000"/>
              </a:tblGrid>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005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001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sz="2800" i="1" baseline="-2500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706</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841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635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879</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828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4894099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923010"/>
            <a:ext cx="11430000" cy="339298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应用独立性检验解决实际问题大致应包括以下几个主要环节</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①</a:t>
            </a:r>
            <a:r>
              <a:rPr lang="zh-CN" altLang="zh-CN" sz="2800">
                <a:solidFill>
                  <a:srgbClr val="000000"/>
                </a:solidFill>
                <a:latin typeface="Times New Roman" panose="02020603050405020304" pitchFamily="18" charset="0"/>
                <a:cs typeface="Times New Roman" panose="02020603050405020304" pitchFamily="18" charset="0"/>
              </a:rPr>
              <a:t>提出零假设</a:t>
            </a:r>
            <a:r>
              <a:rPr lang="en-US" altLang="zh-CN" sz="2800" i="1">
                <a:solidFill>
                  <a:srgbClr val="000000"/>
                </a:solidFill>
                <a:latin typeface="Times New Roman" panose="02020603050405020304" pitchFamily="18" charset="0"/>
                <a:cs typeface="Times New Roman" panose="02020603050405020304" pitchFamily="18" charset="0"/>
              </a:rPr>
              <a:t>H</a:t>
            </a:r>
            <a:r>
              <a:rPr lang="en-US" altLang="zh-CN" sz="2800" baseline="-25000">
                <a:solidFill>
                  <a:srgbClr val="000000"/>
                </a:solidFill>
                <a:latin typeface="Times New Roman" panose="02020603050405020304" pitchFamily="18" charset="0"/>
                <a:cs typeface="Times New Roman" panose="02020603050405020304" pitchFamily="18" charset="0"/>
              </a:rPr>
              <a:t>0</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和</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相互独立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并给出在问题中的解释</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②</a:t>
            </a:r>
            <a:r>
              <a:rPr lang="zh-CN" altLang="zh-CN" sz="2800">
                <a:solidFill>
                  <a:srgbClr val="000000"/>
                </a:solidFill>
                <a:latin typeface="Times New Roman" panose="02020603050405020304" pitchFamily="18" charset="0"/>
                <a:cs typeface="Times New Roman" panose="02020603050405020304" pitchFamily="18" charset="0"/>
              </a:rPr>
              <a:t>根据抽样数据整理出</a:t>
            </a:r>
            <a:r>
              <a:rPr lang="en-US" altLang="zh-CN" sz="2800">
                <a:solidFill>
                  <a:srgbClr val="000000"/>
                </a:solidFill>
                <a:latin typeface="Times New Roman" panose="02020603050405020304" pitchFamily="18" charset="0"/>
                <a:cs typeface="Times New Roman" panose="02020603050405020304" pitchFamily="18" charset="0"/>
              </a:rPr>
              <a:t>2×2</a:t>
            </a:r>
            <a:r>
              <a:rPr lang="zh-CN" altLang="zh-CN" sz="2800">
                <a:solidFill>
                  <a:srgbClr val="000000"/>
                </a:solidFill>
                <a:latin typeface="Times New Roman" panose="02020603050405020304" pitchFamily="18" charset="0"/>
                <a:cs typeface="Times New Roman" panose="02020603050405020304" pitchFamily="18" charset="0"/>
              </a:rPr>
              <a:t>列联表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计算</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的值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并与临界值</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i="1" baseline="-2500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a:solidFill>
                  <a:srgbClr val="000000"/>
                </a:solidFill>
                <a:latin typeface="Times New Roman" panose="02020603050405020304" pitchFamily="18" charset="0"/>
                <a:cs typeface="Times New Roman" panose="02020603050405020304" pitchFamily="18" charset="0"/>
              </a:rPr>
              <a:t>比较</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③</a:t>
            </a:r>
            <a:r>
              <a:rPr lang="zh-CN" altLang="zh-CN" sz="2800">
                <a:solidFill>
                  <a:srgbClr val="000000"/>
                </a:solidFill>
                <a:latin typeface="Times New Roman" panose="02020603050405020304" pitchFamily="18" charset="0"/>
                <a:cs typeface="Times New Roman" panose="02020603050405020304" pitchFamily="18" charset="0"/>
              </a:rPr>
              <a:t>根据检验规则得出推断结论</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④</a:t>
            </a:r>
            <a:r>
              <a:rPr lang="zh-CN" altLang="zh-CN" sz="2800">
                <a:solidFill>
                  <a:srgbClr val="000000"/>
                </a:solidFill>
                <a:latin typeface="Times New Roman" panose="02020603050405020304" pitchFamily="18" charset="0"/>
                <a:cs typeface="Times New Roman" panose="02020603050405020304" pitchFamily="18" charset="0"/>
              </a:rPr>
              <a:t>在</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和</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不独立的情况下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根据需要</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通过比较相应的频率</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分析</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和</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间的影响规律</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2319888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362857"/>
            <a:ext cx="11430000" cy="457356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【思考辨析】</a:t>
            </a:r>
            <a:r>
              <a:rPr lang="zh-CN" altLang="zh-CN" sz="2800">
                <a:solidFill>
                  <a:srgbClr val="000000"/>
                </a:solidFill>
                <a:effectLst/>
                <a:latin typeface="NEU-BZ-S92"/>
                <a:ea typeface="Arial" panose="020B0604020202020204" pitchFamily="34"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判断下列说法是否正确</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正确的在后面的括号内画</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effectLst/>
                <a:latin typeface="Cambria Math" panose="02040503050406030204" pitchFamily="18" charset="0"/>
                <a:ea typeface="NEU-BZ-S9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错误的画</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残差平方和越小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经验回归方程的拟合效果越好</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FF0000"/>
                </a:solidFill>
                <a:latin typeface="Cambria Math" panose="020405030504060302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决定系数</a:t>
            </a:r>
            <a:r>
              <a:rPr lang="en-US" altLang="zh-CN" sz="2800" i="1" smtClean="0">
                <a:solidFill>
                  <a:srgbClr val="000000"/>
                </a:solidFill>
                <a:latin typeface="Times New Roman" panose="02020603050405020304" pitchFamily="18" charset="0"/>
                <a:cs typeface="Times New Roman" panose="02020603050405020304" pitchFamily="18" charset="0"/>
              </a:rPr>
              <a:t>R</a:t>
            </a:r>
            <a:r>
              <a:rPr lang="en-US" altLang="zh-CN" sz="2800" baseline="30000" smtClean="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越接近于</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经验回归方程的拟合效果越好</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FF0000"/>
                </a:solidFill>
                <a:latin typeface="Cambria Math" panose="020405030504060302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经验回归直线不一定过</a:t>
            </a:r>
            <a:r>
              <a:rPr lang="zh-CN" altLang="zh-CN" sz="2800" smtClean="0">
                <a:solidFill>
                  <a:srgbClr val="000000"/>
                </a:solidFill>
                <a:latin typeface="Times New Roman" panose="02020603050405020304" pitchFamily="18" charset="0"/>
                <a:cs typeface="Times New Roman" panose="02020603050405020304" pitchFamily="18" charset="0"/>
              </a:rPr>
              <a:t>点</a:t>
            </a:r>
            <a:r>
              <a:rPr lang="en-US" altLang="zh-CN" sz="2800" smtClean="0">
                <a:solidFill>
                  <a:srgbClr val="000000"/>
                </a:solidFill>
                <a:latin typeface="Times New Roman" panose="02020603050405020304" pitchFamily="18" charset="0"/>
                <a:cs typeface="Times New Roman" panose="02020603050405020304" pitchFamily="18" charset="0"/>
              </a:rPr>
              <a:t>           </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FF0000"/>
                </a:solidFill>
                <a:latin typeface="Times New Roman" panose="02020603050405020304" pitchFamily="18" charset="0"/>
                <a:cs typeface="Times New Roman" panose="02020603050405020304" pitchFamily="18" charset="0"/>
              </a:rPr>
              <a:t>  </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独立性检验得到的结论一定是正确的</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经验回归直线可以不过</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i="1" baseline="-25000">
                <a:solidFill>
                  <a:srgbClr val="000000"/>
                </a:solidFill>
                <a:latin typeface="Times New Roman" panose="02020603050405020304" pitchFamily="18" charset="0"/>
                <a:cs typeface="Times New Roman" panose="02020603050405020304" pitchFamily="18" charset="0"/>
              </a:rPr>
              <a:t>i</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i="1" baseline="-25000">
                <a:solidFill>
                  <a:srgbClr val="000000"/>
                </a:solidFill>
                <a:latin typeface="Times New Roman" panose="02020603050405020304" pitchFamily="18" charset="0"/>
                <a:cs typeface="Times New Roman" panose="02020603050405020304" pitchFamily="18" charset="0"/>
              </a:rPr>
              <a:t>i</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中的每一个点</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FF0000"/>
                </a:solidFill>
                <a:latin typeface="Cambria Math" panose="020405030504060302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(6)</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的值大就说明两个分类变量有关</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695735683"/>
              </p:ext>
            </p:extLst>
          </p:nvPr>
        </p:nvGraphicFramePr>
        <p:xfrm>
          <a:off x="4910584" y="3639363"/>
          <a:ext cx="1311275" cy="493713"/>
        </p:xfrm>
        <a:graphic>
          <a:graphicData uri="http://schemas.openxmlformats.org/presentationml/2006/ole">
            <mc:AlternateContent xmlns:mc="http://schemas.openxmlformats.org/markup-compatibility/2006">
              <mc:Choice xmlns:v="urn:schemas-microsoft-com:vml" Requires="v">
                <p:oleObj spid="_x0000_s7188" name="文档" r:id="rId4" imgW="532485" imgH="197659" progId="Word.Document.12">
                  <p:embed/>
                </p:oleObj>
              </mc:Choice>
              <mc:Fallback>
                <p:oleObj name="文档" r:id="rId4" imgW="532485" imgH="197659" progId="Word.Document.12">
                  <p:embed/>
                  <p:pic>
                    <p:nvPicPr>
                      <p:cNvPr id="0" name=""/>
                      <p:cNvPicPr/>
                      <p:nvPr/>
                    </p:nvPicPr>
                    <p:blipFill>
                      <a:blip r:embed="rId5"/>
                      <a:stretch>
                        <a:fillRect/>
                      </a:stretch>
                    </p:blipFill>
                    <p:spPr>
                      <a:xfrm>
                        <a:off x="4910584" y="3639363"/>
                        <a:ext cx="1311275" cy="493713"/>
                      </a:xfrm>
                      <a:prstGeom prst="rect">
                        <a:avLst/>
                      </a:prstGeom>
                    </p:spPr>
                  </p:pic>
                </p:oleObj>
              </mc:Fallback>
            </mc:AlternateContent>
          </a:graphicData>
        </a:graphic>
      </p:graphicFrame>
      <p:sp>
        <p:nvSpPr>
          <p:cNvPr id="4" name="矩形 3"/>
          <p:cNvSpPr/>
          <p:nvPr/>
        </p:nvSpPr>
        <p:spPr>
          <a:xfrm>
            <a:off x="8344770" y="2536373"/>
            <a:ext cx="538035"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9192522" y="3104804"/>
            <a:ext cx="538035"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6111550" y="3649637"/>
            <a:ext cx="538035"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895676" y="4220164"/>
            <a:ext cx="538035"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581261" y="4806343"/>
            <a:ext cx="538035"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6467655" y="5320344"/>
            <a:ext cx="538035"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63002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0" nodeType="clickEffect">
                                  <p:stCondLst>
                                    <p:cond delay="0"/>
                                  </p:stCondLst>
                                  <p:childTnLst>
                                    <p:animEffect transition="out" filter="wipe(down)">
                                      <p:cBhvr>
                                        <p:cTn id="26" dur="500"/>
                                        <p:tgtEl>
                                          <p:spTgt spid="8"/>
                                        </p:tgtEl>
                                      </p:cBhvr>
                                    </p:animEffect>
                                    <p:set>
                                      <p:cBhvr>
                                        <p:cTn id="27" dur="1" fill="hold">
                                          <p:stCondLst>
                                            <p:cond delay="499"/>
                                          </p:stCondLst>
                                        </p:cTn>
                                        <p:tgtEl>
                                          <p:spTgt spid="8"/>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4" fill="hold" grpId="0" nodeType="clickEffect">
                                  <p:stCondLst>
                                    <p:cond delay="0"/>
                                  </p:stCondLst>
                                  <p:childTnLst>
                                    <p:animEffect transition="out" filter="wipe(down)">
                                      <p:cBhvr>
                                        <p:cTn id="31" dur="500"/>
                                        <p:tgtEl>
                                          <p:spTgt spid="9"/>
                                        </p:tgtEl>
                                      </p:cBhvr>
                                    </p:animEffect>
                                    <p:set>
                                      <p:cBhvr>
                                        <p:cTn id="32"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smtClean="0">
                <a:solidFill>
                  <a:srgbClr val="4D4D4D"/>
                </a:solidFill>
                <a:latin typeface="方正姚体" panose="02010601030101010101" charset="-122"/>
                <a:ea typeface="方正姚体" panose="02010601030101010101" charset="-122"/>
                <a:cs typeface="方正姚体" panose="02010601030101010101" charset="-122"/>
                <a:sym typeface="+mn-ea"/>
              </a:rPr>
              <a:t>专题归纳 核心突破</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7" name="组合 6"/>
          <p:cNvGrpSpPr/>
          <p:nvPr/>
        </p:nvGrpSpPr>
        <p:grpSpPr>
          <a:xfrm>
            <a:off x="2" y="151371"/>
            <a:ext cx="11336478" cy="433754"/>
            <a:chOff x="3048000" y="2286000"/>
            <a:chExt cx="4813646" cy="457200"/>
          </a:xfrm>
        </p:grpSpPr>
        <p:sp>
          <p:nvSpPr>
            <p:cNvPr id="8" name="矩形 7"/>
            <p:cNvSpPr/>
            <p:nvPr/>
          </p:nvSpPr>
          <p:spPr>
            <a:xfrm>
              <a:off x="3048000" y="2286000"/>
              <a:ext cx="209403"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mtClean="0">
                  <a:solidFill>
                    <a:schemeClr val="bg1"/>
                  </a:solidFill>
                </a:rPr>
                <a:t> </a:t>
              </a:r>
              <a:endParaRPr lang="zh-CN" altLang="en-US" sz="2800" b="1" dirty="0" smtClean="0">
                <a:solidFill>
                  <a:schemeClr val="bg1"/>
                </a:solidFill>
              </a:endParaRPr>
            </a:p>
          </p:txBody>
        </p:sp>
        <p:sp>
          <p:nvSpPr>
            <p:cNvPr id="9" name="矩形 8"/>
            <p:cNvSpPr/>
            <p:nvPr/>
          </p:nvSpPr>
          <p:spPr>
            <a:xfrm>
              <a:off x="3345506" y="2286000"/>
              <a:ext cx="4516140"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专题整合</a:t>
              </a:r>
              <a:endParaRPr lang="zh-CN" altLang="en-US" sz="2800" b="1" dirty="0">
                <a:solidFill>
                  <a:schemeClr val="bg1"/>
                </a:solidFill>
              </a:endParaRPr>
            </a:p>
          </p:txBody>
        </p:sp>
      </p:grpSp>
      <p:sp>
        <p:nvSpPr>
          <p:cNvPr id="2" name="矩形 1"/>
          <p:cNvSpPr>
            <a:spLocks noChangeAspect="1"/>
          </p:cNvSpPr>
          <p:nvPr/>
        </p:nvSpPr>
        <p:spPr>
          <a:xfrm>
            <a:off x="381000" y="903622"/>
            <a:ext cx="11430000" cy="457356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微软雅黑" panose="020B0503020204020204" pitchFamily="34" charset="-122"/>
                <a:cs typeface="Times New Roman" panose="02020603050405020304" pitchFamily="18" charset="0"/>
              </a:rPr>
              <a:t>专题一</a:t>
            </a:r>
            <a:r>
              <a:rPr lang="zh-CN" altLang="zh-CN" sz="2800" i="1">
                <a:solidFill>
                  <a:srgbClr val="000000"/>
                </a:solidFill>
                <a:latin typeface="Times New Roman" panose="02020603050405020304" pitchFamily="18" charset="0"/>
                <a:cs typeface="Times New Roman" panose="02020603050405020304" pitchFamily="18" charset="0"/>
              </a:rPr>
              <a:t>　</a:t>
            </a:r>
            <a:r>
              <a:rPr lang="zh-CN" altLang="zh-CN" sz="2800">
                <a:solidFill>
                  <a:srgbClr val="000000"/>
                </a:solidFill>
                <a:latin typeface="Arial" panose="020B0604020202020204" pitchFamily="34" charset="0"/>
                <a:ea typeface="微软雅黑" panose="020B0503020204020204" pitchFamily="34" charset="-122"/>
                <a:cs typeface="Times New Roman" panose="02020603050405020304" pitchFamily="18" charset="0"/>
              </a:rPr>
              <a:t>回归分析的基本思想及其应用</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对于</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有如下观测数据</a:t>
            </a:r>
            <a:r>
              <a:rPr lang="en-US" altLang="zh-CN" sz="280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endParaRPr lang="en-US" altLang="zh-CN" sz="280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作出散点图</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对</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作回归分析</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求出</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对</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的经验回归方程</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根据经验回归方程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预测当</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20</a:t>
            </a:r>
            <a:r>
              <a:rPr lang="zh-CN" altLang="zh-CN" sz="2800">
                <a:solidFill>
                  <a:srgbClr val="000000"/>
                </a:solidFill>
                <a:latin typeface="Times New Roman" panose="02020603050405020304" pitchFamily="18" charset="0"/>
                <a:cs typeface="Times New Roman" panose="02020603050405020304" pitchFamily="18" charset="0"/>
              </a:rPr>
              <a:t>时</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的值</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55904434"/>
              </p:ext>
            </p:extLst>
          </p:nvPr>
        </p:nvGraphicFramePr>
        <p:xfrm>
          <a:off x="381000" y="2101346"/>
          <a:ext cx="11430000" cy="981456"/>
        </p:xfrm>
        <a:graphic>
          <a:graphicData uri="http://schemas.openxmlformats.org/drawingml/2006/table">
            <a:tbl>
              <a:tblPr firstRow="1" firstCol="1" bandRow="1"/>
              <a:tblGrid>
                <a:gridCol w="1270000"/>
                <a:gridCol w="1270000"/>
                <a:gridCol w="1270000"/>
                <a:gridCol w="1270000"/>
                <a:gridCol w="1270000"/>
                <a:gridCol w="1270000"/>
                <a:gridCol w="1270000"/>
                <a:gridCol w="1270000"/>
                <a:gridCol w="1270000"/>
              </a:tblGrid>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39</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49</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848213"/>
            <a:ext cx="4833374"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作出的散点图如图所示</a:t>
            </a:r>
            <a:r>
              <a:rPr lang="en-US" altLang="zh-CN" sz="2800" i="1" smtClean="0">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3" name="VMX3TRAX19.eps" descr="id:2147520597;FounderCES"/>
          <p:cNvPicPr/>
          <p:nvPr/>
        </p:nvPicPr>
        <p:blipFill>
          <a:blip r:embed="rId2">
            <a:clrChange>
              <a:clrFrom>
                <a:srgbClr val="FFFFFF"/>
              </a:clrFrom>
              <a:clrTo>
                <a:srgbClr val="FFFFFF">
                  <a:alpha val="0"/>
                </a:srgbClr>
              </a:clrTo>
            </a:clrChange>
          </a:blip>
          <a:stretch>
            <a:fillRect/>
          </a:stretch>
        </p:blipFill>
        <p:spPr>
          <a:xfrm>
            <a:off x="4690184" y="1661214"/>
            <a:ext cx="3868189" cy="3788259"/>
          </a:xfrm>
          <a:prstGeom prst="rect">
            <a:avLst/>
          </a:prstGeom>
        </p:spPr>
      </p:pic>
    </p:spTree>
    <p:extLst>
      <p:ext uri="{BB962C8B-B14F-4D97-AF65-F5344CB8AC3E}">
        <p14:creationId xmlns:p14="http://schemas.microsoft.com/office/powerpoint/2010/main" val="12559314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3180044373"/>
              </p:ext>
            </p:extLst>
          </p:nvPr>
        </p:nvGraphicFramePr>
        <p:xfrm>
          <a:off x="458424" y="470788"/>
          <a:ext cx="11275153" cy="5512878"/>
        </p:xfrm>
        <a:graphic>
          <a:graphicData uri="http://schemas.openxmlformats.org/presentationml/2006/ole">
            <mc:AlternateContent xmlns:mc="http://schemas.openxmlformats.org/markup-compatibility/2006">
              <mc:Choice xmlns:v="urn:schemas-microsoft-com:vml" Requires="v">
                <p:oleObj spid="_x0000_s14355" name="文档" r:id="rId4" imgW="4510061" imgH="2205151" progId="Word.Document.12">
                  <p:embed/>
                </p:oleObj>
              </mc:Choice>
              <mc:Fallback>
                <p:oleObj name="文档" r:id="rId4" imgW="4510061" imgH="2205151" progId="Word.Document.12">
                  <p:embed/>
                  <p:pic>
                    <p:nvPicPr>
                      <p:cNvPr id="0" name=""/>
                      <p:cNvPicPr/>
                      <p:nvPr/>
                    </p:nvPicPr>
                    <p:blipFill>
                      <a:blip r:embed="rId5"/>
                      <a:stretch>
                        <a:fillRect/>
                      </a:stretch>
                    </p:blipFill>
                    <p:spPr>
                      <a:xfrm>
                        <a:off x="458424" y="470788"/>
                        <a:ext cx="11275153" cy="5512878"/>
                      </a:xfrm>
                      <a:prstGeom prst="rect">
                        <a:avLst/>
                      </a:prstGeom>
                    </p:spPr>
                  </p:pic>
                </p:oleObj>
              </mc:Fallback>
            </mc:AlternateContent>
          </a:graphicData>
        </a:graphic>
      </p:graphicFrame>
    </p:spTree>
    <p:extLst>
      <p:ext uri="{BB962C8B-B14F-4D97-AF65-F5344CB8AC3E}">
        <p14:creationId xmlns:p14="http://schemas.microsoft.com/office/powerpoint/2010/main" val="29485101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732218102"/>
              </p:ext>
            </p:extLst>
          </p:nvPr>
        </p:nvGraphicFramePr>
        <p:xfrm>
          <a:off x="458424" y="552981"/>
          <a:ext cx="11275153" cy="5512878"/>
        </p:xfrm>
        <a:graphic>
          <a:graphicData uri="http://schemas.openxmlformats.org/presentationml/2006/ole">
            <mc:AlternateContent xmlns:mc="http://schemas.openxmlformats.org/markup-compatibility/2006">
              <mc:Choice xmlns:v="urn:schemas-microsoft-com:vml" Requires="v">
                <p:oleObj spid="_x0000_s15379" name="文档" r:id="rId4" imgW="4510061" imgH="2205151" progId="Word.Document.12">
                  <p:embed/>
                </p:oleObj>
              </mc:Choice>
              <mc:Fallback>
                <p:oleObj name="文档" r:id="rId4" imgW="4510061" imgH="2205151" progId="Word.Document.12">
                  <p:embed/>
                  <p:pic>
                    <p:nvPicPr>
                      <p:cNvPr id="0" name=""/>
                      <p:cNvPicPr/>
                      <p:nvPr/>
                    </p:nvPicPr>
                    <p:blipFill>
                      <a:blip r:embed="rId5"/>
                      <a:stretch>
                        <a:fillRect/>
                      </a:stretch>
                    </p:blipFill>
                    <p:spPr>
                      <a:xfrm>
                        <a:off x="458424" y="552981"/>
                        <a:ext cx="11275153" cy="5512878"/>
                      </a:xfrm>
                      <a:prstGeom prst="rect">
                        <a:avLst/>
                      </a:prstGeom>
                    </p:spPr>
                  </p:pic>
                </p:oleObj>
              </mc:Fallback>
            </mc:AlternateContent>
          </a:graphicData>
        </a:graphic>
      </p:graphicFrame>
    </p:spTree>
    <p:extLst>
      <p:ext uri="{BB962C8B-B14F-4D97-AF65-F5344CB8AC3E}">
        <p14:creationId xmlns:p14="http://schemas.microsoft.com/office/powerpoint/2010/main" val="38171960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741402385"/>
              </p:ext>
            </p:extLst>
          </p:nvPr>
        </p:nvGraphicFramePr>
        <p:xfrm>
          <a:off x="458424" y="1117788"/>
          <a:ext cx="11275153" cy="4177783"/>
        </p:xfrm>
        <a:graphic>
          <a:graphicData uri="http://schemas.openxmlformats.org/presentationml/2006/ole">
            <mc:AlternateContent xmlns:mc="http://schemas.openxmlformats.org/markup-compatibility/2006">
              <mc:Choice xmlns:v="urn:schemas-microsoft-com:vml" Requires="v">
                <p:oleObj spid="_x0000_s16403" name="文档" r:id="rId4" imgW="4510061" imgH="1671113" progId="Word.Document.12">
                  <p:embed/>
                </p:oleObj>
              </mc:Choice>
              <mc:Fallback>
                <p:oleObj name="文档" r:id="rId4" imgW="4510061" imgH="1671113" progId="Word.Document.12">
                  <p:embed/>
                  <p:pic>
                    <p:nvPicPr>
                      <p:cNvPr id="0" name=""/>
                      <p:cNvPicPr/>
                      <p:nvPr/>
                    </p:nvPicPr>
                    <p:blipFill>
                      <a:blip r:embed="rId5"/>
                      <a:stretch>
                        <a:fillRect/>
                      </a:stretch>
                    </p:blipFill>
                    <p:spPr>
                      <a:xfrm>
                        <a:off x="458424" y="1117788"/>
                        <a:ext cx="11275153" cy="4177783"/>
                      </a:xfrm>
                      <a:prstGeom prst="rect">
                        <a:avLst/>
                      </a:prstGeom>
                    </p:spPr>
                  </p:pic>
                </p:oleObj>
              </mc:Fallback>
            </mc:AlternateContent>
          </a:graphicData>
        </a:graphic>
      </p:graphicFrame>
    </p:spTree>
    <p:extLst>
      <p:ext uri="{BB962C8B-B14F-4D97-AF65-F5344CB8AC3E}">
        <p14:creationId xmlns:p14="http://schemas.microsoft.com/office/powerpoint/2010/main" val="24613478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4064750220"/>
              </p:ext>
            </p:extLst>
          </p:nvPr>
        </p:nvGraphicFramePr>
        <p:xfrm>
          <a:off x="458424" y="1058886"/>
          <a:ext cx="11275153" cy="494148"/>
        </p:xfrm>
        <a:graphic>
          <a:graphicData uri="http://schemas.openxmlformats.org/presentationml/2006/ole">
            <mc:AlternateContent xmlns:mc="http://schemas.openxmlformats.org/markup-compatibility/2006">
              <mc:Choice xmlns:v="urn:schemas-microsoft-com:vml" Requires="v">
                <p:oleObj spid="_x0000_s17427" name="文档" r:id="rId4" imgW="4510061" imgH="197659" progId="Word.Document.12">
                  <p:embed/>
                </p:oleObj>
              </mc:Choice>
              <mc:Fallback>
                <p:oleObj name="文档" r:id="rId4" imgW="4510061" imgH="197659" progId="Word.Document.12">
                  <p:embed/>
                  <p:pic>
                    <p:nvPicPr>
                      <p:cNvPr id="0" name=""/>
                      <p:cNvPicPr/>
                      <p:nvPr/>
                    </p:nvPicPr>
                    <p:blipFill>
                      <a:blip r:embed="rId5"/>
                      <a:stretch>
                        <a:fillRect/>
                      </a:stretch>
                    </p:blipFill>
                    <p:spPr>
                      <a:xfrm>
                        <a:off x="458424" y="1058886"/>
                        <a:ext cx="11275153" cy="494148"/>
                      </a:xfrm>
                      <a:prstGeom prst="rect">
                        <a:avLst/>
                      </a:prstGeom>
                    </p:spPr>
                  </p:pic>
                </p:oleObj>
              </mc:Fallback>
            </mc:AlternateContent>
          </a:graphicData>
        </a:graphic>
      </p:graphicFrame>
      <p:sp>
        <p:nvSpPr>
          <p:cNvPr id="3" name="矩形 2"/>
          <p:cNvSpPr>
            <a:spLocks noChangeAspect="1"/>
          </p:cNvSpPr>
          <p:nvPr/>
        </p:nvSpPr>
        <p:spPr>
          <a:xfrm>
            <a:off x="381000" y="1553034"/>
            <a:ext cx="11430000" cy="339298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解决经验回归分析问题的一般步骤</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画散点图</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根据已知数据画出散点图</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判断变量的相关性并求出回归方程</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通过观察散点图</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直观感知两个变量是否具有相关关系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在此基础上</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利用最小二乘法求回归系数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然后写出经验回归方程</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实际应用</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依据求得的经验回归方程解决问题</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2379807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54296"/>
            <a:ext cx="11430000" cy="171252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一台机器虽使用时间较长</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但还可以使用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它按不同的转速生产出来的某机械零件有一些会有缺点</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每小时生产有缺点的零件的多少随机器运转的速度而变化</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下表为抽样试验的结果</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1400483168"/>
              </p:ext>
            </p:extLst>
          </p:nvPr>
        </p:nvGraphicFramePr>
        <p:xfrm>
          <a:off x="381000" y="2266816"/>
          <a:ext cx="11430000" cy="981456"/>
        </p:xfrm>
        <a:graphic>
          <a:graphicData uri="http://schemas.openxmlformats.org/drawingml/2006/table">
            <a:tbl>
              <a:tblPr firstRow="1" firstCol="1" bandRow="1"/>
              <a:tblGrid>
                <a:gridCol w="5197867"/>
                <a:gridCol w="1510302"/>
                <a:gridCol w="1633591"/>
                <a:gridCol w="1623316"/>
                <a:gridCol w="1464924"/>
              </a:tblGrid>
              <a:tr h="0">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转速</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转</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秒</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16</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每小时生产有缺点的零件数</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件</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
        <p:nvSpPr>
          <p:cNvPr id="4" name="矩形 3"/>
          <p:cNvSpPr>
            <a:spLocks noChangeAspect="1"/>
          </p:cNvSpPr>
          <p:nvPr/>
        </p:nvSpPr>
        <p:spPr>
          <a:xfrm>
            <a:off x="381000" y="3407838"/>
            <a:ext cx="11430000" cy="227267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对变量</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进行相关性检验</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如果</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有线性相关关系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求经验回归方程</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若实际生产中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允许每小时生产的产品中有缺点的零件最多为</a:t>
            </a:r>
            <a:r>
              <a:rPr lang="en-US" altLang="zh-CN" sz="2800">
                <a:solidFill>
                  <a:srgbClr val="000000"/>
                </a:solidFill>
                <a:latin typeface="Times New Roman" panose="02020603050405020304" pitchFamily="18" charset="0"/>
                <a:cs typeface="Times New Roman" panose="02020603050405020304" pitchFamily="18" charset="0"/>
              </a:rPr>
              <a:t>10</a:t>
            </a:r>
            <a:r>
              <a:rPr lang="zh-CN" altLang="zh-CN" sz="2800">
                <a:solidFill>
                  <a:srgbClr val="000000"/>
                </a:solidFill>
                <a:latin typeface="Times New Roman" panose="02020603050405020304" pitchFamily="18" charset="0"/>
                <a:cs typeface="Times New Roman" panose="02020603050405020304" pitchFamily="18" charset="0"/>
              </a:rPr>
              <a:t>个</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则机器的运转速度应控制在什么范围内</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3250822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4239358999"/>
              </p:ext>
            </p:extLst>
          </p:nvPr>
        </p:nvGraphicFramePr>
        <p:xfrm>
          <a:off x="458424" y="1503945"/>
          <a:ext cx="11275153" cy="4104110"/>
        </p:xfrm>
        <a:graphic>
          <a:graphicData uri="http://schemas.openxmlformats.org/presentationml/2006/ole">
            <mc:AlternateContent xmlns:mc="http://schemas.openxmlformats.org/markup-compatibility/2006">
              <mc:Choice xmlns:v="urn:schemas-microsoft-com:vml" Requires="v">
                <p:oleObj spid="_x0000_s18451" name="文档" r:id="rId4" imgW="4510061" imgH="1641644" progId="Word.Document.12">
                  <p:embed/>
                </p:oleObj>
              </mc:Choice>
              <mc:Fallback>
                <p:oleObj name="文档" r:id="rId4" imgW="4510061" imgH="1641644" progId="Word.Document.12">
                  <p:embed/>
                  <p:pic>
                    <p:nvPicPr>
                      <p:cNvPr id="0" name=""/>
                      <p:cNvPicPr/>
                      <p:nvPr/>
                    </p:nvPicPr>
                    <p:blipFill>
                      <a:blip r:embed="rId5"/>
                      <a:stretch>
                        <a:fillRect/>
                      </a:stretch>
                    </p:blipFill>
                    <p:spPr>
                      <a:xfrm>
                        <a:off x="458424" y="1503945"/>
                        <a:ext cx="11275153" cy="4104110"/>
                      </a:xfrm>
                      <a:prstGeom prst="rect">
                        <a:avLst/>
                      </a:prstGeom>
                    </p:spPr>
                  </p:pic>
                </p:oleObj>
              </mc:Fallback>
            </mc:AlternateContent>
          </a:graphicData>
        </a:graphic>
      </p:graphicFrame>
    </p:spTree>
    <p:extLst>
      <p:ext uri="{BB962C8B-B14F-4D97-AF65-F5344CB8AC3E}">
        <p14:creationId xmlns:p14="http://schemas.microsoft.com/office/powerpoint/2010/main" val="11754616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875388209"/>
              </p:ext>
            </p:extLst>
          </p:nvPr>
        </p:nvGraphicFramePr>
        <p:xfrm>
          <a:off x="458424" y="392407"/>
          <a:ext cx="11275153" cy="5587448"/>
        </p:xfrm>
        <a:graphic>
          <a:graphicData uri="http://schemas.openxmlformats.org/presentationml/2006/ole">
            <mc:AlternateContent xmlns:mc="http://schemas.openxmlformats.org/markup-compatibility/2006">
              <mc:Choice xmlns:v="urn:schemas-microsoft-com:vml" Requires="v">
                <p:oleObj spid="_x0000_s19475" name="文档" r:id="rId4" imgW="4510061" imgH="2234979" progId="Word.Document.12">
                  <p:embed/>
                </p:oleObj>
              </mc:Choice>
              <mc:Fallback>
                <p:oleObj name="文档" r:id="rId4" imgW="4510061" imgH="2234979" progId="Word.Document.12">
                  <p:embed/>
                  <p:pic>
                    <p:nvPicPr>
                      <p:cNvPr id="0" name=""/>
                      <p:cNvPicPr/>
                      <p:nvPr/>
                    </p:nvPicPr>
                    <p:blipFill>
                      <a:blip r:embed="rId5"/>
                      <a:stretch>
                        <a:fillRect/>
                      </a:stretch>
                    </p:blipFill>
                    <p:spPr>
                      <a:xfrm>
                        <a:off x="458424" y="392407"/>
                        <a:ext cx="11275153" cy="5587448"/>
                      </a:xfrm>
                      <a:prstGeom prst="rect">
                        <a:avLst/>
                      </a:prstGeom>
                    </p:spPr>
                  </p:pic>
                </p:oleObj>
              </mc:Fallback>
            </mc:AlternateContent>
          </a:graphicData>
        </a:graphic>
      </p:graphicFrame>
    </p:spTree>
    <p:extLst>
      <p:ext uri="{BB962C8B-B14F-4D97-AF65-F5344CB8AC3E}">
        <p14:creationId xmlns:p14="http://schemas.microsoft.com/office/powerpoint/2010/main" val="24350890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389912"/>
            <a:ext cx="11430000" cy="593239"/>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微软雅黑" panose="020B0503020204020204" pitchFamily="34" charset="-122"/>
                <a:cs typeface="Times New Roman" panose="02020603050405020304" pitchFamily="18" charset="0"/>
              </a:rPr>
              <a:t>专题二</a:t>
            </a:r>
            <a:r>
              <a:rPr lang="zh-CN" altLang="zh-CN" sz="2800" i="1">
                <a:solidFill>
                  <a:srgbClr val="000000"/>
                </a:solidFill>
                <a:latin typeface="Times New Roman" panose="02020603050405020304" pitchFamily="18" charset="0"/>
                <a:cs typeface="Times New Roman" panose="02020603050405020304" pitchFamily="18" charset="0"/>
              </a:rPr>
              <a:t>　</a:t>
            </a:r>
            <a:r>
              <a:rPr lang="zh-CN" altLang="zh-CN" sz="2800">
                <a:solidFill>
                  <a:srgbClr val="000000"/>
                </a:solidFill>
                <a:latin typeface="Arial" panose="020B0604020202020204" pitchFamily="34" charset="0"/>
                <a:ea typeface="微软雅黑" panose="020B0503020204020204" pitchFamily="34" charset="-122"/>
                <a:cs typeface="Times New Roman" panose="02020603050405020304" pitchFamily="18" charset="0"/>
              </a:rPr>
              <a:t>独立性检</a:t>
            </a:r>
            <a:r>
              <a:rPr lang="zh-CN" altLang="zh-CN" sz="2800" smtClean="0">
                <a:solidFill>
                  <a:srgbClr val="000000"/>
                </a:solidFill>
                <a:latin typeface="Arial" panose="020B0604020202020204" pitchFamily="34" charset="0"/>
                <a:ea typeface="微软雅黑" panose="020B0503020204020204" pitchFamily="34" charset="-122"/>
                <a:cs typeface="Times New Roman" panose="02020603050405020304" pitchFamily="18" charset="0"/>
              </a:rPr>
              <a:t>验</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5" name="矩形 4"/>
          <p:cNvSpPr>
            <a:spLocks noChangeAspect="1"/>
          </p:cNvSpPr>
          <p:nvPr/>
        </p:nvSpPr>
        <p:spPr>
          <a:xfrm>
            <a:off x="381000" y="983151"/>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为考察某种药物</a:t>
            </a:r>
            <a:r>
              <a:rPr lang="en-US" altLang="zh-CN" sz="2800" i="1">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对预防疾病</a:t>
            </a:r>
            <a:r>
              <a:rPr lang="en-US" altLang="zh-CN" sz="2800" i="1">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cs typeface="Times New Roman" panose="02020603050405020304" pitchFamily="18" charset="0"/>
              </a:rPr>
              <a:t>的效果</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进行了动物</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单位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只</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试验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得到如下列联表</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表格 5"/>
          <p:cNvGraphicFramePr>
            <a:graphicFrameLocks noGrp="1" noChangeAspect="1"/>
          </p:cNvGraphicFramePr>
          <p:nvPr>
            <p:extLst>
              <p:ext uri="{D42A27DB-BD31-4B8C-83A1-F6EECF244321}">
                <p14:modId xmlns:p14="http://schemas.microsoft.com/office/powerpoint/2010/main" val="3682958807"/>
              </p:ext>
            </p:extLst>
          </p:nvPr>
        </p:nvGraphicFramePr>
        <p:xfrm>
          <a:off x="381000" y="2146314"/>
          <a:ext cx="11430000" cy="2437258"/>
        </p:xfrm>
        <a:graphic>
          <a:graphicData uri="http://schemas.openxmlformats.org/drawingml/2006/table">
            <a:tbl>
              <a:tblPr firstRow="1" firstCol="1" bandRow="1"/>
              <a:tblGrid>
                <a:gridCol w="2857500"/>
                <a:gridCol w="2857500"/>
                <a:gridCol w="2857500"/>
                <a:gridCol w="2857500"/>
              </a:tblGrid>
              <a:tr h="0">
                <a:tc rowSpan="2">
                  <a:txBody>
                    <a:bodyPr/>
                    <a:lstStyle/>
                    <a:p>
                      <a:pPr algn="ctr">
                        <a:lnSpc>
                          <a:spcPct val="13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药物</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3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疾病</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rowSpan="2">
                  <a:txBody>
                    <a:bodyPr/>
                    <a:lstStyle/>
                    <a:p>
                      <a:pPr algn="ctr">
                        <a:lnSpc>
                          <a:spcPct val="13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vMerge="1">
                  <a:txBody>
                    <a:bodyPr/>
                    <a:lstStyle/>
                    <a:p>
                      <a:endParaRPr lang="zh-CN" altLang="en-US"/>
                    </a:p>
                  </a:txBody>
                  <a:tcPr/>
                </a:tc>
                <a:tc>
                  <a:txBody>
                    <a:bodyPr/>
                    <a:lstStyle/>
                    <a:p>
                      <a:pPr algn="ctr">
                        <a:lnSpc>
                          <a:spcPct val="13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未患病</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患病</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ltLang="en-US"/>
                    </a:p>
                  </a:txBody>
                  <a:tcPr/>
                </a:tc>
              </a:tr>
              <a:tr h="0">
                <a:tc>
                  <a:txBody>
                    <a:bodyPr/>
                    <a:lstStyle/>
                    <a:p>
                      <a:pPr algn="ctr">
                        <a:lnSpc>
                          <a:spcPct val="13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未服用</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3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服用</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150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220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3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250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400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
        <p:nvSpPr>
          <p:cNvPr id="7" name="矩形 6"/>
          <p:cNvSpPr>
            <a:spLocks noChangeAspect="1"/>
          </p:cNvSpPr>
          <p:nvPr/>
        </p:nvSpPr>
        <p:spPr>
          <a:xfrm>
            <a:off x="381000" y="4567506"/>
            <a:ext cx="11430000" cy="177279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求</a:t>
            </a:r>
            <a:r>
              <a:rPr lang="en-US" altLang="zh-CN" sz="2800" i="1">
                <a:solidFill>
                  <a:srgbClr val="000000"/>
                </a:solidFill>
                <a:latin typeface="Times New Roman" panose="02020603050405020304" pitchFamily="18" charset="0"/>
                <a:cs typeface="Times New Roman" panose="02020603050405020304" pitchFamily="18" charset="0"/>
              </a:rPr>
              <a:t>s</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t</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记未服用药物</a:t>
            </a:r>
            <a:r>
              <a:rPr lang="en-US" altLang="zh-CN" sz="2800" i="1">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的动物患疾病</a:t>
            </a:r>
            <a:r>
              <a:rPr lang="en-US" altLang="zh-CN" sz="2800" i="1">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cs typeface="Times New Roman" panose="02020603050405020304" pitchFamily="18" charset="0"/>
              </a:rPr>
              <a:t>的概率为</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给出</a:t>
            </a:r>
            <a:r>
              <a:rPr lang="en-US" altLang="zh-CN" sz="2800" i="1">
                <a:solidFill>
                  <a:srgbClr val="000000"/>
                </a:solidFill>
                <a:latin typeface="Times New Roman" panose="02020603050405020304" pitchFamily="18" charset="0"/>
                <a:cs typeface="Times New Roman" panose="02020603050405020304" pitchFamily="18" charset="0"/>
              </a:rPr>
              <a:t>p</a:t>
            </a:r>
            <a:r>
              <a:rPr lang="zh-CN" altLang="zh-CN" sz="2800">
                <a:solidFill>
                  <a:srgbClr val="000000"/>
                </a:solidFill>
                <a:latin typeface="Times New Roman" panose="02020603050405020304" pitchFamily="18" charset="0"/>
                <a:cs typeface="Times New Roman" panose="02020603050405020304" pitchFamily="18" charset="0"/>
              </a:rPr>
              <a:t>的估计值</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根据小概率值</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01</a:t>
            </a:r>
            <a:r>
              <a:rPr lang="zh-CN" altLang="zh-CN" sz="2800">
                <a:solidFill>
                  <a:srgbClr val="000000"/>
                </a:solidFill>
                <a:latin typeface="Times New Roman" panose="02020603050405020304" pitchFamily="18" charset="0"/>
                <a:cs typeface="Times New Roman" panose="02020603050405020304" pitchFamily="18" charset="0"/>
              </a:rPr>
              <a:t>的独立性检验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能否认为药物</a:t>
            </a:r>
            <a:r>
              <a:rPr lang="en-US" altLang="zh-CN" sz="2800" i="1">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对预防疾病</a:t>
            </a:r>
            <a:r>
              <a:rPr lang="en-US" altLang="zh-CN" sz="2800" i="1">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cs typeface="Times New Roman" panose="02020603050405020304" pitchFamily="18" charset="0"/>
              </a:rPr>
              <a:t>有效</a:t>
            </a:r>
            <a:r>
              <a:rPr lang="en-US" altLang="zh-CN" sz="2800"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8467487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p:cNvSpPr>
                <a:spLocks noChangeAspect="1"/>
              </p:cNvSpPr>
              <p:nvPr/>
            </p:nvSpPr>
            <p:spPr>
              <a:xfrm>
                <a:off x="381000" y="1443935"/>
                <a:ext cx="4340547" cy="1192571"/>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附</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a:solidFill>
                              <a:srgbClr val="000000"/>
                            </a:solidFill>
                            <a:latin typeface="Cambria Math" panose="02040503050406030204" pitchFamily="18" charset="0"/>
                            <a:cs typeface="Times New Roman" panose="02020603050405020304" pitchFamily="18" charset="0"/>
                          </a:rPr>
                          <m:t>𝑛</m:t>
                        </m:r>
                        <m:r>
                          <m:rPr>
                            <m:nor/>
                          </m:rPr>
                          <a:rPr lang="en-US" altLang="zh-CN" sz="2800">
                            <a:solidFill>
                              <a:srgbClr val="000000"/>
                            </a:solidFill>
                            <a:latin typeface="Times New Roman" panose="02020603050405020304" pitchFamily="18" charset="0"/>
                            <a:cs typeface="Times New Roman" panose="02020603050405020304" pitchFamily="18" charset="0"/>
                          </a:rPr>
                          <m:t>(</m:t>
                        </m:r>
                        <m:r>
                          <a:rPr lang="en-US" altLang="zh-CN" sz="2800" i="1">
                            <a:solidFill>
                              <a:srgbClr val="000000"/>
                            </a:solidFill>
                            <a:latin typeface="Cambria Math" panose="02040503050406030204" pitchFamily="18" charset="0"/>
                            <a:cs typeface="Times New Roman" panose="02020603050405020304" pitchFamily="18" charset="0"/>
                          </a:rPr>
                          <m:t>𝑎𝑑</m:t>
                        </m:r>
                        <m:r>
                          <m:rPr>
                            <m:nor/>
                          </m:rPr>
                          <a:rPr lang="en-US" altLang="zh-CN" sz="2800" i="1">
                            <a:solidFill>
                              <a:srgbClr val="000000"/>
                            </a:solidFill>
                            <a:latin typeface="Times New Roman" panose="02020603050405020304" pitchFamily="18" charset="0"/>
                            <a:cs typeface="Times New Roman" panose="02020603050405020304" pitchFamily="18" charset="0"/>
                          </a:rPr>
                          <m:t>−</m:t>
                        </m:r>
                        <m:r>
                          <a:rPr lang="en-US" altLang="zh-CN" sz="2800" i="1">
                            <a:solidFill>
                              <a:srgbClr val="000000"/>
                            </a:solidFill>
                            <a:latin typeface="Cambria Math" panose="02040503050406030204" pitchFamily="18" charset="0"/>
                            <a:cs typeface="Times New Roman" panose="02020603050405020304" pitchFamily="18" charset="0"/>
                          </a:rPr>
                          <m:t>𝑏𝑐</m:t>
                        </m:r>
                        <m:sSup>
                          <m:sSupPr>
                            <m:ctrlPr>
                              <a:rPr lang="zh-CN" altLang="zh-CN" sz="28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m:rPr>
                                <m:nor/>
                              </m:rPr>
                              <a:rPr lang="en-US" altLang="zh-CN" sz="2800">
                                <a:solidFill>
                                  <a:srgbClr val="000000"/>
                                </a:solidFill>
                                <a:latin typeface="Times New Roman" panose="02020603050405020304" pitchFamily="18" charset="0"/>
                                <a:cs typeface="Times New Roman" panose="02020603050405020304" pitchFamily="18" charset="0"/>
                              </a:rPr>
                              <m:t>)</m:t>
                            </m:r>
                          </m:e>
                          <m:sup>
                            <m:r>
                              <a:rPr lang="en-US" altLang="zh-CN" sz="2800">
                                <a:solidFill>
                                  <a:srgbClr val="000000"/>
                                </a:solidFill>
                                <a:latin typeface="Cambria Math" panose="02040503050406030204" pitchFamily="18" charset="0"/>
                                <a:cs typeface="Times New Roman" panose="02020603050405020304" pitchFamily="18" charset="0"/>
                              </a:rPr>
                              <m:t>2</m:t>
                            </m:r>
                          </m:sup>
                        </m:sSup>
                      </m:num>
                      <m:den>
                        <m:r>
                          <m:rPr>
                            <m:nor/>
                          </m:rPr>
                          <a:rPr lang="en-US" altLang="zh-CN" sz="2800">
                            <a:solidFill>
                              <a:srgbClr val="000000"/>
                            </a:solidFill>
                            <a:latin typeface="Times New Roman" panose="02020603050405020304" pitchFamily="18" charset="0"/>
                            <a:cs typeface="Times New Roman" panose="02020603050405020304" pitchFamily="18" charset="0"/>
                          </a:rPr>
                          <m:t>(</m:t>
                        </m:r>
                        <m:r>
                          <a:rPr lang="en-US" altLang="zh-CN" sz="2800" i="1">
                            <a:solidFill>
                              <a:srgbClr val="000000"/>
                            </a:solidFill>
                            <a:latin typeface="Cambria Math" panose="02040503050406030204" pitchFamily="18" charset="0"/>
                            <a:cs typeface="Times New Roman" panose="02020603050405020304" pitchFamily="18" charset="0"/>
                          </a:rPr>
                          <m:t>𝑎</m:t>
                        </m:r>
                        <m:r>
                          <a:rPr lang="en-US" altLang="zh-CN" sz="2800">
                            <a:solidFill>
                              <a:srgbClr val="000000"/>
                            </a:solidFill>
                            <a:latin typeface="Cambria Math" panose="02040503050406030204" pitchFamily="18" charset="0"/>
                            <a:cs typeface="Times New Roman" panose="02020603050405020304" pitchFamily="18" charset="0"/>
                          </a:rPr>
                          <m:t>+</m:t>
                        </m:r>
                        <m:r>
                          <a:rPr lang="en-US" altLang="zh-CN" sz="2800" i="1">
                            <a:solidFill>
                              <a:srgbClr val="000000"/>
                            </a:solidFill>
                            <a:latin typeface="Cambria Math" panose="02040503050406030204" pitchFamily="18" charset="0"/>
                            <a:cs typeface="Times New Roman" panose="02020603050405020304" pitchFamily="18" charset="0"/>
                          </a:rPr>
                          <m:t>𝑏</m:t>
                        </m:r>
                        <m:r>
                          <m:rPr>
                            <m:nor/>
                          </m:rPr>
                          <a:rPr lang="en-US" altLang="zh-CN" sz="2800">
                            <a:solidFill>
                              <a:srgbClr val="000000"/>
                            </a:solidFill>
                            <a:latin typeface="Times New Roman" panose="02020603050405020304" pitchFamily="18" charset="0"/>
                            <a:cs typeface="Times New Roman" panose="02020603050405020304" pitchFamily="18" charset="0"/>
                          </a:rPr>
                          <m:t>)(</m:t>
                        </m:r>
                        <m:r>
                          <a:rPr lang="en-US" altLang="zh-CN" sz="2800" i="1">
                            <a:solidFill>
                              <a:srgbClr val="000000"/>
                            </a:solidFill>
                            <a:latin typeface="Cambria Math" panose="02040503050406030204" pitchFamily="18" charset="0"/>
                            <a:cs typeface="Times New Roman" panose="02020603050405020304" pitchFamily="18" charset="0"/>
                          </a:rPr>
                          <m:t>𝑐</m:t>
                        </m:r>
                        <m:r>
                          <a:rPr lang="en-US" altLang="zh-CN" sz="2800">
                            <a:solidFill>
                              <a:srgbClr val="000000"/>
                            </a:solidFill>
                            <a:latin typeface="Cambria Math" panose="02040503050406030204" pitchFamily="18" charset="0"/>
                            <a:cs typeface="Times New Roman" panose="02020603050405020304" pitchFamily="18" charset="0"/>
                          </a:rPr>
                          <m:t>+</m:t>
                        </m:r>
                        <m:r>
                          <a:rPr lang="en-US" altLang="zh-CN" sz="2800" i="1">
                            <a:solidFill>
                              <a:srgbClr val="000000"/>
                            </a:solidFill>
                            <a:latin typeface="Cambria Math" panose="02040503050406030204" pitchFamily="18" charset="0"/>
                            <a:cs typeface="Times New Roman" panose="02020603050405020304" pitchFamily="18" charset="0"/>
                          </a:rPr>
                          <m:t>𝑑</m:t>
                        </m:r>
                        <m:r>
                          <m:rPr>
                            <m:nor/>
                          </m:rPr>
                          <a:rPr lang="en-US" altLang="zh-CN" sz="2800">
                            <a:solidFill>
                              <a:srgbClr val="000000"/>
                            </a:solidFill>
                            <a:latin typeface="Times New Roman" panose="02020603050405020304" pitchFamily="18" charset="0"/>
                            <a:cs typeface="Times New Roman" panose="02020603050405020304" pitchFamily="18" charset="0"/>
                          </a:rPr>
                          <m:t>)(</m:t>
                        </m:r>
                        <m:r>
                          <a:rPr lang="en-US" altLang="zh-CN" sz="2800" i="1">
                            <a:solidFill>
                              <a:srgbClr val="000000"/>
                            </a:solidFill>
                            <a:latin typeface="Cambria Math" panose="02040503050406030204" pitchFamily="18" charset="0"/>
                            <a:cs typeface="Times New Roman" panose="02020603050405020304" pitchFamily="18" charset="0"/>
                          </a:rPr>
                          <m:t>𝑎</m:t>
                        </m:r>
                        <m:r>
                          <a:rPr lang="en-US" altLang="zh-CN" sz="2800">
                            <a:solidFill>
                              <a:srgbClr val="000000"/>
                            </a:solidFill>
                            <a:latin typeface="Cambria Math" panose="02040503050406030204" pitchFamily="18" charset="0"/>
                            <a:cs typeface="Times New Roman" panose="02020603050405020304" pitchFamily="18" charset="0"/>
                          </a:rPr>
                          <m:t>+</m:t>
                        </m:r>
                        <m:r>
                          <a:rPr lang="en-US" altLang="zh-CN" sz="2800" i="1">
                            <a:solidFill>
                              <a:srgbClr val="000000"/>
                            </a:solidFill>
                            <a:latin typeface="Cambria Math" panose="02040503050406030204" pitchFamily="18" charset="0"/>
                            <a:cs typeface="Times New Roman" panose="02020603050405020304" pitchFamily="18" charset="0"/>
                          </a:rPr>
                          <m:t>𝑐</m:t>
                        </m:r>
                        <m:r>
                          <m:rPr>
                            <m:nor/>
                          </m:rPr>
                          <a:rPr lang="en-US" altLang="zh-CN" sz="2800">
                            <a:solidFill>
                              <a:srgbClr val="000000"/>
                            </a:solidFill>
                            <a:latin typeface="Times New Roman" panose="02020603050405020304" pitchFamily="18" charset="0"/>
                            <a:cs typeface="Times New Roman" panose="02020603050405020304" pitchFamily="18" charset="0"/>
                          </a:rPr>
                          <m:t>)(</m:t>
                        </m:r>
                        <m:r>
                          <a:rPr lang="en-US" altLang="zh-CN" sz="2800" i="1">
                            <a:solidFill>
                              <a:srgbClr val="000000"/>
                            </a:solidFill>
                            <a:latin typeface="Cambria Math" panose="02040503050406030204" pitchFamily="18" charset="0"/>
                            <a:cs typeface="Times New Roman" panose="02020603050405020304" pitchFamily="18" charset="0"/>
                          </a:rPr>
                          <m:t>𝑏</m:t>
                        </m:r>
                        <m:r>
                          <a:rPr lang="en-US" altLang="zh-CN" sz="2800">
                            <a:solidFill>
                              <a:srgbClr val="000000"/>
                            </a:solidFill>
                            <a:latin typeface="Cambria Math" panose="02040503050406030204" pitchFamily="18" charset="0"/>
                            <a:cs typeface="Times New Roman" panose="02020603050405020304" pitchFamily="18" charset="0"/>
                          </a:rPr>
                          <m:t>+</m:t>
                        </m:r>
                        <m:r>
                          <a:rPr lang="en-US" altLang="zh-CN" sz="2800" i="1">
                            <a:solidFill>
                              <a:srgbClr val="000000"/>
                            </a:solidFill>
                            <a:latin typeface="Cambria Math" panose="02040503050406030204" pitchFamily="18" charset="0"/>
                            <a:cs typeface="Times New Roman" panose="02020603050405020304" pitchFamily="18" charset="0"/>
                          </a:rPr>
                          <m:t>𝑑</m:t>
                        </m:r>
                        <m:r>
                          <m:rPr>
                            <m:nor/>
                          </m:rPr>
                          <a:rPr lang="en-US" altLang="zh-CN" sz="2800">
                            <a:solidFill>
                              <a:srgbClr val="000000"/>
                            </a:solidFill>
                            <a:latin typeface="Times New Roman" panose="02020603050405020304" pitchFamily="18" charset="0"/>
                            <a:cs typeface="Times New Roman" panose="02020603050405020304" pitchFamily="18" charset="0"/>
                          </a:rPr>
                          <m:t>)</m:t>
                        </m:r>
                      </m:den>
                    </m:f>
                  </m:oMath>
                </a14:m>
                <a:r>
                  <a:rPr lang="en-US" altLang="zh-CN" sz="2800" i="1" smtClean="0">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mc:Choice>
        <mc:Fallback xmlns="">
          <p:sp>
            <p:nvSpPr>
              <p:cNvPr id="2" name="矩形 1"/>
              <p:cNvSpPr>
                <a:spLocks noRot="1" noChangeAspect="1" noMove="1" noResize="1" noEditPoints="1" noAdjustHandles="1" noChangeArrowheads="1" noChangeShapeType="1" noTextEdit="1"/>
              </p:cNvSpPr>
              <p:nvPr/>
            </p:nvSpPr>
            <p:spPr>
              <a:xfrm>
                <a:off x="381000" y="1443935"/>
                <a:ext cx="4340547" cy="1192571"/>
              </a:xfrm>
              <a:prstGeom prst="rect">
                <a:avLst/>
              </a:prstGeom>
              <a:blipFill rotWithShape="0">
                <a:blip r:embed="rId2"/>
                <a:stretch>
                  <a:fillRect l="-2949" r="-1826"/>
                </a:stretch>
              </a:blipFill>
            </p:spPr>
            <p:txBody>
              <a:bodyPr/>
              <a:lstStyle/>
              <a:p>
                <a:r>
                  <a:rPr lang="zh-CN" altLang="en-US">
                    <a:noFill/>
                  </a:rPr>
                  <a:t> </a:t>
                </a:r>
              </a:p>
            </p:txBody>
          </p:sp>
        </mc:Fallback>
      </mc:AlternateContent>
      <p:graphicFrame>
        <p:nvGraphicFramePr>
          <p:cNvPr id="3" name="表格 2"/>
          <p:cNvGraphicFramePr>
            <a:graphicFrameLocks noGrp="1" noChangeAspect="1"/>
          </p:cNvGraphicFramePr>
          <p:nvPr>
            <p:extLst>
              <p:ext uri="{D42A27DB-BD31-4B8C-83A1-F6EECF244321}">
                <p14:modId xmlns:p14="http://schemas.microsoft.com/office/powerpoint/2010/main" val="2538630932"/>
              </p:ext>
            </p:extLst>
          </p:nvPr>
        </p:nvGraphicFramePr>
        <p:xfrm>
          <a:off x="381000" y="2763097"/>
          <a:ext cx="11430000" cy="990092"/>
        </p:xfrm>
        <a:graphic>
          <a:graphicData uri="http://schemas.openxmlformats.org/drawingml/2006/table">
            <a:tbl>
              <a:tblPr firstRow="1" firstCol="1" bandRow="1"/>
              <a:tblGrid>
                <a:gridCol w="2857500"/>
                <a:gridCol w="2857500"/>
                <a:gridCol w="2857500"/>
                <a:gridCol w="2857500"/>
              </a:tblGrid>
              <a:tr h="0">
                <a:tc>
                  <a:txBody>
                    <a:bodyPr/>
                    <a:lstStyle/>
                    <a:p>
                      <a:pPr algn="ctr">
                        <a:lnSpc>
                          <a:spcPct val="130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050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010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001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30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sz="2800" i="1" baseline="-2500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841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635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828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7229486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矩形 3"/>
              <p:cNvSpPr>
                <a:spLocks noChangeAspect="1"/>
              </p:cNvSpPr>
              <p:nvPr/>
            </p:nvSpPr>
            <p:spPr>
              <a:xfrm>
                <a:off x="381000" y="228285"/>
                <a:ext cx="11430000" cy="2508379"/>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由表格信息可知</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s=</a:t>
                </a:r>
                <a:r>
                  <a:rPr lang="en-US" altLang="zh-CN" sz="2800">
                    <a:solidFill>
                      <a:srgbClr val="000000"/>
                    </a:solidFill>
                    <a:latin typeface="Times New Roman" panose="02020603050405020304" pitchFamily="18" charset="0"/>
                    <a:cs typeface="Times New Roman" panose="02020603050405020304" pitchFamily="18" charset="0"/>
                  </a:rPr>
                  <a:t>100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180,</a:t>
                </a:r>
                <a:r>
                  <a:rPr lang="en-US" altLang="zh-CN" sz="2800" i="1">
                    <a:solidFill>
                      <a:srgbClr val="000000"/>
                    </a:solidFill>
                    <a:latin typeface="Times New Roman" panose="02020603050405020304" pitchFamily="18" charset="0"/>
                    <a:cs typeface="Times New Roman" panose="02020603050405020304" pitchFamily="18" charset="0"/>
                  </a:rPr>
                  <a:t>t=</a:t>
                </a:r>
                <a:r>
                  <a:rPr lang="en-US" altLang="zh-CN" sz="2800">
                    <a:solidFill>
                      <a:srgbClr val="000000"/>
                    </a:solidFill>
                    <a:latin typeface="Times New Roman" panose="02020603050405020304" pitchFamily="18" charset="0"/>
                    <a:cs typeface="Times New Roman" panose="02020603050405020304" pitchFamily="18" charset="0"/>
                  </a:rPr>
                  <a:t>80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70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150</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由表格信息可知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未服用药物</a:t>
                </a:r>
                <a:r>
                  <a:rPr lang="en-US" altLang="zh-CN" sz="2800" i="1">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的动物共计</a:t>
                </a:r>
                <a:r>
                  <a:rPr lang="en-US" altLang="zh-CN" sz="2800">
                    <a:solidFill>
                      <a:srgbClr val="000000"/>
                    </a:solidFill>
                    <a:latin typeface="Times New Roman" panose="02020603050405020304" pitchFamily="18" charset="0"/>
                    <a:cs typeface="Times New Roman" panose="02020603050405020304" pitchFamily="18" charset="0"/>
                  </a:rPr>
                  <a:t>180</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只</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其中患疾病</a:t>
                </a:r>
                <a:r>
                  <a:rPr lang="en-US" altLang="zh-CN" sz="2800" i="1">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的有</a:t>
                </a:r>
                <a:r>
                  <a:rPr lang="en-US" altLang="zh-CN" sz="2800">
                    <a:solidFill>
                      <a:srgbClr val="000000"/>
                    </a:solidFill>
                    <a:latin typeface="Times New Roman" panose="02020603050405020304" pitchFamily="18" charset="0"/>
                    <a:cs typeface="Times New Roman" panose="02020603050405020304" pitchFamily="18" charset="0"/>
                  </a:rPr>
                  <a:t>80</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只</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a:solidFill>
                      <a:srgbClr val="000000"/>
                    </a:solidFill>
                    <a:latin typeface="Times New Roman" panose="02020603050405020304" pitchFamily="18" charset="0"/>
                    <a:cs typeface="Times New Roman" panose="02020603050405020304" pitchFamily="18" charset="0"/>
                  </a:rPr>
                  <a:t>p=</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80</m:t>
                        </m:r>
                      </m:num>
                      <m:den>
                        <m:r>
                          <a:rPr lang="en-US" altLang="zh-CN" sz="2800">
                            <a:solidFill>
                              <a:srgbClr val="000000"/>
                            </a:solidFill>
                            <a:latin typeface="Cambria Math" panose="02040503050406030204" pitchFamily="18" charset="0"/>
                            <a:cs typeface="Times New Roman" panose="02020603050405020304" pitchFamily="18" charset="0"/>
                          </a:rPr>
                          <m:t>180</m:t>
                        </m:r>
                      </m:den>
                    </m:f>
                    <m:r>
                      <a:rPr lang="en-US" altLang="zh-CN" sz="2800" i="1">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4</m:t>
                        </m:r>
                      </m:num>
                      <m:den>
                        <m:r>
                          <a:rPr lang="en-US" altLang="zh-CN" sz="2800">
                            <a:solidFill>
                              <a:srgbClr val="000000"/>
                            </a:solidFill>
                            <a:latin typeface="Cambria Math" panose="02040503050406030204" pitchFamily="18" charset="0"/>
                            <a:cs typeface="Times New Roman" panose="02020603050405020304" pitchFamily="18" charset="0"/>
                          </a:rPr>
                          <m:t>9</m:t>
                        </m:r>
                      </m:den>
                    </m:f>
                  </m:oMath>
                </a14:m>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补全</a:t>
                </a:r>
                <a:r>
                  <a:rPr lang="en-US" altLang="zh-CN" sz="2800">
                    <a:solidFill>
                      <a:srgbClr val="000000"/>
                    </a:solidFill>
                    <a:latin typeface="Times New Roman" panose="02020603050405020304" pitchFamily="18" charset="0"/>
                    <a:cs typeface="Times New Roman" panose="02020603050405020304" pitchFamily="18" charset="0"/>
                  </a:rPr>
                  <a:t>2×2</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列联表如下</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xmlns="">
          <p:sp>
            <p:nvSpPr>
              <p:cNvPr id="4" name="矩形 3"/>
              <p:cNvSpPr>
                <a:spLocks noRot="1" noChangeAspect="1" noMove="1" noResize="1" noEditPoints="1" noAdjustHandles="1" noChangeArrowheads="1" noChangeShapeType="1" noTextEdit="1"/>
              </p:cNvSpPr>
              <p:nvPr/>
            </p:nvSpPr>
            <p:spPr>
              <a:xfrm>
                <a:off x="381000" y="228285"/>
                <a:ext cx="11430000" cy="2508379"/>
              </a:xfrm>
              <a:prstGeom prst="rect">
                <a:avLst/>
              </a:prstGeom>
              <a:blipFill rotWithShape="0">
                <a:blip r:embed="rId2"/>
                <a:stretch>
                  <a:fillRect l="-1120" t="-485" r="-1067" b="-6068"/>
                </a:stretch>
              </a:blipFill>
            </p:spPr>
            <p:txBody>
              <a:bodyPr/>
              <a:lstStyle/>
              <a:p>
                <a:r>
                  <a:rPr lang="zh-CN" altLang="en-US">
                    <a:noFill/>
                  </a:rPr>
                  <a:t> </a:t>
                </a:r>
              </a:p>
            </p:txBody>
          </p:sp>
        </mc:Fallback>
      </mc:AlternateContent>
      <p:graphicFrame>
        <p:nvGraphicFramePr>
          <p:cNvPr id="5" name="表格 4"/>
          <p:cNvGraphicFramePr>
            <a:graphicFrameLocks noGrp="1" noChangeAspect="1"/>
          </p:cNvGraphicFramePr>
          <p:nvPr>
            <p:extLst>
              <p:ext uri="{D42A27DB-BD31-4B8C-83A1-F6EECF244321}">
                <p14:modId xmlns:p14="http://schemas.microsoft.com/office/powerpoint/2010/main" val="836896819"/>
              </p:ext>
            </p:extLst>
          </p:nvPr>
        </p:nvGraphicFramePr>
        <p:xfrm>
          <a:off x="381000" y="2736664"/>
          <a:ext cx="11430000" cy="2437258"/>
        </p:xfrm>
        <a:graphic>
          <a:graphicData uri="http://schemas.openxmlformats.org/drawingml/2006/table">
            <a:tbl>
              <a:tblPr firstRow="1" firstCol="1" bandRow="1"/>
              <a:tblGrid>
                <a:gridCol w="2857500"/>
                <a:gridCol w="2857500"/>
                <a:gridCol w="2857500"/>
                <a:gridCol w="2857500"/>
              </a:tblGrid>
              <a:tr h="0">
                <a:tc rowSpan="2">
                  <a:txBody>
                    <a:bodyPr/>
                    <a:lstStyle/>
                    <a:p>
                      <a:pPr>
                        <a:lnSpc>
                          <a:spcPct val="13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药物</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nSpc>
                          <a:spcPct val="13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疾病</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rowSpan="2">
                  <a:txBody>
                    <a:bodyPr/>
                    <a:lstStyle/>
                    <a:p>
                      <a:pPr>
                        <a:lnSpc>
                          <a:spcPct val="13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vMerge="1">
                  <a:txBody>
                    <a:bodyPr/>
                    <a:lstStyle/>
                    <a:p>
                      <a:endParaRPr lang="zh-CN" altLang="en-US"/>
                    </a:p>
                  </a:txBody>
                  <a:tcPr/>
                </a:tc>
                <a:tc>
                  <a:txBody>
                    <a:bodyPr/>
                    <a:lstStyle/>
                    <a:p>
                      <a:pPr>
                        <a:lnSpc>
                          <a:spcPct val="13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未患病</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3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患病</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ltLang="en-US"/>
                    </a:p>
                  </a:txBody>
                  <a:tcPr/>
                </a:tc>
              </a:tr>
              <a:tr h="0">
                <a:tc>
                  <a:txBody>
                    <a:bodyPr/>
                    <a:lstStyle/>
                    <a:p>
                      <a:pPr>
                        <a:lnSpc>
                          <a:spcPct val="13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未服用</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180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nSpc>
                          <a:spcPct val="13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服用</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150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220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nSpc>
                          <a:spcPct val="13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250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150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400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0871080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p:cNvSpPr>
                <a:spLocks noChangeAspect="1"/>
              </p:cNvSpPr>
              <p:nvPr/>
            </p:nvSpPr>
            <p:spPr>
              <a:xfrm>
                <a:off x="381000" y="1563243"/>
                <a:ext cx="11430000" cy="271523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零假设</a:t>
                </a:r>
                <a:r>
                  <a:rPr lang="en-US" altLang="zh-CN" sz="2800" i="1">
                    <a:solidFill>
                      <a:srgbClr val="000000"/>
                    </a:solidFill>
                    <a:latin typeface="Times New Roman" panose="02020603050405020304" pitchFamily="18" charset="0"/>
                    <a:cs typeface="Times New Roman" panose="02020603050405020304" pitchFamily="18" charset="0"/>
                  </a:rPr>
                  <a:t>H</a:t>
                </a:r>
                <a:r>
                  <a:rPr lang="en-US" altLang="zh-CN" sz="2800" baseline="-25000">
                    <a:solidFill>
                      <a:srgbClr val="000000"/>
                    </a:solidFill>
                    <a:latin typeface="Times New Roman" panose="02020603050405020304" pitchFamily="18" charset="0"/>
                    <a:cs typeface="Times New Roman" panose="02020603050405020304" pitchFamily="18" charset="0"/>
                  </a:rPr>
                  <a:t>0</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药物</a:t>
                </a:r>
                <a:r>
                  <a:rPr lang="en-US" altLang="zh-CN" sz="2800" i="1">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对预防疾病</a:t>
                </a:r>
                <a:r>
                  <a:rPr lang="en-US" altLang="zh-CN" sz="2800" i="1">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无效</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400×</m:t>
                        </m:r>
                        <m:r>
                          <m:rPr>
                            <m:nor/>
                          </m:rPr>
                          <a:rPr lang="en-US" altLang="zh-CN" sz="2800">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100×70</m:t>
                        </m:r>
                        <m:r>
                          <m:rPr>
                            <m:nor/>
                          </m:rPr>
                          <a:rPr lang="en-US" altLang="zh-CN" sz="2800" i="1">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150×80</m:t>
                        </m:r>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m:rPr>
                                <m:nor/>
                              </m:rPr>
                              <a:rPr lang="en-US" altLang="zh-CN" sz="2800">
                                <a:solidFill>
                                  <a:srgbClr val="000000"/>
                                </a:solidFill>
                                <a:latin typeface="Times New Roman" panose="02020603050405020304" pitchFamily="18" charset="0"/>
                                <a:cs typeface="Times New Roman" panose="02020603050405020304" pitchFamily="18" charset="0"/>
                              </a:rPr>
                              <m:t>)</m:t>
                            </m:r>
                          </m:e>
                          <m:sup>
                            <m:r>
                              <a:rPr lang="en-US" altLang="zh-CN" sz="2800">
                                <a:solidFill>
                                  <a:srgbClr val="000000"/>
                                </a:solidFill>
                                <a:latin typeface="Cambria Math" panose="02040503050406030204" pitchFamily="18" charset="0"/>
                                <a:cs typeface="Times New Roman" panose="02020603050405020304" pitchFamily="18" charset="0"/>
                              </a:rPr>
                              <m:t>2</m:t>
                            </m:r>
                          </m:sup>
                        </m:sSup>
                      </m:num>
                      <m:den>
                        <m:r>
                          <a:rPr lang="en-US" altLang="zh-CN" sz="2800">
                            <a:solidFill>
                              <a:srgbClr val="000000"/>
                            </a:solidFill>
                            <a:latin typeface="Cambria Math" panose="02040503050406030204" pitchFamily="18" charset="0"/>
                            <a:cs typeface="Times New Roman" panose="02020603050405020304" pitchFamily="18" charset="0"/>
                          </a:rPr>
                          <m:t>250×150×180×220</m:t>
                        </m:r>
                      </m:den>
                    </m:f>
                  </m:oMath>
                </a14:m>
                <a:r>
                  <a:rPr lang="en-US" altLang="zh-CN" sz="2800">
                    <a:solidFill>
                      <a:srgbClr val="000000"/>
                    </a:solidFill>
                    <a:latin typeface="Times New Roman" panose="02020603050405020304" pitchFamily="18" charset="0"/>
                    <a:cs typeface="Times New Roman" panose="02020603050405020304" pitchFamily="18" charset="0"/>
                  </a:rPr>
                  <a:t>≈6</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734</a:t>
                </a:r>
                <a:r>
                  <a:rPr lang="en-US" altLang="zh-CN" sz="2800" i="1">
                    <a:solidFill>
                      <a:srgbClr val="000000"/>
                    </a:solidFill>
                    <a:latin typeface="Times New Roman" panose="02020603050405020304" pitchFamily="18" charset="0"/>
                    <a:cs typeface="Times New Roman" panose="02020603050405020304" pitchFamily="18" charset="0"/>
                  </a:rPr>
                  <a:t>&gt;</a:t>
                </a:r>
                <a:r>
                  <a:rPr lang="en-US" altLang="zh-CN" sz="2800">
                    <a:solidFill>
                      <a:srgbClr val="000000"/>
                    </a:solidFill>
                    <a:latin typeface="Times New Roman" panose="02020603050405020304" pitchFamily="18" charset="0"/>
                    <a:cs typeface="Times New Roman" panose="02020603050405020304" pitchFamily="18" charset="0"/>
                  </a:rPr>
                  <a:t>6</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635</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根据小概率值</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01</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的独立性检验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我们推断</a:t>
                </a:r>
                <a:r>
                  <a:rPr lang="en-US" altLang="zh-CN" sz="2800" i="1">
                    <a:solidFill>
                      <a:srgbClr val="000000"/>
                    </a:solidFill>
                    <a:latin typeface="Times New Roman" panose="02020603050405020304" pitchFamily="18" charset="0"/>
                    <a:cs typeface="Times New Roman" panose="02020603050405020304" pitchFamily="18" charset="0"/>
                  </a:rPr>
                  <a:t>H</a:t>
                </a:r>
                <a:r>
                  <a:rPr lang="en-US" altLang="zh-CN" sz="2800" baseline="-250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不成立</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即认为药物</a:t>
                </a:r>
                <a:r>
                  <a:rPr lang="en-US" altLang="zh-CN" sz="2800" i="1">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对预防疾病</a:t>
                </a:r>
                <a:r>
                  <a:rPr lang="en-US" altLang="zh-CN" sz="2800" i="1">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有效</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此推断犯错的概率不超过</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01</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xmlns="">
          <p:sp>
            <p:nvSpPr>
              <p:cNvPr id="2" name="矩形 1"/>
              <p:cNvSpPr>
                <a:spLocks noRot="1" noChangeAspect="1" noMove="1" noResize="1" noEditPoints="1" noAdjustHandles="1" noChangeArrowheads="1" noChangeShapeType="1" noTextEdit="1"/>
              </p:cNvSpPr>
              <p:nvPr/>
            </p:nvSpPr>
            <p:spPr>
              <a:xfrm>
                <a:off x="381000" y="1563243"/>
                <a:ext cx="11430000" cy="2715230"/>
              </a:xfrm>
              <a:prstGeom prst="rect">
                <a:avLst/>
              </a:prstGeom>
              <a:blipFill rotWithShape="0">
                <a:blip r:embed="rId2"/>
                <a:stretch>
                  <a:fillRect l="-1120" t="-448" b="-538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328273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480014751"/>
              </p:ext>
            </p:extLst>
          </p:nvPr>
        </p:nvGraphicFramePr>
        <p:xfrm>
          <a:off x="458424" y="1223272"/>
          <a:ext cx="11275153" cy="494148"/>
        </p:xfrm>
        <a:graphic>
          <a:graphicData uri="http://schemas.openxmlformats.org/presentationml/2006/ole">
            <mc:AlternateContent xmlns:mc="http://schemas.openxmlformats.org/markup-compatibility/2006">
              <mc:Choice xmlns:v="urn:schemas-microsoft-com:vml" Requires="v">
                <p:oleObj spid="_x0000_s21540" name="文档" r:id="rId4" imgW="4510061" imgH="197659" progId="Word.Document.12">
                  <p:embed/>
                </p:oleObj>
              </mc:Choice>
              <mc:Fallback>
                <p:oleObj name="文档" r:id="rId4" imgW="4510061" imgH="197659" progId="Word.Document.12">
                  <p:embed/>
                  <p:pic>
                    <p:nvPicPr>
                      <p:cNvPr id="0" name=""/>
                      <p:cNvPicPr/>
                      <p:nvPr/>
                    </p:nvPicPr>
                    <p:blipFill>
                      <a:blip r:embed="rId5"/>
                      <a:stretch>
                        <a:fillRect/>
                      </a:stretch>
                    </p:blipFill>
                    <p:spPr>
                      <a:xfrm>
                        <a:off x="458424" y="1223272"/>
                        <a:ext cx="11275153" cy="494148"/>
                      </a:xfrm>
                      <a:prstGeom prst="rect">
                        <a:avLst/>
                      </a:prstGeom>
                    </p:spPr>
                  </p:pic>
                </p:oleObj>
              </mc:Fallback>
            </mc:AlternateContent>
          </a:graphicData>
        </a:graphic>
      </p:graphicFrame>
      <p:sp>
        <p:nvSpPr>
          <p:cNvPr id="3" name="矩形 2"/>
          <p:cNvSpPr>
            <a:spLocks noChangeAspect="1"/>
          </p:cNvSpPr>
          <p:nvPr/>
        </p:nvSpPr>
        <p:spPr>
          <a:xfrm>
            <a:off x="381000" y="1933044"/>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独立性检验问题的求解方法</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等高堆积条形图法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依据题目信息画出等高堆积条形图</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依据频率差异来粗略地判断两个变量的相关性</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统计量法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通过</a:t>
            </a:r>
            <a:r>
              <a:rPr lang="zh-CN" altLang="zh-CN" sz="2800" smtClean="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公式</a:t>
            </a:r>
            <a:r>
              <a:rPr lang="en-US" altLang="zh-CN" sz="2800" smtClean="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                                     </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先计算</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再与临界值表进行比较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最后得出结论</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572836496"/>
              </p:ext>
            </p:extLst>
          </p:nvPr>
        </p:nvGraphicFramePr>
        <p:xfrm>
          <a:off x="4207267" y="3379594"/>
          <a:ext cx="3597275" cy="998537"/>
        </p:xfrm>
        <a:graphic>
          <a:graphicData uri="http://schemas.openxmlformats.org/presentationml/2006/ole">
            <mc:AlternateContent xmlns:mc="http://schemas.openxmlformats.org/markup-compatibility/2006">
              <mc:Choice xmlns:v="urn:schemas-microsoft-com:vml" Requires="v">
                <p:oleObj spid="_x0000_s21541" name="文档" r:id="rId7" imgW="1458514" imgH="400348" progId="Word.Document.12">
                  <p:embed/>
                </p:oleObj>
              </mc:Choice>
              <mc:Fallback>
                <p:oleObj name="文档" r:id="rId7" imgW="1458514" imgH="400348" progId="Word.Document.12">
                  <p:embed/>
                  <p:pic>
                    <p:nvPicPr>
                      <p:cNvPr id="0" name=""/>
                      <p:cNvPicPr/>
                      <p:nvPr/>
                    </p:nvPicPr>
                    <p:blipFill>
                      <a:blip r:embed="rId8"/>
                      <a:stretch>
                        <a:fillRect/>
                      </a:stretch>
                    </p:blipFill>
                    <p:spPr>
                      <a:xfrm>
                        <a:off x="4207267" y="3379594"/>
                        <a:ext cx="3597275" cy="998537"/>
                      </a:xfrm>
                      <a:prstGeom prst="rect">
                        <a:avLst/>
                      </a:prstGeom>
                    </p:spPr>
                  </p:pic>
                </p:oleObj>
              </mc:Fallback>
            </mc:AlternateContent>
          </a:graphicData>
        </a:graphic>
      </p:graphicFrame>
    </p:spTree>
    <p:extLst>
      <p:ext uri="{BB962C8B-B14F-4D97-AF65-F5344CB8AC3E}">
        <p14:creationId xmlns:p14="http://schemas.microsoft.com/office/powerpoint/2010/main" val="22958640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53672"/>
            <a:ext cx="11430000" cy="227267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某电视台为了解某地区电视观众对某类体育节目的收视情况</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随机抽取了</a:t>
            </a:r>
            <a:r>
              <a:rPr lang="en-US" altLang="zh-CN" sz="2800">
                <a:solidFill>
                  <a:srgbClr val="000000"/>
                </a:solidFill>
                <a:latin typeface="Times New Roman" panose="02020603050405020304" pitchFamily="18" charset="0"/>
                <a:cs typeface="Times New Roman" panose="02020603050405020304" pitchFamily="18" charset="0"/>
              </a:rPr>
              <a:t>100</a:t>
            </a:r>
            <a:r>
              <a:rPr lang="zh-CN" altLang="zh-CN" sz="2800">
                <a:solidFill>
                  <a:srgbClr val="000000"/>
                </a:solidFill>
                <a:latin typeface="Times New Roman" panose="02020603050405020304" pitchFamily="18" charset="0"/>
                <a:cs typeface="Times New Roman" panose="02020603050405020304" pitchFamily="18" charset="0"/>
              </a:rPr>
              <a:t>名观众进行调查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下面是根据调查结果绘制的观众日均收看该体育节目时间的频率分布直方图</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将日均收看该体育节目时间不低于</a:t>
            </a:r>
            <a:r>
              <a:rPr lang="en-US" altLang="zh-CN" sz="2800">
                <a:solidFill>
                  <a:srgbClr val="000000"/>
                </a:solidFill>
                <a:latin typeface="Times New Roman" panose="02020603050405020304" pitchFamily="18" charset="0"/>
                <a:cs typeface="Times New Roman" panose="02020603050405020304" pitchFamily="18" charset="0"/>
              </a:rPr>
              <a:t>40</a:t>
            </a:r>
            <a:r>
              <a:rPr lang="zh-CN" altLang="zh-CN" sz="2800">
                <a:solidFill>
                  <a:srgbClr val="000000"/>
                </a:solidFill>
                <a:latin typeface="Times New Roman" panose="02020603050405020304" pitchFamily="18" charset="0"/>
                <a:cs typeface="Times New Roman" panose="02020603050405020304" pitchFamily="18" charset="0"/>
              </a:rPr>
              <a:t>分钟的观众称为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体育迷</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3" name="VMX3TRAX21.eps" descr="id:2147520657;FounderCES"/>
          <p:cNvPicPr/>
          <p:nvPr/>
        </p:nvPicPr>
        <p:blipFill>
          <a:blip r:embed="rId2">
            <a:clrChange>
              <a:clrFrom>
                <a:srgbClr val="FFFFFF"/>
              </a:clrFrom>
              <a:clrTo>
                <a:srgbClr val="FFFFFF">
                  <a:alpha val="0"/>
                </a:srgbClr>
              </a:clrTo>
            </a:clrChange>
          </a:blip>
          <a:stretch>
            <a:fillRect/>
          </a:stretch>
        </p:blipFill>
        <p:spPr>
          <a:xfrm>
            <a:off x="3030298" y="2526345"/>
            <a:ext cx="6442475" cy="3696127"/>
          </a:xfrm>
          <a:prstGeom prst="rect">
            <a:avLst/>
          </a:prstGeom>
        </p:spPr>
      </p:pic>
    </p:spTree>
    <p:extLst>
      <p:ext uri="{BB962C8B-B14F-4D97-AF65-F5344CB8AC3E}">
        <p14:creationId xmlns:p14="http://schemas.microsoft.com/office/powerpoint/2010/main" val="34967070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15451"/>
            <a:ext cx="11430000" cy="599548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根据已知条件完成下面的</a:t>
            </a:r>
            <a:r>
              <a:rPr lang="en-US" altLang="zh-CN" sz="2800">
                <a:solidFill>
                  <a:srgbClr val="000000"/>
                </a:solidFill>
                <a:latin typeface="Times New Roman" panose="02020603050405020304" pitchFamily="18" charset="0"/>
                <a:cs typeface="Times New Roman" panose="02020603050405020304" pitchFamily="18" charset="0"/>
              </a:rPr>
              <a:t>2×2</a:t>
            </a:r>
            <a:r>
              <a:rPr lang="zh-CN" altLang="zh-CN" sz="2800">
                <a:solidFill>
                  <a:srgbClr val="000000"/>
                </a:solidFill>
                <a:latin typeface="Times New Roman" panose="02020603050405020304" pitchFamily="18" charset="0"/>
                <a:cs typeface="Times New Roman" panose="02020603050405020304" pitchFamily="18" charset="0"/>
              </a:rPr>
              <a:t>列联表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试根据小概率值</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的独立性检验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分析</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体育迷</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是否与性别有关</a:t>
            </a:r>
            <a:r>
              <a:rPr lang="en-US" altLang="zh-CN" sz="2800" i="1" smtClean="0">
                <a:solidFill>
                  <a:srgbClr val="000000"/>
                </a:solidFill>
                <a:latin typeface="Times New Roman" panose="02020603050405020304" pitchFamily="18" charset="0"/>
                <a:cs typeface="Times New Roman" panose="02020603050405020304" pitchFamily="18" charset="0"/>
              </a:rPr>
              <a:t>.</a:t>
            </a:r>
          </a:p>
          <a:p>
            <a:pPr>
              <a:lnSpc>
                <a:spcPct val="200000"/>
              </a:lnSpc>
              <a:spcAft>
                <a:spcPts val="0"/>
              </a:spcAft>
              <a:tabLst>
                <a:tab pos="1188085" algn="l"/>
                <a:tab pos="2163445" algn="l"/>
                <a:tab pos="3142615" algn="l"/>
                <a:tab pos="4190365" algn="l"/>
              </a:tabLst>
            </a:pPr>
            <a:endParaRPr lang="en-US" altLang="zh-CN" sz="2800" i="1">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i="1"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i="1">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将上述调查所得到的频率视为概率</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现在从该地区大量电视观众中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采用随机抽样方法每次抽取</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名观众</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抽取</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次</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记被抽取的</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名观众中的</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体育迷</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人数为</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若每次抽取的结果是相互独立的</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求</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的分布列</a:t>
            </a:r>
            <a:r>
              <a:rPr lang="zh-CN" altLang="zh-CN" sz="2800"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均值</a:t>
            </a:r>
            <a:r>
              <a:rPr lang="en-US" altLang="zh-CN" sz="2800" i="1" smtClean="0">
                <a:solidFill>
                  <a:srgbClr val="000000"/>
                </a:solidFill>
                <a:latin typeface="Times New Roman" panose="02020603050405020304" pitchFamily="18" charset="0"/>
                <a:cs typeface="Times New Roman" panose="02020603050405020304" pitchFamily="18" charset="0"/>
              </a:rPr>
              <a:t>E</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i="1" smtClean="0">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和方差</a:t>
            </a:r>
            <a:r>
              <a:rPr lang="en-US" altLang="zh-CN" sz="2800" i="1">
                <a:solidFill>
                  <a:srgbClr val="000000"/>
                </a:solidFill>
                <a:latin typeface="Times New Roman" panose="02020603050405020304" pitchFamily="18" charset="0"/>
                <a:cs typeface="Times New Roman" panose="02020603050405020304" pitchFamily="18" charset="0"/>
              </a:rPr>
              <a:t>D</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3092641940"/>
              </p:ext>
            </p:extLst>
          </p:nvPr>
        </p:nvGraphicFramePr>
        <p:xfrm>
          <a:off x="381000" y="1668330"/>
          <a:ext cx="11430000" cy="2366010"/>
        </p:xfrm>
        <a:graphic>
          <a:graphicData uri="http://schemas.openxmlformats.org/drawingml/2006/table">
            <a:tbl>
              <a:tblPr firstRow="1" firstCol="1" bandRow="1"/>
              <a:tblGrid>
                <a:gridCol w="2857500"/>
                <a:gridCol w="2857500"/>
                <a:gridCol w="2857500"/>
                <a:gridCol w="2857500"/>
              </a:tblGrid>
              <a:tr h="457444">
                <a:tc rowSpan="2">
                  <a:txBody>
                    <a:bodyPr/>
                    <a:lstStyle/>
                    <a:p>
                      <a:pPr algn="ctr">
                        <a:lnSpc>
                          <a:spcPct val="115000"/>
                        </a:lnSpc>
                        <a:spcAft>
                          <a:spcPts val="0"/>
                        </a:spcAft>
                        <a:tabLst>
                          <a:tab pos="1188085" algn="l"/>
                          <a:tab pos="2163445" algn="l"/>
                          <a:tab pos="3142615" algn="l"/>
                          <a:tab pos="4190365" algn="l"/>
                        </a:tabLst>
                      </a:pPr>
                      <a:r>
                        <a:rPr lang="zh-CN" sz="27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性别</a:t>
                      </a:r>
                      <a:endParaRPr lang="zh-CN" sz="27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15000"/>
                        </a:lnSpc>
                        <a:spcAft>
                          <a:spcPts val="0"/>
                        </a:spcAft>
                        <a:tabLst>
                          <a:tab pos="1188085" algn="l"/>
                          <a:tab pos="2163445" algn="l"/>
                          <a:tab pos="3142615" algn="l"/>
                          <a:tab pos="4190365" algn="l"/>
                        </a:tabLst>
                      </a:pPr>
                      <a:r>
                        <a:rPr lang="zh-CN" sz="27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是否为体育迷</a:t>
                      </a:r>
                      <a:endParaRPr lang="zh-CN" sz="27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rowSpan="2">
                  <a:txBody>
                    <a:bodyPr/>
                    <a:lstStyle/>
                    <a:p>
                      <a:pPr algn="ctr">
                        <a:lnSpc>
                          <a:spcPct val="115000"/>
                        </a:lnSpc>
                        <a:spcAft>
                          <a:spcPts val="0"/>
                        </a:spcAft>
                        <a:tabLst>
                          <a:tab pos="1188085" algn="l"/>
                          <a:tab pos="2163445" algn="l"/>
                          <a:tab pos="3142615" algn="l"/>
                          <a:tab pos="4190365" algn="l"/>
                        </a:tabLst>
                      </a:pPr>
                      <a:r>
                        <a:rPr lang="zh-CN" sz="27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27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57444">
                <a:tc vMerge="1">
                  <a:txBody>
                    <a:bodyPr/>
                    <a:lstStyle/>
                    <a:p>
                      <a:endParaRPr lang="zh-CN" altLang="en-US"/>
                    </a:p>
                  </a:txBody>
                  <a:tcPr/>
                </a:tc>
                <a:tc>
                  <a:txBody>
                    <a:bodyPr/>
                    <a:lstStyle/>
                    <a:p>
                      <a:pPr algn="ctr">
                        <a:lnSpc>
                          <a:spcPct val="115000"/>
                        </a:lnSpc>
                        <a:spcAft>
                          <a:spcPts val="0"/>
                        </a:spcAft>
                        <a:tabLst>
                          <a:tab pos="1188085" algn="l"/>
                          <a:tab pos="2163445" algn="l"/>
                          <a:tab pos="3142615" algn="l"/>
                          <a:tab pos="4190365" algn="l"/>
                        </a:tabLst>
                      </a:pPr>
                      <a:r>
                        <a:rPr lang="zh-CN" sz="27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非体育迷</a:t>
                      </a:r>
                      <a:endParaRPr lang="zh-CN" sz="27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zh-CN" sz="27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体育迷</a:t>
                      </a:r>
                      <a:endParaRPr lang="zh-CN" sz="27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ltLang="en-US"/>
                    </a:p>
                  </a:txBody>
                  <a:tcPr/>
                </a:tc>
              </a:tr>
              <a:tr h="457444">
                <a:tc>
                  <a:txBody>
                    <a:bodyPr/>
                    <a:lstStyle/>
                    <a:p>
                      <a:pPr algn="ctr">
                        <a:lnSpc>
                          <a:spcPct val="115000"/>
                        </a:lnSpc>
                        <a:spcAft>
                          <a:spcPts val="0"/>
                        </a:spcAft>
                        <a:tabLst>
                          <a:tab pos="1188085" algn="l"/>
                          <a:tab pos="2163445" algn="l"/>
                          <a:tab pos="3142615" algn="l"/>
                          <a:tab pos="4190365" algn="l"/>
                        </a:tabLst>
                      </a:pPr>
                      <a:r>
                        <a:rPr lang="zh-CN" sz="27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男</a:t>
                      </a:r>
                      <a:endParaRPr lang="zh-CN" sz="27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700">
                          <a:solidFill>
                            <a:srgbClr val="000000"/>
                          </a:solidFill>
                          <a:effectLst/>
                          <a:latin typeface="NEU-BZ-S92"/>
                          <a:ea typeface="方正书宋_GBK" panose="03000509000000000000" pitchFamily="65" charset="-122"/>
                          <a:cs typeface="Times New Roman" panose="02020603050405020304" pitchFamily="18" charset="0"/>
                        </a:rPr>
                        <a:t> </a:t>
                      </a:r>
                      <a:endParaRPr lang="zh-CN" sz="27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700">
                          <a:solidFill>
                            <a:srgbClr val="000000"/>
                          </a:solidFill>
                          <a:effectLst/>
                          <a:latin typeface="NEU-BZ-S92"/>
                          <a:ea typeface="方正书宋_GBK" panose="03000509000000000000" pitchFamily="65" charset="-122"/>
                          <a:cs typeface="Times New Roman" panose="02020603050405020304" pitchFamily="18" charset="0"/>
                        </a:rPr>
                        <a:t> </a:t>
                      </a:r>
                      <a:endParaRPr lang="zh-CN" sz="27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700">
                          <a:solidFill>
                            <a:srgbClr val="000000"/>
                          </a:solidFill>
                          <a:effectLst/>
                          <a:latin typeface="NEU-BZ-S92"/>
                          <a:ea typeface="方正书宋_GBK" panose="03000509000000000000" pitchFamily="65" charset="-122"/>
                          <a:cs typeface="Times New Roman" panose="02020603050405020304" pitchFamily="18" charset="0"/>
                        </a:rPr>
                        <a:t> </a:t>
                      </a:r>
                      <a:endParaRPr lang="zh-CN" sz="27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57444">
                <a:tc>
                  <a:txBody>
                    <a:bodyPr/>
                    <a:lstStyle/>
                    <a:p>
                      <a:pPr algn="ctr">
                        <a:lnSpc>
                          <a:spcPct val="115000"/>
                        </a:lnSpc>
                        <a:spcAft>
                          <a:spcPts val="0"/>
                        </a:spcAft>
                        <a:tabLst>
                          <a:tab pos="1188085" algn="l"/>
                          <a:tab pos="2163445" algn="l"/>
                          <a:tab pos="3142615" algn="l"/>
                          <a:tab pos="4190365" algn="l"/>
                        </a:tabLst>
                      </a:pPr>
                      <a:r>
                        <a:rPr lang="zh-CN" sz="27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女</a:t>
                      </a:r>
                      <a:endParaRPr lang="zh-CN" sz="27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700">
                          <a:solidFill>
                            <a:srgbClr val="000000"/>
                          </a:solidFill>
                          <a:effectLst/>
                          <a:latin typeface="NEU-BZ-S92"/>
                          <a:ea typeface="方正书宋_GBK" panose="03000509000000000000" pitchFamily="65" charset="-122"/>
                          <a:cs typeface="Times New Roman" panose="02020603050405020304" pitchFamily="18" charset="0"/>
                        </a:rPr>
                        <a:t> </a:t>
                      </a:r>
                      <a:endParaRPr lang="zh-CN" sz="27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7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endParaRPr lang="zh-CN" sz="27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7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55</a:t>
                      </a:r>
                      <a:endParaRPr lang="zh-CN" sz="27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57444">
                <a:tc>
                  <a:txBody>
                    <a:bodyPr/>
                    <a:lstStyle/>
                    <a:p>
                      <a:pPr algn="ctr">
                        <a:lnSpc>
                          <a:spcPct val="115000"/>
                        </a:lnSpc>
                        <a:spcAft>
                          <a:spcPts val="0"/>
                        </a:spcAft>
                        <a:tabLst>
                          <a:tab pos="1188085" algn="l"/>
                          <a:tab pos="2163445" algn="l"/>
                          <a:tab pos="3142615" algn="l"/>
                          <a:tab pos="4190365" algn="l"/>
                        </a:tabLst>
                      </a:pPr>
                      <a:r>
                        <a:rPr lang="zh-CN" sz="27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27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700">
                          <a:solidFill>
                            <a:srgbClr val="000000"/>
                          </a:solidFill>
                          <a:effectLst/>
                          <a:latin typeface="NEU-BZ-S92"/>
                          <a:ea typeface="方正书宋_GBK" panose="03000509000000000000" pitchFamily="65" charset="-122"/>
                          <a:cs typeface="Times New Roman" panose="02020603050405020304" pitchFamily="18" charset="0"/>
                        </a:rPr>
                        <a:t> </a:t>
                      </a:r>
                      <a:endParaRPr lang="zh-CN" sz="27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700">
                          <a:solidFill>
                            <a:srgbClr val="000000"/>
                          </a:solidFill>
                          <a:effectLst/>
                          <a:latin typeface="NEU-BZ-S92"/>
                          <a:ea typeface="方正书宋_GBK" panose="03000509000000000000" pitchFamily="65" charset="-122"/>
                          <a:cs typeface="Times New Roman" panose="02020603050405020304" pitchFamily="18" charset="0"/>
                        </a:rPr>
                        <a:t> </a:t>
                      </a:r>
                      <a:endParaRPr lang="zh-CN" sz="27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700">
                          <a:solidFill>
                            <a:srgbClr val="000000"/>
                          </a:solidFill>
                          <a:effectLst/>
                          <a:latin typeface="NEU-BZ-S92"/>
                          <a:ea typeface="方正书宋_GBK" panose="03000509000000000000" pitchFamily="65" charset="-122"/>
                          <a:cs typeface="Times New Roman" panose="02020603050405020304" pitchFamily="18" charset="0"/>
                        </a:rPr>
                        <a:t> </a:t>
                      </a:r>
                      <a:endParaRPr lang="zh-CN" sz="27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8688733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84429"/>
            <a:ext cx="11430000" cy="1132618"/>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60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6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600">
                <a:solidFill>
                  <a:srgbClr val="000000"/>
                </a:solidFill>
                <a:latin typeface="Times New Roman" panose="02020603050405020304" pitchFamily="18" charset="0"/>
                <a:cs typeface="Times New Roman" panose="02020603050405020304" pitchFamily="18" charset="0"/>
              </a:rPr>
              <a:t>(1)</a:t>
            </a:r>
            <a:r>
              <a:rPr lang="zh-CN" altLang="zh-CN" sz="26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a:t>
            </a:r>
            <a:r>
              <a:rPr lang="zh-CN" altLang="en-US" sz="2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题中频率分布直方图可知</a:t>
            </a:r>
            <a:r>
              <a:rPr lang="en-US" altLang="zh-CN" sz="2600" smtClean="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在抽取的</a:t>
            </a:r>
            <a:r>
              <a:rPr lang="en-US" altLang="zh-CN" sz="2600">
                <a:solidFill>
                  <a:srgbClr val="000000"/>
                </a:solidFill>
                <a:latin typeface="Times New Roman" panose="02020603050405020304" pitchFamily="18" charset="0"/>
                <a:cs typeface="Times New Roman" panose="02020603050405020304" pitchFamily="18" charset="0"/>
              </a:rPr>
              <a:t>100</a:t>
            </a:r>
            <a:r>
              <a:rPr lang="zh-CN" altLang="zh-CN" sz="2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人中</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体育迷</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600">
                <a:solidFill>
                  <a:srgbClr val="000000"/>
                </a:solidFill>
                <a:latin typeface="Times New Roman" panose="02020603050405020304" pitchFamily="18" charset="0"/>
                <a:cs typeface="Times New Roman" panose="02020603050405020304" pitchFamily="18" charset="0"/>
              </a:rPr>
              <a:t>(0</a:t>
            </a:r>
            <a:r>
              <a:rPr lang="en-US" altLang="zh-CN" sz="2600" i="1">
                <a:solidFill>
                  <a:srgbClr val="000000"/>
                </a:solidFill>
                <a:latin typeface="Times New Roman" panose="02020603050405020304" pitchFamily="18" charset="0"/>
                <a:cs typeface="Times New Roman" panose="02020603050405020304" pitchFamily="18" charset="0"/>
              </a:rPr>
              <a:t>.</a:t>
            </a:r>
            <a:r>
              <a:rPr lang="en-US" altLang="zh-CN" sz="2600">
                <a:solidFill>
                  <a:srgbClr val="000000"/>
                </a:solidFill>
                <a:latin typeface="Times New Roman" panose="02020603050405020304" pitchFamily="18" charset="0"/>
                <a:cs typeface="Times New Roman" panose="02020603050405020304" pitchFamily="18" charset="0"/>
              </a:rPr>
              <a:t>020</a:t>
            </a:r>
            <a:r>
              <a:rPr lang="en-US" altLang="zh-CN" sz="2600" i="1">
                <a:solidFill>
                  <a:srgbClr val="000000"/>
                </a:solidFill>
                <a:latin typeface="Times New Roman" panose="02020603050405020304" pitchFamily="18" charset="0"/>
                <a:cs typeface="Times New Roman" panose="02020603050405020304" pitchFamily="18" charset="0"/>
              </a:rPr>
              <a:t>+</a:t>
            </a:r>
            <a:r>
              <a:rPr lang="en-US" altLang="zh-CN" sz="2600">
                <a:solidFill>
                  <a:srgbClr val="000000"/>
                </a:solidFill>
                <a:latin typeface="Times New Roman" panose="02020603050405020304" pitchFamily="18" charset="0"/>
                <a:cs typeface="Times New Roman" panose="02020603050405020304" pitchFamily="18" charset="0"/>
              </a:rPr>
              <a:t>0</a:t>
            </a:r>
            <a:r>
              <a:rPr lang="en-US" altLang="zh-CN" sz="2600" i="1">
                <a:solidFill>
                  <a:srgbClr val="000000"/>
                </a:solidFill>
                <a:latin typeface="Times New Roman" panose="02020603050405020304" pitchFamily="18" charset="0"/>
                <a:cs typeface="Times New Roman" panose="02020603050405020304" pitchFamily="18" charset="0"/>
              </a:rPr>
              <a:t>.</a:t>
            </a:r>
            <a:r>
              <a:rPr lang="en-US" altLang="zh-CN" sz="2600">
                <a:solidFill>
                  <a:srgbClr val="000000"/>
                </a:solidFill>
                <a:latin typeface="Times New Roman" panose="02020603050405020304" pitchFamily="18" charset="0"/>
                <a:cs typeface="Times New Roman" panose="02020603050405020304" pitchFamily="18" charset="0"/>
              </a:rPr>
              <a:t>005)×10×100</a:t>
            </a:r>
            <a:r>
              <a:rPr lang="en-US" altLang="zh-CN" sz="2600" i="1">
                <a:solidFill>
                  <a:srgbClr val="000000"/>
                </a:solidFill>
                <a:latin typeface="Times New Roman" panose="02020603050405020304" pitchFamily="18" charset="0"/>
                <a:cs typeface="Times New Roman" panose="02020603050405020304" pitchFamily="18" charset="0"/>
              </a:rPr>
              <a:t>=</a:t>
            </a:r>
            <a:r>
              <a:rPr lang="en-US" altLang="zh-CN" sz="2600">
                <a:solidFill>
                  <a:srgbClr val="000000"/>
                </a:solidFill>
                <a:latin typeface="Times New Roman" panose="02020603050405020304" pitchFamily="18" charset="0"/>
                <a:cs typeface="Times New Roman" panose="02020603050405020304" pitchFamily="18" charset="0"/>
              </a:rPr>
              <a:t>25(</a:t>
            </a:r>
            <a:r>
              <a:rPr lang="zh-CN" altLang="zh-CN" sz="2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人</a:t>
            </a:r>
            <a:r>
              <a:rPr lang="en-US" altLang="zh-CN" sz="2600" smtClean="0">
                <a:solidFill>
                  <a:srgbClr val="000000"/>
                </a:solidFill>
                <a:latin typeface="Times New Roman" panose="02020603050405020304" pitchFamily="18" charset="0"/>
                <a:cs typeface="Times New Roman" panose="02020603050405020304" pitchFamily="18" charset="0"/>
              </a:rPr>
              <a:t>)</a:t>
            </a:r>
            <a:r>
              <a:rPr lang="en-US" altLang="zh-CN" sz="2600" i="1" smtClean="0">
                <a:solidFill>
                  <a:srgbClr val="000000"/>
                </a:solidFill>
                <a:latin typeface="Times New Roman" panose="02020603050405020304" pitchFamily="18" charset="0"/>
                <a:cs typeface="Times New Roman" panose="02020603050405020304" pitchFamily="18" charset="0"/>
              </a:rPr>
              <a:t>.</a:t>
            </a:r>
            <a:r>
              <a:rPr lang="zh-CN" altLang="zh-CN" sz="26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a:t>
            </a:r>
            <a:r>
              <a:rPr lang="zh-CN" altLang="zh-CN" sz="2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独立性检验的知识得</a:t>
            </a:r>
            <a:r>
              <a:rPr lang="en-US" altLang="zh-CN" sz="2600">
                <a:solidFill>
                  <a:srgbClr val="000000"/>
                </a:solidFill>
                <a:latin typeface="Times New Roman" panose="02020603050405020304" pitchFamily="18" charset="0"/>
                <a:cs typeface="Times New Roman" panose="02020603050405020304" pitchFamily="18" charset="0"/>
              </a:rPr>
              <a:t>2×2</a:t>
            </a:r>
            <a:r>
              <a:rPr lang="zh-CN" altLang="zh-CN" sz="2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列联表如下</a:t>
            </a:r>
            <a:r>
              <a:rPr lang="en-US" altLang="zh-CN" sz="2600">
                <a:solidFill>
                  <a:srgbClr val="000000"/>
                </a:solidFill>
                <a:latin typeface="Times New Roman" panose="02020603050405020304" pitchFamily="18" charset="0"/>
                <a:cs typeface="Times New Roman" panose="02020603050405020304" pitchFamily="18" charset="0"/>
              </a:rPr>
              <a:t>:</a:t>
            </a:r>
            <a:endParaRPr lang="zh-CN" altLang="zh-CN" sz="26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4150703092"/>
              </p:ext>
            </p:extLst>
          </p:nvPr>
        </p:nvGraphicFramePr>
        <p:xfrm>
          <a:off x="381000" y="1304678"/>
          <a:ext cx="11430000" cy="2278380"/>
        </p:xfrm>
        <a:graphic>
          <a:graphicData uri="http://schemas.openxmlformats.org/drawingml/2006/table">
            <a:tbl>
              <a:tblPr firstRow="1" firstCol="1" bandRow="1"/>
              <a:tblGrid>
                <a:gridCol w="2857500"/>
                <a:gridCol w="2857500"/>
                <a:gridCol w="2857500"/>
                <a:gridCol w="2857500"/>
              </a:tblGrid>
              <a:tr h="0">
                <a:tc rowSpan="2">
                  <a:txBody>
                    <a:bodyPr/>
                    <a:lstStyle/>
                    <a:p>
                      <a:pPr algn="ctr">
                        <a:lnSpc>
                          <a:spcPct val="115000"/>
                        </a:lnSpc>
                        <a:spcAft>
                          <a:spcPts val="0"/>
                        </a:spcAft>
                        <a:tabLst>
                          <a:tab pos="1188085" algn="l"/>
                          <a:tab pos="2163445" algn="l"/>
                          <a:tab pos="3142615" algn="l"/>
                          <a:tab pos="4190365" algn="l"/>
                        </a:tabLst>
                      </a:pPr>
                      <a:r>
                        <a:rPr lang="zh-CN" sz="26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性别</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15000"/>
                        </a:lnSpc>
                        <a:spcAft>
                          <a:spcPts val="0"/>
                        </a:spcAft>
                        <a:tabLst>
                          <a:tab pos="1188085" algn="l"/>
                          <a:tab pos="2163445" algn="l"/>
                          <a:tab pos="3142615" algn="l"/>
                          <a:tab pos="4190365" algn="l"/>
                        </a:tabLst>
                      </a:pPr>
                      <a:r>
                        <a:rPr lang="zh-CN" sz="26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是否为体育迷</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rowSpan="2">
                  <a:txBody>
                    <a:bodyPr/>
                    <a:lstStyle/>
                    <a:p>
                      <a:pPr algn="ctr">
                        <a:lnSpc>
                          <a:spcPct val="115000"/>
                        </a:lnSpc>
                        <a:spcAft>
                          <a:spcPts val="0"/>
                        </a:spcAft>
                        <a:tabLst>
                          <a:tab pos="1188085" algn="l"/>
                          <a:tab pos="2163445" algn="l"/>
                          <a:tab pos="3142615" algn="l"/>
                          <a:tab pos="4190365" algn="l"/>
                        </a:tabLst>
                      </a:pPr>
                      <a:r>
                        <a:rPr lang="zh-CN" sz="26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vMerge="1">
                  <a:txBody>
                    <a:bodyPr/>
                    <a:lstStyle/>
                    <a:p>
                      <a:endParaRPr lang="zh-CN" altLang="en-US"/>
                    </a:p>
                  </a:txBody>
                  <a:tcPr/>
                </a:tc>
                <a:tc>
                  <a:txBody>
                    <a:bodyPr/>
                    <a:lstStyle/>
                    <a:p>
                      <a:pPr algn="ctr">
                        <a:lnSpc>
                          <a:spcPct val="115000"/>
                        </a:lnSpc>
                        <a:spcAft>
                          <a:spcPts val="0"/>
                        </a:spcAft>
                        <a:tabLst>
                          <a:tab pos="1188085" algn="l"/>
                          <a:tab pos="2163445" algn="l"/>
                          <a:tab pos="3142615" algn="l"/>
                          <a:tab pos="4190365" algn="l"/>
                        </a:tabLst>
                      </a:pPr>
                      <a:r>
                        <a:rPr 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非体育迷</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体育迷</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ltLang="en-US"/>
                    </a:p>
                  </a:txBody>
                  <a:tcPr/>
                </a:tc>
              </a:tr>
              <a:tr h="0">
                <a:tc>
                  <a:txBody>
                    <a:bodyPr/>
                    <a:lstStyle/>
                    <a:p>
                      <a:pPr algn="ctr">
                        <a:lnSpc>
                          <a:spcPct val="115000"/>
                        </a:lnSpc>
                        <a:spcAft>
                          <a:spcPts val="0"/>
                        </a:spcAft>
                        <a:tabLst>
                          <a:tab pos="1188085" algn="l"/>
                          <a:tab pos="2163445" algn="l"/>
                          <a:tab pos="3142615" algn="l"/>
                          <a:tab pos="4190365" algn="l"/>
                        </a:tabLst>
                      </a:pPr>
                      <a:r>
                        <a:rPr 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男</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30</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15</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45</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女</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45</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55</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zh-CN" sz="26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75</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25</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100</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
        <p:nvSpPr>
          <p:cNvPr id="4" name="矩形 3"/>
          <p:cNvSpPr>
            <a:spLocks noChangeAspect="1"/>
          </p:cNvSpPr>
          <p:nvPr/>
        </p:nvSpPr>
        <p:spPr>
          <a:xfrm>
            <a:off x="381000" y="3640886"/>
            <a:ext cx="11430000" cy="27730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零假设为</a:t>
            </a:r>
            <a:r>
              <a:rPr lang="en-US" altLang="zh-CN" sz="2600" i="1">
                <a:solidFill>
                  <a:srgbClr val="000000"/>
                </a:solidFill>
                <a:latin typeface="Times New Roman" panose="02020603050405020304" pitchFamily="18" charset="0"/>
                <a:cs typeface="Times New Roman" panose="02020603050405020304" pitchFamily="18" charset="0"/>
              </a:rPr>
              <a:t>H</a:t>
            </a:r>
            <a:r>
              <a:rPr lang="en-US" altLang="zh-CN" sz="2600" baseline="-25000">
                <a:solidFill>
                  <a:srgbClr val="000000"/>
                </a:solidFill>
                <a:latin typeface="Times New Roman" panose="02020603050405020304" pitchFamily="18" charset="0"/>
                <a:cs typeface="Times New Roman" panose="02020603050405020304" pitchFamily="18" charset="0"/>
              </a:rPr>
              <a:t>0</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体育迷</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与性别无关</a:t>
            </a:r>
            <a:r>
              <a:rPr lang="en-US" altLang="zh-CN" sz="2600" i="1">
                <a:solidFill>
                  <a:srgbClr val="000000"/>
                </a:solidFill>
                <a:latin typeface="Times New Roman" panose="02020603050405020304" pitchFamily="18" charset="0"/>
                <a:cs typeface="Times New Roman" panose="02020603050405020304" pitchFamily="18" charset="0"/>
              </a:rPr>
              <a:t>.</a:t>
            </a:r>
            <a:endParaRPr lang="zh-CN" altLang="zh-CN" sz="26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将</a:t>
            </a:r>
            <a:r>
              <a:rPr lang="en-US" altLang="zh-CN" sz="2600">
                <a:solidFill>
                  <a:srgbClr val="000000"/>
                </a:solidFill>
                <a:latin typeface="Times New Roman" panose="02020603050405020304" pitchFamily="18" charset="0"/>
                <a:cs typeface="Times New Roman" panose="02020603050405020304" pitchFamily="18" charset="0"/>
              </a:rPr>
              <a:t>2×2</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列联表中的数据代入公式计算</a:t>
            </a:r>
            <a:r>
              <a:rPr lang="en-US" altLang="zh-CN" sz="2600">
                <a:solidFill>
                  <a:srgbClr val="000000"/>
                </a:solidFill>
                <a:latin typeface="Times New Roman" panose="02020603050405020304" pitchFamily="18" charset="0"/>
                <a:cs typeface="Times New Roman" panose="02020603050405020304" pitchFamily="18" charset="0"/>
              </a:rPr>
              <a:t>,</a:t>
            </a:r>
            <a:endParaRPr lang="zh-CN" altLang="zh-CN" sz="26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50000"/>
              </a:lnSpc>
              <a:spcAft>
                <a:spcPts val="0"/>
              </a:spcAft>
              <a:tabLst>
                <a:tab pos="1188085" algn="l"/>
                <a:tab pos="2163445" algn="l"/>
                <a:tab pos="3142615" algn="l"/>
                <a:tab pos="4190365" algn="l"/>
              </a:tabLst>
            </a:pPr>
            <a:endParaRPr lang="en-US" altLang="zh-CN" sz="260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60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根据</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小概率值</a:t>
            </a:r>
            <a:r>
              <a:rPr lang="en-US" altLang="zh-CN" sz="26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600" i="1">
                <a:solidFill>
                  <a:srgbClr val="000000"/>
                </a:solidFill>
                <a:latin typeface="Times New Roman" panose="02020603050405020304" pitchFamily="18" charset="0"/>
                <a:cs typeface="Times New Roman" panose="02020603050405020304" pitchFamily="18" charset="0"/>
              </a:rPr>
              <a:t>=</a:t>
            </a:r>
            <a:r>
              <a:rPr lang="en-US" altLang="zh-CN" sz="2600">
                <a:solidFill>
                  <a:srgbClr val="000000"/>
                </a:solidFill>
                <a:latin typeface="Times New Roman" panose="02020603050405020304" pitchFamily="18" charset="0"/>
                <a:cs typeface="Times New Roman" panose="02020603050405020304" pitchFamily="18" charset="0"/>
              </a:rPr>
              <a:t>0</a:t>
            </a:r>
            <a:r>
              <a:rPr lang="en-US" altLang="zh-CN" sz="2600" i="1">
                <a:solidFill>
                  <a:srgbClr val="000000"/>
                </a:solidFill>
                <a:latin typeface="Times New Roman" panose="02020603050405020304" pitchFamily="18" charset="0"/>
                <a:cs typeface="Times New Roman" panose="02020603050405020304" pitchFamily="18" charset="0"/>
              </a:rPr>
              <a:t>.</a:t>
            </a:r>
            <a:r>
              <a:rPr lang="en-US" altLang="zh-CN" sz="2600">
                <a:solidFill>
                  <a:srgbClr val="000000"/>
                </a:solidFill>
                <a:latin typeface="Times New Roman" panose="02020603050405020304" pitchFamily="18" charset="0"/>
                <a:cs typeface="Times New Roman" panose="02020603050405020304" pitchFamily="18" charset="0"/>
              </a:rPr>
              <a:t>1</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的独立性检验</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有充分证据推断</a:t>
            </a:r>
            <a:r>
              <a:rPr lang="en-US" altLang="zh-CN" sz="2600" i="1">
                <a:solidFill>
                  <a:srgbClr val="000000"/>
                </a:solidFill>
                <a:latin typeface="Times New Roman" panose="02020603050405020304" pitchFamily="18" charset="0"/>
                <a:cs typeface="Times New Roman" panose="02020603050405020304" pitchFamily="18" charset="0"/>
              </a:rPr>
              <a:t>H</a:t>
            </a:r>
            <a:r>
              <a:rPr lang="en-US" altLang="zh-CN" sz="2600" baseline="-25000">
                <a:solidFill>
                  <a:srgbClr val="000000"/>
                </a:solidFill>
                <a:latin typeface="Times New Roman" panose="02020603050405020304" pitchFamily="18" charset="0"/>
                <a:cs typeface="Times New Roman" panose="02020603050405020304" pitchFamily="18" charset="0"/>
              </a:rPr>
              <a:t>0</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不成立</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即</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体育迷</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与性别有关</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此推断犯错误的概率不超过</a:t>
            </a:r>
            <a:r>
              <a:rPr lang="en-US" altLang="zh-CN" sz="2600">
                <a:solidFill>
                  <a:srgbClr val="000000"/>
                </a:solidFill>
                <a:latin typeface="Times New Roman" panose="02020603050405020304" pitchFamily="18" charset="0"/>
                <a:cs typeface="Times New Roman" panose="02020603050405020304" pitchFamily="18" charset="0"/>
              </a:rPr>
              <a:t>0</a:t>
            </a:r>
            <a:r>
              <a:rPr lang="en-US" altLang="zh-CN" sz="2600" i="1">
                <a:solidFill>
                  <a:srgbClr val="000000"/>
                </a:solidFill>
                <a:latin typeface="Times New Roman" panose="02020603050405020304" pitchFamily="18" charset="0"/>
                <a:cs typeface="Times New Roman" panose="02020603050405020304" pitchFamily="18" charset="0"/>
              </a:rPr>
              <a:t>.</a:t>
            </a:r>
            <a:r>
              <a:rPr lang="en-US" altLang="zh-CN" sz="2600">
                <a:solidFill>
                  <a:srgbClr val="000000"/>
                </a:solidFill>
                <a:latin typeface="Times New Roman" panose="02020603050405020304" pitchFamily="18" charset="0"/>
                <a:cs typeface="Times New Roman" panose="02020603050405020304" pitchFamily="18" charset="0"/>
              </a:rPr>
              <a:t>1</a:t>
            </a:r>
            <a:r>
              <a:rPr lang="en-US" altLang="zh-CN" sz="2600" i="1">
                <a:solidFill>
                  <a:srgbClr val="000000"/>
                </a:solidFill>
                <a:latin typeface="Times New Roman" panose="02020603050405020304" pitchFamily="18" charset="0"/>
                <a:cs typeface="Times New Roman" panose="02020603050405020304" pitchFamily="18" charset="0"/>
              </a:rPr>
              <a:t>.</a:t>
            </a:r>
            <a:endParaRPr lang="zh-CN" altLang="zh-CN" sz="26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714443625"/>
              </p:ext>
            </p:extLst>
          </p:nvPr>
        </p:nvGraphicFramePr>
        <p:xfrm>
          <a:off x="458424" y="4520921"/>
          <a:ext cx="11275153" cy="989193"/>
        </p:xfrm>
        <a:graphic>
          <a:graphicData uri="http://schemas.openxmlformats.org/presentationml/2006/ole">
            <mc:AlternateContent xmlns:mc="http://schemas.openxmlformats.org/markup-compatibility/2006">
              <mc:Choice xmlns:v="urn:schemas-microsoft-com:vml" Requires="v">
                <p:oleObj spid="_x0000_s13330" name="文档" r:id="rId4" imgW="4510061" imgH="395677" progId="Word.Document.12">
                  <p:embed/>
                </p:oleObj>
              </mc:Choice>
              <mc:Fallback>
                <p:oleObj name="文档" r:id="rId4" imgW="4510061" imgH="395677" progId="Word.Document.12">
                  <p:embed/>
                  <p:pic>
                    <p:nvPicPr>
                      <p:cNvPr id="0" name=""/>
                      <p:cNvPicPr/>
                      <p:nvPr/>
                    </p:nvPicPr>
                    <p:blipFill>
                      <a:blip r:embed="rId5"/>
                      <a:stretch>
                        <a:fillRect/>
                      </a:stretch>
                    </p:blipFill>
                    <p:spPr>
                      <a:xfrm>
                        <a:off x="458424" y="4520921"/>
                        <a:ext cx="11275153" cy="989193"/>
                      </a:xfrm>
                      <a:prstGeom prst="rect">
                        <a:avLst/>
                      </a:prstGeom>
                    </p:spPr>
                  </p:pic>
                </p:oleObj>
              </mc:Fallback>
            </mc:AlternateContent>
          </a:graphicData>
        </a:graphic>
      </p:graphicFrame>
    </p:spTree>
    <p:extLst>
      <p:ext uri="{BB962C8B-B14F-4D97-AF65-F5344CB8AC3E}">
        <p14:creationId xmlns:p14="http://schemas.microsoft.com/office/powerpoint/2010/main" val="27945398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798540"/>
            <a:ext cx="11430000" cy="177279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由频率分布直方图知抽到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体育迷</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的频率为</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020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005)×10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25,</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将频率视为概率</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即从观众中抽取</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此人为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体育迷</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的概率</a:t>
            </a:r>
            <a:r>
              <a:rPr lang="zh-CN" altLang="zh-CN" sz="280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为</a:t>
            </a:r>
            <a:r>
              <a:rPr lang="en-US" altLang="zh-CN" sz="280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i="1"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的分布列为</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372688418"/>
              </p:ext>
            </p:extLst>
          </p:nvPr>
        </p:nvGraphicFramePr>
        <p:xfrm>
          <a:off x="10024462" y="1386190"/>
          <a:ext cx="298745" cy="597492"/>
        </p:xfrm>
        <a:graphic>
          <a:graphicData uri="http://schemas.openxmlformats.org/presentationml/2006/ole">
            <mc:AlternateContent xmlns:mc="http://schemas.openxmlformats.org/markup-compatibility/2006">
              <mc:Choice xmlns:v="urn:schemas-microsoft-com:vml" Requires="v">
                <p:oleObj spid="_x0000_s22581" name="文档" r:id="rId4" imgW="154819" imgH="299398" progId="Word.Document.12">
                  <p:embed/>
                </p:oleObj>
              </mc:Choice>
              <mc:Fallback>
                <p:oleObj name="文档" r:id="rId4" imgW="154819" imgH="299398" progId="Word.Document.12">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24462" y="1386190"/>
                        <a:ext cx="298745" cy="597492"/>
                      </a:xfrm>
                      <a:prstGeom prst="rect">
                        <a:avLst/>
                      </a:prstGeom>
                      <a:noFill/>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924766545"/>
              </p:ext>
            </p:extLst>
          </p:nvPr>
        </p:nvGraphicFramePr>
        <p:xfrm>
          <a:off x="442268" y="2146074"/>
          <a:ext cx="11307463" cy="2593820"/>
        </p:xfrm>
        <a:graphic>
          <a:graphicData uri="http://schemas.openxmlformats.org/presentationml/2006/ole">
            <mc:AlternateContent xmlns:mc="http://schemas.openxmlformats.org/markup-compatibility/2006">
              <mc:Choice xmlns:v="urn:schemas-microsoft-com:vml" Requires="v">
                <p:oleObj spid="_x0000_s22582" name="文档" r:id="rId7" imgW="4522985" imgH="1037528" progId="Word.Document.12">
                  <p:embed/>
                </p:oleObj>
              </mc:Choice>
              <mc:Fallback>
                <p:oleObj name="文档" r:id="rId7" imgW="4522985" imgH="1037528" progId="Word.Document.12">
                  <p:embed/>
                  <p:pic>
                    <p:nvPicPr>
                      <p:cNvPr id="0" name=""/>
                      <p:cNvPicPr/>
                      <p:nvPr/>
                    </p:nvPicPr>
                    <p:blipFill>
                      <a:blip r:embed="rId8"/>
                      <a:stretch>
                        <a:fillRect/>
                      </a:stretch>
                    </p:blipFill>
                    <p:spPr>
                      <a:xfrm>
                        <a:off x="442268" y="2146074"/>
                        <a:ext cx="11307463" cy="2593820"/>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809857989"/>
              </p:ext>
            </p:extLst>
          </p:nvPr>
        </p:nvGraphicFramePr>
        <p:xfrm>
          <a:off x="458424" y="3751151"/>
          <a:ext cx="11275153" cy="1977485"/>
        </p:xfrm>
        <a:graphic>
          <a:graphicData uri="http://schemas.openxmlformats.org/presentationml/2006/ole">
            <mc:AlternateContent xmlns:mc="http://schemas.openxmlformats.org/markup-compatibility/2006">
              <mc:Choice xmlns:v="urn:schemas-microsoft-com:vml" Requires="v">
                <p:oleObj spid="_x0000_s22583" name="文档" r:id="rId10" imgW="4510061" imgH="790994" progId="Word.Document.12">
                  <p:embed/>
                </p:oleObj>
              </mc:Choice>
              <mc:Fallback>
                <p:oleObj name="文档" r:id="rId10" imgW="4510061" imgH="790994" progId="Word.Document.12">
                  <p:embed/>
                  <p:pic>
                    <p:nvPicPr>
                      <p:cNvPr id="0" name=""/>
                      <p:cNvPicPr/>
                      <p:nvPr/>
                    </p:nvPicPr>
                    <p:blipFill>
                      <a:blip r:embed="rId11"/>
                      <a:stretch>
                        <a:fillRect/>
                      </a:stretch>
                    </p:blipFill>
                    <p:spPr>
                      <a:xfrm>
                        <a:off x="458424" y="3751151"/>
                        <a:ext cx="11275153" cy="1977485"/>
                      </a:xfrm>
                      <a:prstGeom prst="rect">
                        <a:avLst/>
                      </a:prstGeom>
                    </p:spPr>
                  </p:pic>
                </p:oleObj>
              </mc:Fallback>
            </mc:AlternateContent>
          </a:graphicData>
        </a:graphic>
      </p:graphicFrame>
    </p:spTree>
    <p:extLst>
      <p:ext uri="{BB962C8B-B14F-4D97-AF65-F5344CB8AC3E}">
        <p14:creationId xmlns:p14="http://schemas.microsoft.com/office/powerpoint/2010/main" val="32939490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2" y="151371"/>
            <a:ext cx="11336478" cy="433754"/>
            <a:chOff x="3048000" y="2286000"/>
            <a:chExt cx="4813646" cy="457200"/>
          </a:xfrm>
        </p:grpSpPr>
        <p:sp>
          <p:nvSpPr>
            <p:cNvPr id="8" name="矩形 7"/>
            <p:cNvSpPr/>
            <p:nvPr/>
          </p:nvSpPr>
          <p:spPr>
            <a:xfrm>
              <a:off x="3048000" y="2286000"/>
              <a:ext cx="209403"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mtClean="0">
                  <a:solidFill>
                    <a:schemeClr val="bg1"/>
                  </a:solidFill>
                </a:rPr>
                <a:t> </a:t>
              </a:r>
              <a:endParaRPr lang="zh-CN" altLang="en-US" sz="2800" b="1" dirty="0" smtClean="0">
                <a:solidFill>
                  <a:schemeClr val="bg1"/>
                </a:solidFill>
              </a:endParaRPr>
            </a:p>
          </p:txBody>
        </p:sp>
        <p:sp>
          <p:nvSpPr>
            <p:cNvPr id="9" name="矩形 8"/>
            <p:cNvSpPr/>
            <p:nvPr/>
          </p:nvSpPr>
          <p:spPr>
            <a:xfrm>
              <a:off x="3345506" y="2286000"/>
              <a:ext cx="4516140"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高考体验</a:t>
              </a:r>
              <a:endParaRPr lang="zh-CN" altLang="en-US" sz="2800" b="1" dirty="0">
                <a:solidFill>
                  <a:schemeClr val="bg1"/>
                </a:solidFill>
              </a:endParaRPr>
            </a:p>
          </p:txBody>
        </p:sp>
      </p:grpSp>
      <p:sp>
        <p:nvSpPr>
          <p:cNvPr id="4" name="矩形 3"/>
          <p:cNvSpPr>
            <a:spLocks noChangeAspect="1"/>
          </p:cNvSpPr>
          <p:nvPr/>
        </p:nvSpPr>
        <p:spPr>
          <a:xfrm>
            <a:off x="381000" y="602994"/>
            <a:ext cx="11430000" cy="593239"/>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考点一</a:t>
            </a:r>
            <a:r>
              <a:rPr lang="zh-CN" altLang="zh-CN" sz="2800" i="1">
                <a:solidFill>
                  <a:srgbClr val="000000"/>
                </a:solidFill>
                <a:latin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线性回归分</a:t>
            </a:r>
            <a:r>
              <a:rPr lang="zh-CN" altLang="zh-CN" sz="280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析</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2" name="矩形 1"/>
          <p:cNvSpPr>
            <a:spLocks noChangeAspect="1"/>
          </p:cNvSpPr>
          <p:nvPr/>
        </p:nvSpPr>
        <p:spPr>
          <a:xfrm>
            <a:off x="381000" y="1196233"/>
            <a:ext cx="8416086"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(2024·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天津高考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下列图中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相关系数最大的是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10" name="25C01.eps" descr="id:2147516726;FounderCES"/>
          <p:cNvPicPr/>
          <p:nvPr/>
        </p:nvPicPr>
        <p:blipFill>
          <a:blip r:embed="rId2">
            <a:clrChange>
              <a:clrFrom>
                <a:srgbClr val="FFFFFF"/>
              </a:clrFrom>
              <a:clrTo>
                <a:srgbClr val="FFFFFF">
                  <a:alpha val="0"/>
                </a:srgbClr>
              </a:clrTo>
            </a:clrChange>
          </a:blip>
          <a:stretch>
            <a:fillRect/>
          </a:stretch>
        </p:blipFill>
        <p:spPr>
          <a:xfrm>
            <a:off x="3210207" y="1848719"/>
            <a:ext cx="4533726" cy="4336324"/>
          </a:xfrm>
          <a:prstGeom prst="rect">
            <a:avLst/>
          </a:prstGeom>
        </p:spPr>
      </p:pic>
    </p:spTree>
    <p:extLst>
      <p:ext uri="{BB962C8B-B14F-4D97-AF65-F5344CB8AC3E}">
        <p14:creationId xmlns:p14="http://schemas.microsoft.com/office/powerpoint/2010/main" val="19133527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1838566"/>
            <a:ext cx="11430000" cy="171252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观察</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个选项可知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选项</a:t>
            </a: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中的散点分布比较集中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且基本接近某一条直线</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线性回归模型拟合效果比较好</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呈现明显的正相关</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故选</a:t>
            </a:r>
            <a:r>
              <a:rPr lang="en-US" altLang="zh-CN" sz="2800">
                <a:solidFill>
                  <a:srgbClr val="000000"/>
                </a:solidFill>
                <a:latin typeface="Times New Roman" panose="02020603050405020304" pitchFamily="18" charset="0"/>
                <a:cs typeface="Times New Roman" panose="02020603050405020304" pitchFamily="18" charset="0"/>
              </a:rPr>
              <a:t>A</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7501211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065211"/>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smtClean="0">
                <a:solidFill>
                  <a:srgbClr val="000000"/>
                </a:solidFill>
                <a:latin typeface="Times New Roman" panose="02020603050405020304" pitchFamily="18" charset="0"/>
                <a:cs typeface="Times New Roman" panose="02020603050405020304" pitchFamily="18" charset="0"/>
              </a:rPr>
              <a:t>2</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2020·</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全国</a:t>
            </a:r>
            <a:r>
              <a:rPr lang="zh-CN" altLang="zh-CN" sz="2800">
                <a:solidFill>
                  <a:srgbClr val="000000"/>
                </a:solidFill>
                <a:latin typeface="NEU-BZ-S92"/>
                <a:cs typeface="宋体" panose="02010600030101010101" pitchFamily="2" charset="-122"/>
              </a:rPr>
              <a:t>Ⅱ</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高考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某沙漠地区经过治理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生态系统得到很大改善</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野生动物数量有所增加</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为调查该地区某种野生动物的数量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将其分成面积相近的</a:t>
            </a:r>
            <a:r>
              <a:rPr lang="en-US" altLang="zh-CN" sz="2800">
                <a:solidFill>
                  <a:srgbClr val="000000"/>
                </a:solidFill>
                <a:latin typeface="Times New Roman" panose="02020603050405020304" pitchFamily="18" charset="0"/>
                <a:cs typeface="Times New Roman" panose="02020603050405020304" pitchFamily="18" charset="0"/>
              </a:rPr>
              <a:t>200</a:t>
            </a:r>
            <a:r>
              <a:rPr lang="zh-CN" altLang="zh-CN" sz="2800">
                <a:solidFill>
                  <a:srgbClr val="000000"/>
                </a:solidFill>
                <a:latin typeface="Times New Roman" panose="02020603050405020304" pitchFamily="18" charset="0"/>
                <a:cs typeface="Times New Roman" panose="02020603050405020304" pitchFamily="18" charset="0"/>
              </a:rPr>
              <a:t>个地块</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从这些地块中用简单随机抽样的方法抽取</a:t>
            </a:r>
            <a:r>
              <a:rPr lang="en-US" altLang="zh-CN" sz="2800">
                <a:solidFill>
                  <a:srgbClr val="000000"/>
                </a:solidFill>
                <a:latin typeface="Times New Roman" panose="02020603050405020304" pitchFamily="18" charset="0"/>
                <a:cs typeface="Times New Roman" panose="02020603050405020304" pitchFamily="18" charset="0"/>
              </a:rPr>
              <a:t>20</a:t>
            </a:r>
            <a:r>
              <a:rPr lang="zh-CN" altLang="zh-CN" sz="2800">
                <a:solidFill>
                  <a:srgbClr val="000000"/>
                </a:solidFill>
                <a:latin typeface="Times New Roman" panose="02020603050405020304" pitchFamily="18" charset="0"/>
                <a:cs typeface="Times New Roman" panose="02020603050405020304" pitchFamily="18" charset="0"/>
              </a:rPr>
              <a:t>个作为样区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调查得到样本数据</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i="1" baseline="-25000">
                <a:solidFill>
                  <a:srgbClr val="000000"/>
                </a:solidFill>
                <a:latin typeface="Times New Roman" panose="02020603050405020304" pitchFamily="18" charset="0"/>
                <a:cs typeface="Times New Roman" panose="02020603050405020304" pitchFamily="18" charset="0"/>
              </a:rPr>
              <a:t>i</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i="1" baseline="-25000">
                <a:solidFill>
                  <a:srgbClr val="000000"/>
                </a:solidFill>
                <a:latin typeface="Times New Roman" panose="02020603050405020304" pitchFamily="18" charset="0"/>
                <a:cs typeface="Times New Roman" panose="02020603050405020304" pitchFamily="18" charset="0"/>
              </a:rPr>
              <a:t>i</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i=</a:t>
            </a:r>
            <a:r>
              <a:rPr lang="en-US" altLang="zh-CN" sz="2800">
                <a:solidFill>
                  <a:srgbClr val="000000"/>
                </a:solidFill>
                <a:latin typeface="Times New Roman" panose="02020603050405020304" pitchFamily="18" charset="0"/>
                <a:cs typeface="Times New Roman" panose="02020603050405020304" pitchFamily="18" charset="0"/>
              </a:rPr>
              <a:t>1,2,</a:t>
            </a:r>
            <a:r>
              <a:rPr lang="en-US" altLang="zh-CN" sz="280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,20),</a:t>
            </a:r>
            <a:r>
              <a:rPr lang="zh-CN" altLang="zh-CN" sz="2800">
                <a:solidFill>
                  <a:srgbClr val="000000"/>
                </a:solidFill>
                <a:latin typeface="Times New Roman" panose="02020603050405020304" pitchFamily="18" charset="0"/>
                <a:cs typeface="Times New Roman" panose="02020603050405020304" pitchFamily="18" charset="0"/>
              </a:rPr>
              <a:t>其中</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i="1" baseline="-25000">
                <a:solidFill>
                  <a:srgbClr val="000000"/>
                </a:solidFill>
                <a:latin typeface="Times New Roman" panose="02020603050405020304" pitchFamily="18" charset="0"/>
                <a:cs typeface="Times New Roman" panose="02020603050405020304" pitchFamily="18" charset="0"/>
              </a:rPr>
              <a:t>i</a:t>
            </a:r>
            <a:r>
              <a:rPr lang="zh-CN" altLang="zh-CN" sz="2800">
                <a:solidFill>
                  <a:srgbClr val="000000"/>
                </a:solidFill>
                <a:latin typeface="Times New Roman" panose="02020603050405020304" pitchFamily="18" charset="0"/>
                <a:cs typeface="Times New Roman" panose="02020603050405020304" pitchFamily="18" charset="0"/>
              </a:rPr>
              <a:t>和</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i="1" baseline="-25000">
                <a:solidFill>
                  <a:srgbClr val="000000"/>
                </a:solidFill>
                <a:latin typeface="Times New Roman" panose="02020603050405020304" pitchFamily="18" charset="0"/>
                <a:cs typeface="Times New Roman" panose="02020603050405020304" pitchFamily="18" charset="0"/>
              </a:rPr>
              <a:t>i</a:t>
            </a:r>
            <a:r>
              <a:rPr lang="zh-CN" altLang="zh-CN" sz="2800">
                <a:solidFill>
                  <a:srgbClr val="000000"/>
                </a:solidFill>
                <a:latin typeface="Times New Roman" panose="02020603050405020304" pitchFamily="18" charset="0"/>
                <a:cs typeface="Times New Roman" panose="02020603050405020304" pitchFamily="18" charset="0"/>
              </a:rPr>
              <a:t>分别表示第</a:t>
            </a:r>
            <a:r>
              <a:rPr lang="en-US" altLang="zh-CN" sz="2800" i="1">
                <a:solidFill>
                  <a:srgbClr val="000000"/>
                </a:solidFill>
                <a:latin typeface="Times New Roman" panose="02020603050405020304" pitchFamily="18" charset="0"/>
                <a:cs typeface="Times New Roman" panose="02020603050405020304" pitchFamily="18" charset="0"/>
              </a:rPr>
              <a:t>i</a:t>
            </a:r>
            <a:r>
              <a:rPr lang="zh-CN" altLang="zh-CN" sz="2800">
                <a:solidFill>
                  <a:srgbClr val="000000"/>
                </a:solidFill>
                <a:latin typeface="Times New Roman" panose="02020603050405020304" pitchFamily="18" charset="0"/>
                <a:cs typeface="Times New Roman" panose="02020603050405020304" pitchFamily="18" charset="0"/>
              </a:rPr>
              <a:t>个样区的植物覆盖面积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单位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公顷</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和这种野生动物的数量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并计算</a:t>
            </a:r>
            <a:r>
              <a:rPr lang="zh-CN" altLang="zh-CN" sz="2800" smtClean="0">
                <a:solidFill>
                  <a:srgbClr val="000000"/>
                </a:solidFill>
                <a:latin typeface="Times New Roman" panose="02020603050405020304" pitchFamily="18" charset="0"/>
                <a:cs typeface="Times New Roman" panose="02020603050405020304" pitchFamily="18" charset="0"/>
              </a:rPr>
              <a:t>得</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222417883"/>
              </p:ext>
            </p:extLst>
          </p:nvPr>
        </p:nvGraphicFramePr>
        <p:xfrm>
          <a:off x="458424" y="3958311"/>
          <a:ext cx="11275153" cy="989193"/>
        </p:xfrm>
        <a:graphic>
          <a:graphicData uri="http://schemas.openxmlformats.org/presentationml/2006/ole">
            <mc:AlternateContent xmlns:mc="http://schemas.openxmlformats.org/markup-compatibility/2006">
              <mc:Choice xmlns:v="urn:schemas-microsoft-com:vml" Requires="v">
                <p:oleObj spid="_x0000_s39948" name="文档" r:id="rId4" imgW="4510061" imgH="395677" progId="Word.Document.12">
                  <p:embed/>
                </p:oleObj>
              </mc:Choice>
              <mc:Fallback>
                <p:oleObj name="文档" r:id="rId4" imgW="4510061" imgH="395677" progId="Word.Document.12">
                  <p:embed/>
                  <p:pic>
                    <p:nvPicPr>
                      <p:cNvPr id="0" name=""/>
                      <p:cNvPicPr/>
                      <p:nvPr/>
                    </p:nvPicPr>
                    <p:blipFill>
                      <a:blip r:embed="rId5"/>
                      <a:stretch>
                        <a:fillRect/>
                      </a:stretch>
                    </p:blipFill>
                    <p:spPr>
                      <a:xfrm>
                        <a:off x="458424" y="3958311"/>
                        <a:ext cx="11275153" cy="989193"/>
                      </a:xfrm>
                      <a:prstGeom prst="rect">
                        <a:avLst/>
                      </a:prstGeom>
                    </p:spPr>
                  </p:pic>
                </p:oleObj>
              </mc:Fallback>
            </mc:AlternateContent>
          </a:graphicData>
        </a:graphic>
      </p:graphicFrame>
    </p:spTree>
    <p:extLst>
      <p:ext uri="{BB962C8B-B14F-4D97-AF65-F5344CB8AC3E}">
        <p14:creationId xmlns:p14="http://schemas.microsoft.com/office/powerpoint/2010/main" val="2834921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607918"/>
            <a:ext cx="11430000" cy="339298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求该地区这种野生动物数量的估计值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这种野生动物数量的估计值等于样区这种野生动物数量的平均数乘以地块数</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求样本</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i="1" baseline="-25000">
                <a:solidFill>
                  <a:srgbClr val="000000"/>
                </a:solidFill>
                <a:latin typeface="Times New Roman" panose="02020603050405020304" pitchFamily="18" charset="0"/>
                <a:cs typeface="Times New Roman" panose="02020603050405020304" pitchFamily="18" charset="0"/>
              </a:rPr>
              <a:t>i</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i="1" baseline="-25000">
                <a:solidFill>
                  <a:srgbClr val="000000"/>
                </a:solidFill>
                <a:latin typeface="Times New Roman" panose="02020603050405020304" pitchFamily="18" charset="0"/>
                <a:cs typeface="Times New Roman" panose="02020603050405020304" pitchFamily="18" charset="0"/>
              </a:rPr>
              <a:t>i</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i=</a:t>
            </a:r>
            <a:r>
              <a:rPr lang="en-US" altLang="zh-CN" sz="2800">
                <a:solidFill>
                  <a:srgbClr val="000000"/>
                </a:solidFill>
                <a:latin typeface="Times New Roman" panose="02020603050405020304" pitchFamily="18" charset="0"/>
                <a:cs typeface="Times New Roman" panose="02020603050405020304" pitchFamily="18" charset="0"/>
              </a:rPr>
              <a:t>1,2,</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,20)</a:t>
            </a:r>
            <a:r>
              <a:rPr lang="zh-CN" altLang="zh-CN" sz="2800">
                <a:solidFill>
                  <a:srgbClr val="000000"/>
                </a:solidFill>
                <a:latin typeface="Times New Roman" panose="02020603050405020304" pitchFamily="18" charset="0"/>
                <a:cs typeface="Times New Roman" panose="02020603050405020304" pitchFamily="18" charset="0"/>
              </a:rPr>
              <a:t>的相关系数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精确到</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01);</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根据现有统计资料</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各地块间植物覆盖面积差异很大</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为提高样本的代表性以获得该地区这种野生动物数量更准确的估计</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请给出一种你认为更合理的抽样方法</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并说明理由</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972878121"/>
              </p:ext>
            </p:extLst>
          </p:nvPr>
        </p:nvGraphicFramePr>
        <p:xfrm>
          <a:off x="458424" y="3902898"/>
          <a:ext cx="11275153" cy="1977485"/>
        </p:xfrm>
        <a:graphic>
          <a:graphicData uri="http://schemas.openxmlformats.org/presentationml/2006/ole">
            <mc:AlternateContent xmlns:mc="http://schemas.openxmlformats.org/markup-compatibility/2006">
              <mc:Choice xmlns:v="urn:schemas-microsoft-com:vml" Requires="v">
                <p:oleObj spid="_x0000_s24595" name="文档" r:id="rId4" imgW="4510061" imgH="790994" progId="Word.Document.12">
                  <p:embed/>
                </p:oleObj>
              </mc:Choice>
              <mc:Fallback>
                <p:oleObj name="文档" r:id="rId4" imgW="4510061" imgH="790994" progId="Word.Document.12">
                  <p:embed/>
                  <p:pic>
                    <p:nvPicPr>
                      <p:cNvPr id="0" name=""/>
                      <p:cNvPicPr/>
                      <p:nvPr/>
                    </p:nvPicPr>
                    <p:blipFill>
                      <a:blip r:embed="rId5"/>
                      <a:stretch>
                        <a:fillRect/>
                      </a:stretch>
                    </p:blipFill>
                    <p:spPr>
                      <a:xfrm>
                        <a:off x="458424" y="3902898"/>
                        <a:ext cx="11275153" cy="1977485"/>
                      </a:xfrm>
                      <a:prstGeom prst="rect">
                        <a:avLst/>
                      </a:prstGeom>
                    </p:spPr>
                  </p:pic>
                </p:oleObj>
              </mc:Fallback>
            </mc:AlternateContent>
          </a:graphicData>
        </a:graphic>
      </p:graphicFrame>
    </p:spTree>
    <p:extLst>
      <p:ext uri="{BB962C8B-B14F-4D97-AF65-F5344CB8AC3E}">
        <p14:creationId xmlns:p14="http://schemas.microsoft.com/office/powerpoint/2010/main" val="37662413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4041498822"/>
              </p:ext>
            </p:extLst>
          </p:nvPr>
        </p:nvGraphicFramePr>
        <p:xfrm>
          <a:off x="458424" y="1503945"/>
          <a:ext cx="11275153" cy="4104110"/>
        </p:xfrm>
        <a:graphic>
          <a:graphicData uri="http://schemas.openxmlformats.org/presentationml/2006/ole">
            <mc:AlternateContent xmlns:mc="http://schemas.openxmlformats.org/markup-compatibility/2006">
              <mc:Choice xmlns:v="urn:schemas-microsoft-com:vml" Requires="v">
                <p:oleObj spid="_x0000_s25619" name="文档" r:id="rId4" imgW="4510061" imgH="1641644" progId="Word.Document.12">
                  <p:embed/>
                </p:oleObj>
              </mc:Choice>
              <mc:Fallback>
                <p:oleObj name="文档" r:id="rId4" imgW="4510061" imgH="1641644" progId="Word.Document.12">
                  <p:embed/>
                  <p:pic>
                    <p:nvPicPr>
                      <p:cNvPr id="0" name=""/>
                      <p:cNvPicPr/>
                      <p:nvPr/>
                    </p:nvPicPr>
                    <p:blipFill>
                      <a:blip r:embed="rId5"/>
                      <a:stretch>
                        <a:fillRect/>
                      </a:stretch>
                    </p:blipFill>
                    <p:spPr>
                      <a:xfrm>
                        <a:off x="458424" y="1503945"/>
                        <a:ext cx="11275153" cy="4104110"/>
                      </a:xfrm>
                      <a:prstGeom prst="rect">
                        <a:avLst/>
                      </a:prstGeom>
                    </p:spPr>
                  </p:pic>
                </p:oleObj>
              </mc:Fallback>
            </mc:AlternateContent>
          </a:graphicData>
        </a:graphic>
      </p:graphicFrame>
    </p:spTree>
    <p:extLst>
      <p:ext uri="{BB962C8B-B14F-4D97-AF65-F5344CB8AC3E}">
        <p14:creationId xmlns:p14="http://schemas.microsoft.com/office/powerpoint/2010/main" val="39871552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642933"/>
            <a:ext cx="11430000" cy="395313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分层随机抽样</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根据植物覆盖面积的大小对地块分层</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再对</a:t>
            </a:r>
            <a:r>
              <a:rPr lang="en-US" altLang="zh-CN" sz="2800">
                <a:solidFill>
                  <a:srgbClr val="000000"/>
                </a:solidFill>
                <a:latin typeface="Times New Roman" panose="02020603050405020304" pitchFamily="18" charset="0"/>
                <a:cs typeface="Times New Roman" panose="02020603050405020304" pitchFamily="18" charset="0"/>
              </a:rPr>
              <a:t>200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个地块进行分层抽样</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理由如下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知各样区的这种野生动物数量与植物覆盖面积有很强的正相关</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由于各地块间植物覆盖面积差异很大</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从而各地块间这种野生动物数量差异也很大</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采用分层随机抽样的方法较好地保持了样本结构与总体结构的一致性</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提高了样本的代表性</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从而可以获得该地区这种野生动物数量更准确的估计</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7751769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a:spLocks noChangeAspect="1"/>
          </p:cNvSpPr>
          <p:nvPr/>
        </p:nvSpPr>
        <p:spPr>
          <a:xfrm>
            <a:off x="381000" y="397510"/>
            <a:ext cx="11430000" cy="593239"/>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考点二</a:t>
            </a:r>
            <a:r>
              <a:rPr lang="zh-CN" altLang="zh-CN" sz="2800" i="1" smtClean="0">
                <a:solidFill>
                  <a:srgbClr val="000000"/>
                </a:solidFill>
                <a:latin typeface="Times New Roman" panose="02020603050405020304" pitchFamily="18" charset="0"/>
                <a:cs typeface="Times New Roman" panose="02020603050405020304" pitchFamily="18" charset="0"/>
              </a:rPr>
              <a:t>　</a:t>
            </a:r>
            <a:r>
              <a:rPr lang="zh-CN" altLang="zh-CN" sz="280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独立性检验</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2" name="矩形 1"/>
          <p:cNvSpPr>
            <a:spLocks noChangeAspect="1"/>
          </p:cNvSpPr>
          <p:nvPr/>
        </p:nvSpPr>
        <p:spPr>
          <a:xfrm>
            <a:off x="381000" y="990749"/>
            <a:ext cx="11430000" cy="227267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(2022·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全国新高考</a:t>
            </a:r>
            <a:r>
              <a:rPr lang="zh-CN" altLang="zh-CN" sz="2800">
                <a:solidFill>
                  <a:srgbClr val="000000"/>
                </a:solidFill>
                <a:latin typeface="NEU-BZ-S92"/>
                <a:cs typeface="宋体" panose="02010600030101010101" pitchFamily="2" charset="-122"/>
              </a:rPr>
              <a:t>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一医疗团队为研究某地的一种地方性疾病与当地居民的卫生习惯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卫生习惯分为良好和不够良好两类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的关系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在已患该疾病的病例中随机调查了</a:t>
            </a:r>
            <a:r>
              <a:rPr lang="en-US" altLang="zh-CN" sz="2800">
                <a:solidFill>
                  <a:srgbClr val="000000"/>
                </a:solidFill>
                <a:latin typeface="Times New Roman" panose="02020603050405020304" pitchFamily="18" charset="0"/>
                <a:cs typeface="Times New Roman" panose="02020603050405020304" pitchFamily="18" charset="0"/>
              </a:rPr>
              <a:t>100</a:t>
            </a:r>
            <a:r>
              <a:rPr lang="zh-CN" altLang="zh-CN" sz="2800">
                <a:solidFill>
                  <a:srgbClr val="000000"/>
                </a:solidFill>
                <a:latin typeface="Times New Roman" panose="02020603050405020304" pitchFamily="18" charset="0"/>
                <a:cs typeface="Times New Roman" panose="02020603050405020304" pitchFamily="18" charset="0"/>
              </a:rPr>
              <a:t>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称为病例组</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同时在未患该疾病的人群中随机调查了</a:t>
            </a:r>
            <a:r>
              <a:rPr lang="en-US" altLang="zh-CN" sz="2800">
                <a:solidFill>
                  <a:srgbClr val="000000"/>
                </a:solidFill>
                <a:latin typeface="Times New Roman" panose="02020603050405020304" pitchFamily="18" charset="0"/>
                <a:cs typeface="Times New Roman" panose="02020603050405020304" pitchFamily="18" charset="0"/>
              </a:rPr>
              <a:t>100</a:t>
            </a:r>
            <a:r>
              <a:rPr lang="zh-CN" altLang="zh-CN" sz="2800">
                <a:solidFill>
                  <a:srgbClr val="000000"/>
                </a:solidFill>
                <a:latin typeface="Times New Roman" panose="02020603050405020304" pitchFamily="18" charset="0"/>
                <a:cs typeface="Times New Roman" panose="02020603050405020304" pitchFamily="18" charset="0"/>
              </a:rPr>
              <a:t>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称为对照组</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得到如下数据</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表格 3"/>
          <p:cNvGraphicFramePr>
            <a:graphicFrameLocks noGrp="1" noChangeAspect="1"/>
          </p:cNvGraphicFramePr>
          <p:nvPr>
            <p:extLst>
              <p:ext uri="{D42A27DB-BD31-4B8C-83A1-F6EECF244321}">
                <p14:modId xmlns:p14="http://schemas.microsoft.com/office/powerpoint/2010/main" val="683485246"/>
              </p:ext>
            </p:extLst>
          </p:nvPr>
        </p:nvGraphicFramePr>
        <p:xfrm>
          <a:off x="381000" y="3284220"/>
          <a:ext cx="11430000" cy="1706880"/>
        </p:xfrm>
        <a:graphic>
          <a:graphicData uri="http://schemas.openxmlformats.org/drawingml/2006/table">
            <a:tbl>
              <a:tblPr firstRow="1" firstCol="1" bandRow="1"/>
              <a:tblGrid>
                <a:gridCol w="3810000"/>
                <a:gridCol w="3810000"/>
                <a:gridCol w="3810000"/>
              </a:tblGrid>
              <a:tr h="0">
                <a:tc rowSpan="2">
                  <a:txBody>
                    <a:bodyPr/>
                    <a:lstStyle/>
                    <a:p>
                      <a:pPr algn="ctr">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小组</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卫生习惯</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r>
              <a:tr h="0">
                <a:tc vMerge="1">
                  <a:txBody>
                    <a:bodyPr/>
                    <a:lstStyle/>
                    <a:p>
                      <a:endParaRPr lang="zh-CN" altLang="en-US"/>
                    </a:p>
                  </a:txBody>
                  <a:tcPr/>
                </a:tc>
                <a:tc>
                  <a:txBody>
                    <a:bodyPr/>
                    <a:lstStyle/>
                    <a:p>
                      <a:pPr algn="ctr">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不够良好</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良好</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病例组</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对照组</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759188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11447"/>
            <a:ext cx="11430000" cy="379796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依据小概率值</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01</a:t>
            </a:r>
            <a:r>
              <a:rPr lang="zh-CN" altLang="zh-CN" sz="2800">
                <a:solidFill>
                  <a:srgbClr val="000000"/>
                </a:solidFill>
                <a:latin typeface="Times New Roman" panose="02020603050405020304" pitchFamily="18" charset="0"/>
                <a:cs typeface="Times New Roman" panose="02020603050405020304" pitchFamily="18" charset="0"/>
              </a:rPr>
              <a:t>的独立性检验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能否认为患该疾病群体与未患该疾病群体的卫生习惯有差异</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20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从该地的人群中任选一人</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表示事件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选到的人卫生习惯不够良好</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cs typeface="Times New Roman" panose="02020603050405020304" pitchFamily="18" charset="0"/>
              </a:rPr>
              <a:t>表示事件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选到的人患有该疾病</a:t>
            </a:r>
            <a:r>
              <a:rPr lang="en-US" altLang="zh-CN" sz="2800" smtClean="0">
                <a:solidFill>
                  <a:srgbClr val="000000"/>
                </a:solidFill>
                <a:latin typeface="Times New Roman" panose="02020603050405020304" pitchFamily="18" charset="0"/>
                <a:cs typeface="Times New Roman" panose="02020603050405020304" pitchFamily="18" charset="0"/>
              </a:rPr>
              <a:t>”,                           </a:t>
            </a:r>
            <a:r>
              <a:rPr lang="zh-CN" altLang="zh-CN" sz="2800" smtClean="0">
                <a:solidFill>
                  <a:srgbClr val="000000"/>
                </a:solidFill>
                <a:latin typeface="Times New Roman" panose="02020603050405020304" pitchFamily="18" charset="0"/>
                <a:cs typeface="Times New Roman" panose="02020603050405020304" pitchFamily="18" charset="0"/>
              </a:rPr>
              <a:t>的</a:t>
            </a:r>
            <a:r>
              <a:rPr lang="zh-CN" altLang="zh-CN" sz="2800">
                <a:solidFill>
                  <a:srgbClr val="000000"/>
                </a:solidFill>
                <a:latin typeface="Times New Roman" panose="02020603050405020304" pitchFamily="18" charset="0"/>
                <a:cs typeface="Times New Roman" panose="02020603050405020304" pitchFamily="18" charset="0"/>
              </a:rPr>
              <a:t>比值是卫生习惯不够良好对患该疾病风险程度的一项度量指标</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记该指标为</a:t>
            </a:r>
            <a:r>
              <a:rPr lang="en-US" altLang="zh-CN" sz="2800" i="1">
                <a:solidFill>
                  <a:srgbClr val="000000"/>
                </a:solidFill>
                <a:latin typeface="Times New Roman" panose="02020603050405020304" pitchFamily="18" charset="0"/>
                <a:cs typeface="Times New Roman" panose="02020603050405020304" pitchFamily="18" charset="0"/>
              </a:rPr>
              <a:t>R.</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149489841"/>
              </p:ext>
            </p:extLst>
          </p:nvPr>
        </p:nvGraphicFramePr>
        <p:xfrm>
          <a:off x="5318814" y="2019916"/>
          <a:ext cx="2889250" cy="1350818"/>
        </p:xfrm>
        <a:graphic>
          <a:graphicData uri="http://schemas.openxmlformats.org/presentationml/2006/ole">
            <mc:AlternateContent xmlns:mc="http://schemas.openxmlformats.org/markup-compatibility/2006">
              <mc:Choice xmlns:v="urn:schemas-microsoft-com:vml" Requires="v">
                <p:oleObj spid="_x0000_s44048" name="文档" r:id="rId4" imgW="1270626" imgH="595720" progId="Word.Document.12">
                  <p:embed/>
                </p:oleObj>
              </mc:Choice>
              <mc:Fallback>
                <p:oleObj name="文档" r:id="rId4" imgW="1270626" imgH="595720" progId="Word.Document.12">
                  <p:embed/>
                  <p:pic>
                    <p:nvPicPr>
                      <p:cNvPr id="0" name=""/>
                      <p:cNvPicPr/>
                      <p:nvPr/>
                    </p:nvPicPr>
                    <p:blipFill>
                      <a:blip r:embed="rId5"/>
                      <a:stretch>
                        <a:fillRect/>
                      </a:stretch>
                    </p:blipFill>
                    <p:spPr>
                      <a:xfrm>
                        <a:off x="5318814" y="2019916"/>
                        <a:ext cx="2889250" cy="1350818"/>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203571713"/>
              </p:ext>
            </p:extLst>
          </p:nvPr>
        </p:nvGraphicFramePr>
        <p:xfrm>
          <a:off x="458424" y="3781396"/>
          <a:ext cx="11275153" cy="991965"/>
        </p:xfrm>
        <a:graphic>
          <a:graphicData uri="http://schemas.openxmlformats.org/presentationml/2006/ole">
            <mc:AlternateContent xmlns:mc="http://schemas.openxmlformats.org/markup-compatibility/2006">
              <mc:Choice xmlns:v="urn:schemas-microsoft-com:vml" Requires="v">
                <p:oleObj spid="_x0000_s44049" name="文档" r:id="rId7" imgW="4510061" imgH="396786" progId="Word.Document.12">
                  <p:embed/>
                </p:oleObj>
              </mc:Choice>
              <mc:Fallback>
                <p:oleObj name="文档" r:id="rId7" imgW="4510061" imgH="396786" progId="Word.Document.12">
                  <p:embed/>
                  <p:pic>
                    <p:nvPicPr>
                      <p:cNvPr id="0" name=""/>
                      <p:cNvPicPr/>
                      <p:nvPr/>
                    </p:nvPicPr>
                    <p:blipFill>
                      <a:blip r:embed="rId8"/>
                      <a:stretch>
                        <a:fillRect/>
                      </a:stretch>
                    </p:blipFill>
                    <p:spPr>
                      <a:xfrm>
                        <a:off x="458424" y="3781396"/>
                        <a:ext cx="11275153" cy="991965"/>
                      </a:xfrm>
                      <a:prstGeom prst="rect">
                        <a:avLst/>
                      </a:prstGeom>
                    </p:spPr>
                  </p:pic>
                </p:oleObj>
              </mc:Fallback>
            </mc:AlternateContent>
          </a:graphicData>
        </a:graphic>
      </p:graphicFrame>
      <p:sp>
        <p:nvSpPr>
          <p:cNvPr id="5" name="矩形 4"/>
          <p:cNvSpPr>
            <a:spLocks noChangeAspect="1"/>
          </p:cNvSpPr>
          <p:nvPr/>
        </p:nvSpPr>
        <p:spPr>
          <a:xfrm>
            <a:off x="381000" y="4660347"/>
            <a:ext cx="11430000" cy="1214628"/>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②</a:t>
            </a:r>
            <a:r>
              <a:rPr lang="zh-CN" altLang="zh-CN" sz="2800">
                <a:solidFill>
                  <a:srgbClr val="000000"/>
                </a:solidFill>
                <a:latin typeface="Times New Roman" panose="02020603050405020304" pitchFamily="18" charset="0"/>
                <a:cs typeface="Times New Roman" panose="02020603050405020304" pitchFamily="18" charset="0"/>
              </a:rPr>
              <a:t>利用该调查数据</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给出</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A|B</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i="1" smtClean="0">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的估计值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并利用</a:t>
            </a:r>
            <a:r>
              <a:rPr lang="zh-CN" altLang="zh-CN" sz="2800">
                <a:solidFill>
                  <a:srgbClr val="000000"/>
                </a:solidFill>
                <a:latin typeface="NEU-BZ-S92"/>
                <a:cs typeface="宋体" panose="02010600030101010101" pitchFamily="2" charset="-122"/>
              </a:rPr>
              <a:t>①</a:t>
            </a:r>
            <a:r>
              <a:rPr lang="zh-CN" altLang="zh-CN" sz="2800">
                <a:solidFill>
                  <a:srgbClr val="000000"/>
                </a:solidFill>
                <a:latin typeface="Times New Roman" panose="02020603050405020304" pitchFamily="18" charset="0"/>
                <a:cs typeface="Times New Roman" panose="02020603050405020304" pitchFamily="18" charset="0"/>
              </a:rPr>
              <a:t>的结果给出</a:t>
            </a:r>
            <a:r>
              <a:rPr lang="en-US" altLang="zh-CN" sz="2800" i="1">
                <a:solidFill>
                  <a:srgbClr val="000000"/>
                </a:solidFill>
                <a:latin typeface="Times New Roman" panose="02020603050405020304" pitchFamily="18" charset="0"/>
                <a:cs typeface="Times New Roman" panose="02020603050405020304" pitchFamily="18" charset="0"/>
              </a:rPr>
              <a:t>R</a:t>
            </a:r>
            <a:r>
              <a:rPr lang="zh-CN" altLang="zh-CN" sz="2800">
                <a:solidFill>
                  <a:srgbClr val="000000"/>
                </a:solidFill>
                <a:latin typeface="Times New Roman" panose="02020603050405020304" pitchFamily="18" charset="0"/>
                <a:cs typeface="Times New Roman" panose="02020603050405020304" pitchFamily="18" charset="0"/>
              </a:rPr>
              <a:t>的估计值</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335489646"/>
              </p:ext>
            </p:extLst>
          </p:nvPr>
        </p:nvGraphicFramePr>
        <p:xfrm>
          <a:off x="5639862" y="4764424"/>
          <a:ext cx="788988" cy="503237"/>
        </p:xfrm>
        <a:graphic>
          <a:graphicData uri="http://schemas.openxmlformats.org/presentationml/2006/ole">
            <mc:AlternateContent xmlns:mc="http://schemas.openxmlformats.org/markup-compatibility/2006">
              <mc:Choice xmlns:v="urn:schemas-microsoft-com:vml" Requires="v">
                <p:oleObj spid="_x0000_s44050" name="文档" r:id="rId10" imgW="322893" imgH="201456" progId="Word.Document.12">
                  <p:embed/>
                </p:oleObj>
              </mc:Choice>
              <mc:Fallback>
                <p:oleObj name="文档" r:id="rId10" imgW="322893" imgH="201456" progId="Word.Document.12">
                  <p:embed/>
                  <p:pic>
                    <p:nvPicPr>
                      <p:cNvPr id="0" name=""/>
                      <p:cNvPicPr/>
                      <p:nvPr/>
                    </p:nvPicPr>
                    <p:blipFill>
                      <a:blip r:embed="rId11"/>
                      <a:stretch>
                        <a:fillRect/>
                      </a:stretch>
                    </p:blipFill>
                    <p:spPr>
                      <a:xfrm>
                        <a:off x="5639862" y="4764424"/>
                        <a:ext cx="788988" cy="503237"/>
                      </a:xfrm>
                      <a:prstGeom prst="rect">
                        <a:avLst/>
                      </a:prstGeom>
                    </p:spPr>
                  </p:pic>
                </p:oleObj>
              </mc:Fallback>
            </mc:AlternateContent>
          </a:graphicData>
        </a:graphic>
      </p:graphicFrame>
      <p:graphicFrame>
        <p:nvGraphicFramePr>
          <p:cNvPr id="7" name="表格 6"/>
          <p:cNvGraphicFramePr>
            <a:graphicFrameLocks noGrp="1" noChangeAspect="1"/>
          </p:cNvGraphicFramePr>
          <p:nvPr>
            <p:extLst>
              <p:ext uri="{D42A27DB-BD31-4B8C-83A1-F6EECF244321}">
                <p14:modId xmlns:p14="http://schemas.microsoft.com/office/powerpoint/2010/main" val="4239942416"/>
              </p:ext>
            </p:extLst>
          </p:nvPr>
        </p:nvGraphicFramePr>
        <p:xfrm>
          <a:off x="2059746" y="5371738"/>
          <a:ext cx="7160232" cy="853440"/>
        </p:xfrm>
        <a:graphic>
          <a:graphicData uri="http://schemas.openxmlformats.org/drawingml/2006/table">
            <a:tbl>
              <a:tblPr firstRow="1" firstCol="1" bandRow="1"/>
              <a:tblGrid>
                <a:gridCol w="1790058"/>
                <a:gridCol w="1790058"/>
                <a:gridCol w="1790058"/>
                <a:gridCol w="1790058"/>
              </a:tblGrid>
              <a:tr h="388944">
                <a:tc>
                  <a:txBody>
                    <a:bodyPr/>
                    <a:lstStyle/>
                    <a:p>
                      <a:pPr algn="ctr">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050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010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001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88944">
                <a:tc>
                  <a:txBody>
                    <a:bodyPr/>
                    <a:lstStyle/>
                    <a:p>
                      <a:pPr algn="ctr">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sz="2800" i="1" baseline="-2500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841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635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828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7839907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324422"/>
            <a:ext cx="11430000" cy="345325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a:t>
            </a:r>
            <a:r>
              <a:rPr lang="en-US" altLang="zh-CN" sz="2800">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零假设为</a:t>
            </a:r>
            <a:r>
              <a:rPr lang="en-US" altLang="zh-CN" sz="2800" i="1">
                <a:solidFill>
                  <a:srgbClr val="000000"/>
                </a:solidFill>
                <a:latin typeface="Times New Roman" panose="02020603050405020304" pitchFamily="18" charset="0"/>
                <a:cs typeface="Times New Roman" panose="02020603050405020304" pitchFamily="18" charset="0"/>
              </a:rPr>
              <a:t>H</a:t>
            </a:r>
            <a:r>
              <a:rPr lang="en-US" altLang="zh-CN" sz="2800" baseline="-25000">
                <a:solidFill>
                  <a:srgbClr val="000000"/>
                </a:solidFill>
                <a:latin typeface="Times New Roman" panose="02020603050405020304" pitchFamily="18" charset="0"/>
                <a:cs typeface="Times New Roman" panose="02020603050405020304" pitchFamily="18" charset="0"/>
              </a:rPr>
              <a:t>0</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患该疾病群体与未患该疾病群体的卫生习惯无差异</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由题意可知</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200,</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根</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据小概率值</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01</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的独立性检验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有充分证据推断</a:t>
            </a:r>
            <a:r>
              <a:rPr lang="en-US" altLang="zh-CN" sz="2800" i="1">
                <a:solidFill>
                  <a:srgbClr val="000000"/>
                </a:solidFill>
                <a:latin typeface="Times New Roman" panose="02020603050405020304" pitchFamily="18" charset="0"/>
                <a:cs typeface="Times New Roman" panose="02020603050405020304" pitchFamily="18" charset="0"/>
              </a:rPr>
              <a:t>H</a:t>
            </a:r>
            <a:r>
              <a:rPr lang="en-US" altLang="zh-CN" sz="2800" baseline="-250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不成立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即认为患该疾病群体与未患该疾病群体的卫生习惯有差异</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546569284"/>
              </p:ext>
            </p:extLst>
          </p:nvPr>
        </p:nvGraphicFramePr>
        <p:xfrm>
          <a:off x="458424" y="2587407"/>
          <a:ext cx="11275153" cy="991965"/>
        </p:xfrm>
        <a:graphic>
          <a:graphicData uri="http://schemas.openxmlformats.org/presentationml/2006/ole">
            <mc:AlternateContent xmlns:mc="http://schemas.openxmlformats.org/markup-compatibility/2006">
              <mc:Choice xmlns:v="urn:schemas-microsoft-com:vml" Requires="v">
                <p:oleObj spid="_x0000_s45063" name="文档" r:id="rId4" imgW="4510061" imgH="396786" progId="Word.Document.12">
                  <p:embed/>
                </p:oleObj>
              </mc:Choice>
              <mc:Fallback>
                <p:oleObj name="文档" r:id="rId4" imgW="4510061" imgH="396786" progId="Word.Document.12">
                  <p:embed/>
                  <p:pic>
                    <p:nvPicPr>
                      <p:cNvPr id="0" name=""/>
                      <p:cNvPicPr/>
                      <p:nvPr/>
                    </p:nvPicPr>
                    <p:blipFill>
                      <a:blip r:embed="rId5"/>
                      <a:stretch>
                        <a:fillRect/>
                      </a:stretch>
                    </p:blipFill>
                    <p:spPr>
                      <a:xfrm>
                        <a:off x="458424" y="2587407"/>
                        <a:ext cx="11275153" cy="991965"/>
                      </a:xfrm>
                      <a:prstGeom prst="rect">
                        <a:avLst/>
                      </a:prstGeom>
                    </p:spPr>
                  </p:pic>
                </p:oleObj>
              </mc:Fallback>
            </mc:AlternateContent>
          </a:graphicData>
        </a:graphic>
      </p:graphicFrame>
    </p:spTree>
    <p:extLst>
      <p:ext uri="{BB962C8B-B14F-4D97-AF65-F5344CB8AC3E}">
        <p14:creationId xmlns:p14="http://schemas.microsoft.com/office/powerpoint/2010/main" val="28247877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525012335"/>
              </p:ext>
            </p:extLst>
          </p:nvPr>
        </p:nvGraphicFramePr>
        <p:xfrm>
          <a:off x="458424" y="158576"/>
          <a:ext cx="11275153" cy="6445525"/>
        </p:xfrm>
        <a:graphic>
          <a:graphicData uri="http://schemas.openxmlformats.org/presentationml/2006/ole">
            <mc:AlternateContent xmlns:mc="http://schemas.openxmlformats.org/markup-compatibility/2006">
              <mc:Choice xmlns:v="urn:schemas-microsoft-com:vml" Requires="v">
                <p:oleObj spid="_x0000_s46086" name="文档" r:id="rId4" imgW="4510061" imgH="2578210" progId="Word.Document.12">
                  <p:embed/>
                </p:oleObj>
              </mc:Choice>
              <mc:Fallback>
                <p:oleObj name="文档" r:id="rId4" imgW="4510061" imgH="2578210" progId="Word.Document.12">
                  <p:embed/>
                  <p:pic>
                    <p:nvPicPr>
                      <p:cNvPr id="0" name=""/>
                      <p:cNvPicPr/>
                      <p:nvPr/>
                    </p:nvPicPr>
                    <p:blipFill>
                      <a:blip r:embed="rId5"/>
                      <a:stretch>
                        <a:fillRect/>
                      </a:stretch>
                    </p:blipFill>
                    <p:spPr>
                      <a:xfrm>
                        <a:off x="458424" y="158576"/>
                        <a:ext cx="11275153" cy="6445525"/>
                      </a:xfrm>
                      <a:prstGeom prst="rect">
                        <a:avLst/>
                      </a:prstGeom>
                    </p:spPr>
                  </p:pic>
                </p:oleObj>
              </mc:Fallback>
            </mc:AlternateContent>
          </a:graphicData>
        </a:graphic>
      </p:graphicFrame>
    </p:spTree>
    <p:extLst>
      <p:ext uri="{BB962C8B-B14F-4D97-AF65-F5344CB8AC3E}">
        <p14:creationId xmlns:p14="http://schemas.microsoft.com/office/powerpoint/2010/main" val="38747019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a:spLocks noChangeAspect="1"/>
          </p:cNvSpPr>
          <p:nvPr/>
        </p:nvSpPr>
        <p:spPr>
          <a:xfrm>
            <a:off x="381000" y="952315"/>
            <a:ext cx="11430000" cy="177279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smtClean="0">
                <a:solidFill>
                  <a:srgbClr val="000000"/>
                </a:solidFill>
                <a:latin typeface="Times New Roman" panose="02020603050405020304" pitchFamily="18" charset="0"/>
                <a:cs typeface="Times New Roman" panose="02020603050405020304" pitchFamily="18" charset="0"/>
              </a:rPr>
              <a:t>4</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(2021·</a:t>
            </a:r>
            <a:r>
              <a:rPr lang="zh-CN"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全国</a:t>
            </a:r>
            <a:r>
              <a:rPr lang="zh-CN" altLang="zh-CN" sz="2800" smtClean="0">
                <a:solidFill>
                  <a:srgbClr val="000000"/>
                </a:solidFill>
                <a:latin typeface="NEU-BZ-S92"/>
                <a:cs typeface="宋体" panose="02010600030101010101" pitchFamily="2" charset="-122"/>
              </a:rPr>
              <a:t>Ⅱ</a:t>
            </a:r>
            <a:r>
              <a:rPr lang="zh-CN"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高考</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cs typeface="Times New Roman" panose="02020603050405020304" pitchFamily="18" charset="0"/>
              </a:rPr>
              <a:t>甲、乙两台机床生产同种产品</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cs typeface="Times New Roman" panose="02020603050405020304" pitchFamily="18" charset="0"/>
              </a:rPr>
              <a:t>产品按质量分为一级品和二级品</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cs typeface="Times New Roman" panose="02020603050405020304" pitchFamily="18" charset="0"/>
              </a:rPr>
              <a:t>为了比较两台机床产品的质量</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cs typeface="Times New Roman" panose="02020603050405020304" pitchFamily="18" charset="0"/>
              </a:rPr>
              <a:t>分别用两台机床各生产了</a:t>
            </a:r>
            <a:r>
              <a:rPr lang="en-US" altLang="zh-CN" sz="2800" smtClean="0">
                <a:solidFill>
                  <a:srgbClr val="000000"/>
                </a:solidFill>
                <a:latin typeface="Times New Roman" panose="02020603050405020304" pitchFamily="18" charset="0"/>
                <a:cs typeface="Times New Roman" panose="02020603050405020304" pitchFamily="18" charset="0"/>
              </a:rPr>
              <a:t>200</a:t>
            </a:r>
            <a:r>
              <a:rPr lang="zh-CN" altLang="zh-CN" sz="2800" smtClean="0">
                <a:solidFill>
                  <a:srgbClr val="000000"/>
                </a:solidFill>
                <a:latin typeface="Times New Roman" panose="02020603050405020304" pitchFamily="18" charset="0"/>
                <a:cs typeface="Times New Roman" panose="02020603050405020304" pitchFamily="18" charset="0"/>
              </a:rPr>
              <a:t>件产品</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cs typeface="Times New Roman" panose="02020603050405020304" pitchFamily="18" charset="0"/>
              </a:rPr>
              <a:t>产品的质量情况统计如下表</a:t>
            </a:r>
            <a:r>
              <a:rPr lang="en-US" altLang="zh-CN" sz="2800"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8" name="表格 7"/>
          <p:cNvGraphicFramePr>
            <a:graphicFrameLocks noGrp="1" noChangeAspect="1"/>
          </p:cNvGraphicFramePr>
          <p:nvPr>
            <p:extLst/>
          </p:nvPr>
        </p:nvGraphicFramePr>
        <p:xfrm>
          <a:off x="381000" y="2767665"/>
          <a:ext cx="11430000" cy="2453640"/>
        </p:xfrm>
        <a:graphic>
          <a:graphicData uri="http://schemas.openxmlformats.org/drawingml/2006/table">
            <a:tbl>
              <a:tblPr firstRow="1" firstCol="1" bandRow="1"/>
              <a:tblGrid>
                <a:gridCol w="2857500"/>
                <a:gridCol w="2857500"/>
                <a:gridCol w="2857500"/>
                <a:gridCol w="2857500"/>
              </a:tblGrid>
              <a:tr h="0">
                <a:tc rowSpan="2">
                  <a:txBody>
                    <a:bodyPr/>
                    <a:lstStyle/>
                    <a:p>
                      <a:pP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机床</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产品质量</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rowSpan="2">
                  <a:txBody>
                    <a:bodyPr/>
                    <a:lstStyle/>
                    <a:p>
                      <a:pP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合计</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vMerge="1">
                  <a:txBody>
                    <a:bodyPr/>
                    <a:lstStyle/>
                    <a:p>
                      <a:endParaRPr lang="zh-CN" altLang="en-US"/>
                    </a:p>
                  </a:txBody>
                  <a:tcPr/>
                </a:tc>
                <a:tc>
                  <a:txBody>
                    <a:bodyPr/>
                    <a:lstStyle/>
                    <a:p>
                      <a:pP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一级品</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二级品</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ltLang="en-US"/>
                    </a:p>
                  </a:txBody>
                  <a:tcPr/>
                </a:tc>
              </a:tr>
              <a:tr h="0">
                <a:tc>
                  <a:txBody>
                    <a:bodyPr/>
                    <a:lstStyle/>
                    <a:p>
                      <a:pP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甲机床</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150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乙机床</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120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合计</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270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130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400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4057237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335132"/>
            <a:ext cx="11430000" cy="171252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甲机床、乙机床生产的产品中一级品的频率分别是多少</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依据小概率值</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01</a:t>
            </a:r>
            <a:r>
              <a:rPr lang="zh-CN" altLang="zh-CN" sz="2800">
                <a:solidFill>
                  <a:srgbClr val="000000"/>
                </a:solidFill>
                <a:latin typeface="Times New Roman" panose="02020603050405020304" pitchFamily="18" charset="0"/>
                <a:cs typeface="Times New Roman" panose="02020603050405020304" pitchFamily="18" charset="0"/>
              </a:rPr>
              <a:t>的</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独立性检验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能否认为甲机床的产品质量与乙机床的产品质量有差异</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110324686"/>
              </p:ext>
            </p:extLst>
          </p:nvPr>
        </p:nvGraphicFramePr>
        <p:xfrm>
          <a:off x="458424" y="3047652"/>
          <a:ext cx="11275153" cy="991965"/>
        </p:xfrm>
        <a:graphic>
          <a:graphicData uri="http://schemas.openxmlformats.org/presentationml/2006/ole">
            <mc:AlternateContent xmlns:mc="http://schemas.openxmlformats.org/markup-compatibility/2006">
              <mc:Choice xmlns:v="urn:schemas-microsoft-com:vml" Requires="v">
                <p:oleObj spid="_x0000_s40970" name="文档" r:id="rId4" imgW="4510061" imgH="396786" progId="Word.Document.12">
                  <p:embed/>
                </p:oleObj>
              </mc:Choice>
              <mc:Fallback>
                <p:oleObj name="文档" r:id="rId4" imgW="4510061" imgH="396786" progId="Word.Document.12">
                  <p:embed/>
                  <p:pic>
                    <p:nvPicPr>
                      <p:cNvPr id="0" name=""/>
                      <p:cNvPicPr/>
                      <p:nvPr/>
                    </p:nvPicPr>
                    <p:blipFill>
                      <a:blip r:embed="rId5"/>
                      <a:stretch>
                        <a:fillRect/>
                      </a:stretch>
                    </p:blipFill>
                    <p:spPr>
                      <a:xfrm>
                        <a:off x="458424" y="3047652"/>
                        <a:ext cx="11275153" cy="991965"/>
                      </a:xfrm>
                      <a:prstGeom prst="rect">
                        <a:avLst/>
                      </a:prstGeom>
                    </p:spPr>
                  </p:pic>
                </p:oleObj>
              </mc:Fallback>
            </mc:AlternateContent>
          </a:graphicData>
        </a:graphic>
      </p:graphicFrame>
      <p:graphicFrame>
        <p:nvGraphicFramePr>
          <p:cNvPr id="4" name="表格 3"/>
          <p:cNvGraphicFramePr>
            <a:graphicFrameLocks noGrp="1" noChangeAspect="1"/>
          </p:cNvGraphicFramePr>
          <p:nvPr>
            <p:extLst>
              <p:ext uri="{D42A27DB-BD31-4B8C-83A1-F6EECF244321}">
                <p14:modId xmlns:p14="http://schemas.microsoft.com/office/powerpoint/2010/main" val="3301548236"/>
              </p:ext>
            </p:extLst>
          </p:nvPr>
        </p:nvGraphicFramePr>
        <p:xfrm>
          <a:off x="381000" y="4125355"/>
          <a:ext cx="11430000" cy="981456"/>
        </p:xfrm>
        <a:graphic>
          <a:graphicData uri="http://schemas.openxmlformats.org/drawingml/2006/table">
            <a:tbl>
              <a:tblPr firstRow="1" firstCol="1" bandRow="1"/>
              <a:tblGrid>
                <a:gridCol w="2857500"/>
                <a:gridCol w="2857500"/>
                <a:gridCol w="2857500"/>
                <a:gridCol w="2857500"/>
              </a:tblGrid>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050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010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001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sz="2800" i="1" baseline="-2500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841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635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828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5742889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18231136"/>
              </p:ext>
            </p:extLst>
          </p:nvPr>
        </p:nvGraphicFramePr>
        <p:xfrm>
          <a:off x="458424" y="966453"/>
          <a:ext cx="11275153" cy="4685935"/>
        </p:xfrm>
        <a:graphic>
          <a:graphicData uri="http://schemas.openxmlformats.org/presentationml/2006/ole">
            <mc:AlternateContent xmlns:mc="http://schemas.openxmlformats.org/markup-compatibility/2006">
              <mc:Choice xmlns:v="urn:schemas-microsoft-com:vml" Requires="v">
                <p:oleObj spid="_x0000_s41995" name="文档" r:id="rId4" imgW="4510061" imgH="1874374" progId="Word.Document.12">
                  <p:embed/>
                </p:oleObj>
              </mc:Choice>
              <mc:Fallback>
                <p:oleObj name="文档" r:id="rId4" imgW="4510061" imgH="1874374" progId="Word.Document.12">
                  <p:embed/>
                  <p:pic>
                    <p:nvPicPr>
                      <p:cNvPr id="0" name=""/>
                      <p:cNvPicPr/>
                      <p:nvPr/>
                    </p:nvPicPr>
                    <p:blipFill>
                      <a:blip r:embed="rId5"/>
                      <a:stretch>
                        <a:fillRect/>
                      </a:stretch>
                    </p:blipFill>
                    <p:spPr>
                      <a:xfrm>
                        <a:off x="458424" y="966453"/>
                        <a:ext cx="11275153" cy="4685935"/>
                      </a:xfrm>
                      <a:prstGeom prst="rect">
                        <a:avLst/>
                      </a:prstGeom>
                    </p:spPr>
                  </p:pic>
                </p:oleObj>
              </mc:Fallback>
            </mc:AlternateContent>
          </a:graphicData>
        </a:graphic>
      </p:graphicFrame>
    </p:spTree>
    <p:extLst>
      <p:ext uri="{BB962C8B-B14F-4D97-AF65-F5344CB8AC3E}">
        <p14:creationId xmlns:p14="http://schemas.microsoft.com/office/powerpoint/2010/main" val="2732395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spect="1"/>
          </p:cNvSpPr>
          <p:nvPr/>
        </p:nvSpPr>
        <p:spPr>
          <a:xfrm>
            <a:off x="381000" y="164384"/>
            <a:ext cx="11430000" cy="159684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600" b="1">
                <a:solidFill>
                  <a:srgbClr val="000000"/>
                </a:solidFill>
                <a:latin typeface="Times New Roman" panose="02020603050405020304" pitchFamily="18" charset="0"/>
                <a:cs typeface="Times New Roman" panose="02020603050405020304" pitchFamily="18" charset="0"/>
              </a:rPr>
              <a:t>5</a:t>
            </a:r>
            <a:r>
              <a:rPr lang="en-US" altLang="zh-CN" sz="2600" i="1">
                <a:solidFill>
                  <a:srgbClr val="000000"/>
                </a:solidFill>
                <a:latin typeface="Times New Roman" panose="02020603050405020304" pitchFamily="18" charset="0"/>
                <a:cs typeface="Times New Roman" panose="02020603050405020304" pitchFamily="18" charset="0"/>
              </a:rPr>
              <a:t>.</a:t>
            </a:r>
            <a:r>
              <a:rPr lang="en-US" altLang="zh-CN" sz="2600">
                <a:solidFill>
                  <a:srgbClr val="000000"/>
                </a:solidFill>
                <a:latin typeface="Times New Roman" panose="02020603050405020304" pitchFamily="18" charset="0"/>
                <a:cs typeface="Times New Roman" panose="02020603050405020304" pitchFamily="18" charset="0"/>
              </a:rPr>
              <a:t>(2024·</a:t>
            </a:r>
            <a:r>
              <a:rPr lang="zh-CN" altLang="zh-CN" sz="2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上海高考</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为了解某地初中学生日均体育锻炼时长与学业成绩的关系</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从该地区</a:t>
            </a:r>
            <a:r>
              <a:rPr lang="en-US" altLang="zh-CN" sz="2600">
                <a:solidFill>
                  <a:srgbClr val="000000"/>
                </a:solidFill>
                <a:latin typeface="Times New Roman" panose="02020603050405020304" pitchFamily="18" charset="0"/>
                <a:cs typeface="Times New Roman" panose="02020603050405020304" pitchFamily="18" charset="0"/>
              </a:rPr>
              <a:t>29 000</a:t>
            </a:r>
            <a:r>
              <a:rPr lang="zh-CN" altLang="zh-CN" sz="2600">
                <a:solidFill>
                  <a:srgbClr val="000000"/>
                </a:solidFill>
                <a:latin typeface="Times New Roman" panose="02020603050405020304" pitchFamily="18" charset="0"/>
                <a:cs typeface="Times New Roman" panose="02020603050405020304" pitchFamily="18" charset="0"/>
              </a:rPr>
              <a:t>名学生中抽取</a:t>
            </a:r>
            <a:r>
              <a:rPr lang="en-US" altLang="zh-CN" sz="2600">
                <a:solidFill>
                  <a:srgbClr val="000000"/>
                </a:solidFill>
                <a:latin typeface="Times New Roman" panose="02020603050405020304" pitchFamily="18" charset="0"/>
                <a:cs typeface="Times New Roman" panose="02020603050405020304" pitchFamily="18" charset="0"/>
              </a:rPr>
              <a:t>580</a:t>
            </a:r>
            <a:r>
              <a:rPr lang="zh-CN" altLang="zh-CN" sz="2600">
                <a:solidFill>
                  <a:srgbClr val="000000"/>
                </a:solidFill>
                <a:latin typeface="Times New Roman" panose="02020603050405020304" pitchFamily="18" charset="0"/>
                <a:cs typeface="Times New Roman" panose="02020603050405020304" pitchFamily="18" charset="0"/>
              </a:rPr>
              <a:t>人</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得到日均体育锻炼时长与学业成绩的数据如下表所示</a:t>
            </a:r>
            <a:r>
              <a:rPr lang="en-US" altLang="zh-CN" sz="2600">
                <a:solidFill>
                  <a:srgbClr val="000000"/>
                </a:solidFill>
                <a:latin typeface="Times New Roman" panose="02020603050405020304" pitchFamily="18" charset="0"/>
                <a:cs typeface="Times New Roman" panose="02020603050405020304" pitchFamily="18" charset="0"/>
              </a:rPr>
              <a:t>:</a:t>
            </a:r>
            <a:endParaRPr lang="zh-CN" altLang="zh-CN" sz="26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表格 5"/>
          <p:cNvGraphicFramePr>
            <a:graphicFrameLocks noGrp="1" noChangeAspect="1"/>
          </p:cNvGraphicFramePr>
          <p:nvPr>
            <p:extLst>
              <p:ext uri="{D42A27DB-BD31-4B8C-83A1-F6EECF244321}">
                <p14:modId xmlns:p14="http://schemas.microsoft.com/office/powerpoint/2010/main" val="1428116817"/>
              </p:ext>
            </p:extLst>
          </p:nvPr>
        </p:nvGraphicFramePr>
        <p:xfrm>
          <a:off x="381000" y="1743342"/>
          <a:ext cx="11430000" cy="1485138"/>
        </p:xfrm>
        <a:graphic>
          <a:graphicData uri="http://schemas.openxmlformats.org/drawingml/2006/table">
            <a:tbl>
              <a:tblPr firstRow="1" firstCol="1" bandRow="1"/>
              <a:tblGrid>
                <a:gridCol w="1905000"/>
                <a:gridCol w="1905000"/>
                <a:gridCol w="1905000"/>
                <a:gridCol w="1905000"/>
                <a:gridCol w="1905000"/>
                <a:gridCol w="1905000"/>
              </a:tblGrid>
              <a:tr h="0">
                <a:tc>
                  <a:txBody>
                    <a:bodyPr/>
                    <a:lstStyle/>
                    <a:p>
                      <a:pPr algn="ctr">
                        <a:lnSpc>
                          <a:spcPct val="13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时长</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[1,1</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[2,2</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3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优秀</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3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不优秀</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134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147</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137</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27</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mc:AlternateContent xmlns:mc="http://schemas.openxmlformats.org/markup-compatibility/2006" xmlns:a14="http://schemas.microsoft.com/office/drawing/2010/main">
        <mc:Choice Requires="a14">
          <p:sp>
            <p:nvSpPr>
              <p:cNvPr id="7" name="矩形 6"/>
              <p:cNvSpPr>
                <a:spLocks noChangeAspect="1"/>
              </p:cNvSpPr>
              <p:nvPr/>
            </p:nvSpPr>
            <p:spPr>
              <a:xfrm>
                <a:off x="381000" y="3257339"/>
                <a:ext cx="11430000" cy="31356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600">
                    <a:solidFill>
                      <a:srgbClr val="000000"/>
                    </a:solidFill>
                    <a:latin typeface="Times New Roman" panose="02020603050405020304" pitchFamily="18" charset="0"/>
                    <a:cs typeface="Times New Roman" panose="02020603050405020304" pitchFamily="18" charset="0"/>
                  </a:rPr>
                  <a:t>(1)</a:t>
                </a:r>
                <a:r>
                  <a:rPr lang="zh-CN" altLang="zh-CN" sz="2600">
                    <a:solidFill>
                      <a:srgbClr val="000000"/>
                    </a:solidFill>
                    <a:latin typeface="Times New Roman" panose="02020603050405020304" pitchFamily="18" charset="0"/>
                    <a:cs typeface="Times New Roman" panose="02020603050405020304" pitchFamily="18" charset="0"/>
                  </a:rPr>
                  <a:t>该地区</a:t>
                </a:r>
                <a:r>
                  <a:rPr lang="en-US" altLang="zh-CN" sz="2600">
                    <a:solidFill>
                      <a:srgbClr val="000000"/>
                    </a:solidFill>
                    <a:latin typeface="Times New Roman" panose="02020603050405020304" pitchFamily="18" charset="0"/>
                    <a:cs typeface="Times New Roman" panose="02020603050405020304" pitchFamily="18" charset="0"/>
                  </a:rPr>
                  <a:t>29 000</a:t>
                </a:r>
                <a:r>
                  <a:rPr lang="zh-CN" altLang="zh-CN" sz="2600">
                    <a:solidFill>
                      <a:srgbClr val="000000"/>
                    </a:solidFill>
                    <a:latin typeface="Times New Roman" panose="02020603050405020304" pitchFamily="18" charset="0"/>
                    <a:cs typeface="Times New Roman" panose="02020603050405020304" pitchFamily="18" charset="0"/>
                  </a:rPr>
                  <a:t>名初中学生中日均体育锻炼时长不少于</a:t>
                </a:r>
                <a:r>
                  <a:rPr lang="en-US" altLang="zh-CN" sz="2600">
                    <a:solidFill>
                      <a:srgbClr val="000000"/>
                    </a:solidFill>
                    <a:latin typeface="Times New Roman" panose="02020603050405020304" pitchFamily="18" charset="0"/>
                    <a:cs typeface="Times New Roman" panose="02020603050405020304" pitchFamily="18" charset="0"/>
                  </a:rPr>
                  <a:t>1</a:t>
                </a:r>
                <a:r>
                  <a:rPr lang="zh-CN" altLang="zh-CN" sz="2600">
                    <a:solidFill>
                      <a:srgbClr val="000000"/>
                    </a:solidFill>
                    <a:latin typeface="Times New Roman" panose="02020603050405020304" pitchFamily="18" charset="0"/>
                    <a:cs typeface="Times New Roman" panose="02020603050405020304" pitchFamily="18" charset="0"/>
                  </a:rPr>
                  <a:t>小时的人数约为多少</a:t>
                </a:r>
                <a:r>
                  <a:rPr lang="en-US" altLang="zh-CN" sz="2600">
                    <a:solidFill>
                      <a:srgbClr val="000000"/>
                    </a:solidFill>
                    <a:latin typeface="Times New Roman" panose="02020603050405020304" pitchFamily="18" charset="0"/>
                    <a:cs typeface="Times New Roman" panose="02020603050405020304" pitchFamily="18" charset="0"/>
                  </a:rPr>
                  <a:t>?</a:t>
                </a:r>
                <a:endParaRPr lang="zh-CN" altLang="zh-CN" sz="26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600">
                    <a:solidFill>
                      <a:srgbClr val="000000"/>
                    </a:solidFill>
                    <a:latin typeface="Times New Roman" panose="02020603050405020304" pitchFamily="18" charset="0"/>
                    <a:cs typeface="Times New Roman" panose="02020603050405020304" pitchFamily="18" charset="0"/>
                  </a:rPr>
                  <a:t>(2)</a:t>
                </a:r>
                <a:r>
                  <a:rPr lang="zh-CN" altLang="zh-CN" sz="2600">
                    <a:solidFill>
                      <a:srgbClr val="000000"/>
                    </a:solidFill>
                    <a:latin typeface="Times New Roman" panose="02020603050405020304" pitchFamily="18" charset="0"/>
                    <a:cs typeface="Times New Roman" panose="02020603050405020304" pitchFamily="18" charset="0"/>
                  </a:rPr>
                  <a:t>估计该地区初中学生的日均体育锻炼时长</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精确到</a:t>
                </a:r>
                <a:r>
                  <a:rPr lang="en-US" altLang="zh-CN" sz="2600">
                    <a:solidFill>
                      <a:srgbClr val="000000"/>
                    </a:solidFill>
                    <a:latin typeface="Times New Roman" panose="02020603050405020304" pitchFamily="18" charset="0"/>
                    <a:cs typeface="Times New Roman" panose="02020603050405020304" pitchFamily="18" charset="0"/>
                  </a:rPr>
                  <a:t>0</a:t>
                </a:r>
                <a:r>
                  <a:rPr lang="en-US" altLang="zh-CN" sz="2600" i="1">
                    <a:solidFill>
                      <a:srgbClr val="000000"/>
                    </a:solidFill>
                    <a:latin typeface="Times New Roman" panose="02020603050405020304" pitchFamily="18" charset="0"/>
                    <a:cs typeface="Times New Roman" panose="02020603050405020304" pitchFamily="18" charset="0"/>
                  </a:rPr>
                  <a:t>.</a:t>
                </a:r>
                <a:r>
                  <a:rPr lang="en-US" altLang="zh-CN" sz="2600">
                    <a:solidFill>
                      <a:srgbClr val="000000"/>
                    </a:solidFill>
                    <a:latin typeface="Times New Roman" panose="02020603050405020304" pitchFamily="18" charset="0"/>
                    <a:cs typeface="Times New Roman" panose="02020603050405020304" pitchFamily="18" charset="0"/>
                  </a:rPr>
                  <a:t>1)</a:t>
                </a:r>
                <a:r>
                  <a:rPr lang="en-US" altLang="zh-CN" sz="2600" i="1">
                    <a:solidFill>
                      <a:srgbClr val="000000"/>
                    </a:solidFill>
                    <a:latin typeface="Times New Roman" panose="02020603050405020304" pitchFamily="18" charset="0"/>
                    <a:cs typeface="Times New Roman" panose="02020603050405020304" pitchFamily="18" charset="0"/>
                  </a:rPr>
                  <a:t>.</a:t>
                </a:r>
                <a:endParaRPr lang="zh-CN" altLang="zh-CN" sz="26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600">
                    <a:solidFill>
                      <a:srgbClr val="000000"/>
                    </a:solidFill>
                    <a:latin typeface="Times New Roman" panose="02020603050405020304" pitchFamily="18" charset="0"/>
                    <a:cs typeface="Times New Roman" panose="02020603050405020304" pitchFamily="18" charset="0"/>
                  </a:rPr>
                  <a:t>(3)</a:t>
                </a:r>
                <a:r>
                  <a:rPr lang="zh-CN" altLang="zh-CN" sz="2600">
                    <a:solidFill>
                      <a:srgbClr val="000000"/>
                    </a:solidFill>
                    <a:latin typeface="Times New Roman" panose="02020603050405020304" pitchFamily="18" charset="0"/>
                    <a:cs typeface="Times New Roman" panose="02020603050405020304" pitchFamily="18" charset="0"/>
                  </a:rPr>
                  <a:t>是否有</a:t>
                </a:r>
                <a:r>
                  <a:rPr lang="en-US" altLang="zh-CN" sz="2600">
                    <a:solidFill>
                      <a:srgbClr val="000000"/>
                    </a:solidFill>
                    <a:latin typeface="Times New Roman" panose="02020603050405020304" pitchFamily="18" charset="0"/>
                    <a:cs typeface="Times New Roman" panose="02020603050405020304" pitchFamily="18" charset="0"/>
                  </a:rPr>
                  <a:t>95%</a:t>
                </a:r>
                <a:r>
                  <a:rPr lang="zh-CN" altLang="zh-CN" sz="2600">
                    <a:solidFill>
                      <a:srgbClr val="000000"/>
                    </a:solidFill>
                    <a:latin typeface="Times New Roman" panose="02020603050405020304" pitchFamily="18" charset="0"/>
                    <a:cs typeface="Times New Roman" panose="02020603050405020304" pitchFamily="18" charset="0"/>
                  </a:rPr>
                  <a:t>的把握认为该地区初中学生学业成绩优秀与日均体育锻炼时长不少于</a:t>
                </a:r>
                <a:r>
                  <a:rPr lang="en-US" altLang="zh-CN" sz="2600">
                    <a:solidFill>
                      <a:srgbClr val="000000"/>
                    </a:solidFill>
                    <a:latin typeface="Times New Roman" panose="02020603050405020304" pitchFamily="18" charset="0"/>
                    <a:cs typeface="Times New Roman" panose="02020603050405020304" pitchFamily="18" charset="0"/>
                  </a:rPr>
                  <a:t>1</a:t>
                </a:r>
                <a:r>
                  <a:rPr lang="zh-CN" altLang="zh-CN" sz="2600">
                    <a:solidFill>
                      <a:srgbClr val="000000"/>
                    </a:solidFill>
                    <a:latin typeface="Times New Roman" panose="02020603050405020304" pitchFamily="18" charset="0"/>
                    <a:cs typeface="Times New Roman" panose="02020603050405020304" pitchFamily="18" charset="0"/>
                  </a:rPr>
                  <a:t>小时但少于</a:t>
                </a:r>
                <a:r>
                  <a:rPr lang="en-US" altLang="zh-CN" sz="2600">
                    <a:solidFill>
                      <a:srgbClr val="000000"/>
                    </a:solidFill>
                    <a:latin typeface="Times New Roman" panose="02020603050405020304" pitchFamily="18" charset="0"/>
                    <a:cs typeface="Times New Roman" panose="02020603050405020304" pitchFamily="18" charset="0"/>
                  </a:rPr>
                  <a:t>2</a:t>
                </a:r>
                <a:r>
                  <a:rPr lang="zh-CN" altLang="zh-CN" sz="2600">
                    <a:solidFill>
                      <a:srgbClr val="000000"/>
                    </a:solidFill>
                    <a:latin typeface="Times New Roman" panose="02020603050405020304" pitchFamily="18" charset="0"/>
                    <a:cs typeface="Times New Roman" panose="02020603050405020304" pitchFamily="18" charset="0"/>
                  </a:rPr>
                  <a:t>小时有关</a:t>
                </a:r>
                <a:r>
                  <a:rPr lang="en-US" altLang="zh-CN" sz="2600">
                    <a:solidFill>
                      <a:srgbClr val="000000"/>
                    </a:solidFill>
                    <a:latin typeface="Times New Roman" panose="02020603050405020304" pitchFamily="18" charset="0"/>
                    <a:cs typeface="Times New Roman" panose="02020603050405020304" pitchFamily="18" charset="0"/>
                  </a:rPr>
                  <a:t>?</a:t>
                </a:r>
                <a:endParaRPr lang="zh-CN" altLang="zh-CN" sz="26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600">
                    <a:solidFill>
                      <a:srgbClr val="000000"/>
                    </a:solidFill>
                    <a:latin typeface="Times New Roman" panose="02020603050405020304" pitchFamily="18" charset="0"/>
                    <a:cs typeface="Times New Roman" panose="02020603050405020304" pitchFamily="18" charset="0"/>
                  </a:rPr>
                  <a:t>附</a:t>
                </a:r>
                <a:r>
                  <a:rPr lang="en-US" altLang="zh-CN" sz="2600">
                    <a:solidFill>
                      <a:srgbClr val="000000"/>
                    </a:solidFill>
                    <a:latin typeface="Times New Roman" panose="02020603050405020304" pitchFamily="18" charset="0"/>
                    <a:cs typeface="Times New Roman" panose="02020603050405020304" pitchFamily="18" charset="0"/>
                  </a:rPr>
                  <a:t>:</a:t>
                </a:r>
                <a:r>
                  <a:rPr lang="en-US" altLang="zh-CN" sz="26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600" baseline="30000">
                    <a:solidFill>
                      <a:srgbClr val="000000"/>
                    </a:solidFill>
                    <a:latin typeface="Times New Roman" panose="02020603050405020304" pitchFamily="18" charset="0"/>
                    <a:cs typeface="Times New Roman" panose="02020603050405020304" pitchFamily="18" charset="0"/>
                  </a:rPr>
                  <a:t>2</a:t>
                </a:r>
                <a:r>
                  <a:rPr lang="en-US" altLang="zh-CN" sz="2600" i="1">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6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i="1">
                            <a:solidFill>
                              <a:srgbClr val="000000"/>
                            </a:solidFill>
                            <a:latin typeface="Cambria Math" panose="02040503050406030204" pitchFamily="18" charset="0"/>
                            <a:cs typeface="Times New Roman" panose="02020603050405020304" pitchFamily="18" charset="0"/>
                          </a:rPr>
                          <m:t>𝑛</m:t>
                        </m:r>
                        <m:r>
                          <m:rPr>
                            <m:nor/>
                          </m:rPr>
                          <a:rPr lang="en-US" altLang="zh-CN" sz="2600">
                            <a:solidFill>
                              <a:srgbClr val="000000"/>
                            </a:solidFill>
                            <a:latin typeface="Times New Roman" panose="02020603050405020304" pitchFamily="18" charset="0"/>
                            <a:cs typeface="Times New Roman" panose="02020603050405020304" pitchFamily="18" charset="0"/>
                          </a:rPr>
                          <m:t>(</m:t>
                        </m:r>
                        <m:r>
                          <a:rPr lang="en-US" altLang="zh-CN" sz="2600" i="1">
                            <a:solidFill>
                              <a:srgbClr val="000000"/>
                            </a:solidFill>
                            <a:latin typeface="Cambria Math" panose="02040503050406030204" pitchFamily="18" charset="0"/>
                            <a:cs typeface="Times New Roman" panose="02020603050405020304" pitchFamily="18" charset="0"/>
                          </a:rPr>
                          <m:t>𝑎𝑑</m:t>
                        </m:r>
                        <m:r>
                          <m:rPr>
                            <m:nor/>
                          </m:rPr>
                          <a:rPr lang="en-US" altLang="zh-CN" sz="2600" i="1">
                            <a:solidFill>
                              <a:srgbClr val="000000"/>
                            </a:solidFill>
                            <a:latin typeface="Times New Roman" panose="02020603050405020304" pitchFamily="18" charset="0"/>
                            <a:cs typeface="Times New Roman" panose="02020603050405020304" pitchFamily="18" charset="0"/>
                          </a:rPr>
                          <m:t>−</m:t>
                        </m:r>
                        <m:r>
                          <a:rPr lang="en-US" altLang="zh-CN" sz="2600" i="1">
                            <a:solidFill>
                              <a:srgbClr val="000000"/>
                            </a:solidFill>
                            <a:latin typeface="Cambria Math" panose="02040503050406030204" pitchFamily="18" charset="0"/>
                            <a:cs typeface="Times New Roman" panose="02020603050405020304" pitchFamily="18" charset="0"/>
                          </a:rPr>
                          <m:t>𝑏𝑐</m:t>
                        </m:r>
                        <m:sSup>
                          <m:sSupPr>
                            <m:ctrlPr>
                              <a:rPr lang="zh-CN" altLang="zh-CN" sz="26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m:rPr>
                                <m:nor/>
                              </m:rPr>
                              <a:rPr lang="en-US" altLang="zh-CN" sz="2600">
                                <a:solidFill>
                                  <a:srgbClr val="000000"/>
                                </a:solidFill>
                                <a:latin typeface="Times New Roman" panose="02020603050405020304" pitchFamily="18" charset="0"/>
                                <a:cs typeface="Times New Roman" panose="02020603050405020304" pitchFamily="18" charset="0"/>
                              </a:rPr>
                              <m:t>)</m:t>
                            </m:r>
                          </m:e>
                          <m:sup>
                            <m:r>
                              <a:rPr lang="en-US" altLang="zh-CN" sz="2600">
                                <a:solidFill>
                                  <a:srgbClr val="000000"/>
                                </a:solidFill>
                                <a:latin typeface="Cambria Math" panose="02040503050406030204" pitchFamily="18" charset="0"/>
                                <a:cs typeface="Times New Roman" panose="02020603050405020304" pitchFamily="18" charset="0"/>
                              </a:rPr>
                              <m:t>2</m:t>
                            </m:r>
                          </m:sup>
                        </m:sSup>
                      </m:num>
                      <m:den>
                        <m:r>
                          <m:rPr>
                            <m:nor/>
                          </m:rPr>
                          <a:rPr lang="en-US" altLang="zh-CN" sz="2600">
                            <a:solidFill>
                              <a:srgbClr val="000000"/>
                            </a:solidFill>
                            <a:latin typeface="Times New Roman" panose="02020603050405020304" pitchFamily="18" charset="0"/>
                            <a:cs typeface="Times New Roman" panose="02020603050405020304" pitchFamily="18" charset="0"/>
                          </a:rPr>
                          <m:t>(</m:t>
                        </m:r>
                        <m:r>
                          <a:rPr lang="en-US" altLang="zh-CN" sz="2600" i="1">
                            <a:solidFill>
                              <a:srgbClr val="000000"/>
                            </a:solidFill>
                            <a:latin typeface="Cambria Math" panose="02040503050406030204" pitchFamily="18" charset="0"/>
                            <a:cs typeface="Times New Roman" panose="02020603050405020304" pitchFamily="18" charset="0"/>
                          </a:rPr>
                          <m:t>𝑎</m:t>
                        </m:r>
                        <m:r>
                          <a:rPr lang="en-US" altLang="zh-CN" sz="2600">
                            <a:solidFill>
                              <a:srgbClr val="000000"/>
                            </a:solidFill>
                            <a:latin typeface="Cambria Math" panose="02040503050406030204" pitchFamily="18" charset="0"/>
                            <a:cs typeface="Times New Roman" panose="02020603050405020304" pitchFamily="18" charset="0"/>
                          </a:rPr>
                          <m:t>+</m:t>
                        </m:r>
                        <m:r>
                          <a:rPr lang="en-US" altLang="zh-CN" sz="2600" i="1">
                            <a:solidFill>
                              <a:srgbClr val="000000"/>
                            </a:solidFill>
                            <a:latin typeface="Cambria Math" panose="02040503050406030204" pitchFamily="18" charset="0"/>
                            <a:cs typeface="Times New Roman" panose="02020603050405020304" pitchFamily="18" charset="0"/>
                          </a:rPr>
                          <m:t>𝑏</m:t>
                        </m:r>
                        <m:r>
                          <m:rPr>
                            <m:nor/>
                          </m:rPr>
                          <a:rPr lang="en-US" altLang="zh-CN" sz="2600">
                            <a:solidFill>
                              <a:srgbClr val="000000"/>
                            </a:solidFill>
                            <a:latin typeface="Times New Roman" panose="02020603050405020304" pitchFamily="18" charset="0"/>
                            <a:cs typeface="Times New Roman" panose="02020603050405020304" pitchFamily="18" charset="0"/>
                          </a:rPr>
                          <m:t>)(</m:t>
                        </m:r>
                        <m:r>
                          <a:rPr lang="en-US" altLang="zh-CN" sz="2600" i="1">
                            <a:solidFill>
                              <a:srgbClr val="000000"/>
                            </a:solidFill>
                            <a:latin typeface="Cambria Math" panose="02040503050406030204" pitchFamily="18" charset="0"/>
                            <a:cs typeface="Times New Roman" panose="02020603050405020304" pitchFamily="18" charset="0"/>
                          </a:rPr>
                          <m:t>𝑐</m:t>
                        </m:r>
                        <m:r>
                          <a:rPr lang="en-US" altLang="zh-CN" sz="2600">
                            <a:solidFill>
                              <a:srgbClr val="000000"/>
                            </a:solidFill>
                            <a:latin typeface="Cambria Math" panose="02040503050406030204" pitchFamily="18" charset="0"/>
                            <a:cs typeface="Times New Roman" panose="02020603050405020304" pitchFamily="18" charset="0"/>
                          </a:rPr>
                          <m:t>+</m:t>
                        </m:r>
                        <m:r>
                          <a:rPr lang="en-US" altLang="zh-CN" sz="2600" i="1">
                            <a:solidFill>
                              <a:srgbClr val="000000"/>
                            </a:solidFill>
                            <a:latin typeface="Cambria Math" panose="02040503050406030204" pitchFamily="18" charset="0"/>
                            <a:cs typeface="Times New Roman" panose="02020603050405020304" pitchFamily="18" charset="0"/>
                          </a:rPr>
                          <m:t>𝑑</m:t>
                        </m:r>
                        <m:r>
                          <m:rPr>
                            <m:nor/>
                          </m:rPr>
                          <a:rPr lang="en-US" altLang="zh-CN" sz="2600">
                            <a:solidFill>
                              <a:srgbClr val="000000"/>
                            </a:solidFill>
                            <a:latin typeface="Times New Roman" panose="02020603050405020304" pitchFamily="18" charset="0"/>
                            <a:cs typeface="Times New Roman" panose="02020603050405020304" pitchFamily="18" charset="0"/>
                          </a:rPr>
                          <m:t>)(</m:t>
                        </m:r>
                        <m:r>
                          <a:rPr lang="en-US" altLang="zh-CN" sz="2600" i="1">
                            <a:solidFill>
                              <a:srgbClr val="000000"/>
                            </a:solidFill>
                            <a:latin typeface="Cambria Math" panose="02040503050406030204" pitchFamily="18" charset="0"/>
                            <a:cs typeface="Times New Roman" panose="02020603050405020304" pitchFamily="18" charset="0"/>
                          </a:rPr>
                          <m:t>𝑎</m:t>
                        </m:r>
                        <m:r>
                          <a:rPr lang="en-US" altLang="zh-CN" sz="2600">
                            <a:solidFill>
                              <a:srgbClr val="000000"/>
                            </a:solidFill>
                            <a:latin typeface="Cambria Math" panose="02040503050406030204" pitchFamily="18" charset="0"/>
                            <a:cs typeface="Times New Roman" panose="02020603050405020304" pitchFamily="18" charset="0"/>
                          </a:rPr>
                          <m:t>+</m:t>
                        </m:r>
                        <m:r>
                          <a:rPr lang="en-US" altLang="zh-CN" sz="2600" i="1">
                            <a:solidFill>
                              <a:srgbClr val="000000"/>
                            </a:solidFill>
                            <a:latin typeface="Cambria Math" panose="02040503050406030204" pitchFamily="18" charset="0"/>
                            <a:cs typeface="Times New Roman" panose="02020603050405020304" pitchFamily="18" charset="0"/>
                          </a:rPr>
                          <m:t>𝑐</m:t>
                        </m:r>
                        <m:r>
                          <m:rPr>
                            <m:nor/>
                          </m:rPr>
                          <a:rPr lang="en-US" altLang="zh-CN" sz="2600">
                            <a:solidFill>
                              <a:srgbClr val="000000"/>
                            </a:solidFill>
                            <a:latin typeface="Times New Roman" panose="02020603050405020304" pitchFamily="18" charset="0"/>
                            <a:cs typeface="Times New Roman" panose="02020603050405020304" pitchFamily="18" charset="0"/>
                          </a:rPr>
                          <m:t>)(</m:t>
                        </m:r>
                        <m:r>
                          <a:rPr lang="en-US" altLang="zh-CN" sz="2600" i="1">
                            <a:solidFill>
                              <a:srgbClr val="000000"/>
                            </a:solidFill>
                            <a:latin typeface="Cambria Math" panose="02040503050406030204" pitchFamily="18" charset="0"/>
                            <a:cs typeface="Times New Roman" panose="02020603050405020304" pitchFamily="18" charset="0"/>
                          </a:rPr>
                          <m:t>𝑏</m:t>
                        </m:r>
                        <m:r>
                          <a:rPr lang="en-US" altLang="zh-CN" sz="2600">
                            <a:solidFill>
                              <a:srgbClr val="000000"/>
                            </a:solidFill>
                            <a:latin typeface="Cambria Math" panose="02040503050406030204" pitchFamily="18" charset="0"/>
                            <a:cs typeface="Times New Roman" panose="02020603050405020304" pitchFamily="18" charset="0"/>
                          </a:rPr>
                          <m:t>+</m:t>
                        </m:r>
                        <m:r>
                          <a:rPr lang="en-US" altLang="zh-CN" sz="2600" i="1">
                            <a:solidFill>
                              <a:srgbClr val="000000"/>
                            </a:solidFill>
                            <a:latin typeface="Cambria Math" panose="02040503050406030204" pitchFamily="18" charset="0"/>
                            <a:cs typeface="Times New Roman" panose="02020603050405020304" pitchFamily="18" charset="0"/>
                          </a:rPr>
                          <m:t>𝑑</m:t>
                        </m:r>
                        <m:r>
                          <m:rPr>
                            <m:nor/>
                          </m:rPr>
                          <a:rPr lang="en-US" altLang="zh-CN" sz="2600">
                            <a:solidFill>
                              <a:srgbClr val="000000"/>
                            </a:solidFill>
                            <a:latin typeface="Times New Roman" panose="02020603050405020304" pitchFamily="18" charset="0"/>
                            <a:cs typeface="Times New Roman" panose="02020603050405020304" pitchFamily="18" charset="0"/>
                          </a:rPr>
                          <m:t>)</m:t>
                        </m:r>
                      </m:den>
                    </m:f>
                  </m:oMath>
                </a14:m>
                <a:r>
                  <a:rPr lang="en-US" altLang="zh-CN" sz="2600">
                    <a:solidFill>
                      <a:srgbClr val="000000"/>
                    </a:solidFill>
                    <a:latin typeface="Times New Roman" panose="02020603050405020304" pitchFamily="18" charset="0"/>
                    <a:cs typeface="Times New Roman" panose="02020603050405020304" pitchFamily="18" charset="0"/>
                  </a:rPr>
                  <a:t>,</a:t>
                </a:r>
                <a:r>
                  <a:rPr lang="en-US" altLang="zh-CN" sz="2600" i="1">
                    <a:solidFill>
                      <a:srgbClr val="000000"/>
                    </a:solidFill>
                    <a:latin typeface="Times New Roman" panose="02020603050405020304" pitchFamily="18" charset="0"/>
                    <a:cs typeface="Times New Roman" panose="02020603050405020304" pitchFamily="18" charset="0"/>
                  </a:rPr>
                  <a:t>P</a:t>
                </a:r>
                <a:r>
                  <a:rPr lang="en-US" altLang="zh-CN" sz="2600">
                    <a:solidFill>
                      <a:srgbClr val="000000"/>
                    </a:solidFill>
                    <a:latin typeface="Times New Roman" panose="02020603050405020304" pitchFamily="18" charset="0"/>
                    <a:cs typeface="Times New Roman" panose="02020603050405020304" pitchFamily="18" charset="0"/>
                  </a:rPr>
                  <a:t>(</a:t>
                </a:r>
                <a:r>
                  <a:rPr lang="en-US" altLang="zh-CN" sz="26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600" baseline="30000">
                    <a:solidFill>
                      <a:srgbClr val="000000"/>
                    </a:solidFill>
                    <a:latin typeface="Times New Roman" panose="02020603050405020304" pitchFamily="18" charset="0"/>
                    <a:cs typeface="Times New Roman" panose="02020603050405020304" pitchFamily="18" charset="0"/>
                  </a:rPr>
                  <a:t>2</a:t>
                </a:r>
                <a:r>
                  <a:rPr lang="en-US" altLang="zh-CN" sz="260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en-US" altLang="zh-CN" sz="2600">
                    <a:solidFill>
                      <a:srgbClr val="000000"/>
                    </a:solidFill>
                    <a:latin typeface="Times New Roman" panose="02020603050405020304" pitchFamily="18" charset="0"/>
                    <a:cs typeface="Times New Roman" panose="02020603050405020304" pitchFamily="18" charset="0"/>
                  </a:rPr>
                  <a:t>3</a:t>
                </a:r>
                <a:r>
                  <a:rPr lang="en-US" altLang="zh-CN" sz="2600" i="1">
                    <a:solidFill>
                      <a:srgbClr val="000000"/>
                    </a:solidFill>
                    <a:latin typeface="Times New Roman" panose="02020603050405020304" pitchFamily="18" charset="0"/>
                    <a:cs typeface="Times New Roman" panose="02020603050405020304" pitchFamily="18" charset="0"/>
                  </a:rPr>
                  <a:t>.</a:t>
                </a:r>
                <a:r>
                  <a:rPr lang="en-US" altLang="zh-CN" sz="2600">
                    <a:solidFill>
                      <a:srgbClr val="000000"/>
                    </a:solidFill>
                    <a:latin typeface="Times New Roman" panose="02020603050405020304" pitchFamily="18" charset="0"/>
                    <a:cs typeface="Times New Roman" panose="02020603050405020304" pitchFamily="18" charset="0"/>
                  </a:rPr>
                  <a:t>841)≈0</a:t>
                </a:r>
                <a:r>
                  <a:rPr lang="en-US" altLang="zh-CN" sz="2600" i="1">
                    <a:solidFill>
                      <a:srgbClr val="000000"/>
                    </a:solidFill>
                    <a:latin typeface="Times New Roman" panose="02020603050405020304" pitchFamily="18" charset="0"/>
                    <a:cs typeface="Times New Roman" panose="02020603050405020304" pitchFamily="18" charset="0"/>
                  </a:rPr>
                  <a:t>.</a:t>
                </a:r>
                <a:r>
                  <a:rPr lang="en-US" altLang="zh-CN" sz="2600">
                    <a:solidFill>
                      <a:srgbClr val="000000"/>
                    </a:solidFill>
                    <a:latin typeface="Times New Roman" panose="02020603050405020304" pitchFamily="18" charset="0"/>
                    <a:cs typeface="Times New Roman" panose="02020603050405020304" pitchFamily="18" charset="0"/>
                  </a:rPr>
                  <a:t>05</a:t>
                </a:r>
                <a:r>
                  <a:rPr lang="en-US" altLang="zh-CN" sz="2600" i="1">
                    <a:solidFill>
                      <a:srgbClr val="000000"/>
                    </a:solidFill>
                    <a:latin typeface="Times New Roman" panose="02020603050405020304" pitchFamily="18" charset="0"/>
                    <a:cs typeface="Times New Roman" panose="02020603050405020304" pitchFamily="18" charset="0"/>
                  </a:rPr>
                  <a:t>.</a:t>
                </a:r>
                <a:endParaRPr lang="zh-CN" altLang="zh-CN" sz="260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xmlns="">
          <p:sp>
            <p:nvSpPr>
              <p:cNvPr id="7" name="矩形 6"/>
              <p:cNvSpPr>
                <a:spLocks noRot="1" noChangeAspect="1" noMove="1" noResize="1" noEditPoints="1" noAdjustHandles="1" noChangeArrowheads="1" noChangeShapeType="1" noTextEdit="1"/>
              </p:cNvSpPr>
              <p:nvPr/>
            </p:nvSpPr>
            <p:spPr>
              <a:xfrm>
                <a:off x="381000" y="3257339"/>
                <a:ext cx="11430000" cy="3135667"/>
              </a:xfrm>
              <a:prstGeom prst="rect">
                <a:avLst/>
              </a:prstGeom>
              <a:blipFill rotWithShape="0">
                <a:blip r:embed="rId2"/>
                <a:stretch>
                  <a:fillRect l="-960" t="-194" r="-42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801684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矩形 6"/>
              <p:cNvSpPr>
                <a:spLocks noChangeAspect="1"/>
              </p:cNvSpPr>
              <p:nvPr/>
            </p:nvSpPr>
            <p:spPr>
              <a:xfrm>
                <a:off x="381000" y="626348"/>
                <a:ext cx="11430000" cy="493834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(1)580</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人中日均体育锻炼时长不少于</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小时人数占比为</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42+3+1+137+40+27</m:t>
                        </m:r>
                      </m:num>
                      <m:den>
                        <m:r>
                          <a:rPr lang="en-US" altLang="zh-CN" sz="2800">
                            <a:solidFill>
                              <a:srgbClr val="000000"/>
                            </a:solidFill>
                            <a:latin typeface="Cambria Math" panose="02040503050406030204" pitchFamily="18" charset="0"/>
                            <a:cs typeface="Times New Roman" panose="02020603050405020304" pitchFamily="18" charset="0"/>
                          </a:rPr>
                          <m:t>580</m:t>
                        </m:r>
                      </m:den>
                    </m:f>
                    <m:r>
                      <a:rPr lang="en-US" altLang="zh-CN" sz="2800" i="1">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25</m:t>
                        </m:r>
                      </m:num>
                      <m:den>
                        <m:r>
                          <a:rPr lang="en-US" altLang="zh-CN" sz="2800">
                            <a:solidFill>
                              <a:srgbClr val="000000"/>
                            </a:solidFill>
                            <a:latin typeface="Cambria Math" panose="02040503050406030204" pitchFamily="18" charset="0"/>
                            <a:cs typeface="Times New Roman" panose="02020603050405020304" pitchFamily="18" charset="0"/>
                          </a:rPr>
                          <m:t>58</m:t>
                        </m:r>
                      </m:den>
                    </m:f>
                  </m:oMath>
                </a14:m>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该地区</a:t>
                </a:r>
                <a:r>
                  <a:rPr lang="en-US" altLang="zh-CN" sz="2800">
                    <a:solidFill>
                      <a:srgbClr val="000000"/>
                    </a:solidFill>
                    <a:latin typeface="Times New Roman" panose="02020603050405020304" pitchFamily="18" charset="0"/>
                    <a:cs typeface="Times New Roman" panose="02020603050405020304" pitchFamily="18" charset="0"/>
                  </a:rPr>
                  <a:t>29</a:t>
                </a:r>
                <a:r>
                  <a:rPr lang="en-US"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000</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名初中学生中日均体育锻炼时长不少于</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小时的人数约为</a:t>
                </a:r>
                <a:r>
                  <a:rPr lang="en-US" altLang="zh-CN" sz="2800">
                    <a:solidFill>
                      <a:srgbClr val="000000"/>
                    </a:solidFill>
                    <a:latin typeface="Times New Roman" panose="02020603050405020304" pitchFamily="18" charset="0"/>
                    <a:cs typeface="Times New Roman" panose="02020603050405020304" pitchFamily="18" charset="0"/>
                  </a:rPr>
                  <a:t>29</a:t>
                </a:r>
                <a:r>
                  <a:rPr lang="en-US"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000×</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25</m:t>
                        </m:r>
                      </m:num>
                      <m:den>
                        <m:r>
                          <a:rPr lang="en-US" altLang="zh-CN" sz="2800">
                            <a:solidFill>
                              <a:srgbClr val="000000"/>
                            </a:solidFill>
                            <a:latin typeface="Cambria Math" panose="02040503050406030204" pitchFamily="18" charset="0"/>
                            <a:cs typeface="Times New Roman" panose="02020603050405020304" pitchFamily="18" charset="0"/>
                          </a:rPr>
                          <m:t>58</m:t>
                        </m:r>
                      </m:den>
                    </m:f>
                  </m:oMath>
                </a14:m>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12</a:t>
                </a:r>
                <a:r>
                  <a:rPr lang="en-US"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500</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该地区初中学生的日均体育锻炼时长约为</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580</m:t>
                        </m:r>
                      </m:den>
                    </m:f>
                    <m:r>
                      <a:rPr lang="en-US" altLang="zh-CN" sz="2800">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0</m:t>
                        </m:r>
                        <m:r>
                          <m:rPr>
                            <m:nor/>
                          </m:rPr>
                          <a:rPr lang="en-US" altLang="zh-CN" sz="2800">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5</m:t>
                        </m:r>
                      </m:num>
                      <m:den>
                        <m:r>
                          <a:rPr lang="en-US" altLang="zh-CN" sz="2800">
                            <a:solidFill>
                              <a:srgbClr val="000000"/>
                            </a:solidFill>
                            <a:latin typeface="Cambria Math" panose="02040503050406030204" pitchFamily="18" charset="0"/>
                            <a:cs typeface="Times New Roman" panose="02020603050405020304" pitchFamily="18" charset="0"/>
                          </a:rPr>
                          <m:t>2</m:t>
                        </m:r>
                      </m:den>
                    </m:f>
                  </m:oMath>
                </a14:m>
                <a:r>
                  <a:rPr lang="en-US" altLang="zh-CN" sz="2800">
                    <a:solidFill>
                      <a:srgbClr val="000000"/>
                    </a:solidFill>
                    <a:latin typeface="Times New Roman" panose="02020603050405020304" pitchFamily="18" charset="0"/>
                    <a:cs typeface="Times New Roman" panose="02020603050405020304" pitchFamily="18" charset="0"/>
                  </a:rPr>
                  <a:t>×(5</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134)</a:t>
                </a:r>
                <a:r>
                  <a:rPr lang="en-US" altLang="zh-CN" sz="2800" i="1">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0</m:t>
                        </m:r>
                        <m:r>
                          <m:rPr>
                            <m:nor/>
                          </m:rPr>
                          <a:rPr lang="en-US" altLang="zh-CN" sz="2800">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5+1</m:t>
                        </m:r>
                      </m:num>
                      <m:den>
                        <m:r>
                          <a:rPr lang="en-US" altLang="zh-CN" sz="2800">
                            <a:solidFill>
                              <a:srgbClr val="000000"/>
                            </a:solidFill>
                            <a:latin typeface="Cambria Math" panose="02040503050406030204" pitchFamily="18" charset="0"/>
                            <a:cs typeface="Times New Roman" panose="02020603050405020304" pitchFamily="18" charset="0"/>
                          </a:rPr>
                          <m:t>2</m:t>
                        </m:r>
                      </m:den>
                    </m:f>
                  </m:oMath>
                </a14:m>
                <a:r>
                  <a:rPr lang="en-US" altLang="zh-CN" sz="2800">
                    <a:solidFill>
                      <a:srgbClr val="000000"/>
                    </a:solidFill>
                    <a:latin typeface="Times New Roman" panose="02020603050405020304" pitchFamily="18" charset="0"/>
                    <a:cs typeface="Times New Roman" panose="02020603050405020304" pitchFamily="18" charset="0"/>
                  </a:rPr>
                  <a:t>×(44</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147)</a:t>
                </a:r>
                <a:r>
                  <a:rPr lang="en-US" altLang="zh-CN" sz="2800" i="1">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1+1</m:t>
                        </m:r>
                        <m:r>
                          <m:rPr>
                            <m:nor/>
                          </m:rPr>
                          <a:rPr lang="en-US" altLang="zh-CN" sz="2800">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5</m:t>
                        </m:r>
                      </m:num>
                      <m:den>
                        <m:r>
                          <a:rPr lang="en-US" altLang="zh-CN" sz="2800">
                            <a:solidFill>
                              <a:srgbClr val="000000"/>
                            </a:solidFill>
                            <a:latin typeface="Cambria Math" panose="02040503050406030204" pitchFamily="18" charset="0"/>
                            <a:cs typeface="Times New Roman" panose="02020603050405020304" pitchFamily="18" charset="0"/>
                          </a:rPr>
                          <m:t>2</m:t>
                        </m:r>
                      </m:den>
                    </m:f>
                  </m:oMath>
                </a14:m>
                <a:r>
                  <a:rPr lang="en-US" altLang="zh-CN" sz="2800">
                    <a:solidFill>
                      <a:srgbClr val="000000"/>
                    </a:solidFill>
                    <a:latin typeface="Times New Roman" panose="02020603050405020304" pitchFamily="18" charset="0"/>
                    <a:cs typeface="Times New Roman" panose="02020603050405020304" pitchFamily="18" charset="0"/>
                  </a:rPr>
                  <a:t>×(42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137)</a:t>
                </a:r>
                <a:r>
                  <a:rPr lang="en-US" altLang="zh-CN" sz="2800" i="1">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r>
                          <m:rPr>
                            <m:nor/>
                          </m:rPr>
                          <a:rPr lang="en-US" altLang="zh-CN" sz="2800">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5+2</m:t>
                        </m:r>
                      </m:num>
                      <m:den>
                        <m:r>
                          <a:rPr lang="en-US" altLang="zh-CN" sz="2800">
                            <a:solidFill>
                              <a:srgbClr val="000000"/>
                            </a:solidFill>
                            <a:latin typeface="Cambria Math" panose="02040503050406030204" pitchFamily="18" charset="0"/>
                            <a:cs typeface="Times New Roman" panose="02020603050405020304" pitchFamily="18" charset="0"/>
                          </a:rPr>
                          <m:t>2</m:t>
                        </m:r>
                      </m:den>
                    </m:f>
                  </m:oMath>
                </a14:m>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40)</a:t>
                </a:r>
                <a:r>
                  <a:rPr lang="en-US" altLang="zh-CN" sz="2800" i="1">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2+2</m:t>
                        </m:r>
                        <m:r>
                          <m:rPr>
                            <m:nor/>
                          </m:rPr>
                          <a:rPr lang="en-US" altLang="zh-CN" sz="2800">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5</m:t>
                        </m:r>
                      </m:num>
                      <m:den>
                        <m:r>
                          <a:rPr lang="en-US" altLang="zh-CN" sz="2800">
                            <a:solidFill>
                              <a:srgbClr val="000000"/>
                            </a:solidFill>
                            <a:latin typeface="Cambria Math" panose="02040503050406030204" pitchFamily="18" charset="0"/>
                            <a:cs typeface="Times New Roman" panose="02020603050405020304" pitchFamily="18" charset="0"/>
                          </a:rPr>
                          <m:t>2</m:t>
                        </m:r>
                      </m:den>
                    </m:f>
                  </m:oMath>
                </a14:m>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27)]</a:t>
                </a:r>
                <a:r>
                  <a:rPr lang="en-US" altLang="zh-CN" sz="2800" i="1">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27</m:t>
                        </m:r>
                      </m:num>
                      <m:den>
                        <m:r>
                          <a:rPr lang="en-US" altLang="zh-CN" sz="2800">
                            <a:solidFill>
                              <a:srgbClr val="000000"/>
                            </a:solidFill>
                            <a:latin typeface="Cambria Math" panose="02040503050406030204" pitchFamily="18" charset="0"/>
                            <a:cs typeface="Times New Roman" panose="02020603050405020304" pitchFamily="18" charset="0"/>
                          </a:rPr>
                          <m:t>29</m:t>
                        </m:r>
                      </m:den>
                    </m:f>
                  </m:oMath>
                </a14:m>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9(</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小时</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xmlns="">
          <p:sp>
            <p:nvSpPr>
              <p:cNvPr id="7" name="矩形 6"/>
              <p:cNvSpPr>
                <a:spLocks noRot="1" noChangeAspect="1" noMove="1" noResize="1" noEditPoints="1" noAdjustHandles="1" noChangeArrowheads="1" noChangeShapeType="1" noTextEdit="1"/>
              </p:cNvSpPr>
              <p:nvPr/>
            </p:nvSpPr>
            <p:spPr>
              <a:xfrm>
                <a:off x="381000" y="626348"/>
                <a:ext cx="11430000" cy="4938340"/>
              </a:xfrm>
              <a:prstGeom prst="rect">
                <a:avLst/>
              </a:prstGeom>
              <a:blipFill rotWithShape="0">
                <a:blip r:embed="rId2"/>
                <a:stretch>
                  <a:fillRect l="-1120" t="-370" b="-61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39425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81000" y="231022"/>
            <a:ext cx="694421"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smtClean="0">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表格 4"/>
          <p:cNvGraphicFramePr>
            <a:graphicFrameLocks noGrp="1" noChangeAspect="1"/>
          </p:cNvGraphicFramePr>
          <p:nvPr>
            <p:extLst>
              <p:ext uri="{D42A27DB-BD31-4B8C-83A1-F6EECF244321}">
                <p14:modId xmlns:p14="http://schemas.microsoft.com/office/powerpoint/2010/main" val="414904314"/>
              </p:ext>
            </p:extLst>
          </p:nvPr>
        </p:nvGraphicFramePr>
        <p:xfrm>
          <a:off x="381000" y="883508"/>
          <a:ext cx="11430000" cy="1485138"/>
        </p:xfrm>
        <a:graphic>
          <a:graphicData uri="http://schemas.openxmlformats.org/drawingml/2006/table">
            <a:tbl>
              <a:tblPr firstRow="1" firstCol="1" bandRow="1"/>
              <a:tblGrid>
                <a:gridCol w="2857500"/>
                <a:gridCol w="2857500"/>
                <a:gridCol w="2857500"/>
                <a:gridCol w="2857500"/>
              </a:tblGrid>
              <a:tr h="0">
                <a:tc>
                  <a:txBody>
                    <a:bodyPr/>
                    <a:lstStyle/>
                    <a:p>
                      <a:pPr algn="ctr">
                        <a:lnSpc>
                          <a:spcPct val="13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时长</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其他</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总数</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3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优秀</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3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不优秀</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177</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308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485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mc:AlternateContent xmlns:mc="http://schemas.openxmlformats.org/markup-compatibility/2006" xmlns:a14="http://schemas.microsoft.com/office/drawing/2010/main">
        <mc:Choice Requires="a14">
          <p:sp>
            <p:nvSpPr>
              <p:cNvPr id="6" name="矩形 5"/>
              <p:cNvSpPr>
                <a:spLocks noChangeAspect="1"/>
              </p:cNvSpPr>
              <p:nvPr/>
            </p:nvSpPr>
            <p:spPr>
              <a:xfrm>
                <a:off x="381000" y="2361885"/>
                <a:ext cx="11430000" cy="3933064"/>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①</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提出原假设</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该地区初中学生学业成绩优秀与日均体育锻炼时长不少于</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小时但少于</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小时无关</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②</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确定显著性水平</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05,</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841)≈0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05</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③</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580×</m:t>
                        </m:r>
                        <m:r>
                          <m:rPr>
                            <m:nor/>
                          </m:rPr>
                          <a:rPr lang="en-US" altLang="zh-CN" sz="2800">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45×308</m:t>
                        </m:r>
                        <m:r>
                          <m:rPr>
                            <m:nor/>
                          </m:rPr>
                          <a:rPr lang="en-US" altLang="zh-CN" sz="2800" i="1">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177×50</m:t>
                        </m:r>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m:rPr>
                                <m:nor/>
                              </m:rPr>
                              <a:rPr lang="en-US" altLang="zh-CN" sz="2800">
                                <a:solidFill>
                                  <a:srgbClr val="000000"/>
                                </a:solidFill>
                                <a:latin typeface="Times New Roman" panose="02020603050405020304" pitchFamily="18" charset="0"/>
                                <a:cs typeface="Times New Roman" panose="02020603050405020304" pitchFamily="18" charset="0"/>
                              </a:rPr>
                              <m:t>)</m:t>
                            </m:r>
                          </m:e>
                          <m:sup>
                            <m:r>
                              <a:rPr lang="en-US" altLang="zh-CN" sz="2800">
                                <a:solidFill>
                                  <a:srgbClr val="000000"/>
                                </a:solidFill>
                                <a:latin typeface="Cambria Math" panose="02040503050406030204" pitchFamily="18" charset="0"/>
                                <a:cs typeface="Times New Roman" panose="02020603050405020304" pitchFamily="18" charset="0"/>
                              </a:rPr>
                              <m:t>2</m:t>
                            </m:r>
                          </m:sup>
                        </m:sSup>
                      </m:num>
                      <m:den>
                        <m:r>
                          <m:rPr>
                            <m:nor/>
                          </m:rPr>
                          <a:rPr lang="en-US" altLang="zh-CN" sz="2800">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45+50</m:t>
                        </m:r>
                        <m:r>
                          <m:rPr>
                            <m:nor/>
                          </m:rPr>
                          <a:rPr lang="en-US" altLang="zh-CN" sz="2800">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m:t>
                        </m:r>
                        <m:r>
                          <m:rPr>
                            <m:nor/>
                          </m:rPr>
                          <a:rPr lang="en-US" altLang="zh-CN" sz="2800">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177+308</m:t>
                        </m:r>
                        <m:r>
                          <m:rPr>
                            <m:nor/>
                          </m:rPr>
                          <a:rPr lang="en-US" altLang="zh-CN" sz="2800">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m:t>
                        </m:r>
                        <m:r>
                          <m:rPr>
                            <m:nor/>
                          </m:rPr>
                          <a:rPr lang="en-US" altLang="zh-CN" sz="2800">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45+177</m:t>
                        </m:r>
                        <m:r>
                          <m:rPr>
                            <m:nor/>
                          </m:rPr>
                          <a:rPr lang="en-US" altLang="zh-CN" sz="2800">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m:t>
                        </m:r>
                        <m:r>
                          <m:rPr>
                            <m:nor/>
                          </m:rPr>
                          <a:rPr lang="en-US" altLang="zh-CN" sz="2800">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50+308</m:t>
                        </m:r>
                        <m:r>
                          <m:rPr>
                            <m:nor/>
                          </m:rPr>
                          <a:rPr lang="en-US" altLang="zh-CN" sz="2800">
                            <a:solidFill>
                              <a:srgbClr val="000000"/>
                            </a:solidFill>
                            <a:latin typeface="Times New Roman" panose="02020603050405020304" pitchFamily="18" charset="0"/>
                            <a:cs typeface="Times New Roman" panose="02020603050405020304" pitchFamily="18" charset="0"/>
                          </a:rPr>
                          <m:t>)</m:t>
                        </m:r>
                      </m:den>
                    </m:f>
                  </m:oMath>
                </a14:m>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976</a:t>
                </a:r>
                <a:r>
                  <a:rPr lang="en-US" altLang="zh-CN" sz="2800" i="1">
                    <a:solidFill>
                      <a:srgbClr val="000000"/>
                    </a:solidFill>
                    <a:latin typeface="Times New Roman" panose="02020603050405020304" pitchFamily="18" charset="0"/>
                    <a:cs typeface="Times New Roman" panose="02020603050405020304" pitchFamily="18" charset="0"/>
                  </a:rPr>
                  <a:t>&gt;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841</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④</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否定原假设</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即该地区初中学生学业成绩优秀与日均体育锻炼时长不少于</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小时但少于</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小时有关</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xmlns="">
          <p:sp>
            <p:nvSpPr>
              <p:cNvPr id="6" name="矩形 5"/>
              <p:cNvSpPr>
                <a:spLocks noRot="1" noChangeAspect="1" noMove="1" noResize="1" noEditPoints="1" noAdjustHandles="1" noChangeArrowheads="1" noChangeShapeType="1" noTextEdit="1"/>
              </p:cNvSpPr>
              <p:nvPr/>
            </p:nvSpPr>
            <p:spPr>
              <a:xfrm>
                <a:off x="381000" y="2361885"/>
                <a:ext cx="11430000" cy="3933064"/>
              </a:xfrm>
              <a:prstGeom prst="rect">
                <a:avLst/>
              </a:prstGeom>
              <a:blipFill rotWithShape="0">
                <a:blip r:embed="rId2"/>
                <a:stretch>
                  <a:fillRect l="-1120" t="-310" b="-340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787174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阴影"/>
          <p:cNvPicPr>
            <a:picLocks noChangeAspect="1"/>
          </p:cNvPicPr>
          <p:nvPr/>
        </p:nvPicPr>
        <p:blipFill>
          <a:blip r:embed="rId2"/>
          <a:stretch>
            <a:fillRect/>
          </a:stretch>
        </p:blipFill>
        <p:spPr>
          <a:xfrm>
            <a:off x="2325712" y="1511279"/>
            <a:ext cx="7280625" cy="3396125"/>
          </a:xfrm>
          <a:prstGeom prst="rect">
            <a:avLst/>
          </a:prstGeom>
        </p:spPr>
      </p:pic>
      <p:sp>
        <p:nvSpPr>
          <p:cNvPr id="9" name="文本框 8"/>
          <p:cNvSpPr txBox="1"/>
          <p:nvPr/>
        </p:nvSpPr>
        <p:spPr>
          <a:xfrm>
            <a:off x="1809976" y="4908623"/>
            <a:ext cx="8572049" cy="1292662"/>
          </a:xfrm>
          <a:prstGeom prst="rect">
            <a:avLst/>
          </a:prstGeom>
          <a:noFill/>
        </p:spPr>
        <p:txBody>
          <a:bodyPr wrap="square" rtlCol="0">
            <a:spAutoFit/>
          </a:bodyPr>
          <a:lstStyle/>
          <a:p>
            <a:pPr algn="ctr" fontAlgn="auto">
              <a:lnSpc>
                <a:spcPct val="150000"/>
              </a:lnSpc>
            </a:pPr>
            <a:r>
              <a:rPr lang="zh-CN" altLang="en-US" sz="2400" smtClean="0">
                <a:solidFill>
                  <a:srgbClr val="55463D"/>
                </a:solidFill>
              </a:rPr>
              <a:t>更多精彩内容请登录</a:t>
            </a:r>
            <a:r>
              <a:rPr lang="zh-CN" altLang="en-US" sz="2800" b="1" smtClean="0">
                <a:solidFill>
                  <a:srgbClr val="55463D"/>
                </a:solidFill>
                <a:latin typeface="华文新魏" panose="02010800040101010101" pitchFamily="2" charset="-122"/>
                <a:ea typeface="华文新魏" panose="02010800040101010101" pitchFamily="2" charset="-122"/>
              </a:rPr>
              <a:t>志鸿优化网</a:t>
            </a:r>
            <a:endParaRPr lang="en-US" altLang="zh-CN" sz="2400" b="1" smtClean="0">
              <a:solidFill>
                <a:srgbClr val="55463D"/>
              </a:solidFill>
              <a:latin typeface="华文新魏" panose="02010800040101010101" pitchFamily="2" charset="-122"/>
              <a:ea typeface="华文新魏" panose="02010800040101010101" pitchFamily="2" charset="-122"/>
            </a:endParaRPr>
          </a:p>
          <a:p>
            <a:pPr algn="ctr" fontAlgn="auto">
              <a:lnSpc>
                <a:spcPct val="150000"/>
              </a:lnSpc>
            </a:pPr>
            <a:r>
              <a:rPr lang="en-US" altLang="zh-CN" sz="2400" smtClean="0">
                <a:solidFill>
                  <a:srgbClr val="55463D"/>
                </a:solidFill>
              </a:rPr>
              <a:t>http</a:t>
            </a:r>
            <a:r>
              <a:rPr lang="en-US" altLang="zh-CN" sz="2400">
                <a:solidFill>
                  <a:srgbClr val="55463D"/>
                </a:solidFill>
              </a:rPr>
              <a:t>://www.zhyh.org</a:t>
            </a:r>
            <a:r>
              <a:rPr lang="en-US" altLang="zh-CN" sz="2400" smtClean="0">
                <a:solidFill>
                  <a:srgbClr val="55463D"/>
                </a:solidFill>
              </a:rPr>
              <a:t>/</a:t>
            </a:r>
            <a:endParaRPr lang="zh-CN" altLang="en-US" sz="2400">
              <a:solidFill>
                <a:srgbClr val="55463D"/>
              </a:solidFill>
            </a:endParaRPr>
          </a:p>
        </p:txBody>
      </p:sp>
      <p:pic>
        <p:nvPicPr>
          <p:cNvPr id="11" name="图片 10"/>
          <p:cNvPicPr>
            <a:picLocks noChangeAspect="1"/>
          </p:cNvPicPr>
          <p:nvPr/>
        </p:nvPicPr>
        <p:blipFill>
          <a:blip r:embed="rId3">
            <a:clrChange>
              <a:clrFrom>
                <a:srgbClr val="ECECEE"/>
              </a:clrFrom>
              <a:clrTo>
                <a:srgbClr val="ECECEE">
                  <a:alpha val="0"/>
                </a:srgbClr>
              </a:clrTo>
            </a:clrChange>
          </a:blip>
          <a:stretch>
            <a:fillRect/>
          </a:stretch>
        </p:blipFill>
        <p:spPr>
          <a:xfrm>
            <a:off x="123290" y="4517181"/>
            <a:ext cx="2325712" cy="2253486"/>
          </a:xfrm>
          <a:prstGeom prst="rect">
            <a:avLst/>
          </a:prstGeom>
        </p:spPr>
      </p:pic>
      <p:sp>
        <p:nvSpPr>
          <p:cNvPr id="6" name="文本框 5"/>
          <p:cNvSpPr txBox="1"/>
          <p:nvPr/>
        </p:nvSpPr>
        <p:spPr>
          <a:xfrm>
            <a:off x="2624485" y="2222090"/>
            <a:ext cx="6648062" cy="1015663"/>
          </a:xfrm>
          <a:prstGeom prst="rect">
            <a:avLst/>
          </a:prstGeom>
          <a:noFill/>
        </p:spPr>
        <p:txBody>
          <a:bodyPr wrap="square" rtlCol="0">
            <a:spAutoFit/>
          </a:bodyPr>
          <a:lstStyle/>
          <a:p>
            <a:pPr algn="ctr"/>
            <a:r>
              <a:rPr lang="zh-CN" altLang="en-US" sz="6000" b="1">
                <a:solidFill>
                  <a:srgbClr val="55463D"/>
                </a:solidFill>
                <a:latin typeface="思源黑体 CN Medium" panose="020B0600000000000000" pitchFamily="34" charset="-122"/>
                <a:ea typeface="思源黑体 CN Medium" panose="020B0600000000000000" pitchFamily="34" charset="-122"/>
              </a:rPr>
              <a:t>本  课  结  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vertical)">
                                      <p:cBhvr>
                                        <p:cTn id="7" dur="500"/>
                                        <p:tgtEl>
                                          <p:spTgt spid="9"/>
                                        </p:tgtEl>
                                      </p:cBhvr>
                                    </p:animEffect>
                                  </p:childTnLst>
                                </p:cTn>
                              </p:par>
                              <p:par>
                                <p:cTn id="8" presetID="3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800" decel="100000"/>
                                        <p:tgtEl>
                                          <p:spTgt spid="11"/>
                                        </p:tgtEl>
                                      </p:cBhvr>
                                    </p:animEffect>
                                    <p:anim calcmode="lin" valueType="num">
                                      <p:cBhvr>
                                        <p:cTn id="11" dur="800" decel="100000" fill="hold"/>
                                        <p:tgtEl>
                                          <p:spTgt spid="11"/>
                                        </p:tgtEl>
                                        <p:attrNameLst>
                                          <p:attrName>style.rotation</p:attrName>
                                        </p:attrNameLst>
                                      </p:cBhvr>
                                      <p:tavLst>
                                        <p:tav tm="0">
                                          <p:val>
                                            <p:fltVal val="-90"/>
                                          </p:val>
                                        </p:tav>
                                        <p:tav tm="100000">
                                          <p:val>
                                            <p:fltVal val="0"/>
                                          </p:val>
                                        </p:tav>
                                      </p:tavLst>
                                    </p:anim>
                                    <p:anim calcmode="lin" valueType="num">
                                      <p:cBhvr>
                                        <p:cTn id="12" dur="800" decel="100000" fill="hold"/>
                                        <p:tgtEl>
                                          <p:spTgt spid="11"/>
                                        </p:tgtEl>
                                        <p:attrNameLst>
                                          <p:attrName>ppt_x</p:attrName>
                                        </p:attrNameLst>
                                      </p:cBhvr>
                                      <p:tavLst>
                                        <p:tav tm="0">
                                          <p:val>
                                            <p:strVal val="#ppt_x+0.4"/>
                                          </p:val>
                                        </p:tav>
                                        <p:tav tm="100000">
                                          <p:val>
                                            <p:strVal val="#ppt_x-0.05"/>
                                          </p:val>
                                        </p:tav>
                                      </p:tavLst>
                                    </p:anim>
                                    <p:anim calcmode="lin" valueType="num">
                                      <p:cBhvr>
                                        <p:cTn id="13" dur="800" decel="100000" fill="hold"/>
                                        <p:tgtEl>
                                          <p:spTgt spid="11"/>
                                        </p:tgtEl>
                                        <p:attrNameLst>
                                          <p:attrName>ppt_y</p:attrName>
                                        </p:attrNameLst>
                                      </p:cBhvr>
                                      <p:tavLst>
                                        <p:tav tm="0">
                                          <p:val>
                                            <p:strVal val="#ppt_y-0.4"/>
                                          </p:val>
                                        </p:tav>
                                        <p:tav tm="100000">
                                          <p:val>
                                            <p:strVal val="#ppt_y+0.1"/>
                                          </p:val>
                                        </p:tav>
                                      </p:tavLst>
                                    </p:anim>
                                    <p:anim calcmode="lin" valueType="num">
                                      <p:cBhvr>
                                        <p:cTn id="14" dur="200" accel="100000" fill="hold">
                                          <p:stCondLst>
                                            <p:cond delay="800"/>
                                          </p:stCondLst>
                                        </p:cTn>
                                        <p:tgtEl>
                                          <p:spTgt spid="11"/>
                                        </p:tgtEl>
                                        <p:attrNameLst>
                                          <p:attrName>ppt_x</p:attrName>
                                        </p:attrNameLst>
                                      </p:cBhvr>
                                      <p:tavLst>
                                        <p:tav tm="0">
                                          <p:val>
                                            <p:strVal val="#ppt_x-0.05"/>
                                          </p:val>
                                        </p:tav>
                                        <p:tav tm="100000">
                                          <p:val>
                                            <p:strVal val="#ppt_x"/>
                                          </p:val>
                                        </p:tav>
                                      </p:tavLst>
                                    </p:anim>
                                    <p:anim calcmode="lin" valueType="num">
                                      <p:cBhvr>
                                        <p:cTn id="15" dur="200" accel="100000" fill="hold">
                                          <p:stCondLst>
                                            <p:cond delay="800"/>
                                          </p:stCondLst>
                                        </p:cTn>
                                        <p:tgtEl>
                                          <p:spTgt spid="1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heme/theme1.xml><?xml version="1.0" encoding="utf-8"?>
<a:theme xmlns:a="http://schemas.openxmlformats.org/drawingml/2006/main" name="1_Office 主题">
  <a:themeElements>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721B1EAD-A6C0-47A7-B782-D5918D0D228F}" vid="{2963E896-880A-42B6-99FF-93DBD5586BD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理科模板</Template>
  <TotalTime>112</TotalTime>
  <Words>4134</Words>
  <Application>Microsoft Office PowerPoint</Application>
  <PresentationFormat>宽屏</PresentationFormat>
  <Paragraphs>356</Paragraphs>
  <Slides>50</Slides>
  <Notes>0</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1</vt:i4>
      </vt:variant>
      <vt:variant>
        <vt:lpstr>幻灯片标题</vt:lpstr>
      </vt:variant>
      <vt:variant>
        <vt:i4>50</vt:i4>
      </vt:variant>
    </vt:vector>
  </HeadingPairs>
  <TitlesOfParts>
    <vt:vector size="69" baseType="lpstr">
      <vt:lpstr>NEU-BZ-S92</vt:lpstr>
      <vt:lpstr>Open Sans</vt:lpstr>
      <vt:lpstr>方正书宋_GBK</vt:lpstr>
      <vt:lpstr>方正姚体</vt:lpstr>
      <vt:lpstr>仿宋</vt:lpstr>
      <vt:lpstr>黑体</vt:lpstr>
      <vt:lpstr>华文细黑</vt:lpstr>
      <vt:lpstr>华文新魏</vt:lpstr>
      <vt:lpstr>楷体</vt:lpstr>
      <vt:lpstr>思源黑体 CN Medium</vt:lpstr>
      <vt:lpstr>宋体</vt:lpstr>
      <vt:lpstr>微软雅黑</vt:lpstr>
      <vt:lpstr>Arial</vt:lpstr>
      <vt:lpstr>Calibri</vt:lpstr>
      <vt:lpstr>Cambria Math</vt:lpstr>
      <vt:lpstr>Microsoft Yi Baiti</vt:lpstr>
      <vt:lpstr>Times New Roman</vt:lpstr>
      <vt:lpstr>1_Office 主题</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ITSK.com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SkyUser</dc:creator>
  <cp:lastModifiedBy>Windows User</cp:lastModifiedBy>
  <cp:revision>47</cp:revision>
  <dcterms:created xsi:type="dcterms:W3CDTF">2021-08-30T08:30:26Z</dcterms:created>
  <dcterms:modified xsi:type="dcterms:W3CDTF">2025-08-20T01:09:42Z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