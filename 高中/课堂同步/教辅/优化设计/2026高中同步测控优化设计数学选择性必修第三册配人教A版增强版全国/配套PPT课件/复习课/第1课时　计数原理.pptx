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677" r:id="rId2"/>
    <p:sldId id="488" r:id="rId3"/>
    <p:sldId id="392" r:id="rId4"/>
    <p:sldId id="686" r:id="rId5"/>
    <p:sldId id="757" r:id="rId6"/>
    <p:sldId id="759" r:id="rId7"/>
    <p:sldId id="760" r:id="rId8"/>
    <p:sldId id="761" r:id="rId9"/>
    <p:sldId id="762" r:id="rId10"/>
    <p:sldId id="763" r:id="rId11"/>
    <p:sldId id="764" r:id="rId12"/>
    <p:sldId id="765" r:id="rId13"/>
    <p:sldId id="407" r:id="rId14"/>
    <p:sldId id="394" r:id="rId15"/>
    <p:sldId id="766" r:id="rId16"/>
    <p:sldId id="797" r:id="rId17"/>
    <p:sldId id="767" r:id="rId18"/>
    <p:sldId id="768" r:id="rId19"/>
    <p:sldId id="769" r:id="rId20"/>
    <p:sldId id="770" r:id="rId21"/>
    <p:sldId id="771" r:id="rId22"/>
    <p:sldId id="772" r:id="rId23"/>
    <p:sldId id="773" r:id="rId24"/>
    <p:sldId id="775" r:id="rId25"/>
    <p:sldId id="776" r:id="rId26"/>
    <p:sldId id="777" r:id="rId27"/>
    <p:sldId id="778" r:id="rId28"/>
    <p:sldId id="779" r:id="rId29"/>
    <p:sldId id="780" r:id="rId30"/>
    <p:sldId id="781" r:id="rId31"/>
    <p:sldId id="782" r:id="rId32"/>
    <p:sldId id="783" r:id="rId33"/>
    <p:sldId id="784" r:id="rId34"/>
    <p:sldId id="785" r:id="rId35"/>
    <p:sldId id="786" r:id="rId36"/>
    <p:sldId id="787" r:id="rId37"/>
    <p:sldId id="756" r:id="rId38"/>
    <p:sldId id="804" r:id="rId39"/>
    <p:sldId id="805" r:id="rId40"/>
    <p:sldId id="806" r:id="rId41"/>
    <p:sldId id="790" r:id="rId42"/>
    <p:sldId id="807" r:id="rId43"/>
    <p:sldId id="798" r:id="rId44"/>
    <p:sldId id="799" r:id="rId45"/>
    <p:sldId id="808" r:id="rId46"/>
    <p:sldId id="801" r:id="rId47"/>
    <p:sldId id="803" r:id="rId48"/>
    <p:sldId id="802" r:id="rId49"/>
    <p:sldId id="490"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 Id="rId4" Type="http://schemas.openxmlformats.org/officeDocument/2006/relationships/image" Target="../media/image31.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slide" Target="../slides/slide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专题整合</a:t>
            </a:r>
            <a:endParaRPr lang="zh-CN" altLang="en-US" sz="1400" dirty="0" smtClean="0">
              <a:ln>
                <a:solidFill>
                  <a:schemeClr val="bg1"/>
                </a:solidFill>
              </a:ln>
              <a:solidFill>
                <a:schemeClr val="bg1"/>
              </a:solidFill>
            </a:endParaRPr>
          </a:p>
        </p:txBody>
      </p:sp>
      <p:sp>
        <p:nvSpPr>
          <p:cNvPr id="8" name="圆角矩形 7">
            <a:hlinkClick r:id="rId3"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高考体验</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7.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8.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9.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4.emf"/><Relationship Id="rId4" Type="http://schemas.openxmlformats.org/officeDocument/2006/relationships/package" Target="../embeddings/Microsoft_Word___10.docx"/></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5.emf"/><Relationship Id="rId4" Type="http://schemas.openxmlformats.org/officeDocument/2006/relationships/package" Target="../embeddings/Microsoft_Word___11.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6.emf"/><Relationship Id="rId4" Type="http://schemas.openxmlformats.org/officeDocument/2006/relationships/package" Target="../embeddings/Microsoft_Word___12.docx"/></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package" Target="../embeddings/Microsoft_Word___13.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8.emf"/><Relationship Id="rId4" Type="http://schemas.openxmlformats.org/officeDocument/2006/relationships/package" Target="../embeddings/Microsoft_Word___14.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1.emf"/><Relationship Id="rId4" Type="http://schemas.openxmlformats.org/officeDocument/2006/relationships/package" Target="../embeddings/Microsoft_Word___17.docx"/></Relationships>
</file>

<file path=ppt/slides/_rels/slide34.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8.bin"/><Relationship Id="rId7"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19.bin"/><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24.emf"/><Relationship Id="rId4" Type="http://schemas.openxmlformats.org/officeDocument/2006/relationships/package" Target="../embeddings/Microsoft_Word___20.docx"/></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25.emf"/><Relationship Id="rId4" Type="http://schemas.openxmlformats.org/officeDocument/2006/relationships/package" Target="../embeddings/Microsoft_Word___21.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26.emf"/><Relationship Id="rId4" Type="http://schemas.openxmlformats.org/officeDocument/2006/relationships/package" Target="../embeddings/Microsoft_Word___22.docx"/></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27.emf"/><Relationship Id="rId4" Type="http://schemas.openxmlformats.org/officeDocument/2006/relationships/package" Target="../embeddings/Microsoft_Word___23.docx"/></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package" Target="../embeddings/Microsoft_Word___27.docx"/><Relationship Id="rId3" Type="http://schemas.openxmlformats.org/officeDocument/2006/relationships/oleObject" Target="../embeddings/oleObject24.bin"/><Relationship Id="rId7" Type="http://schemas.openxmlformats.org/officeDocument/2006/relationships/package" Target="../embeddings/Microsoft_Word___25.docx"/><Relationship Id="rId12"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25.bin"/><Relationship Id="rId11" Type="http://schemas.openxmlformats.org/officeDocument/2006/relationships/image" Target="../media/image30.emf"/><Relationship Id="rId5" Type="http://schemas.openxmlformats.org/officeDocument/2006/relationships/image" Target="../media/image28.emf"/><Relationship Id="rId10" Type="http://schemas.openxmlformats.org/officeDocument/2006/relationships/package" Target="../embeddings/Microsoft_Word___26.docx"/><Relationship Id="rId4" Type="http://schemas.openxmlformats.org/officeDocument/2006/relationships/package" Target="../embeddings/Microsoft_Word___24.docx"/><Relationship Id="rId9" Type="http://schemas.openxmlformats.org/officeDocument/2006/relationships/oleObject" Target="../embeddings/oleObject26.bin"/><Relationship Id="rId14" Type="http://schemas.openxmlformats.org/officeDocument/2006/relationships/image" Target="../media/image3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28.bin"/><Relationship Id="rId7"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29.bin"/><Relationship Id="rId5" Type="http://schemas.openxmlformats.org/officeDocument/2006/relationships/image" Target="../media/image32.emf"/><Relationship Id="rId4" Type="http://schemas.openxmlformats.org/officeDocument/2006/relationships/package" Target="../embeddings/Microsoft_Word___28.docx"/></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1</a:t>
              </a:r>
              <a:r>
                <a:rPr lang="zh-CN" altLang="en-US" sz="3600" b="1">
                  <a:solidFill>
                    <a:schemeClr val="bg1"/>
                  </a:solidFill>
                  <a:latin typeface="华文细黑" panose="02010600040101010101" charset="-122"/>
                  <a:ea typeface="华文细黑" panose="02010600040101010101" charset="-122"/>
                </a:rPr>
                <a:t>课时　计数原理</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a:solidFill>
                  <a:schemeClr val="bg1"/>
                </a:solidFill>
                <a:latin typeface="华文细黑" panose="02010600040101010101" charset="-122"/>
                <a:ea typeface="华文细黑" panose="02010600040101010101" charset="-122"/>
                <a:cs typeface="Open Sans" panose="020B0606030504020204" pitchFamily="34" charset="0"/>
              </a:rPr>
              <a:t>复习课</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764727"/>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知识梳理 构建体系</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3349585"/>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专题归纳 核心突破</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知识梳理 构建体系</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83627"/>
            <a:ext cx="2438488" cy="59105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【知识网络】</a:t>
            </a:r>
            <a:r>
              <a:rPr lang="en-US"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QMX3TRAX40.eps" descr="id:2147516616;FounderCES"/>
          <p:cNvPicPr/>
          <p:nvPr/>
        </p:nvPicPr>
        <p:blipFill>
          <a:blip r:embed="rId2">
            <a:clrChange>
              <a:clrFrom>
                <a:srgbClr val="FFFFFF"/>
              </a:clrFrom>
              <a:clrTo>
                <a:srgbClr val="FFFFFF">
                  <a:alpha val="0"/>
                </a:srgbClr>
              </a:clrTo>
            </a:clrChange>
          </a:blip>
          <a:stretch>
            <a:fillRect/>
          </a:stretch>
        </p:blipFill>
        <p:spPr>
          <a:xfrm>
            <a:off x="2634554" y="879156"/>
            <a:ext cx="7409950" cy="5108591"/>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28533"/>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b="1">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【要点梳理】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分类加法计数原理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完成一件事情有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类不同的方案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则完成这件事共有</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1</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2</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a:solidFill>
                  <a:srgbClr val="FF0000"/>
                </a:solidFill>
                <a:uFill>
                  <a:solidFill>
                    <a:srgbClr val="000000"/>
                  </a:solidFill>
                </a:u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i="1"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分步乘法计数原理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完成一件事需要</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个步骤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则完成这件事共</a:t>
            </a:r>
            <a:r>
              <a:rPr lang="zh-CN" altLang="zh-CN" sz="2800" smtClean="0">
                <a:solidFill>
                  <a:srgbClr val="000000"/>
                </a:solidFill>
                <a:latin typeface="Times New Roman" panose="02020603050405020304" pitchFamily="18" charset="0"/>
                <a:cs typeface="Times New Roman" panose="02020603050405020304" pitchFamily="18" charset="0"/>
              </a:rPr>
              <a:t>有</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1</a:t>
            </a:r>
            <a:r>
              <a:rPr lang="en-US" altLang="zh-CN" sz="2800" smtClean="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2</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a:solidFill>
                  <a:srgbClr val="FF0000"/>
                </a:solidFill>
                <a:uFill>
                  <a:solidFill>
                    <a:srgbClr val="000000"/>
                  </a:solidFill>
                </a:u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m</a:t>
            </a:r>
            <a:r>
              <a:rPr lang="en-US" altLang="zh-CN" sz="2800" i="1" baseline="-25000" smtClean="0">
                <a:solidFill>
                  <a:srgbClr val="FF0000"/>
                </a:solidFill>
                <a:uFill>
                  <a:solidFill>
                    <a:srgbClr val="000000"/>
                  </a:solidFill>
                </a:uFill>
                <a:latin typeface="Times New Roman" panose="02020603050405020304" pitchFamily="18" charset="0"/>
                <a:cs typeface="Times New Roman" panose="02020603050405020304" pitchFamily="18" charset="0"/>
              </a:rPr>
              <a:t>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3131224" y="3012719"/>
            <a:ext cx="2288297"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3131224" y="3564316"/>
            <a:ext cx="228829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56822" y="5241237"/>
            <a:ext cx="187884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56821" y="5792834"/>
            <a:ext cx="18788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552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08390"/>
            <a:ext cx="8802410"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分类加法计数原理与分步乘法计数原理的区别与</a:t>
            </a:r>
            <a:r>
              <a:rPr lang="zh-CN" altLang="zh-CN" sz="2800" smtClean="0">
                <a:solidFill>
                  <a:srgbClr val="000000"/>
                </a:solidFill>
                <a:latin typeface="Times New Roman" panose="02020603050405020304" pitchFamily="18" charset="0"/>
                <a:cs typeface="Times New Roman" panose="02020603050405020304" pitchFamily="18" charset="0"/>
              </a:rPr>
              <a:t>联系</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369653859"/>
              </p:ext>
            </p:extLst>
          </p:nvPr>
        </p:nvGraphicFramePr>
        <p:xfrm>
          <a:off x="381000" y="1149412"/>
          <a:ext cx="11430000" cy="4907280"/>
        </p:xfrm>
        <a:graphic>
          <a:graphicData uri="http://schemas.openxmlformats.org/drawingml/2006/table">
            <a:tbl>
              <a:tblPr firstRow="1" firstCol="1" bandRow="1"/>
              <a:tblGrid>
                <a:gridCol w="1458074"/>
                <a:gridCol w="4315146"/>
                <a:gridCol w="5656780"/>
              </a:tblGrid>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内容</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分类加法计数原理</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分步乘法计数原理</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关键词</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本质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每类方法都能独立地完成这件事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它是独立的、一次性的</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且每次得到的是最后结果</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用其中任何一种方法都可以做完这件事</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每一步得到的只是中间结果</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任何一步都不能独立完成这件事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各个步骤中的方法互相依存</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缺少任何一步也不能完成这件事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只有每一个步骤都完成才算做完这件事</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各类</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步</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的关系</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各类方法之间是互斥的、并列的、独立的</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即</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分类互斥</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各步之间是关联的、独立的</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关联</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确保连续性</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独立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确保不重复</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即</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分步互依</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98588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73921"/>
            <a:ext cx="4852610"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排列数与组合数公式及</a:t>
            </a:r>
            <a:r>
              <a:rPr lang="zh-CN" altLang="zh-CN" sz="2800" smtClean="0">
                <a:solidFill>
                  <a:srgbClr val="000000"/>
                </a:solidFill>
                <a:latin typeface="Times New Roman" panose="02020603050405020304" pitchFamily="18" charset="0"/>
                <a:cs typeface="Times New Roman" panose="02020603050405020304" pitchFamily="18" charset="0"/>
              </a:rPr>
              <a:t>性质</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704311253"/>
              </p:ext>
            </p:extLst>
          </p:nvPr>
        </p:nvGraphicFramePr>
        <p:xfrm>
          <a:off x="360363" y="1130300"/>
          <a:ext cx="11466512" cy="5740400"/>
        </p:xfrm>
        <a:graphic>
          <a:graphicData uri="http://schemas.openxmlformats.org/presentationml/2006/ole">
            <mc:AlternateContent xmlns:mc="http://schemas.openxmlformats.org/markup-compatibility/2006">
              <mc:Choice xmlns:v="urn:schemas-microsoft-com:vml" Requires="v">
                <p:oleObj spid="_x0000_s2077" name="文档" r:id="rId4" imgW="4597593" imgH="2291402" progId="Word.Document.12">
                  <p:embed/>
                </p:oleObj>
              </mc:Choice>
              <mc:Fallback>
                <p:oleObj name="文档" r:id="rId4" imgW="4597593" imgH="2291402" progId="Word.Document.12">
                  <p:embed/>
                  <p:pic>
                    <p:nvPicPr>
                      <p:cNvPr id="0" name=""/>
                      <p:cNvPicPr/>
                      <p:nvPr/>
                    </p:nvPicPr>
                    <p:blipFill>
                      <a:blip r:embed="rId5"/>
                      <a:stretch>
                        <a:fillRect/>
                      </a:stretch>
                    </p:blipFill>
                    <p:spPr>
                      <a:xfrm>
                        <a:off x="360363" y="1130300"/>
                        <a:ext cx="11466512" cy="5740400"/>
                      </a:xfrm>
                      <a:prstGeom prst="rect">
                        <a:avLst/>
                      </a:prstGeom>
                    </p:spPr>
                  </p:pic>
                </p:oleObj>
              </mc:Fallback>
            </mc:AlternateContent>
          </a:graphicData>
        </a:graphic>
      </p:graphicFrame>
      <p:sp>
        <p:nvSpPr>
          <p:cNvPr id="5" name="矩形 4"/>
          <p:cNvSpPr/>
          <p:nvPr/>
        </p:nvSpPr>
        <p:spPr>
          <a:xfrm>
            <a:off x="2819134" y="2626092"/>
            <a:ext cx="1328323"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819134" y="3177689"/>
            <a:ext cx="13283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408448" y="2626093"/>
            <a:ext cx="1328323" cy="719266"/>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408448" y="3351862"/>
            <a:ext cx="13283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997762" y="2626092"/>
            <a:ext cx="2732581" cy="806355"/>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997762" y="3438950"/>
            <a:ext cx="27325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8968293" y="2626092"/>
            <a:ext cx="1328323" cy="839010"/>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8968293" y="3471605"/>
            <a:ext cx="13283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319877" y="4200050"/>
            <a:ext cx="490123"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3319877" y="4751647"/>
            <a:ext cx="4901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8098705" y="4232708"/>
            <a:ext cx="83693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8098705" y="4784305"/>
            <a:ext cx="8369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98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20"/>
                                        </p:tgtEl>
                                      </p:cBhvr>
                                    </p:animEffect>
                                    <p:set>
                                      <p:cBhvr>
                                        <p:cTn id="32"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P spid="14" grpId="0" animBg="1"/>
      <p:bldP spid="17"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72822"/>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注意</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正确区分是组合问题还是排列问题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要把排列中的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定序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区分开来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正确区分分堆问题和分配问题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48254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60511"/>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二项式定理</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对于任意正整数</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12260263"/>
              </p:ext>
            </p:extLst>
          </p:nvPr>
        </p:nvGraphicFramePr>
        <p:xfrm>
          <a:off x="458424" y="2073151"/>
          <a:ext cx="11275153" cy="3411408"/>
        </p:xfrm>
        <a:graphic>
          <a:graphicData uri="http://schemas.openxmlformats.org/presentationml/2006/ole">
            <mc:AlternateContent xmlns:mc="http://schemas.openxmlformats.org/markup-compatibility/2006">
              <mc:Choice xmlns:v="urn:schemas-microsoft-com:vml" Requires="v">
                <p:oleObj spid="_x0000_s3101" name="文档" r:id="rId4" imgW="4510061" imgH="1364563" progId="Word.Document.12">
                  <p:embed/>
                </p:oleObj>
              </mc:Choice>
              <mc:Fallback>
                <p:oleObj name="文档" r:id="rId4" imgW="4510061" imgH="1364563" progId="Word.Document.12">
                  <p:embed/>
                  <p:pic>
                    <p:nvPicPr>
                      <p:cNvPr id="0" name=""/>
                      <p:cNvPicPr/>
                      <p:nvPr/>
                    </p:nvPicPr>
                    <p:blipFill>
                      <a:blip r:embed="rId5"/>
                      <a:stretch>
                        <a:fillRect/>
                      </a:stretch>
                    </p:blipFill>
                    <p:spPr>
                      <a:xfrm>
                        <a:off x="458424" y="2073151"/>
                        <a:ext cx="11275153" cy="3411408"/>
                      </a:xfrm>
                      <a:prstGeom prst="rect">
                        <a:avLst/>
                      </a:prstGeom>
                    </p:spPr>
                  </p:pic>
                </p:oleObj>
              </mc:Fallback>
            </mc:AlternateContent>
          </a:graphicData>
        </a:graphic>
      </p:graphicFrame>
      <p:sp>
        <p:nvSpPr>
          <p:cNvPr id="4" name="矩形 3"/>
          <p:cNvSpPr/>
          <p:nvPr/>
        </p:nvSpPr>
        <p:spPr>
          <a:xfrm>
            <a:off x="1654364" y="2073151"/>
            <a:ext cx="679295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654364" y="2624748"/>
            <a:ext cx="6792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612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19975"/>
            <a:ext cx="11430000" cy="113319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二项式系数的性质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对称性</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18860385"/>
              </p:ext>
            </p:extLst>
          </p:nvPr>
        </p:nvGraphicFramePr>
        <p:xfrm>
          <a:off x="457200" y="1503136"/>
          <a:ext cx="11249025" cy="5005388"/>
        </p:xfrm>
        <a:graphic>
          <a:graphicData uri="http://schemas.openxmlformats.org/presentationml/2006/ole">
            <mc:AlternateContent xmlns:mc="http://schemas.openxmlformats.org/markup-compatibility/2006">
              <mc:Choice xmlns:v="urn:schemas-microsoft-com:vml" Requires="v">
                <p:oleObj spid="_x0000_s4125" name="文档" r:id="rId4" imgW="4510061" imgH="2004617" progId="Word.Document.12">
                  <p:embed/>
                </p:oleObj>
              </mc:Choice>
              <mc:Fallback>
                <p:oleObj name="文档" r:id="rId4" imgW="4510061" imgH="2004617" progId="Word.Document.12">
                  <p:embed/>
                  <p:pic>
                    <p:nvPicPr>
                      <p:cNvPr id="0" name=""/>
                      <p:cNvPicPr/>
                      <p:nvPr/>
                    </p:nvPicPr>
                    <p:blipFill>
                      <a:blip r:embed="rId5"/>
                      <a:stretch>
                        <a:fillRect/>
                      </a:stretch>
                    </p:blipFill>
                    <p:spPr>
                      <a:xfrm>
                        <a:off x="457200" y="1503136"/>
                        <a:ext cx="11249025" cy="5005388"/>
                      </a:xfrm>
                      <a:prstGeom prst="rect">
                        <a:avLst/>
                      </a:prstGeom>
                    </p:spPr>
                  </p:pic>
                </p:oleObj>
              </mc:Fallback>
            </mc:AlternateContent>
          </a:graphicData>
        </a:graphic>
      </p:graphicFrame>
    </p:spTree>
    <p:extLst>
      <p:ext uri="{BB962C8B-B14F-4D97-AF65-F5344CB8AC3E}">
        <p14:creationId xmlns:p14="http://schemas.microsoft.com/office/powerpoint/2010/main" val="269621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03677027"/>
              </p:ext>
            </p:extLst>
          </p:nvPr>
        </p:nvGraphicFramePr>
        <p:xfrm>
          <a:off x="458424" y="631311"/>
          <a:ext cx="11275153" cy="2273973"/>
        </p:xfrm>
        <a:graphic>
          <a:graphicData uri="http://schemas.openxmlformats.org/presentationml/2006/ole">
            <mc:AlternateContent xmlns:mc="http://schemas.openxmlformats.org/markup-compatibility/2006">
              <mc:Choice xmlns:v="urn:schemas-microsoft-com:vml" Requires="v">
                <p:oleObj spid="_x0000_s5149" name="文档" r:id="rId4" imgW="4510061" imgH="909589" progId="Word.Document.12">
                  <p:embed/>
                </p:oleObj>
              </mc:Choice>
              <mc:Fallback>
                <p:oleObj name="文档" r:id="rId4" imgW="4510061" imgH="909589" progId="Word.Document.12">
                  <p:embed/>
                  <p:pic>
                    <p:nvPicPr>
                      <p:cNvPr id="0" name=""/>
                      <p:cNvPicPr/>
                      <p:nvPr/>
                    </p:nvPicPr>
                    <p:blipFill>
                      <a:blip r:embed="rId5"/>
                      <a:stretch>
                        <a:fillRect/>
                      </a:stretch>
                    </p:blipFill>
                    <p:spPr>
                      <a:xfrm>
                        <a:off x="458424" y="631311"/>
                        <a:ext cx="11275153" cy="2273973"/>
                      </a:xfrm>
                      <a:prstGeom prst="rect">
                        <a:avLst/>
                      </a:prstGeom>
                    </p:spPr>
                  </p:pic>
                </p:oleObj>
              </mc:Fallback>
            </mc:AlternateContent>
          </a:graphicData>
        </a:graphic>
      </p:graphicFrame>
      <p:sp>
        <p:nvSpPr>
          <p:cNvPr id="3" name="矩形 2"/>
          <p:cNvSpPr>
            <a:spLocks noChangeAspect="1"/>
          </p:cNvSpPr>
          <p:nvPr/>
        </p:nvSpPr>
        <p:spPr>
          <a:xfrm>
            <a:off x="381000" y="290528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求二项式展开式中的特殊项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系数最大的项、二项式系数最大的项、常数项、含某未知数的次数最高的项、有理项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要注意</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k</a:t>
            </a:r>
            <a:r>
              <a:rPr lang="zh-CN" altLang="zh-CN" sz="2800">
                <a:solidFill>
                  <a:srgbClr val="000000"/>
                </a:solidFill>
                <a:latin typeface="Times New Roman" panose="02020603050405020304" pitchFamily="18" charset="0"/>
                <a:cs typeface="Times New Roman" panose="02020603050405020304" pitchFamily="18" charset="0"/>
              </a:rPr>
              <a:t>的取</a:t>
            </a:r>
            <a:r>
              <a:rPr lang="zh-CN" altLang="zh-CN" sz="2800" smtClean="0">
                <a:solidFill>
                  <a:srgbClr val="000000"/>
                </a:solidFill>
                <a:latin typeface="Times New Roman" panose="02020603050405020304" pitchFamily="18" charset="0"/>
                <a:cs typeface="Times New Roman" panose="02020603050405020304" pitchFamily="18" charset="0"/>
              </a:rPr>
              <a:t>值</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范</a:t>
            </a:r>
            <a:r>
              <a:rPr lang="zh-CN" altLang="zh-CN" sz="2800">
                <a:solidFill>
                  <a:srgbClr val="000000"/>
                </a:solidFill>
                <a:latin typeface="Times New Roman" panose="02020603050405020304" pitchFamily="18" charset="0"/>
                <a:cs typeface="Times New Roman" panose="02020603050405020304" pitchFamily="18" charset="0"/>
              </a:rPr>
              <a:t>围</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区分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某项的系数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某项的二项式系数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展开式中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二项式系数的和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各项系数的和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数项系数的和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次项系数的和</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1465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27599"/>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在分步乘法计数原理中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任何一个单独的步骤都能完成这件事</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19608722"/>
              </p:ext>
            </p:extLst>
          </p:nvPr>
        </p:nvGraphicFramePr>
        <p:xfrm>
          <a:off x="457200" y="3140075"/>
          <a:ext cx="11249025" cy="2117725"/>
        </p:xfrm>
        <a:graphic>
          <a:graphicData uri="http://schemas.openxmlformats.org/presentationml/2006/ole">
            <mc:AlternateContent xmlns:mc="http://schemas.openxmlformats.org/markup-compatibility/2006">
              <mc:Choice xmlns:v="urn:schemas-microsoft-com:vml" Requires="v">
                <p:oleObj spid="_x0000_s6173"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7200" y="3140075"/>
                        <a:ext cx="11249025" cy="2117725"/>
                      </a:xfrm>
                      <a:prstGeom prst="rect">
                        <a:avLst/>
                      </a:prstGeom>
                    </p:spPr>
                  </p:pic>
                </p:oleObj>
              </mc:Fallback>
            </mc:AlternateContent>
          </a:graphicData>
        </a:graphic>
      </p:graphicFrame>
      <p:sp>
        <p:nvSpPr>
          <p:cNvPr id="4" name="矩形 3"/>
          <p:cNvSpPr/>
          <p:nvPr/>
        </p:nvSpPr>
        <p:spPr>
          <a:xfrm>
            <a:off x="10543683" y="2626118"/>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171984" y="3204845"/>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701215" y="3974617"/>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432197" y="4743799"/>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5733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专题归纳 核心突破</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专题整合</a:t>
              </a:r>
              <a:endParaRPr lang="zh-CN" altLang="en-US" sz="2800" b="1" dirty="0">
                <a:solidFill>
                  <a:schemeClr val="bg1"/>
                </a:solidFill>
              </a:endParaRPr>
            </a:p>
          </p:txBody>
        </p:sp>
      </p:grpSp>
      <p:sp>
        <p:nvSpPr>
          <p:cNvPr id="2" name="矩形 1"/>
          <p:cNvSpPr>
            <a:spLocks noChangeAspect="1"/>
          </p:cNvSpPr>
          <p:nvPr/>
        </p:nvSpPr>
        <p:spPr>
          <a:xfrm>
            <a:off x="381000" y="585125"/>
            <a:ext cx="11430000" cy="5932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计数原理的应</a:t>
            </a:r>
            <a:r>
              <a:rPr lang="zh-CN"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用</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81000" y="1178364"/>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某班有</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cs typeface="Times New Roman" panose="02020603050405020304" pitchFamily="18" charset="0"/>
              </a:rPr>
              <a:t>名运动员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人会打篮球</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人会踢足球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现从中选出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人分别参加学校篮球队和足球队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则不同的选派方案有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A.28</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	B.30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C.27</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D.29</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一个由四个全等的直角三角形与一个小正方形拼成的一个大正方形如图所示</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现在用四种颜色给这四个直角三角形区域涂色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规定每个区域只涂一个颜色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相邻区域颜色不相同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则不同的涂色方法有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0" name="QMX3TRAX41.eps" descr="id:2147516660;FounderCES"/>
          <p:cNvPicPr/>
          <p:nvPr/>
        </p:nvPicPr>
        <p:blipFill>
          <a:blip r:embed="rId2">
            <a:clrChange>
              <a:clrFrom>
                <a:srgbClr val="FFFFFF"/>
              </a:clrFrom>
              <a:clrTo>
                <a:srgbClr val="FFFFFF">
                  <a:alpha val="0"/>
                </a:srgbClr>
              </a:clrTo>
            </a:clrChange>
          </a:blip>
          <a:stretch>
            <a:fillRect/>
          </a:stretch>
        </p:blipFill>
        <p:spPr>
          <a:xfrm>
            <a:off x="5022795" y="4515048"/>
            <a:ext cx="1758148" cy="17581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1242240"/>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名运动员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人会打篮球</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人会踢足球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人既会踢足球又会打篮球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人只会打篮球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人只会踢足球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所以选派的方案有四类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选派两种球都会的运动员有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选派两种球都会的运动员中一名踢足球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只会打篮球的运动员打篮球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③</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选派两种球都会的运动员中一名打篮球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只会踢足球的运动员踢足球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④</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选派只会打篮球和踢足球的运动员分别打篮球和踢足球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种方案</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A</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7343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423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设四个直角三角形顺次为</a:t>
            </a:r>
            <a:r>
              <a:rPr lang="en-US" altLang="zh-CN" sz="280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a:t>
            </a:r>
            <a:r>
              <a:rPr lang="en-US" altLang="zh-CN" sz="280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顺序涂色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下面分两种情况</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QMX3TRAX96.eps" descr="id:2147516667;FounderCES"/>
          <p:cNvPicPr/>
          <p:nvPr/>
        </p:nvPicPr>
        <p:blipFill>
          <a:blip r:embed="rId2">
            <a:clrChange>
              <a:clrFrom>
                <a:srgbClr val="FFFFFF"/>
              </a:clrFrom>
              <a:clrTo>
                <a:srgbClr val="FFFFFF">
                  <a:alpha val="0"/>
                </a:srgbClr>
              </a:clrTo>
            </a:clrChange>
          </a:blip>
          <a:stretch>
            <a:fillRect/>
          </a:stretch>
        </p:blipFill>
        <p:spPr>
          <a:xfrm>
            <a:off x="4570517" y="1192658"/>
            <a:ext cx="2660547" cy="2660547"/>
          </a:xfrm>
          <a:prstGeom prst="rect">
            <a:avLst/>
          </a:prstGeom>
        </p:spPr>
      </p:pic>
      <p:sp>
        <p:nvSpPr>
          <p:cNvPr id="4" name="矩形 3"/>
          <p:cNvSpPr>
            <a:spLocks noChangeAspect="1"/>
          </p:cNvSpPr>
          <p:nvPr/>
        </p:nvSpPr>
        <p:spPr>
          <a:xfrm>
            <a:off x="381000" y="373269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en-US" altLang="zh-CN" sz="2800">
                <a:solidFill>
                  <a:srgbClr val="000000"/>
                </a:solidFill>
                <a:latin typeface="Times New Roman" panose="02020603050405020304" pitchFamily="18" charset="0"/>
                <a:cs typeface="Times New Roman" panose="02020603050405020304" pitchFamily="18" charset="0"/>
              </a:rPr>
              <a:t>A,C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不同色</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4×3×2×2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②</a:t>
            </a:r>
            <a:r>
              <a:rPr lang="en-US" altLang="zh-CN" sz="2800">
                <a:solidFill>
                  <a:srgbClr val="000000"/>
                </a:solidFill>
                <a:latin typeface="Times New Roman" panose="02020603050405020304" pitchFamily="18" charset="0"/>
                <a:cs typeface="Times New Roman" panose="02020603050405020304" pitchFamily="18" charset="0"/>
              </a:rPr>
              <a:t>A,C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同色</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4×3×1×3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故共有</a:t>
            </a:r>
            <a:r>
              <a:rPr lang="en-US" altLang="zh-CN" sz="2800">
                <a:solidFill>
                  <a:srgbClr val="000000"/>
                </a:solidFill>
                <a:latin typeface="Times New Roman" panose="02020603050405020304" pitchFamily="18" charset="0"/>
                <a:cs typeface="Times New Roman" panose="02020603050405020304" pitchFamily="18" charset="0"/>
              </a:rPr>
              <a:t>48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种不同的涂色方法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(2)84</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16834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52125510"/>
              </p:ext>
            </p:extLst>
          </p:nvPr>
        </p:nvGraphicFramePr>
        <p:xfrm>
          <a:off x="458424" y="289681"/>
          <a:ext cx="11275153" cy="494148"/>
        </p:xfrm>
        <a:graphic>
          <a:graphicData uri="http://schemas.openxmlformats.org/presentationml/2006/ole">
            <mc:AlternateContent xmlns:mc="http://schemas.openxmlformats.org/markup-compatibility/2006">
              <mc:Choice xmlns:v="urn:schemas-microsoft-com:vml" Requires="v">
                <p:oleObj spid="_x0000_s719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289681"/>
                        <a:ext cx="11275153" cy="494148"/>
                      </a:xfrm>
                      <a:prstGeom prst="rect">
                        <a:avLst/>
                      </a:prstGeom>
                    </p:spPr>
                  </p:pic>
                </p:oleObj>
              </mc:Fallback>
            </mc:AlternateContent>
          </a:graphicData>
        </a:graphic>
      </p:graphicFrame>
      <p:sp>
        <p:nvSpPr>
          <p:cNvPr id="3" name="矩形 2"/>
          <p:cNvSpPr>
            <a:spLocks noChangeAspect="1"/>
          </p:cNvSpPr>
          <p:nvPr/>
        </p:nvSpPr>
        <p:spPr>
          <a:xfrm>
            <a:off x="381000" y="741881"/>
            <a:ext cx="11430000" cy="523784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b="1">
                <a:solidFill>
                  <a:srgbClr val="000000"/>
                </a:solidFill>
                <a:latin typeface="Times New Roman" panose="02020603050405020304" pitchFamily="18" charset="0"/>
                <a:cs typeface="Times New Roman" panose="02020603050405020304" pitchFamily="18" charset="0"/>
              </a:rPr>
              <a:t>1</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使用两个计数原理解决问题的思路</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选择使用两个计数原理解决问题时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要根据我们完成某件事情采取的方式而定</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确定是分类还是分步</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要抓住两个原理的本质</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分类加法计数原理的关键是</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类</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首先要根据问题的特点确定一个合适的分类标准</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然后</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在这个标准下进行分类</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其次分类时要注意</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完成这件事的任何一种方法必须属于某一类</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并且分别属于不同类的两种方法是不同的方法</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分步乘法计数原理的关键是</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步</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分步时首先要根据问题的特点确定一个分步的标准</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其次</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分步时还要注意满足完成一件事必须并且只有连续完成这</a:t>
            </a:r>
            <a:r>
              <a:rPr lang="en-US" altLang="zh-CN" sz="2600" i="1">
                <a:solidFill>
                  <a:srgbClr val="000000"/>
                </a:solidFill>
                <a:latin typeface="Times New Roman" panose="02020603050405020304" pitchFamily="18" charset="0"/>
                <a:cs typeface="Times New Roman" panose="02020603050405020304" pitchFamily="18" charset="0"/>
              </a:rPr>
              <a:t>n</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个步骤后</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这件事才算完成</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只有满足了上述条件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才能用分步乘法计数原理</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50817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使用两个计数原理解决问题时应注意的问题</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对于一些比较复杂的既要运用分类加法计数原理又要运用分步乘法计数原理的问题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我们可以恰当地画出示意图或列出表格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使问题更加直观、清晰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当两个计数原理混合使用时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一般是先分类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在每类方法里再分步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07540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42866"/>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en-US" sz="2800" smtClean="0">
                <a:solidFill>
                  <a:srgbClr val="000000"/>
                </a:solidFill>
                <a:latin typeface="Times New Roman" panose="02020603050405020304" pitchFamily="18" charset="0"/>
                <a:cs typeface="Times New Roman" panose="02020603050405020304" pitchFamily="18" charset="0"/>
              </a:rPr>
              <a:t>小</a:t>
            </a:r>
            <a:r>
              <a:rPr lang="zh-CN" altLang="en-US" sz="2800">
                <a:solidFill>
                  <a:srgbClr val="000000"/>
                </a:solidFill>
                <a:latin typeface="Times New Roman" panose="02020603050405020304" pitchFamily="18" charset="0"/>
                <a:cs typeface="Times New Roman" panose="02020603050405020304" pitchFamily="18" charset="0"/>
              </a:rPr>
              <a:t>华同学有课外参考书若干本</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本不同的外语书</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本不同的数学书</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本不同的物理书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他欲带参考书到图书馆阅读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若他从这些参考书中带</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本去图书馆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有多少种不同的带法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若带外语、数学、物理参考书各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有多少种不同的带法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若从这些参考书中选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本不同学科的参考书带到图书馆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有多少种不同的带法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9632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661539"/>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完成的事情是带</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无论带外语书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还是数学书、物理书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事情都已完成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从而确定为应用分类加法计数原理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完成的事情是带</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本不同学科的参考书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只有从外语、数学、物理书中各选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才能完成这件事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因此应用分步乘法计数原理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800">
                <a:solidFill>
                  <a:srgbClr val="000000"/>
                </a:solidFill>
                <a:latin typeface="Times New Roman" panose="02020603050405020304" pitchFamily="18" charset="0"/>
                <a:cs typeface="Times New Roman" panose="02020603050405020304" pitchFamily="18" charset="0"/>
              </a:rPr>
              <a:t>5×4×3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本外语书和</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本数学书应用分步乘法计数原理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选外语书、物理书各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选数学书、物理书各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即有三类情况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应用分类加法计数原理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2786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443109"/>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专题二</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排列与组合的综合应用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cs typeface="Times New Roman" panose="02020603050405020304" pitchFamily="18" charset="0"/>
              </a:rPr>
              <a:t>名乒乓球队员中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名老队员和</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名新队员</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现从中选出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名队员排成</a:t>
            </a:r>
            <a:r>
              <a:rPr lang="en-US" altLang="zh-CN" sz="2800">
                <a:solidFill>
                  <a:srgbClr val="000000"/>
                </a:solidFill>
                <a:latin typeface="Times New Roman" panose="02020603050405020304" pitchFamily="18" charset="0"/>
                <a:cs typeface="Times New Roman" panose="02020603050405020304" pitchFamily="18" charset="0"/>
              </a:rPr>
              <a:t>1,2,3</a:t>
            </a:r>
            <a:r>
              <a:rPr lang="zh-CN" altLang="zh-CN" sz="2800">
                <a:solidFill>
                  <a:srgbClr val="000000"/>
                </a:solidFill>
                <a:latin typeface="Times New Roman" panose="02020603050405020304" pitchFamily="18" charset="0"/>
                <a:cs typeface="Times New Roman" panose="02020603050405020304" pitchFamily="18" charset="0"/>
              </a:rPr>
              <a:t>号参加团体比赛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则入选的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名队员中至少有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名老队员且</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cs typeface="Times New Roman" panose="02020603050405020304" pitchFamily="18" charset="0"/>
              </a:rPr>
              <a:t>号中至少有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名新队员的排法有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用数字作答</a:t>
            </a:r>
            <a:r>
              <a:rPr lang="en-US" altLang="zh-CN" sz="280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在高三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班元旦晚会上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个演唱节目</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个舞蹈节目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个舞蹈节目要排在一起时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有多少种不同的节目安排顺序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当要求每</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个舞蹈节目之间至少安排</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个演唱节目时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有多少种不同的节目安排顺序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zh-CN" altLang="zh-CN" sz="2800">
                <a:solidFill>
                  <a:srgbClr val="000000"/>
                </a:solidFill>
                <a:latin typeface="Times New Roman" panose="02020603050405020304" pitchFamily="18" charset="0"/>
                <a:cs typeface="Times New Roman" panose="02020603050405020304" pitchFamily="18" charset="0"/>
              </a:rPr>
              <a:t>若已定好节目单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后来情况有变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需加上诗朗诵和快板</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个节目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但不能改变原来节目的相对顺序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有多少种不同的节目演出顺序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46017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249168725"/>
              </p:ext>
            </p:extLst>
          </p:nvPr>
        </p:nvGraphicFramePr>
        <p:xfrm>
          <a:off x="458424" y="895055"/>
          <a:ext cx="11275153" cy="4561603"/>
        </p:xfrm>
        <a:graphic>
          <a:graphicData uri="http://schemas.openxmlformats.org/presentationml/2006/ole">
            <mc:AlternateContent xmlns:mc="http://schemas.openxmlformats.org/markup-compatibility/2006">
              <mc:Choice xmlns:v="urn:schemas-microsoft-com:vml" Requires="v">
                <p:oleObj spid="_x0000_s31763" name="文档" r:id="rId4" imgW="4510061" imgH="1824641" progId="Word.Document.12">
                  <p:embed/>
                </p:oleObj>
              </mc:Choice>
              <mc:Fallback>
                <p:oleObj name="文档" r:id="rId4" imgW="4510061" imgH="1824641" progId="Word.Document.12">
                  <p:embed/>
                  <p:pic>
                    <p:nvPicPr>
                      <p:cNvPr id="0" name=""/>
                      <p:cNvPicPr/>
                      <p:nvPr/>
                    </p:nvPicPr>
                    <p:blipFill>
                      <a:blip r:embed="rId5"/>
                      <a:stretch>
                        <a:fillRect/>
                      </a:stretch>
                    </p:blipFill>
                    <p:spPr>
                      <a:xfrm>
                        <a:off x="458424" y="895055"/>
                        <a:ext cx="11275153" cy="4561603"/>
                      </a:xfrm>
                      <a:prstGeom prst="rect">
                        <a:avLst/>
                      </a:prstGeom>
                    </p:spPr>
                  </p:pic>
                </p:oleObj>
              </mc:Fallback>
            </mc:AlternateContent>
          </a:graphicData>
        </a:graphic>
      </p:graphicFrame>
    </p:spTree>
    <p:extLst>
      <p:ext uri="{BB962C8B-B14F-4D97-AF65-F5344CB8AC3E}">
        <p14:creationId xmlns:p14="http://schemas.microsoft.com/office/powerpoint/2010/main" val="2599016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99071894"/>
              </p:ext>
            </p:extLst>
          </p:nvPr>
        </p:nvGraphicFramePr>
        <p:xfrm>
          <a:off x="458424" y="1092674"/>
          <a:ext cx="11275153" cy="4412943"/>
        </p:xfrm>
        <a:graphic>
          <a:graphicData uri="http://schemas.openxmlformats.org/presentationml/2006/ole">
            <mc:AlternateContent xmlns:mc="http://schemas.openxmlformats.org/markup-compatibility/2006">
              <mc:Choice xmlns:v="urn:schemas-microsoft-com:vml" Requires="v">
                <p:oleObj spid="_x0000_s8231" name="文档" r:id="rId4" imgW="4510061" imgH="1765177" progId="Word.Document.12">
                  <p:embed/>
                </p:oleObj>
              </mc:Choice>
              <mc:Fallback>
                <p:oleObj name="文档" r:id="rId4" imgW="4510061" imgH="1765177" progId="Word.Document.12">
                  <p:embed/>
                  <p:pic>
                    <p:nvPicPr>
                      <p:cNvPr id="0" name=""/>
                      <p:cNvPicPr/>
                      <p:nvPr/>
                    </p:nvPicPr>
                    <p:blipFill>
                      <a:blip r:embed="rId5"/>
                      <a:stretch>
                        <a:fillRect/>
                      </a:stretch>
                    </p:blipFill>
                    <p:spPr>
                      <a:xfrm>
                        <a:off x="458424" y="1092674"/>
                        <a:ext cx="11275153" cy="4412943"/>
                      </a:xfrm>
                      <a:prstGeom prst="rect">
                        <a:avLst/>
                      </a:prstGeom>
                    </p:spPr>
                  </p:pic>
                </p:oleObj>
              </mc:Fallback>
            </mc:AlternateContent>
          </a:graphicData>
        </a:graphic>
      </p:graphicFrame>
    </p:spTree>
    <p:extLst>
      <p:ext uri="{BB962C8B-B14F-4D97-AF65-F5344CB8AC3E}">
        <p14:creationId xmlns:p14="http://schemas.microsoft.com/office/powerpoint/2010/main" val="36989456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29847969"/>
              </p:ext>
            </p:extLst>
          </p:nvPr>
        </p:nvGraphicFramePr>
        <p:xfrm>
          <a:off x="458424" y="986966"/>
          <a:ext cx="11275153" cy="494148"/>
        </p:xfrm>
        <a:graphic>
          <a:graphicData uri="http://schemas.openxmlformats.org/presentationml/2006/ole">
            <mc:AlternateContent xmlns:mc="http://schemas.openxmlformats.org/markup-compatibility/2006">
              <mc:Choice xmlns:v="urn:schemas-microsoft-com:vml" Requires="v">
                <p:oleObj spid="_x0000_s10269"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986966"/>
                        <a:ext cx="11275153" cy="494148"/>
                      </a:xfrm>
                      <a:prstGeom prst="rect">
                        <a:avLst/>
                      </a:prstGeom>
                    </p:spPr>
                  </p:pic>
                </p:oleObj>
              </mc:Fallback>
            </mc:AlternateContent>
          </a:graphicData>
        </a:graphic>
      </p:graphicFrame>
      <p:sp>
        <p:nvSpPr>
          <p:cNvPr id="3" name="矩形 2"/>
          <p:cNvSpPr>
            <a:spLocks noChangeAspect="1"/>
          </p:cNvSpPr>
          <p:nvPr/>
        </p:nvSpPr>
        <p:spPr>
          <a:xfrm>
            <a:off x="381000" y="1642933"/>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解排列、组合应用题应遵循三大原则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掌握基本类型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突出转化思想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三大原则是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先特殊后一般的原则、先取后排的原则、先分类后分步的原则</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基本类型主要包括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排列中的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在与不在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组合中的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有与没有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相邻与不相邻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分组问题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等</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转化思想就是把一些排列、组合问题与基本类型相联系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从而把这些问题转化为基本类型加以解决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08660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由</a:t>
            </a:r>
            <a:r>
              <a:rPr lang="en-US" altLang="zh-CN" sz="2800">
                <a:solidFill>
                  <a:srgbClr val="000000"/>
                </a:solidFill>
                <a:latin typeface="Times New Roman" panose="02020603050405020304" pitchFamily="18" charset="0"/>
                <a:cs typeface="Times New Roman" panose="02020603050405020304" pitchFamily="18" charset="0"/>
              </a:rPr>
              <a:t>1,2,3,4,5</a:t>
            </a:r>
            <a:r>
              <a:rPr lang="zh-CN" altLang="zh-CN" sz="2800">
                <a:solidFill>
                  <a:srgbClr val="000000"/>
                </a:solidFill>
                <a:latin typeface="Times New Roman" panose="02020603050405020304" pitchFamily="18" charset="0"/>
                <a:cs typeface="Times New Roman" panose="02020603050405020304" pitchFamily="18" charset="0"/>
              </a:rPr>
              <a:t>五个数字组成没有重复数字的五位数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且排成一个递增数列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首项为</a:t>
            </a:r>
            <a:r>
              <a:rPr lang="en-US" altLang="zh-CN" sz="2800">
                <a:solidFill>
                  <a:srgbClr val="000000"/>
                </a:solidFill>
                <a:latin typeface="Times New Roman" panose="02020603050405020304" pitchFamily="18" charset="0"/>
                <a:cs typeface="Times New Roman" panose="02020603050405020304" pitchFamily="18" charset="0"/>
              </a:rPr>
              <a:t>12 345,</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项是</a:t>
            </a:r>
            <a:r>
              <a:rPr lang="en-US" altLang="zh-CN" sz="2800">
                <a:solidFill>
                  <a:srgbClr val="000000"/>
                </a:solidFill>
                <a:latin typeface="Times New Roman" panose="02020603050405020304" pitchFamily="18" charset="0"/>
                <a:cs typeface="Times New Roman" panose="02020603050405020304" pitchFamily="18" charset="0"/>
              </a:rPr>
              <a:t>12 354,</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直到末项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120</a:t>
            </a:r>
            <a:r>
              <a:rPr lang="zh-CN" altLang="zh-CN" sz="2800">
                <a:solidFill>
                  <a:srgbClr val="000000"/>
                </a:solidFill>
                <a:latin typeface="Times New Roman" panose="02020603050405020304" pitchFamily="18" charset="0"/>
                <a:cs typeface="Times New Roman" panose="02020603050405020304" pitchFamily="18" charset="0"/>
              </a:rPr>
              <a:t>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是</a:t>
            </a:r>
            <a:r>
              <a:rPr lang="en-US" altLang="zh-CN" sz="2800" smtClean="0">
                <a:solidFill>
                  <a:srgbClr val="000000"/>
                </a:solidFill>
                <a:latin typeface="Times New Roman" panose="02020603050405020304" pitchFamily="18" charset="0"/>
                <a:cs typeface="Times New Roman" panose="02020603050405020304" pitchFamily="18" charset="0"/>
              </a:rPr>
              <a:t>    54 </a:t>
            </a:r>
            <a:r>
              <a:rPr lang="en-US" altLang="zh-CN" sz="2800">
                <a:solidFill>
                  <a:srgbClr val="000000"/>
                </a:solidFill>
                <a:latin typeface="Times New Roman" panose="02020603050405020304" pitchFamily="18" charset="0"/>
                <a:cs typeface="Times New Roman" panose="02020603050405020304" pitchFamily="18" charset="0"/>
              </a:rPr>
              <a:t>321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(1)43 251</a:t>
            </a:r>
            <a:r>
              <a:rPr lang="zh-CN" altLang="zh-CN" sz="2800">
                <a:solidFill>
                  <a:srgbClr val="000000"/>
                </a:solidFill>
                <a:latin typeface="Times New Roman" panose="02020603050405020304" pitchFamily="18" charset="0"/>
                <a:cs typeface="Times New Roman" panose="02020603050405020304" pitchFamily="18" charset="0"/>
              </a:rPr>
              <a:t>是第几项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93</a:t>
            </a:r>
            <a:r>
              <a:rPr lang="zh-CN" altLang="zh-CN" sz="2800">
                <a:solidFill>
                  <a:srgbClr val="000000"/>
                </a:solidFill>
                <a:latin typeface="Times New Roman" panose="02020603050405020304" pitchFamily="18" charset="0"/>
                <a:cs typeface="Times New Roman" panose="02020603050405020304" pitchFamily="18" charset="0"/>
              </a:rPr>
              <a:t>项是怎样的一个五位数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25493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831070103"/>
              </p:ext>
            </p:extLst>
          </p:nvPr>
        </p:nvGraphicFramePr>
        <p:xfrm>
          <a:off x="458424" y="499403"/>
          <a:ext cx="11275153" cy="5702228"/>
        </p:xfrm>
        <a:graphic>
          <a:graphicData uri="http://schemas.openxmlformats.org/presentationml/2006/ole">
            <mc:AlternateContent xmlns:mc="http://schemas.openxmlformats.org/markup-compatibility/2006">
              <mc:Choice xmlns:v="urn:schemas-microsoft-com:vml" Requires="v">
                <p:oleObj spid="_x0000_s11293" name="文档" r:id="rId4" imgW="4510061" imgH="2280891" progId="Word.Document.12">
                  <p:embed/>
                </p:oleObj>
              </mc:Choice>
              <mc:Fallback>
                <p:oleObj name="文档" r:id="rId4" imgW="4510061" imgH="2280891" progId="Word.Document.12">
                  <p:embed/>
                  <p:pic>
                    <p:nvPicPr>
                      <p:cNvPr id="0" name=""/>
                      <p:cNvPicPr/>
                      <p:nvPr/>
                    </p:nvPicPr>
                    <p:blipFill>
                      <a:blip r:embed="rId5"/>
                      <a:stretch>
                        <a:fillRect/>
                      </a:stretch>
                    </p:blipFill>
                    <p:spPr>
                      <a:xfrm>
                        <a:off x="458424" y="499403"/>
                        <a:ext cx="11275153" cy="5702228"/>
                      </a:xfrm>
                      <a:prstGeom prst="rect">
                        <a:avLst/>
                      </a:prstGeom>
                    </p:spPr>
                  </p:pic>
                </p:oleObj>
              </mc:Fallback>
            </mc:AlternateContent>
          </a:graphicData>
        </a:graphic>
      </p:graphicFrame>
    </p:spTree>
    <p:extLst>
      <p:ext uri="{BB962C8B-B14F-4D97-AF65-F5344CB8AC3E}">
        <p14:creationId xmlns:p14="http://schemas.microsoft.com/office/powerpoint/2010/main" val="887175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58108"/>
            <a:ext cx="459292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专题三</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二项式定理的</a:t>
            </a:r>
            <a:r>
              <a:rPr lang="zh-CN"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r>
              <a:rPr lang="en-US"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239201451"/>
              </p:ext>
            </p:extLst>
          </p:nvPr>
        </p:nvGraphicFramePr>
        <p:xfrm>
          <a:off x="458424" y="948950"/>
          <a:ext cx="11275153" cy="5454460"/>
        </p:xfrm>
        <a:graphic>
          <a:graphicData uri="http://schemas.openxmlformats.org/presentationml/2006/ole">
            <mc:AlternateContent xmlns:mc="http://schemas.openxmlformats.org/markup-compatibility/2006">
              <mc:Choice xmlns:v="urn:schemas-microsoft-com:vml" Requires="v">
                <p:oleObj spid="_x0000_s12326" name="文档" r:id="rId4" imgW="4510061" imgH="2181784" progId="Word.Document.12">
                  <p:embed/>
                </p:oleObj>
              </mc:Choice>
              <mc:Fallback>
                <p:oleObj name="文档" r:id="rId4" imgW="4510061" imgH="2181784" progId="Word.Document.12">
                  <p:embed/>
                  <p:pic>
                    <p:nvPicPr>
                      <p:cNvPr id="0" name=""/>
                      <p:cNvPicPr/>
                      <p:nvPr/>
                    </p:nvPicPr>
                    <p:blipFill>
                      <a:blip r:embed="rId5"/>
                      <a:stretch>
                        <a:fillRect/>
                      </a:stretch>
                    </p:blipFill>
                    <p:spPr>
                      <a:xfrm>
                        <a:off x="458424" y="948950"/>
                        <a:ext cx="11275153" cy="5454460"/>
                      </a:xfrm>
                      <a:prstGeom prst="rect">
                        <a:avLst/>
                      </a:prstGeom>
                    </p:spPr>
                  </p:pic>
                </p:oleObj>
              </mc:Fallback>
            </mc:AlternateContent>
          </a:graphicData>
        </a:graphic>
      </p:graphicFrame>
    </p:spTree>
    <p:extLst>
      <p:ext uri="{BB962C8B-B14F-4D97-AF65-F5344CB8AC3E}">
        <p14:creationId xmlns:p14="http://schemas.microsoft.com/office/powerpoint/2010/main" val="240828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86010033"/>
              </p:ext>
            </p:extLst>
          </p:nvPr>
        </p:nvGraphicFramePr>
        <p:xfrm>
          <a:off x="457200" y="97052"/>
          <a:ext cx="11249025" cy="6450013"/>
        </p:xfrm>
        <a:graphic>
          <a:graphicData uri="http://schemas.openxmlformats.org/presentationml/2006/ole">
            <mc:AlternateContent xmlns:mc="http://schemas.openxmlformats.org/markup-compatibility/2006">
              <mc:Choice xmlns:v="urn:schemas-microsoft-com:vml" Requires="v">
                <p:oleObj spid="_x0000_s13341" name="文档" r:id="rId4" imgW="4510061" imgH="2617853" progId="Word.Document.12">
                  <p:embed/>
                </p:oleObj>
              </mc:Choice>
              <mc:Fallback>
                <p:oleObj name="文档" r:id="rId4" imgW="4510061" imgH="2617853" progId="Word.Document.12">
                  <p:embed/>
                  <p:pic>
                    <p:nvPicPr>
                      <p:cNvPr id="0" name=""/>
                      <p:cNvPicPr/>
                      <p:nvPr/>
                    </p:nvPicPr>
                    <p:blipFill>
                      <a:blip r:embed="rId5"/>
                      <a:stretch>
                        <a:fillRect/>
                      </a:stretch>
                    </p:blipFill>
                    <p:spPr>
                      <a:xfrm>
                        <a:off x="457200" y="97052"/>
                        <a:ext cx="11249025" cy="6450013"/>
                      </a:xfrm>
                      <a:prstGeom prst="rect">
                        <a:avLst/>
                      </a:prstGeom>
                    </p:spPr>
                  </p:pic>
                </p:oleObj>
              </mc:Fallback>
            </mc:AlternateContent>
          </a:graphicData>
        </a:graphic>
      </p:graphicFrame>
    </p:spTree>
    <p:extLst>
      <p:ext uri="{BB962C8B-B14F-4D97-AF65-F5344CB8AC3E}">
        <p14:creationId xmlns:p14="http://schemas.microsoft.com/office/powerpoint/2010/main" val="2303210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35900365"/>
              </p:ext>
            </p:extLst>
          </p:nvPr>
        </p:nvGraphicFramePr>
        <p:xfrm>
          <a:off x="458424" y="1655124"/>
          <a:ext cx="11275153" cy="3123658"/>
        </p:xfrm>
        <a:graphic>
          <a:graphicData uri="http://schemas.openxmlformats.org/presentationml/2006/ole">
            <mc:AlternateContent xmlns:mc="http://schemas.openxmlformats.org/markup-compatibility/2006">
              <mc:Choice xmlns:v="urn:schemas-microsoft-com:vml" Requires="v">
                <p:oleObj spid="_x0000_s14376" name="文档" r:id="rId4" imgW="4510061" imgH="1250544" progId="Word.Document.12">
                  <p:embed/>
                </p:oleObj>
              </mc:Choice>
              <mc:Fallback>
                <p:oleObj name="文档" r:id="rId4" imgW="4510061" imgH="1250544" progId="Word.Document.12">
                  <p:embed/>
                  <p:pic>
                    <p:nvPicPr>
                      <p:cNvPr id="0" name=""/>
                      <p:cNvPicPr/>
                      <p:nvPr/>
                    </p:nvPicPr>
                    <p:blipFill>
                      <a:blip r:embed="rId5"/>
                      <a:stretch>
                        <a:fillRect/>
                      </a:stretch>
                    </p:blipFill>
                    <p:spPr>
                      <a:xfrm>
                        <a:off x="458424" y="1655124"/>
                        <a:ext cx="11275153" cy="3123658"/>
                      </a:xfrm>
                      <a:prstGeom prst="rect">
                        <a:avLst/>
                      </a:prstGeom>
                    </p:spPr>
                  </p:pic>
                </p:oleObj>
              </mc:Fallback>
            </mc:AlternateContent>
          </a:graphicData>
        </a:graphic>
      </p:graphicFrame>
    </p:spTree>
    <p:extLst>
      <p:ext uri="{BB962C8B-B14F-4D97-AF65-F5344CB8AC3E}">
        <p14:creationId xmlns:p14="http://schemas.microsoft.com/office/powerpoint/2010/main" val="3690496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58876198"/>
              </p:ext>
            </p:extLst>
          </p:nvPr>
        </p:nvGraphicFramePr>
        <p:xfrm>
          <a:off x="458424" y="432162"/>
          <a:ext cx="11275153" cy="494148"/>
        </p:xfrm>
        <a:graphic>
          <a:graphicData uri="http://schemas.openxmlformats.org/presentationml/2006/ole">
            <mc:AlternateContent xmlns:mc="http://schemas.openxmlformats.org/markup-compatibility/2006">
              <mc:Choice xmlns:v="urn:schemas-microsoft-com:vml" Requires="v">
                <p:oleObj spid="_x0000_s15389"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432162"/>
                        <a:ext cx="11275153" cy="494148"/>
                      </a:xfrm>
                      <a:prstGeom prst="rect">
                        <a:avLst/>
                      </a:prstGeom>
                    </p:spPr>
                  </p:pic>
                </p:oleObj>
              </mc:Fallback>
            </mc:AlternateContent>
          </a:graphicData>
        </a:graphic>
      </p:graphicFrame>
      <p:sp>
        <p:nvSpPr>
          <p:cNvPr id="3" name="矩形 2"/>
          <p:cNvSpPr>
            <a:spLocks noChangeAspect="1"/>
          </p:cNvSpPr>
          <p:nvPr/>
        </p:nvSpPr>
        <p:spPr>
          <a:xfrm>
            <a:off x="381000" y="926310"/>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二项式定理的问题类型及解答策略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确定二项式中的有关元素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一般是根据已知条件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列出等式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从而可解得所要求的二项式中的有关元素</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确定二项展开式中的常数项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先写出其通项公式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令未知数的指数为零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从而确定项数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再代入通项公式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即可确定常数项</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求二项展开式中条件项的系数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先写出其通项公式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再由条件确定项数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最后代入通项公式求出此项的系数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求二项展开式中各项系数的和差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赋值代入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确定二项展开式中的系数最大或最小项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利用二项式系数的性质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2004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89773586"/>
              </p:ext>
            </p:extLst>
          </p:nvPr>
        </p:nvGraphicFramePr>
        <p:xfrm>
          <a:off x="458424" y="1457328"/>
          <a:ext cx="11275153" cy="3683638"/>
        </p:xfrm>
        <a:graphic>
          <a:graphicData uri="http://schemas.openxmlformats.org/presentationml/2006/ole">
            <mc:AlternateContent xmlns:mc="http://schemas.openxmlformats.org/markup-compatibility/2006">
              <mc:Choice xmlns:v="urn:schemas-microsoft-com:vml" Requires="v">
                <p:oleObj spid="_x0000_s16413" name="文档" r:id="rId4" imgW="4510061" imgH="1473455" progId="Word.Document.12">
                  <p:embed/>
                </p:oleObj>
              </mc:Choice>
              <mc:Fallback>
                <p:oleObj name="文档" r:id="rId4" imgW="4510061" imgH="1473455" progId="Word.Document.12">
                  <p:embed/>
                  <p:pic>
                    <p:nvPicPr>
                      <p:cNvPr id="0" name=""/>
                      <p:cNvPicPr/>
                      <p:nvPr/>
                    </p:nvPicPr>
                    <p:blipFill>
                      <a:blip r:embed="rId5"/>
                      <a:stretch>
                        <a:fillRect/>
                      </a:stretch>
                    </p:blipFill>
                    <p:spPr>
                      <a:xfrm>
                        <a:off x="458424" y="1457328"/>
                        <a:ext cx="11275153" cy="3683638"/>
                      </a:xfrm>
                      <a:prstGeom prst="rect">
                        <a:avLst/>
                      </a:prstGeom>
                    </p:spPr>
                  </p:pic>
                </p:oleObj>
              </mc:Fallback>
            </mc:AlternateContent>
          </a:graphicData>
        </a:graphic>
      </p:graphicFrame>
    </p:spTree>
    <p:extLst>
      <p:ext uri="{BB962C8B-B14F-4D97-AF65-F5344CB8AC3E}">
        <p14:creationId xmlns:p14="http://schemas.microsoft.com/office/powerpoint/2010/main" val="3461672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55714397"/>
              </p:ext>
            </p:extLst>
          </p:nvPr>
        </p:nvGraphicFramePr>
        <p:xfrm>
          <a:off x="458424" y="322197"/>
          <a:ext cx="11275153" cy="5933350"/>
        </p:xfrm>
        <a:graphic>
          <a:graphicData uri="http://schemas.openxmlformats.org/presentationml/2006/ole">
            <mc:AlternateContent xmlns:mc="http://schemas.openxmlformats.org/markup-compatibility/2006">
              <mc:Choice xmlns:v="urn:schemas-microsoft-com:vml" Requires="v">
                <p:oleObj spid="_x0000_s17437" name="文档" r:id="rId4" imgW="4510061" imgH="2373340" progId="Word.Document.12">
                  <p:embed/>
                </p:oleObj>
              </mc:Choice>
              <mc:Fallback>
                <p:oleObj name="文档" r:id="rId4" imgW="4510061" imgH="2373340" progId="Word.Document.12">
                  <p:embed/>
                  <p:pic>
                    <p:nvPicPr>
                      <p:cNvPr id="0" name=""/>
                      <p:cNvPicPr/>
                      <p:nvPr/>
                    </p:nvPicPr>
                    <p:blipFill>
                      <a:blip r:embed="rId5"/>
                      <a:stretch>
                        <a:fillRect/>
                      </a:stretch>
                    </p:blipFill>
                    <p:spPr>
                      <a:xfrm>
                        <a:off x="458424" y="322197"/>
                        <a:ext cx="11275153" cy="5933350"/>
                      </a:xfrm>
                      <a:prstGeom prst="rect">
                        <a:avLst/>
                      </a:prstGeom>
                    </p:spPr>
                  </p:pic>
                </p:oleObj>
              </mc:Fallback>
            </mc:AlternateContent>
          </a:graphicData>
        </a:graphic>
      </p:graphicFrame>
    </p:spTree>
    <p:extLst>
      <p:ext uri="{BB962C8B-B14F-4D97-AF65-F5344CB8AC3E}">
        <p14:creationId xmlns:p14="http://schemas.microsoft.com/office/powerpoint/2010/main" val="1922750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035074768"/>
              </p:ext>
            </p:extLst>
          </p:nvPr>
        </p:nvGraphicFramePr>
        <p:xfrm>
          <a:off x="458424" y="947432"/>
          <a:ext cx="11275153" cy="3470530"/>
        </p:xfrm>
        <a:graphic>
          <a:graphicData uri="http://schemas.openxmlformats.org/presentationml/2006/ole">
            <mc:AlternateContent xmlns:mc="http://schemas.openxmlformats.org/markup-compatibility/2006">
              <mc:Choice xmlns:v="urn:schemas-microsoft-com:vml" Requires="v">
                <p:oleObj spid="_x0000_s18461" name="文档" r:id="rId4" imgW="4510061" imgH="1388212" progId="Word.Document.12">
                  <p:embed/>
                </p:oleObj>
              </mc:Choice>
              <mc:Fallback>
                <p:oleObj name="文档" r:id="rId4" imgW="4510061" imgH="1388212" progId="Word.Document.12">
                  <p:embed/>
                  <p:pic>
                    <p:nvPicPr>
                      <p:cNvPr id="0" name=""/>
                      <p:cNvPicPr/>
                      <p:nvPr/>
                    </p:nvPicPr>
                    <p:blipFill>
                      <a:blip r:embed="rId5"/>
                      <a:stretch>
                        <a:fillRect/>
                      </a:stretch>
                    </p:blipFill>
                    <p:spPr>
                      <a:xfrm>
                        <a:off x="458424" y="947432"/>
                        <a:ext cx="11275153" cy="3470530"/>
                      </a:xfrm>
                      <a:prstGeom prst="rect">
                        <a:avLst/>
                      </a:prstGeom>
                    </p:spPr>
                  </p:pic>
                </p:oleObj>
              </mc:Fallback>
            </mc:AlternateContent>
          </a:graphicData>
        </a:graphic>
      </p:graphicFrame>
    </p:spTree>
    <p:extLst>
      <p:ext uri="{BB962C8B-B14F-4D97-AF65-F5344CB8AC3E}">
        <p14:creationId xmlns:p14="http://schemas.microsoft.com/office/powerpoint/2010/main" val="4191086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7250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专题四</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赋值法的应用</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(2)</a:t>
            </a:r>
            <a:r>
              <a:rPr lang="zh-CN" altLang="zh-CN" sz="2800" smtClean="0">
                <a:solidFill>
                  <a:srgbClr val="000000"/>
                </a:solidFill>
                <a:latin typeface="Times New Roman" panose="02020603050405020304" pitchFamily="18" charset="0"/>
                <a:cs typeface="Times New Roman" panose="02020603050405020304" pitchFamily="18" charset="0"/>
              </a:rPr>
              <a:t>求</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a:t>
            </a:r>
            <a:r>
              <a:rPr lang="en-US" altLang="zh-CN" sz="2800" baseline="-25000"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a:t>
            </a:r>
            <a:r>
              <a:rPr lang="en-US" altLang="zh-CN" sz="2800" baseline="-250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baseline="30000"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a:t>
            </a:r>
            <a:r>
              <a:rPr lang="en-US" altLang="zh-CN" sz="2800" baseline="-25000"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baseline="30000" smtClean="0">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a</a:t>
            </a:r>
            <a:r>
              <a:rPr lang="en-US" altLang="zh-CN" sz="2800" i="1" baseline="-25000" smtClean="0">
                <a:solidFill>
                  <a:srgbClr val="000000"/>
                </a:solidFill>
                <a:latin typeface="Times New Roman" panose="02020603050405020304" pitchFamily="18" charset="0"/>
                <a:cs typeface="Times New Roman" panose="02020603050405020304" pitchFamily="18" charset="0"/>
              </a:rPr>
              <a:t>n</a:t>
            </a:r>
            <a:r>
              <a:rPr lang="zh-CN" altLang="zh-CN" sz="2800" smtClean="0">
                <a:solidFill>
                  <a:srgbClr val="000000"/>
                </a:solidFill>
                <a:latin typeface="Times New Roman" panose="02020603050405020304" pitchFamily="18" charset="0"/>
                <a:cs typeface="Times New Roman" panose="02020603050405020304" pitchFamily="18" charset="0"/>
              </a:rPr>
              <a:t>的值</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53473116"/>
              </p:ext>
            </p:extLst>
          </p:nvPr>
        </p:nvGraphicFramePr>
        <p:xfrm>
          <a:off x="458424" y="1201781"/>
          <a:ext cx="11275153" cy="989193"/>
        </p:xfrm>
        <a:graphic>
          <a:graphicData uri="http://schemas.openxmlformats.org/presentationml/2006/ole">
            <mc:AlternateContent xmlns:mc="http://schemas.openxmlformats.org/markup-compatibility/2006">
              <mc:Choice xmlns:v="urn:schemas-microsoft-com:vml" Requires="v">
                <p:oleObj spid="_x0000_s19512"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1201781"/>
                        <a:ext cx="11275153" cy="98919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57235819"/>
              </p:ext>
            </p:extLst>
          </p:nvPr>
        </p:nvGraphicFramePr>
        <p:xfrm>
          <a:off x="458424" y="3385133"/>
          <a:ext cx="11275153" cy="2125728"/>
        </p:xfrm>
        <a:graphic>
          <a:graphicData uri="http://schemas.openxmlformats.org/presentationml/2006/ole">
            <mc:AlternateContent xmlns:mc="http://schemas.openxmlformats.org/markup-compatibility/2006">
              <mc:Choice xmlns:v="urn:schemas-microsoft-com:vml" Requires="v">
                <p:oleObj spid="_x0000_s19513" name="文档" r:id="rId7" imgW="4510061" imgH="850291" progId="Word.Document.12">
                  <p:embed/>
                </p:oleObj>
              </mc:Choice>
              <mc:Fallback>
                <p:oleObj name="文档" r:id="rId7" imgW="4510061" imgH="850291" progId="Word.Document.12">
                  <p:embed/>
                  <p:pic>
                    <p:nvPicPr>
                      <p:cNvPr id="0" name=""/>
                      <p:cNvPicPr/>
                      <p:nvPr/>
                    </p:nvPicPr>
                    <p:blipFill>
                      <a:blip r:embed="rId8"/>
                      <a:stretch>
                        <a:fillRect/>
                      </a:stretch>
                    </p:blipFill>
                    <p:spPr>
                      <a:xfrm>
                        <a:off x="458424" y="3385133"/>
                        <a:ext cx="11275153" cy="2125728"/>
                      </a:xfrm>
                      <a:prstGeom prst="rect">
                        <a:avLst/>
                      </a:prstGeom>
                    </p:spPr>
                  </p:pic>
                </p:oleObj>
              </mc:Fallback>
            </mc:AlternateContent>
          </a:graphicData>
        </a:graphic>
      </p:graphicFrame>
    </p:spTree>
    <p:extLst>
      <p:ext uri="{BB962C8B-B14F-4D97-AF65-F5344CB8AC3E}">
        <p14:creationId xmlns:p14="http://schemas.microsoft.com/office/powerpoint/2010/main" val="4169973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97929035"/>
              </p:ext>
            </p:extLst>
          </p:nvPr>
        </p:nvGraphicFramePr>
        <p:xfrm>
          <a:off x="458424" y="411614"/>
          <a:ext cx="11275153" cy="494148"/>
        </p:xfrm>
        <a:graphic>
          <a:graphicData uri="http://schemas.openxmlformats.org/presentationml/2006/ole">
            <mc:AlternateContent xmlns:mc="http://schemas.openxmlformats.org/markup-compatibility/2006">
              <mc:Choice xmlns:v="urn:schemas-microsoft-com:vml" Requires="v">
                <p:oleObj spid="_x0000_s20509"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411614"/>
                        <a:ext cx="11275153" cy="494148"/>
                      </a:xfrm>
                      <a:prstGeom prst="rect">
                        <a:avLst/>
                      </a:prstGeom>
                    </p:spPr>
                  </p:pic>
                </p:oleObj>
              </mc:Fallback>
            </mc:AlternateContent>
          </a:graphicData>
        </a:graphic>
      </p:graphicFrame>
      <p:sp>
        <p:nvSpPr>
          <p:cNvPr id="3" name="矩形 2"/>
          <p:cNvSpPr>
            <a:spLocks noChangeAspect="1"/>
          </p:cNvSpPr>
          <p:nvPr/>
        </p:nvSpPr>
        <p:spPr>
          <a:xfrm>
            <a:off x="381000" y="905762"/>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赋值法的应用规律</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与二项式系数有关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包括求展开式中二项式系数最大的项、各项的二项式系数或系数的和、奇数项或者偶数项的二项式系数或系数的和以及各项系数的绝对值的和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主要方法是赋值法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通过观察展开式右边的结构特点和所求式子的关系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确定给字母所赋的值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有时赋值后得到的式子比所求式子多一项或少一项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此时要专门求出这一项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而在求奇数项或者偶数项的二项式系数或系数的和时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往往要两次赋值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再解方程组求出结果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求各项系数的绝对值的和时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要先根据绝对值里面数的符号赋值再求解</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79537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62857"/>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再令</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560,</a:t>
            </a:r>
            <a:r>
              <a:rPr lang="zh-CN" altLang="zh-CN" sz="2800">
                <a:solidFill>
                  <a:srgbClr val="000000"/>
                </a:solidFill>
                <a:latin typeface="NEU-BZ-S92"/>
                <a:cs typeface="宋体" panose="02010600030101010101" pitchFamily="2" charset="-122"/>
              </a:rPr>
              <a:t>①</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555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在所给的等式中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NEU-BZ-S92"/>
                <a:cs typeface="宋体" panose="02010600030101010101" pitchFamily="2" charset="-122"/>
              </a:rPr>
              <a:t>②</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zh-CN" altLang="zh-CN" sz="2800">
                <a:solidFill>
                  <a:srgbClr val="000000"/>
                </a:solidFill>
                <a:latin typeface="NEU-BZ-S92"/>
                <a:cs typeface="宋体" panose="02010600030101010101" pitchFamily="2" charset="-122"/>
              </a:rPr>
              <a:t>①②</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280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42233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3" dur="500"/>
                                        <p:tgtEl>
                                          <p:spTgt spid="2">
                                            <p:txEl>
                                              <p:pRg st="5" end="5"/>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6" dur="500"/>
                                        <p:tgtEl>
                                          <p:spTgt spid="2">
                                            <p:txEl>
                                              <p:pRg st="6" end="6"/>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9"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高考体验</a:t>
              </a:r>
              <a:endParaRPr lang="zh-CN" altLang="en-US" sz="2800" b="1" dirty="0">
                <a:solidFill>
                  <a:schemeClr val="bg1"/>
                </a:solidFill>
              </a:endParaRPr>
            </a:p>
          </p:txBody>
        </p:sp>
      </p:grpSp>
      <p:sp>
        <p:nvSpPr>
          <p:cNvPr id="2" name="矩形 1"/>
          <p:cNvSpPr>
            <a:spLocks noChangeAspect="1"/>
          </p:cNvSpPr>
          <p:nvPr/>
        </p:nvSpPr>
        <p:spPr>
          <a:xfrm>
            <a:off x="381000" y="1129655"/>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两个计数原理及其应用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某学校为了了解学生参加体育运动的情况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用比例分配的分层随机抽样法作抽样调查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拟从初中部和高中部两层共抽取</a:t>
            </a:r>
            <a:r>
              <a:rPr lang="en-US" altLang="zh-CN" sz="2800">
                <a:solidFill>
                  <a:srgbClr val="000000"/>
                </a:solidFill>
                <a:latin typeface="Times New Roman" panose="02020603050405020304" pitchFamily="18" charset="0"/>
                <a:cs typeface="Times New Roman" panose="02020603050405020304" pitchFamily="18" charset="0"/>
              </a:rPr>
              <a:t>60</a:t>
            </a:r>
            <a:r>
              <a:rPr lang="zh-CN" altLang="zh-CN" sz="2800">
                <a:solidFill>
                  <a:srgbClr val="000000"/>
                </a:solidFill>
                <a:latin typeface="Times New Roman" panose="02020603050405020304" pitchFamily="18" charset="0"/>
                <a:cs typeface="Times New Roman" panose="02020603050405020304" pitchFamily="18" charset="0"/>
              </a:rPr>
              <a:t>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已知该校初中部和高中部分别有</a:t>
            </a:r>
            <a:r>
              <a:rPr lang="en-US" altLang="zh-CN" sz="2800">
                <a:solidFill>
                  <a:srgbClr val="000000"/>
                </a:solidFill>
                <a:latin typeface="Times New Roman" panose="02020603050405020304" pitchFamily="18" charset="0"/>
                <a:cs typeface="Times New Roman" panose="02020603050405020304" pitchFamily="18" charset="0"/>
              </a:rPr>
              <a:t>400</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则不同的抽样结果有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099242903"/>
              </p:ext>
            </p:extLst>
          </p:nvPr>
        </p:nvGraphicFramePr>
        <p:xfrm>
          <a:off x="458424" y="4041514"/>
          <a:ext cx="11275153" cy="1289285"/>
        </p:xfrm>
        <a:graphic>
          <a:graphicData uri="http://schemas.openxmlformats.org/presentationml/2006/ole">
            <mc:AlternateContent xmlns:mc="http://schemas.openxmlformats.org/markup-compatibility/2006">
              <mc:Choice xmlns:v="urn:schemas-microsoft-com:vml" Requires="v">
                <p:oleObj spid="_x0000_s32785" name="文档" r:id="rId4" imgW="4510061" imgH="515714" progId="Word.Document.12">
                  <p:embed/>
                </p:oleObj>
              </mc:Choice>
              <mc:Fallback>
                <p:oleObj name="文档" r:id="rId4" imgW="4510061" imgH="515714" progId="Word.Document.12">
                  <p:embed/>
                  <p:pic>
                    <p:nvPicPr>
                      <p:cNvPr id="0" name=""/>
                      <p:cNvPicPr/>
                      <p:nvPr/>
                    </p:nvPicPr>
                    <p:blipFill>
                      <a:blip r:embed="rId5"/>
                      <a:stretch>
                        <a:fillRect/>
                      </a:stretch>
                    </p:blipFill>
                    <p:spPr>
                      <a:xfrm>
                        <a:off x="458424" y="4041514"/>
                        <a:ext cx="11275153" cy="1289285"/>
                      </a:xfrm>
                      <a:prstGeom prst="rect">
                        <a:avLst/>
                      </a:prstGeom>
                    </p:spPr>
                  </p:pic>
                </p:oleObj>
              </mc:Fallback>
            </mc:AlternateContent>
          </a:graphicData>
        </a:graphic>
      </p:graphicFrame>
    </p:spTree>
    <p:extLst>
      <p:ext uri="{BB962C8B-B14F-4D97-AF65-F5344CB8AC3E}">
        <p14:creationId xmlns:p14="http://schemas.microsoft.com/office/powerpoint/2010/main" val="191335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66156747"/>
              </p:ext>
            </p:extLst>
          </p:nvPr>
        </p:nvGraphicFramePr>
        <p:xfrm>
          <a:off x="458424" y="1189152"/>
          <a:ext cx="11275153" cy="2925443"/>
        </p:xfrm>
        <a:graphic>
          <a:graphicData uri="http://schemas.openxmlformats.org/presentationml/2006/ole">
            <mc:AlternateContent xmlns:mc="http://schemas.openxmlformats.org/markup-compatibility/2006">
              <mc:Choice xmlns:v="urn:schemas-microsoft-com:vml" Requires="v">
                <p:oleObj spid="_x0000_s39942" name="文档" r:id="rId4" imgW="4510061" imgH="1170177" progId="Word.Document.12">
                  <p:embed/>
                </p:oleObj>
              </mc:Choice>
              <mc:Fallback>
                <p:oleObj name="文档" r:id="rId4" imgW="4510061" imgH="1170177" progId="Word.Document.12">
                  <p:embed/>
                  <p:pic>
                    <p:nvPicPr>
                      <p:cNvPr id="0" name=""/>
                      <p:cNvPicPr/>
                      <p:nvPr/>
                    </p:nvPicPr>
                    <p:blipFill>
                      <a:blip r:embed="rId5"/>
                      <a:stretch>
                        <a:fillRect/>
                      </a:stretch>
                    </p:blipFill>
                    <p:spPr>
                      <a:xfrm>
                        <a:off x="458424" y="1189152"/>
                        <a:ext cx="11275153" cy="2925443"/>
                      </a:xfrm>
                      <a:prstGeom prst="rect">
                        <a:avLst/>
                      </a:prstGeom>
                    </p:spPr>
                  </p:pic>
                </p:oleObj>
              </mc:Fallback>
            </mc:AlternateContent>
          </a:graphicData>
        </a:graphic>
      </p:graphicFrame>
      <p:sp>
        <p:nvSpPr>
          <p:cNvPr id="3" name="矩形 2"/>
          <p:cNvSpPr>
            <a:spLocks noChangeAspect="1"/>
          </p:cNvSpPr>
          <p:nvPr/>
        </p:nvSpPr>
        <p:spPr>
          <a:xfrm>
            <a:off x="381000" y="4114595"/>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D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289422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58427"/>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(2023·</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某学校开设了</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门体育类选修课和</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门艺术类选修课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学生需从这</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门课中选修</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门或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门课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并且每类选修课至少选修</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则不同的选课方案共有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用数字作答</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09564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33080184"/>
              </p:ext>
            </p:extLst>
          </p:nvPr>
        </p:nvGraphicFramePr>
        <p:xfrm>
          <a:off x="458424" y="412801"/>
          <a:ext cx="11275153" cy="5156240"/>
        </p:xfrm>
        <a:graphic>
          <a:graphicData uri="http://schemas.openxmlformats.org/presentationml/2006/ole">
            <mc:AlternateContent xmlns:mc="http://schemas.openxmlformats.org/markup-compatibility/2006">
              <mc:Choice xmlns:v="urn:schemas-microsoft-com:vml" Requires="v">
                <p:oleObj spid="_x0000_s40966" name="文档" r:id="rId4" imgW="4510061" imgH="2064298" progId="Word.Document.12">
                  <p:embed/>
                </p:oleObj>
              </mc:Choice>
              <mc:Fallback>
                <p:oleObj name="文档" r:id="rId4" imgW="4510061" imgH="2064298" progId="Word.Document.12">
                  <p:embed/>
                  <p:pic>
                    <p:nvPicPr>
                      <p:cNvPr id="0" name=""/>
                      <p:cNvPicPr/>
                      <p:nvPr/>
                    </p:nvPicPr>
                    <p:blipFill>
                      <a:blip r:embed="rId5"/>
                      <a:stretch>
                        <a:fillRect/>
                      </a:stretch>
                    </p:blipFill>
                    <p:spPr>
                      <a:xfrm>
                        <a:off x="458424" y="412801"/>
                        <a:ext cx="11275153" cy="5156240"/>
                      </a:xfrm>
                      <a:prstGeom prst="rect">
                        <a:avLst/>
                      </a:prstGeom>
                    </p:spPr>
                  </p:pic>
                </p:oleObj>
              </mc:Fallback>
            </mc:AlternateContent>
          </a:graphicData>
        </a:graphic>
      </p:graphicFrame>
      <p:sp>
        <p:nvSpPr>
          <p:cNvPr id="3" name="矩形 2"/>
          <p:cNvSpPr>
            <a:spLocks noChangeAspect="1"/>
          </p:cNvSpPr>
          <p:nvPr/>
        </p:nvSpPr>
        <p:spPr>
          <a:xfrm>
            <a:off x="381000" y="5569041"/>
            <a:ext cx="145103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64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2105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1067993"/>
            <a:ext cx="11430000" cy="5932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考点二</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排列组合及其应</a:t>
            </a:r>
            <a:r>
              <a:rPr lang="zh-CN" altLang="zh-CN" sz="2800" smtClean="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用</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8" name="矩形 7"/>
          <p:cNvSpPr>
            <a:spLocks noChangeAspect="1"/>
          </p:cNvSpPr>
          <p:nvPr/>
        </p:nvSpPr>
        <p:spPr>
          <a:xfrm>
            <a:off x="381000" y="1661232"/>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全国甲高考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名志愿者报名参加公益活动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在某一星期的星期六、星期日两天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每天从这</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人中安排</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人参加公益活动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则恰有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人在这两天都参加的不同安排方式共有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A.120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B.60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C.30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D.20</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57998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0310"/>
            <a:ext cx="11430000" cy="635327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sz="26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60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先在</a:t>
            </a:r>
            <a:r>
              <a:rPr lang="en-US" altLang="zh-CN" sz="2600">
                <a:solidFill>
                  <a:srgbClr val="000000"/>
                </a:solidFill>
                <a:latin typeface="Times New Roman" panose="02020603050405020304" pitchFamily="18" charset="0"/>
                <a:cs typeface="Times New Roman" panose="02020603050405020304" pitchFamily="18" charset="0"/>
              </a:rPr>
              <a:t>5</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名志愿者中安排</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名在这两天都参加公益活动</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a:solidFill>
                  <a:srgbClr val="000000"/>
                </a:solidFill>
                <a:latin typeface="Times New Roman" panose="02020603050405020304" pitchFamily="18" charset="0"/>
                <a:cs typeface="Times New Roman" panose="02020603050405020304" pitchFamily="18" charset="0"/>
              </a:rPr>
              <a:t>5</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种安排方法</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再在星期六、星期日</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每天从剩下的</a:t>
            </a:r>
            <a:r>
              <a:rPr lang="en-US" altLang="zh-CN" sz="2600">
                <a:solidFill>
                  <a:srgbClr val="000000"/>
                </a:solidFill>
                <a:latin typeface="Times New Roman" panose="02020603050405020304" pitchFamily="18" charset="0"/>
                <a:cs typeface="Times New Roman" panose="02020603050405020304" pitchFamily="18" charset="0"/>
              </a:rPr>
              <a:t>4</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名志愿者中安排</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名不同的志愿者参加公益活动</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a:solidFill>
                  <a:srgbClr val="000000"/>
                </a:solidFill>
                <a:latin typeface="Times New Roman" panose="02020603050405020304" pitchFamily="18" charset="0"/>
                <a:cs typeface="Times New Roman" panose="02020603050405020304" pitchFamily="18" charset="0"/>
              </a:rPr>
              <a:t>4×3</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12</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种安排方法</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由乘法原理得恰有</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人在这两天都参加的不同的安排方法共有</a:t>
            </a:r>
            <a:r>
              <a:rPr lang="en-US" altLang="zh-CN" sz="2600">
                <a:solidFill>
                  <a:srgbClr val="000000"/>
                </a:solidFill>
                <a:latin typeface="Times New Roman" panose="02020603050405020304" pitchFamily="18" charset="0"/>
                <a:cs typeface="Times New Roman" panose="02020603050405020304" pitchFamily="18" charset="0"/>
              </a:rPr>
              <a:t>5×12</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60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a:t>
            </a:r>
            <a:r>
              <a:rPr lang="en-US" altLang="zh-CN" sz="2600">
                <a:solidFill>
                  <a:srgbClr val="000000"/>
                </a:solidFill>
                <a:latin typeface="Times New Roman" panose="02020603050405020304" pitchFamily="18" charset="0"/>
                <a:cs typeface="Times New Roman" panose="02020603050405020304" pitchFamily="18" charset="0"/>
              </a:rPr>
              <a:t>5</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名志愿者中安排</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名在星期六参加公益活动</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600" i="1" smtClean="0">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种安排方法</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再从星期六参加公益活动的</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名志愿者中安排</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名及从剩下的</a:t>
            </a: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名志愿者中安排</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名在星期日参加公益活动</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a:solidFill>
                  <a:srgbClr val="000000"/>
                </a:solidFill>
                <a:latin typeface="Times New Roman" panose="02020603050405020304" pitchFamily="18" charset="0"/>
                <a:cs typeface="Times New Roman" panose="02020603050405020304" pitchFamily="18" charset="0"/>
              </a:rPr>
              <a:t>2×3</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6</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由乘法原理得恰有</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人在这两天都参加的不同的安排方法共有</a:t>
            </a:r>
            <a:r>
              <a:rPr lang="en-US" altLang="zh-CN" sz="2600">
                <a:solidFill>
                  <a:srgbClr val="000000"/>
                </a:solidFill>
                <a:latin typeface="Times New Roman" panose="02020603050405020304" pitchFamily="18" charset="0"/>
                <a:cs typeface="Times New Roman" panose="02020603050405020304" pitchFamily="18" charset="0"/>
              </a:rPr>
              <a:t>10×6</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60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方法三</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从</a:t>
            </a:r>
            <a:r>
              <a:rPr lang="en-US" altLang="zh-CN" sz="2600">
                <a:solidFill>
                  <a:srgbClr val="000000"/>
                </a:solidFill>
                <a:latin typeface="Times New Roman" panose="02020603050405020304" pitchFamily="18" charset="0"/>
                <a:cs typeface="Times New Roman" panose="02020603050405020304" pitchFamily="18" charset="0"/>
              </a:rPr>
              <a:t>5</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名志愿者中</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在星期六、星期日两天各安排</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名参加公益活动</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endParaRPr lang="en-US"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sz="2600" i="1" smtClean="0">
                <a:solidFill>
                  <a:srgbClr val="000000"/>
                </a:solidFill>
                <a:latin typeface="Times New Roman" panose="02020603050405020304" pitchFamily="18" charset="0"/>
                <a:cs typeface="Times New Roman" panose="02020603050405020304" pitchFamily="18" charset="0"/>
              </a:rPr>
              <a:t>                =</a:t>
            </a:r>
            <a:r>
              <a:rPr lang="en-US" altLang="zh-CN" sz="2600">
                <a:solidFill>
                  <a:srgbClr val="000000"/>
                </a:solidFill>
                <a:latin typeface="Times New Roman" panose="02020603050405020304" pitchFamily="18" charset="0"/>
                <a:cs typeface="Times New Roman" panose="02020603050405020304" pitchFamily="18" charset="0"/>
              </a:rPr>
              <a:t>100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种安排方法</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星期六、星期日两天的志愿者全不相同的安排方法</a:t>
            </a:r>
            <a:r>
              <a:rPr lang="zh-CN"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600" i="1" smtClean="0">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30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全相同的安排方法</a:t>
            </a:r>
            <a:r>
              <a:rPr lang="zh-CN"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en-US" alt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600" i="1" smtClean="0">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所以恰有</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人在这两天都参加的不同的安排方法共有</a:t>
            </a:r>
            <a:r>
              <a:rPr lang="en-US" altLang="zh-CN" sz="2600">
                <a:solidFill>
                  <a:srgbClr val="000000"/>
                </a:solidFill>
                <a:latin typeface="Times New Roman" panose="02020603050405020304" pitchFamily="18" charset="0"/>
                <a:cs typeface="Times New Roman" panose="02020603050405020304" pitchFamily="18" charset="0"/>
              </a:rPr>
              <a:t>100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30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60</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600">
                <a:solidFill>
                  <a:srgbClr val="000000"/>
                </a:solidFill>
                <a:latin typeface="Times New Roman" panose="02020603050405020304" pitchFamily="18" charset="0"/>
                <a:cs typeface="Times New Roman" panose="02020603050405020304" pitchFamily="18" charset="0"/>
              </a:rPr>
              <a:t>B</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60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60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B</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01373421"/>
              </p:ext>
            </p:extLst>
          </p:nvPr>
        </p:nvGraphicFramePr>
        <p:xfrm>
          <a:off x="8370568" y="2048085"/>
          <a:ext cx="792162" cy="512763"/>
        </p:xfrm>
        <a:graphic>
          <a:graphicData uri="http://schemas.openxmlformats.org/presentationml/2006/ole">
            <mc:AlternateContent xmlns:mc="http://schemas.openxmlformats.org/markup-compatibility/2006">
              <mc:Choice xmlns:v="urn:schemas-microsoft-com:vml" Requires="v">
                <p:oleObj spid="_x0000_s41998" name="文档" r:id="rId4" imgW="300127" imgH="193346" progId="Word.Document.12">
                  <p:embed/>
                </p:oleObj>
              </mc:Choice>
              <mc:Fallback>
                <p:oleObj name="文档" r:id="rId4" imgW="300127" imgH="193346" progId="Word.Document.12">
                  <p:embed/>
                  <p:pic>
                    <p:nvPicPr>
                      <p:cNvPr id="0" name=""/>
                      <p:cNvPicPr>
                        <a:picLocks noChangeAspect="1" noChangeArrowheads="1"/>
                      </p:cNvPicPr>
                      <p:nvPr/>
                    </p:nvPicPr>
                    <p:blipFill>
                      <a:blip r:embed="rId5"/>
                      <a:srcRect/>
                      <a:stretch>
                        <a:fillRect/>
                      </a:stretch>
                    </p:blipFill>
                    <p:spPr bwMode="auto">
                      <a:xfrm>
                        <a:off x="8370568" y="2048085"/>
                        <a:ext cx="792162" cy="512763"/>
                      </a:xfrm>
                      <a:prstGeom prst="rect">
                        <a:avLst/>
                      </a:prstGeom>
                      <a:noFill/>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26424084"/>
              </p:ext>
            </p:extLst>
          </p:nvPr>
        </p:nvGraphicFramePr>
        <p:xfrm>
          <a:off x="498297" y="4446006"/>
          <a:ext cx="1408113" cy="493713"/>
        </p:xfrm>
        <a:graphic>
          <a:graphicData uri="http://schemas.openxmlformats.org/presentationml/2006/ole">
            <mc:AlternateContent xmlns:mc="http://schemas.openxmlformats.org/markup-compatibility/2006">
              <mc:Choice xmlns:v="urn:schemas-microsoft-com:vml" Requires="v">
                <p:oleObj spid="_x0000_s41999" name="文档" r:id="rId7" imgW="572056" imgH="198213" progId="Word.Document.12">
                  <p:embed/>
                </p:oleObj>
              </mc:Choice>
              <mc:Fallback>
                <p:oleObj name="文档" r:id="rId7" imgW="572056" imgH="198213" progId="Word.Document.12">
                  <p:embed/>
                  <p:pic>
                    <p:nvPicPr>
                      <p:cNvPr id="0" name=""/>
                      <p:cNvPicPr/>
                      <p:nvPr/>
                    </p:nvPicPr>
                    <p:blipFill>
                      <a:blip r:embed="rId8"/>
                      <a:stretch>
                        <a:fillRect/>
                      </a:stretch>
                    </p:blipFill>
                    <p:spPr>
                      <a:xfrm>
                        <a:off x="498297" y="4446006"/>
                        <a:ext cx="1408113" cy="49371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032953530"/>
              </p:ext>
            </p:extLst>
          </p:nvPr>
        </p:nvGraphicFramePr>
        <p:xfrm>
          <a:off x="697786" y="4960267"/>
          <a:ext cx="1408113" cy="493713"/>
        </p:xfrm>
        <a:graphic>
          <a:graphicData uri="http://schemas.openxmlformats.org/presentationml/2006/ole">
            <mc:AlternateContent xmlns:mc="http://schemas.openxmlformats.org/markup-compatibility/2006">
              <mc:Choice xmlns:v="urn:schemas-microsoft-com:vml" Requires="v">
                <p:oleObj spid="_x0000_s42000" name="文档" r:id="rId10" imgW="572056" imgH="198573" progId="Word.Document.12">
                  <p:embed/>
                </p:oleObj>
              </mc:Choice>
              <mc:Fallback>
                <p:oleObj name="文档" r:id="rId10" imgW="572056" imgH="198573" progId="Word.Document.12">
                  <p:embed/>
                  <p:pic>
                    <p:nvPicPr>
                      <p:cNvPr id="0" name=""/>
                      <p:cNvPicPr/>
                      <p:nvPr/>
                    </p:nvPicPr>
                    <p:blipFill>
                      <a:blip r:embed="rId11"/>
                      <a:stretch>
                        <a:fillRect/>
                      </a:stretch>
                    </p:blipFill>
                    <p:spPr>
                      <a:xfrm>
                        <a:off x="697786" y="4960267"/>
                        <a:ext cx="1408113" cy="49371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644633357"/>
              </p:ext>
            </p:extLst>
          </p:nvPr>
        </p:nvGraphicFramePr>
        <p:xfrm>
          <a:off x="5827821" y="4908897"/>
          <a:ext cx="792162" cy="512763"/>
        </p:xfrm>
        <a:graphic>
          <a:graphicData uri="http://schemas.openxmlformats.org/presentationml/2006/ole">
            <mc:AlternateContent xmlns:mc="http://schemas.openxmlformats.org/markup-compatibility/2006">
              <mc:Choice xmlns:v="urn:schemas-microsoft-com:vml" Requires="v">
                <p:oleObj spid="_x0000_s42001" name="文档" r:id="rId13" imgW="300127" imgH="193346" progId="Word.Document.12">
                  <p:embed/>
                </p:oleObj>
              </mc:Choice>
              <mc:Fallback>
                <p:oleObj name="文档" r:id="rId13" imgW="300127" imgH="193346" progId="Word.Document.12">
                  <p:embed/>
                  <p:pic>
                    <p:nvPicPr>
                      <p:cNvPr id="0" name=""/>
                      <p:cNvPicPr>
                        <a:picLocks noChangeAspect="1" noChangeArrowheads="1"/>
                      </p:cNvPicPr>
                      <p:nvPr/>
                    </p:nvPicPr>
                    <p:blipFill>
                      <a:blip r:embed="rId14"/>
                      <a:srcRect/>
                      <a:stretch>
                        <a:fillRect/>
                      </a:stretch>
                    </p:blipFill>
                    <p:spPr bwMode="auto">
                      <a:xfrm>
                        <a:off x="5827821" y="4908897"/>
                        <a:ext cx="792162" cy="512763"/>
                      </a:xfrm>
                      <a:prstGeom prst="rect">
                        <a:avLst/>
                      </a:prstGeom>
                      <a:noFill/>
                      <a:extLst/>
                    </p:spPr>
                  </p:pic>
                </p:oleObj>
              </mc:Fallback>
            </mc:AlternateContent>
          </a:graphicData>
        </a:graphic>
      </p:graphicFrame>
    </p:spTree>
    <p:extLst>
      <p:ext uri="{BB962C8B-B14F-4D97-AF65-F5344CB8AC3E}">
        <p14:creationId xmlns:p14="http://schemas.microsoft.com/office/powerpoint/2010/main" val="4947709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46072"/>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在下图的</a:t>
            </a:r>
            <a:r>
              <a:rPr lang="en-US" altLang="zh-CN" sz="2800">
                <a:solidFill>
                  <a:srgbClr val="000000"/>
                </a:solidFill>
                <a:latin typeface="Times New Roman" panose="02020603050405020304" pitchFamily="18" charset="0"/>
                <a:cs typeface="Times New Roman" panose="02020603050405020304" pitchFamily="18" charset="0"/>
              </a:rPr>
              <a:t>4×4</a:t>
            </a:r>
            <a:r>
              <a:rPr lang="zh-CN" altLang="zh-CN" sz="2800">
                <a:solidFill>
                  <a:srgbClr val="000000"/>
                </a:solidFill>
                <a:latin typeface="Times New Roman" panose="02020603050405020304" pitchFamily="18" charset="0"/>
                <a:cs typeface="Times New Roman" panose="02020603050405020304" pitchFamily="18" charset="0"/>
              </a:rPr>
              <a:t>方格表中选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个方格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要求每行和每列均恰有一个方格被选中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则共有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在所有符合上述要求的选法中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选中方格的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个数之和的最大值是</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008523920"/>
              </p:ext>
            </p:extLst>
          </p:nvPr>
        </p:nvGraphicFramePr>
        <p:xfrm>
          <a:off x="381000" y="2101904"/>
          <a:ext cx="11430000" cy="1980184"/>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5" name="矩形 4"/>
          <p:cNvSpPr>
            <a:spLocks noChangeAspect="1"/>
          </p:cNvSpPr>
          <p:nvPr/>
        </p:nvSpPr>
        <p:spPr>
          <a:xfrm>
            <a:off x="381000" y="413730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因为每行和每列均恰有一个方格被选中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则共有</a:t>
            </a:r>
            <a:r>
              <a:rPr lang="en-US" altLang="zh-CN" sz="2800">
                <a:solidFill>
                  <a:srgbClr val="000000"/>
                </a:solidFill>
                <a:latin typeface="Times New Roman" panose="02020603050405020304" pitchFamily="18" charset="0"/>
                <a:cs typeface="Times New Roman" panose="02020603050405020304" pitchFamily="18" charset="0"/>
              </a:rPr>
              <a:t>4×3×2×1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个数之和最大的选法为最后一列选</a:t>
            </a:r>
            <a:r>
              <a:rPr lang="en-US" altLang="zh-CN" sz="2800">
                <a:solidFill>
                  <a:srgbClr val="000000"/>
                </a:solidFill>
                <a:latin typeface="Times New Roman" panose="02020603050405020304" pitchFamily="18" charset="0"/>
                <a:cs typeface="Times New Roman" panose="02020603050405020304" pitchFamily="18" charset="0"/>
              </a:rPr>
              <a:t>43,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逐列递选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最大值为</a:t>
            </a:r>
            <a:r>
              <a:rPr lang="en-US" altLang="zh-CN" sz="2800">
                <a:solidFill>
                  <a:srgbClr val="000000"/>
                </a:solidFill>
                <a:latin typeface="Times New Roman" panose="02020603050405020304" pitchFamily="18" charset="0"/>
                <a:cs typeface="Times New Roman" panose="02020603050405020304" pitchFamily="18" charset="0"/>
              </a:rPr>
              <a:t>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24</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112</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41446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4892"/>
            <a:ext cx="494237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考点三</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二项式定理及其应</a:t>
            </a:r>
            <a:r>
              <a:rPr lang="zh-CN" altLang="zh-CN" sz="280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80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a:spLocks noChangeAspect="1"/>
              </p:cNvSpPr>
              <p:nvPr/>
            </p:nvSpPr>
            <p:spPr>
              <a:xfrm>
                <a:off x="381000" y="898813"/>
                <a:ext cx="11430000" cy="313996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北京高考</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𝑥</m:t>
                        </m:r>
                        <m:r>
                          <m:rPr>
                            <m:nor/>
                          </m:rPr>
                          <a:rPr lang="en-US" altLang="zh-CN" sz="2800" i="1">
                            <a:solidFill>
                              <a:srgbClr val="000000"/>
                            </a:solidFill>
                            <a:latin typeface="Times New Roman" panose="02020603050405020304" pitchFamily="18" charset="0"/>
                            <a:cs typeface="Times New Roman" panose="02020603050405020304" pitchFamily="18" charset="0"/>
                          </a:rPr>
                          <m:t>−</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solidFill>
                                  <a:srgbClr val="000000"/>
                                </a:solidFill>
                                <a:latin typeface="Cambria Math" panose="02040503050406030204" pitchFamily="18" charset="0"/>
                                <a:cs typeface="Times New Roman" panose="02020603050405020304" pitchFamily="18" charset="0"/>
                              </a:rPr>
                              <m:t>𝑥</m:t>
                            </m:r>
                          </m:e>
                        </m:rad>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4</m:t>
                        </m:r>
                      </m:sup>
                    </m:sSup>
                  </m:oMath>
                </a14:m>
                <a:r>
                  <a:rPr lang="zh-CN" altLang="zh-CN" sz="2800">
                    <a:solidFill>
                      <a:srgbClr val="000000"/>
                    </a:solidFill>
                    <a:latin typeface="Times New Roman" panose="02020603050405020304" pitchFamily="18" charset="0"/>
                    <a:cs typeface="Times New Roman" panose="02020603050405020304" pitchFamily="18" charset="0"/>
                  </a:rPr>
                  <a:t>的二项展开式中</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的系数为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A.15	B.6	C.</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	D.</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i="1" baseline="-25000">
                    <a:solidFill>
                      <a:srgbClr val="000000"/>
                    </a:solidFill>
                    <a:latin typeface="Times New Roman" panose="02020603050405020304" pitchFamily="18" charset="0"/>
                    <a:cs typeface="Times New Roman" panose="02020603050405020304" pitchFamily="18" charset="0"/>
                  </a:rPr>
                  <a:t>r+</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4</m:t>
                        </m:r>
                      </m:sub>
                      <m:sup>
                        <m:r>
                          <a:rPr lang="en-US" altLang="zh-CN" sz="2800" i="1">
                            <a:solidFill>
                              <a:srgbClr val="000000"/>
                            </a:solidFill>
                            <a:latin typeface="Cambria Math" panose="02040503050406030204" pitchFamily="18" charset="0"/>
                            <a:cs typeface="Times New Roman" panose="02020603050405020304" pitchFamily="18" charset="0"/>
                          </a:rPr>
                          <m:t>𝑟</m:t>
                        </m:r>
                      </m:sup>
                    </m:sSubSup>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4</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solidFill>
                              <a:srgbClr val="000000"/>
                            </a:solidFill>
                            <a:latin typeface="Cambria Math" panose="02040503050406030204" pitchFamily="18" charset="0"/>
                            <a:cs typeface="Times New Roman" panose="02020603050405020304" pitchFamily="18" charset="0"/>
                          </a:rPr>
                          <m:t>𝑥</m:t>
                        </m:r>
                      </m:e>
                    </m:rad>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4</m:t>
                        </m:r>
                      </m:sub>
                      <m:sup>
                        <m:r>
                          <a:rPr lang="en-US" altLang="zh-CN" sz="2800" i="1">
                            <a:solidFill>
                              <a:srgbClr val="000000"/>
                            </a:solidFill>
                            <a:latin typeface="Cambria Math" panose="02040503050406030204" pitchFamily="18" charset="0"/>
                            <a:cs typeface="Times New Roman" panose="02020603050405020304" pitchFamily="18" charset="0"/>
                          </a:rPr>
                          <m:t>𝑟</m:t>
                        </m:r>
                      </m:sup>
                    </m:sSubSup>
                    <m:r>
                      <a:rPr lang="en-US" altLang="zh-CN" sz="2800">
                        <a:solidFill>
                          <a:srgbClr val="000000"/>
                        </a:solidFill>
                        <a:latin typeface="Cambria Math" panose="020405030504060302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𝑟</m:t>
                            </m:r>
                          </m:num>
                          <m:den>
                            <m:r>
                              <a:rPr lang="en-US" altLang="zh-CN" sz="2800">
                                <a:solidFill>
                                  <a:srgbClr val="000000"/>
                                </a:solidFill>
                                <a:latin typeface="Cambria Math" panose="02040503050406030204" pitchFamily="18" charset="0"/>
                                <a:cs typeface="Times New Roman" panose="02020603050405020304" pitchFamily="18" charset="0"/>
                              </a:rPr>
                              <m:t>2</m:t>
                            </m:r>
                          </m:den>
                        </m:f>
                      </m:sup>
                    </m:sSup>
                  </m:oMath>
                </a14:m>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𝑟</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4</m:t>
                        </m:r>
                      </m:sub>
                      <m:sup>
                        <m:r>
                          <a:rPr lang="en-US" altLang="zh-CN" sz="2800">
                            <a:solidFill>
                              <a:srgbClr val="000000"/>
                            </a:solidFill>
                            <a:latin typeface="Cambria Math" panose="02040503050406030204" pitchFamily="18" charset="0"/>
                            <a:cs typeface="Times New Roman" panose="02020603050405020304" pitchFamily="18" charset="0"/>
                          </a:rPr>
                          <m:t>2</m:t>
                        </m:r>
                      </m:sup>
                    </m:sSubSup>
                  </m:oMath>
                </a14:m>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solidFill>
                              <a:srgbClr val="000000"/>
                            </a:solidFill>
                            <a:latin typeface="Cambria Math" panose="02040503050406030204" pitchFamily="18" charset="0"/>
                            <a:cs typeface="Times New Roman" panose="02020603050405020304" pitchFamily="18" charset="0"/>
                          </a:rPr>
                          <m:t>𝑥</m:t>
                        </m:r>
                      </m:e>
                    </m:rad>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B</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81000" y="898813"/>
                <a:ext cx="11430000" cy="3139962"/>
              </a:xfrm>
              <a:prstGeom prst="rect">
                <a:avLst/>
              </a:prstGeom>
              <a:blipFill rotWithShape="0">
                <a:blip r:embed="rId2"/>
                <a:stretch>
                  <a:fillRect l="-1120" b="-4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5972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97627955"/>
              </p:ext>
            </p:extLst>
          </p:nvPr>
        </p:nvGraphicFramePr>
        <p:xfrm>
          <a:off x="458424" y="861347"/>
          <a:ext cx="11275153" cy="991965"/>
        </p:xfrm>
        <a:graphic>
          <a:graphicData uri="http://schemas.openxmlformats.org/presentationml/2006/ole">
            <mc:AlternateContent xmlns:mc="http://schemas.openxmlformats.org/markup-compatibility/2006">
              <mc:Choice xmlns:v="urn:schemas-microsoft-com:vml" Requires="v">
                <p:oleObj spid="_x0000_s43014" name="文档" r:id="rId4" imgW="4510061" imgH="396786" progId="Word.Document.12">
                  <p:embed/>
                </p:oleObj>
              </mc:Choice>
              <mc:Fallback>
                <p:oleObj name="文档" r:id="rId4" imgW="4510061" imgH="396786" progId="Word.Document.12">
                  <p:embed/>
                  <p:pic>
                    <p:nvPicPr>
                      <p:cNvPr id="0" name=""/>
                      <p:cNvPicPr/>
                      <p:nvPr/>
                    </p:nvPicPr>
                    <p:blipFill>
                      <a:blip r:embed="rId5"/>
                      <a:stretch>
                        <a:fillRect/>
                      </a:stretch>
                    </p:blipFill>
                    <p:spPr>
                      <a:xfrm>
                        <a:off x="458424" y="861347"/>
                        <a:ext cx="11275153" cy="99196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4603879"/>
              </p:ext>
            </p:extLst>
          </p:nvPr>
        </p:nvGraphicFramePr>
        <p:xfrm>
          <a:off x="458424" y="1853312"/>
          <a:ext cx="11275153" cy="1636158"/>
        </p:xfrm>
        <a:graphic>
          <a:graphicData uri="http://schemas.openxmlformats.org/presentationml/2006/ole">
            <mc:AlternateContent xmlns:mc="http://schemas.openxmlformats.org/markup-compatibility/2006">
              <mc:Choice xmlns:v="urn:schemas-microsoft-com:vml" Requires="v">
                <p:oleObj spid="_x0000_s43015" name="文档" r:id="rId7" imgW="4510061" imgH="654463" progId="Word.Document.12">
                  <p:embed/>
                </p:oleObj>
              </mc:Choice>
              <mc:Fallback>
                <p:oleObj name="文档" r:id="rId7" imgW="4510061" imgH="654463" progId="Word.Document.12">
                  <p:embed/>
                  <p:pic>
                    <p:nvPicPr>
                      <p:cNvPr id="0" name=""/>
                      <p:cNvPicPr/>
                      <p:nvPr/>
                    </p:nvPicPr>
                    <p:blipFill>
                      <a:blip r:embed="rId8"/>
                      <a:stretch>
                        <a:fillRect/>
                      </a:stretch>
                    </p:blipFill>
                    <p:spPr>
                      <a:xfrm>
                        <a:off x="458424" y="1853312"/>
                        <a:ext cx="11275153" cy="1636158"/>
                      </a:xfrm>
                      <a:prstGeom prst="rect">
                        <a:avLst/>
                      </a:prstGeom>
                    </p:spPr>
                  </p:pic>
                </p:oleObj>
              </mc:Fallback>
            </mc:AlternateContent>
          </a:graphicData>
        </a:graphic>
      </p:graphicFrame>
      <p:sp>
        <p:nvSpPr>
          <p:cNvPr id="5" name="矩形 4"/>
          <p:cNvSpPr>
            <a:spLocks noChangeAspect="1"/>
          </p:cNvSpPr>
          <p:nvPr/>
        </p:nvSpPr>
        <p:spPr>
          <a:xfrm>
            <a:off x="381000" y="3670938"/>
            <a:ext cx="145103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60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23621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81000" y="1054571"/>
                <a:ext cx="11430000" cy="353340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天津高考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的展开式中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常数项为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的展开式的通项为</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i="1" baseline="-25000">
                    <a:solidFill>
                      <a:srgbClr val="000000"/>
                    </a:solidFill>
                    <a:latin typeface="Times New Roman" panose="02020603050405020304" pitchFamily="18" charset="0"/>
                    <a:cs typeface="Times New Roman" panose="02020603050405020304" pitchFamily="18" charset="0"/>
                  </a:rPr>
                  <a:t>r+</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6</m:t>
                        </m:r>
                      </m:sub>
                      <m:sup>
                        <m:r>
                          <a:rPr lang="en-US" altLang="zh-CN" sz="2800" i="1">
                            <a:solidFill>
                              <a:srgbClr val="000000"/>
                            </a:solidFill>
                            <a:latin typeface="Cambria Math" panose="02040503050406030204" pitchFamily="18" charset="0"/>
                            <a:cs typeface="Times New Roman" panose="02020603050405020304" pitchFamily="18" charset="0"/>
                          </a:rPr>
                          <m:t>𝑟</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𝑥</m:t>
                            </m:r>
                          </m:e>
                          <m:sup>
                            <m:r>
                              <a:rPr lang="en-US" altLang="zh-CN" sz="2800">
                                <a:solidFill>
                                  <a:srgbClr val="000000"/>
                                </a:solidFill>
                                <a:latin typeface="Cambria Math" panose="02040503050406030204" pitchFamily="18" charset="0"/>
                                <a:cs typeface="Times New Roman" panose="02020603050405020304" pitchFamily="18" charset="0"/>
                              </a:rPr>
                              <m:t>3</m:t>
                            </m:r>
                          </m:sup>
                        </m:sSup>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6</m:t>
                        </m:r>
                      </m:sub>
                      <m:sup>
                        <m:r>
                          <a:rPr lang="en-US" altLang="zh-CN" sz="2800" i="1">
                            <a:solidFill>
                              <a:srgbClr val="000000"/>
                            </a:solidFill>
                            <a:latin typeface="Cambria Math" panose="02040503050406030204" pitchFamily="18" charset="0"/>
                            <a:cs typeface="Times New Roman" panose="02020603050405020304" pitchFamily="18" charset="0"/>
                          </a:rPr>
                          <m:t>𝑟</m:t>
                        </m:r>
                      </m:sup>
                    </m:sSubSup>
                  </m:oMath>
                </a14:m>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baseline="300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r=</a:t>
                </a:r>
                <a:r>
                  <a:rPr lang="en-US" altLang="zh-CN" sz="2800" smtClean="0">
                    <a:solidFill>
                      <a:srgbClr val="000000"/>
                    </a:solidFill>
                    <a:latin typeface="Times New Roman" panose="02020603050405020304" pitchFamily="18" charset="0"/>
                    <a:cs typeface="Times New Roman" panose="02020603050405020304" pitchFamily="18" charset="0"/>
                  </a:rPr>
                  <a:t>0,1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常数项为</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0</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6</m:t>
                        </m:r>
                      </m:sub>
                      <m:sup>
                        <m:r>
                          <a:rPr lang="en-US" altLang="zh-CN" sz="2800">
                            <a:solidFill>
                              <a:srgbClr val="000000"/>
                            </a:solidFill>
                            <a:latin typeface="Cambria Math" panose="02040503050406030204" pitchFamily="18" charset="0"/>
                            <a:cs typeface="Times New Roman" panose="02020603050405020304" pitchFamily="18" charset="0"/>
                          </a:rPr>
                          <m:t>3</m:t>
                        </m:r>
                      </m:sup>
                    </m:sSubSup>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20</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81000" y="1054571"/>
                <a:ext cx="11430000" cy="3533403"/>
              </a:xfrm>
              <a:prstGeom prst="rect">
                <a:avLst/>
              </a:prstGeom>
              <a:blipFill rotWithShape="0">
                <a:blip r:embed="rId2"/>
                <a:stretch>
                  <a:fillRect l="-1120" b="-22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9356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a:spLocks noChangeAspect="1"/>
              </p:cNvSpPr>
              <p:nvPr/>
            </p:nvSpPr>
            <p:spPr>
              <a:xfrm>
                <a:off x="381000" y="1305902"/>
                <a:ext cx="11430000" cy="34148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上海高考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若二项式</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baseline="30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的展开式中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各项系数的和为</a:t>
                </a:r>
                <a:r>
                  <a:rPr lang="en-US" altLang="zh-CN" sz="2800">
                    <a:solidFill>
                      <a:srgbClr val="000000"/>
                    </a:solidFill>
                    <a:latin typeface="Times New Roman" panose="02020603050405020304" pitchFamily="18" charset="0"/>
                    <a:cs typeface="Times New Roman" panose="02020603050405020304" pitchFamily="18" charset="0"/>
                  </a:rPr>
                  <a:t>32,</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项的系数为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即可得各项系数之和是</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baseline="30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baseline="30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则该二项式的通项公式是</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i="1" baseline="-25000">
                    <a:solidFill>
                      <a:srgbClr val="000000"/>
                    </a:solidFill>
                    <a:latin typeface="Times New Roman" panose="02020603050405020304" pitchFamily="18" charset="0"/>
                    <a:cs typeface="Times New Roman" panose="02020603050405020304" pitchFamily="18" charset="0"/>
                  </a:rPr>
                  <a:t>r+</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5</m:t>
                        </m:r>
                      </m:sub>
                      <m:sup>
                        <m:r>
                          <a:rPr lang="en-US" altLang="zh-CN" sz="2800" i="1">
                            <a:solidFill>
                              <a:srgbClr val="000000"/>
                            </a:solidFill>
                            <a:latin typeface="Cambria Math" panose="02040503050406030204" pitchFamily="18" charset="0"/>
                            <a:cs typeface="Times New Roman" panose="02020603050405020304" pitchFamily="18" charset="0"/>
                          </a:rPr>
                          <m:t>𝑟</m:t>
                        </m:r>
                      </m:sup>
                    </m:sSubSup>
                  </m:oMath>
                </a14:m>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5</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baseline="30000">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sSubSup>
                      <m:sSubSupPr>
                        <m:ctrlPr>
                          <a:rPr lang="zh-CN" altLang="zh-CN"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5</m:t>
                        </m:r>
                      </m:sub>
                      <m:sup>
                        <m:r>
                          <a:rPr lang="en-US" altLang="zh-CN" sz="2800">
                            <a:solidFill>
                              <a:srgbClr val="000000"/>
                            </a:solidFill>
                            <a:latin typeface="Cambria Math" panose="02040503050406030204" pitchFamily="18" charset="0"/>
                            <a:cs typeface="Times New Roman" panose="02020603050405020304" pitchFamily="18" charset="0"/>
                          </a:rPr>
                          <m:t>3</m:t>
                        </m:r>
                      </m:sup>
                    </m:sSubSup>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项的系数是</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81000" y="1305902"/>
                <a:ext cx="11430000" cy="3414846"/>
              </a:xfrm>
              <a:prstGeom prst="rect">
                <a:avLst/>
              </a:prstGeom>
              <a:blipFill rotWithShape="0">
                <a:blip r:embed="rId2"/>
                <a:stretch>
                  <a:fillRect l="-1120" t="-357" b="-42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0611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a:spLocks noChangeAspect="1"/>
              </p:cNvSpPr>
              <p:nvPr/>
            </p:nvSpPr>
            <p:spPr>
              <a:xfrm>
                <a:off x="381000" y="1147564"/>
                <a:ext cx="11430000" cy="33000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全国甲高考</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的展开式中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各项系数中的最大值为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该展开式中各项系数的最大值一定在下列</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个值中</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5</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5</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6</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4</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7</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8</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9</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逐一计算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可知</a:t>
                </a:r>
                <a14:m>
                  <m:oMath xmlns:m="http://schemas.openxmlformats.org/officeDocument/2006/math">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CN" sz="2800">
                            <a:solidFill>
                              <a:srgbClr val="000000"/>
                            </a:solidFill>
                            <a:latin typeface="Cambria Math" panose="02040503050406030204" pitchFamily="18" charset="0"/>
                            <a:cs typeface="Times New Roman" panose="02020603050405020304" pitchFamily="18" charset="0"/>
                          </a:rPr>
                          <m:t>C</m:t>
                        </m:r>
                      </m:e>
                      <m:sub>
                        <m:r>
                          <a:rPr lang="en-US" altLang="zh-CN" sz="2800">
                            <a:solidFill>
                              <a:srgbClr val="000000"/>
                            </a:solidFill>
                            <a:latin typeface="Cambria Math" panose="02040503050406030204" pitchFamily="18" charset="0"/>
                            <a:cs typeface="Times New Roman" panose="02020603050405020304" pitchFamily="18" charset="0"/>
                          </a:rPr>
                          <m:t>10</m:t>
                        </m:r>
                      </m:sub>
                      <m:sup>
                        <m:r>
                          <a:rPr lang="en-US" altLang="zh-CN" sz="2800">
                            <a:solidFill>
                              <a:srgbClr val="000000"/>
                            </a:solidFill>
                            <a:latin typeface="Cambria Math" panose="02040503050406030204" pitchFamily="18" charset="0"/>
                            <a:cs typeface="Times New Roman" panose="02020603050405020304" pitchFamily="18" charset="0"/>
                          </a:rPr>
                          <m:t>8</m:t>
                        </m:r>
                      </m:sup>
                    </m:sSubSup>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最大</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81000" y="1147564"/>
                <a:ext cx="11430000" cy="3300006"/>
              </a:xfrm>
              <a:prstGeom prst="rect">
                <a:avLst/>
              </a:prstGeom>
              <a:blipFill rotWithShape="0">
                <a:blip r:embed="rId2"/>
                <a:stretch>
                  <a:fillRect l="-1120" b="-4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1504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180</TotalTime>
  <Words>3593</Words>
  <Application>Microsoft Office PowerPoint</Application>
  <PresentationFormat>宽屏</PresentationFormat>
  <Paragraphs>163</Paragraphs>
  <Slides>49</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7" baseType="lpstr">
      <vt:lpstr>NEU-BZ-S92</vt:lpstr>
      <vt:lpstr>Open Sans</vt:lpstr>
      <vt:lpstr>方正书宋_GBK</vt:lpstr>
      <vt:lpstr>方正姚体</vt:lpstr>
      <vt:lpstr>仿宋</vt:lpstr>
      <vt:lpstr>黑体</vt:lpstr>
      <vt:lpstr>华文细黑</vt:lpstr>
      <vt:lpstr>华文新魏</vt:lpstr>
      <vt:lpstr>楷体</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58</cp:revision>
  <dcterms:created xsi:type="dcterms:W3CDTF">2021-08-30T08:30:26Z</dcterms:created>
  <dcterms:modified xsi:type="dcterms:W3CDTF">2025-08-20T01:09:34Z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