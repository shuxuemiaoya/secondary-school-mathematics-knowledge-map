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8"/>
  </p:notesMasterIdLst>
  <p:sldIdLst>
    <p:sldId id="677" r:id="rId2"/>
    <p:sldId id="488" r:id="rId3"/>
    <p:sldId id="392" r:id="rId4"/>
    <p:sldId id="686" r:id="rId5"/>
    <p:sldId id="757" r:id="rId6"/>
    <p:sldId id="758" r:id="rId7"/>
    <p:sldId id="759" r:id="rId8"/>
    <p:sldId id="760" r:id="rId9"/>
    <p:sldId id="761" r:id="rId10"/>
    <p:sldId id="762" r:id="rId11"/>
    <p:sldId id="763" r:id="rId12"/>
    <p:sldId id="764" r:id="rId13"/>
    <p:sldId id="765" r:id="rId14"/>
    <p:sldId id="766" r:id="rId15"/>
    <p:sldId id="767" r:id="rId16"/>
    <p:sldId id="768" r:id="rId17"/>
    <p:sldId id="769" r:id="rId18"/>
    <p:sldId id="770" r:id="rId19"/>
    <p:sldId id="771" r:id="rId20"/>
    <p:sldId id="772" r:id="rId21"/>
    <p:sldId id="773" r:id="rId22"/>
    <p:sldId id="774" r:id="rId23"/>
    <p:sldId id="407" r:id="rId24"/>
    <p:sldId id="394" r:id="rId25"/>
    <p:sldId id="776" r:id="rId26"/>
    <p:sldId id="777" r:id="rId27"/>
    <p:sldId id="778" r:id="rId28"/>
    <p:sldId id="779" r:id="rId29"/>
    <p:sldId id="780" r:id="rId30"/>
    <p:sldId id="781" r:id="rId31"/>
    <p:sldId id="782" r:id="rId32"/>
    <p:sldId id="783" r:id="rId33"/>
    <p:sldId id="784" r:id="rId34"/>
    <p:sldId id="785" r:id="rId35"/>
    <p:sldId id="786" r:id="rId36"/>
    <p:sldId id="787" r:id="rId37"/>
    <p:sldId id="788" r:id="rId38"/>
    <p:sldId id="789" r:id="rId39"/>
    <p:sldId id="790" r:id="rId40"/>
    <p:sldId id="791" r:id="rId41"/>
    <p:sldId id="792" r:id="rId42"/>
    <p:sldId id="793" r:id="rId43"/>
    <p:sldId id="794" r:id="rId44"/>
    <p:sldId id="795" r:id="rId45"/>
    <p:sldId id="797" r:id="rId46"/>
    <p:sldId id="798" r:id="rId47"/>
    <p:sldId id="799" r:id="rId48"/>
    <p:sldId id="800" r:id="rId49"/>
    <p:sldId id="756" r:id="rId50"/>
    <p:sldId id="824" r:id="rId51"/>
    <p:sldId id="825" r:id="rId52"/>
    <p:sldId id="826" r:id="rId53"/>
    <p:sldId id="818" r:id="rId54"/>
    <p:sldId id="819" r:id="rId55"/>
    <p:sldId id="820" r:id="rId56"/>
    <p:sldId id="821" r:id="rId57"/>
    <p:sldId id="808" r:id="rId58"/>
    <p:sldId id="827" r:id="rId59"/>
    <p:sldId id="823" r:id="rId60"/>
    <p:sldId id="822" r:id="rId61"/>
    <p:sldId id="809" r:id="rId62"/>
    <p:sldId id="810" r:id="rId63"/>
    <p:sldId id="811" r:id="rId64"/>
    <p:sldId id="812" r:id="rId65"/>
    <p:sldId id="813" r:id="rId66"/>
    <p:sldId id="490" r:id="rId6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3" d="100"/>
          <a:sy n="93" d="100"/>
        </p:scale>
        <p:origin x="456" y="90"/>
      </p:cViewPr>
      <p:guideLst>
        <p:guide orient="horz" pos="368"/>
        <p:guide pos="211"/>
        <p:guide orient="horz" pos="436"/>
        <p:guide orient="horz" pos="777"/>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image" Target="../media/image19.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image" Target="../media/image24.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image" Target="../media/image33.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36.e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image" Target="../media/image37.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image" Target="../media/image43.e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image" Target="../media/image45.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52.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5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2025-08-20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49.xml"/><Relationship Id="rId2" Type="http://schemas.openxmlformats.org/officeDocument/2006/relationships/slide" Target="../slides/slide24.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993569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smtClean="0">
                <a:ln>
                  <a:solidFill>
                    <a:schemeClr val="bg1"/>
                  </a:solidFill>
                </a:ln>
                <a:solidFill>
                  <a:schemeClr val="bg1"/>
                </a:solidFill>
              </a:rPr>
              <a:t>专题整合</a:t>
            </a:r>
            <a:endParaRPr lang="zh-CN" altLang="en-US" sz="1400" dirty="0" smtClean="0">
              <a:ln>
                <a:solidFill>
                  <a:schemeClr val="bg1"/>
                </a:solidFill>
              </a:ln>
              <a:solidFill>
                <a:schemeClr val="bg1"/>
              </a:solidFill>
            </a:endParaRPr>
          </a:p>
        </p:txBody>
      </p:sp>
      <p:sp>
        <p:nvSpPr>
          <p:cNvPr id="8" name="圆角矩形 7">
            <a:hlinkClick r:id="rId3" action="ppaction://hlinksldjump"/>
          </p:cNvPr>
          <p:cNvSpPr/>
          <p:nvPr userDrawn="1"/>
        </p:nvSpPr>
        <p:spPr>
          <a:xfrm>
            <a:off x="1100203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smtClean="0">
                <a:ln>
                  <a:solidFill>
                    <a:schemeClr val="bg1"/>
                  </a:solidFill>
                </a:ln>
                <a:solidFill>
                  <a:schemeClr val="bg1"/>
                </a:solidFill>
              </a:rPr>
              <a:t>高考体验</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slide" Target="slide3.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6.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embeddings/oleObject2.bin"/><Relationship Id="rId7" Type="http://schemas.openxmlformats.org/officeDocument/2006/relationships/package" Target="../embeddings/Microsoft_Word___3.docx"/><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4.emf"/><Relationship Id="rId4" Type="http://schemas.openxmlformats.org/officeDocument/2006/relationships/package" Target="../embeddings/Microsoft_Word___2.docx"/></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image" Target="../media/image6.emf"/><Relationship Id="rId4" Type="http://schemas.openxmlformats.org/officeDocument/2006/relationships/package" Target="../embeddings/Microsoft_Word___4.docx"/></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vmlDrawing" Target="../drawings/vmlDrawing4.vml"/><Relationship Id="rId5" Type="http://schemas.openxmlformats.org/officeDocument/2006/relationships/image" Target="../media/image7.emf"/><Relationship Id="rId4" Type="http://schemas.openxmlformats.org/officeDocument/2006/relationships/package" Target="../embeddings/Microsoft_Word___5.docx"/></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3.xml"/><Relationship Id="rId1" Type="http://schemas.openxmlformats.org/officeDocument/2006/relationships/vmlDrawing" Target="../drawings/vmlDrawing5.vml"/><Relationship Id="rId5" Type="http://schemas.openxmlformats.org/officeDocument/2006/relationships/image" Target="../media/image8.emf"/><Relationship Id="rId4" Type="http://schemas.openxmlformats.org/officeDocument/2006/relationships/package" Target="../embeddings/Microsoft_Word___6.docx"/></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3.xml"/><Relationship Id="rId1" Type="http://schemas.openxmlformats.org/officeDocument/2006/relationships/vmlDrawing" Target="../drawings/vmlDrawing6.vml"/><Relationship Id="rId5" Type="http://schemas.openxmlformats.org/officeDocument/2006/relationships/image" Target="../media/image9.emf"/><Relationship Id="rId4" Type="http://schemas.openxmlformats.org/officeDocument/2006/relationships/package" Target="../embeddings/Microsoft_Word___7.docx"/></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3.xml"/><Relationship Id="rId1" Type="http://schemas.openxmlformats.org/officeDocument/2006/relationships/vmlDrawing" Target="../drawings/vmlDrawing7.vml"/><Relationship Id="rId5" Type="http://schemas.openxmlformats.org/officeDocument/2006/relationships/image" Target="../media/image10.emf"/><Relationship Id="rId4" Type="http://schemas.openxmlformats.org/officeDocument/2006/relationships/package" Target="../embeddings/Microsoft_Word___8.docx"/></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3.xml"/><Relationship Id="rId1" Type="http://schemas.openxmlformats.org/officeDocument/2006/relationships/vmlDrawing" Target="../drawings/vmlDrawing8.vml"/><Relationship Id="rId5" Type="http://schemas.openxmlformats.org/officeDocument/2006/relationships/image" Target="../media/image11.emf"/><Relationship Id="rId4" Type="http://schemas.openxmlformats.org/officeDocument/2006/relationships/package" Target="../embeddings/Microsoft_Word___9.docx"/></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3.xml"/><Relationship Id="rId1" Type="http://schemas.openxmlformats.org/officeDocument/2006/relationships/vmlDrawing" Target="../drawings/vmlDrawing9.vml"/><Relationship Id="rId5" Type="http://schemas.openxmlformats.org/officeDocument/2006/relationships/image" Target="../media/image12.emf"/><Relationship Id="rId4" Type="http://schemas.openxmlformats.org/officeDocument/2006/relationships/package" Target="../embeddings/Microsoft_Word___10.docx"/></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3.xml"/><Relationship Id="rId1" Type="http://schemas.openxmlformats.org/officeDocument/2006/relationships/vmlDrawing" Target="../drawings/vmlDrawing10.vml"/><Relationship Id="rId5" Type="http://schemas.openxmlformats.org/officeDocument/2006/relationships/image" Target="../media/image13.emf"/><Relationship Id="rId4" Type="http://schemas.openxmlformats.org/officeDocument/2006/relationships/package" Target="../embeddings/Microsoft_Word___11.docx"/></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3.xml"/><Relationship Id="rId1" Type="http://schemas.openxmlformats.org/officeDocument/2006/relationships/vmlDrawing" Target="../drawings/vmlDrawing11.vml"/><Relationship Id="rId5" Type="http://schemas.openxmlformats.org/officeDocument/2006/relationships/image" Target="../media/image14.emf"/><Relationship Id="rId4" Type="http://schemas.openxmlformats.org/officeDocument/2006/relationships/package" Target="../embeddings/Microsoft_Word___12.docx"/></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3.xml"/><Relationship Id="rId1" Type="http://schemas.openxmlformats.org/officeDocument/2006/relationships/vmlDrawing" Target="../drawings/vmlDrawing12.vml"/><Relationship Id="rId5" Type="http://schemas.openxmlformats.org/officeDocument/2006/relationships/image" Target="../media/image15.emf"/><Relationship Id="rId4" Type="http://schemas.openxmlformats.org/officeDocument/2006/relationships/package" Target="../embeddings/Microsoft_Word___13.docx"/></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16.emf"/><Relationship Id="rId4" Type="http://schemas.openxmlformats.org/officeDocument/2006/relationships/package" Target="../embeddings/Microsoft_Word___14.docx"/></Relationships>
</file>

<file path=ppt/slides/_rels/slide26.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oleObject" Target="../embeddings/oleObject15.bin"/><Relationship Id="rId7" Type="http://schemas.openxmlformats.org/officeDocument/2006/relationships/package" Target="../embeddings/Microsoft_Word___16.docx"/><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16.bin"/><Relationship Id="rId5" Type="http://schemas.openxmlformats.org/officeDocument/2006/relationships/image" Target="../media/image17.emf"/><Relationship Id="rId4" Type="http://schemas.openxmlformats.org/officeDocument/2006/relationships/package" Target="../embeddings/Microsoft_Word___15.docx"/></Relationships>
</file>

<file path=ppt/slides/_rels/slide27.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oleObject" Target="../embeddings/oleObject17.bin"/><Relationship Id="rId7" Type="http://schemas.openxmlformats.org/officeDocument/2006/relationships/package" Target="../embeddings/Microsoft_Word___18.docx"/><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18.bin"/><Relationship Id="rId5" Type="http://schemas.openxmlformats.org/officeDocument/2006/relationships/image" Target="../media/image19.emf"/><Relationship Id="rId4" Type="http://schemas.openxmlformats.org/officeDocument/2006/relationships/package" Target="../embeddings/Microsoft_Word___17.docx"/></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21.emf"/><Relationship Id="rId4" Type="http://schemas.openxmlformats.org/officeDocument/2006/relationships/package" Target="../embeddings/Microsoft_Word___19.docx"/></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22.emf"/><Relationship Id="rId4" Type="http://schemas.openxmlformats.org/officeDocument/2006/relationships/package" Target="../embeddings/Microsoft_Word___20.docx"/></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image" Target="../media/image23.emf"/><Relationship Id="rId4" Type="http://schemas.openxmlformats.org/officeDocument/2006/relationships/package" Target="../embeddings/Microsoft_Word___21.docx"/></Relationships>
</file>

<file path=ppt/slides/_rels/slide32.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oleObject" Target="../embeddings/oleObject22.bin"/><Relationship Id="rId7" Type="http://schemas.openxmlformats.org/officeDocument/2006/relationships/package" Target="../embeddings/Microsoft_Word___23.docx"/><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23.bin"/><Relationship Id="rId11" Type="http://schemas.openxmlformats.org/officeDocument/2006/relationships/image" Target="../media/image26.emf"/><Relationship Id="rId5" Type="http://schemas.openxmlformats.org/officeDocument/2006/relationships/image" Target="../media/image24.emf"/><Relationship Id="rId10" Type="http://schemas.openxmlformats.org/officeDocument/2006/relationships/package" Target="../embeddings/Microsoft_Word___24.docx"/><Relationship Id="rId4" Type="http://schemas.openxmlformats.org/officeDocument/2006/relationships/package" Target="../embeddings/Microsoft_Word___22.docx"/><Relationship Id="rId9" Type="http://schemas.openxmlformats.org/officeDocument/2006/relationships/oleObject" Target="../embeddings/oleObject24.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27.emf"/><Relationship Id="rId4" Type="http://schemas.openxmlformats.org/officeDocument/2006/relationships/package" Target="../embeddings/Microsoft_Word___25.docx"/></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28.emf"/><Relationship Id="rId4" Type="http://schemas.openxmlformats.org/officeDocument/2006/relationships/package" Target="../embeddings/Microsoft_Word___26.docx"/></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22.vml"/><Relationship Id="rId5" Type="http://schemas.openxmlformats.org/officeDocument/2006/relationships/image" Target="../media/image29.emf"/><Relationship Id="rId4" Type="http://schemas.openxmlformats.org/officeDocument/2006/relationships/package" Target="../embeddings/Microsoft_Word___27.docx"/></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23.vml"/><Relationship Id="rId5" Type="http://schemas.openxmlformats.org/officeDocument/2006/relationships/image" Target="../media/image30.emf"/><Relationship Id="rId4" Type="http://schemas.openxmlformats.org/officeDocument/2006/relationships/package" Target="../embeddings/Microsoft_Word___28.docx"/></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24.vml"/><Relationship Id="rId5" Type="http://schemas.openxmlformats.org/officeDocument/2006/relationships/image" Target="../media/image31.emf"/><Relationship Id="rId4" Type="http://schemas.openxmlformats.org/officeDocument/2006/relationships/package" Target="../embeddings/Microsoft_Word___29.docx"/></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25.vml"/><Relationship Id="rId5" Type="http://schemas.openxmlformats.org/officeDocument/2006/relationships/image" Target="../media/image32.emf"/><Relationship Id="rId4" Type="http://schemas.openxmlformats.org/officeDocument/2006/relationships/package" Target="../embeddings/Microsoft_Word___30.docx"/></Relationships>
</file>

<file path=ppt/slides/_rels/slide41.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oleObject" Target="../embeddings/oleObject31.bin"/><Relationship Id="rId7" Type="http://schemas.openxmlformats.org/officeDocument/2006/relationships/package" Target="../embeddings/Microsoft_Word___32.docx"/><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oleObject" Target="../embeddings/oleObject32.bin"/><Relationship Id="rId5" Type="http://schemas.openxmlformats.org/officeDocument/2006/relationships/image" Target="../media/image33.emf"/><Relationship Id="rId4" Type="http://schemas.openxmlformats.org/officeDocument/2006/relationships/package" Target="../embeddings/Microsoft_Word___31.docx"/></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27.vml"/><Relationship Id="rId5" Type="http://schemas.openxmlformats.org/officeDocument/2006/relationships/image" Target="../media/image35.emf"/><Relationship Id="rId4" Type="http://schemas.openxmlformats.org/officeDocument/2006/relationships/package" Target="../embeddings/Microsoft_Word___33.docx"/></Relationships>
</file>

<file path=ppt/slides/_rels/slide43.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oleObject" Target="../embeddings/oleObject34.bin"/><Relationship Id="rId7" Type="http://schemas.openxmlformats.org/officeDocument/2006/relationships/package" Target="../embeddings/Microsoft_Word___35.docx"/><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oleObject" Target="../embeddings/oleObject35.bin"/><Relationship Id="rId5" Type="http://schemas.openxmlformats.org/officeDocument/2006/relationships/image" Target="../media/image36.emf"/><Relationship Id="rId4" Type="http://schemas.openxmlformats.org/officeDocument/2006/relationships/package" Target="../embeddings/Microsoft_Word___34.docx"/></Relationships>
</file>

<file path=ppt/slides/_rels/slide44.x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oleObject" Target="../embeddings/oleObject36.bin"/><Relationship Id="rId7" Type="http://schemas.openxmlformats.org/officeDocument/2006/relationships/package" Target="../embeddings/Microsoft_Word___37.docx"/><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oleObject" Target="../embeddings/oleObject37.bin"/><Relationship Id="rId5" Type="http://schemas.openxmlformats.org/officeDocument/2006/relationships/image" Target="../media/image37.emf"/><Relationship Id="rId4" Type="http://schemas.openxmlformats.org/officeDocument/2006/relationships/package" Target="../embeddings/Microsoft_Word___36.docx"/></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38.bin"/><Relationship Id="rId7" Type="http://schemas.openxmlformats.org/officeDocument/2006/relationships/package" Target="../embeddings/Microsoft_Word___39.docx"/><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oleObject" Target="../embeddings/oleObject39.bin"/><Relationship Id="rId5" Type="http://schemas.openxmlformats.org/officeDocument/2006/relationships/image" Target="../media/image39.emf"/><Relationship Id="rId4" Type="http://schemas.openxmlformats.org/officeDocument/2006/relationships/package" Target="../embeddings/Microsoft_Word___38.docx"/></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31.vml"/><Relationship Id="rId5" Type="http://schemas.openxmlformats.org/officeDocument/2006/relationships/image" Target="../media/image40.emf"/><Relationship Id="rId4" Type="http://schemas.openxmlformats.org/officeDocument/2006/relationships/package" Target="../embeddings/Microsoft_Word___40.docx"/></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image" Target="../media/image41.emf"/><Relationship Id="rId5" Type="http://schemas.openxmlformats.org/officeDocument/2006/relationships/package" Target="../embeddings/Microsoft_Word___41.docx"/><Relationship Id="rId4" Type="http://schemas.openxmlformats.org/officeDocument/2006/relationships/oleObject" Target="../embeddings/oleObject41.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oleObject" Target="../embeddings/oleObject42.bin"/><Relationship Id="rId7" Type="http://schemas.openxmlformats.org/officeDocument/2006/relationships/package" Target="../embeddings/Microsoft_Word___43.docx"/><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oleObject" Target="../embeddings/oleObject43.bin"/><Relationship Id="rId5" Type="http://schemas.openxmlformats.org/officeDocument/2006/relationships/image" Target="../media/image43.emf"/><Relationship Id="rId4" Type="http://schemas.openxmlformats.org/officeDocument/2006/relationships/package" Target="../embeddings/Microsoft_Word___42.docx"/></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46.emf"/><Relationship Id="rId3" Type="http://schemas.openxmlformats.org/officeDocument/2006/relationships/oleObject" Target="../embeddings/oleObject44.bin"/><Relationship Id="rId7" Type="http://schemas.openxmlformats.org/officeDocument/2006/relationships/package" Target="../embeddings/Microsoft_Word___45.docx"/><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oleObject" Target="../embeddings/oleObject45.bin"/><Relationship Id="rId11" Type="http://schemas.openxmlformats.org/officeDocument/2006/relationships/image" Target="../media/image47.emf"/><Relationship Id="rId5" Type="http://schemas.openxmlformats.org/officeDocument/2006/relationships/image" Target="../media/image45.emf"/><Relationship Id="rId10" Type="http://schemas.openxmlformats.org/officeDocument/2006/relationships/package" Target="../embeddings/Microsoft_Word___46.docx"/><Relationship Id="rId4" Type="http://schemas.openxmlformats.org/officeDocument/2006/relationships/package" Target="../embeddings/Microsoft_Word___44.docx"/><Relationship Id="rId9" Type="http://schemas.openxmlformats.org/officeDocument/2006/relationships/oleObject" Target="../embeddings/oleObject46.bin"/></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2.xml"/><Relationship Id="rId1" Type="http://schemas.openxmlformats.org/officeDocument/2006/relationships/vmlDrawing" Target="../drawings/vmlDrawing35.vml"/><Relationship Id="rId5" Type="http://schemas.openxmlformats.org/officeDocument/2006/relationships/image" Target="../media/image48.emf"/><Relationship Id="rId4" Type="http://schemas.openxmlformats.org/officeDocument/2006/relationships/package" Target="../embeddings/Microsoft_Word___47.docx"/></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2.xml"/><Relationship Id="rId1" Type="http://schemas.openxmlformats.org/officeDocument/2006/relationships/vmlDrawing" Target="../drawings/vmlDrawing36.vml"/><Relationship Id="rId5" Type="http://schemas.openxmlformats.org/officeDocument/2006/relationships/image" Target="../media/image49.emf"/><Relationship Id="rId4" Type="http://schemas.openxmlformats.org/officeDocument/2006/relationships/package" Target="../embeddings/Microsoft_Word___48.docx"/></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37.vml"/><Relationship Id="rId5" Type="http://schemas.openxmlformats.org/officeDocument/2006/relationships/image" Target="../media/image50.emf"/><Relationship Id="rId4" Type="http://schemas.openxmlformats.org/officeDocument/2006/relationships/package" Target="../embeddings/Microsoft_Word___49.docx"/></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2.xml"/><Relationship Id="rId1" Type="http://schemas.openxmlformats.org/officeDocument/2006/relationships/vmlDrawing" Target="../drawings/vmlDrawing38.vml"/><Relationship Id="rId5" Type="http://schemas.openxmlformats.org/officeDocument/2006/relationships/image" Target="../media/image51.emf"/><Relationship Id="rId4" Type="http://schemas.openxmlformats.org/officeDocument/2006/relationships/package" Target="../embeddings/Microsoft_Word___50.docx"/></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39.vml"/><Relationship Id="rId5" Type="http://schemas.openxmlformats.org/officeDocument/2006/relationships/image" Target="../media/image52.emf"/><Relationship Id="rId4" Type="http://schemas.openxmlformats.org/officeDocument/2006/relationships/package" Target="../embeddings/Microsoft_Word___51.docx"/></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40.vml"/><Relationship Id="rId5" Type="http://schemas.openxmlformats.org/officeDocument/2006/relationships/image" Target="../media/image53.emf"/><Relationship Id="rId4" Type="http://schemas.openxmlformats.org/officeDocument/2006/relationships/package" Target="../embeddings/Microsoft_Word___52.docx"/></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vmlDrawing" Target="../drawings/vmlDrawing41.vml"/><Relationship Id="rId5" Type="http://schemas.openxmlformats.org/officeDocument/2006/relationships/image" Target="../media/image54.emf"/><Relationship Id="rId4" Type="http://schemas.openxmlformats.org/officeDocument/2006/relationships/package" Target="../embeddings/Microsoft_Word___53.docx"/></Relationships>
</file>

<file path=ppt/slides/_rels/slide6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zh-CN" altLang="en-US" sz="3600" b="1">
                  <a:solidFill>
                    <a:schemeClr val="bg1"/>
                  </a:solidFill>
                  <a:latin typeface="华文细黑" panose="02010600040101010101" charset="-122"/>
                  <a:ea typeface="华文细黑" panose="02010600040101010101" charset="-122"/>
                </a:rPr>
                <a:t>第</a:t>
              </a:r>
              <a:r>
                <a:rPr lang="en-US" altLang="zh-CN" sz="3600" b="1">
                  <a:solidFill>
                    <a:schemeClr val="bg1"/>
                  </a:solidFill>
                  <a:latin typeface="华文细黑" panose="02010600040101010101" charset="-122"/>
                  <a:ea typeface="华文细黑" panose="02010600040101010101" charset="-122"/>
                </a:rPr>
                <a:t>2</a:t>
              </a:r>
              <a:r>
                <a:rPr lang="zh-CN" altLang="en-US" sz="3600" b="1">
                  <a:solidFill>
                    <a:schemeClr val="bg1"/>
                  </a:solidFill>
                  <a:latin typeface="华文细黑" panose="02010600040101010101" charset="-122"/>
                  <a:ea typeface="华文细黑" panose="02010600040101010101" charset="-122"/>
                </a:rPr>
                <a:t>课时　随机变量及其分布</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a:solidFill>
                  <a:schemeClr val="bg1"/>
                </a:solidFill>
                <a:latin typeface="华文细黑" panose="02010600040101010101" charset="-122"/>
                <a:ea typeface="华文细黑" panose="02010600040101010101" charset="-122"/>
                <a:cs typeface="Open Sans" panose="020B0606030504020204" pitchFamily="34" charset="0"/>
              </a:rPr>
              <a:t>复习课</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smtClean="0">
                <a:solidFill>
                  <a:srgbClr val="757C82"/>
                </a:solidFill>
                <a:latin typeface="Times New Roman" panose="02020603050405020304" pitchFamily="18" charset="0"/>
                <a:cs typeface="Times New Roman" panose="02020603050405020304" pitchFamily="18" charset="0"/>
              </a:rPr>
              <a:t>2025</a:t>
            </a:r>
            <a:endParaRPr lang="en-US" altLang="zh-CN" sz="2800" b="1" dirty="0" smtClean="0">
              <a:solidFill>
                <a:srgbClr val="757C8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672261"/>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3238838"/>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764727"/>
            <a:ext cx="2997835" cy="501650"/>
          </a:xfrm>
          <a:prstGeom prst="rect">
            <a:avLst/>
          </a:prstGeom>
        </p:spPr>
        <p:txBody>
          <a:bodyPr wrap="none">
            <a:spAutoFit/>
          </a:bodyPr>
          <a:lstStyle/>
          <a:p>
            <a:pPr defTabSz="1219200"/>
            <a:r>
              <a:rPr lang="zh-CN" altLang="en-US" sz="2665" b="1" smtClean="0">
                <a:solidFill>
                  <a:srgbClr val="4D4D4D"/>
                </a:solidFill>
                <a:latin typeface="方正姚体" panose="02010601030101010101" charset="-122"/>
                <a:ea typeface="方正姚体" panose="02010601030101010101" charset="-122"/>
                <a:cs typeface="方正姚体" panose="02010601030101010101" charset="-122"/>
              </a:rPr>
              <a:t>知识梳理 构建体系</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3349585"/>
            <a:ext cx="2997835" cy="501650"/>
          </a:xfrm>
          <a:prstGeom prst="rect">
            <a:avLst/>
          </a:prstGeom>
        </p:spPr>
        <p:txBody>
          <a:bodyPr wrap="none">
            <a:spAutoFit/>
          </a:bodyPr>
          <a:lstStyle/>
          <a:p>
            <a:pPr defTabSz="1219200"/>
            <a:r>
              <a:rPr lang="zh-CN" altLang="en-US" sz="2665" b="1" smtClean="0">
                <a:solidFill>
                  <a:srgbClr val="4D4D4D"/>
                </a:solidFill>
                <a:latin typeface="方正姚体" panose="02010601030101010101" charset="-122"/>
                <a:ea typeface="方正姚体" panose="02010601030101010101" charset="-122"/>
                <a:cs typeface="方正姚体" panose="02010601030101010101" charset="-122"/>
              </a:rPr>
              <a:t>专题归纳 核心突破</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smtClean="0">
                <a:solidFill>
                  <a:srgbClr val="4D4D4D"/>
                </a:solidFill>
                <a:latin typeface="方正姚体" panose="02010601030101010101" charset="-122"/>
                <a:ea typeface="方正姚体" panose="02010601030101010101" charset="-122"/>
                <a:cs typeface="方正姚体" panose="02010601030101010101" charset="-122"/>
                <a:sym typeface="+mn-ea"/>
              </a:rPr>
              <a:t>知识梳理 构建体系</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78144"/>
            <a:ext cx="2438488" cy="591059"/>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b="1" smtClean="0">
                <a:solidFill>
                  <a:srgbClr val="CF5B1B"/>
                </a:solidFill>
                <a:latin typeface="Times New Roman" panose="02020603050405020304" pitchFamily="18" charset="0"/>
                <a:ea typeface="方正姚体" panose="02010601030101010101" pitchFamily="2" charset="-122"/>
                <a:cs typeface="Times New Roman" panose="02020603050405020304" pitchFamily="18" charset="0"/>
              </a:rPr>
              <a:t>【知识网络】</a:t>
            </a:r>
            <a:r>
              <a:rPr lang="en-US" altLang="zh-CN" sz="2800" b="1" smtClean="0">
                <a:solidFill>
                  <a:srgbClr val="CF5B1B"/>
                </a:solidFill>
                <a:latin typeface="Times New Roman" panose="02020603050405020304" pitchFamily="18" charset="0"/>
                <a:ea typeface="方正姚体" panose="02010601030101010101" pitchFamily="2" charset="-122"/>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QMX3TRAX42.eps" descr="id:2147516744;FounderCES"/>
          <p:cNvPicPr/>
          <p:nvPr/>
        </p:nvPicPr>
        <p:blipFill>
          <a:blip r:embed="rId2">
            <a:clrChange>
              <a:clrFrom>
                <a:srgbClr val="FFFFFF"/>
              </a:clrFrom>
              <a:clrTo>
                <a:srgbClr val="FFFFFF">
                  <a:alpha val="0"/>
                </a:srgbClr>
              </a:clrTo>
            </a:clrChange>
          </a:blip>
          <a:stretch>
            <a:fillRect/>
          </a:stretch>
        </p:blipFill>
        <p:spPr>
          <a:xfrm>
            <a:off x="2819488" y="497686"/>
            <a:ext cx="6630582" cy="5954485"/>
          </a:xfrm>
          <a:prstGeom prst="rect">
            <a:avLst/>
          </a:prstGeom>
        </p:spPr>
      </p:pic>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139302"/>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b="1">
                <a:solidFill>
                  <a:srgbClr val="CF5B1B"/>
                </a:solidFill>
                <a:latin typeface="Times New Roman" panose="02020603050405020304" pitchFamily="18" charset="0"/>
                <a:ea typeface="方正姚体" panose="02010601030101010101" pitchFamily="2" charset="-122"/>
                <a:cs typeface="Times New Roman" panose="02020603050405020304" pitchFamily="18" charset="0"/>
              </a:rPr>
              <a:t>【要点梳理】</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一、条件概率</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概念</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一般地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设</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为两个随机事件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cs typeface="Times New Roman" panose="02020603050405020304" pitchFamily="18" charset="0"/>
              </a:rPr>
              <a:t>我们</a:t>
            </a:r>
            <a:r>
              <a:rPr lang="zh-CN" altLang="zh-CN" sz="2800" smtClean="0">
                <a:solidFill>
                  <a:srgbClr val="000000"/>
                </a:solidFill>
                <a:latin typeface="Times New Roman" panose="02020603050405020304" pitchFamily="18" charset="0"/>
                <a:cs typeface="Times New Roman" panose="02020603050405020304" pitchFamily="18" charset="0"/>
              </a:rPr>
              <a:t>称</a:t>
            </a:r>
            <a:r>
              <a:rPr lang="en-US" altLang="zh-CN" sz="2800" smtClean="0">
                <a:solidFill>
                  <a:srgbClr val="000000"/>
                </a:solidFill>
                <a:latin typeface="Times New Roman" panose="02020603050405020304" pitchFamily="18" charset="0"/>
                <a:cs typeface="Times New Roman" panose="02020603050405020304" pitchFamily="18" charset="0"/>
              </a:rPr>
              <a:t>                       </a:t>
            </a:r>
            <a:r>
              <a:rPr lang="zh-CN" altLang="zh-CN" sz="2800" smtClean="0">
                <a:solidFill>
                  <a:srgbClr val="000000"/>
                </a:solidFill>
                <a:latin typeface="Times New Roman" panose="02020603050405020304" pitchFamily="18" charset="0"/>
                <a:cs typeface="Times New Roman" panose="02020603050405020304" pitchFamily="18" charset="0"/>
              </a:rPr>
              <a:t>为</a:t>
            </a:r>
            <a:r>
              <a:rPr lang="zh-CN" altLang="zh-CN" sz="2800">
                <a:solidFill>
                  <a:srgbClr val="000000"/>
                </a:solidFill>
                <a:latin typeface="Times New Roman" panose="02020603050405020304" pitchFamily="18" charset="0"/>
                <a:cs typeface="Times New Roman" panose="02020603050405020304" pitchFamily="18" charset="0"/>
              </a:rPr>
              <a:t>在事件</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发生的条件下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事件</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发生的条件概率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简称条件概率</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概率乘法公式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对任意两个事件</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smtClean="0">
                <a:solidFill>
                  <a:srgbClr val="000000"/>
                </a:solidFill>
                <a:latin typeface="Times New Roman" panose="02020603050405020304" pitchFamily="18" charset="0"/>
                <a:cs typeface="Times New Roman" panose="02020603050405020304" pitchFamily="18" charset="0"/>
              </a:rPr>
              <a:t>则</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i="1" smtClean="0">
                <a:solidFill>
                  <a:srgbClr val="FF0000"/>
                </a:solidFill>
                <a:uFill>
                  <a:solidFill>
                    <a:srgbClr val="000000"/>
                  </a:solidFill>
                </a:uFill>
                <a:latin typeface="Times New Roman" panose="02020603050405020304" pitchFamily="18" charset="0"/>
                <a:cs typeface="Times New Roman" panose="02020603050405020304" pitchFamily="18" charset="0"/>
              </a:rPr>
              <a:t>P</a:t>
            </a:r>
            <a:r>
              <a:rPr lang="en-US" altLang="zh-CN" sz="2800" smtClean="0">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i="1" smtClean="0">
                <a:solidFill>
                  <a:srgbClr val="FF0000"/>
                </a:solidFill>
                <a:uFill>
                  <a:solidFill>
                    <a:srgbClr val="000000"/>
                  </a:solidFill>
                </a:uFill>
                <a:latin typeface="Times New Roman" panose="02020603050405020304" pitchFamily="18" charset="0"/>
                <a:cs typeface="Times New Roman" panose="02020603050405020304" pitchFamily="18" charset="0"/>
              </a:rPr>
              <a:t>AB</a:t>
            </a:r>
            <a:r>
              <a:rPr lang="en-US" altLang="zh-CN" sz="2800">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i="1">
                <a:solidFill>
                  <a:srgbClr val="FF0000"/>
                </a:solidFill>
                <a:uFill>
                  <a:solidFill>
                    <a:srgbClr val="000000"/>
                  </a:solidFill>
                </a:uFill>
                <a:latin typeface="Times New Roman" panose="02020603050405020304" pitchFamily="18" charset="0"/>
                <a:cs typeface="Times New Roman" panose="02020603050405020304" pitchFamily="18" charset="0"/>
              </a:rPr>
              <a:t>=P</a:t>
            </a:r>
            <a:r>
              <a:rPr lang="en-US" altLang="zh-CN" sz="2800">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i="1">
                <a:solidFill>
                  <a:srgbClr val="FF0000"/>
                </a:solidFill>
                <a:uFill>
                  <a:solidFill>
                    <a:srgbClr val="000000"/>
                  </a:solidFill>
                </a:uFill>
                <a:latin typeface="Times New Roman" panose="02020603050405020304" pitchFamily="18" charset="0"/>
                <a:cs typeface="Times New Roman" panose="02020603050405020304" pitchFamily="18" charset="0"/>
              </a:rPr>
              <a:t>A</a:t>
            </a:r>
            <a:r>
              <a:rPr lang="en-US" altLang="zh-CN" sz="2800">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i="1">
                <a:solidFill>
                  <a:srgbClr val="FF0000"/>
                </a:solidFill>
                <a:uFill>
                  <a:solidFill>
                    <a:srgbClr val="000000"/>
                  </a:solidFill>
                </a:uFill>
                <a:latin typeface="Times New Roman" panose="02020603050405020304" pitchFamily="18" charset="0"/>
                <a:cs typeface="Times New Roman" panose="02020603050405020304" pitchFamily="18" charset="0"/>
              </a:rPr>
              <a:t>P</a:t>
            </a:r>
            <a:r>
              <a:rPr lang="en-US" altLang="zh-CN" sz="2800">
                <a:solidFill>
                  <a:srgbClr val="FF0000"/>
                </a:solidFill>
                <a:uFill>
                  <a:solidFill>
                    <a:srgbClr val="000000"/>
                  </a:solidFill>
                </a:uFill>
                <a:latin typeface="Times New Roman" panose="02020603050405020304" pitchFamily="18" charset="0"/>
                <a:cs typeface="Times New Roman" panose="02020603050405020304" pitchFamily="18" charset="0"/>
              </a:rPr>
              <a:t>(</a:t>
            </a:r>
            <a:r>
              <a:rPr lang="en-US" altLang="zh-CN" sz="2800" i="1">
                <a:solidFill>
                  <a:srgbClr val="FF0000"/>
                </a:solidFill>
                <a:uFill>
                  <a:solidFill>
                    <a:srgbClr val="000000"/>
                  </a:solidFill>
                </a:uFill>
                <a:latin typeface="Times New Roman" panose="02020603050405020304" pitchFamily="18" charset="0"/>
                <a:cs typeface="Times New Roman" panose="02020603050405020304" pitchFamily="18" charset="0"/>
              </a:rPr>
              <a:t>B|A</a:t>
            </a:r>
            <a:r>
              <a:rPr lang="en-US" altLang="zh-CN" sz="2800" smtClean="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45815098"/>
              </p:ext>
            </p:extLst>
          </p:nvPr>
        </p:nvGraphicFramePr>
        <p:xfrm>
          <a:off x="7761171" y="2659547"/>
          <a:ext cx="2286000" cy="998537"/>
        </p:xfrm>
        <a:graphic>
          <a:graphicData uri="http://schemas.openxmlformats.org/presentationml/2006/ole">
            <mc:AlternateContent xmlns:mc="http://schemas.openxmlformats.org/markup-compatibility/2006">
              <mc:Choice xmlns:v="urn:schemas-microsoft-com:vml" Requires="v">
                <p:oleObj spid="_x0000_s1061" name="文档" r:id="rId4" imgW="922453" imgH="400348" progId="Word.Document.12">
                  <p:embed/>
                </p:oleObj>
              </mc:Choice>
              <mc:Fallback>
                <p:oleObj name="文档" r:id="rId4" imgW="922453" imgH="400348" progId="Word.Document.12">
                  <p:embed/>
                  <p:pic>
                    <p:nvPicPr>
                      <p:cNvPr id="0" name=""/>
                      <p:cNvPicPr/>
                      <p:nvPr/>
                    </p:nvPicPr>
                    <p:blipFill>
                      <a:blip r:embed="rId5"/>
                      <a:stretch>
                        <a:fillRect/>
                      </a:stretch>
                    </p:blipFill>
                    <p:spPr>
                      <a:xfrm>
                        <a:off x="7761171" y="2659547"/>
                        <a:ext cx="2286000" cy="998537"/>
                      </a:xfrm>
                      <a:prstGeom prst="rect">
                        <a:avLst/>
                      </a:prstGeom>
                    </p:spPr>
                  </p:pic>
                </p:oleObj>
              </mc:Fallback>
            </mc:AlternateContent>
          </a:graphicData>
        </a:graphic>
      </p:graphicFrame>
      <p:sp>
        <p:nvSpPr>
          <p:cNvPr id="5" name="矩形 4"/>
          <p:cNvSpPr/>
          <p:nvPr/>
        </p:nvSpPr>
        <p:spPr>
          <a:xfrm>
            <a:off x="8236186" y="3914417"/>
            <a:ext cx="2942097"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8236186" y="4466014"/>
            <a:ext cx="294209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01747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051650"/>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条件概率的性质</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设</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cs typeface="Times New Roman" panose="02020603050405020304" pitchFamily="18" charset="0"/>
              </a:rPr>
              <a:t>则</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Ω</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如果</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cs typeface="Times New Roman" panose="02020603050405020304" pitchFamily="18" charset="0"/>
              </a:rPr>
              <a:t>是两个互斥事件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NEU-BZ-S92"/>
                <a:cs typeface="宋体" panose="02010600030101010101" pitchFamily="2" charset="-122"/>
              </a:rPr>
              <a:t>∪</a:t>
            </a:r>
            <a:r>
              <a:rPr lang="en-US" altLang="zh-CN" sz="2800" i="1">
                <a:solidFill>
                  <a:srgbClr val="000000"/>
                </a:solidFill>
                <a:latin typeface="Times New Roman" panose="02020603050405020304" pitchFamily="18" charset="0"/>
                <a:cs typeface="Times New Roman" panose="02020603050405020304" pitchFamily="18" charset="0"/>
              </a:rPr>
              <a:t>C|A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C|A</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smtClean="0">
                <a:solidFill>
                  <a:srgbClr val="000000"/>
                </a:solidFill>
                <a:latin typeface="Times New Roman" panose="02020603050405020304" pitchFamily="18" charset="0"/>
                <a:cs typeface="Times New Roman" panose="02020603050405020304" pitchFamily="18" charset="0"/>
              </a:rPr>
              <a:t>设</a:t>
            </a:r>
            <a:r>
              <a:rPr lang="en-US" altLang="zh-CN" sz="2800" smtClean="0">
                <a:solidFill>
                  <a:srgbClr val="000000"/>
                </a:solidFill>
                <a:latin typeface="Times New Roman" panose="02020603050405020304" pitchFamily="18" charset="0"/>
                <a:cs typeface="Times New Roman" panose="02020603050405020304" pitchFamily="18" charset="0"/>
              </a:rPr>
              <a:t>    </a:t>
            </a:r>
            <a:r>
              <a:rPr lang="zh-CN" altLang="zh-CN" sz="2800" smtClean="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互为对立事件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4</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条件概率的求法</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一种是基于样本空间</a:t>
            </a:r>
            <a:r>
              <a:rPr lang="en-US" altLang="zh-CN" sz="2800" i="1">
                <a:solidFill>
                  <a:srgbClr val="000000"/>
                </a:solidFill>
                <a:latin typeface="Times New Roman" panose="02020603050405020304" pitchFamily="18" charset="0"/>
                <a:cs typeface="Times New Roman" panose="02020603050405020304" pitchFamily="18" charset="0"/>
              </a:rPr>
              <a:t>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先计算</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AB</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再利用条件概率公式求</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另一种是根据条件概率的直观意义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增加了</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发生</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的条件后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样本空间缩小为</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就是以</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为样本空间计算</a:t>
            </a:r>
            <a:r>
              <a:rPr lang="en-US" altLang="zh-CN" sz="2800" i="1">
                <a:solidFill>
                  <a:srgbClr val="000000"/>
                </a:solidFill>
                <a:latin typeface="Times New Roman" panose="02020603050405020304" pitchFamily="18" charset="0"/>
                <a:cs typeface="Times New Roman" panose="02020603050405020304" pitchFamily="18" charset="0"/>
              </a:rPr>
              <a:t>AB</a:t>
            </a:r>
            <a:r>
              <a:rPr lang="zh-CN" altLang="zh-CN" sz="2800">
                <a:solidFill>
                  <a:srgbClr val="000000"/>
                </a:solidFill>
                <a:latin typeface="Times New Roman" panose="02020603050405020304" pitchFamily="18" charset="0"/>
                <a:cs typeface="Times New Roman" panose="02020603050405020304" pitchFamily="18" charset="0"/>
              </a:rPr>
              <a:t>的概率</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039541321"/>
              </p:ext>
            </p:extLst>
          </p:nvPr>
        </p:nvGraphicFramePr>
        <p:xfrm>
          <a:off x="1027195" y="2797508"/>
          <a:ext cx="800531" cy="533003"/>
        </p:xfrm>
        <a:graphic>
          <a:graphicData uri="http://schemas.openxmlformats.org/presentationml/2006/ole">
            <mc:AlternateContent xmlns:mc="http://schemas.openxmlformats.org/markup-compatibility/2006">
              <mc:Choice xmlns:v="urn:schemas-microsoft-com:vml" Requires="v">
                <p:oleObj spid="_x0000_s2120" name="文档" r:id="rId4" imgW="300127" imgH="193346" progId="Word.Document.12">
                  <p:embed/>
                </p:oleObj>
              </mc:Choice>
              <mc:Fallback>
                <p:oleObj name="文档" r:id="rId4" imgW="300127" imgH="193346" progId="Word.Document.12">
                  <p:embed/>
                  <p:pic>
                    <p:nvPicPr>
                      <p:cNvPr id="0" name=""/>
                      <p:cNvPicPr>
                        <a:picLocks noChangeAspect="1" noChangeArrowheads="1"/>
                      </p:cNvPicPr>
                      <p:nvPr/>
                    </p:nvPicPr>
                    <p:blipFill>
                      <a:blip r:embed="rId5"/>
                      <a:srcRect/>
                      <a:stretch>
                        <a:fillRect/>
                      </a:stretch>
                    </p:blipFill>
                    <p:spPr bwMode="auto">
                      <a:xfrm>
                        <a:off x="1027195" y="2797508"/>
                        <a:ext cx="800531" cy="533003"/>
                      </a:xfrm>
                      <a:prstGeom prst="rect">
                        <a:avLst/>
                      </a:prstGeom>
                      <a:noFill/>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155929371"/>
              </p:ext>
            </p:extLst>
          </p:nvPr>
        </p:nvGraphicFramePr>
        <p:xfrm>
          <a:off x="4869730" y="2807782"/>
          <a:ext cx="800531" cy="533003"/>
        </p:xfrm>
        <a:graphic>
          <a:graphicData uri="http://schemas.openxmlformats.org/presentationml/2006/ole">
            <mc:AlternateContent xmlns:mc="http://schemas.openxmlformats.org/markup-compatibility/2006">
              <mc:Choice xmlns:v="urn:schemas-microsoft-com:vml" Requires="v">
                <p:oleObj spid="_x0000_s2121" name="文档" r:id="rId7" imgW="300127" imgH="193346" progId="Word.Document.12">
                  <p:embed/>
                </p:oleObj>
              </mc:Choice>
              <mc:Fallback>
                <p:oleObj name="文档" r:id="rId7" imgW="300127" imgH="193346" progId="Word.Document.12">
                  <p:embed/>
                  <p:pic>
                    <p:nvPicPr>
                      <p:cNvPr id="0" name=""/>
                      <p:cNvPicPr>
                        <a:picLocks noChangeAspect="1" noChangeArrowheads="1"/>
                      </p:cNvPicPr>
                      <p:nvPr/>
                    </p:nvPicPr>
                    <p:blipFill>
                      <a:blip r:embed="rId8"/>
                      <a:srcRect/>
                      <a:stretch>
                        <a:fillRect/>
                      </a:stretch>
                    </p:blipFill>
                    <p:spPr bwMode="auto">
                      <a:xfrm>
                        <a:off x="4869730" y="2807782"/>
                        <a:ext cx="800531" cy="533003"/>
                      </a:xfrm>
                      <a:prstGeom prst="rect">
                        <a:avLst/>
                      </a:prstGeom>
                      <a:noFill/>
                      <a:extLst/>
                    </p:spPr>
                  </p:pic>
                </p:oleObj>
              </mc:Fallback>
            </mc:AlternateContent>
          </a:graphicData>
        </a:graphic>
      </p:graphicFrame>
    </p:spTree>
    <p:extLst>
      <p:ext uri="{BB962C8B-B14F-4D97-AF65-F5344CB8AC3E}">
        <p14:creationId xmlns:p14="http://schemas.microsoft.com/office/powerpoint/2010/main" val="31704520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568764"/>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二、全概率公式</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全概率公式</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一般地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设</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是一组两两互斥的事件</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NEU-BZ-S92"/>
                <a:cs typeface="宋体" panose="02010600030101010101" pitchFamily="2" charset="-122"/>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a:solidFill>
                  <a:srgbClr val="000000"/>
                </a:solidFill>
                <a:latin typeface="NEU-BZ-S92"/>
                <a:cs typeface="宋体" panose="02010600030101010101" pitchFamily="2" charset="-122"/>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1,2,</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则对任意的事件</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Cambria Math" panose="02040503050406030204" pitchFamily="18" charset="0"/>
                <a:ea typeface="NEU-BZ-S92"/>
                <a:cs typeface="Times New Roman" panose="02020603050405020304" pitchFamily="18" charset="0"/>
              </a:rPr>
              <a:t>⊆</a:t>
            </a:r>
            <a:r>
              <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有</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796603258"/>
              </p:ext>
            </p:extLst>
          </p:nvPr>
        </p:nvGraphicFramePr>
        <p:xfrm>
          <a:off x="458424" y="3841437"/>
          <a:ext cx="11275153" cy="989193"/>
        </p:xfrm>
        <a:graphic>
          <a:graphicData uri="http://schemas.openxmlformats.org/presentationml/2006/ole">
            <mc:AlternateContent xmlns:mc="http://schemas.openxmlformats.org/markup-compatibility/2006">
              <mc:Choice xmlns:v="urn:schemas-microsoft-com:vml" Requires="v">
                <p:oleObj spid="_x0000_s7204"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3841437"/>
                        <a:ext cx="11275153" cy="989193"/>
                      </a:xfrm>
                      <a:prstGeom prst="rect">
                        <a:avLst/>
                      </a:prstGeom>
                    </p:spPr>
                  </p:pic>
                </p:oleObj>
              </mc:Fallback>
            </mc:AlternateContent>
          </a:graphicData>
        </a:graphic>
      </p:graphicFrame>
    </p:spTree>
    <p:extLst>
      <p:ext uri="{BB962C8B-B14F-4D97-AF65-F5344CB8AC3E}">
        <p14:creationId xmlns:p14="http://schemas.microsoft.com/office/powerpoint/2010/main" val="4277533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345407"/>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贝叶斯公式</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设</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是一组两两互斥的事件</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NEU-BZ-S92"/>
                <a:cs typeface="宋体" panose="02010600030101010101" pitchFamily="2" charset="-122"/>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zh-CN" altLang="zh-CN" sz="2800">
                <a:solidFill>
                  <a:srgbClr val="000000"/>
                </a:solidFill>
                <a:latin typeface="NEU-BZ-S92"/>
                <a:cs typeface="宋体" panose="02010600030101010101" pitchFamily="2" charset="-122"/>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1,2,</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则对任意的事件</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Cambria Math" panose="02040503050406030204" pitchFamily="18" charset="0"/>
                <a:ea typeface="NEU-BZ-S92"/>
                <a:cs typeface="Times New Roman" panose="02020603050405020304" pitchFamily="18" charset="0"/>
              </a:rPr>
              <a:t>⊆</a:t>
            </a:r>
            <a:r>
              <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Ω</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cs typeface="Times New Roman" panose="02020603050405020304" pitchFamily="18" charset="0"/>
              </a:rPr>
              <a:t>有</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353320653"/>
              </p:ext>
            </p:extLst>
          </p:nvPr>
        </p:nvGraphicFramePr>
        <p:xfrm>
          <a:off x="458424" y="3246338"/>
          <a:ext cx="11275153" cy="989193"/>
        </p:xfrm>
        <a:graphic>
          <a:graphicData uri="http://schemas.openxmlformats.org/presentationml/2006/ole">
            <mc:AlternateContent xmlns:mc="http://schemas.openxmlformats.org/markup-compatibility/2006">
              <mc:Choice xmlns:v="urn:schemas-microsoft-com:vml" Requires="v">
                <p:oleObj spid="_x0000_s8228"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3246338"/>
                        <a:ext cx="11275153" cy="989193"/>
                      </a:xfrm>
                      <a:prstGeom prst="rect">
                        <a:avLst/>
                      </a:prstGeom>
                    </p:spPr>
                  </p:pic>
                </p:oleObj>
              </mc:Fallback>
            </mc:AlternateContent>
          </a:graphicData>
        </a:graphic>
      </p:graphicFrame>
      <p:sp>
        <p:nvSpPr>
          <p:cNvPr id="4" name="矩形 3"/>
          <p:cNvSpPr>
            <a:spLocks noChangeAspect="1"/>
          </p:cNvSpPr>
          <p:nvPr/>
        </p:nvSpPr>
        <p:spPr>
          <a:xfrm>
            <a:off x="381000" y="4335911"/>
            <a:ext cx="1872629" cy="652486"/>
          </a:xfrm>
          <a:prstGeom prst="rect">
            <a:avLst/>
          </a:prstGeom>
        </p:spPr>
        <p:txBody>
          <a:bodyPr wrap="none">
            <a:spAutoFit/>
          </a:bodyPr>
          <a:lstStyle/>
          <a:p>
            <a:pPr>
              <a:lnSpc>
                <a:spcPct val="130000"/>
              </a:lnSpc>
            </a:pPr>
            <a:r>
              <a:rPr lang="en-US" altLang="zh-CN" sz="2800" i="1">
                <a:solidFill>
                  <a:srgbClr val="000000"/>
                </a:solidFill>
                <a:latin typeface="Times New Roman" panose="02020603050405020304" pitchFamily="18" charset="0"/>
              </a:rPr>
              <a:t>i=</a:t>
            </a:r>
            <a:r>
              <a:rPr lang="en-US" altLang="zh-CN" sz="2800">
                <a:solidFill>
                  <a:srgbClr val="000000"/>
                </a:solidFill>
                <a:latin typeface="Times New Roman" panose="02020603050405020304" pitchFamily="18" charset="0"/>
              </a:rPr>
              <a:t>1,2,</a:t>
            </a:r>
            <a:r>
              <a:rPr lang="en-US" altLang="zh-CN" sz="2800">
                <a:solidFill>
                  <a:srgbClr val="000000"/>
                </a:solidFill>
                <a:latin typeface="宋体" panose="02010600030101010101" pitchFamily="2" charset="-122"/>
                <a:cs typeface="Times New Roman" panose="02020603050405020304" pitchFamily="18" charset="0"/>
              </a:rPr>
              <a:t>…</a:t>
            </a:r>
            <a:r>
              <a:rPr lang="en-US" altLang="zh-CN" sz="2800">
                <a:solidFill>
                  <a:srgbClr val="000000"/>
                </a:solidFill>
                <a:latin typeface="Times New Roman" panose="02020603050405020304" pitchFamily="18" charset="0"/>
              </a:rPr>
              <a:t>,</a:t>
            </a:r>
            <a:r>
              <a:rPr lang="en-US" altLang="zh-CN" sz="2800" i="1">
                <a:solidFill>
                  <a:srgbClr val="000000"/>
                </a:solidFill>
                <a:latin typeface="Times New Roman" panose="02020603050405020304" pitchFamily="18" charset="0"/>
              </a:rPr>
              <a:t>n</a:t>
            </a:r>
            <a:r>
              <a:rPr lang="en-US" altLang="zh-CN" sz="2800" i="1" smtClean="0">
                <a:solidFill>
                  <a:srgbClr val="000000"/>
                </a:solidFill>
                <a:latin typeface="Times New Roman" panose="02020603050405020304" pitchFamily="18" charset="0"/>
              </a:rPr>
              <a:t>. </a:t>
            </a:r>
            <a:endParaRPr lang="zh-CN" altLang="en-US" sz="2800"/>
          </a:p>
        </p:txBody>
      </p:sp>
    </p:spTree>
    <p:extLst>
      <p:ext uri="{BB962C8B-B14F-4D97-AF65-F5344CB8AC3E}">
        <p14:creationId xmlns:p14="http://schemas.microsoft.com/office/powerpoint/2010/main" val="957305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396353"/>
            <a:ext cx="11430000" cy="395313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三、离散型随机变量及其分布列</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离散型随机变量</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一般地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对于随机试验样本空间</a:t>
            </a:r>
            <a:r>
              <a:rPr lang="en-US" altLang="zh-CN" sz="2800" i="1">
                <a:solidFill>
                  <a:srgbClr val="000000"/>
                </a:solidFill>
                <a:latin typeface="Times New Roman" panose="02020603050405020304" pitchFamily="18" charset="0"/>
                <a:cs typeface="Times New Roman" panose="02020603050405020304" pitchFamily="18" charset="0"/>
              </a:rPr>
              <a:t>Ω</a:t>
            </a:r>
            <a:r>
              <a:rPr lang="zh-CN" altLang="zh-CN" sz="2800">
                <a:solidFill>
                  <a:srgbClr val="000000"/>
                </a:solidFill>
                <a:latin typeface="Times New Roman" panose="02020603050405020304" pitchFamily="18" charset="0"/>
                <a:cs typeface="Times New Roman" panose="02020603050405020304" pitchFamily="18" charset="0"/>
              </a:rPr>
              <a:t>中的每个样本点</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都有唯一的实数</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与之对应</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我们称</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为随机变量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可能取值为有限个或可以一一列举的随机变量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我们称之为离散型随机变量</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通常用大写英文字母表示随机变量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例如</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Z</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用小写英文字母表示随机变量的取值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例如</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z.</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086848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357931"/>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分布列</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一般地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设离散型随机变量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的可能取值为</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我们称</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取每一个值</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zh-CN" altLang="zh-CN" sz="2800">
                <a:solidFill>
                  <a:srgbClr val="000000"/>
                </a:solidFill>
                <a:latin typeface="Times New Roman" panose="02020603050405020304" pitchFamily="18" charset="0"/>
                <a:cs typeface="Times New Roman" panose="02020603050405020304" pitchFamily="18" charset="0"/>
              </a:rPr>
              <a:t>的概率</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X=x</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1,2,</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为</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的概率分布列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简称分布列</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smtClean="0">
                <a:solidFill>
                  <a:srgbClr val="000000"/>
                </a:solidFill>
                <a:latin typeface="Times New Roman" panose="02020603050405020304" pitchFamily="18" charset="0"/>
                <a:cs typeface="Times New Roman" panose="02020603050405020304" pitchFamily="18" charset="0"/>
              </a:rPr>
              <a:t>离</a:t>
            </a:r>
            <a:r>
              <a:rPr lang="zh-CN" altLang="zh-CN" sz="2800">
                <a:solidFill>
                  <a:srgbClr val="000000"/>
                </a:solidFill>
                <a:latin typeface="Times New Roman" panose="02020603050405020304" pitchFamily="18" charset="0"/>
                <a:cs typeface="Times New Roman" panose="02020603050405020304" pitchFamily="18" charset="0"/>
              </a:rPr>
              <a:t>散型随机变量的分布列也可以用表格表示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如表所示</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endParaRPr lang="en-US" altLang="zh-CN" sz="2800">
              <a:solidFill>
                <a:srgbClr val="000000"/>
              </a:solidFill>
              <a:latin typeface="Times New Roman" panose="02020603050405020304" pitchFamily="18" charset="0"/>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2996780974"/>
              </p:ext>
            </p:extLst>
          </p:nvPr>
        </p:nvGraphicFramePr>
        <p:xfrm>
          <a:off x="381000" y="3663019"/>
          <a:ext cx="11430000" cy="981456"/>
        </p:xfrm>
        <a:graphic>
          <a:graphicData uri="http://schemas.openxmlformats.org/drawingml/2006/table">
            <a:tbl>
              <a:tblPr firstRow="1" firstCol="1" bandRow="1"/>
              <a:tblGrid>
                <a:gridCol w="2286000"/>
                <a:gridCol w="2286000"/>
                <a:gridCol w="2286000"/>
                <a:gridCol w="2286000"/>
                <a:gridCol w="2286000"/>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i="1"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sz="28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sz="28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sz="2800" i="1"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3949664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97510"/>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离散型随机变量分布列的性质</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①</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1,2,</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②</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p</a:t>
            </a:r>
            <a:r>
              <a:rPr lang="en-US" altLang="zh-CN" sz="2800" i="1" baseline="-25000" smtClean="0">
                <a:solidFill>
                  <a:srgbClr val="000000"/>
                </a:solidFill>
                <a:latin typeface="Times New Roman" panose="02020603050405020304" pitchFamily="18" charset="0"/>
                <a:cs typeface="Times New Roman" panose="02020603050405020304" pitchFamily="18" charset="0"/>
              </a:rPr>
              <a:t>n</a:t>
            </a:r>
            <a:r>
              <a:rPr lang="en-US" altLang="zh-CN" sz="2800" i="1" smtClean="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FF0000"/>
                </a:solidFill>
                <a:latin typeface="Times New Roman" panose="02020603050405020304" pitchFamily="18" charset="0"/>
                <a:cs typeface="Times New Roman" panose="02020603050405020304" pitchFamily="18" charset="0"/>
              </a:rPr>
              <a:t>1 </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两点分布</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601750783"/>
              </p:ext>
            </p:extLst>
          </p:nvPr>
        </p:nvGraphicFramePr>
        <p:xfrm>
          <a:off x="458424" y="2714908"/>
          <a:ext cx="11275153" cy="2052055"/>
        </p:xfrm>
        <a:graphic>
          <a:graphicData uri="http://schemas.openxmlformats.org/presentationml/2006/ole">
            <mc:AlternateContent xmlns:mc="http://schemas.openxmlformats.org/markup-compatibility/2006">
              <mc:Choice xmlns:v="urn:schemas-microsoft-com:vml" Requires="v">
                <p:oleObj spid="_x0000_s4131" name="文档" r:id="rId4" imgW="4510061" imgH="820822" progId="Word.Document.12">
                  <p:embed/>
                </p:oleObj>
              </mc:Choice>
              <mc:Fallback>
                <p:oleObj name="文档" r:id="rId4" imgW="4510061" imgH="820822" progId="Word.Document.12">
                  <p:embed/>
                  <p:pic>
                    <p:nvPicPr>
                      <p:cNvPr id="0" name=""/>
                      <p:cNvPicPr/>
                      <p:nvPr/>
                    </p:nvPicPr>
                    <p:blipFill>
                      <a:blip r:embed="rId5"/>
                      <a:stretch>
                        <a:fillRect/>
                      </a:stretch>
                    </p:blipFill>
                    <p:spPr>
                      <a:xfrm>
                        <a:off x="458424" y="2714908"/>
                        <a:ext cx="11275153" cy="2052055"/>
                      </a:xfrm>
                      <a:prstGeom prst="rect">
                        <a:avLst/>
                      </a:prstGeom>
                    </p:spPr>
                  </p:pic>
                </p:oleObj>
              </mc:Fallback>
            </mc:AlternateContent>
          </a:graphicData>
        </a:graphic>
      </p:graphicFrame>
      <p:graphicFrame>
        <p:nvGraphicFramePr>
          <p:cNvPr id="4" name="表格 3"/>
          <p:cNvGraphicFramePr>
            <a:graphicFrameLocks noGrp="1" noChangeAspect="1"/>
          </p:cNvGraphicFramePr>
          <p:nvPr>
            <p:extLst>
              <p:ext uri="{D42A27DB-BD31-4B8C-83A1-F6EECF244321}">
                <p14:modId xmlns:p14="http://schemas.microsoft.com/office/powerpoint/2010/main" val="316880985"/>
              </p:ext>
            </p:extLst>
          </p:nvPr>
        </p:nvGraphicFramePr>
        <p:xfrm>
          <a:off x="381000" y="4650393"/>
          <a:ext cx="11430000" cy="981456"/>
        </p:xfrm>
        <a:graphic>
          <a:graphicData uri="http://schemas.openxmlformats.org/drawingml/2006/table">
            <a:tbl>
              <a:tblPr firstRow="1" firstCol="1" bandRow="1"/>
              <a:tblGrid>
                <a:gridCol w="3810000"/>
                <a:gridCol w="3810000"/>
                <a:gridCol w="3810000"/>
              </a:tblGrid>
              <a:tr h="11557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1775">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5" name="矩形 4"/>
          <p:cNvSpPr>
            <a:spLocks noChangeAspect="1"/>
          </p:cNvSpPr>
          <p:nvPr/>
        </p:nvSpPr>
        <p:spPr>
          <a:xfrm>
            <a:off x="381000" y="5616122"/>
            <a:ext cx="5610831" cy="652486"/>
          </a:xfrm>
          <a:prstGeom prst="rect">
            <a:avLst/>
          </a:prstGeom>
        </p:spPr>
        <p:txBody>
          <a:bodyPr wrap="none">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我们称</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服从两点分布或</a:t>
            </a:r>
            <a:r>
              <a:rPr lang="en-US" altLang="zh-CN" sz="2800">
                <a:solidFill>
                  <a:srgbClr val="000000"/>
                </a:solidFill>
                <a:latin typeface="Times New Roman" panose="02020603050405020304" pitchFamily="18" charset="0"/>
                <a:cs typeface="Times New Roman" panose="02020603050405020304" pitchFamily="18" charset="0"/>
              </a:rPr>
              <a:t>0—1</a:t>
            </a:r>
            <a:r>
              <a:rPr lang="zh-CN" altLang="zh-CN" sz="2800">
                <a:solidFill>
                  <a:srgbClr val="000000"/>
                </a:solidFill>
                <a:latin typeface="Times New Roman" panose="02020603050405020304" pitchFamily="18" charset="0"/>
                <a:cs typeface="Times New Roman" panose="02020603050405020304" pitchFamily="18" charset="0"/>
              </a:rPr>
              <a:t>分布</a:t>
            </a:r>
            <a:r>
              <a:rPr lang="en-US" altLang="zh-CN" sz="2800" i="1"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6" name="矩形 5"/>
          <p:cNvSpPr/>
          <p:nvPr/>
        </p:nvSpPr>
        <p:spPr>
          <a:xfrm>
            <a:off x="3047736" y="1516233"/>
            <a:ext cx="326835"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3047736" y="2067830"/>
            <a:ext cx="32683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95311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40076"/>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700">
                <a:solidFill>
                  <a:srgbClr val="000000"/>
                </a:solidFill>
                <a:latin typeface="Arial" panose="020B0604020202020204" pitchFamily="34" charset="0"/>
                <a:ea typeface="黑体" panose="02010609060101010101" pitchFamily="49" charset="-122"/>
                <a:cs typeface="Times New Roman" panose="02020603050405020304" pitchFamily="18" charset="0"/>
              </a:rPr>
              <a:t>四、离散型随机变量的数字特征</a:t>
            </a:r>
            <a:endParaRPr lang="zh-CN" altLang="zh-CN" sz="27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700" b="1">
                <a:solidFill>
                  <a:srgbClr val="000000"/>
                </a:solidFill>
                <a:latin typeface="Times New Roman" panose="02020603050405020304" pitchFamily="18" charset="0"/>
                <a:cs typeface="Times New Roman" panose="02020603050405020304" pitchFamily="18" charset="0"/>
              </a:rPr>
              <a:t>1</a:t>
            </a:r>
            <a:r>
              <a:rPr lang="en-US" altLang="zh-CN" sz="2700" i="1">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均值</a:t>
            </a:r>
            <a:endParaRPr lang="zh-CN" altLang="zh-CN" sz="27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700">
                <a:solidFill>
                  <a:srgbClr val="000000"/>
                </a:solidFill>
                <a:latin typeface="Times New Roman" panose="02020603050405020304" pitchFamily="18" charset="0"/>
                <a:cs typeface="Times New Roman" panose="02020603050405020304" pitchFamily="18" charset="0"/>
              </a:rPr>
              <a:t>(1)</a:t>
            </a:r>
            <a:r>
              <a:rPr lang="zh-CN" altLang="zh-CN" sz="2700">
                <a:solidFill>
                  <a:srgbClr val="000000"/>
                </a:solidFill>
                <a:latin typeface="Times New Roman" panose="02020603050405020304" pitchFamily="18" charset="0"/>
                <a:cs typeface="Times New Roman" panose="02020603050405020304" pitchFamily="18" charset="0"/>
              </a:rPr>
              <a:t>一般地</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若离散型随机变量</a:t>
            </a:r>
            <a:r>
              <a:rPr lang="en-US" altLang="zh-CN" sz="2700" i="1">
                <a:solidFill>
                  <a:srgbClr val="000000"/>
                </a:solidFill>
                <a:latin typeface="Times New Roman" panose="02020603050405020304" pitchFamily="18" charset="0"/>
                <a:cs typeface="Times New Roman" panose="02020603050405020304" pitchFamily="18" charset="0"/>
              </a:rPr>
              <a:t>X</a:t>
            </a:r>
            <a:r>
              <a:rPr lang="zh-CN" altLang="zh-CN" sz="2700">
                <a:solidFill>
                  <a:srgbClr val="000000"/>
                </a:solidFill>
                <a:latin typeface="Times New Roman" panose="02020603050405020304" pitchFamily="18" charset="0"/>
                <a:cs typeface="Times New Roman" panose="02020603050405020304" pitchFamily="18" charset="0"/>
              </a:rPr>
              <a:t>的分布列如表所示</a:t>
            </a:r>
            <a:r>
              <a:rPr lang="en-US" altLang="zh-CN" sz="2700">
                <a:solidFill>
                  <a:srgbClr val="000000"/>
                </a:solidFill>
                <a:latin typeface="Times New Roman" panose="02020603050405020304" pitchFamily="18" charset="0"/>
                <a:cs typeface="Times New Roman" panose="02020603050405020304" pitchFamily="18" charset="0"/>
              </a:rPr>
              <a:t>,</a:t>
            </a:r>
            <a:endParaRPr lang="zh-CN" altLang="zh-CN" sz="27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1381458447"/>
              </p:ext>
            </p:extLst>
          </p:nvPr>
        </p:nvGraphicFramePr>
        <p:xfrm>
          <a:off x="381000" y="2013648"/>
          <a:ext cx="11430000" cy="911352"/>
        </p:xfrm>
        <a:graphic>
          <a:graphicData uri="http://schemas.openxmlformats.org/drawingml/2006/table">
            <a:tbl>
              <a:tblPr firstRow="1" firstCol="1" bandRow="1"/>
              <a:tblGrid>
                <a:gridCol w="2286000"/>
                <a:gridCol w="2286000"/>
                <a:gridCol w="2286000"/>
                <a:gridCol w="2286000"/>
                <a:gridCol w="2286000"/>
              </a:tblGrid>
              <a:tr h="0">
                <a:tc>
                  <a:txBody>
                    <a:bodyPr/>
                    <a:lstStyle/>
                    <a:p>
                      <a:pPr algn="ctr">
                        <a:lnSpc>
                          <a:spcPct val="115000"/>
                        </a:lnSpc>
                        <a:spcAft>
                          <a:spcPts val="0"/>
                        </a:spcAft>
                        <a:tabLst>
                          <a:tab pos="1188085" algn="l"/>
                          <a:tab pos="2163445" algn="l"/>
                          <a:tab pos="3142615" algn="l"/>
                          <a:tab pos="4190365" algn="l"/>
                        </a:tabLst>
                      </a:pP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6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6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600" i="1"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sz="26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sz="26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6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sz="2600" i="1"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lang="zh-CN" sz="26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b">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4" name="矩形 3"/>
          <p:cNvSpPr>
            <a:spLocks noChangeAspect="1"/>
          </p:cNvSpPr>
          <p:nvPr/>
        </p:nvSpPr>
        <p:spPr>
          <a:xfrm>
            <a:off x="381000" y="2970174"/>
            <a:ext cx="11430000" cy="33332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700">
                <a:solidFill>
                  <a:srgbClr val="000000"/>
                </a:solidFill>
                <a:latin typeface="Times New Roman" panose="02020603050405020304" pitchFamily="18" charset="0"/>
                <a:cs typeface="Times New Roman" panose="02020603050405020304" pitchFamily="18" charset="0"/>
              </a:rPr>
              <a:t>则称</a:t>
            </a:r>
            <a:r>
              <a:rPr lang="en-US" altLang="zh-CN" sz="2700" i="1">
                <a:solidFill>
                  <a:srgbClr val="000000"/>
                </a:solidFill>
                <a:latin typeface="Times New Roman" panose="02020603050405020304" pitchFamily="18" charset="0"/>
                <a:cs typeface="Times New Roman" panose="02020603050405020304" pitchFamily="18" charset="0"/>
              </a:rPr>
              <a:t>E</a:t>
            </a:r>
            <a:r>
              <a:rPr lang="en-US" altLang="zh-CN" sz="2700">
                <a:solidFill>
                  <a:srgbClr val="000000"/>
                </a:solidFill>
                <a:latin typeface="Times New Roman" panose="02020603050405020304" pitchFamily="18" charset="0"/>
                <a:cs typeface="Times New Roman" panose="02020603050405020304" pitchFamily="18" charset="0"/>
              </a:rPr>
              <a:t>(</a:t>
            </a:r>
            <a:r>
              <a:rPr lang="en-US" altLang="zh-CN" sz="2700" i="1">
                <a:solidFill>
                  <a:srgbClr val="000000"/>
                </a:solidFill>
                <a:latin typeface="Times New Roman" panose="02020603050405020304" pitchFamily="18" charset="0"/>
                <a:cs typeface="Times New Roman" panose="02020603050405020304" pitchFamily="18" charset="0"/>
              </a:rPr>
              <a:t>X</a:t>
            </a:r>
            <a:r>
              <a:rPr lang="en-US" altLang="zh-CN" sz="2700">
                <a:solidFill>
                  <a:srgbClr val="000000"/>
                </a:solidFill>
                <a:latin typeface="Times New Roman" panose="02020603050405020304" pitchFamily="18" charset="0"/>
                <a:cs typeface="Times New Roman" panose="02020603050405020304" pitchFamily="18" charset="0"/>
              </a:rPr>
              <a:t>)</a:t>
            </a:r>
            <a:r>
              <a:rPr lang="en-US" altLang="zh-CN" sz="2700" i="1">
                <a:solidFill>
                  <a:srgbClr val="000000"/>
                </a:solidFill>
                <a:latin typeface="Times New Roman" panose="02020603050405020304" pitchFamily="18" charset="0"/>
                <a:cs typeface="Times New Roman" panose="02020603050405020304" pitchFamily="18" charset="0"/>
              </a:rPr>
              <a:t>=x</a:t>
            </a:r>
            <a:r>
              <a:rPr lang="en-US" altLang="zh-CN" sz="2700" baseline="-25000">
                <a:solidFill>
                  <a:srgbClr val="000000"/>
                </a:solidFill>
                <a:latin typeface="Times New Roman" panose="02020603050405020304" pitchFamily="18" charset="0"/>
                <a:cs typeface="Times New Roman" panose="02020603050405020304" pitchFamily="18" charset="0"/>
              </a:rPr>
              <a:t>1</a:t>
            </a:r>
            <a:r>
              <a:rPr lang="en-US" altLang="zh-CN" sz="2700" i="1">
                <a:solidFill>
                  <a:srgbClr val="000000"/>
                </a:solidFill>
                <a:latin typeface="Times New Roman" panose="02020603050405020304" pitchFamily="18" charset="0"/>
                <a:cs typeface="Times New Roman" panose="02020603050405020304" pitchFamily="18" charset="0"/>
              </a:rPr>
              <a:t>p</a:t>
            </a:r>
            <a:r>
              <a:rPr lang="en-US" altLang="zh-CN" sz="2700" baseline="-25000">
                <a:solidFill>
                  <a:srgbClr val="000000"/>
                </a:solidFill>
                <a:latin typeface="Times New Roman" panose="02020603050405020304" pitchFamily="18" charset="0"/>
                <a:cs typeface="Times New Roman" panose="02020603050405020304" pitchFamily="18" charset="0"/>
              </a:rPr>
              <a:t>1</a:t>
            </a:r>
            <a:r>
              <a:rPr lang="en-US" altLang="zh-CN" sz="2700" i="1">
                <a:solidFill>
                  <a:srgbClr val="000000"/>
                </a:solidFill>
                <a:latin typeface="Times New Roman" panose="02020603050405020304" pitchFamily="18" charset="0"/>
                <a:cs typeface="Times New Roman" panose="02020603050405020304" pitchFamily="18" charset="0"/>
              </a:rPr>
              <a:t>+x</a:t>
            </a:r>
            <a:r>
              <a:rPr lang="en-US" altLang="zh-CN" sz="2700" baseline="-25000">
                <a:solidFill>
                  <a:srgbClr val="000000"/>
                </a:solidFill>
                <a:latin typeface="Times New Roman" panose="02020603050405020304" pitchFamily="18" charset="0"/>
                <a:cs typeface="Times New Roman" panose="02020603050405020304" pitchFamily="18" charset="0"/>
              </a:rPr>
              <a:t>2</a:t>
            </a:r>
            <a:r>
              <a:rPr lang="en-US" altLang="zh-CN" sz="2700" i="1">
                <a:solidFill>
                  <a:srgbClr val="000000"/>
                </a:solidFill>
                <a:latin typeface="Times New Roman" panose="02020603050405020304" pitchFamily="18" charset="0"/>
                <a:cs typeface="Times New Roman" panose="02020603050405020304" pitchFamily="18" charset="0"/>
              </a:rPr>
              <a:t>p</a:t>
            </a:r>
            <a:r>
              <a:rPr lang="en-US" altLang="zh-CN" sz="2700" baseline="-25000">
                <a:solidFill>
                  <a:srgbClr val="000000"/>
                </a:solidFill>
                <a:latin typeface="Times New Roman" panose="02020603050405020304" pitchFamily="18" charset="0"/>
                <a:cs typeface="Times New Roman" panose="02020603050405020304" pitchFamily="18" charset="0"/>
              </a:rPr>
              <a:t>2</a:t>
            </a:r>
            <a:r>
              <a:rPr lang="en-US" altLang="zh-CN" sz="2700" i="1">
                <a:solidFill>
                  <a:srgbClr val="000000"/>
                </a:solidFill>
                <a:latin typeface="Times New Roman" panose="02020603050405020304" pitchFamily="18" charset="0"/>
                <a:cs typeface="Times New Roman" panose="02020603050405020304" pitchFamily="18" charset="0"/>
              </a:rPr>
              <a:t>+</a:t>
            </a:r>
            <a:r>
              <a:rPr lang="en-US" altLang="zh-CN" sz="27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700" i="1">
                <a:solidFill>
                  <a:srgbClr val="000000"/>
                </a:solidFill>
                <a:latin typeface="Times New Roman" panose="02020603050405020304" pitchFamily="18" charset="0"/>
                <a:cs typeface="Times New Roman" panose="02020603050405020304" pitchFamily="18" charset="0"/>
              </a:rPr>
              <a:t>+</a:t>
            </a:r>
            <a:r>
              <a:rPr lang="en-US" altLang="zh-CN" sz="2700" i="1" smtClean="0">
                <a:solidFill>
                  <a:srgbClr val="000000"/>
                </a:solidFill>
                <a:latin typeface="Times New Roman" panose="02020603050405020304" pitchFamily="18" charset="0"/>
                <a:cs typeface="Times New Roman" panose="02020603050405020304" pitchFamily="18" charset="0"/>
              </a:rPr>
              <a:t>x</a:t>
            </a:r>
            <a:r>
              <a:rPr lang="en-US" altLang="zh-CN" sz="2700" i="1" baseline="-25000" smtClean="0">
                <a:solidFill>
                  <a:srgbClr val="000000"/>
                </a:solidFill>
                <a:latin typeface="Times New Roman" panose="02020603050405020304" pitchFamily="18" charset="0"/>
                <a:cs typeface="Times New Roman" panose="02020603050405020304" pitchFamily="18" charset="0"/>
              </a:rPr>
              <a:t>n</a:t>
            </a:r>
            <a:r>
              <a:rPr lang="en-US" altLang="zh-CN" sz="2700" i="1" smtClean="0">
                <a:solidFill>
                  <a:srgbClr val="000000"/>
                </a:solidFill>
                <a:latin typeface="Times New Roman" panose="02020603050405020304" pitchFamily="18" charset="0"/>
                <a:cs typeface="Times New Roman" panose="02020603050405020304" pitchFamily="18" charset="0"/>
              </a:rPr>
              <a:t>p</a:t>
            </a:r>
            <a:r>
              <a:rPr lang="en-US" altLang="zh-CN" sz="2700" i="1" baseline="-25000" smtClean="0">
                <a:solidFill>
                  <a:srgbClr val="000000"/>
                </a:solidFill>
                <a:latin typeface="Times New Roman" panose="02020603050405020304" pitchFamily="18" charset="0"/>
                <a:cs typeface="Times New Roman" panose="02020603050405020304" pitchFamily="18" charset="0"/>
              </a:rPr>
              <a:t>n</a:t>
            </a:r>
            <a:r>
              <a:rPr lang="en-US" altLang="zh-CN" sz="2700" i="1" smtClean="0">
                <a:solidFill>
                  <a:srgbClr val="000000"/>
                </a:solidFill>
                <a:latin typeface="Times New Roman" panose="02020603050405020304" pitchFamily="18" charset="0"/>
                <a:cs typeface="Times New Roman" panose="02020603050405020304" pitchFamily="18" charset="0"/>
              </a:rPr>
              <a:t>=       x</a:t>
            </a:r>
            <a:r>
              <a:rPr lang="en-US" altLang="zh-CN" sz="2700" i="1" baseline="-25000" smtClean="0">
                <a:solidFill>
                  <a:srgbClr val="000000"/>
                </a:solidFill>
                <a:latin typeface="Times New Roman" panose="02020603050405020304" pitchFamily="18" charset="0"/>
                <a:cs typeface="Times New Roman" panose="02020603050405020304" pitchFamily="18" charset="0"/>
              </a:rPr>
              <a:t>i</a:t>
            </a:r>
            <a:r>
              <a:rPr lang="en-US" altLang="zh-CN" sz="2700" i="1" smtClean="0">
                <a:solidFill>
                  <a:srgbClr val="000000"/>
                </a:solidFill>
                <a:latin typeface="Times New Roman" panose="02020603050405020304" pitchFamily="18" charset="0"/>
                <a:cs typeface="Times New Roman" panose="02020603050405020304" pitchFamily="18" charset="0"/>
              </a:rPr>
              <a:t>p</a:t>
            </a:r>
            <a:r>
              <a:rPr lang="en-US" altLang="zh-CN" sz="2700" i="1" baseline="-25000" smtClean="0">
                <a:solidFill>
                  <a:srgbClr val="000000"/>
                </a:solidFill>
                <a:latin typeface="Times New Roman" panose="02020603050405020304" pitchFamily="18" charset="0"/>
                <a:cs typeface="Times New Roman" panose="02020603050405020304" pitchFamily="18" charset="0"/>
              </a:rPr>
              <a:t>i</a:t>
            </a:r>
            <a:r>
              <a:rPr lang="zh-CN" altLang="zh-CN" sz="2700">
                <a:solidFill>
                  <a:srgbClr val="000000"/>
                </a:solidFill>
                <a:latin typeface="Times New Roman" panose="02020603050405020304" pitchFamily="18" charset="0"/>
                <a:cs typeface="Times New Roman" panose="02020603050405020304" pitchFamily="18" charset="0"/>
              </a:rPr>
              <a:t>为随机变量</a:t>
            </a:r>
            <a:r>
              <a:rPr lang="en-US" altLang="zh-CN" sz="2700" i="1">
                <a:solidFill>
                  <a:srgbClr val="000000"/>
                </a:solidFill>
                <a:latin typeface="Times New Roman" panose="02020603050405020304" pitchFamily="18" charset="0"/>
                <a:cs typeface="Times New Roman" panose="02020603050405020304" pitchFamily="18" charset="0"/>
              </a:rPr>
              <a:t>X</a:t>
            </a:r>
            <a:r>
              <a:rPr lang="zh-CN" altLang="zh-CN" sz="2700">
                <a:solidFill>
                  <a:srgbClr val="000000"/>
                </a:solidFill>
                <a:latin typeface="Times New Roman" panose="02020603050405020304" pitchFamily="18" charset="0"/>
                <a:cs typeface="Times New Roman" panose="02020603050405020304" pitchFamily="18" charset="0"/>
              </a:rPr>
              <a:t>的均值或数学期望</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数学期望简称期望</a:t>
            </a:r>
            <a:r>
              <a:rPr lang="en-US" altLang="zh-CN" sz="2700" i="1">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均值是随机变量可能取值关于取值概率的加权平均数</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它综合了随机变量的取值和取值的概率</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反映了随机变量取值的平均水平</a:t>
            </a:r>
            <a:r>
              <a:rPr lang="en-US" altLang="zh-CN" sz="2700" i="1">
                <a:solidFill>
                  <a:srgbClr val="000000"/>
                </a:solidFill>
                <a:latin typeface="Times New Roman" panose="02020603050405020304" pitchFamily="18" charset="0"/>
                <a:cs typeface="Times New Roman" panose="02020603050405020304" pitchFamily="18" charset="0"/>
              </a:rPr>
              <a:t>.</a:t>
            </a:r>
            <a:endParaRPr lang="zh-CN" altLang="zh-CN" sz="27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700">
                <a:solidFill>
                  <a:srgbClr val="000000"/>
                </a:solidFill>
                <a:latin typeface="Times New Roman" panose="02020603050405020304" pitchFamily="18" charset="0"/>
                <a:cs typeface="Times New Roman" panose="02020603050405020304" pitchFamily="18" charset="0"/>
              </a:rPr>
              <a:t>(2)</a:t>
            </a:r>
            <a:r>
              <a:rPr lang="zh-CN" altLang="zh-CN" sz="2700">
                <a:solidFill>
                  <a:srgbClr val="000000"/>
                </a:solidFill>
                <a:latin typeface="Times New Roman" panose="02020603050405020304" pitchFamily="18" charset="0"/>
                <a:cs typeface="Times New Roman" panose="02020603050405020304" pitchFamily="18" charset="0"/>
              </a:rPr>
              <a:t>一般地</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如果随机变量</a:t>
            </a:r>
            <a:r>
              <a:rPr lang="en-US" altLang="zh-CN" sz="2700" i="1">
                <a:solidFill>
                  <a:srgbClr val="000000"/>
                </a:solidFill>
                <a:latin typeface="Times New Roman" panose="02020603050405020304" pitchFamily="18" charset="0"/>
                <a:cs typeface="Times New Roman" panose="02020603050405020304" pitchFamily="18" charset="0"/>
              </a:rPr>
              <a:t>X</a:t>
            </a:r>
            <a:r>
              <a:rPr lang="zh-CN" altLang="zh-CN" sz="2700">
                <a:solidFill>
                  <a:srgbClr val="000000"/>
                </a:solidFill>
                <a:latin typeface="Times New Roman" panose="02020603050405020304" pitchFamily="18" charset="0"/>
                <a:cs typeface="Times New Roman" panose="02020603050405020304" pitchFamily="18" charset="0"/>
              </a:rPr>
              <a:t>服从两点分布</a:t>
            </a:r>
            <a:r>
              <a:rPr lang="en-US" altLang="zh-CN" sz="2700">
                <a:solidFill>
                  <a:srgbClr val="000000"/>
                </a:solidFill>
                <a:latin typeface="Times New Roman" panose="02020603050405020304" pitchFamily="18" charset="0"/>
                <a:cs typeface="Times New Roman" panose="02020603050405020304" pitchFamily="18" charset="0"/>
              </a:rPr>
              <a:t>,</a:t>
            </a:r>
            <a:r>
              <a:rPr lang="zh-CN" altLang="zh-CN" sz="2700">
                <a:solidFill>
                  <a:srgbClr val="000000"/>
                </a:solidFill>
                <a:latin typeface="Times New Roman" panose="02020603050405020304" pitchFamily="18" charset="0"/>
                <a:cs typeface="Times New Roman" panose="02020603050405020304" pitchFamily="18" charset="0"/>
              </a:rPr>
              <a:t>那么</a:t>
            </a:r>
            <a:r>
              <a:rPr lang="en-US" altLang="zh-CN" sz="2700" i="1">
                <a:solidFill>
                  <a:srgbClr val="000000"/>
                </a:solidFill>
                <a:latin typeface="Times New Roman" panose="02020603050405020304" pitchFamily="18" charset="0"/>
                <a:cs typeface="Times New Roman" panose="02020603050405020304" pitchFamily="18" charset="0"/>
              </a:rPr>
              <a:t>E</a:t>
            </a:r>
            <a:r>
              <a:rPr lang="en-US" altLang="zh-CN" sz="2700">
                <a:solidFill>
                  <a:srgbClr val="000000"/>
                </a:solidFill>
                <a:latin typeface="Times New Roman" panose="02020603050405020304" pitchFamily="18" charset="0"/>
                <a:cs typeface="Times New Roman" panose="02020603050405020304" pitchFamily="18" charset="0"/>
              </a:rPr>
              <a:t>(</a:t>
            </a:r>
            <a:r>
              <a:rPr lang="en-US" altLang="zh-CN" sz="2700" i="1">
                <a:solidFill>
                  <a:srgbClr val="000000"/>
                </a:solidFill>
                <a:latin typeface="Times New Roman" panose="02020603050405020304" pitchFamily="18" charset="0"/>
                <a:cs typeface="Times New Roman" panose="02020603050405020304" pitchFamily="18" charset="0"/>
              </a:rPr>
              <a:t>X</a:t>
            </a:r>
            <a:r>
              <a:rPr lang="en-US" altLang="zh-CN" sz="2700">
                <a:solidFill>
                  <a:srgbClr val="000000"/>
                </a:solidFill>
                <a:latin typeface="Times New Roman" panose="02020603050405020304" pitchFamily="18" charset="0"/>
                <a:cs typeface="Times New Roman" panose="02020603050405020304" pitchFamily="18" charset="0"/>
              </a:rPr>
              <a:t>)</a:t>
            </a:r>
            <a:r>
              <a:rPr lang="en-US" altLang="zh-CN" sz="2700" i="1">
                <a:solidFill>
                  <a:srgbClr val="000000"/>
                </a:solidFill>
                <a:latin typeface="Times New Roman" panose="02020603050405020304" pitchFamily="18" charset="0"/>
                <a:cs typeface="Times New Roman" panose="02020603050405020304" pitchFamily="18" charset="0"/>
              </a:rPr>
              <a:t>=p.</a:t>
            </a:r>
            <a:endParaRPr lang="zh-CN" altLang="zh-CN" sz="27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700">
                <a:solidFill>
                  <a:srgbClr val="000000"/>
                </a:solidFill>
                <a:latin typeface="Times New Roman" panose="02020603050405020304" pitchFamily="18" charset="0"/>
                <a:cs typeface="Times New Roman" panose="02020603050405020304" pitchFamily="18" charset="0"/>
              </a:rPr>
              <a:t>(3</a:t>
            </a:r>
            <a:r>
              <a:rPr lang="en-US" altLang="zh-CN" sz="2700" smtClean="0">
                <a:solidFill>
                  <a:srgbClr val="000000"/>
                </a:solidFill>
                <a:latin typeface="Times New Roman" panose="02020603050405020304" pitchFamily="18" charset="0"/>
                <a:cs typeface="Times New Roman" panose="02020603050405020304" pitchFamily="18" charset="0"/>
              </a:rPr>
              <a:t>)</a:t>
            </a:r>
            <a:r>
              <a:rPr lang="zh-CN" altLang="en-US" sz="2700">
                <a:solidFill>
                  <a:srgbClr val="000000"/>
                </a:solidFill>
                <a:latin typeface="Times New Roman" panose="02020603050405020304" pitchFamily="18" charset="0"/>
                <a:cs typeface="Times New Roman" panose="02020603050405020304" pitchFamily="18" charset="0"/>
              </a:rPr>
              <a:t>均值的性质</a:t>
            </a:r>
            <a:r>
              <a:rPr lang="en-US" altLang="zh-CN" sz="2700" smtClean="0">
                <a:solidFill>
                  <a:srgbClr val="000000"/>
                </a:solidFill>
                <a:latin typeface="Times New Roman" panose="02020603050405020304" pitchFamily="18" charset="0"/>
                <a:cs typeface="Times New Roman" panose="02020603050405020304" pitchFamily="18" charset="0"/>
              </a:rPr>
              <a:t>:</a:t>
            </a:r>
            <a:endParaRPr lang="zh-CN" altLang="zh-CN" sz="27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700" i="1">
                <a:solidFill>
                  <a:srgbClr val="000000"/>
                </a:solidFill>
                <a:latin typeface="Times New Roman" panose="02020603050405020304" pitchFamily="18" charset="0"/>
                <a:cs typeface="Times New Roman" panose="02020603050405020304" pitchFamily="18" charset="0"/>
              </a:rPr>
              <a:t>E</a:t>
            </a:r>
            <a:r>
              <a:rPr lang="en-US" altLang="zh-CN" sz="2700">
                <a:solidFill>
                  <a:srgbClr val="000000"/>
                </a:solidFill>
                <a:latin typeface="Times New Roman" panose="02020603050405020304" pitchFamily="18" charset="0"/>
                <a:cs typeface="Times New Roman" panose="02020603050405020304" pitchFamily="18" charset="0"/>
              </a:rPr>
              <a:t>(</a:t>
            </a:r>
            <a:r>
              <a:rPr lang="en-US" altLang="zh-CN" sz="2700" i="1">
                <a:solidFill>
                  <a:srgbClr val="000000"/>
                </a:solidFill>
                <a:latin typeface="Times New Roman" panose="02020603050405020304" pitchFamily="18" charset="0"/>
                <a:cs typeface="Times New Roman" panose="02020603050405020304" pitchFamily="18" charset="0"/>
              </a:rPr>
              <a:t>aX+b</a:t>
            </a:r>
            <a:r>
              <a:rPr lang="en-US" altLang="zh-CN" sz="2700">
                <a:solidFill>
                  <a:srgbClr val="000000"/>
                </a:solidFill>
                <a:latin typeface="Times New Roman" panose="02020603050405020304" pitchFamily="18" charset="0"/>
                <a:cs typeface="Times New Roman" panose="02020603050405020304" pitchFamily="18" charset="0"/>
              </a:rPr>
              <a:t>)</a:t>
            </a:r>
            <a:r>
              <a:rPr lang="en-US" altLang="zh-CN" sz="2700" i="1">
                <a:solidFill>
                  <a:srgbClr val="000000"/>
                </a:solidFill>
                <a:latin typeface="Times New Roman" panose="02020603050405020304" pitchFamily="18" charset="0"/>
                <a:cs typeface="Times New Roman" panose="02020603050405020304" pitchFamily="18" charset="0"/>
              </a:rPr>
              <a:t>=aE</a:t>
            </a:r>
            <a:r>
              <a:rPr lang="en-US" altLang="zh-CN" sz="2700">
                <a:solidFill>
                  <a:srgbClr val="000000"/>
                </a:solidFill>
                <a:latin typeface="Times New Roman" panose="02020603050405020304" pitchFamily="18" charset="0"/>
                <a:cs typeface="Times New Roman" panose="02020603050405020304" pitchFamily="18" charset="0"/>
              </a:rPr>
              <a:t>(</a:t>
            </a:r>
            <a:r>
              <a:rPr lang="en-US" altLang="zh-CN" sz="2700" i="1">
                <a:solidFill>
                  <a:srgbClr val="000000"/>
                </a:solidFill>
                <a:latin typeface="Times New Roman" panose="02020603050405020304" pitchFamily="18" charset="0"/>
                <a:cs typeface="Times New Roman" panose="02020603050405020304" pitchFamily="18" charset="0"/>
              </a:rPr>
              <a:t>X</a:t>
            </a:r>
            <a:r>
              <a:rPr lang="en-US" altLang="zh-CN" sz="2700">
                <a:solidFill>
                  <a:srgbClr val="000000"/>
                </a:solidFill>
                <a:latin typeface="Times New Roman" panose="02020603050405020304" pitchFamily="18" charset="0"/>
                <a:cs typeface="Times New Roman" panose="02020603050405020304" pitchFamily="18" charset="0"/>
              </a:rPr>
              <a:t>)</a:t>
            </a:r>
            <a:r>
              <a:rPr lang="en-US" altLang="zh-CN" sz="2700" i="1">
                <a:solidFill>
                  <a:srgbClr val="000000"/>
                </a:solidFill>
                <a:latin typeface="Times New Roman" panose="02020603050405020304" pitchFamily="18" charset="0"/>
                <a:cs typeface="Times New Roman" panose="02020603050405020304" pitchFamily="18" charset="0"/>
              </a:rPr>
              <a:t>+b.</a:t>
            </a:r>
            <a:endParaRPr lang="zh-CN" altLang="zh-CN" sz="27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721123762"/>
              </p:ext>
            </p:extLst>
          </p:nvPr>
        </p:nvGraphicFramePr>
        <p:xfrm>
          <a:off x="4907406" y="2856676"/>
          <a:ext cx="859155" cy="860902"/>
        </p:xfrm>
        <a:graphic>
          <a:graphicData uri="http://schemas.openxmlformats.org/presentationml/2006/ole">
            <mc:AlternateContent xmlns:mc="http://schemas.openxmlformats.org/markup-compatibility/2006">
              <mc:Choice xmlns:v="urn:schemas-microsoft-com:vml" Requires="v">
                <p:oleObj spid="_x0000_s5155" name="文档" r:id="rId4" imgW="399226" imgH="398969" progId="Word.Document.12">
                  <p:embed/>
                </p:oleObj>
              </mc:Choice>
              <mc:Fallback>
                <p:oleObj name="文档" r:id="rId4" imgW="399226" imgH="398969" progId="Word.Document.12">
                  <p:embed/>
                  <p:pic>
                    <p:nvPicPr>
                      <p:cNvPr id="0" name=""/>
                      <p:cNvPicPr>
                        <a:picLocks noChangeAspect="1" noChangeArrowheads="1"/>
                      </p:cNvPicPr>
                      <p:nvPr/>
                    </p:nvPicPr>
                    <p:blipFill>
                      <a:blip r:embed="rId5"/>
                      <a:srcRect/>
                      <a:stretch>
                        <a:fillRect/>
                      </a:stretch>
                    </p:blipFill>
                    <p:spPr bwMode="auto">
                      <a:xfrm>
                        <a:off x="4907406" y="2856676"/>
                        <a:ext cx="859155" cy="860902"/>
                      </a:xfrm>
                      <a:prstGeom prst="rect">
                        <a:avLst/>
                      </a:prstGeom>
                      <a:noFill/>
                    </p:spPr>
                  </p:pic>
                </p:oleObj>
              </mc:Fallback>
            </mc:AlternateContent>
          </a:graphicData>
        </a:graphic>
      </p:graphicFrame>
    </p:spTree>
    <p:extLst>
      <p:ext uri="{BB962C8B-B14F-4D97-AF65-F5344CB8AC3E}">
        <p14:creationId xmlns:p14="http://schemas.microsoft.com/office/powerpoint/2010/main" val="26575343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813825"/>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方差</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设离散型随机变量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的分布列如表所示</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表格 2"/>
          <p:cNvGraphicFramePr>
            <a:graphicFrameLocks noGrp="1" noChangeAspect="1"/>
          </p:cNvGraphicFramePr>
          <p:nvPr>
            <p:extLst>
              <p:ext uri="{D42A27DB-BD31-4B8C-83A1-F6EECF244321}">
                <p14:modId xmlns:p14="http://schemas.microsoft.com/office/powerpoint/2010/main" val="1614297950"/>
              </p:ext>
            </p:extLst>
          </p:nvPr>
        </p:nvGraphicFramePr>
        <p:xfrm>
          <a:off x="381000" y="2048384"/>
          <a:ext cx="11430000" cy="981456"/>
        </p:xfrm>
        <a:graphic>
          <a:graphicData uri="http://schemas.openxmlformats.org/drawingml/2006/table">
            <a:tbl>
              <a:tblPr firstRow="1" firstCol="1" bandRow="1"/>
              <a:tblGrid>
                <a:gridCol w="2286000"/>
                <a:gridCol w="2286000"/>
                <a:gridCol w="2286000"/>
                <a:gridCol w="2286000"/>
                <a:gridCol w="2286000"/>
              </a:tblGrid>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a:t>
                      </a:r>
                      <a:r>
                        <a:rPr lang="en-US" sz="2800" i="1"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sz="28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sz="2800"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t>
                      </a:r>
                      <a:r>
                        <a:rPr lang="en-US" sz="2800" i="1" baseline="-250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950745057"/>
              </p:ext>
            </p:extLst>
          </p:nvPr>
        </p:nvGraphicFramePr>
        <p:xfrm>
          <a:off x="463550" y="3067443"/>
          <a:ext cx="11228388" cy="2524125"/>
        </p:xfrm>
        <a:graphic>
          <a:graphicData uri="http://schemas.openxmlformats.org/presentationml/2006/ole">
            <mc:AlternateContent xmlns:mc="http://schemas.openxmlformats.org/markup-compatibility/2006">
              <mc:Choice xmlns:v="urn:schemas-microsoft-com:vml" Requires="v">
                <p:oleObj spid="_x0000_s6179" name="文档" r:id="rId4" imgW="4510061" imgH="1018481" progId="Word.Document.12">
                  <p:embed/>
                </p:oleObj>
              </mc:Choice>
              <mc:Fallback>
                <p:oleObj name="文档" r:id="rId4" imgW="4510061" imgH="1018481" progId="Word.Document.12">
                  <p:embed/>
                  <p:pic>
                    <p:nvPicPr>
                      <p:cNvPr id="0" name=""/>
                      <p:cNvPicPr/>
                      <p:nvPr/>
                    </p:nvPicPr>
                    <p:blipFill>
                      <a:blip r:embed="rId5"/>
                      <a:stretch>
                        <a:fillRect/>
                      </a:stretch>
                    </p:blipFill>
                    <p:spPr>
                      <a:xfrm>
                        <a:off x="463550" y="3067443"/>
                        <a:ext cx="11228388" cy="2524125"/>
                      </a:xfrm>
                      <a:prstGeom prst="rect">
                        <a:avLst/>
                      </a:prstGeom>
                    </p:spPr>
                  </p:pic>
                </p:oleObj>
              </mc:Fallback>
            </mc:AlternateContent>
          </a:graphicData>
        </a:graphic>
      </p:graphicFrame>
    </p:spTree>
    <p:extLst>
      <p:ext uri="{BB962C8B-B14F-4D97-AF65-F5344CB8AC3E}">
        <p14:creationId xmlns:p14="http://schemas.microsoft.com/office/powerpoint/2010/main" val="36436355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203086"/>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随机变量的方差和标准差都可以度量随机变量取值与其均值的偏离程度</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反映了随机变量取值的离散程度</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方差或标准差越小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随机变量的取值越集中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方差或标准差越大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随机变量的取值越分散</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方差的性质</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aX+b</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7354741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067581"/>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五、二项分布与超几何分布</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重伯努利试验</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我们把只包含两个可能结果的试验叫做伯努利试验</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我们将一个伯努利试验独立地重复进行</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次所组成的随机试验称为</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重伯努利试验</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smtClean="0">
                <a:solidFill>
                  <a:srgbClr val="000000"/>
                </a:solidFill>
                <a:latin typeface="Times New Roman" panose="02020603050405020304" pitchFamily="18" charset="0"/>
                <a:cs typeface="Times New Roman" panose="02020603050405020304" pitchFamily="18" charset="0"/>
              </a:rPr>
              <a:t>重</a:t>
            </a:r>
            <a:r>
              <a:rPr lang="zh-CN" altLang="en-US" sz="2800">
                <a:solidFill>
                  <a:srgbClr val="000000"/>
                </a:solidFill>
                <a:latin typeface="Times New Roman" panose="02020603050405020304" pitchFamily="18" charset="0"/>
                <a:cs typeface="Times New Roman" panose="02020603050405020304" pitchFamily="18" charset="0"/>
              </a:rPr>
              <a:t>伯努利试验的特征</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cs typeface="Times New Roman" panose="02020603050405020304" pitchFamily="18" charset="0"/>
              </a:rPr>
              <a:t>同一个伯努利试验重复做</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次</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cs typeface="Times New Roman" panose="02020603050405020304" pitchFamily="18" charset="0"/>
              </a:rPr>
              <a:t>各次试验的结果</a:t>
            </a:r>
            <a:r>
              <a:rPr lang="zh-CN" altLang="zh-CN" sz="2800" smtClean="0">
                <a:solidFill>
                  <a:srgbClr val="000000"/>
                </a:solidFill>
                <a:latin typeface="Times New Roman" panose="02020603050405020304" pitchFamily="18" charset="0"/>
                <a:cs typeface="Times New Roman" panose="02020603050405020304" pitchFamily="18" charset="0"/>
              </a:rPr>
              <a:t>相互</a:t>
            </a:r>
            <a:r>
              <a:rPr lang="en-US" altLang="zh-CN" sz="2800" smtClean="0">
                <a:solidFill>
                  <a:srgbClr val="000000"/>
                </a:solidFill>
                <a:latin typeface="Times New Roman" panose="02020603050405020304" pitchFamily="18" charset="0"/>
                <a:cs typeface="Times New Roman" panose="02020603050405020304" pitchFamily="18" charset="0"/>
              </a:rPr>
              <a:t> </a:t>
            </a:r>
            <a:r>
              <a:rPr lang="zh-CN" altLang="zh-CN" sz="2800" smtClean="0">
                <a:solidFill>
                  <a:srgbClr val="FF0000"/>
                </a:solidFill>
                <a:latin typeface="Times New Roman" panose="02020603050405020304" pitchFamily="18" charset="0"/>
                <a:cs typeface="Times New Roman" panose="02020603050405020304" pitchFamily="18" charset="0"/>
              </a:rPr>
              <a:t>独立</a:t>
            </a:r>
            <a:r>
              <a:rPr lang="en-US" altLang="zh-CN" sz="2800" smtClean="0">
                <a:solidFill>
                  <a:srgbClr val="FF0000"/>
                </a:solid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4049222" y="4378694"/>
            <a:ext cx="805808"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4049221" y="4930291"/>
            <a:ext cx="80580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84144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049630"/>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二项分布</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一般地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在</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重伯努利试验中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设每次试验中事件</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发生的概率为</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&lt;p&lt;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用</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表示事件</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发生的次数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的分布列为</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X=k</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     p</a:t>
            </a:r>
            <a:r>
              <a:rPr lang="en-US" altLang="zh-CN" sz="2800" i="1" baseline="30000" smtClean="0">
                <a:solidFill>
                  <a:srgbClr val="000000"/>
                </a:solidFill>
                <a:latin typeface="Times New Roman" panose="02020603050405020304" pitchFamily="18" charset="0"/>
                <a:cs typeface="Times New Roman" panose="02020603050405020304" pitchFamily="18" charset="0"/>
              </a:rPr>
              <a:t>k</a:t>
            </a:r>
            <a:r>
              <a:rPr lang="en-US" altLang="zh-CN" sz="2800" smtClean="0">
                <a:solidFill>
                  <a:srgbClr val="000000"/>
                </a:solidFill>
                <a:latin typeface="Times New Roman" panose="02020603050405020304" pitchFamily="18" charset="0"/>
                <a:cs typeface="Times New Roman" panose="02020603050405020304" pitchFamily="18" charset="0"/>
              </a:rPr>
              <a:t>(1</a:t>
            </a:r>
            <a:r>
              <a:rPr lang="en-US" altLang="zh-CN" sz="2800" i="1" smtClean="0">
                <a:solidFill>
                  <a:srgbClr val="000000"/>
                </a:solidFill>
                <a:latin typeface="Times New Roman" panose="02020603050405020304" pitchFamily="18" charset="0"/>
                <a:cs typeface="Times New Roman" panose="02020603050405020304" pitchFamily="18" charset="0"/>
              </a:rPr>
              <a:t>-p</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baseline="30000" smtClean="0">
                <a:solidFill>
                  <a:srgbClr val="000000"/>
                </a:solidFill>
                <a:latin typeface="Times New Roman" panose="02020603050405020304" pitchFamily="18" charset="0"/>
                <a:cs typeface="Times New Roman" panose="02020603050405020304" pitchFamily="18" charset="0"/>
              </a:rPr>
              <a:t>n-k</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k=</a:t>
            </a:r>
            <a:r>
              <a:rPr lang="en-US" altLang="zh-CN" sz="2800" smtClean="0">
                <a:solidFill>
                  <a:srgbClr val="000000"/>
                </a:solidFill>
                <a:latin typeface="Times New Roman" panose="02020603050405020304" pitchFamily="18" charset="0"/>
                <a:cs typeface="Times New Roman" panose="02020603050405020304" pitchFamily="18" charset="0"/>
              </a:rPr>
              <a:t>0,1,2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如果随机变量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的分布列具有上式的形式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则称随机变量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服从二项分布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记作</a:t>
            </a:r>
            <a:r>
              <a:rPr lang="en-US" altLang="zh-CN" sz="2800" i="1">
                <a:solidFill>
                  <a:srgbClr val="000000"/>
                </a:solidFill>
                <a:latin typeface="Times New Roman" panose="02020603050405020304" pitchFamily="18" charset="0"/>
                <a:cs typeface="Times New Roman" panose="02020603050405020304" pitchFamily="18" charset="0"/>
              </a:rPr>
              <a:t>X~B</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服从两点分布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均值和方差分别为</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cs typeface="Times New Roman" panose="02020603050405020304" pitchFamily="18" charset="0"/>
              </a:rPr>
              <a:t>二项分布的均值与方差</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如果</a:t>
            </a:r>
            <a:r>
              <a:rPr lang="en-US" altLang="zh-CN" sz="2800" i="1">
                <a:solidFill>
                  <a:srgbClr val="000000"/>
                </a:solidFill>
                <a:latin typeface="Times New Roman" panose="02020603050405020304" pitchFamily="18" charset="0"/>
                <a:cs typeface="Times New Roman" panose="02020603050405020304" pitchFamily="18" charset="0"/>
              </a:rPr>
              <a:t>X~B</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那么</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=np</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458772976"/>
              </p:ext>
            </p:extLst>
          </p:nvPr>
        </p:nvGraphicFramePr>
        <p:xfrm>
          <a:off x="1571222" y="2746178"/>
          <a:ext cx="885112" cy="572721"/>
        </p:xfrm>
        <a:graphic>
          <a:graphicData uri="http://schemas.openxmlformats.org/presentationml/2006/ole">
            <mc:AlternateContent xmlns:mc="http://schemas.openxmlformats.org/markup-compatibility/2006">
              <mc:Choice xmlns:v="urn:schemas-microsoft-com:vml" Requires="v">
                <p:oleObj spid="_x0000_s40993" name="文档" r:id="rId4" imgW="300040" imgH="193989" progId="Word.Document.12">
                  <p:embed/>
                </p:oleObj>
              </mc:Choice>
              <mc:Fallback>
                <p:oleObj name="文档" r:id="rId4" imgW="300040" imgH="193989" progId="Word.Document.12">
                  <p:embed/>
                  <p:pic>
                    <p:nvPicPr>
                      <p:cNvPr id="0" name=""/>
                      <p:cNvPicPr>
                        <a:picLocks noChangeAspect="1" noChangeArrowheads="1"/>
                      </p:cNvPicPr>
                      <p:nvPr/>
                    </p:nvPicPr>
                    <p:blipFill>
                      <a:blip r:embed="rId5"/>
                      <a:srcRect/>
                      <a:stretch>
                        <a:fillRect/>
                      </a:stretch>
                    </p:blipFill>
                    <p:spPr bwMode="auto">
                      <a:xfrm>
                        <a:off x="1571222" y="2746178"/>
                        <a:ext cx="885112" cy="572721"/>
                      </a:xfrm>
                      <a:prstGeom prst="rect">
                        <a:avLst/>
                      </a:prstGeom>
                      <a:noFill/>
                      <a:extLst/>
                    </p:spPr>
                  </p:pic>
                </p:oleObj>
              </mc:Fallback>
            </mc:AlternateContent>
          </a:graphicData>
        </a:graphic>
      </p:graphicFrame>
    </p:spTree>
    <p:extLst>
      <p:ext uri="{BB962C8B-B14F-4D97-AF65-F5344CB8AC3E}">
        <p14:creationId xmlns:p14="http://schemas.microsoft.com/office/powerpoint/2010/main" val="7885851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156639"/>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超几何分布</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一般地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假设一批产品共有</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其中有</a:t>
            </a:r>
            <a:r>
              <a:rPr lang="en-US" altLang="zh-CN" sz="2800" i="1">
                <a:solidFill>
                  <a:srgbClr val="000000"/>
                </a:solidFill>
                <a:latin typeface="Times New Roman" panose="02020603050405020304" pitchFamily="18" charset="0"/>
                <a:cs typeface="Times New Roman" panose="02020603050405020304" pitchFamily="18" charset="0"/>
              </a:rPr>
              <a:t>M</a:t>
            </a:r>
            <a:r>
              <a:rPr lang="zh-CN" altLang="zh-CN" sz="2800">
                <a:solidFill>
                  <a:srgbClr val="000000"/>
                </a:solidFill>
                <a:latin typeface="Times New Roman" panose="02020603050405020304" pitchFamily="18" charset="0"/>
                <a:cs typeface="Times New Roman" panose="02020603050405020304" pitchFamily="18" charset="0"/>
              </a:rPr>
              <a:t>件次品</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件产品中随机抽取</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不放回</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用</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表示抽取的</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件产品中的次品数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a:t>
            </a:r>
            <a:r>
              <a:rPr lang="zh-CN" altLang="zh-CN" sz="2800" smtClean="0">
                <a:solidFill>
                  <a:srgbClr val="000000"/>
                </a:solidFill>
                <a:latin typeface="Times New Roman" panose="02020603050405020304" pitchFamily="18" charset="0"/>
                <a:cs typeface="Times New Roman" panose="02020603050405020304" pitchFamily="18" charset="0"/>
              </a:rPr>
              <a:t>列为</a:t>
            </a:r>
            <a:endParaRPr lang="en-US" altLang="zh-CN" sz="2800" i="1"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endParaRPr lang="en-US" altLang="zh-CN" sz="2800" i="1"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000000"/>
                </a:solidFill>
                <a:latin typeface="Times New Roman" panose="02020603050405020304" pitchFamily="18" charset="0"/>
                <a:cs typeface="Times New Roman" panose="02020603050405020304" pitchFamily="18" charset="0"/>
              </a:rPr>
              <a:t>其中</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M</a:t>
            </a:r>
            <a:r>
              <a:rPr lang="zh-CN" altLang="zh-CN" sz="2800">
                <a:solidFill>
                  <a:srgbClr val="000000"/>
                </a:solidFill>
                <a:latin typeface="NEU-BZ-S92"/>
                <a:cs typeface="宋体" panose="02010600030101010101" pitchFamily="2" charset="-122"/>
              </a:rPr>
              <a:t>∈</a:t>
            </a:r>
            <a:r>
              <a:rPr lang="en-US" altLang="zh-CN" sz="2800" b="1">
                <a:solidFill>
                  <a:srgbClr val="000000"/>
                </a:solidFill>
                <a:latin typeface="Times New Roman" panose="02020603050405020304" pitchFamily="18" charset="0"/>
                <a:cs typeface="Times New Roman" panose="02020603050405020304" pitchFamily="18" charset="0"/>
              </a:rPr>
              <a:t>N</a:t>
            </a:r>
            <a:r>
              <a:rPr lang="en-US" altLang="zh-CN" sz="2800" i="1" baseline="300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a:solidFill>
                  <a:srgbClr val="000000"/>
                </a:solidFill>
                <a:latin typeface="Times New Roman" panose="02020603050405020304" pitchFamily="18" charset="0"/>
                <a:cs typeface="Times New Roman" panose="02020603050405020304" pitchFamily="18" charset="0"/>
              </a:rPr>
              <a:t>max{0,</a:t>
            </a:r>
            <a:r>
              <a:rPr lang="en-US" altLang="zh-CN" sz="2800" i="1">
                <a:solidFill>
                  <a:srgbClr val="000000"/>
                </a:solidFill>
                <a:latin typeface="Times New Roman" panose="02020603050405020304" pitchFamily="18" charset="0"/>
                <a:cs typeface="Times New Roman" panose="02020603050405020304" pitchFamily="18" charset="0"/>
              </a:rPr>
              <a:t>n-N+M</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r=</a:t>
            </a:r>
            <a:r>
              <a:rPr lang="en-US" altLang="zh-CN" sz="2800">
                <a:solidFill>
                  <a:srgbClr val="000000"/>
                </a:solidFill>
                <a:latin typeface="Times New Roman" panose="02020603050405020304" pitchFamily="18" charset="0"/>
                <a:cs typeface="Times New Roman" panose="02020603050405020304" pitchFamily="18" charset="0"/>
              </a:rPr>
              <a:t>min{</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如果随机变量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的分布列具有上式的形式</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那么称随机变量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服从超几何分布</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618207027"/>
              </p:ext>
            </p:extLst>
          </p:nvPr>
        </p:nvGraphicFramePr>
        <p:xfrm>
          <a:off x="458424" y="2845646"/>
          <a:ext cx="11275153" cy="989193"/>
        </p:xfrm>
        <a:graphic>
          <a:graphicData uri="http://schemas.openxmlformats.org/presentationml/2006/ole">
            <mc:AlternateContent xmlns:mc="http://schemas.openxmlformats.org/markup-compatibility/2006">
              <mc:Choice xmlns:v="urn:schemas-microsoft-com:vml" Requires="v">
                <p:oleObj spid="_x0000_s9252"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58424" y="2845646"/>
                        <a:ext cx="11275153" cy="989193"/>
                      </a:xfrm>
                      <a:prstGeom prst="rect">
                        <a:avLst/>
                      </a:prstGeom>
                    </p:spPr>
                  </p:pic>
                </p:oleObj>
              </mc:Fallback>
            </mc:AlternateContent>
          </a:graphicData>
        </a:graphic>
      </p:graphicFrame>
    </p:spTree>
    <p:extLst>
      <p:ext uri="{BB962C8B-B14F-4D97-AF65-F5344CB8AC3E}">
        <p14:creationId xmlns:p14="http://schemas.microsoft.com/office/powerpoint/2010/main" val="3223894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99955"/>
            <a:ext cx="11430000" cy="43150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六、正态分布</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20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正态分布</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                             x</a:t>
            </a:r>
            <a:r>
              <a:rPr lang="zh-CN" altLang="zh-CN" sz="2800">
                <a:solidFill>
                  <a:srgbClr val="000000"/>
                </a:solidFill>
                <a:latin typeface="NEU-BZ-S92"/>
                <a:cs typeface="宋体" panose="02010600030101010101" pitchFamily="2" charset="-122"/>
              </a:rPr>
              <a:t>∈</a:t>
            </a:r>
            <a:r>
              <a:rPr lang="en-US" altLang="zh-CN" sz="2800" b="1">
                <a:solidFill>
                  <a:srgbClr val="000000"/>
                </a:solidFill>
                <a:latin typeface="Times New Roman" panose="02020603050405020304" pitchFamily="18" charset="0"/>
                <a:cs typeface="Times New Roman" panose="02020603050405020304" pitchFamily="18" charset="0"/>
              </a:rPr>
              <a:t>R</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μ</a:t>
            </a:r>
            <a:r>
              <a:rPr lang="zh-CN" altLang="zh-CN" sz="2800">
                <a:solidFill>
                  <a:srgbClr val="000000"/>
                </a:solidFill>
                <a:latin typeface="NEU-BZ-S92"/>
                <a:cs typeface="宋体" panose="02010600030101010101" pitchFamily="2" charset="-122"/>
              </a:rPr>
              <a:t>∈</a:t>
            </a:r>
            <a:r>
              <a:rPr lang="en-US" altLang="zh-CN" sz="2800" b="1">
                <a:solidFill>
                  <a:srgbClr val="000000"/>
                </a:solidFill>
                <a:latin typeface="Times New Roman" panose="02020603050405020304" pitchFamily="18" charset="0"/>
                <a:cs typeface="Times New Roman" panose="02020603050405020304" pitchFamily="18" charset="0"/>
              </a:rPr>
              <a:t>R</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cs typeface="Times New Roman" panose="02020603050405020304" pitchFamily="18" charset="0"/>
              </a:rPr>
              <a:t>为参数</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对任意的</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NEU-BZ-S92"/>
                <a:cs typeface="宋体" panose="02010600030101010101" pitchFamily="2" charset="-122"/>
              </a:rPr>
              <a:t>∈</a:t>
            </a:r>
            <a:r>
              <a:rPr lang="en-US" altLang="zh-CN" sz="2800" b="1">
                <a:solidFill>
                  <a:srgbClr val="000000"/>
                </a:solidFill>
                <a:latin typeface="Times New Roman" panose="02020603050405020304" pitchFamily="18" charset="0"/>
                <a:cs typeface="Times New Roman" panose="02020603050405020304" pitchFamily="18" charset="0"/>
              </a:rPr>
              <a:t>R</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f</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cs typeface="Times New Roman" panose="02020603050405020304" pitchFamily="18" charset="0"/>
              </a:rPr>
              <a:t>它的图象在</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轴的上方</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可以证明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轴和曲线之间的区域的面积为</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我们称</a:t>
            </a:r>
            <a:r>
              <a:rPr lang="en-US" altLang="zh-CN" sz="2800" i="1">
                <a:solidFill>
                  <a:srgbClr val="000000"/>
                </a:solidFill>
                <a:latin typeface="Times New Roman" panose="02020603050405020304" pitchFamily="18" charset="0"/>
                <a:cs typeface="Times New Roman" panose="02020603050405020304" pitchFamily="18" charset="0"/>
              </a:rPr>
              <a:t>f</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为正态密度函数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称它的图象为正态分布密度曲线</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简称正态曲线</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若随机变量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的概率密度函数为</a:t>
            </a:r>
            <a:r>
              <a:rPr lang="en-US" altLang="zh-CN" sz="2800" i="1">
                <a:solidFill>
                  <a:srgbClr val="000000"/>
                </a:solidFill>
                <a:latin typeface="Times New Roman" panose="02020603050405020304" pitchFamily="18" charset="0"/>
                <a:cs typeface="Times New Roman" panose="02020603050405020304" pitchFamily="18" charset="0"/>
              </a:rPr>
              <a:t>f</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则称随机变量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服从正态分布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记为</a:t>
            </a:r>
            <a:r>
              <a:rPr lang="en-US" altLang="zh-CN" sz="2800" i="1">
                <a:solidFill>
                  <a:srgbClr val="000000"/>
                </a:solidFill>
                <a:latin typeface="Times New Roman" panose="02020603050405020304" pitchFamily="18" charset="0"/>
                <a:cs typeface="Times New Roman" panose="02020603050405020304" pitchFamily="18" charset="0"/>
              </a:rPr>
              <a:t>X~N</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特别地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称随机变量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服从标准正态分布</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706314895"/>
              </p:ext>
            </p:extLst>
          </p:nvPr>
        </p:nvGraphicFramePr>
        <p:xfrm>
          <a:off x="499520" y="2458001"/>
          <a:ext cx="11275153" cy="989193"/>
        </p:xfrm>
        <a:graphic>
          <a:graphicData uri="http://schemas.openxmlformats.org/presentationml/2006/ole">
            <mc:AlternateContent xmlns:mc="http://schemas.openxmlformats.org/markup-compatibility/2006">
              <mc:Choice xmlns:v="urn:schemas-microsoft-com:vml" Requires="v">
                <p:oleObj spid="_x0000_s10276" name="文档" r:id="rId4" imgW="4510061" imgH="395677" progId="Word.Document.12">
                  <p:embed/>
                </p:oleObj>
              </mc:Choice>
              <mc:Fallback>
                <p:oleObj name="文档" r:id="rId4" imgW="4510061" imgH="395677" progId="Word.Document.12">
                  <p:embed/>
                  <p:pic>
                    <p:nvPicPr>
                      <p:cNvPr id="0" name=""/>
                      <p:cNvPicPr/>
                      <p:nvPr/>
                    </p:nvPicPr>
                    <p:blipFill>
                      <a:blip r:embed="rId5"/>
                      <a:stretch>
                        <a:fillRect/>
                      </a:stretch>
                    </p:blipFill>
                    <p:spPr>
                      <a:xfrm>
                        <a:off x="499520" y="2458001"/>
                        <a:ext cx="11275153" cy="989193"/>
                      </a:xfrm>
                      <a:prstGeom prst="rect">
                        <a:avLst/>
                      </a:prstGeom>
                    </p:spPr>
                  </p:pic>
                </p:oleObj>
              </mc:Fallback>
            </mc:AlternateContent>
          </a:graphicData>
        </a:graphic>
      </p:graphicFrame>
    </p:spTree>
    <p:extLst>
      <p:ext uri="{BB962C8B-B14F-4D97-AF65-F5344CB8AC3E}">
        <p14:creationId xmlns:p14="http://schemas.microsoft.com/office/powerpoint/2010/main" val="29660737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069877"/>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正态曲线的特点</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000000"/>
                </a:solidFill>
                <a:latin typeface="Times New Roman" panose="02020603050405020304" pitchFamily="18" charset="0"/>
                <a:cs typeface="Times New Roman" panose="02020603050405020304" pitchFamily="18" charset="0"/>
              </a:rPr>
              <a:t>由</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的密度函数及图象可以发现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正态曲线还有以下特点</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①</a:t>
            </a:r>
            <a:r>
              <a:rPr lang="zh-CN" altLang="zh-CN" sz="2800">
                <a:solidFill>
                  <a:srgbClr val="000000"/>
                </a:solidFill>
                <a:latin typeface="Times New Roman" panose="02020603050405020304" pitchFamily="18" charset="0"/>
                <a:cs typeface="Times New Roman" panose="02020603050405020304" pitchFamily="18" charset="0"/>
              </a:rPr>
              <a:t>曲线是单峰的</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它关于直线</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μ</a:t>
            </a:r>
            <a:r>
              <a:rPr lang="zh-CN" altLang="zh-CN" sz="2800">
                <a:solidFill>
                  <a:srgbClr val="000000"/>
                </a:solidFill>
                <a:latin typeface="Times New Roman" panose="02020603050405020304" pitchFamily="18" charset="0"/>
                <a:cs typeface="Times New Roman" panose="02020603050405020304" pitchFamily="18" charset="0"/>
              </a:rPr>
              <a:t>对称</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②</a:t>
            </a:r>
            <a:r>
              <a:rPr lang="zh-CN" altLang="zh-CN" sz="2800">
                <a:solidFill>
                  <a:srgbClr val="000000"/>
                </a:solidFill>
                <a:latin typeface="Times New Roman" panose="02020603050405020304" pitchFamily="18" charset="0"/>
                <a:cs typeface="Times New Roman" panose="02020603050405020304" pitchFamily="18" charset="0"/>
              </a:rPr>
              <a:t>曲线在</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μ</a:t>
            </a:r>
            <a:r>
              <a:rPr lang="zh-CN" altLang="zh-CN" sz="2800">
                <a:solidFill>
                  <a:srgbClr val="000000"/>
                </a:solidFill>
                <a:latin typeface="Times New Roman" panose="02020603050405020304" pitchFamily="18" charset="0"/>
                <a:cs typeface="Times New Roman" panose="02020603050405020304" pitchFamily="18" charset="0"/>
              </a:rPr>
              <a:t>处达到</a:t>
            </a:r>
            <a:r>
              <a:rPr lang="zh-CN" altLang="zh-CN" sz="2800" smtClean="0">
                <a:solidFill>
                  <a:srgbClr val="000000"/>
                </a:solidFill>
                <a:latin typeface="Times New Roman" panose="02020603050405020304" pitchFamily="18" charset="0"/>
                <a:cs typeface="Times New Roman" panose="02020603050405020304" pitchFamily="18" charset="0"/>
              </a:rPr>
              <a:t>峰值</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NEU-BZ-S92"/>
                <a:cs typeface="宋体" panose="02010600030101010101" pitchFamily="2" charset="-122"/>
              </a:rPr>
              <a:t>③</a:t>
            </a: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无限增大时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曲线无限接近</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轴</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785775928"/>
              </p:ext>
            </p:extLst>
          </p:nvPr>
        </p:nvGraphicFramePr>
        <p:xfrm>
          <a:off x="4330557" y="3598782"/>
          <a:ext cx="1203325" cy="998537"/>
        </p:xfrm>
        <a:graphic>
          <a:graphicData uri="http://schemas.openxmlformats.org/presentationml/2006/ole">
            <mc:AlternateContent xmlns:mc="http://schemas.openxmlformats.org/markup-compatibility/2006">
              <mc:Choice xmlns:v="urn:schemas-microsoft-com:vml" Requires="v">
                <p:oleObj spid="_x0000_s11300" name="文档" r:id="rId4" imgW="494980" imgH="400348" progId="Word.Document.12">
                  <p:embed/>
                </p:oleObj>
              </mc:Choice>
              <mc:Fallback>
                <p:oleObj name="文档" r:id="rId4" imgW="494980" imgH="400348" progId="Word.Document.12">
                  <p:embed/>
                  <p:pic>
                    <p:nvPicPr>
                      <p:cNvPr id="0" name=""/>
                      <p:cNvPicPr/>
                      <p:nvPr/>
                    </p:nvPicPr>
                    <p:blipFill>
                      <a:blip r:embed="rId5"/>
                      <a:stretch>
                        <a:fillRect/>
                      </a:stretch>
                    </p:blipFill>
                    <p:spPr>
                      <a:xfrm>
                        <a:off x="4330557" y="3598782"/>
                        <a:ext cx="1203325" cy="998537"/>
                      </a:xfrm>
                      <a:prstGeom prst="rect">
                        <a:avLst/>
                      </a:prstGeom>
                    </p:spPr>
                  </p:pic>
                </p:oleObj>
              </mc:Fallback>
            </mc:AlternateContent>
          </a:graphicData>
        </a:graphic>
      </p:graphicFrame>
    </p:spTree>
    <p:extLst>
      <p:ext uri="{BB962C8B-B14F-4D97-AF65-F5344CB8AC3E}">
        <p14:creationId xmlns:p14="http://schemas.microsoft.com/office/powerpoint/2010/main" val="33492043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509724"/>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参数</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σ</a:t>
            </a:r>
            <a:r>
              <a:rPr lang="zh-CN" altLang="zh-CN" sz="2800">
                <a:solidFill>
                  <a:srgbClr val="000000"/>
                </a:solidFill>
                <a:latin typeface="Times New Roman" panose="02020603050405020304" pitchFamily="18" charset="0"/>
                <a:cs typeface="Times New Roman" panose="02020603050405020304" pitchFamily="18" charset="0"/>
              </a:rPr>
              <a:t>对正态曲线形状的影响</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在参数</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σ</a:t>
            </a:r>
            <a:r>
              <a:rPr lang="zh-CN" altLang="zh-CN" sz="2800">
                <a:solidFill>
                  <a:srgbClr val="000000"/>
                </a:solidFill>
                <a:latin typeface="Times New Roman" panose="02020603050405020304" pitchFamily="18" charset="0"/>
                <a:cs typeface="Times New Roman" panose="02020603050405020304" pitchFamily="18" charset="0"/>
              </a:rPr>
              <a:t>取固定值时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正态曲线的位置由</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μ</a:t>
            </a:r>
            <a:r>
              <a:rPr lang="zh-CN" altLang="zh-CN" sz="2800">
                <a:solidFill>
                  <a:srgbClr val="000000"/>
                </a:solidFill>
                <a:latin typeface="Times New Roman" panose="02020603050405020304" pitchFamily="18" charset="0"/>
                <a:cs typeface="Times New Roman" panose="02020603050405020304" pitchFamily="18" charset="0"/>
              </a:rPr>
              <a:t>确定</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且随着</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μ</a:t>
            </a:r>
            <a:r>
              <a:rPr lang="zh-CN" altLang="zh-CN" sz="2800">
                <a:solidFill>
                  <a:srgbClr val="000000"/>
                </a:solidFill>
                <a:latin typeface="Times New Roman" panose="02020603050405020304" pitchFamily="18" charset="0"/>
                <a:cs typeface="Times New Roman" panose="02020603050405020304" pitchFamily="18" charset="0"/>
              </a:rPr>
              <a:t>的变化而沿</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轴平移</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μ</a:t>
            </a:r>
            <a:r>
              <a:rPr lang="zh-CN" altLang="zh-CN" sz="2800">
                <a:solidFill>
                  <a:srgbClr val="000000"/>
                </a:solidFill>
                <a:latin typeface="Times New Roman" panose="02020603050405020304" pitchFamily="18" charset="0"/>
                <a:cs typeface="Times New Roman" panose="02020603050405020304" pitchFamily="18" charset="0"/>
              </a:rPr>
              <a:t>取定值时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因为曲线的</a:t>
            </a:r>
            <a:r>
              <a:rPr lang="zh-CN" altLang="zh-CN" sz="2800" smtClean="0">
                <a:solidFill>
                  <a:srgbClr val="000000"/>
                </a:solidFill>
                <a:latin typeface="Times New Roman" panose="02020603050405020304" pitchFamily="18" charset="0"/>
                <a:cs typeface="Times New Roman" panose="02020603050405020304" pitchFamily="18" charset="0"/>
              </a:rPr>
              <a:t>峰值</a:t>
            </a:r>
            <a:r>
              <a:rPr lang="en-US" altLang="zh-CN" sz="2800" smtClean="0">
                <a:solidFill>
                  <a:srgbClr val="000000"/>
                </a:solidFill>
                <a:latin typeface="Times New Roman" panose="02020603050405020304" pitchFamily="18" charset="0"/>
                <a:cs typeface="Times New Roman" panose="02020603050405020304" pitchFamily="18" charset="0"/>
              </a:rPr>
              <a:t>           </a:t>
            </a:r>
            <a:r>
              <a:rPr lang="zh-CN" altLang="zh-CN" sz="2800" smtClean="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σ</a:t>
            </a:r>
            <a:r>
              <a:rPr lang="zh-CN" altLang="zh-CN" sz="2800">
                <a:solidFill>
                  <a:srgbClr val="000000"/>
                </a:solidFill>
                <a:latin typeface="Times New Roman" panose="02020603050405020304" pitchFamily="18" charset="0"/>
                <a:cs typeface="Times New Roman" panose="02020603050405020304" pitchFamily="18" charset="0"/>
              </a:rPr>
              <a:t>成反比</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而且对任意的</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cs typeface="Times New Roman" panose="02020603050405020304" pitchFamily="18" charset="0"/>
              </a:rPr>
              <a:t>曲线与</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轴围成的面积总为</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因此</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σ</a:t>
            </a:r>
            <a:r>
              <a:rPr lang="zh-CN" altLang="zh-CN" sz="2800">
                <a:solidFill>
                  <a:srgbClr val="000000"/>
                </a:solidFill>
                <a:latin typeface="Times New Roman" panose="02020603050405020304" pitchFamily="18" charset="0"/>
                <a:cs typeface="Times New Roman" panose="02020603050405020304" pitchFamily="18" charset="0"/>
              </a:rPr>
              <a:t>较小时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峰值高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曲线</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瘦高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表示随机变量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的分布比较集中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当</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σ</a:t>
            </a:r>
            <a:r>
              <a:rPr lang="zh-CN" altLang="zh-CN" sz="2800">
                <a:solidFill>
                  <a:srgbClr val="000000"/>
                </a:solidFill>
                <a:latin typeface="Times New Roman" panose="02020603050405020304" pitchFamily="18" charset="0"/>
                <a:cs typeface="Times New Roman" panose="02020603050405020304" pitchFamily="18" charset="0"/>
              </a:rPr>
              <a:t>较大时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峰值低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曲线</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矮胖</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表示随机变量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的分布比较分散</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115749215"/>
              </p:ext>
            </p:extLst>
          </p:nvPr>
        </p:nvGraphicFramePr>
        <p:xfrm>
          <a:off x="5384307" y="3080596"/>
          <a:ext cx="904076" cy="750215"/>
        </p:xfrm>
        <a:graphic>
          <a:graphicData uri="http://schemas.openxmlformats.org/presentationml/2006/ole">
            <mc:AlternateContent xmlns:mc="http://schemas.openxmlformats.org/markup-compatibility/2006">
              <mc:Choice xmlns:v="urn:schemas-microsoft-com:vml" Requires="v">
                <p:oleObj spid="_x0000_s12324" name="文档" r:id="rId4" imgW="494980" imgH="399270" progId="Word.Document.12">
                  <p:embed/>
                </p:oleObj>
              </mc:Choice>
              <mc:Fallback>
                <p:oleObj name="文档" r:id="rId4" imgW="494980" imgH="399270" progId="Word.Document.12">
                  <p:embed/>
                  <p:pic>
                    <p:nvPicPr>
                      <p:cNvPr id="0" name=""/>
                      <p:cNvPicPr/>
                      <p:nvPr/>
                    </p:nvPicPr>
                    <p:blipFill>
                      <a:blip r:embed="rId5"/>
                      <a:stretch>
                        <a:fillRect/>
                      </a:stretch>
                    </p:blipFill>
                    <p:spPr>
                      <a:xfrm>
                        <a:off x="5384307" y="3080596"/>
                        <a:ext cx="904076" cy="750215"/>
                      </a:xfrm>
                      <a:prstGeom prst="rect">
                        <a:avLst/>
                      </a:prstGeom>
                    </p:spPr>
                  </p:pic>
                </p:oleObj>
              </mc:Fallback>
            </mc:AlternateContent>
          </a:graphicData>
        </a:graphic>
      </p:graphicFrame>
    </p:spTree>
    <p:extLst>
      <p:ext uri="{BB962C8B-B14F-4D97-AF65-F5344CB8AC3E}">
        <p14:creationId xmlns:p14="http://schemas.microsoft.com/office/powerpoint/2010/main" val="29783691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362857"/>
            <a:ext cx="11430000" cy="457356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a:t>
            </a:r>
            <a:r>
              <a:rPr lang="en-US" altLang="zh-CN" sz="2800" i="1">
                <a:solidFill>
                  <a:srgbClr val="000000"/>
                </a:solidFill>
                <a:latin typeface="Times New Roman" panose="02020603050405020304" pitchFamily="18" charset="0"/>
                <a:cs typeface="Times New Roman" panose="02020603050405020304" pitchFamily="18" charset="0"/>
              </a:rPr>
              <a:t>X~N</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假设</a:t>
            </a:r>
            <a:r>
              <a:rPr lang="en-US" altLang="zh-CN" sz="2800" i="1">
                <a:solidFill>
                  <a:srgbClr val="000000"/>
                </a:solidFill>
                <a:latin typeface="Times New Roman" panose="02020603050405020304" pitchFamily="18" charset="0"/>
                <a:cs typeface="Times New Roman" panose="02020603050405020304" pitchFamily="18" charset="0"/>
              </a:rPr>
              <a:t>X~N</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可以证明</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对给定的</a:t>
            </a:r>
            <a:r>
              <a:rPr lang="en-US" altLang="zh-CN" sz="2800" i="1">
                <a:solidFill>
                  <a:srgbClr val="000000"/>
                </a:solidFill>
                <a:latin typeface="Times New Roman" panose="02020603050405020304" pitchFamily="18" charset="0"/>
                <a:cs typeface="Times New Roman" panose="02020603050405020304" pitchFamily="18" charset="0"/>
              </a:rPr>
              <a:t>k</a:t>
            </a:r>
            <a:r>
              <a:rPr lang="zh-CN" altLang="zh-CN" sz="2800">
                <a:solidFill>
                  <a:srgbClr val="000000"/>
                </a:solidFill>
                <a:latin typeface="NEU-BZ-S92"/>
                <a:cs typeface="宋体" panose="02010600030101010101" pitchFamily="2" charset="-122"/>
              </a:rPr>
              <a:t>∈</a:t>
            </a:r>
            <a:r>
              <a:rPr lang="en-US" altLang="zh-CN" sz="2800" b="1">
                <a:solidFill>
                  <a:srgbClr val="000000"/>
                </a:solidFill>
                <a:latin typeface="Times New Roman" panose="02020603050405020304" pitchFamily="18" charset="0"/>
                <a:cs typeface="Times New Roman" panose="02020603050405020304" pitchFamily="18" charset="0"/>
              </a:rPr>
              <a:t>N</a:t>
            </a:r>
            <a:r>
              <a:rPr lang="en-US" altLang="zh-CN" sz="2800" i="1" baseline="300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-k</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+k</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是一个只与</a:t>
            </a:r>
            <a:r>
              <a:rPr lang="en-US" altLang="zh-CN" sz="2800" i="1">
                <a:solidFill>
                  <a:srgbClr val="000000"/>
                </a:solidFill>
                <a:latin typeface="Times New Roman" panose="02020603050405020304" pitchFamily="18" charset="0"/>
                <a:cs typeface="Times New Roman" panose="02020603050405020304" pitchFamily="18" charset="0"/>
              </a:rPr>
              <a:t>k</a:t>
            </a:r>
            <a:r>
              <a:rPr lang="zh-CN" altLang="zh-CN" sz="2800">
                <a:solidFill>
                  <a:srgbClr val="000000"/>
                </a:solidFill>
                <a:latin typeface="Times New Roman" panose="02020603050405020304" pitchFamily="18" charset="0"/>
                <a:cs typeface="Times New Roman" panose="02020603050405020304" pitchFamily="18" charset="0"/>
              </a:rPr>
              <a:t>有关的定值</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特别地</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FF0000"/>
                </a:solidFill>
                <a:latin typeface="Times New Roman" panose="02020603050405020304" pitchFamily="18" charset="0"/>
                <a:cs typeface="Times New Roman" panose="02020603050405020304" pitchFamily="18" charset="0"/>
              </a:rPr>
              <a:t>0</a:t>
            </a:r>
            <a:r>
              <a:rPr lang="en-US" altLang="zh-CN" sz="2800" i="1" smtClean="0">
                <a:solidFill>
                  <a:srgbClr val="FF0000"/>
                </a:solidFill>
                <a:latin typeface="Times New Roman" panose="02020603050405020304" pitchFamily="18" charset="0"/>
                <a:cs typeface="Times New Roman" panose="02020603050405020304" pitchFamily="18" charset="0"/>
              </a:rPr>
              <a:t>.</a:t>
            </a:r>
            <a:r>
              <a:rPr lang="en-US" altLang="zh-CN" sz="2800" smtClean="0">
                <a:solidFill>
                  <a:srgbClr val="FF0000"/>
                </a:solidFill>
                <a:latin typeface="Times New Roman" panose="02020603050405020304" pitchFamily="18" charset="0"/>
                <a:cs typeface="Times New Roman" panose="02020603050405020304" pitchFamily="18" charset="0"/>
              </a:rPr>
              <a:t>682 7 </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FF0000"/>
                </a:solidFill>
                <a:latin typeface="Times New Roman" panose="02020603050405020304" pitchFamily="18" charset="0"/>
                <a:cs typeface="Times New Roman" panose="02020603050405020304" pitchFamily="18" charset="0"/>
              </a:rPr>
              <a:t>0</a:t>
            </a:r>
            <a:r>
              <a:rPr lang="en-US" altLang="zh-CN" sz="2800" i="1" smtClean="0">
                <a:solidFill>
                  <a:srgbClr val="FF0000"/>
                </a:solidFill>
                <a:latin typeface="Times New Roman" panose="02020603050405020304" pitchFamily="18" charset="0"/>
                <a:cs typeface="Times New Roman" panose="02020603050405020304" pitchFamily="18" charset="0"/>
              </a:rPr>
              <a:t>.</a:t>
            </a:r>
            <a:r>
              <a:rPr lang="en-US" altLang="zh-CN" sz="2800" smtClean="0">
                <a:solidFill>
                  <a:srgbClr val="FF0000"/>
                </a:solidFill>
                <a:latin typeface="Times New Roman" panose="02020603050405020304" pitchFamily="18" charset="0"/>
                <a:cs typeface="Times New Roman" panose="02020603050405020304" pitchFamily="18" charset="0"/>
              </a:rPr>
              <a:t>954 5 </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FF0000"/>
                </a:solidFill>
                <a:latin typeface="Times New Roman" panose="02020603050405020304" pitchFamily="18" charset="0"/>
                <a:cs typeface="Times New Roman" panose="02020603050405020304" pitchFamily="18" charset="0"/>
              </a:rPr>
              <a:t>0</a:t>
            </a:r>
            <a:r>
              <a:rPr lang="en-US" altLang="zh-CN" sz="2800" i="1" smtClean="0">
                <a:solidFill>
                  <a:srgbClr val="FF0000"/>
                </a:solidFill>
                <a:latin typeface="Times New Roman" panose="02020603050405020304" pitchFamily="18" charset="0"/>
                <a:cs typeface="Times New Roman" panose="02020603050405020304" pitchFamily="18" charset="0"/>
              </a:rPr>
              <a:t>.</a:t>
            </a:r>
            <a:r>
              <a:rPr lang="en-US" altLang="zh-CN" sz="2800" smtClean="0">
                <a:solidFill>
                  <a:srgbClr val="FF0000"/>
                </a:solidFill>
                <a:latin typeface="Times New Roman" panose="02020603050405020304" pitchFamily="18" charset="0"/>
                <a:cs typeface="Times New Roman" panose="02020603050405020304" pitchFamily="18" charset="0"/>
              </a:rPr>
              <a:t>997 3 </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在实际应用中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通常认为服从于正态分布</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的随机变量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只取</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中的值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这在统计学中称为</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zh-CN" altLang="zh-CN" sz="2800">
                <a:solidFill>
                  <a:srgbClr val="000000"/>
                </a:solidFill>
                <a:latin typeface="Times New Roman" panose="02020603050405020304" pitchFamily="18" charset="0"/>
                <a:cs typeface="Times New Roman" panose="02020603050405020304" pitchFamily="18" charset="0"/>
              </a:rPr>
              <a:t>原则</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3167479" y="3017978"/>
            <a:ext cx="1165036"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3167478" y="3569575"/>
            <a:ext cx="11650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3505591" y="3597852"/>
            <a:ext cx="1207269"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3505590" y="4149449"/>
            <a:ext cx="12072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3494705" y="4166839"/>
            <a:ext cx="1207269" cy="545093"/>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3494704" y="4718436"/>
            <a:ext cx="12072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01495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846474"/>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a:solidFill>
                  <a:srgbClr val="000000"/>
                </a:solidFill>
                <a:latin typeface="NEU-BZ-S92"/>
                <a:ea typeface="Arial" panose="020B0604020202020204" pitchFamily="34" charset="0"/>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Cambria Math" panose="02040503050406030204" pitchFamily="18" charset="0"/>
                <a:ea typeface="NEU-BZ-S9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错误的画</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抛掷一枚质地均匀的硬币</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次</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出现正面的次数是随机变量</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离散型随机变量的分布列中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随机变量取各个值的概率之和可</a:t>
            </a:r>
            <a:r>
              <a:rPr lang="zh-CN" altLang="zh-CN" sz="2800" smtClean="0">
                <a:solidFill>
                  <a:srgbClr val="000000"/>
                </a:solidFill>
                <a:latin typeface="Times New Roman" panose="02020603050405020304" pitchFamily="18" charset="0"/>
                <a:cs typeface="Times New Roman" panose="02020603050405020304" pitchFamily="18" charset="0"/>
              </a:rPr>
              <a:t>以</a:t>
            </a:r>
            <a:endParaRPr lang="en-US" altLang="zh-CN" sz="280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smtClean="0">
                <a:solidFill>
                  <a:srgbClr val="000000"/>
                </a:solidFill>
                <a:latin typeface="Times New Roman" panose="02020603050405020304" pitchFamily="18" charset="0"/>
                <a:cs typeface="Times New Roman" panose="02020603050405020304" pitchFamily="18" charset="0"/>
              </a:rPr>
              <a:t>小</a:t>
            </a:r>
            <a:r>
              <a:rPr lang="zh-CN" altLang="zh-CN" sz="2800">
                <a:solidFill>
                  <a:srgbClr val="000000"/>
                </a:solidFill>
                <a:latin typeface="Times New Roman" panose="02020603050405020304" pitchFamily="18" charset="0"/>
                <a:cs typeface="Times New Roman" panose="02020603050405020304" pitchFamily="18" charset="0"/>
              </a:rPr>
              <a:t>于</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离散型随机变量的各个可能取值表示的事件是彼此互斥的</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若事件</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互斥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若事件</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与</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相互独立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FF0000"/>
                </a:solidFill>
                <a:latin typeface="Cambria Math" panose="020405030504060302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cs typeface="Times New Roman" panose="02020603050405020304" pitchFamily="18" charset="0"/>
              </a:rPr>
              <a:t>重伯努利试验各次试验发生的事件是互斥的</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FF0000"/>
                </a:solidFill>
                <a:latin typeface="Times New Roman" panose="02020603050405020304" pitchFamily="18" charset="0"/>
                <a:cs typeface="Times New Roman" panose="02020603050405020304" pitchFamily="18" charset="0"/>
              </a:rPr>
              <a:t>  ×  </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9934085" y="2046517"/>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641741" y="3126193"/>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0010286" y="3726214"/>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5340314" y="4261987"/>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8295753" y="4808646"/>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8113823" y="5375166"/>
            <a:ext cx="538035" cy="514001"/>
          </a:xfrm>
          <a:prstGeom prst="rect">
            <a:avLst/>
          </a:prstGeom>
          <a:pattFill prst="lgConfetti">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093350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6"/>
                                        </p:tgtEl>
                                      </p:cBhvr>
                                    </p:animEffect>
                                    <p:set>
                                      <p:cBhvr>
                                        <p:cTn id="22" dur="1" fill="hold">
                                          <p:stCondLst>
                                            <p:cond delay="499"/>
                                          </p:stCondLst>
                                        </p:cTn>
                                        <p:tgtEl>
                                          <p:spTgt spid="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7"/>
                                        </p:tgtEl>
                                      </p:cBhvr>
                                    </p:animEffect>
                                    <p:set>
                                      <p:cBhvr>
                                        <p:cTn id="27" dur="1" fill="hold">
                                          <p:stCondLst>
                                            <p:cond delay="499"/>
                                          </p:stCondLst>
                                        </p:cTn>
                                        <p:tgtEl>
                                          <p:spTgt spid="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4" fill="hold" grpId="0" nodeType="clickEffect">
                                  <p:stCondLst>
                                    <p:cond delay="0"/>
                                  </p:stCondLst>
                                  <p:childTnLst>
                                    <p:animEffect transition="out" filter="wipe(down)">
                                      <p:cBhvr>
                                        <p:cTn id="31" dur="500"/>
                                        <p:tgtEl>
                                          <p:spTgt spid="8"/>
                                        </p:tgtEl>
                                      </p:cBhvr>
                                    </p:animEffect>
                                    <p:set>
                                      <p:cBhvr>
                                        <p:cTn id="32"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smtClean="0">
                <a:solidFill>
                  <a:srgbClr val="4D4D4D"/>
                </a:solidFill>
                <a:latin typeface="方正姚体" panose="02010601030101010101" charset="-122"/>
                <a:ea typeface="方正姚体" panose="02010601030101010101" charset="-122"/>
                <a:cs typeface="方正姚体" panose="02010601030101010101" charset="-122"/>
                <a:sym typeface="+mn-ea"/>
              </a:rPr>
              <a:t>专题归纳 核心突破</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7" name="组合 6"/>
          <p:cNvGrpSpPr/>
          <p:nvPr/>
        </p:nvGrpSpPr>
        <p:grpSpPr>
          <a:xfrm>
            <a:off x="2" y="151371"/>
            <a:ext cx="11336478" cy="433754"/>
            <a:chOff x="3048000" y="2286000"/>
            <a:chExt cx="4813646" cy="457200"/>
          </a:xfrm>
        </p:grpSpPr>
        <p:sp>
          <p:nvSpPr>
            <p:cNvPr id="8" name="矩形 7"/>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rPr>
                <a:t> </a:t>
              </a:r>
              <a:endParaRPr lang="zh-CN" altLang="en-US" sz="2800" b="1" dirty="0" smtClean="0">
                <a:solidFill>
                  <a:schemeClr val="bg1"/>
                </a:solidFill>
              </a:endParaRPr>
            </a:p>
          </p:txBody>
        </p:sp>
        <p:sp>
          <p:nvSpPr>
            <p:cNvPr id="9" name="矩形 8"/>
            <p:cNvSpPr/>
            <p:nvPr/>
          </p:nvSpPr>
          <p:spPr>
            <a:xfrm>
              <a:off x="3345506" y="2286000"/>
              <a:ext cx="4516140"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专题整合</a:t>
              </a:r>
              <a:endParaRPr lang="zh-CN" altLang="en-US" sz="2800" b="1" dirty="0">
                <a:solidFill>
                  <a:schemeClr val="bg1"/>
                </a:solidFill>
              </a:endParaRPr>
            </a:p>
          </p:txBody>
        </p:sp>
      </p:grpSp>
      <p:sp>
        <p:nvSpPr>
          <p:cNvPr id="3" name="矩形 2"/>
          <p:cNvSpPr>
            <a:spLocks noChangeAspect="1"/>
          </p:cNvSpPr>
          <p:nvPr/>
        </p:nvSpPr>
        <p:spPr>
          <a:xfrm>
            <a:off x="381000" y="1067581"/>
            <a:ext cx="11430000" cy="395313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专题一</a:t>
            </a:r>
            <a:r>
              <a:rPr lang="zh-CN" altLang="zh-CN" sz="2800" i="1">
                <a:solidFill>
                  <a:srgbClr val="000000"/>
                </a:solid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条件概率的求法</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将外形、质地完全相同的球分别装入三个盒子</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每盒</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cs typeface="Times New Roman" panose="02020603050405020304" pitchFamily="18" charset="0"/>
              </a:rPr>
              <a:t>个</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第一个盒子中有</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cs typeface="Times New Roman" panose="02020603050405020304" pitchFamily="18" charset="0"/>
              </a:rPr>
              <a:t>个球标有字母</a:t>
            </a:r>
            <a:r>
              <a:rPr lang="en-US" altLang="zh-CN" sz="2800">
                <a:solidFill>
                  <a:srgbClr val="000000"/>
                </a:solidFill>
                <a:latin typeface="Times New Roman" panose="02020603050405020304" pitchFamily="18" charset="0"/>
                <a:cs typeface="Times New Roman" panose="02020603050405020304" pitchFamily="18" charset="0"/>
              </a:rPr>
              <a:t>A,3</a:t>
            </a:r>
            <a:r>
              <a:rPr lang="zh-CN" altLang="zh-CN" sz="2800">
                <a:solidFill>
                  <a:srgbClr val="000000"/>
                </a:solidFill>
                <a:latin typeface="Times New Roman" panose="02020603050405020304" pitchFamily="18" charset="0"/>
                <a:cs typeface="Times New Roman" panose="02020603050405020304" pitchFamily="18" charset="0"/>
              </a:rPr>
              <a:t>个球标有字母</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第二个盒子中有红球和白球各</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第三个盒子中有红球</a:t>
            </a:r>
            <a:r>
              <a:rPr lang="en-US" altLang="zh-CN" sz="2800">
                <a:solidFill>
                  <a:srgbClr val="000000"/>
                </a:solidFill>
                <a:latin typeface="Times New Roman" panose="02020603050405020304" pitchFamily="18" charset="0"/>
                <a:cs typeface="Times New Roman" panose="02020603050405020304" pitchFamily="18" charset="0"/>
              </a:rPr>
              <a:t>8</a:t>
            </a:r>
            <a:r>
              <a:rPr lang="zh-CN" altLang="zh-CN" sz="2800">
                <a:solidFill>
                  <a:srgbClr val="000000"/>
                </a:solidFill>
                <a:latin typeface="Times New Roman" panose="02020603050405020304" pitchFamily="18" charset="0"/>
                <a:cs typeface="Times New Roman" panose="02020603050405020304" pitchFamily="18" charset="0"/>
              </a:rPr>
              <a:t>个</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白球</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个</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试验按如下规则进行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先在第一个盒子中任取</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个球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若取得标有字母</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的球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则在第二个盒子中任取</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个球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若第一次取得标有字母</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的球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则在第三个盒子中任取</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个球</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如果第二次取出的是红球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则试验成功</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求试验成功的概率</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934440"/>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设事件</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从第一个盒子中取得标有字母</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的球</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事件</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从第一个盒子中取得标有字母</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的球</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事件</a:t>
            </a:r>
            <a:r>
              <a:rPr lang="en-US" altLang="zh-CN" sz="2800" i="1">
                <a:solidFill>
                  <a:srgbClr val="000000"/>
                </a:solidFill>
                <a:latin typeface="Times New Roman" panose="02020603050405020304" pitchFamily="18" charset="0"/>
                <a:cs typeface="Times New Roman" panose="02020603050405020304" pitchFamily="18" charset="0"/>
              </a:rPr>
              <a:t>R=</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第二次取出的球是红球</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284080437"/>
              </p:ext>
            </p:extLst>
          </p:nvPr>
        </p:nvGraphicFramePr>
        <p:xfrm>
          <a:off x="458424" y="2646960"/>
          <a:ext cx="11275153" cy="3114920"/>
        </p:xfrm>
        <a:graphic>
          <a:graphicData uri="http://schemas.openxmlformats.org/presentationml/2006/ole">
            <mc:AlternateContent xmlns:mc="http://schemas.openxmlformats.org/markup-compatibility/2006">
              <mc:Choice xmlns:v="urn:schemas-microsoft-com:vml" Requires="v">
                <p:oleObj spid="_x0000_s13348" name="文档" r:id="rId4" imgW="4510061" imgH="1245968" progId="Word.Document.12">
                  <p:embed/>
                </p:oleObj>
              </mc:Choice>
              <mc:Fallback>
                <p:oleObj name="文档" r:id="rId4" imgW="4510061" imgH="1245968" progId="Word.Document.12">
                  <p:embed/>
                  <p:pic>
                    <p:nvPicPr>
                      <p:cNvPr id="0" name=""/>
                      <p:cNvPicPr/>
                      <p:nvPr/>
                    </p:nvPicPr>
                    <p:blipFill>
                      <a:blip r:embed="rId5"/>
                      <a:stretch>
                        <a:fillRect/>
                      </a:stretch>
                    </p:blipFill>
                    <p:spPr>
                      <a:xfrm>
                        <a:off x="458424" y="2646960"/>
                        <a:ext cx="11275153" cy="3114920"/>
                      </a:xfrm>
                      <a:prstGeom prst="rect">
                        <a:avLst/>
                      </a:prstGeom>
                    </p:spPr>
                  </p:pic>
                </p:oleObj>
              </mc:Fallback>
            </mc:AlternateContent>
          </a:graphicData>
        </a:graphic>
      </p:graphicFrame>
    </p:spTree>
    <p:extLst>
      <p:ext uri="{BB962C8B-B14F-4D97-AF65-F5344CB8AC3E}">
        <p14:creationId xmlns:p14="http://schemas.microsoft.com/office/powerpoint/2010/main" val="12645502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680537390"/>
              </p:ext>
            </p:extLst>
          </p:nvPr>
        </p:nvGraphicFramePr>
        <p:xfrm>
          <a:off x="458424" y="565728"/>
          <a:ext cx="11275153" cy="494148"/>
        </p:xfrm>
        <a:graphic>
          <a:graphicData uri="http://schemas.openxmlformats.org/presentationml/2006/ole">
            <mc:AlternateContent xmlns:mc="http://schemas.openxmlformats.org/markup-compatibility/2006">
              <mc:Choice xmlns:v="urn:schemas-microsoft-com:vml" Requires="v">
                <p:oleObj spid="_x0000_s14424"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565728"/>
                        <a:ext cx="11275153" cy="494148"/>
                      </a:xfrm>
                      <a:prstGeom prst="rect">
                        <a:avLst/>
                      </a:prstGeom>
                    </p:spPr>
                  </p:pic>
                </p:oleObj>
              </mc:Fallback>
            </mc:AlternateContent>
          </a:graphicData>
        </a:graphic>
      </p:graphicFrame>
      <p:sp>
        <p:nvSpPr>
          <p:cNvPr id="6" name="矩形 5"/>
          <p:cNvSpPr>
            <a:spLocks noChangeAspect="1"/>
          </p:cNvSpPr>
          <p:nvPr/>
        </p:nvSpPr>
        <p:spPr>
          <a:xfrm>
            <a:off x="381000" y="1419378"/>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求解条件概率的注意点</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注意对概率问题属性的判断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确定是否是求条件概率的问题</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注意对条件概率解法的合理选择</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一般地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所有条件概率均可运用公</a:t>
            </a:r>
            <a:r>
              <a:rPr lang="zh-CN" altLang="zh-CN" sz="2800" smtClean="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式</a:t>
            </a:r>
            <a:r>
              <a:rPr lang="en-US" altLang="zh-CN" sz="2800" smtClean="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     </a:t>
            </a: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 </a:t>
            </a:r>
            <a:r>
              <a:rPr lang="en-US"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                      </a:t>
            </a:r>
            <a:r>
              <a:rPr lang="zh-CN" altLang="zh-CN" sz="2800" smtClean="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求</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解</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但当问题属于古典概型时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还可通过缩小样本空间的方法求解</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注意对问题中涉及的事件的关系的判断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特别是事件的包含关系</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正确地进行事件概率的运算</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534422646"/>
              </p:ext>
            </p:extLst>
          </p:nvPr>
        </p:nvGraphicFramePr>
        <p:xfrm>
          <a:off x="458424" y="2930098"/>
          <a:ext cx="11275153" cy="991965"/>
        </p:xfrm>
        <a:graphic>
          <a:graphicData uri="http://schemas.openxmlformats.org/presentationml/2006/ole">
            <mc:AlternateContent xmlns:mc="http://schemas.openxmlformats.org/markup-compatibility/2006">
              <mc:Choice xmlns:v="urn:schemas-microsoft-com:vml" Requires="v">
                <p:oleObj spid="_x0000_s14425" name="文档" r:id="rId7" imgW="4510061" imgH="396786" progId="Word.Document.12">
                  <p:embed/>
                </p:oleObj>
              </mc:Choice>
              <mc:Fallback>
                <p:oleObj name="文档" r:id="rId7" imgW="4510061" imgH="396786" progId="Word.Document.12">
                  <p:embed/>
                  <p:pic>
                    <p:nvPicPr>
                      <p:cNvPr id="0" name=""/>
                      <p:cNvPicPr/>
                      <p:nvPr/>
                    </p:nvPicPr>
                    <p:blipFill>
                      <a:blip r:embed="rId8"/>
                      <a:stretch>
                        <a:fillRect/>
                      </a:stretch>
                    </p:blipFill>
                    <p:spPr>
                      <a:xfrm>
                        <a:off x="458424" y="2930098"/>
                        <a:ext cx="11275153" cy="991965"/>
                      </a:xfrm>
                      <a:prstGeom prst="rect">
                        <a:avLst/>
                      </a:prstGeom>
                    </p:spPr>
                  </p:pic>
                </p:oleObj>
              </mc:Fallback>
            </mc:AlternateContent>
          </a:graphicData>
        </a:graphic>
      </p:graphicFrame>
    </p:spTree>
    <p:extLst>
      <p:ext uri="{BB962C8B-B14F-4D97-AF65-F5344CB8AC3E}">
        <p14:creationId xmlns:p14="http://schemas.microsoft.com/office/powerpoint/2010/main" val="23980783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426041"/>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effectLst/>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设</a:t>
            </a:r>
            <a:r>
              <a:rPr lang="en-US" altLang="zh-CN" sz="2800" i="1">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cs typeface="Times New Roman" panose="02020603050405020304" pitchFamily="18" charset="0"/>
              </a:rPr>
              <a:t>和</a:t>
            </a:r>
            <a:r>
              <a:rPr lang="en-US" altLang="zh-CN" sz="2800" i="1">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cs typeface="Times New Roman" panose="02020603050405020304" pitchFamily="18" charset="0"/>
              </a:rPr>
              <a:t>分别是先后抛掷一枚骰子得到的点数</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求在先后两次掷出的点数中有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的条件下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方程</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+bx+c=</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cs typeface="Times New Roman" panose="02020603050405020304" pitchFamily="18" charset="0"/>
              </a:rPr>
              <a:t>有实根的概率</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先后两次掷出的点数中有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为事件</a:t>
            </a:r>
            <a:r>
              <a:rPr lang="en-US" altLang="zh-CN" sz="2800" i="1">
                <a:solidFill>
                  <a:srgbClr val="000000"/>
                </a:solidFill>
                <a:latin typeface="Times New Roman" panose="02020603050405020304" pitchFamily="18" charset="0"/>
                <a:cs typeface="Times New Roman" panose="02020603050405020304" pitchFamily="18" charset="0"/>
              </a:rPr>
              <a:t>M.</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由题意知</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样本空间所包含的样本点总数为</a:t>
            </a:r>
            <a:r>
              <a:rPr lang="en-US" altLang="zh-CN" sz="2800" smtClean="0">
                <a:solidFill>
                  <a:srgbClr val="000000"/>
                </a:solidFill>
                <a:latin typeface="Times New Roman" panose="02020603050405020304" pitchFamily="18" charset="0"/>
                <a:cs typeface="Times New Roman" panose="02020603050405020304" pitchFamily="18" charset="0"/>
              </a:rPr>
              <a:t>6×6</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36</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其中先后两次掷出的点数中有</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共包含</a:t>
            </a:r>
            <a:r>
              <a:rPr lang="en-US" altLang="zh-CN" sz="2800" smtClean="0">
                <a:solidFill>
                  <a:srgbClr val="000000"/>
                </a:solidFill>
                <a:latin typeface="Times New Roman" panose="02020603050405020304" pitchFamily="18" charset="0"/>
                <a:cs typeface="Times New Roman" panose="02020603050405020304" pitchFamily="18" charset="0"/>
              </a:rPr>
              <a:t>11</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个样本点</a:t>
            </a:r>
            <a:r>
              <a:rPr lang="en-US" altLang="zh-CN" sz="2800"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从而</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M</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方程</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+bx+c=</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有实根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为事件</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若方程</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+bx+c=</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有实根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a:solidFill>
                  <a:srgbClr val="000000"/>
                </a:solidFill>
                <a:latin typeface="Times New Roman" panose="02020603050405020304" pitchFamily="18" charset="0"/>
                <a:cs typeface="Times New Roman" panose="02020603050405020304" pitchFamily="18" charset="0"/>
              </a:rPr>
              <a:t>Δ</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c</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分别是先后抛掷一枚骰子得到的点数</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c=</a:t>
            </a:r>
            <a:r>
              <a:rPr lang="en-US" altLang="zh-CN" sz="2800">
                <a:solidFill>
                  <a:srgbClr val="000000"/>
                </a:solidFill>
                <a:latin typeface="Times New Roman" panose="02020603050405020304" pitchFamily="18" charset="0"/>
                <a:cs typeface="Times New Roman" panose="02020603050405020304" pitchFamily="18" charset="0"/>
              </a:rPr>
              <a:t>1,2,3,4,5,6</a:t>
            </a:r>
            <a:r>
              <a:rPr lang="en-US" altLang="zh-CN" sz="2800" i="1"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540244012"/>
              </p:ext>
            </p:extLst>
          </p:nvPr>
        </p:nvGraphicFramePr>
        <p:xfrm>
          <a:off x="6593712" y="2589414"/>
          <a:ext cx="773232" cy="773232"/>
        </p:xfrm>
        <a:graphic>
          <a:graphicData uri="http://schemas.openxmlformats.org/presentationml/2006/ole">
            <mc:AlternateContent xmlns:mc="http://schemas.openxmlformats.org/markup-compatibility/2006">
              <mc:Choice xmlns:v="urn:schemas-microsoft-com:vml" Requires="v">
                <p:oleObj spid="_x0000_s15430" name="文档" r:id="rId4" imgW="399226" imgH="398969" progId="Word.Document.12">
                  <p:embed/>
                </p:oleObj>
              </mc:Choice>
              <mc:Fallback>
                <p:oleObj name="文档" r:id="rId4" imgW="399226" imgH="398969" progId="Word.Document.12">
                  <p:embed/>
                  <p:pic>
                    <p:nvPicPr>
                      <p:cNvPr id="0" name=""/>
                      <p:cNvPicPr>
                        <a:picLocks noChangeAspect="1" noChangeArrowheads="1"/>
                      </p:cNvPicPr>
                      <p:nvPr/>
                    </p:nvPicPr>
                    <p:blipFill>
                      <a:blip r:embed="rId5"/>
                      <a:srcRect/>
                      <a:stretch>
                        <a:fillRect/>
                      </a:stretch>
                    </p:blipFill>
                    <p:spPr bwMode="auto">
                      <a:xfrm>
                        <a:off x="6593712" y="2589414"/>
                        <a:ext cx="773232" cy="773232"/>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563004279"/>
              </p:ext>
            </p:extLst>
          </p:nvPr>
        </p:nvGraphicFramePr>
        <p:xfrm>
          <a:off x="458424" y="5439488"/>
          <a:ext cx="11275153" cy="568718"/>
        </p:xfrm>
        <a:graphic>
          <a:graphicData uri="http://schemas.openxmlformats.org/presentationml/2006/ole">
            <mc:AlternateContent xmlns:mc="http://schemas.openxmlformats.org/markup-compatibility/2006">
              <mc:Choice xmlns:v="urn:schemas-microsoft-com:vml" Requires="v">
                <p:oleObj spid="_x0000_s15431" name="文档" r:id="rId7" imgW="4510061" imgH="227487" progId="Word.Document.12">
                  <p:embed/>
                </p:oleObj>
              </mc:Choice>
              <mc:Fallback>
                <p:oleObj name="文档" r:id="rId7" imgW="4510061" imgH="227487" progId="Word.Document.12">
                  <p:embed/>
                  <p:pic>
                    <p:nvPicPr>
                      <p:cNvPr id="0" name=""/>
                      <p:cNvPicPr/>
                      <p:nvPr/>
                    </p:nvPicPr>
                    <p:blipFill>
                      <a:blip r:embed="rId8"/>
                      <a:stretch>
                        <a:fillRect/>
                      </a:stretch>
                    </p:blipFill>
                    <p:spPr>
                      <a:xfrm>
                        <a:off x="458424" y="5439488"/>
                        <a:ext cx="11275153" cy="568718"/>
                      </a:xfrm>
                      <a:prstGeom prst="rect">
                        <a:avLst/>
                      </a:prstGeom>
                    </p:spPr>
                  </p:pic>
                </p:oleObj>
              </mc:Fallback>
            </mc:AlternateContent>
          </a:graphicData>
        </a:graphic>
      </p:graphicFrame>
    </p:spTree>
    <p:extLst>
      <p:ext uri="{BB962C8B-B14F-4D97-AF65-F5344CB8AC3E}">
        <p14:creationId xmlns:p14="http://schemas.microsoft.com/office/powerpoint/2010/main" val="12591100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7" dur="500"/>
                                        <p:tgtEl>
                                          <p:spTgt spid="2">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0" dur="500"/>
                                        <p:tgtEl>
                                          <p:spTgt spid="2">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3" dur="500"/>
                                        <p:tgtEl>
                                          <p:spTgt spid="2">
                                            <p:txEl>
                                              <p:pRg st="3" end="3"/>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6" dur="500"/>
                                        <p:tgtEl>
                                          <p:spTgt spid="2">
                                            <p:txEl>
                                              <p:pRg st="4" end="4"/>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9" dur="500"/>
                                        <p:tgtEl>
                                          <p:spTgt spid="2">
                                            <p:txEl>
                                              <p:pRg st="5" end="5"/>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randombar(horizontal)">
                                      <p:cBhvr>
                                        <p:cTn id="22" dur="500"/>
                                        <p:tgtEl>
                                          <p:spTgt spid="2">
                                            <p:txEl>
                                              <p:pRg st="6" end="6"/>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randombar(horizontal)">
                                      <p:cBhvr>
                                        <p:cTn id="25" dur="500"/>
                                        <p:tgtEl>
                                          <p:spTgt spid="3"/>
                                        </p:tgtEl>
                                      </p:cBhvr>
                                    </p:animEffect>
                                  </p:childTnLst>
                                </p:cTn>
                              </p:par>
                              <p:par>
                                <p:cTn id="26" presetID="14" presetClass="entr" presetSubtype="10" fill="hold"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randombar(horizontal)">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32391"/>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当先后两次掷出的点数中有</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c=</a:t>
            </a:r>
            <a:r>
              <a:rPr lang="en-US" altLang="zh-CN" sz="2800">
                <a:solidFill>
                  <a:srgbClr val="000000"/>
                </a:solidFill>
                <a:latin typeface="Times New Roman" panose="02020603050405020304" pitchFamily="18" charset="0"/>
                <a:cs typeface="Times New Roman" panose="02020603050405020304" pitchFamily="18" charset="0"/>
              </a:rPr>
              <a:t>1,2,3,4,5,6;</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若</a:t>
            </a:r>
            <a:r>
              <a:rPr lang="en-US" altLang="zh-CN" sz="2800" i="1">
                <a:solidFill>
                  <a:srgbClr val="000000"/>
                </a:solidFill>
                <a:latin typeface="Times New Roman" panose="02020603050405020304" pitchFamily="18" charset="0"/>
                <a:cs typeface="Times New Roman" panose="02020603050405020304" pitchFamily="18" charset="0"/>
              </a:rPr>
              <a:t>c=</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a:solidFill>
                  <a:srgbClr val="000000"/>
                </a:solidFill>
                <a:latin typeface="Times New Roman" panose="02020603050405020304" pitchFamily="18" charset="0"/>
                <a:cs typeface="Times New Roman" panose="02020603050405020304" pitchFamily="18" charset="0"/>
              </a:rPr>
              <a:t>5,6</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743369066"/>
              </p:ext>
            </p:extLst>
          </p:nvPr>
        </p:nvGraphicFramePr>
        <p:xfrm>
          <a:off x="458424" y="2858252"/>
          <a:ext cx="11275153" cy="2546203"/>
        </p:xfrm>
        <a:graphic>
          <a:graphicData uri="http://schemas.openxmlformats.org/presentationml/2006/ole">
            <mc:AlternateContent xmlns:mc="http://schemas.openxmlformats.org/markup-compatibility/2006">
              <mc:Choice xmlns:v="urn:schemas-microsoft-com:vml" Requires="v">
                <p:oleObj spid="_x0000_s16420" name="文档" r:id="rId4" imgW="4510061" imgH="1018481" progId="Word.Document.12">
                  <p:embed/>
                </p:oleObj>
              </mc:Choice>
              <mc:Fallback>
                <p:oleObj name="文档" r:id="rId4" imgW="4510061" imgH="1018481" progId="Word.Document.12">
                  <p:embed/>
                  <p:pic>
                    <p:nvPicPr>
                      <p:cNvPr id="0" name=""/>
                      <p:cNvPicPr/>
                      <p:nvPr/>
                    </p:nvPicPr>
                    <p:blipFill>
                      <a:blip r:embed="rId5"/>
                      <a:stretch>
                        <a:fillRect/>
                      </a:stretch>
                    </p:blipFill>
                    <p:spPr>
                      <a:xfrm>
                        <a:off x="458424" y="2858252"/>
                        <a:ext cx="11275153" cy="2546203"/>
                      </a:xfrm>
                      <a:prstGeom prst="rect">
                        <a:avLst/>
                      </a:prstGeom>
                    </p:spPr>
                  </p:pic>
                </p:oleObj>
              </mc:Fallback>
            </mc:AlternateContent>
          </a:graphicData>
        </a:graphic>
      </p:graphicFrame>
    </p:spTree>
    <p:extLst>
      <p:ext uri="{BB962C8B-B14F-4D97-AF65-F5344CB8AC3E}">
        <p14:creationId xmlns:p14="http://schemas.microsoft.com/office/powerpoint/2010/main" val="27468120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642933"/>
            <a:ext cx="11430000" cy="395313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专题二</a:t>
            </a:r>
            <a:r>
              <a:rPr lang="zh-CN" altLang="zh-CN" sz="2800" i="1">
                <a:solidFill>
                  <a:srgbClr val="000000"/>
                </a:solidFill>
                <a:latin typeface="Times New Roman" panose="02020603050405020304" pitchFamily="18" charset="0"/>
                <a:cs typeface="Times New Roman" panose="02020603050405020304" pitchFamily="18" charset="0"/>
              </a:rPr>
              <a:t>　</a:t>
            </a:r>
            <a:r>
              <a:rPr lang="zh-CN" altLang="zh-CN" sz="2800">
                <a:solidFill>
                  <a:srgbClr val="000000"/>
                </a:solidFill>
                <a:latin typeface="Arial" panose="020B0604020202020204" pitchFamily="34" charset="0"/>
                <a:ea typeface="微软雅黑" panose="020B0503020204020204" pitchFamily="34" charset="-122"/>
                <a:cs typeface="Times New Roman" panose="02020603050405020304" pitchFamily="18" charset="0"/>
              </a:rPr>
              <a:t>全概率公式与贝叶斯公式的应用</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设有来自三个地区的各</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cs typeface="Times New Roman" panose="02020603050405020304" pitchFamily="18" charset="0"/>
              </a:rPr>
              <a:t>名、</a:t>
            </a:r>
            <a:r>
              <a:rPr lang="en-US" altLang="zh-CN" sz="2800">
                <a:solidFill>
                  <a:srgbClr val="000000"/>
                </a:solidFill>
                <a:latin typeface="Times New Roman" panose="02020603050405020304" pitchFamily="18" charset="0"/>
                <a:cs typeface="Times New Roman" panose="02020603050405020304" pitchFamily="18" charset="0"/>
              </a:rPr>
              <a:t>15</a:t>
            </a:r>
            <a:r>
              <a:rPr lang="zh-CN" altLang="zh-CN" sz="2800">
                <a:solidFill>
                  <a:srgbClr val="000000"/>
                </a:solidFill>
                <a:latin typeface="Times New Roman" panose="02020603050405020304" pitchFamily="18" charset="0"/>
                <a:cs typeface="Times New Roman" panose="02020603050405020304" pitchFamily="18" charset="0"/>
              </a:rPr>
              <a:t>名和</a:t>
            </a:r>
            <a:r>
              <a:rPr lang="en-US" altLang="zh-CN" sz="2800">
                <a:solidFill>
                  <a:srgbClr val="000000"/>
                </a:solidFill>
                <a:latin typeface="Times New Roman" panose="02020603050405020304" pitchFamily="18" charset="0"/>
                <a:cs typeface="Times New Roman" panose="02020603050405020304" pitchFamily="18" charset="0"/>
              </a:rPr>
              <a:t>25</a:t>
            </a:r>
            <a:r>
              <a:rPr lang="zh-CN" altLang="zh-CN" sz="2800">
                <a:solidFill>
                  <a:srgbClr val="000000"/>
                </a:solidFill>
                <a:latin typeface="Times New Roman" panose="02020603050405020304" pitchFamily="18" charset="0"/>
                <a:cs typeface="Times New Roman" panose="02020603050405020304" pitchFamily="18" charset="0"/>
              </a:rPr>
              <a:t>名考生的报名表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其中女生的报名表分别为</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份、</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cs typeface="Times New Roman" panose="02020603050405020304" pitchFamily="18" charset="0"/>
              </a:rPr>
              <a:t>份和</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cs typeface="Times New Roman" panose="02020603050405020304" pitchFamily="18" charset="0"/>
              </a:rPr>
              <a:t>份</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随机地取一个地区的报名表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从中先后抽出两份</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求先抽到的一份是女生的报名表的概率</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已知后抽到的一份是男生的报名表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求先抽到的一份是女生的报名表的概率</a:t>
            </a:r>
            <a:r>
              <a:rPr lang="en-US" altLang="zh-CN" sz="2800" i="1">
                <a:solidFill>
                  <a:srgbClr val="000000"/>
                </a:solidFill>
                <a:latin typeface="Times New Roman" panose="02020603050405020304" pitchFamily="18" charset="0"/>
                <a:cs typeface="Times New Roman" panose="02020603050405020304" pitchFamily="18" charset="0"/>
              </a:rPr>
              <a:t>q.</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7791552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72728"/>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设事件</a:t>
            </a:r>
            <a:r>
              <a:rPr lang="en-US" altLang="zh-CN" sz="2800" i="1">
                <a:solidFill>
                  <a:srgbClr val="000000"/>
                </a:solidFill>
                <a:latin typeface="Times New Roman" panose="02020603050405020304" pitchFamily="18" charset="0"/>
                <a:cs typeface="Times New Roman" panose="02020603050405020304" pitchFamily="18" charset="0"/>
              </a:rPr>
              <a:t>B</a:t>
            </a:r>
            <a:r>
              <a:rPr lang="en-US" altLang="zh-CN" sz="2800" i="1" baseline="-25000">
                <a:solidFill>
                  <a:srgbClr val="000000"/>
                </a:solidFill>
                <a:latin typeface="Times New Roman" panose="02020603050405020304" pitchFamily="18" charset="0"/>
                <a:cs typeface="Times New Roman" panose="02020603050405020304" pitchFamily="18" charset="0"/>
              </a:rPr>
              <a:t>j</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第</a:t>
            </a:r>
            <a:r>
              <a:rPr lang="en-US" altLang="zh-CN" sz="2800" i="1">
                <a:solidFill>
                  <a:srgbClr val="000000"/>
                </a:solidFill>
                <a:latin typeface="Times New Roman" panose="02020603050405020304" pitchFamily="18" charset="0"/>
                <a:cs typeface="Times New Roman" panose="02020603050405020304" pitchFamily="18" charset="0"/>
              </a:rPr>
              <a:t>j</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次抽到的报名表是女生的报名表</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j=</a:t>
            </a:r>
            <a:r>
              <a:rPr lang="en-US" altLang="zh-CN" sz="2800">
                <a:solidFill>
                  <a:srgbClr val="000000"/>
                </a:solidFill>
                <a:latin typeface="Times New Roman" panose="02020603050405020304" pitchFamily="18" charset="0"/>
                <a:cs typeface="Times New Roman" panose="02020603050405020304" pitchFamily="18" charset="0"/>
              </a:rPr>
              <a:t>1,2),</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i="1" baseline="-25000">
                <a:solidFill>
                  <a:srgbClr val="000000"/>
                </a:solidFill>
                <a:latin typeface="Times New Roman" panose="02020603050405020304" pitchFamily="18" charset="0"/>
                <a:cs typeface="Times New Roman" panose="02020603050405020304" pitchFamily="18" charset="0"/>
              </a:rPr>
              <a:t>i</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报名表是第</a:t>
            </a:r>
            <a:r>
              <a:rPr lang="en-US" altLang="zh-CN" sz="2800" i="1">
                <a:solidFill>
                  <a:srgbClr val="000000"/>
                </a:solidFill>
                <a:latin typeface="Times New Roman" panose="02020603050405020304" pitchFamily="18" charset="0"/>
                <a:cs typeface="Times New Roman" panose="02020603050405020304" pitchFamily="18" charset="0"/>
              </a:rPr>
              <a:t>i</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个地区的</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i=</a:t>
            </a:r>
            <a:r>
              <a:rPr lang="en-US" altLang="zh-CN" sz="2800">
                <a:solidFill>
                  <a:srgbClr val="000000"/>
                </a:solidFill>
                <a:latin typeface="Times New Roman" panose="02020603050405020304" pitchFamily="18" charset="0"/>
                <a:cs typeface="Times New Roman" panose="02020603050405020304" pitchFamily="18" charset="0"/>
              </a:rPr>
              <a:t>1,2,3),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NEU-BZ-S92"/>
                <a:cs typeface="宋体" panose="02010600030101010101" pitchFamily="2" charset="-122"/>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NEU-BZ-S92"/>
                <a:cs typeface="宋体" panose="02010600030101010101" pitchFamily="2" charset="-122"/>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两两互斥</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212627368"/>
              </p:ext>
            </p:extLst>
          </p:nvPr>
        </p:nvGraphicFramePr>
        <p:xfrm>
          <a:off x="458424" y="2010524"/>
          <a:ext cx="11275153" cy="3460823"/>
        </p:xfrm>
        <a:graphic>
          <a:graphicData uri="http://schemas.openxmlformats.org/presentationml/2006/ole">
            <mc:AlternateContent xmlns:mc="http://schemas.openxmlformats.org/markup-compatibility/2006">
              <mc:Choice xmlns:v="urn:schemas-microsoft-com:vml" Requires="v">
                <p:oleObj spid="_x0000_s17444" name="文档" r:id="rId4" imgW="4510061" imgH="1384329" progId="Word.Document.12">
                  <p:embed/>
                </p:oleObj>
              </mc:Choice>
              <mc:Fallback>
                <p:oleObj name="文档" r:id="rId4" imgW="4510061" imgH="1384329" progId="Word.Document.12">
                  <p:embed/>
                  <p:pic>
                    <p:nvPicPr>
                      <p:cNvPr id="0" name=""/>
                      <p:cNvPicPr/>
                      <p:nvPr/>
                    </p:nvPicPr>
                    <p:blipFill>
                      <a:blip r:embed="rId5"/>
                      <a:stretch>
                        <a:fillRect/>
                      </a:stretch>
                    </p:blipFill>
                    <p:spPr>
                      <a:xfrm>
                        <a:off x="458424" y="2010524"/>
                        <a:ext cx="11275153" cy="3460823"/>
                      </a:xfrm>
                      <a:prstGeom prst="rect">
                        <a:avLst/>
                      </a:prstGeom>
                    </p:spPr>
                  </p:pic>
                </p:oleObj>
              </mc:Fallback>
            </mc:AlternateContent>
          </a:graphicData>
        </a:graphic>
      </p:graphicFrame>
    </p:spTree>
    <p:extLst>
      <p:ext uri="{BB962C8B-B14F-4D97-AF65-F5344CB8AC3E}">
        <p14:creationId xmlns:p14="http://schemas.microsoft.com/office/powerpoint/2010/main" val="36280202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035412599"/>
              </p:ext>
            </p:extLst>
          </p:nvPr>
        </p:nvGraphicFramePr>
        <p:xfrm>
          <a:off x="458424" y="470788"/>
          <a:ext cx="11275153" cy="5512878"/>
        </p:xfrm>
        <a:graphic>
          <a:graphicData uri="http://schemas.openxmlformats.org/presentationml/2006/ole">
            <mc:AlternateContent xmlns:mc="http://schemas.openxmlformats.org/markup-compatibility/2006">
              <mc:Choice xmlns:v="urn:schemas-microsoft-com:vml" Requires="v">
                <p:oleObj spid="_x0000_s18468" name="文档" r:id="rId4" imgW="4510061" imgH="2205151" progId="Word.Document.12">
                  <p:embed/>
                </p:oleObj>
              </mc:Choice>
              <mc:Fallback>
                <p:oleObj name="文档" r:id="rId4" imgW="4510061" imgH="2205151" progId="Word.Document.12">
                  <p:embed/>
                  <p:pic>
                    <p:nvPicPr>
                      <p:cNvPr id="0" name=""/>
                      <p:cNvPicPr/>
                      <p:nvPr/>
                    </p:nvPicPr>
                    <p:blipFill>
                      <a:blip r:embed="rId5"/>
                      <a:stretch>
                        <a:fillRect/>
                      </a:stretch>
                    </p:blipFill>
                    <p:spPr>
                      <a:xfrm>
                        <a:off x="458424" y="470788"/>
                        <a:ext cx="11275153" cy="5512878"/>
                      </a:xfrm>
                      <a:prstGeom prst="rect">
                        <a:avLst/>
                      </a:prstGeom>
                    </p:spPr>
                  </p:pic>
                </p:oleObj>
              </mc:Fallback>
            </mc:AlternateContent>
          </a:graphicData>
        </a:graphic>
      </p:graphicFrame>
    </p:spTree>
    <p:extLst>
      <p:ext uri="{BB962C8B-B14F-4D97-AF65-F5344CB8AC3E}">
        <p14:creationId xmlns:p14="http://schemas.microsoft.com/office/powerpoint/2010/main" val="29177814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972664559"/>
              </p:ext>
            </p:extLst>
          </p:nvPr>
        </p:nvGraphicFramePr>
        <p:xfrm>
          <a:off x="458424" y="493807"/>
          <a:ext cx="11275153" cy="494148"/>
        </p:xfrm>
        <a:graphic>
          <a:graphicData uri="http://schemas.openxmlformats.org/presentationml/2006/ole">
            <mc:AlternateContent xmlns:mc="http://schemas.openxmlformats.org/markup-compatibility/2006">
              <mc:Choice xmlns:v="urn:schemas-microsoft-com:vml" Requires="v">
                <p:oleObj spid="_x0000_s19560"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493807"/>
                        <a:ext cx="11275153" cy="494148"/>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775111642"/>
              </p:ext>
            </p:extLst>
          </p:nvPr>
        </p:nvGraphicFramePr>
        <p:xfrm>
          <a:off x="458424" y="995314"/>
          <a:ext cx="11275153" cy="1977485"/>
        </p:xfrm>
        <a:graphic>
          <a:graphicData uri="http://schemas.openxmlformats.org/presentationml/2006/ole">
            <mc:AlternateContent xmlns:mc="http://schemas.openxmlformats.org/markup-compatibility/2006">
              <mc:Choice xmlns:v="urn:schemas-microsoft-com:vml" Requires="v">
                <p:oleObj spid="_x0000_s19561" name="文档" r:id="rId7" imgW="4510061" imgH="790994" progId="Word.Document.12">
                  <p:embed/>
                </p:oleObj>
              </mc:Choice>
              <mc:Fallback>
                <p:oleObj name="文档" r:id="rId7" imgW="4510061" imgH="790994" progId="Word.Document.12">
                  <p:embed/>
                  <p:pic>
                    <p:nvPicPr>
                      <p:cNvPr id="0" name=""/>
                      <p:cNvPicPr/>
                      <p:nvPr/>
                    </p:nvPicPr>
                    <p:blipFill>
                      <a:blip r:embed="rId8"/>
                      <a:stretch>
                        <a:fillRect/>
                      </a:stretch>
                    </p:blipFill>
                    <p:spPr>
                      <a:xfrm>
                        <a:off x="458424" y="995314"/>
                        <a:ext cx="11275153" cy="1977485"/>
                      </a:xfrm>
                      <a:prstGeom prst="rect">
                        <a:avLst/>
                      </a:prstGeom>
                    </p:spPr>
                  </p:pic>
                </p:oleObj>
              </mc:Fallback>
            </mc:AlternateContent>
          </a:graphicData>
        </a:graphic>
      </p:graphicFrame>
      <p:sp>
        <p:nvSpPr>
          <p:cNvPr id="4" name="矩形 3"/>
          <p:cNvSpPr>
            <a:spLocks noChangeAspect="1"/>
          </p:cNvSpPr>
          <p:nvPr/>
        </p:nvSpPr>
        <p:spPr>
          <a:xfrm>
            <a:off x="381000" y="2972799"/>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全概率公式的应用需要按照某种标准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将一个复杂事件表示为一组两两互斥的事件的并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再由概率的加法公式和乘法公式求得这复杂事件的概率</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669924771"/>
              </p:ext>
            </p:extLst>
          </p:nvPr>
        </p:nvGraphicFramePr>
        <p:xfrm>
          <a:off x="458424" y="4125166"/>
          <a:ext cx="11275153" cy="1977485"/>
        </p:xfrm>
        <a:graphic>
          <a:graphicData uri="http://schemas.openxmlformats.org/presentationml/2006/ole">
            <mc:AlternateContent xmlns:mc="http://schemas.openxmlformats.org/markup-compatibility/2006">
              <mc:Choice xmlns:v="urn:schemas-microsoft-com:vml" Requires="v">
                <p:oleObj spid="_x0000_s19562" name="文档" r:id="rId10" imgW="4510061" imgH="790994" progId="Word.Document.12">
                  <p:embed/>
                </p:oleObj>
              </mc:Choice>
              <mc:Fallback>
                <p:oleObj name="文档" r:id="rId10" imgW="4510061" imgH="790994" progId="Word.Document.12">
                  <p:embed/>
                  <p:pic>
                    <p:nvPicPr>
                      <p:cNvPr id="0" name=""/>
                      <p:cNvPicPr/>
                      <p:nvPr/>
                    </p:nvPicPr>
                    <p:blipFill>
                      <a:blip r:embed="rId11"/>
                      <a:stretch>
                        <a:fillRect/>
                      </a:stretch>
                    </p:blipFill>
                    <p:spPr>
                      <a:xfrm>
                        <a:off x="458424" y="4125166"/>
                        <a:ext cx="11275153" cy="1977485"/>
                      </a:xfrm>
                      <a:prstGeom prst="rect">
                        <a:avLst/>
                      </a:prstGeom>
                    </p:spPr>
                  </p:pic>
                </p:oleObj>
              </mc:Fallback>
            </mc:AlternateContent>
          </a:graphicData>
        </a:graphic>
      </p:graphicFrame>
    </p:spTree>
    <p:extLst>
      <p:ext uri="{BB962C8B-B14F-4D97-AF65-F5344CB8AC3E}">
        <p14:creationId xmlns:p14="http://schemas.microsoft.com/office/powerpoint/2010/main" val="36686446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923010"/>
            <a:ext cx="11430000" cy="339298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已知有两箱同种规格的零件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第一箱内装</a:t>
            </a:r>
            <a:r>
              <a:rPr lang="en-US" altLang="zh-CN" sz="2800">
                <a:solidFill>
                  <a:srgbClr val="000000"/>
                </a:solidFill>
                <a:latin typeface="Times New Roman" panose="02020603050405020304" pitchFamily="18" charset="0"/>
                <a:cs typeface="Times New Roman" panose="02020603050405020304" pitchFamily="18" charset="0"/>
              </a:rPr>
              <a:t>50</a:t>
            </a:r>
            <a:r>
              <a:rPr lang="zh-CN" altLang="zh-CN" sz="2800">
                <a:solidFill>
                  <a:srgbClr val="000000"/>
                </a:solidFill>
                <a:latin typeface="Times New Roman" panose="02020603050405020304" pitchFamily="18" charset="0"/>
                <a:cs typeface="Times New Roman" panose="02020603050405020304" pitchFamily="18" charset="0"/>
              </a:rPr>
              <a:t>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cs typeface="Times New Roman" panose="02020603050405020304" pitchFamily="18" charset="0"/>
              </a:rPr>
              <a:t>件一等品</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第二箱内装</a:t>
            </a:r>
            <a:r>
              <a:rPr lang="en-US" altLang="zh-CN" sz="2800">
                <a:solidFill>
                  <a:srgbClr val="000000"/>
                </a:solidFill>
                <a:latin typeface="Times New Roman" panose="02020603050405020304" pitchFamily="18" charset="0"/>
                <a:cs typeface="Times New Roman" panose="02020603050405020304" pitchFamily="18" charset="0"/>
              </a:rPr>
              <a:t>30</a:t>
            </a:r>
            <a:r>
              <a:rPr lang="zh-CN" altLang="zh-CN" sz="2800">
                <a:solidFill>
                  <a:srgbClr val="000000"/>
                </a:solidFill>
                <a:latin typeface="Times New Roman" panose="02020603050405020304" pitchFamily="18" charset="0"/>
                <a:cs typeface="Times New Roman" panose="02020603050405020304" pitchFamily="18" charset="0"/>
              </a:rPr>
              <a:t>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a:t>
            </a:r>
            <a:r>
              <a:rPr lang="en-US" altLang="zh-CN" sz="2800">
                <a:solidFill>
                  <a:srgbClr val="000000"/>
                </a:solidFill>
                <a:latin typeface="Times New Roman" panose="02020603050405020304" pitchFamily="18" charset="0"/>
                <a:cs typeface="Times New Roman" panose="02020603050405020304" pitchFamily="18" charset="0"/>
              </a:rPr>
              <a:t>18</a:t>
            </a:r>
            <a:r>
              <a:rPr lang="zh-CN" altLang="zh-CN" sz="2800">
                <a:solidFill>
                  <a:srgbClr val="000000"/>
                </a:solidFill>
                <a:latin typeface="Times New Roman" panose="02020603050405020304" pitchFamily="18" charset="0"/>
                <a:cs typeface="Times New Roman" panose="02020603050405020304" pitchFamily="18" charset="0"/>
              </a:rPr>
              <a:t>件一等品</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现从两箱中随意挑出一箱</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然后从该箱中先后随机取出两个零件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取出的零件均不放回</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先取出的零件是一等品的概率</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在先取出的零件是一等品的条件下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第二次取出的零件仍然是一等品的条件概率</a:t>
            </a:r>
            <a:r>
              <a:rPr lang="en-US" altLang="zh-CN" sz="2800" i="1">
                <a:solidFill>
                  <a:srgbClr val="000000"/>
                </a:solidFill>
                <a:latin typeface="Times New Roman" panose="02020603050405020304" pitchFamily="18" charset="0"/>
                <a:cs typeface="Times New Roman" panose="02020603050405020304" pitchFamily="18" charset="0"/>
              </a:rPr>
              <a:t>q.</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1311189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631785941"/>
              </p:ext>
            </p:extLst>
          </p:nvPr>
        </p:nvGraphicFramePr>
        <p:xfrm>
          <a:off x="458424" y="249785"/>
          <a:ext cx="11275153" cy="6427498"/>
        </p:xfrm>
        <a:graphic>
          <a:graphicData uri="http://schemas.openxmlformats.org/presentationml/2006/ole">
            <mc:AlternateContent xmlns:mc="http://schemas.openxmlformats.org/markup-compatibility/2006">
              <mc:Choice xmlns:v="urn:schemas-microsoft-com:vml" Requires="v">
                <p:oleObj spid="_x0000_s20516" name="文档" r:id="rId4" imgW="4510061" imgH="2570999" progId="Word.Document.12">
                  <p:embed/>
                </p:oleObj>
              </mc:Choice>
              <mc:Fallback>
                <p:oleObj name="文档" r:id="rId4" imgW="4510061" imgH="2570999" progId="Word.Document.12">
                  <p:embed/>
                  <p:pic>
                    <p:nvPicPr>
                      <p:cNvPr id="0" name=""/>
                      <p:cNvPicPr/>
                      <p:nvPr/>
                    </p:nvPicPr>
                    <p:blipFill>
                      <a:blip r:embed="rId5"/>
                      <a:stretch>
                        <a:fillRect/>
                      </a:stretch>
                    </p:blipFill>
                    <p:spPr>
                      <a:xfrm>
                        <a:off x="458424" y="249785"/>
                        <a:ext cx="11275153" cy="6427498"/>
                      </a:xfrm>
                      <a:prstGeom prst="rect">
                        <a:avLst/>
                      </a:prstGeom>
                    </p:spPr>
                  </p:pic>
                </p:oleObj>
              </mc:Fallback>
            </mc:AlternateContent>
          </a:graphicData>
        </a:graphic>
      </p:graphicFrame>
    </p:spTree>
    <p:extLst>
      <p:ext uri="{BB962C8B-B14F-4D97-AF65-F5344CB8AC3E}">
        <p14:creationId xmlns:p14="http://schemas.microsoft.com/office/powerpoint/2010/main" val="32525673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406627"/>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专题三</a:t>
            </a:r>
            <a:r>
              <a:rPr lang="zh-CN" altLang="zh-CN" sz="2800" i="1">
                <a:solidFill>
                  <a:srgbClr val="000000"/>
                </a:solidFill>
                <a:latin typeface="Times New Roman" panose="02020603050405020304" pitchFamily="18" charset="0"/>
                <a:cs typeface="Times New Roman" panose="02020603050405020304" pitchFamily="18" charset="0"/>
              </a:rPr>
              <a:t>　</a:t>
            </a:r>
            <a:r>
              <a:rPr lang="zh-CN" altLang="zh-CN" sz="280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离</a:t>
            </a:r>
            <a:r>
              <a:rPr lang="zh-CN" altLang="en-US" sz="2800">
                <a:solidFill>
                  <a:srgbClr val="000000"/>
                </a:solidFill>
                <a:latin typeface="Arial" panose="020B0604020202020204" pitchFamily="34" charset="0"/>
                <a:ea typeface="微软雅黑" panose="020B0503020204020204" pitchFamily="34" charset="-122"/>
                <a:cs typeface="Times New Roman" panose="02020603050405020304" pitchFamily="18" charset="0"/>
              </a:rPr>
              <a:t>散型随机变量的分布列及均值与方差</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某小组共</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cs typeface="Times New Roman" panose="02020603050405020304" pitchFamily="18" charset="0"/>
              </a:rPr>
              <a:t>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利用假期参加义工活动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已知参加义工活动次数为</a:t>
            </a:r>
            <a:r>
              <a:rPr lang="en-US" altLang="zh-CN" sz="2800">
                <a:solidFill>
                  <a:srgbClr val="000000"/>
                </a:solidFill>
                <a:latin typeface="Times New Roman" panose="02020603050405020304" pitchFamily="18" charset="0"/>
                <a:cs typeface="Times New Roman" panose="02020603050405020304" pitchFamily="18" charset="0"/>
              </a:rPr>
              <a:t>1,2,3</a:t>
            </a:r>
            <a:r>
              <a:rPr lang="zh-CN" altLang="zh-CN" sz="2800">
                <a:solidFill>
                  <a:srgbClr val="000000"/>
                </a:solidFill>
                <a:latin typeface="Times New Roman" panose="02020603050405020304" pitchFamily="18" charset="0"/>
                <a:cs typeface="Times New Roman" panose="02020603050405020304" pitchFamily="18" charset="0"/>
              </a:rPr>
              <a:t>的人数分别为</a:t>
            </a:r>
            <a:r>
              <a:rPr lang="en-US" altLang="zh-CN" sz="2800">
                <a:solidFill>
                  <a:srgbClr val="000000"/>
                </a:solidFill>
                <a:latin typeface="Times New Roman" panose="02020603050405020304" pitchFamily="18" charset="0"/>
                <a:cs typeface="Times New Roman" panose="02020603050405020304" pitchFamily="18" charset="0"/>
              </a:rPr>
              <a:t>3,3,4</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现从这</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cs typeface="Times New Roman" panose="02020603050405020304" pitchFamily="18" charset="0"/>
              </a:rPr>
              <a:t>人中随机选出</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人作为该组代表参加座谈会</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设</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为事件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选出的</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人参加义工活动次数之和为</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求事件</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cs typeface="Times New Roman" panose="02020603050405020304" pitchFamily="18" charset="0"/>
              </a:rPr>
              <a:t>发生的概率</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设</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为选出的</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人参加义工活动次数之差的绝对值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smtClean="0">
                <a:solidFill>
                  <a:srgbClr val="000000"/>
                </a:solidFill>
                <a:latin typeface="Times New Roman" panose="02020603050405020304" pitchFamily="18" charset="0"/>
                <a:cs typeface="Times New Roman" panose="02020603050405020304" pitchFamily="18" charset="0"/>
              </a:rPr>
              <a:t>的</a:t>
            </a:r>
            <a:r>
              <a:rPr lang="zh-CN" altLang="en-US" sz="2800">
                <a:solidFill>
                  <a:srgbClr val="000000"/>
                </a:solidFill>
                <a:latin typeface="Times New Roman" panose="02020603050405020304" pitchFamily="18" charset="0"/>
                <a:cs typeface="Times New Roman" panose="02020603050405020304" pitchFamily="18" charset="0"/>
              </a:rPr>
              <a:t>分布列和均值</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6644994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603191341"/>
              </p:ext>
            </p:extLst>
          </p:nvPr>
        </p:nvGraphicFramePr>
        <p:xfrm>
          <a:off x="442268" y="267128"/>
          <a:ext cx="11307463" cy="6697930"/>
        </p:xfrm>
        <a:graphic>
          <a:graphicData uri="http://schemas.openxmlformats.org/presentationml/2006/ole">
            <mc:AlternateContent xmlns:mc="http://schemas.openxmlformats.org/markup-compatibility/2006">
              <mc:Choice xmlns:v="urn:schemas-microsoft-com:vml" Requires="v">
                <p:oleObj spid="_x0000_s21540" name="文档" r:id="rId4" imgW="4510061" imgH="2675219" progId="Word.Document.12">
                  <p:embed/>
                </p:oleObj>
              </mc:Choice>
              <mc:Fallback>
                <p:oleObj name="文档" r:id="rId4" imgW="4510061" imgH="2675219" progId="Word.Document.12">
                  <p:embed/>
                  <p:pic>
                    <p:nvPicPr>
                      <p:cNvPr id="0" name=""/>
                      <p:cNvPicPr/>
                      <p:nvPr/>
                    </p:nvPicPr>
                    <p:blipFill>
                      <a:blip r:embed="rId5"/>
                      <a:stretch>
                        <a:fillRect/>
                      </a:stretch>
                    </p:blipFill>
                    <p:spPr>
                      <a:xfrm>
                        <a:off x="442268" y="267128"/>
                        <a:ext cx="11307463" cy="6697930"/>
                      </a:xfrm>
                      <a:prstGeom prst="rect">
                        <a:avLst/>
                      </a:prstGeom>
                    </p:spPr>
                  </p:pic>
                </p:oleObj>
              </mc:Fallback>
            </mc:AlternateContent>
          </a:graphicData>
        </a:graphic>
      </p:graphicFrame>
    </p:spTree>
    <p:extLst>
      <p:ext uri="{BB962C8B-B14F-4D97-AF65-F5344CB8AC3E}">
        <p14:creationId xmlns:p14="http://schemas.microsoft.com/office/powerpoint/2010/main" val="12255408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353092741"/>
              </p:ext>
            </p:extLst>
          </p:nvPr>
        </p:nvGraphicFramePr>
        <p:xfrm>
          <a:off x="458424" y="1428862"/>
          <a:ext cx="11275153" cy="494148"/>
        </p:xfrm>
        <a:graphic>
          <a:graphicData uri="http://schemas.openxmlformats.org/presentationml/2006/ole">
            <mc:AlternateContent xmlns:mc="http://schemas.openxmlformats.org/markup-compatibility/2006">
              <mc:Choice xmlns:v="urn:schemas-microsoft-com:vml" Requires="v">
                <p:oleObj spid="_x0000_s22564"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428862"/>
                        <a:ext cx="11275153" cy="494148"/>
                      </a:xfrm>
                      <a:prstGeom prst="rect">
                        <a:avLst/>
                      </a:prstGeom>
                    </p:spPr>
                  </p:pic>
                </p:oleObj>
              </mc:Fallback>
            </mc:AlternateContent>
          </a:graphicData>
        </a:graphic>
      </p:graphicFrame>
      <p:sp>
        <p:nvSpPr>
          <p:cNvPr id="4" name="矩形 3"/>
          <p:cNvSpPr>
            <a:spLocks noChangeAspect="1"/>
          </p:cNvSpPr>
          <p:nvPr/>
        </p:nvSpPr>
        <p:spPr>
          <a:xfrm>
            <a:off x="381000" y="1923010"/>
            <a:ext cx="11430000" cy="339298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求离散型随机变量的均值与方差的步骤</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理解随机变量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的实际意义</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并写出</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的全部可能取值</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求出</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的每个取值的概率</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写出</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的分布列</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有时也可省略</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求出均值</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利用</a:t>
            </a:r>
            <a:r>
              <a:rPr lang="en-US" altLang="zh-CN" sz="2800" i="1">
                <a:solidFill>
                  <a:srgbClr val="000000"/>
                </a:solidFill>
                <a:latin typeface="Times New Roman" panose="02020603050405020304" pitchFamily="18" charset="0"/>
                <a:cs typeface="Times New Roman" panose="02020603050405020304" pitchFamily="18" charset="0"/>
              </a:rPr>
              <a:t>D</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i="1" baseline="-25000">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求出方差</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783819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765448773"/>
              </p:ext>
            </p:extLst>
          </p:nvPr>
        </p:nvGraphicFramePr>
        <p:xfrm>
          <a:off x="458424" y="1060274"/>
          <a:ext cx="11275153" cy="2546203"/>
        </p:xfrm>
        <a:graphic>
          <a:graphicData uri="http://schemas.openxmlformats.org/presentationml/2006/ole">
            <mc:AlternateContent xmlns:mc="http://schemas.openxmlformats.org/markup-compatibility/2006">
              <mc:Choice xmlns:v="urn:schemas-microsoft-com:vml" Requires="v">
                <p:oleObj spid="_x0000_s23588" name="文档" r:id="rId4" imgW="4510061" imgH="1018481" progId="Word.Document.12">
                  <p:embed/>
                </p:oleObj>
              </mc:Choice>
              <mc:Fallback>
                <p:oleObj name="文档" r:id="rId4" imgW="4510061" imgH="1018481" progId="Word.Document.12">
                  <p:embed/>
                  <p:pic>
                    <p:nvPicPr>
                      <p:cNvPr id="0" name=""/>
                      <p:cNvPicPr/>
                      <p:nvPr/>
                    </p:nvPicPr>
                    <p:blipFill>
                      <a:blip r:embed="rId5"/>
                      <a:stretch>
                        <a:fillRect/>
                      </a:stretch>
                    </p:blipFill>
                    <p:spPr>
                      <a:xfrm>
                        <a:off x="458424" y="1060274"/>
                        <a:ext cx="11275153" cy="2546203"/>
                      </a:xfrm>
                      <a:prstGeom prst="rect">
                        <a:avLst/>
                      </a:prstGeom>
                    </p:spPr>
                  </p:pic>
                </p:oleObj>
              </mc:Fallback>
            </mc:AlternateContent>
          </a:graphicData>
        </a:graphic>
      </p:graphicFrame>
      <p:sp>
        <p:nvSpPr>
          <p:cNvPr id="3" name="矩形 2"/>
          <p:cNvSpPr>
            <a:spLocks noChangeAspect="1"/>
          </p:cNvSpPr>
          <p:nvPr/>
        </p:nvSpPr>
        <p:spPr>
          <a:xfrm>
            <a:off x="381000" y="3482431"/>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分别求甲队以</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0,3</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1,3</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胜利的概率</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若比赛结果为</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cs typeface="Times New Roman" panose="02020603050405020304" pitchFamily="18" charset="0"/>
              </a:rPr>
              <a:t>或</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则胜利方得</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对方得</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cs typeface="Times New Roman" panose="02020603050405020304" pitchFamily="18" charset="0"/>
              </a:rPr>
              <a:t>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若比赛结果为</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则胜利方得</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分</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对方得</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分</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求乙队得分</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的分布列及均值</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4728484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865196"/>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甲队以</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胜利</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为事件</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1</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甲队以</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胜利</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为事件</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甲队以</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胜利</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为事件</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baseline="-250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由题意知各局比赛结果相互独立</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886569301"/>
              </p:ext>
            </p:extLst>
          </p:nvPr>
        </p:nvGraphicFramePr>
        <p:xfrm>
          <a:off x="458424" y="1917113"/>
          <a:ext cx="11275153" cy="3955868"/>
        </p:xfrm>
        <a:graphic>
          <a:graphicData uri="http://schemas.openxmlformats.org/presentationml/2006/ole">
            <mc:AlternateContent xmlns:mc="http://schemas.openxmlformats.org/markup-compatibility/2006">
              <mc:Choice xmlns:v="urn:schemas-microsoft-com:vml" Requires="v">
                <p:oleObj spid="_x0000_s24612" name="文档" r:id="rId4" imgW="4510061" imgH="1582347" progId="Word.Document.12">
                  <p:embed/>
                </p:oleObj>
              </mc:Choice>
              <mc:Fallback>
                <p:oleObj name="文档" r:id="rId4" imgW="4510061" imgH="1582347" progId="Word.Document.12">
                  <p:embed/>
                  <p:pic>
                    <p:nvPicPr>
                      <p:cNvPr id="0" name=""/>
                      <p:cNvPicPr/>
                      <p:nvPr/>
                    </p:nvPicPr>
                    <p:blipFill>
                      <a:blip r:embed="rId5"/>
                      <a:stretch>
                        <a:fillRect/>
                      </a:stretch>
                    </p:blipFill>
                    <p:spPr>
                      <a:xfrm>
                        <a:off x="458424" y="1917113"/>
                        <a:ext cx="11275153" cy="3955868"/>
                      </a:xfrm>
                      <a:prstGeom prst="rect">
                        <a:avLst/>
                      </a:prstGeom>
                    </p:spPr>
                  </p:pic>
                </p:oleObj>
              </mc:Fallback>
            </mc:AlternateContent>
          </a:graphicData>
        </a:graphic>
      </p:graphicFrame>
    </p:spTree>
    <p:extLst>
      <p:ext uri="{BB962C8B-B14F-4D97-AF65-F5344CB8AC3E}">
        <p14:creationId xmlns:p14="http://schemas.microsoft.com/office/powerpoint/2010/main" val="37416151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687170778"/>
              </p:ext>
            </p:extLst>
          </p:nvPr>
        </p:nvGraphicFramePr>
        <p:xfrm>
          <a:off x="444500" y="194726"/>
          <a:ext cx="11310938" cy="6534150"/>
        </p:xfrm>
        <a:graphic>
          <a:graphicData uri="http://schemas.openxmlformats.org/presentationml/2006/ole">
            <mc:AlternateContent xmlns:mc="http://schemas.openxmlformats.org/markup-compatibility/2006">
              <mc:Choice xmlns:v="urn:schemas-microsoft-com:vml" Requires="v">
                <p:oleObj spid="_x0000_s25636" name="文档" r:id="rId4" imgW="4510061" imgH="2640359" progId="Word.Document.12">
                  <p:embed/>
                </p:oleObj>
              </mc:Choice>
              <mc:Fallback>
                <p:oleObj name="文档" r:id="rId4" imgW="4510061" imgH="2640359" progId="Word.Document.12">
                  <p:embed/>
                  <p:pic>
                    <p:nvPicPr>
                      <p:cNvPr id="0" name=""/>
                      <p:cNvPicPr/>
                      <p:nvPr/>
                    </p:nvPicPr>
                    <p:blipFill>
                      <a:blip r:embed="rId5"/>
                      <a:stretch>
                        <a:fillRect/>
                      </a:stretch>
                    </p:blipFill>
                    <p:spPr>
                      <a:xfrm>
                        <a:off x="444500" y="194726"/>
                        <a:ext cx="11310938" cy="6534150"/>
                      </a:xfrm>
                      <a:prstGeom prst="rect">
                        <a:avLst/>
                      </a:prstGeom>
                    </p:spPr>
                  </p:pic>
                </p:oleObj>
              </mc:Fallback>
            </mc:AlternateContent>
          </a:graphicData>
        </a:graphic>
      </p:graphicFrame>
    </p:spTree>
    <p:extLst>
      <p:ext uri="{BB962C8B-B14F-4D97-AF65-F5344CB8AC3E}">
        <p14:creationId xmlns:p14="http://schemas.microsoft.com/office/powerpoint/2010/main" val="14443731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155370"/>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专题四</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 </a:t>
            </a:r>
            <a:r>
              <a:rPr lang="zh-CN" altLang="en-US" sz="280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超</a:t>
            </a:r>
            <a:r>
              <a:rPr lang="zh-CN" altLang="en-US" sz="2800">
                <a:solidFill>
                  <a:srgbClr val="000000"/>
                </a:solidFill>
                <a:latin typeface="Arial" panose="020B0604020202020204" pitchFamily="34" charset="0"/>
                <a:ea typeface="微软雅黑" panose="020B0503020204020204" pitchFamily="34" charset="-122"/>
                <a:cs typeface="Times New Roman" panose="02020603050405020304" pitchFamily="18" charset="0"/>
              </a:rPr>
              <a:t>几何分布与二项分布</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effectLst/>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现有</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cs typeface="Times New Roman" panose="02020603050405020304" pitchFamily="18" charset="0"/>
              </a:rPr>
              <a:t>道题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其中</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道甲类题</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道乙类题</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张同学从中任取</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道题解答</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求张同学所取的</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道题中至少有</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道乙类题的概率</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已知所取的</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道题中有</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道甲类题</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道乙类题</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设张同学答对每道甲类题的概率</a:t>
            </a:r>
            <a:r>
              <a:rPr lang="zh-CN" altLang="zh-CN" sz="2800" smtClean="0">
                <a:solidFill>
                  <a:srgbClr val="000000"/>
                </a:solidFill>
                <a:latin typeface="Times New Roman" panose="02020603050405020304" pitchFamily="18" charset="0"/>
                <a:cs typeface="Times New Roman" panose="02020603050405020304" pitchFamily="18" charset="0"/>
              </a:rPr>
              <a:t>都是</a:t>
            </a:r>
            <a:r>
              <a:rPr lang="en-US" altLang="zh-CN" sz="2800" smtClean="0">
                <a:solidFill>
                  <a:srgbClr val="000000"/>
                </a:solid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答对每道乙类题的概率</a:t>
            </a:r>
            <a:r>
              <a:rPr lang="zh-CN" altLang="zh-CN" sz="2800" smtClean="0">
                <a:solidFill>
                  <a:srgbClr val="000000"/>
                </a:solidFill>
                <a:latin typeface="Times New Roman" panose="02020603050405020304" pitchFamily="18" charset="0"/>
                <a:cs typeface="Times New Roman" panose="02020603050405020304" pitchFamily="18" charset="0"/>
              </a:rPr>
              <a:t>都是</a:t>
            </a:r>
            <a:r>
              <a:rPr lang="en-US" altLang="zh-CN" sz="2800" smtClean="0">
                <a:solidFill>
                  <a:srgbClr val="000000"/>
                </a:solid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且各题答对与否相互独立</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用</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表示张同学答对题的个数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为</a:t>
            </a:r>
            <a:r>
              <a:rPr lang="en-US" altLang="zh-CN" sz="2800">
                <a:solidFill>
                  <a:srgbClr val="000000"/>
                </a:solidFill>
                <a:latin typeface="Times New Roman" panose="02020603050405020304" pitchFamily="18" charset="0"/>
                <a:cs typeface="Times New Roman" panose="02020603050405020304" pitchFamily="18" charset="0"/>
              </a:rPr>
              <a:t>1,3</a:t>
            </a:r>
            <a:r>
              <a:rPr lang="zh-CN" altLang="zh-CN" sz="2800">
                <a:solidFill>
                  <a:srgbClr val="000000"/>
                </a:solidFill>
                <a:latin typeface="Times New Roman" panose="02020603050405020304" pitchFamily="18" charset="0"/>
                <a:cs typeface="Times New Roman" panose="02020603050405020304" pitchFamily="18" charset="0"/>
              </a:rPr>
              <a:t>的概率</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383360992"/>
              </p:ext>
            </p:extLst>
          </p:nvPr>
        </p:nvGraphicFramePr>
        <p:xfrm>
          <a:off x="6624533" y="3876453"/>
          <a:ext cx="773232" cy="773232"/>
        </p:xfrm>
        <a:graphic>
          <a:graphicData uri="http://schemas.openxmlformats.org/presentationml/2006/ole">
            <mc:AlternateContent xmlns:mc="http://schemas.openxmlformats.org/markup-compatibility/2006">
              <mc:Choice xmlns:v="urn:schemas-microsoft-com:vml" Requires="v">
                <p:oleObj spid="_x0000_s29763" name="文档" r:id="rId4" imgW="399226" imgH="398969" progId="Word.Document.12">
                  <p:embed/>
                </p:oleObj>
              </mc:Choice>
              <mc:Fallback>
                <p:oleObj name="文档" r:id="rId4" imgW="399226" imgH="398969" progId="Word.Document.12">
                  <p:embed/>
                  <p:pic>
                    <p:nvPicPr>
                      <p:cNvPr id="0" name=""/>
                      <p:cNvPicPr>
                        <a:picLocks noChangeAspect="1" noChangeArrowheads="1"/>
                      </p:cNvPicPr>
                      <p:nvPr/>
                    </p:nvPicPr>
                    <p:blipFill>
                      <a:blip r:embed="rId5"/>
                      <a:srcRect/>
                      <a:stretch>
                        <a:fillRect/>
                      </a:stretch>
                    </p:blipFill>
                    <p:spPr bwMode="auto">
                      <a:xfrm>
                        <a:off x="6624533" y="3876453"/>
                        <a:ext cx="773232" cy="773232"/>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416129191"/>
              </p:ext>
            </p:extLst>
          </p:nvPr>
        </p:nvGraphicFramePr>
        <p:xfrm>
          <a:off x="2001163" y="3923046"/>
          <a:ext cx="773232" cy="773232"/>
        </p:xfrm>
        <a:graphic>
          <a:graphicData uri="http://schemas.openxmlformats.org/presentationml/2006/ole">
            <mc:AlternateContent xmlns:mc="http://schemas.openxmlformats.org/markup-compatibility/2006">
              <mc:Choice xmlns:v="urn:schemas-microsoft-com:vml" Requires="v">
                <p:oleObj spid="_x0000_s29764" name="文档" r:id="rId7" imgW="399226" imgH="398969" progId="Word.Document.12">
                  <p:embed/>
                </p:oleObj>
              </mc:Choice>
              <mc:Fallback>
                <p:oleObj name="文档" r:id="rId7" imgW="399226" imgH="398969" progId="Word.Document.12">
                  <p:embed/>
                  <p:pic>
                    <p:nvPicPr>
                      <p:cNvPr id="0" name=""/>
                      <p:cNvPicPr>
                        <a:picLocks noChangeAspect="1" noChangeArrowheads="1"/>
                      </p:cNvPicPr>
                      <p:nvPr/>
                    </p:nvPicPr>
                    <p:blipFill>
                      <a:blip r:embed="rId8"/>
                      <a:srcRect/>
                      <a:stretch>
                        <a:fillRect/>
                      </a:stretch>
                    </p:blipFill>
                    <p:spPr bwMode="auto">
                      <a:xfrm>
                        <a:off x="2001163" y="3923046"/>
                        <a:ext cx="773232" cy="773232"/>
                      </a:xfrm>
                      <a:prstGeom prst="rect">
                        <a:avLst/>
                      </a:prstGeom>
                      <a:noFill/>
                    </p:spPr>
                  </p:pic>
                </p:oleObj>
              </mc:Fallback>
            </mc:AlternateContent>
          </a:graphicData>
        </a:graphic>
      </p:graphicFrame>
    </p:spTree>
    <p:extLst>
      <p:ext uri="{BB962C8B-B14F-4D97-AF65-F5344CB8AC3E}">
        <p14:creationId xmlns:p14="http://schemas.microsoft.com/office/powerpoint/2010/main" val="4859533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898054598"/>
              </p:ext>
            </p:extLst>
          </p:nvPr>
        </p:nvGraphicFramePr>
        <p:xfrm>
          <a:off x="458424" y="476656"/>
          <a:ext cx="11275153" cy="5809365"/>
        </p:xfrm>
        <a:graphic>
          <a:graphicData uri="http://schemas.openxmlformats.org/presentationml/2006/ole">
            <mc:AlternateContent xmlns:mc="http://schemas.openxmlformats.org/markup-compatibility/2006">
              <mc:Choice xmlns:v="urn:schemas-microsoft-com:vml" Requires="v">
                <p:oleObj spid="_x0000_s30755" name="文档" r:id="rId4" imgW="4510061" imgH="2323746" progId="Word.Document.12">
                  <p:embed/>
                </p:oleObj>
              </mc:Choice>
              <mc:Fallback>
                <p:oleObj name="文档" r:id="rId4" imgW="4510061" imgH="2323746" progId="Word.Document.12">
                  <p:embed/>
                  <p:pic>
                    <p:nvPicPr>
                      <p:cNvPr id="0" name=""/>
                      <p:cNvPicPr/>
                      <p:nvPr/>
                    </p:nvPicPr>
                    <p:blipFill>
                      <a:blip r:embed="rId5"/>
                      <a:stretch>
                        <a:fillRect/>
                      </a:stretch>
                    </p:blipFill>
                    <p:spPr>
                      <a:xfrm>
                        <a:off x="458424" y="476656"/>
                        <a:ext cx="11275153" cy="5809365"/>
                      </a:xfrm>
                      <a:prstGeom prst="rect">
                        <a:avLst/>
                      </a:prstGeom>
                    </p:spPr>
                  </p:pic>
                </p:oleObj>
              </mc:Fallback>
            </mc:AlternateContent>
          </a:graphicData>
        </a:graphic>
      </p:graphicFrame>
    </p:spTree>
    <p:extLst>
      <p:ext uri="{BB962C8B-B14F-4D97-AF65-F5344CB8AC3E}">
        <p14:creationId xmlns:p14="http://schemas.microsoft.com/office/powerpoint/2010/main" val="14474975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6226013"/>
              </p:ext>
            </p:extLst>
          </p:nvPr>
        </p:nvGraphicFramePr>
        <p:xfrm>
          <a:off x="458424" y="1675335"/>
          <a:ext cx="11275153" cy="494148"/>
        </p:xfrm>
        <a:graphic>
          <a:graphicData uri="http://schemas.openxmlformats.org/presentationml/2006/ole">
            <mc:AlternateContent xmlns:mc="http://schemas.openxmlformats.org/markup-compatibility/2006">
              <mc:Choice xmlns:v="urn:schemas-microsoft-com:vml" Requires="v">
                <p:oleObj spid="_x0000_s28739"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675335"/>
                        <a:ext cx="11275153" cy="494148"/>
                      </a:xfrm>
                      <a:prstGeom prst="rect">
                        <a:avLst/>
                      </a:prstGeom>
                    </p:spPr>
                  </p:pic>
                </p:oleObj>
              </mc:Fallback>
            </mc:AlternateContent>
          </a:graphicData>
        </a:graphic>
      </p:graphicFrame>
      <p:sp>
        <p:nvSpPr>
          <p:cNvPr id="3" name="矩形 2"/>
          <p:cNvSpPr>
            <a:spLocks noChangeAspect="1"/>
          </p:cNvSpPr>
          <p:nvPr/>
        </p:nvSpPr>
        <p:spPr>
          <a:xfrm>
            <a:off x="381000" y="2198085"/>
            <a:ext cx="11430000" cy="289310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解决二项分布问题必须注意</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对于公式</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k</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    p</a:t>
            </a:r>
            <a:r>
              <a:rPr lang="en-US" altLang="zh-CN" sz="2800" i="1" baseline="30000" smtClean="0">
                <a:solidFill>
                  <a:srgbClr val="000000"/>
                </a:solidFill>
                <a:latin typeface="Times New Roman" panose="02020603050405020304" pitchFamily="18" charset="0"/>
                <a:cs typeface="Times New Roman" panose="02020603050405020304" pitchFamily="18" charset="0"/>
              </a:rPr>
              <a:t>k</a:t>
            </a:r>
            <a:r>
              <a:rPr lang="en-US" altLang="zh-CN" sz="2800" smtClean="0">
                <a:solidFill>
                  <a:srgbClr val="000000"/>
                </a:solidFill>
                <a:latin typeface="Times New Roman" panose="02020603050405020304" pitchFamily="18" charset="0"/>
                <a:cs typeface="Times New Roman" panose="02020603050405020304" pitchFamily="18" charset="0"/>
              </a:rPr>
              <a:t>(1</a:t>
            </a:r>
            <a:r>
              <a:rPr lang="en-US" altLang="zh-CN" sz="2800" i="1" smtClean="0">
                <a:solidFill>
                  <a:srgbClr val="000000"/>
                </a:solidFill>
                <a:latin typeface="Times New Roman" panose="02020603050405020304" pitchFamily="18" charset="0"/>
                <a:cs typeface="Times New Roman" panose="02020603050405020304" pitchFamily="18" charset="0"/>
              </a:rPr>
              <a:t>-p</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baseline="30000" smtClean="0">
                <a:solidFill>
                  <a:srgbClr val="000000"/>
                </a:solidFill>
                <a:latin typeface="Times New Roman" panose="02020603050405020304" pitchFamily="18" charset="0"/>
                <a:cs typeface="Times New Roman" panose="02020603050405020304" pitchFamily="18" charset="0"/>
              </a:rPr>
              <a:t>n-k</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k=</a:t>
            </a:r>
            <a:r>
              <a:rPr lang="en-US" altLang="zh-CN" sz="2800" smtClean="0">
                <a:solidFill>
                  <a:srgbClr val="000000"/>
                </a:solidFill>
                <a:latin typeface="Times New Roman" panose="02020603050405020304" pitchFamily="18" charset="0"/>
                <a:cs typeface="Times New Roman" panose="02020603050405020304" pitchFamily="18" charset="0"/>
              </a:rPr>
              <a:t>0,1,2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effectLst/>
                <a:latin typeface="仿宋" panose="02010609060101010101" pitchFamily="49"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必须在满足</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重伯努利试验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时才能应用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否则不能应用该公式</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判断一个随机变量是否服从二项分布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关键有两点</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一是对立性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即一次试验中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事件发生与否两者必有其一</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二是重复性</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749143180"/>
              </p:ext>
            </p:extLst>
          </p:nvPr>
        </p:nvGraphicFramePr>
        <p:xfrm>
          <a:off x="2935109" y="2798135"/>
          <a:ext cx="804647" cy="520655"/>
        </p:xfrm>
        <a:graphic>
          <a:graphicData uri="http://schemas.openxmlformats.org/presentationml/2006/ole">
            <mc:AlternateContent xmlns:mc="http://schemas.openxmlformats.org/markup-compatibility/2006">
              <mc:Choice xmlns:v="urn:schemas-microsoft-com:vml" Requires="v">
                <p:oleObj spid="_x0000_s28740" name="文档" r:id="rId7" imgW="300040" imgH="193989" progId="Word.Document.12">
                  <p:embed/>
                </p:oleObj>
              </mc:Choice>
              <mc:Fallback>
                <p:oleObj name="文档" r:id="rId7" imgW="300040" imgH="193989" progId="Word.Document.12">
                  <p:embed/>
                  <p:pic>
                    <p:nvPicPr>
                      <p:cNvPr id="0" name=""/>
                      <p:cNvPicPr>
                        <a:picLocks noChangeAspect="1" noChangeArrowheads="1"/>
                      </p:cNvPicPr>
                      <p:nvPr/>
                    </p:nvPicPr>
                    <p:blipFill>
                      <a:blip r:embed="rId8"/>
                      <a:srcRect/>
                      <a:stretch>
                        <a:fillRect/>
                      </a:stretch>
                    </p:blipFill>
                    <p:spPr bwMode="auto">
                      <a:xfrm>
                        <a:off x="2935109" y="2798135"/>
                        <a:ext cx="804647" cy="520655"/>
                      </a:xfrm>
                      <a:prstGeom prst="rect">
                        <a:avLst/>
                      </a:prstGeom>
                      <a:noFill/>
                      <a:extLst/>
                    </p:spPr>
                  </p:pic>
                </p:oleObj>
              </mc:Fallback>
            </mc:AlternateContent>
          </a:graphicData>
        </a:graphic>
      </p:graphicFrame>
    </p:spTree>
    <p:extLst>
      <p:ext uri="{BB962C8B-B14F-4D97-AF65-F5344CB8AC3E}">
        <p14:creationId xmlns:p14="http://schemas.microsoft.com/office/powerpoint/2010/main" val="10913388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423332731"/>
              </p:ext>
            </p:extLst>
          </p:nvPr>
        </p:nvGraphicFramePr>
        <p:xfrm>
          <a:off x="458424" y="441081"/>
          <a:ext cx="11275153" cy="2125728"/>
        </p:xfrm>
        <a:graphic>
          <a:graphicData uri="http://schemas.openxmlformats.org/presentationml/2006/ole">
            <mc:AlternateContent xmlns:mc="http://schemas.openxmlformats.org/markup-compatibility/2006">
              <mc:Choice xmlns:v="urn:schemas-microsoft-com:vml" Requires="v">
                <p:oleObj spid="_x0000_s31788" name="文档" r:id="rId4" imgW="4510061" imgH="850291" progId="Word.Document.12">
                  <p:embed/>
                </p:oleObj>
              </mc:Choice>
              <mc:Fallback>
                <p:oleObj name="文档" r:id="rId4" imgW="4510061" imgH="850291" progId="Word.Document.12">
                  <p:embed/>
                  <p:pic>
                    <p:nvPicPr>
                      <p:cNvPr id="0" name=""/>
                      <p:cNvPicPr/>
                      <p:nvPr/>
                    </p:nvPicPr>
                    <p:blipFill>
                      <a:blip r:embed="rId5"/>
                      <a:stretch>
                        <a:fillRect/>
                      </a:stretch>
                    </p:blipFill>
                    <p:spPr>
                      <a:xfrm>
                        <a:off x="458424" y="441081"/>
                        <a:ext cx="11275153" cy="2125728"/>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734630104"/>
              </p:ext>
            </p:extLst>
          </p:nvPr>
        </p:nvGraphicFramePr>
        <p:xfrm>
          <a:off x="458424" y="2515439"/>
          <a:ext cx="11275153" cy="4104110"/>
        </p:xfrm>
        <a:graphic>
          <a:graphicData uri="http://schemas.openxmlformats.org/presentationml/2006/ole">
            <mc:AlternateContent xmlns:mc="http://schemas.openxmlformats.org/markup-compatibility/2006">
              <mc:Choice xmlns:v="urn:schemas-microsoft-com:vml" Requires="v">
                <p:oleObj spid="_x0000_s31789" name="文档" r:id="rId7" imgW="4510061" imgH="1641644" progId="Word.Document.12">
                  <p:embed/>
                </p:oleObj>
              </mc:Choice>
              <mc:Fallback>
                <p:oleObj name="文档" r:id="rId7" imgW="4510061" imgH="1641644" progId="Word.Document.12">
                  <p:embed/>
                  <p:pic>
                    <p:nvPicPr>
                      <p:cNvPr id="0" name=""/>
                      <p:cNvPicPr/>
                      <p:nvPr/>
                    </p:nvPicPr>
                    <p:blipFill>
                      <a:blip r:embed="rId8"/>
                      <a:stretch>
                        <a:fillRect/>
                      </a:stretch>
                    </p:blipFill>
                    <p:spPr>
                      <a:xfrm>
                        <a:off x="458424" y="2515439"/>
                        <a:ext cx="11275153" cy="4104110"/>
                      </a:xfrm>
                      <a:prstGeom prst="rect">
                        <a:avLst/>
                      </a:prstGeom>
                    </p:spPr>
                  </p:pic>
                </p:oleObj>
              </mc:Fallback>
            </mc:AlternateContent>
          </a:graphicData>
        </a:graphic>
      </p:graphicFrame>
    </p:spTree>
    <p:extLst>
      <p:ext uri="{BB962C8B-B14F-4D97-AF65-F5344CB8AC3E}">
        <p14:creationId xmlns:p14="http://schemas.microsoft.com/office/powerpoint/2010/main" val="30917159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175926"/>
            <a:ext cx="11430000" cy="4745915"/>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smtClean="0">
                <a:solidFill>
                  <a:srgbClr val="000000"/>
                </a:solidFill>
                <a:latin typeface="Arial" panose="020B0604020202020204" pitchFamily="34" charset="0"/>
                <a:ea typeface="微软雅黑" panose="020B0503020204020204" pitchFamily="34" charset="-122"/>
                <a:cs typeface="Times New Roman" panose="02020603050405020304" pitchFamily="18" charset="0"/>
              </a:rPr>
              <a:t>专题五</a:t>
            </a:r>
            <a:r>
              <a:rPr lang="zh-CN" altLang="zh-CN" sz="2800" i="1">
                <a:solidFill>
                  <a:srgbClr val="000000"/>
                </a:solidFill>
                <a:latin typeface="Times New Roman" panose="02020603050405020304" pitchFamily="18" charset="0"/>
                <a:cs typeface="Times New Roman" panose="02020603050405020304" pitchFamily="18" charset="0"/>
              </a:rPr>
              <a:t>　</a:t>
            </a:r>
            <a:r>
              <a:rPr lang="zh-CN" altLang="zh-CN" sz="2800">
                <a:solidFill>
                  <a:srgbClr val="000000"/>
                </a:solidFill>
                <a:effectLst/>
                <a:latin typeface="Arial" panose="020B0604020202020204" pitchFamily="34" charset="0"/>
                <a:ea typeface="微软雅黑" panose="020B0503020204020204" pitchFamily="34" charset="-122"/>
                <a:cs typeface="Times New Roman" panose="02020603050405020304" pitchFamily="18" charset="0"/>
              </a:rPr>
              <a:t>正态分布</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【例</a:t>
            </a:r>
            <a:r>
              <a:rPr lang="en-US" altLang="zh-CN" sz="2800" b="1">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effectLst/>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某市去年高考</a:t>
            </a:r>
            <a:r>
              <a:rPr lang="en-US" altLang="zh-CN" sz="2800">
                <a:solidFill>
                  <a:srgbClr val="000000"/>
                </a:solidFill>
                <a:latin typeface="Times New Roman" panose="02020603050405020304" pitchFamily="18" charset="0"/>
                <a:cs typeface="Times New Roman" panose="02020603050405020304" pitchFamily="18" charset="0"/>
              </a:rPr>
              <a:t>25 000</a:t>
            </a:r>
            <a:r>
              <a:rPr lang="zh-CN" altLang="zh-CN" sz="2800">
                <a:solidFill>
                  <a:srgbClr val="000000"/>
                </a:solidFill>
                <a:latin typeface="Times New Roman" panose="02020603050405020304" pitchFamily="18" charset="0"/>
                <a:cs typeface="Times New Roman" panose="02020603050405020304" pitchFamily="18" charset="0"/>
              </a:rPr>
              <a:t>名考生的考试成绩</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服从正态分布</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(500,50</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试确定考试成绩在</a:t>
            </a:r>
            <a:r>
              <a:rPr lang="en-US" altLang="zh-CN" sz="2800">
                <a:solidFill>
                  <a:srgbClr val="000000"/>
                </a:solidFill>
                <a:latin typeface="Times New Roman" panose="02020603050405020304" pitchFamily="18" charset="0"/>
                <a:cs typeface="Times New Roman" panose="02020603050405020304" pitchFamily="18" charset="0"/>
              </a:rPr>
              <a:t>550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600</a:t>
            </a:r>
            <a:r>
              <a:rPr lang="zh-CN" altLang="zh-CN" sz="2800">
                <a:solidFill>
                  <a:srgbClr val="000000"/>
                </a:solidFill>
                <a:latin typeface="Times New Roman" panose="02020603050405020304" pitchFamily="18" charset="0"/>
                <a:cs typeface="Times New Roman" panose="02020603050405020304" pitchFamily="18" charset="0"/>
              </a:rPr>
              <a:t>分之间的考生人数</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因为考生成绩</a:t>
            </a:r>
            <a:r>
              <a:rPr lang="en-US" altLang="zh-CN" sz="2800" i="1">
                <a:solidFill>
                  <a:srgbClr val="000000"/>
                </a:solidFill>
                <a:latin typeface="Times New Roman" panose="02020603050405020304" pitchFamily="18" charset="0"/>
                <a:cs typeface="Times New Roman" panose="02020603050405020304" pitchFamily="18" charset="0"/>
              </a:rPr>
              <a:t>X~N</a:t>
            </a:r>
            <a:r>
              <a:rPr lang="en-US" altLang="zh-CN" sz="2800">
                <a:solidFill>
                  <a:srgbClr val="000000"/>
                </a:solidFill>
                <a:latin typeface="Times New Roman" panose="02020603050405020304" pitchFamily="18" charset="0"/>
                <a:cs typeface="Times New Roman" panose="02020603050405020304" pitchFamily="18" charset="0"/>
              </a:rPr>
              <a:t>(500,50</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500,</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50</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(550</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600</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50000"/>
              </a:lnSpc>
              <a:spcAft>
                <a:spcPts val="0"/>
              </a:spcAft>
              <a:tabLst>
                <a:tab pos="1188085" algn="l"/>
                <a:tab pos="2163445" algn="l"/>
                <a:tab pos="3142615" algn="l"/>
                <a:tab pos="4190365" algn="l"/>
              </a:tabLst>
            </a:pPr>
            <a:r>
              <a:rPr lang="en-US" altLang="zh-CN" sz="2800" i="1" smtClean="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(500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2×50</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500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2×50</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(500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50</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500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50</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50000"/>
              </a:lnSpc>
              <a:spcAft>
                <a:spcPts val="0"/>
              </a:spcAft>
              <a:tabLst>
                <a:tab pos="1188085" algn="l"/>
                <a:tab pos="2163445" algn="l"/>
                <a:tab pos="3142615" algn="l"/>
                <a:tab pos="4190365" algn="l"/>
              </a:tabLst>
            </a:pP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 (</a:t>
            </a:r>
            <a:r>
              <a:rPr lang="en-US" altLang="zh-CN" sz="2800" smtClean="0">
                <a:solidFill>
                  <a:srgbClr val="000000"/>
                </a:solidFill>
                <a:latin typeface="Times New Roman" panose="02020603050405020304" pitchFamily="18" charset="0"/>
                <a:cs typeface="Times New Roman" panose="02020603050405020304" pitchFamily="18" charset="0"/>
              </a:rPr>
              <a:t>0</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954</a:t>
            </a:r>
            <a:r>
              <a:rPr lang="en-US"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682</a:t>
            </a:r>
            <a:r>
              <a:rPr lang="en-US"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7)</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135</a:t>
            </a:r>
            <a:r>
              <a:rPr lang="en-US"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9</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故考试成绩在</a:t>
            </a:r>
            <a:r>
              <a:rPr lang="en-US" altLang="zh-CN" sz="2800">
                <a:solidFill>
                  <a:srgbClr val="000000"/>
                </a:solidFill>
                <a:latin typeface="Times New Roman" panose="02020603050405020304" pitchFamily="18" charset="0"/>
                <a:cs typeface="Times New Roman" panose="02020603050405020304" pitchFamily="18" charset="0"/>
              </a:rPr>
              <a:t>550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600</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分之间的考生人数为</a:t>
            </a:r>
            <a:r>
              <a:rPr lang="en-US" altLang="zh-CN" sz="2800">
                <a:solidFill>
                  <a:srgbClr val="000000"/>
                </a:solidFill>
                <a:latin typeface="Times New Roman" panose="02020603050405020304" pitchFamily="18" charset="0"/>
                <a:cs typeface="Times New Roman" panose="02020603050405020304" pitchFamily="18" charset="0"/>
              </a:rPr>
              <a:t>25</a:t>
            </a:r>
            <a:r>
              <a:rPr lang="en-US"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000×0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135</a:t>
            </a:r>
            <a:r>
              <a:rPr lang="en-US"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9≈3</a:t>
            </a:r>
            <a:r>
              <a:rPr lang="en-US"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398</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831884795"/>
              </p:ext>
            </p:extLst>
          </p:nvPr>
        </p:nvGraphicFramePr>
        <p:xfrm>
          <a:off x="552507" y="3893883"/>
          <a:ext cx="773232" cy="773232"/>
        </p:xfrm>
        <a:graphic>
          <a:graphicData uri="http://schemas.openxmlformats.org/presentationml/2006/ole">
            <mc:AlternateContent xmlns:mc="http://schemas.openxmlformats.org/markup-compatibility/2006">
              <mc:Choice xmlns:v="urn:schemas-microsoft-com:vml" Requires="v">
                <p:oleObj spid="_x0000_s27715" name="文档" r:id="rId4" imgW="399226" imgH="398969" progId="Word.Document.12">
                  <p:embed/>
                </p:oleObj>
              </mc:Choice>
              <mc:Fallback>
                <p:oleObj name="文档" r:id="rId4" imgW="399226" imgH="398969" progId="Word.Document.12">
                  <p:embed/>
                  <p:pic>
                    <p:nvPicPr>
                      <p:cNvPr id="0" name=""/>
                      <p:cNvPicPr>
                        <a:picLocks noChangeAspect="1" noChangeArrowheads="1"/>
                      </p:cNvPicPr>
                      <p:nvPr/>
                    </p:nvPicPr>
                    <p:blipFill>
                      <a:blip r:embed="rId5"/>
                      <a:srcRect/>
                      <a:stretch>
                        <a:fillRect/>
                      </a:stretch>
                    </p:blipFill>
                    <p:spPr bwMode="auto">
                      <a:xfrm>
                        <a:off x="552507" y="3893883"/>
                        <a:ext cx="773232" cy="773232"/>
                      </a:xfrm>
                      <a:prstGeom prst="rect">
                        <a:avLst/>
                      </a:prstGeom>
                      <a:noFill/>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246565843"/>
              </p:ext>
            </p:extLst>
          </p:nvPr>
        </p:nvGraphicFramePr>
        <p:xfrm>
          <a:off x="552507" y="4589178"/>
          <a:ext cx="773232" cy="773232"/>
        </p:xfrm>
        <a:graphic>
          <a:graphicData uri="http://schemas.openxmlformats.org/presentationml/2006/ole">
            <mc:AlternateContent xmlns:mc="http://schemas.openxmlformats.org/markup-compatibility/2006">
              <mc:Choice xmlns:v="urn:schemas-microsoft-com:vml" Requires="v">
                <p:oleObj spid="_x0000_s27716" name="文档" r:id="rId7" imgW="399226" imgH="398969" progId="Word.Document.12">
                  <p:embed/>
                </p:oleObj>
              </mc:Choice>
              <mc:Fallback>
                <p:oleObj name="文档" r:id="rId7" imgW="399226" imgH="398969" progId="Word.Document.12">
                  <p:embed/>
                  <p:pic>
                    <p:nvPicPr>
                      <p:cNvPr id="0" name=""/>
                      <p:cNvPicPr>
                        <a:picLocks noChangeAspect="1" noChangeArrowheads="1"/>
                      </p:cNvPicPr>
                      <p:nvPr/>
                    </p:nvPicPr>
                    <p:blipFill>
                      <a:blip r:embed="rId5"/>
                      <a:srcRect/>
                      <a:stretch>
                        <a:fillRect/>
                      </a:stretch>
                    </p:blipFill>
                    <p:spPr bwMode="auto">
                      <a:xfrm>
                        <a:off x="552507" y="4589178"/>
                        <a:ext cx="773232" cy="773232"/>
                      </a:xfrm>
                      <a:prstGeom prst="rect">
                        <a:avLst/>
                      </a:prstGeom>
                      <a:noFill/>
                    </p:spPr>
                  </p:pic>
                </p:oleObj>
              </mc:Fallback>
            </mc:AlternateContent>
          </a:graphicData>
        </a:graphic>
      </p:graphicFrame>
    </p:spTree>
    <p:extLst>
      <p:ext uri="{BB962C8B-B14F-4D97-AF65-F5344CB8AC3E}">
        <p14:creationId xmlns:p14="http://schemas.microsoft.com/office/powerpoint/2010/main" val="2688638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0" dur="500"/>
                                        <p:tgtEl>
                                          <p:spTgt spid="2">
                                            <p:txEl>
                                              <p:pRg st="3" end="3"/>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3" dur="500"/>
                                        <p:tgtEl>
                                          <p:spTgt spid="2">
                                            <p:txEl>
                                              <p:pRg st="4" end="4"/>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6" dur="500"/>
                                        <p:tgtEl>
                                          <p:spTgt spid="2">
                                            <p:txEl>
                                              <p:pRg st="5" end="5"/>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9" dur="500"/>
                                        <p:tgtEl>
                                          <p:spTgt spid="2">
                                            <p:txEl>
                                              <p:pRg st="6" end="6"/>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randombar(horizontal)">
                                      <p:cBhvr>
                                        <p:cTn id="22" dur="500"/>
                                        <p:tgtEl>
                                          <p:spTgt spid="3"/>
                                        </p:tgtEl>
                                      </p:cBhvr>
                                    </p:animEffect>
                                  </p:childTnLst>
                                </p:cTn>
                              </p:par>
                              <p:par>
                                <p:cTn id="23" presetID="14" presetClass="entr" presetSubtype="1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randombar(horizontal)">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742749879"/>
              </p:ext>
            </p:extLst>
          </p:nvPr>
        </p:nvGraphicFramePr>
        <p:xfrm>
          <a:off x="458424" y="1989016"/>
          <a:ext cx="11275153" cy="494148"/>
        </p:xfrm>
        <a:graphic>
          <a:graphicData uri="http://schemas.openxmlformats.org/presentationml/2006/ole">
            <mc:AlternateContent xmlns:mc="http://schemas.openxmlformats.org/markup-compatibility/2006">
              <mc:Choice xmlns:v="urn:schemas-microsoft-com:vml" Requires="v">
                <p:oleObj spid="_x0000_s33827" name="文档" r:id="rId4" imgW="4510061" imgH="197659" progId="Word.Document.12">
                  <p:embed/>
                </p:oleObj>
              </mc:Choice>
              <mc:Fallback>
                <p:oleObj name="文档" r:id="rId4" imgW="4510061" imgH="197659" progId="Word.Document.12">
                  <p:embed/>
                  <p:pic>
                    <p:nvPicPr>
                      <p:cNvPr id="0" name=""/>
                      <p:cNvPicPr/>
                      <p:nvPr/>
                    </p:nvPicPr>
                    <p:blipFill>
                      <a:blip r:embed="rId5"/>
                      <a:stretch>
                        <a:fillRect/>
                      </a:stretch>
                    </p:blipFill>
                    <p:spPr>
                      <a:xfrm>
                        <a:off x="458424" y="1989016"/>
                        <a:ext cx="11275153" cy="494148"/>
                      </a:xfrm>
                      <a:prstGeom prst="rect">
                        <a:avLst/>
                      </a:prstGeom>
                    </p:spPr>
                  </p:pic>
                </p:oleObj>
              </mc:Fallback>
            </mc:AlternateContent>
          </a:graphicData>
        </a:graphic>
      </p:graphicFrame>
      <p:sp>
        <p:nvSpPr>
          <p:cNvPr id="3" name="矩形 2"/>
          <p:cNvSpPr>
            <a:spLocks noChangeAspect="1"/>
          </p:cNvSpPr>
          <p:nvPr/>
        </p:nvSpPr>
        <p:spPr>
          <a:xfrm>
            <a:off x="381000" y="2483164"/>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正态分布的概率求法</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注意</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原则</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记住正态变量在三个区间内取值的概率</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注意数形结合</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由于正态曲线具有完美的对称性</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体现了数形结合的重要思想</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因此可运用对称性结合图象解决某一区间内的概率问题</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978694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002952"/>
            <a:ext cx="11430000" cy="17727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NEU-BZ-S92"/>
                <a:ea typeface="Arial" panose="020B0604020202020204" pitchFamily="34"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设</a:t>
            </a:r>
            <a:r>
              <a:rPr lang="en-US" altLang="zh-CN" sz="2800" i="1">
                <a:solidFill>
                  <a:srgbClr val="000000"/>
                </a:solidFill>
                <a:latin typeface="Times New Roman" panose="02020603050405020304" pitchFamily="18" charset="0"/>
                <a:cs typeface="Times New Roman" panose="02020603050405020304" pitchFamily="18" charset="0"/>
              </a:rPr>
              <a:t>X~N</a:t>
            </a:r>
            <a:r>
              <a:rPr lang="en-US" altLang="zh-CN" sz="2800">
                <a:solidFill>
                  <a:srgbClr val="000000"/>
                </a:solidFill>
                <a:latin typeface="Times New Roman" panose="02020603050405020304" pitchFamily="18" charset="0"/>
                <a:cs typeface="Times New Roman" panose="02020603050405020304" pitchFamily="18" charset="0"/>
              </a:rPr>
              <a:t>(10,1)</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证明</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&lt;X&lt;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(18</a:t>
            </a:r>
            <a:r>
              <a:rPr lang="en-US" altLang="zh-CN" sz="2800" i="1">
                <a:solidFill>
                  <a:srgbClr val="000000"/>
                </a:solidFill>
                <a:latin typeface="Times New Roman" panose="02020603050405020304" pitchFamily="18" charset="0"/>
                <a:cs typeface="Times New Roman" panose="02020603050405020304" pitchFamily="18" charset="0"/>
              </a:rPr>
              <a:t>&lt;X&lt;</a:t>
            </a:r>
            <a:r>
              <a:rPr lang="en-US" altLang="zh-CN" sz="2800">
                <a:solidFill>
                  <a:srgbClr val="000000"/>
                </a:solidFill>
                <a:latin typeface="Times New Roman" panose="02020603050405020304" pitchFamily="18" charset="0"/>
                <a:cs typeface="Times New Roman" panose="02020603050405020304" pitchFamily="18" charset="0"/>
              </a:rPr>
              <a:t>19</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设</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&lt;X&lt;</a:t>
            </a:r>
            <a:r>
              <a:rPr lang="en-US" altLang="zh-CN" sz="2800">
                <a:solidFill>
                  <a:srgbClr val="000000"/>
                </a:solidFill>
                <a:latin typeface="Times New Roman" panose="02020603050405020304" pitchFamily="18" charset="0"/>
                <a:cs typeface="Times New Roman" panose="02020603050405020304" pitchFamily="18" charset="0"/>
              </a:rPr>
              <a:t>18)</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977943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952315"/>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证明</a:t>
            </a:r>
            <a:r>
              <a:rPr lang="en-US" altLang="zh-CN" sz="280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en-US"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zh-CN" sz="280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因为</a:t>
            </a:r>
            <a:r>
              <a:rPr lang="en-US" altLang="zh-CN" sz="2800" i="1">
                <a:solidFill>
                  <a:srgbClr val="000000"/>
                </a:solidFill>
                <a:latin typeface="Times New Roman" panose="02020603050405020304" pitchFamily="18" charset="0"/>
                <a:cs typeface="Times New Roman" panose="02020603050405020304" pitchFamily="18" charset="0"/>
              </a:rPr>
              <a:t>X~N</a:t>
            </a:r>
            <a:r>
              <a:rPr lang="en-US" altLang="zh-CN" sz="2800">
                <a:solidFill>
                  <a:srgbClr val="000000"/>
                </a:solidFill>
                <a:latin typeface="Times New Roman" panose="02020603050405020304" pitchFamily="18" charset="0"/>
                <a:cs typeface="Times New Roman" panose="02020603050405020304" pitchFamily="18" charset="0"/>
              </a:rPr>
              <a:t>(10,1),</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所以正态曲线关于直线</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对称</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而区间</a:t>
            </a:r>
            <a:r>
              <a:rPr lang="en-US" altLang="zh-CN" sz="2800">
                <a:solidFill>
                  <a:srgbClr val="000000"/>
                </a:solidFill>
                <a:latin typeface="Times New Roman" panose="02020603050405020304" pitchFamily="18" charset="0"/>
                <a:cs typeface="Times New Roman" panose="02020603050405020304" pitchFamily="18" charset="0"/>
              </a:rPr>
              <a:t>(1,2)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和</a:t>
            </a:r>
            <a:r>
              <a:rPr lang="en-US" altLang="zh-CN" sz="2800">
                <a:solidFill>
                  <a:srgbClr val="000000"/>
                </a:solidFill>
                <a:latin typeface="Times New Roman" panose="02020603050405020304" pitchFamily="18" charset="0"/>
                <a:cs typeface="Times New Roman" panose="02020603050405020304" pitchFamily="18" charset="0"/>
              </a:rPr>
              <a:t>(18,19)</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关于直线</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10</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对称</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&lt;X&lt;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(18</a:t>
            </a:r>
            <a:r>
              <a:rPr lang="en-US" altLang="zh-CN" sz="2800" i="1">
                <a:solidFill>
                  <a:srgbClr val="000000"/>
                </a:solidFill>
                <a:latin typeface="Times New Roman" panose="02020603050405020304" pitchFamily="18" charset="0"/>
                <a:cs typeface="Times New Roman" panose="02020603050405020304" pitchFamily="18" charset="0"/>
              </a:rPr>
              <a:t>&lt;X&lt;</a:t>
            </a:r>
            <a:r>
              <a:rPr lang="en-US" altLang="zh-CN" sz="2800">
                <a:solidFill>
                  <a:srgbClr val="000000"/>
                </a:solidFill>
                <a:latin typeface="Times New Roman" panose="02020603050405020304" pitchFamily="18" charset="0"/>
                <a:cs typeface="Times New Roman" panose="02020603050405020304" pitchFamily="18" charset="0"/>
              </a:rPr>
              <a:t>19)</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3" name="VMX3TRAX14.eps" descr="id:2147520448;FounderCES"/>
          <p:cNvPicPr/>
          <p:nvPr/>
        </p:nvPicPr>
        <p:blipFill>
          <a:blip r:embed="rId3">
            <a:clrChange>
              <a:clrFrom>
                <a:srgbClr val="FFFFFF"/>
              </a:clrFrom>
              <a:clrTo>
                <a:srgbClr val="FFFFFF">
                  <a:alpha val="0"/>
                </a:srgbClr>
              </a:clrTo>
            </a:clrChange>
          </a:blip>
          <a:stretch>
            <a:fillRect/>
          </a:stretch>
        </p:blipFill>
        <p:spPr>
          <a:xfrm>
            <a:off x="6914618" y="1475633"/>
            <a:ext cx="4896382" cy="2249112"/>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1896666042"/>
              </p:ext>
            </p:extLst>
          </p:nvPr>
        </p:nvGraphicFramePr>
        <p:xfrm>
          <a:off x="458424" y="3748306"/>
          <a:ext cx="11275153" cy="1977485"/>
        </p:xfrm>
        <a:graphic>
          <a:graphicData uri="http://schemas.openxmlformats.org/presentationml/2006/ole">
            <mc:AlternateContent xmlns:mc="http://schemas.openxmlformats.org/markup-compatibility/2006">
              <mc:Choice xmlns:v="urn:schemas-microsoft-com:vml" Requires="v">
                <p:oleObj spid="_x0000_s34851" name="文档" r:id="rId5" imgW="4510061" imgH="790994" progId="Word.Document.12">
                  <p:embed/>
                </p:oleObj>
              </mc:Choice>
              <mc:Fallback>
                <p:oleObj name="文档" r:id="rId5" imgW="4510061" imgH="790994" progId="Word.Document.12">
                  <p:embed/>
                  <p:pic>
                    <p:nvPicPr>
                      <p:cNvPr id="0" name=""/>
                      <p:cNvPicPr/>
                      <p:nvPr/>
                    </p:nvPicPr>
                    <p:blipFill>
                      <a:blip r:embed="rId6"/>
                      <a:stretch>
                        <a:fillRect/>
                      </a:stretch>
                    </p:blipFill>
                    <p:spPr>
                      <a:xfrm>
                        <a:off x="458424" y="3748306"/>
                        <a:ext cx="11275153" cy="1977485"/>
                      </a:xfrm>
                      <a:prstGeom prst="rect">
                        <a:avLst/>
                      </a:prstGeom>
                    </p:spPr>
                  </p:pic>
                </p:oleObj>
              </mc:Fallback>
            </mc:AlternateContent>
          </a:graphicData>
        </a:graphic>
      </p:graphicFrame>
    </p:spTree>
    <p:extLst>
      <p:ext uri="{BB962C8B-B14F-4D97-AF65-F5344CB8AC3E}">
        <p14:creationId xmlns:p14="http://schemas.microsoft.com/office/powerpoint/2010/main" val="21858301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 y="151371"/>
            <a:ext cx="11336478" cy="433754"/>
            <a:chOff x="3048000" y="2286000"/>
            <a:chExt cx="4813646" cy="457200"/>
          </a:xfrm>
        </p:grpSpPr>
        <p:sp>
          <p:nvSpPr>
            <p:cNvPr id="8" name="矩形 7"/>
            <p:cNvSpPr/>
            <p:nvPr/>
          </p:nvSpPr>
          <p:spPr>
            <a:xfrm>
              <a:off x="3048000" y="2286000"/>
              <a:ext cx="209403"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solidFill>
                    <a:schemeClr val="bg1"/>
                  </a:solidFill>
                </a:rPr>
                <a:t> </a:t>
              </a:r>
              <a:endParaRPr lang="zh-CN" altLang="en-US" sz="2800" b="1" dirty="0" smtClean="0">
                <a:solidFill>
                  <a:schemeClr val="bg1"/>
                </a:solidFill>
              </a:endParaRPr>
            </a:p>
          </p:txBody>
        </p:sp>
        <p:sp>
          <p:nvSpPr>
            <p:cNvPr id="9" name="矩形 8"/>
            <p:cNvSpPr/>
            <p:nvPr/>
          </p:nvSpPr>
          <p:spPr>
            <a:xfrm>
              <a:off x="3345506" y="2286000"/>
              <a:ext cx="4516140"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a:solidFill>
                    <a:schemeClr val="bg1"/>
                  </a:solidFill>
                </a:rPr>
                <a:t>高考体验</a:t>
              </a:r>
              <a:endParaRPr lang="zh-CN" altLang="en-US" sz="2800" b="1" dirty="0">
                <a:solidFill>
                  <a:schemeClr val="bg1"/>
                </a:solidFill>
              </a:endParaRPr>
            </a:p>
          </p:txBody>
        </p:sp>
      </p:grpSp>
      <p:sp>
        <p:nvSpPr>
          <p:cNvPr id="2" name="矩形 1"/>
          <p:cNvSpPr>
            <a:spLocks noChangeAspect="1"/>
          </p:cNvSpPr>
          <p:nvPr/>
        </p:nvSpPr>
        <p:spPr>
          <a:xfrm>
            <a:off x="381000" y="952315"/>
            <a:ext cx="11430000" cy="227267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考点一</a:t>
            </a:r>
            <a:r>
              <a:rPr lang="zh-CN" altLang="zh-CN" sz="2800" i="1">
                <a:solidFill>
                  <a:srgbClr val="000000"/>
                </a:solid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离散型随机变量的分布列及均值与方差</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(2022·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浙江高考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现有</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cs typeface="Times New Roman" panose="02020603050405020304" pitchFamily="18" charset="0"/>
              </a:rPr>
              <a:t>张卡片</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分别写上数字</a:t>
            </a:r>
            <a:r>
              <a:rPr lang="en-US" altLang="zh-CN" sz="2800">
                <a:solidFill>
                  <a:srgbClr val="000000"/>
                </a:solidFill>
                <a:latin typeface="Times New Roman" panose="02020603050405020304" pitchFamily="18" charset="0"/>
                <a:cs typeface="Times New Roman" panose="02020603050405020304" pitchFamily="18" charset="0"/>
              </a:rPr>
              <a:t>1,2,2,3,4,5,6</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从这</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cs typeface="Times New Roman" panose="02020603050405020304" pitchFamily="18" charset="0"/>
              </a:rPr>
              <a:t>张卡片中随机抽取</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张</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记所抽取卡片上数字的最小值为</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9133527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059155190"/>
              </p:ext>
            </p:extLst>
          </p:nvPr>
        </p:nvGraphicFramePr>
        <p:xfrm>
          <a:off x="458424" y="769464"/>
          <a:ext cx="11275153" cy="3470530"/>
        </p:xfrm>
        <a:graphic>
          <a:graphicData uri="http://schemas.openxmlformats.org/presentationml/2006/ole">
            <mc:AlternateContent xmlns:mc="http://schemas.openxmlformats.org/markup-compatibility/2006">
              <mc:Choice xmlns:v="urn:schemas-microsoft-com:vml" Requires="v">
                <p:oleObj spid="_x0000_s52238" name="文档" r:id="rId4" imgW="4510061" imgH="1388212" progId="Word.Document.12">
                  <p:embed/>
                </p:oleObj>
              </mc:Choice>
              <mc:Fallback>
                <p:oleObj name="文档" r:id="rId4" imgW="4510061" imgH="1388212" progId="Word.Document.12">
                  <p:embed/>
                  <p:pic>
                    <p:nvPicPr>
                      <p:cNvPr id="0" name=""/>
                      <p:cNvPicPr/>
                      <p:nvPr/>
                    </p:nvPicPr>
                    <p:blipFill>
                      <a:blip r:embed="rId5"/>
                      <a:stretch>
                        <a:fillRect/>
                      </a:stretch>
                    </p:blipFill>
                    <p:spPr>
                      <a:xfrm>
                        <a:off x="458424" y="769464"/>
                        <a:ext cx="11275153" cy="347053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703919350"/>
              </p:ext>
            </p:extLst>
          </p:nvPr>
        </p:nvGraphicFramePr>
        <p:xfrm>
          <a:off x="458424" y="4239994"/>
          <a:ext cx="11275153" cy="991965"/>
        </p:xfrm>
        <a:graphic>
          <a:graphicData uri="http://schemas.openxmlformats.org/presentationml/2006/ole">
            <mc:AlternateContent xmlns:mc="http://schemas.openxmlformats.org/markup-compatibility/2006">
              <mc:Choice xmlns:v="urn:schemas-microsoft-com:vml" Requires="v">
                <p:oleObj spid="_x0000_s52239" name="文档" r:id="rId7" imgW="4510061" imgH="396786" progId="Word.Document.12">
                  <p:embed/>
                </p:oleObj>
              </mc:Choice>
              <mc:Fallback>
                <p:oleObj name="文档" r:id="rId7" imgW="4510061" imgH="396786" progId="Word.Document.12">
                  <p:embed/>
                  <p:pic>
                    <p:nvPicPr>
                      <p:cNvPr id="0" name=""/>
                      <p:cNvPicPr/>
                      <p:nvPr/>
                    </p:nvPicPr>
                    <p:blipFill>
                      <a:blip r:embed="rId8"/>
                      <a:stretch>
                        <a:fillRect/>
                      </a:stretch>
                    </p:blipFill>
                    <p:spPr>
                      <a:xfrm>
                        <a:off x="458424" y="4239994"/>
                        <a:ext cx="11275153" cy="991965"/>
                      </a:xfrm>
                      <a:prstGeom prst="rect">
                        <a:avLst/>
                      </a:prstGeom>
                    </p:spPr>
                  </p:pic>
                </p:oleObj>
              </mc:Fallback>
            </mc:AlternateContent>
          </a:graphicData>
        </a:graphic>
      </p:graphicFrame>
    </p:spTree>
    <p:extLst>
      <p:ext uri="{BB962C8B-B14F-4D97-AF65-F5344CB8AC3E}">
        <p14:creationId xmlns:p14="http://schemas.microsoft.com/office/powerpoint/2010/main" val="35840783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81000" y="74086"/>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(2024·</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北京高考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已知某保险公司某险种的保费为</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万元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前</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次出险每次赔付</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zh-CN" altLang="zh-CN" sz="2800">
                <a:solidFill>
                  <a:srgbClr val="000000"/>
                </a:solidFill>
                <a:latin typeface="Times New Roman" panose="02020603050405020304" pitchFamily="18" charset="0"/>
                <a:cs typeface="Times New Roman" panose="02020603050405020304" pitchFamily="18" charset="0"/>
              </a:rPr>
              <a:t>万元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第</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次出险赔付</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a:t>
            </a:r>
            <a:r>
              <a:rPr lang="zh-CN" altLang="zh-CN" sz="2800">
                <a:solidFill>
                  <a:srgbClr val="000000"/>
                </a:solidFill>
                <a:latin typeface="Times New Roman" panose="02020603050405020304" pitchFamily="18" charset="0"/>
                <a:cs typeface="Times New Roman" panose="02020603050405020304" pitchFamily="18" charset="0"/>
              </a:rPr>
              <a:t>万元</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表格 4"/>
          <p:cNvGraphicFramePr>
            <a:graphicFrameLocks noGrp="1" noChangeAspect="1"/>
          </p:cNvGraphicFramePr>
          <p:nvPr>
            <p:extLst>
              <p:ext uri="{D42A27DB-BD31-4B8C-83A1-F6EECF244321}">
                <p14:modId xmlns:p14="http://schemas.microsoft.com/office/powerpoint/2010/main" val="622881436"/>
              </p:ext>
            </p:extLst>
          </p:nvPr>
        </p:nvGraphicFramePr>
        <p:xfrm>
          <a:off x="381000" y="1226453"/>
          <a:ext cx="11430000" cy="990092"/>
        </p:xfrm>
        <a:graphic>
          <a:graphicData uri="http://schemas.openxmlformats.org/drawingml/2006/table">
            <a:tbl>
              <a:tblPr firstRow="1" firstCol="1" bandRow="1"/>
              <a:tblGrid>
                <a:gridCol w="1905000"/>
                <a:gridCol w="1905000"/>
                <a:gridCol w="1905000"/>
                <a:gridCol w="1905000"/>
                <a:gridCol w="1905000"/>
                <a:gridCol w="1905000"/>
              </a:tblGrid>
              <a:tr h="0">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赔偿次数</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30000"/>
                        </a:lnSpc>
                        <a:spcAft>
                          <a:spcPts val="0"/>
                        </a:spcAft>
                        <a:tabLst>
                          <a:tab pos="1188085" algn="l"/>
                          <a:tab pos="2163445" algn="l"/>
                          <a:tab pos="3142615" algn="l"/>
                          <a:tab pos="4190365" algn="l"/>
                        </a:tabLst>
                      </a:pPr>
                      <a:r>
                        <a:rPr lang="zh-CN" sz="280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单数</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800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30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
        <p:nvSpPr>
          <p:cNvPr id="6" name="矩形 5"/>
          <p:cNvSpPr>
            <a:spLocks noChangeAspect="1"/>
          </p:cNvSpPr>
          <p:nvPr/>
        </p:nvSpPr>
        <p:spPr>
          <a:xfrm>
            <a:off x="381000" y="2220960"/>
            <a:ext cx="11430000" cy="339298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cs typeface="Times New Roman" panose="02020603050405020304" pitchFamily="18" charset="0"/>
              </a:rPr>
              <a:t>在总体中抽样</a:t>
            </a:r>
            <a:r>
              <a:rPr lang="en-US" altLang="zh-CN" sz="2800">
                <a:solidFill>
                  <a:srgbClr val="000000"/>
                </a:solidFill>
                <a:latin typeface="Times New Roman" panose="02020603050405020304" pitchFamily="18" charset="0"/>
                <a:cs typeface="Times New Roman" panose="02020603050405020304" pitchFamily="18" charset="0"/>
              </a:rPr>
              <a:t>1 000</a:t>
            </a:r>
            <a:r>
              <a:rPr lang="zh-CN" altLang="zh-CN" sz="2800">
                <a:solidFill>
                  <a:srgbClr val="000000"/>
                </a:solidFill>
                <a:latin typeface="Times New Roman" panose="02020603050405020304" pitchFamily="18" charset="0"/>
                <a:cs typeface="Times New Roman" panose="02020603050405020304" pitchFamily="18" charset="0"/>
              </a:rPr>
              <a:t>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以频率估计概率</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求随机抽取一单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保险公司赔偿不少于</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次的概率</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保险公司毛利润是保费与赔偿金额之差</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设毛利润为</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估计</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的数学期望</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ⅱ</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若未赔偿过的保单下一保险期的保费下降</a:t>
            </a:r>
            <a:r>
              <a:rPr lang="en-US" altLang="zh-CN" sz="2800">
                <a:solidFill>
                  <a:srgbClr val="000000"/>
                </a:solidFill>
                <a:latin typeface="Times New Roman" panose="02020603050405020304" pitchFamily="18" charset="0"/>
                <a:cs typeface="Times New Roman" panose="02020603050405020304" pitchFamily="18" charset="0"/>
              </a:rPr>
              <a:t>4%,</a:t>
            </a:r>
            <a:r>
              <a:rPr lang="zh-CN" altLang="zh-CN" sz="2800">
                <a:solidFill>
                  <a:srgbClr val="000000"/>
                </a:solidFill>
                <a:latin typeface="Times New Roman" panose="02020603050405020304" pitchFamily="18" charset="0"/>
                <a:cs typeface="Times New Roman" panose="02020603050405020304" pitchFamily="18" charset="0"/>
              </a:rPr>
              <a:t>已赔偿过的增加</a:t>
            </a:r>
            <a:r>
              <a:rPr lang="en-US" altLang="zh-CN" sz="2800">
                <a:solidFill>
                  <a:srgbClr val="000000"/>
                </a:solidFill>
                <a:latin typeface="Times New Roman" panose="02020603050405020304" pitchFamily="18" charset="0"/>
                <a:cs typeface="Times New Roman" panose="02020603050405020304" pitchFamily="18" charset="0"/>
              </a:rPr>
              <a:t>20%</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估计保单下一保险期毛利润的数学期望</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8422758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矩形 4"/>
              <p:cNvSpPr>
                <a:spLocks noChangeAspect="1"/>
              </p:cNvSpPr>
              <p:nvPr/>
            </p:nvSpPr>
            <p:spPr>
              <a:xfrm>
                <a:off x="381000" y="315974"/>
                <a:ext cx="11430000" cy="6309804"/>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随机抽取一单</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赔偿不少于</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次</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60+30+10</m:t>
                        </m:r>
                      </m:num>
                      <m:den>
                        <m:r>
                          <a:rPr lang="en-US" altLang="zh-CN" sz="2800">
                            <a:solidFill>
                              <a:srgbClr val="000000"/>
                            </a:solidFill>
                            <a:latin typeface="Cambria Math" panose="02040503050406030204" pitchFamily="18" charset="0"/>
                            <a:cs typeface="Times New Roman" panose="02020603050405020304" pitchFamily="18" charset="0"/>
                          </a:rPr>
                          <m:t>800+100+60+30+10</m:t>
                        </m:r>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10</m:t>
                        </m:r>
                      </m:den>
                    </m:f>
                  </m:oMath>
                </a14:m>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ξ</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为赔偿金额</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ξ</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可取</a:t>
                </a:r>
                <a:r>
                  <a:rPr lang="en-US" altLang="zh-CN" sz="2800">
                    <a:solidFill>
                      <a:srgbClr val="000000"/>
                    </a:solidFill>
                    <a:latin typeface="Times New Roman" panose="02020603050405020304" pitchFamily="18" charset="0"/>
                    <a:cs typeface="Times New Roman" panose="02020603050405020304" pitchFamily="18" charset="0"/>
                  </a:rPr>
                  <a:t>0,0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4,3</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由题意可得</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ξ</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800</m:t>
                        </m:r>
                      </m:num>
                      <m:den>
                        <m:r>
                          <a:rPr lang="en-US" altLang="zh-CN" sz="2800">
                            <a:solidFill>
                              <a:srgbClr val="000000"/>
                            </a:solidFill>
                            <a:latin typeface="Cambria Math" panose="02040503050406030204" pitchFamily="18" charset="0"/>
                            <a:cs typeface="Times New Roman" panose="02020603050405020304" pitchFamily="18" charset="0"/>
                          </a:rPr>
                          <m:t>1</m:t>
                        </m:r>
                        <m:r>
                          <m:rPr>
                            <m:nor/>
                          </m:rPr>
                          <a:rPr lang="en-US" altLang="zh-CN" sz="2800">
                            <a:solidFill>
                              <a:srgbClr val="000000"/>
                            </a:solidFill>
                            <a:latin typeface="Times New Roman" panose="02020603050405020304" pitchFamily="18" charset="0"/>
                            <a:cs typeface="Times New Roman" panose="02020603050405020304" pitchFamily="18" charset="0"/>
                          </a:rPr>
                          <m:t> </m:t>
                        </m:r>
                        <m:r>
                          <a:rPr lang="en-US" altLang="zh-CN" sz="2800">
                            <a:solidFill>
                              <a:srgbClr val="000000"/>
                            </a:solidFill>
                            <a:latin typeface="Cambria Math" panose="02040503050406030204" pitchFamily="18" charset="0"/>
                            <a:cs typeface="Times New Roman" panose="02020603050405020304" pitchFamily="18" charset="0"/>
                          </a:rPr>
                          <m:t>000</m:t>
                        </m:r>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4</m:t>
                        </m:r>
                      </m:num>
                      <m:den>
                        <m:r>
                          <a:rPr lang="en-US" altLang="zh-CN" sz="2800">
                            <a:solidFill>
                              <a:srgbClr val="000000"/>
                            </a:solidFill>
                            <a:latin typeface="Cambria Math" panose="02040503050406030204" pitchFamily="18" charset="0"/>
                            <a:cs typeface="Times New Roman" panose="02020603050405020304" pitchFamily="18" charset="0"/>
                          </a:rPr>
                          <m:t>5</m:t>
                        </m:r>
                      </m:den>
                    </m:f>
                  </m:oMath>
                </a14:m>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ξ</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100</m:t>
                        </m:r>
                      </m:num>
                      <m:den>
                        <m:r>
                          <a:rPr lang="en-US" altLang="zh-CN" sz="2800">
                            <a:solidFill>
                              <a:srgbClr val="000000"/>
                            </a:solidFill>
                            <a:latin typeface="Cambria Math" panose="02040503050406030204" pitchFamily="18" charset="0"/>
                            <a:cs typeface="Times New Roman" panose="02020603050405020304" pitchFamily="18" charset="0"/>
                          </a:rPr>
                          <m:t>1</m:t>
                        </m:r>
                        <m:r>
                          <m:rPr>
                            <m:nor/>
                          </m:rPr>
                          <a:rPr lang="en-US" altLang="zh-CN" sz="2800">
                            <a:solidFill>
                              <a:srgbClr val="000000"/>
                            </a:solidFill>
                            <a:latin typeface="Times New Roman" panose="02020603050405020304" pitchFamily="18" charset="0"/>
                            <a:cs typeface="Times New Roman" panose="02020603050405020304" pitchFamily="18" charset="0"/>
                          </a:rPr>
                          <m:t> </m:t>
                        </m:r>
                        <m:r>
                          <a:rPr lang="en-US" altLang="zh-CN" sz="2800">
                            <a:solidFill>
                              <a:srgbClr val="000000"/>
                            </a:solidFill>
                            <a:latin typeface="Cambria Math" panose="02040503050406030204" pitchFamily="18" charset="0"/>
                            <a:cs typeface="Times New Roman" panose="02020603050405020304" pitchFamily="18" charset="0"/>
                          </a:rPr>
                          <m:t>000</m:t>
                        </m:r>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10</m:t>
                        </m:r>
                      </m:den>
                    </m:f>
                  </m:oMath>
                </a14:m>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ξ</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60</m:t>
                        </m:r>
                      </m:num>
                      <m:den>
                        <m:r>
                          <a:rPr lang="en-US" altLang="zh-CN" sz="2800">
                            <a:solidFill>
                              <a:srgbClr val="000000"/>
                            </a:solidFill>
                            <a:latin typeface="Cambria Math" panose="02040503050406030204" pitchFamily="18" charset="0"/>
                            <a:cs typeface="Times New Roman" panose="02020603050405020304" pitchFamily="18" charset="0"/>
                          </a:rPr>
                          <m:t>1</m:t>
                        </m:r>
                        <m:r>
                          <m:rPr>
                            <m:nor/>
                          </m:rPr>
                          <a:rPr lang="en-US" altLang="zh-CN" sz="2800">
                            <a:solidFill>
                              <a:srgbClr val="000000"/>
                            </a:solidFill>
                            <a:latin typeface="Times New Roman" panose="02020603050405020304" pitchFamily="18" charset="0"/>
                            <a:cs typeface="Times New Roman" panose="02020603050405020304" pitchFamily="18" charset="0"/>
                          </a:rPr>
                          <m:t> </m:t>
                        </m:r>
                        <m:r>
                          <a:rPr lang="en-US" altLang="zh-CN" sz="2800">
                            <a:solidFill>
                              <a:srgbClr val="000000"/>
                            </a:solidFill>
                            <a:latin typeface="Cambria Math" panose="02040503050406030204" pitchFamily="18" charset="0"/>
                            <a:cs typeface="Times New Roman" panose="02020603050405020304" pitchFamily="18" charset="0"/>
                          </a:rPr>
                          <m:t>000</m:t>
                        </m:r>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3</m:t>
                        </m:r>
                      </m:num>
                      <m:den>
                        <m:r>
                          <a:rPr lang="en-US" altLang="zh-CN" sz="2800">
                            <a:solidFill>
                              <a:srgbClr val="000000"/>
                            </a:solidFill>
                            <a:latin typeface="Cambria Math" panose="02040503050406030204" pitchFamily="18" charset="0"/>
                            <a:cs typeface="Times New Roman" panose="02020603050405020304" pitchFamily="18" charset="0"/>
                          </a:rPr>
                          <m:t>50</m:t>
                        </m:r>
                      </m:den>
                    </m:f>
                  </m:oMath>
                </a14:m>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P</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ξ</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2</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4</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30</m:t>
                        </m:r>
                      </m:num>
                      <m:den>
                        <m:r>
                          <a:rPr lang="en-US" altLang="zh-CN" sz="2800">
                            <a:solidFill>
                              <a:srgbClr val="000000"/>
                            </a:solidFill>
                            <a:latin typeface="Cambria Math" panose="02040503050406030204" pitchFamily="18" charset="0"/>
                            <a:cs typeface="Times New Roman" panose="02020603050405020304" pitchFamily="18" charset="0"/>
                          </a:rPr>
                          <m:t>1</m:t>
                        </m:r>
                        <m:r>
                          <m:rPr>
                            <m:nor/>
                          </m:rPr>
                          <a:rPr lang="en-US" altLang="zh-CN" sz="2800">
                            <a:solidFill>
                              <a:srgbClr val="000000"/>
                            </a:solidFill>
                            <a:latin typeface="Times New Roman" panose="02020603050405020304" pitchFamily="18" charset="0"/>
                            <a:cs typeface="Times New Roman" panose="02020603050405020304" pitchFamily="18" charset="0"/>
                          </a:rPr>
                          <m:t> </m:t>
                        </m:r>
                        <m:r>
                          <a:rPr lang="en-US" altLang="zh-CN" sz="2800">
                            <a:solidFill>
                              <a:srgbClr val="000000"/>
                            </a:solidFill>
                            <a:latin typeface="Cambria Math" panose="02040503050406030204" pitchFamily="18" charset="0"/>
                            <a:cs typeface="Times New Roman" panose="02020603050405020304" pitchFamily="18" charset="0"/>
                          </a:rPr>
                          <m:t>000</m:t>
                        </m:r>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3</m:t>
                        </m:r>
                      </m:num>
                      <m:den>
                        <m:r>
                          <a:rPr lang="en-US" altLang="zh-CN" sz="2800">
                            <a:solidFill>
                              <a:srgbClr val="000000"/>
                            </a:solidFill>
                            <a:latin typeface="Cambria Math" panose="02040503050406030204" pitchFamily="18" charset="0"/>
                            <a:cs typeface="Times New Roman" panose="02020603050405020304" pitchFamily="18" charset="0"/>
                          </a:rPr>
                          <m:t>100</m:t>
                        </m:r>
                      </m:den>
                    </m:f>
                  </m:oMath>
                </a14:m>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ξ</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10</m:t>
                        </m:r>
                      </m:num>
                      <m:den>
                        <m:r>
                          <a:rPr lang="en-US" altLang="zh-CN" sz="2800">
                            <a:solidFill>
                              <a:srgbClr val="000000"/>
                            </a:solidFill>
                            <a:latin typeface="Cambria Math" panose="02040503050406030204" pitchFamily="18" charset="0"/>
                            <a:cs typeface="Times New Roman" panose="02020603050405020304" pitchFamily="18" charset="0"/>
                          </a:rPr>
                          <m:t>1</m:t>
                        </m:r>
                        <m:r>
                          <m:rPr>
                            <m:nor/>
                          </m:rPr>
                          <a:rPr lang="en-US" altLang="zh-CN" sz="2800">
                            <a:solidFill>
                              <a:srgbClr val="000000"/>
                            </a:solidFill>
                            <a:latin typeface="Times New Roman" panose="02020603050405020304" pitchFamily="18" charset="0"/>
                            <a:cs typeface="Times New Roman" panose="02020603050405020304" pitchFamily="18" charset="0"/>
                          </a:rPr>
                          <m:t> </m:t>
                        </m:r>
                        <m:r>
                          <a:rPr lang="en-US" altLang="zh-CN" sz="2800">
                            <a:solidFill>
                              <a:srgbClr val="000000"/>
                            </a:solidFill>
                            <a:latin typeface="Cambria Math" panose="02040503050406030204" pitchFamily="18" charset="0"/>
                            <a:cs typeface="Times New Roman" panose="02020603050405020304" pitchFamily="18" charset="0"/>
                          </a:rPr>
                          <m:t>000</m:t>
                        </m:r>
                      </m:den>
                    </m:f>
                    <m:r>
                      <a:rPr lang="en-US" altLang="zh-CN" sz="2800" i="1">
                        <a:solidFill>
                          <a:srgbClr val="000000"/>
                        </a:solidFill>
                        <a:latin typeface="Cambria Math" panose="02040503050406030204" pitchFamily="18" charset="0"/>
                        <a:cs typeface="Times New Roman" panose="02020603050405020304" pitchFamily="18" charset="0"/>
                      </a:rPr>
                      <m:t>=</m:t>
                    </m:r>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100</m:t>
                        </m:r>
                      </m:den>
                    </m:f>
                  </m:oMath>
                </a14:m>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ξ</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4</m:t>
                        </m:r>
                      </m:num>
                      <m:den>
                        <m:r>
                          <a:rPr lang="en-US" altLang="zh-CN" sz="2800">
                            <a:solidFill>
                              <a:srgbClr val="000000"/>
                            </a:solidFill>
                            <a:latin typeface="Cambria Math" panose="02040503050406030204" pitchFamily="18" charset="0"/>
                            <a:cs typeface="Times New Roman" panose="02020603050405020304" pitchFamily="18" charset="0"/>
                          </a:rPr>
                          <m:t>5</m:t>
                        </m:r>
                      </m:den>
                    </m:f>
                  </m:oMath>
                </a14:m>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10</m:t>
                        </m:r>
                      </m:den>
                    </m:f>
                  </m:oMath>
                </a14:m>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6×</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3</m:t>
                        </m:r>
                      </m:num>
                      <m:den>
                        <m:r>
                          <a:rPr lang="en-US" altLang="zh-CN" sz="2800">
                            <a:solidFill>
                              <a:srgbClr val="000000"/>
                            </a:solidFill>
                            <a:latin typeface="Cambria Math" panose="02040503050406030204" pitchFamily="18" charset="0"/>
                            <a:cs typeface="Times New Roman" panose="02020603050405020304" pitchFamily="18" charset="0"/>
                          </a:rPr>
                          <m:t>50</m:t>
                        </m:r>
                      </m:den>
                    </m:f>
                  </m:oMath>
                </a14:m>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3</m:t>
                        </m:r>
                      </m:num>
                      <m:den>
                        <m:r>
                          <a:rPr lang="en-US" altLang="zh-CN" sz="2800">
                            <a:solidFill>
                              <a:srgbClr val="000000"/>
                            </a:solidFill>
                            <a:latin typeface="Cambria Math" panose="02040503050406030204" pitchFamily="18" charset="0"/>
                            <a:cs typeface="Times New Roman" panose="02020603050405020304" pitchFamily="18" charset="0"/>
                          </a:rPr>
                          <m:t>100</m:t>
                        </m:r>
                      </m:den>
                    </m:f>
                  </m:oMath>
                </a14:m>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100</m:t>
                        </m:r>
                      </m:den>
                    </m:f>
                  </m:oMath>
                </a14:m>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278</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278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122(</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万元</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effectLst/>
                    <a:latin typeface="宋体" panose="02010600030101010101" pitchFamily="2" charset="-122"/>
                    <a:ea typeface="方正书宋_GBK" panose="03000509000000000000" pitchFamily="65" charset="-122"/>
                    <a:cs typeface="Times New Roman" panose="02020603050405020304" pitchFamily="18" charset="0"/>
                  </a:rPr>
                  <a:t>ⅱ</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由题设可知每一单保费变为</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4</m:t>
                        </m:r>
                      </m:num>
                      <m:den>
                        <m:r>
                          <a:rPr lang="en-US" altLang="zh-CN" sz="2800">
                            <a:solidFill>
                              <a:srgbClr val="000000"/>
                            </a:solidFill>
                            <a:latin typeface="Cambria Math" panose="02040503050406030204" pitchFamily="18" charset="0"/>
                            <a:cs typeface="Times New Roman" panose="02020603050405020304" pitchFamily="18" charset="0"/>
                          </a:rPr>
                          <m:t>5</m:t>
                        </m:r>
                      </m:den>
                    </m:f>
                  </m:oMath>
                </a14:m>
                <a:r>
                  <a:rPr lang="en-US" altLang="zh-CN" sz="2800">
                    <a:solidFill>
                      <a:srgbClr val="000000"/>
                    </a:solidFill>
                    <a:latin typeface="Times New Roman" panose="02020603050405020304" pitchFamily="18" charset="0"/>
                    <a:cs typeface="Times New Roman" panose="02020603050405020304" pitchFamily="18" charset="0"/>
                  </a:rPr>
                  <a:t>×96%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a:t>
                </a:r>
                <a14:m>
                  <m:oMath xmlns:m="http://schemas.openxmlformats.org/officeDocument/2006/math">
                    <m:f>
                      <m:fPr>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a:solidFill>
                              <a:srgbClr val="000000"/>
                            </a:solidFill>
                            <a:latin typeface="Cambria Math" panose="02040503050406030204" pitchFamily="18" charset="0"/>
                            <a:cs typeface="Times New Roman" panose="02020603050405020304" pitchFamily="18" charset="0"/>
                          </a:rPr>
                          <m:t>1</m:t>
                        </m:r>
                      </m:num>
                      <m:den>
                        <m:r>
                          <a:rPr lang="en-US" altLang="zh-CN" sz="2800">
                            <a:solidFill>
                              <a:srgbClr val="000000"/>
                            </a:solidFill>
                            <a:latin typeface="Cambria Math" panose="02040503050406030204" pitchFamily="18" charset="0"/>
                            <a:cs typeface="Times New Roman" panose="02020603050405020304" pitchFamily="18" charset="0"/>
                          </a:rPr>
                          <m:t>5</m:t>
                        </m:r>
                      </m:den>
                    </m:f>
                  </m:oMath>
                </a14:m>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403</a:t>
                </a:r>
                <a:r>
                  <a:rPr lang="en-US"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设保单下一保险期毛利润为</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403</a:t>
                </a:r>
                <a:r>
                  <a:rPr lang="en-US"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ξ</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125</a:t>
                </a:r>
                <a:r>
                  <a:rPr lang="en-US"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万元</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a:t>
                </a:r>
              </a:p>
            </p:txBody>
          </p:sp>
        </mc:Choice>
        <mc:Fallback xmlns="">
          <p:sp>
            <p:nvSpPr>
              <p:cNvPr id="5" name="矩形 4"/>
              <p:cNvSpPr>
                <a:spLocks noRot="1" noChangeAspect="1" noMove="1" noResize="1" noEditPoints="1" noAdjustHandles="1" noChangeArrowheads="1" noChangeShapeType="1" noTextEdit="1"/>
              </p:cNvSpPr>
              <p:nvPr/>
            </p:nvSpPr>
            <p:spPr>
              <a:xfrm>
                <a:off x="381000" y="315974"/>
                <a:ext cx="11430000" cy="6309804"/>
              </a:xfrm>
              <a:prstGeom prst="rect">
                <a:avLst/>
              </a:prstGeom>
              <a:blipFill rotWithShape="0">
                <a:blip r:embed="rId2"/>
                <a:stretch>
                  <a:fillRect l="-1120" t="-290" b="-87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801600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73202"/>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考点二</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i="1">
                <a:solidFill>
                  <a:srgbClr val="000000"/>
                </a:solidFill>
                <a:latin typeface="Times New Roman" panose="02020603050405020304" pitchFamily="18" charset="0"/>
                <a:cs typeface="Times New Roman" panose="02020603050405020304" pitchFamily="18" charset="0"/>
              </a:rPr>
              <a:t>n</a:t>
            </a:r>
            <a:r>
              <a:rPr lang="zh-CN" altLang="zh-CN" sz="2800">
                <a:solidFill>
                  <a:srgbClr val="000000"/>
                </a:solidFill>
                <a:effectLst/>
                <a:latin typeface="Times New Roman" panose="02020603050405020304" pitchFamily="18" charset="0"/>
                <a:ea typeface="微软雅黑" panose="020B0503020204020204" pitchFamily="34" charset="-122"/>
                <a:cs typeface="Times New Roman" panose="02020603050405020304" pitchFamily="18" charset="0"/>
              </a:rPr>
              <a:t>重伯努利试验与二项分布</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(2021·</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天津高考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甲、乙两人在每次猜谜活动中各猜一个谜语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若一方猜对且另一方猜错</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则猜对的一方获胜</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否则本次平局</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已知每次活动中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甲、乙猜对的概率分别</a:t>
            </a:r>
            <a:r>
              <a:rPr lang="zh-CN" altLang="zh-CN" sz="2800" smtClean="0">
                <a:solidFill>
                  <a:srgbClr val="000000"/>
                </a:solidFill>
                <a:latin typeface="Times New Roman" panose="02020603050405020304" pitchFamily="18" charset="0"/>
                <a:cs typeface="Times New Roman" panose="02020603050405020304" pitchFamily="18" charset="0"/>
              </a:rPr>
              <a:t>为</a:t>
            </a:r>
            <a:r>
              <a:rPr lang="en-US" altLang="zh-CN" sz="2800" smtClean="0">
                <a:solidFill>
                  <a:srgbClr val="000000"/>
                </a:solid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cs typeface="Times New Roman" panose="02020603050405020304" pitchFamily="18" charset="0"/>
              </a:rPr>
              <a:t>且每次活动中甲、乙猜对与否互不影响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各次活动也互不影响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则一次活动中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甲获胜的概率为</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cs typeface="Times New Roman" panose="02020603050405020304" pitchFamily="18" charset="0"/>
              </a:rPr>
              <a:t>次活动中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甲至少获胜</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次的概率为</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749724158"/>
              </p:ext>
            </p:extLst>
          </p:nvPr>
        </p:nvGraphicFramePr>
        <p:xfrm>
          <a:off x="3232130" y="1913781"/>
          <a:ext cx="1740477" cy="897659"/>
        </p:xfrm>
        <a:graphic>
          <a:graphicData uri="http://schemas.openxmlformats.org/presentationml/2006/ole">
            <mc:AlternateContent xmlns:mc="http://schemas.openxmlformats.org/markup-compatibility/2006">
              <mc:Choice xmlns:v="urn:schemas-microsoft-com:vml" Requires="v">
                <p:oleObj spid="_x0000_s47142" name="文档" r:id="rId4" imgW="773944" imgH="397868" progId="Word.Document.12">
                  <p:embed/>
                </p:oleObj>
              </mc:Choice>
              <mc:Fallback>
                <p:oleObj name="文档" r:id="rId4" imgW="773944" imgH="397868" progId="Word.Document.12">
                  <p:embed/>
                  <p:pic>
                    <p:nvPicPr>
                      <p:cNvPr id="0" name=""/>
                      <p:cNvPicPr/>
                      <p:nvPr/>
                    </p:nvPicPr>
                    <p:blipFill>
                      <a:blip r:embed="rId5"/>
                      <a:stretch>
                        <a:fillRect/>
                      </a:stretch>
                    </p:blipFill>
                    <p:spPr>
                      <a:xfrm>
                        <a:off x="3232130" y="1913781"/>
                        <a:ext cx="1740477" cy="897659"/>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51256974"/>
              </p:ext>
            </p:extLst>
          </p:nvPr>
        </p:nvGraphicFramePr>
        <p:xfrm>
          <a:off x="458424" y="3581627"/>
          <a:ext cx="11275153" cy="1983030"/>
        </p:xfrm>
        <a:graphic>
          <a:graphicData uri="http://schemas.openxmlformats.org/presentationml/2006/ole">
            <mc:AlternateContent xmlns:mc="http://schemas.openxmlformats.org/markup-compatibility/2006">
              <mc:Choice xmlns:v="urn:schemas-microsoft-com:vml" Requires="v">
                <p:oleObj spid="_x0000_s47143" name="文档" r:id="rId7" imgW="4510061" imgH="793212" progId="Word.Document.12">
                  <p:embed/>
                </p:oleObj>
              </mc:Choice>
              <mc:Fallback>
                <p:oleObj name="文档" r:id="rId7" imgW="4510061" imgH="793212" progId="Word.Document.12">
                  <p:embed/>
                  <p:pic>
                    <p:nvPicPr>
                      <p:cNvPr id="0" name=""/>
                      <p:cNvPicPr/>
                      <p:nvPr/>
                    </p:nvPicPr>
                    <p:blipFill>
                      <a:blip r:embed="rId8"/>
                      <a:stretch>
                        <a:fillRect/>
                      </a:stretch>
                    </p:blipFill>
                    <p:spPr>
                      <a:xfrm>
                        <a:off x="458424" y="3581627"/>
                        <a:ext cx="11275153" cy="198303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920749611"/>
              </p:ext>
            </p:extLst>
          </p:nvPr>
        </p:nvGraphicFramePr>
        <p:xfrm>
          <a:off x="458424" y="5363427"/>
          <a:ext cx="11275153" cy="991965"/>
        </p:xfrm>
        <a:graphic>
          <a:graphicData uri="http://schemas.openxmlformats.org/presentationml/2006/ole">
            <mc:AlternateContent xmlns:mc="http://schemas.openxmlformats.org/markup-compatibility/2006">
              <mc:Choice xmlns:v="urn:schemas-microsoft-com:vml" Requires="v">
                <p:oleObj spid="_x0000_s47144" name="文档" r:id="rId10" imgW="4510061" imgH="396786" progId="Word.Document.12">
                  <p:embed/>
                </p:oleObj>
              </mc:Choice>
              <mc:Fallback>
                <p:oleObj name="文档" r:id="rId10" imgW="4510061" imgH="396786" progId="Word.Document.12">
                  <p:embed/>
                  <p:pic>
                    <p:nvPicPr>
                      <p:cNvPr id="0" name=""/>
                      <p:cNvPicPr/>
                      <p:nvPr/>
                    </p:nvPicPr>
                    <p:blipFill>
                      <a:blip r:embed="rId11"/>
                      <a:stretch>
                        <a:fillRect/>
                      </a:stretch>
                    </p:blipFill>
                    <p:spPr>
                      <a:xfrm>
                        <a:off x="458424" y="5363427"/>
                        <a:ext cx="11275153" cy="991965"/>
                      </a:xfrm>
                      <a:prstGeom prst="rect">
                        <a:avLst/>
                      </a:prstGeom>
                    </p:spPr>
                  </p:pic>
                </p:oleObj>
              </mc:Fallback>
            </mc:AlternateContent>
          </a:graphicData>
        </a:graphic>
      </p:graphicFrame>
    </p:spTree>
    <p:extLst>
      <p:ext uri="{BB962C8B-B14F-4D97-AF65-F5344CB8AC3E}">
        <p14:creationId xmlns:p14="http://schemas.microsoft.com/office/powerpoint/2010/main" val="27282304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114595"/>
            <a:ext cx="11430000" cy="401340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4</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(2019·</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天津高考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设甲、乙两位同学上学期间</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每天</a:t>
            </a:r>
            <a:r>
              <a:rPr lang="en-US" altLang="zh-CN" sz="2800">
                <a:solidFill>
                  <a:srgbClr val="000000"/>
                </a:solidFill>
                <a:latin typeface="Times New Roman" panose="02020603050405020304" pitchFamily="18" charset="0"/>
                <a:cs typeface="Times New Roman" panose="02020603050405020304" pitchFamily="18" charset="0"/>
              </a:rPr>
              <a:t>7:30</a:t>
            </a:r>
            <a:r>
              <a:rPr lang="zh-CN" altLang="zh-CN" sz="2800">
                <a:solidFill>
                  <a:srgbClr val="000000"/>
                </a:solidFill>
                <a:latin typeface="Times New Roman" panose="02020603050405020304" pitchFamily="18" charset="0"/>
                <a:cs typeface="Times New Roman" panose="02020603050405020304" pitchFamily="18" charset="0"/>
              </a:rPr>
              <a:t>之前到校的概率均</a:t>
            </a:r>
            <a:r>
              <a:rPr lang="zh-CN" altLang="zh-CN" sz="2800" smtClean="0">
                <a:solidFill>
                  <a:srgbClr val="000000"/>
                </a:solidFill>
                <a:latin typeface="Times New Roman" panose="02020603050405020304" pitchFamily="18" charset="0"/>
                <a:cs typeface="Times New Roman" panose="02020603050405020304" pitchFamily="18" charset="0"/>
              </a:rPr>
              <a:t>为</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假定甲、乙两位同学到校情况互不影响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且任一同学每天到校情况相互独立</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用</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表示甲同学上学期间的三天中</a:t>
            </a:r>
            <a:r>
              <a:rPr lang="en-US" altLang="zh-CN" sz="2800">
                <a:solidFill>
                  <a:srgbClr val="000000"/>
                </a:solidFill>
                <a:latin typeface="Times New Roman" panose="02020603050405020304" pitchFamily="18" charset="0"/>
                <a:cs typeface="Times New Roman" panose="02020603050405020304" pitchFamily="18" charset="0"/>
              </a:rPr>
              <a:t>7:30</a:t>
            </a:r>
            <a:r>
              <a:rPr lang="zh-CN" altLang="zh-CN" sz="2800">
                <a:solidFill>
                  <a:srgbClr val="000000"/>
                </a:solidFill>
                <a:latin typeface="Times New Roman" panose="02020603050405020304" pitchFamily="18" charset="0"/>
                <a:cs typeface="Times New Roman" panose="02020603050405020304" pitchFamily="18" charset="0"/>
              </a:rPr>
              <a:t>之前到校的天数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的分布列和均值</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设</a:t>
            </a:r>
            <a:r>
              <a:rPr lang="en-US" altLang="zh-CN" sz="2800" i="1">
                <a:solidFill>
                  <a:srgbClr val="000000"/>
                </a:solidFill>
                <a:latin typeface="Times New Roman" panose="02020603050405020304" pitchFamily="18" charset="0"/>
                <a:cs typeface="Times New Roman" panose="02020603050405020304" pitchFamily="18" charset="0"/>
              </a:rPr>
              <a:t>M</a:t>
            </a:r>
            <a:r>
              <a:rPr lang="zh-CN" altLang="zh-CN" sz="2800">
                <a:solidFill>
                  <a:srgbClr val="000000"/>
                </a:solidFill>
                <a:latin typeface="Times New Roman" panose="02020603050405020304" pitchFamily="18" charset="0"/>
                <a:cs typeface="Times New Roman" panose="02020603050405020304" pitchFamily="18" charset="0"/>
              </a:rPr>
              <a:t>为事件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上学期间的三天中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甲同学在</a:t>
            </a:r>
            <a:r>
              <a:rPr lang="en-US" altLang="zh-CN" sz="2800">
                <a:solidFill>
                  <a:srgbClr val="000000"/>
                </a:solidFill>
                <a:latin typeface="Times New Roman" panose="02020603050405020304" pitchFamily="18" charset="0"/>
                <a:cs typeface="Times New Roman" panose="02020603050405020304" pitchFamily="18" charset="0"/>
              </a:rPr>
              <a:t>7:30</a:t>
            </a:r>
            <a:r>
              <a:rPr lang="zh-CN" altLang="zh-CN" sz="2800">
                <a:solidFill>
                  <a:srgbClr val="000000"/>
                </a:solidFill>
                <a:latin typeface="Times New Roman" panose="02020603050405020304" pitchFamily="18" charset="0"/>
                <a:cs typeface="Times New Roman" panose="02020603050405020304" pitchFamily="18" charset="0"/>
              </a:rPr>
              <a:t>之前到校的天数比乙同学在</a:t>
            </a:r>
            <a:r>
              <a:rPr lang="en-US" altLang="zh-CN" sz="2800">
                <a:solidFill>
                  <a:srgbClr val="000000"/>
                </a:solidFill>
                <a:latin typeface="Times New Roman" panose="02020603050405020304" pitchFamily="18" charset="0"/>
                <a:cs typeface="Times New Roman" panose="02020603050405020304" pitchFamily="18" charset="0"/>
              </a:rPr>
              <a:t>7:30</a:t>
            </a:r>
            <a:r>
              <a:rPr lang="zh-CN" altLang="zh-CN" sz="2800">
                <a:solidFill>
                  <a:srgbClr val="000000"/>
                </a:solidFill>
                <a:latin typeface="Times New Roman" panose="02020603050405020304" pitchFamily="18" charset="0"/>
                <a:cs typeface="Times New Roman" panose="02020603050405020304" pitchFamily="18" charset="0"/>
              </a:rPr>
              <a:t>之前到校的天数恰好多</a:t>
            </a: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求事件</a:t>
            </a:r>
            <a:r>
              <a:rPr lang="en-US" altLang="zh-CN" sz="2800" i="1">
                <a:solidFill>
                  <a:srgbClr val="000000"/>
                </a:solidFill>
                <a:latin typeface="Times New Roman" panose="02020603050405020304" pitchFamily="18" charset="0"/>
                <a:cs typeface="Times New Roman" panose="02020603050405020304" pitchFamily="18" charset="0"/>
              </a:rPr>
              <a:t>M</a:t>
            </a:r>
            <a:r>
              <a:rPr lang="zh-CN" altLang="zh-CN" sz="2800">
                <a:solidFill>
                  <a:srgbClr val="000000"/>
                </a:solidFill>
                <a:latin typeface="Times New Roman" panose="02020603050405020304" pitchFamily="18" charset="0"/>
                <a:cs typeface="Times New Roman" panose="02020603050405020304" pitchFamily="18" charset="0"/>
              </a:rPr>
              <a:t>发生的概率</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22521147"/>
              </p:ext>
            </p:extLst>
          </p:nvPr>
        </p:nvGraphicFramePr>
        <p:xfrm>
          <a:off x="1099716" y="1683746"/>
          <a:ext cx="423306" cy="609561"/>
        </p:xfrm>
        <a:graphic>
          <a:graphicData uri="http://schemas.openxmlformats.org/presentationml/2006/ole">
            <mc:AlternateContent xmlns:mc="http://schemas.openxmlformats.org/markup-compatibility/2006">
              <mc:Choice xmlns:v="urn:schemas-microsoft-com:vml" Requires="v">
                <p:oleObj spid="_x0000_s48142" name="文档" r:id="rId4" imgW="220838" imgH="309295" progId="Word.Document.12">
                  <p:embed/>
                </p:oleObj>
              </mc:Choice>
              <mc:Fallback>
                <p:oleObj name="文档" r:id="rId4" imgW="220838" imgH="309295" progId="Word.Document.1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9716" y="1683746"/>
                        <a:ext cx="423306" cy="609561"/>
                      </a:xfrm>
                      <a:prstGeom prst="rect">
                        <a:avLst/>
                      </a:prstGeom>
                      <a:noFill/>
                    </p:spPr>
                  </p:pic>
                </p:oleObj>
              </mc:Fallback>
            </mc:AlternateContent>
          </a:graphicData>
        </a:graphic>
      </p:graphicFrame>
    </p:spTree>
    <p:extLst>
      <p:ext uri="{BB962C8B-B14F-4D97-AF65-F5344CB8AC3E}">
        <p14:creationId xmlns:p14="http://schemas.microsoft.com/office/powerpoint/2010/main" val="8969293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082732263"/>
              </p:ext>
            </p:extLst>
          </p:nvPr>
        </p:nvGraphicFramePr>
        <p:xfrm>
          <a:off x="434639" y="715106"/>
          <a:ext cx="11322723" cy="4757113"/>
        </p:xfrm>
        <a:graphic>
          <a:graphicData uri="http://schemas.openxmlformats.org/presentationml/2006/ole">
            <mc:AlternateContent xmlns:mc="http://schemas.openxmlformats.org/markup-compatibility/2006">
              <mc:Choice xmlns:v="urn:schemas-microsoft-com:vml" Requires="v">
                <p:oleObj spid="_x0000_s49166" name="文档" r:id="rId4" imgW="4529089" imgH="1902845" progId="Word.Document.12">
                  <p:embed/>
                </p:oleObj>
              </mc:Choice>
              <mc:Fallback>
                <p:oleObj name="文档" r:id="rId4" imgW="4529089" imgH="1902845" progId="Word.Document.12">
                  <p:embed/>
                  <p:pic>
                    <p:nvPicPr>
                      <p:cNvPr id="0" name=""/>
                      <p:cNvPicPr/>
                      <p:nvPr/>
                    </p:nvPicPr>
                    <p:blipFill>
                      <a:blip r:embed="rId5"/>
                      <a:stretch>
                        <a:fillRect/>
                      </a:stretch>
                    </p:blipFill>
                    <p:spPr>
                      <a:xfrm>
                        <a:off x="434639" y="715106"/>
                        <a:ext cx="11322723" cy="4757113"/>
                      </a:xfrm>
                      <a:prstGeom prst="rect">
                        <a:avLst/>
                      </a:prstGeom>
                    </p:spPr>
                  </p:pic>
                </p:oleObj>
              </mc:Fallback>
            </mc:AlternateContent>
          </a:graphicData>
        </a:graphic>
      </p:graphicFrame>
    </p:spTree>
    <p:extLst>
      <p:ext uri="{BB962C8B-B14F-4D97-AF65-F5344CB8AC3E}">
        <p14:creationId xmlns:p14="http://schemas.microsoft.com/office/powerpoint/2010/main" val="30594823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206288224"/>
              </p:ext>
            </p:extLst>
          </p:nvPr>
        </p:nvGraphicFramePr>
        <p:xfrm>
          <a:off x="417327" y="889602"/>
          <a:ext cx="11275153" cy="4264283"/>
        </p:xfrm>
        <a:graphic>
          <a:graphicData uri="http://schemas.openxmlformats.org/presentationml/2006/ole">
            <mc:AlternateContent xmlns:mc="http://schemas.openxmlformats.org/markup-compatibility/2006">
              <mc:Choice xmlns:v="urn:schemas-microsoft-com:vml" Requires="v">
                <p:oleObj spid="_x0000_s50190" name="文档" r:id="rId4" imgW="4510061" imgH="1705713" progId="Word.Document.12">
                  <p:embed/>
                </p:oleObj>
              </mc:Choice>
              <mc:Fallback>
                <p:oleObj name="文档" r:id="rId4" imgW="4510061" imgH="1705713" progId="Word.Document.12">
                  <p:embed/>
                  <p:pic>
                    <p:nvPicPr>
                      <p:cNvPr id="0" name=""/>
                      <p:cNvPicPr/>
                      <p:nvPr/>
                    </p:nvPicPr>
                    <p:blipFill>
                      <a:blip r:embed="rId5"/>
                      <a:stretch>
                        <a:fillRect/>
                      </a:stretch>
                    </p:blipFill>
                    <p:spPr>
                      <a:xfrm>
                        <a:off x="417327" y="889602"/>
                        <a:ext cx="11275153" cy="4264283"/>
                      </a:xfrm>
                      <a:prstGeom prst="rect">
                        <a:avLst/>
                      </a:prstGeom>
                    </p:spPr>
                  </p:pic>
                </p:oleObj>
              </mc:Fallback>
            </mc:AlternateContent>
          </a:graphicData>
        </a:graphic>
      </p:graphicFrame>
    </p:spTree>
    <p:extLst>
      <p:ext uri="{BB962C8B-B14F-4D97-AF65-F5344CB8AC3E}">
        <p14:creationId xmlns:p14="http://schemas.microsoft.com/office/powerpoint/2010/main" val="38719777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709927"/>
            <a:ext cx="11430000" cy="283282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考点三</a:t>
            </a:r>
            <a:r>
              <a:rPr lang="zh-CN" altLang="zh-CN" sz="2800" i="1">
                <a:solidFill>
                  <a:srgbClr val="000000"/>
                </a:solidFill>
                <a:latin typeface="Times New Roman" panose="02020603050405020304" pitchFamily="18" charset="0"/>
                <a:cs typeface="Times New Roman" panose="02020603050405020304" pitchFamily="18" charset="0"/>
              </a:rPr>
              <a:t>　</a:t>
            </a:r>
            <a:r>
              <a:rPr lang="zh-CN" altLang="zh-CN" sz="2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正态分布</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(2022·</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全国新高考</a:t>
            </a:r>
            <a:r>
              <a:rPr lang="zh-CN" altLang="zh-CN" sz="2800">
                <a:solidFill>
                  <a:srgbClr val="000000"/>
                </a:solidFill>
                <a:latin typeface="NEU-BZ-S92"/>
                <a:cs typeface="宋体" panose="02010600030101010101" pitchFamily="2" charset="-122"/>
              </a:rPr>
              <a:t>Ⅱ</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随机变量</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服从正态分布</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&lt;X</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36,</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X&gt;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i="1" u="sng">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a:solidFill>
                  <a:srgbClr val="000000"/>
                </a:solidFill>
                <a:latin typeface="Times New Roman" panose="02020603050405020304" pitchFamily="18" charset="0"/>
                <a:cs typeface="Times New Roman" panose="02020603050405020304" pitchFamily="18" charset="0"/>
              </a:rPr>
              <a:t>. </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解析</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由题意可知</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X&gt;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X&gt;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X&gt;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&lt;X</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14</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答案</a:t>
            </a:r>
            <a:r>
              <a:rPr lang="en-US" altLang="zh-CN" sz="280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14</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5662814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p:cNvSpPr>
                <a:spLocks noChangeAspect="1"/>
              </p:cNvSpPr>
              <p:nvPr/>
            </p:nvSpPr>
            <p:spPr>
              <a:xfrm>
                <a:off x="381000" y="616729"/>
                <a:ext cx="11430000" cy="4698081"/>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a:solidFill>
                      <a:srgbClr val="000000"/>
                    </a:solidFill>
                    <a:latin typeface="Times New Roman" panose="02020603050405020304" pitchFamily="18" charset="0"/>
                    <a:cs typeface="Times New Roman" panose="02020603050405020304" pitchFamily="18" charset="0"/>
                  </a:rPr>
                  <a:t>6</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多选题</a:t>
                </a:r>
                <a:r>
                  <a:rPr lang="en-US" altLang="zh-CN" sz="2800">
                    <a:solidFill>
                      <a:srgbClr val="000000"/>
                    </a:solidFill>
                    <a:latin typeface="Times New Roman" panose="02020603050405020304" pitchFamily="18" charset="0"/>
                    <a:cs typeface="Times New Roman" panose="02020603050405020304" pitchFamily="18" charset="0"/>
                  </a:rPr>
                  <a:t>)(2024·</a:t>
                </a:r>
                <a:r>
                  <a:rPr lang="zh-CN" altLang="zh-CN" sz="280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全国新高考</a:t>
                </a:r>
                <a:r>
                  <a:rPr lang="zh-CN" altLang="zh-CN" sz="2800">
                    <a:solidFill>
                      <a:srgbClr val="000000"/>
                    </a:solidFill>
                    <a:latin typeface="NEU-BZ-S92"/>
                    <a:cs typeface="宋体" panose="02010600030101010101" pitchFamily="2" charset="-122"/>
                  </a:rPr>
                  <a:t>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为了解某种植区推动出口后的亩收入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单位</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万元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情况</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从该种植区抽取样本</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得到推动出口后亩收入的样本均值</a:t>
                </a:r>
                <a14:m>
                  <m:oMath xmlns:m="http://schemas.openxmlformats.org/officeDocument/2006/math">
                    <m:bar>
                      <m:barPr>
                        <m:pos m:val="top"/>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barPr>
                      <m:e>
                        <m:r>
                          <a:rPr lang="en-US" altLang="zh-CN" sz="2800" i="1">
                            <a:solidFill>
                              <a:srgbClr val="000000"/>
                            </a:solidFill>
                            <a:latin typeface="Cambria Math" panose="02040503050406030204" pitchFamily="18" charset="0"/>
                            <a:cs typeface="Times New Roman" panose="02020603050405020304" pitchFamily="18" charset="0"/>
                          </a:rPr>
                          <m:t>𝑋</m:t>
                        </m:r>
                      </m:e>
                    </m:bar>
                  </m:oMath>
                </a14:m>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样本方差</a:t>
                </a:r>
                <a:r>
                  <a:rPr lang="en-US" altLang="zh-CN" sz="2800" i="1">
                    <a:solidFill>
                      <a:srgbClr val="000000"/>
                    </a:solidFill>
                    <a:latin typeface="Times New Roman" panose="02020603050405020304" pitchFamily="18" charset="0"/>
                    <a:cs typeface="Times New Roman" panose="02020603050405020304" pitchFamily="18" charset="0"/>
                  </a:rPr>
                  <a:t>s</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01</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已知该种植区以往的亩收入</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服从正态分布</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假设推动出口后的亩收入</a:t>
                </a:r>
                <a:r>
                  <a:rPr lang="en-US" altLang="zh-CN" sz="2800" i="1">
                    <a:solidFill>
                      <a:srgbClr val="000000"/>
                    </a:solidFill>
                    <a:latin typeface="Times New Roman" panose="02020603050405020304" pitchFamily="18" charset="0"/>
                    <a:cs typeface="Times New Roman" panose="02020603050405020304" pitchFamily="18" charset="0"/>
                  </a:rPr>
                  <a:t>Y</a:t>
                </a:r>
                <a:r>
                  <a:rPr lang="zh-CN" altLang="zh-CN" sz="2800">
                    <a:solidFill>
                      <a:srgbClr val="000000"/>
                    </a:solidFill>
                    <a:latin typeface="Times New Roman" panose="02020603050405020304" pitchFamily="18" charset="0"/>
                    <a:cs typeface="Times New Roman" panose="02020603050405020304" pitchFamily="18" charset="0"/>
                  </a:rPr>
                  <a:t>服从正态分布</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14:m>
                  <m:oMath xmlns:m="http://schemas.openxmlformats.org/officeDocument/2006/math">
                    <m:bar>
                      <m:barPr>
                        <m:pos m:val="top"/>
                        <m:ctrlPr>
                          <a:rPr lang="zh-CN" altLang="zh-CN" sz="2800" i="1">
                            <a:solidFill>
                              <a:srgbClr val="000000"/>
                            </a:solidFill>
                            <a:effectLst/>
                            <a:latin typeface="Cambria Math" panose="02040503050406030204" pitchFamily="18" charset="0"/>
                            <a:ea typeface="Cambria Math" panose="02040503050406030204" pitchFamily="18" charset="0"/>
                            <a:cs typeface="Times New Roman" panose="02020603050405020304" pitchFamily="18" charset="0"/>
                          </a:rPr>
                        </m:ctrlPr>
                      </m:barPr>
                      <m:e>
                        <m:r>
                          <a:rPr lang="en-US" altLang="zh-CN" sz="2800" i="1">
                            <a:solidFill>
                              <a:srgbClr val="000000"/>
                            </a:solidFill>
                            <a:latin typeface="Cambria Math" panose="02040503050406030204" pitchFamily="18" charset="0"/>
                            <a:cs typeface="Times New Roman" panose="02020603050405020304" pitchFamily="18" charset="0"/>
                          </a:rPr>
                          <m:t>𝑋</m:t>
                        </m:r>
                      </m:e>
                    </m:bar>
                  </m:oMath>
                </a14:m>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s</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i="1">
                    <a:solidFill>
                      <a:srgbClr val="000000"/>
                    </a:solidFill>
                    <a:latin typeface="Times New Roman" panose="02020603050405020304" pitchFamily="18" charset="0"/>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注</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亩是传统计量单位</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若随机变量</a:t>
                </a:r>
                <a:r>
                  <a:rPr lang="en-US" altLang="zh-CN" sz="2800" i="1">
                    <a:solidFill>
                      <a:srgbClr val="000000"/>
                    </a:solidFill>
                    <a:latin typeface="Times New Roman" panose="02020603050405020304" pitchFamily="18" charset="0"/>
                    <a:cs typeface="Times New Roman" panose="02020603050405020304" pitchFamily="18" charset="0"/>
                  </a:rPr>
                  <a:t>Z</a:t>
                </a:r>
                <a:r>
                  <a:rPr lang="zh-CN" altLang="zh-CN" sz="2800">
                    <a:solidFill>
                      <a:srgbClr val="000000"/>
                    </a:solidFill>
                    <a:latin typeface="Times New Roman" panose="02020603050405020304" pitchFamily="18" charset="0"/>
                    <a:cs typeface="Times New Roman" panose="02020603050405020304" pitchFamily="18" charset="0"/>
                  </a:rPr>
                  <a:t>服从正态分布</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则</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Z&lt;</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effectLst/>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841 3)</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X&gt;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	</a:t>
                </a:r>
                <a:r>
                  <a:rPr lang="en-US" altLang="zh-CN" sz="2800" smtClean="0">
                    <a:solidFill>
                      <a:srgbClr val="000000"/>
                    </a:solidFill>
                    <a:latin typeface="Times New Roman" panose="02020603050405020304" pitchFamily="18" charset="0"/>
                    <a:cs typeface="Times New Roman" panose="02020603050405020304" pitchFamily="18" charset="0"/>
                  </a:rPr>
                  <a:t>	B.</a:t>
                </a:r>
                <a:r>
                  <a:rPr lang="en-US" altLang="zh-CN" sz="2800" i="1" smtClean="0">
                    <a:solidFill>
                      <a:srgbClr val="000000"/>
                    </a:solidFill>
                    <a:latin typeface="Times New Roman" panose="02020603050405020304" pitchFamily="18" charset="0"/>
                    <a:cs typeface="Times New Roman" panose="02020603050405020304" pitchFamily="18" charset="0"/>
                  </a:rPr>
                  <a:t>P</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X&gt;</a:t>
                </a:r>
                <a:r>
                  <a:rPr lang="en-US" altLang="zh-CN" sz="2800" smtClean="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&lt;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C.</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Y&gt;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&gt;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	</a:t>
                </a:r>
                <a:r>
                  <a:rPr lang="en-US" altLang="zh-CN" sz="2800" smtClean="0">
                    <a:solidFill>
                      <a:srgbClr val="000000"/>
                    </a:solidFill>
                    <a:latin typeface="Times New Roman" panose="02020603050405020304" pitchFamily="18" charset="0"/>
                    <a:cs typeface="Times New Roman" panose="02020603050405020304" pitchFamily="18" charset="0"/>
                  </a:rPr>
                  <a:t>	D.</a:t>
                </a:r>
                <a:r>
                  <a:rPr lang="en-US" altLang="zh-CN" sz="2800" i="1" smtClean="0">
                    <a:solidFill>
                      <a:srgbClr val="000000"/>
                    </a:solidFill>
                    <a:latin typeface="Times New Roman" panose="02020603050405020304" pitchFamily="18" charset="0"/>
                    <a:cs typeface="Times New Roman" panose="02020603050405020304" pitchFamily="18" charset="0"/>
                  </a:rPr>
                  <a:t>P</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i="1" smtClean="0">
                    <a:solidFill>
                      <a:srgbClr val="000000"/>
                    </a:solidFill>
                    <a:latin typeface="Times New Roman" panose="02020603050405020304" pitchFamily="18" charset="0"/>
                    <a:cs typeface="Times New Roman" panose="02020603050405020304" pitchFamily="18" charset="0"/>
                  </a:rPr>
                  <a:t>Y&gt;</a:t>
                </a:r>
                <a:r>
                  <a:rPr lang="en-US" altLang="zh-CN" sz="2800" smtClean="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&lt;</a:t>
                </a:r>
                <a:r>
                  <a:rPr lang="en-US" altLang="zh-CN" sz="2800" smtClean="0">
                    <a:solidFill>
                      <a:srgbClr val="000000"/>
                    </a:solidFill>
                    <a:latin typeface="Times New Roman" panose="02020603050405020304" pitchFamily="18" charset="0"/>
                    <a:cs typeface="Times New Roman" panose="02020603050405020304" pitchFamily="18" charset="0"/>
                  </a:rPr>
                  <a:t>0</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8</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mc:Choice>
        <mc:Fallback xmlns="">
          <p:sp>
            <p:nvSpPr>
              <p:cNvPr id="2" name="矩形 1"/>
              <p:cNvSpPr>
                <a:spLocks noRot="1" noChangeAspect="1" noMove="1" noResize="1" noEditPoints="1" noAdjustHandles="1" noChangeArrowheads="1" noChangeShapeType="1" noTextEdit="1"/>
              </p:cNvSpPr>
              <p:nvPr/>
            </p:nvSpPr>
            <p:spPr>
              <a:xfrm>
                <a:off x="381000" y="616729"/>
                <a:ext cx="11430000" cy="4698081"/>
              </a:xfrm>
              <a:prstGeom prst="rect">
                <a:avLst/>
              </a:prstGeom>
              <a:blipFill rotWithShape="0">
                <a:blip r:embed="rId2"/>
                <a:stretch>
                  <a:fillRect l="-1120" t="-259" b="-142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478384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81000" y="1193544"/>
            <a:ext cx="11430000" cy="345325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由题意知</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X~N</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Y~N</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NEU-BZ-S92"/>
                <a:cs typeface="宋体" panose="02010600030101010101" pitchFamily="2" charset="-122"/>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X&lt;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841</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smtClean="0">
                <a:solidFill>
                  <a:srgbClr val="000000"/>
                </a:solidFill>
                <a:latin typeface="Times New Roman" panose="02020603050405020304" pitchFamily="18" charset="0"/>
                <a:cs typeface="Times New Roman" panose="02020603050405020304" pitchFamily="18" charset="0"/>
              </a:rPr>
              <a:t>, </a:t>
            </a:r>
            <a:r>
              <a:rPr lang="zh-CN" altLang="zh-CN" sz="2800" smtClean="0">
                <a:solidFill>
                  <a:srgbClr val="000000"/>
                </a:solidFill>
                <a:latin typeface="NEU-BZ-S92"/>
                <a:cs typeface="宋体" panose="02010600030101010101" pitchFamily="2" charset="-122"/>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X&gt;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841</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158</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7</a:t>
            </a:r>
            <a:r>
              <a:rPr lang="en-US" altLang="zh-CN" sz="2800" i="1" smtClean="0">
                <a:solidFill>
                  <a:srgbClr val="000000"/>
                </a:solidFill>
                <a:latin typeface="Times New Roman" panose="02020603050405020304" pitchFamily="18" charset="0"/>
                <a:cs typeface="Times New Roman" panose="02020603050405020304" pitchFamily="18" charset="0"/>
              </a:rPr>
              <a:t>. </a:t>
            </a:r>
            <a:r>
              <a:rPr lang="zh-CN" altLang="zh-CN" sz="2800" smtClean="0">
                <a:solidFill>
                  <a:srgbClr val="000000"/>
                </a:solidFill>
                <a:latin typeface="NEU-BZ-S92"/>
                <a:cs typeface="宋体" panose="02010600030101010101" pitchFamily="2" charset="-122"/>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X&gt;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X&gt;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&lt;P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X&gt;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158</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7</a:t>
            </a:r>
            <a:r>
              <a:rPr lang="en-US" altLang="zh-CN" sz="280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smtClean="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A</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错误</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X&gt;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&lt;P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X&gt;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5,</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B</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正确</a:t>
            </a:r>
            <a:r>
              <a:rPr lang="en-US" altLang="zh-CN" sz="2800" i="1"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smtClean="0">
                <a:solidFill>
                  <a:srgbClr val="000000"/>
                </a:solidFill>
                <a:latin typeface="NEU-BZ-S92"/>
                <a:cs typeface="宋体" panose="02010600030101010101" pitchFamily="2" charset="-122"/>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Y&gt;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Y&gt;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smtClean="0">
                <a:solidFill>
                  <a:srgbClr val="000000"/>
                </a:solidFill>
                <a:latin typeface="Times New Roman" panose="02020603050405020304" pitchFamily="18" charset="0"/>
                <a:cs typeface="Times New Roman" panose="02020603050405020304" pitchFamily="18" charset="0"/>
              </a:rPr>
              <a:t>) </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Y&lt;</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841</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NEU-BZ-S92"/>
                <a:cs typeface="宋体" panose="02010600030101010101" pitchFamily="2" charset="-122"/>
              </a:rPr>
              <a:t>∴</a:t>
            </a:r>
            <a:r>
              <a:rPr lang="en-US" altLang="zh-CN" sz="2800">
                <a:solidFill>
                  <a:srgbClr val="000000"/>
                </a:solidFill>
                <a:latin typeface="Times New Roman" panose="02020603050405020304" pitchFamily="18" charset="0"/>
                <a:cs typeface="Times New Roman" panose="02020603050405020304" pitchFamily="18" charset="0"/>
              </a:rPr>
              <a:t>C</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正确</a:t>
            </a:r>
            <a:r>
              <a:rPr lang="en-US" altLang="zh-CN" sz="2800">
                <a:solidFill>
                  <a:srgbClr val="000000"/>
                </a:solidFill>
                <a:latin typeface="Times New Roman" panose="02020603050405020304" pitchFamily="18" charset="0"/>
                <a:cs typeface="Times New Roman" panose="02020603050405020304" pitchFamily="18" charset="0"/>
              </a:rPr>
              <a:t>,D</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错误</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故选</a:t>
            </a:r>
            <a:r>
              <a:rPr lang="en-US" altLang="zh-CN" sz="2800">
                <a:solidFill>
                  <a:srgbClr val="000000"/>
                </a:solidFill>
                <a:latin typeface="Times New Roman" panose="02020603050405020304" pitchFamily="18" charset="0"/>
                <a:cs typeface="Times New Roman" panose="02020603050405020304" pitchFamily="18" charset="0"/>
              </a:rPr>
              <a:t>BC</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BC</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676101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02636"/>
            <a:ext cx="11430000" cy="513371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smtClean="0">
                <a:solidFill>
                  <a:srgbClr val="000000"/>
                </a:solidFill>
                <a:latin typeface="Times New Roman" panose="02020603050405020304" pitchFamily="18" charset="0"/>
                <a:cs typeface="Times New Roman" panose="02020603050405020304" pitchFamily="18" charset="0"/>
              </a:rPr>
              <a:t>7</a:t>
            </a:r>
            <a:r>
              <a:rPr lang="en-US" altLang="zh-CN" sz="2800" i="1" smtClean="0">
                <a:solidFill>
                  <a:srgbClr val="000000"/>
                </a:solidFill>
                <a:latin typeface="Times New Roman" panose="02020603050405020304" pitchFamily="18" charset="0"/>
                <a:cs typeface="Times New Roman" panose="02020603050405020304" pitchFamily="18" charset="0"/>
              </a:rPr>
              <a:t>.</a:t>
            </a:r>
            <a:r>
              <a:rPr lang="en-US" altLang="zh-CN" sz="2800" smtClean="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2017·</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全国</a:t>
            </a:r>
            <a:r>
              <a:rPr lang="zh-CN" altLang="zh-CN" sz="2800">
                <a:solidFill>
                  <a:srgbClr val="000000"/>
                </a:solidFill>
                <a:latin typeface="NEU-BZ-S92"/>
                <a:cs typeface="宋体" panose="02010600030101010101" pitchFamily="2" charset="-122"/>
              </a:rPr>
              <a:t>Ⅰ</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高考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为了监控某种零件的一条生产线的生产过程</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检验员每天从该生产线上随机抽取</a:t>
            </a:r>
            <a:r>
              <a:rPr lang="en-US" altLang="zh-CN" sz="2800">
                <a:solidFill>
                  <a:srgbClr val="000000"/>
                </a:solidFill>
                <a:latin typeface="Times New Roman" panose="02020603050405020304" pitchFamily="18" charset="0"/>
                <a:cs typeface="Times New Roman" panose="02020603050405020304" pitchFamily="18" charset="0"/>
              </a:rPr>
              <a:t>16</a:t>
            </a:r>
            <a:r>
              <a:rPr lang="zh-CN" altLang="zh-CN" sz="2800">
                <a:solidFill>
                  <a:srgbClr val="000000"/>
                </a:solidFill>
                <a:latin typeface="Times New Roman" panose="02020603050405020304" pitchFamily="18" charset="0"/>
                <a:cs typeface="Times New Roman" panose="02020603050405020304" pitchFamily="18" charset="0"/>
              </a:rPr>
              <a:t>个零件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并测量其尺寸</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单位</a:t>
            </a:r>
            <a:r>
              <a:rPr lang="en-US" altLang="zh-CN" sz="2800">
                <a:solidFill>
                  <a:srgbClr val="000000"/>
                </a:solidFill>
                <a:latin typeface="Times New Roman" panose="02020603050405020304" pitchFamily="18" charset="0"/>
                <a:cs typeface="Times New Roman" panose="02020603050405020304" pitchFamily="18" charset="0"/>
              </a:rPr>
              <a:t>:cm)</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根据长期生产经验</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可以认为这条生产线正常状态下生产的零件的尺寸服从正态分布</a:t>
            </a:r>
            <a:r>
              <a:rPr lang="en-US" altLang="zh-CN" sz="2800" i="1">
                <a:solidFill>
                  <a:srgbClr val="000000"/>
                </a:solidFill>
                <a:latin typeface="Times New Roman" panose="02020603050405020304" pitchFamily="18" charset="0"/>
                <a:cs typeface="Times New Roman" panose="02020603050405020304" pitchFamily="18" charset="0"/>
              </a:rPr>
              <a:t>N</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baseline="300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假设生产状态正常</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记</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表示一天内抽取的</a:t>
            </a:r>
            <a:r>
              <a:rPr lang="en-US" altLang="zh-CN" sz="2800">
                <a:solidFill>
                  <a:srgbClr val="000000"/>
                </a:solidFill>
                <a:latin typeface="Times New Roman" panose="02020603050405020304" pitchFamily="18" charset="0"/>
                <a:cs typeface="Times New Roman" panose="02020603050405020304" pitchFamily="18" charset="0"/>
              </a:rPr>
              <a:t>16</a:t>
            </a:r>
            <a:r>
              <a:rPr lang="zh-CN" altLang="zh-CN" sz="2800">
                <a:solidFill>
                  <a:srgbClr val="000000"/>
                </a:solidFill>
                <a:latin typeface="Times New Roman" panose="02020603050405020304" pitchFamily="18" charset="0"/>
                <a:cs typeface="Times New Roman" panose="02020603050405020304" pitchFamily="18" charset="0"/>
              </a:rPr>
              <a:t>个零件中其尺寸在</a:t>
            </a:r>
            <a:endParaRPr lang="en-US" altLang="zh-CN" sz="280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之外的零件数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求</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cs typeface="Times New Roman" panose="02020603050405020304" pitchFamily="18" charset="0"/>
              </a:rPr>
              <a:t>及</a:t>
            </a: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cs typeface="Times New Roman" panose="02020603050405020304" pitchFamily="18" charset="0"/>
              </a:rPr>
              <a:t>的数学期望</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zh-CN" altLang="zh-CN" sz="2800">
                <a:solidFill>
                  <a:srgbClr val="000000"/>
                </a:solidFill>
                <a:latin typeface="Times New Roman" panose="02020603050405020304" pitchFamily="18" charset="0"/>
                <a:cs typeface="Times New Roman" panose="02020603050405020304" pitchFamily="18" charset="0"/>
              </a:rPr>
              <a:t>一天内抽检零件中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如果出现了尺寸在</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之外的零件</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就认为这条生产线在这一天的生产过程可能出现了异常情况</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需对当天的生产过程进行检查</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7673406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18123"/>
            <a:ext cx="11430000" cy="12126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试说明上述监控生产过程方法的合理性</a:t>
            </a:r>
            <a:r>
              <a:rPr lang="en-US" altLang="zh-CN" sz="2800">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ⅱ</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cs typeface="Times New Roman" panose="02020603050405020304" pitchFamily="18" charset="0"/>
              </a:rPr>
              <a:t>下面是检验员在一天内抽取的</a:t>
            </a:r>
            <a:r>
              <a:rPr lang="en-US" altLang="zh-CN" sz="2800">
                <a:solidFill>
                  <a:srgbClr val="000000"/>
                </a:solidFill>
                <a:latin typeface="Times New Roman" panose="02020603050405020304" pitchFamily="18" charset="0"/>
                <a:cs typeface="Times New Roman" panose="02020603050405020304" pitchFamily="18" charset="0"/>
              </a:rPr>
              <a:t>16</a:t>
            </a:r>
            <a:r>
              <a:rPr lang="zh-CN" altLang="zh-CN" sz="2800">
                <a:solidFill>
                  <a:srgbClr val="000000"/>
                </a:solidFill>
                <a:latin typeface="Times New Roman" panose="02020603050405020304" pitchFamily="18" charset="0"/>
                <a:cs typeface="Times New Roman" panose="02020603050405020304" pitchFamily="18" charset="0"/>
              </a:rPr>
              <a:t>个零件的尺寸</a:t>
            </a:r>
            <a:r>
              <a:rPr lang="en-US" altLang="zh-CN" sz="2800" smtClean="0">
                <a:solidFill>
                  <a:srgbClr val="000000"/>
                </a:solidFill>
                <a:latin typeface="Times New Roman" panose="02020603050405020304" pitchFamily="18" charset="0"/>
                <a:cs typeface="Times New Roman" panose="02020603050405020304" pitchFamily="18" charset="0"/>
              </a:rPr>
              <a:t>:</a:t>
            </a:r>
            <a:endParaRPr lang="en-US" altLang="zh-CN" sz="2800">
              <a:solidFill>
                <a:srgbClr val="000000"/>
              </a:solidFill>
              <a:latin typeface="Times New Roman" panose="02020603050405020304" pitchFamily="18" charset="0"/>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06144483"/>
              </p:ext>
            </p:extLst>
          </p:nvPr>
        </p:nvGraphicFramePr>
        <p:xfrm>
          <a:off x="458424" y="3680675"/>
          <a:ext cx="11275153" cy="2052055"/>
        </p:xfrm>
        <a:graphic>
          <a:graphicData uri="http://schemas.openxmlformats.org/presentationml/2006/ole">
            <mc:AlternateContent xmlns:mc="http://schemas.openxmlformats.org/markup-compatibility/2006">
              <mc:Choice xmlns:v="urn:schemas-microsoft-com:vml" Requires="v">
                <p:oleObj spid="_x0000_s36898" name="文档" r:id="rId4" imgW="4510061" imgH="820822" progId="Word.Document.12">
                  <p:embed/>
                </p:oleObj>
              </mc:Choice>
              <mc:Fallback>
                <p:oleObj name="文档" r:id="rId4" imgW="4510061" imgH="820822" progId="Word.Document.12">
                  <p:embed/>
                  <p:pic>
                    <p:nvPicPr>
                      <p:cNvPr id="0" name=""/>
                      <p:cNvPicPr/>
                      <p:nvPr/>
                    </p:nvPicPr>
                    <p:blipFill>
                      <a:blip r:embed="rId5"/>
                      <a:stretch>
                        <a:fillRect/>
                      </a:stretch>
                    </p:blipFill>
                    <p:spPr>
                      <a:xfrm>
                        <a:off x="458424" y="3680675"/>
                        <a:ext cx="11275153" cy="2052055"/>
                      </a:xfrm>
                      <a:prstGeom prst="rect">
                        <a:avLst/>
                      </a:prstGeom>
                    </p:spPr>
                  </p:pic>
                </p:oleObj>
              </mc:Fallback>
            </mc:AlternateContent>
          </a:graphicData>
        </a:graphic>
      </p:graphicFrame>
      <p:graphicFrame>
        <p:nvGraphicFramePr>
          <p:cNvPr id="4" name="表格 3"/>
          <p:cNvGraphicFramePr>
            <a:graphicFrameLocks noGrp="1" noChangeAspect="1"/>
          </p:cNvGraphicFramePr>
          <p:nvPr>
            <p:extLst>
              <p:ext uri="{D42A27DB-BD31-4B8C-83A1-F6EECF244321}">
                <p14:modId xmlns:p14="http://schemas.microsoft.com/office/powerpoint/2010/main" val="4184787053"/>
              </p:ext>
            </p:extLst>
          </p:nvPr>
        </p:nvGraphicFramePr>
        <p:xfrm>
          <a:off x="381000" y="1703079"/>
          <a:ext cx="11430000" cy="1962912"/>
        </p:xfrm>
        <a:graphic>
          <a:graphicData uri="http://schemas.openxmlformats.org/drawingml/2006/table">
            <a:tbl>
              <a:tblPr firstRow="1" firstCol="1" bandRow="1"/>
              <a:tblGrid>
                <a:gridCol w="2857500"/>
                <a:gridCol w="2857500"/>
                <a:gridCol w="2857500"/>
                <a:gridCol w="2857500"/>
              </a:tblGrid>
              <a:tr h="0">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98</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26</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91</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13</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22</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04</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1188085" algn="l"/>
                          <a:tab pos="2163445" algn="l"/>
                          <a:tab pos="3142615" algn="l"/>
                          <a:tab pos="4190365" algn="l"/>
                        </a:tabLst>
                      </a:pP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a:t>
                      </a:r>
                      <a:r>
                        <a:rPr lang="en-US" sz="2800" i="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sz="28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95</a:t>
                      </a:r>
                      <a:endParaRPr lang="zh-CN" sz="2800">
                        <a:solidFill>
                          <a:srgbClr val="000000"/>
                        </a:solidFill>
                        <a:effectLst/>
                        <a:latin typeface="NEU-BZ-S92"/>
                        <a:ea typeface="方正书宋_GBK" panose="03000509000000000000" pitchFamily="65" charset="-122"/>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6596807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981603254"/>
              </p:ext>
            </p:extLst>
          </p:nvPr>
        </p:nvGraphicFramePr>
        <p:xfrm>
          <a:off x="458424" y="1292940"/>
          <a:ext cx="11275153" cy="3683638"/>
        </p:xfrm>
        <a:graphic>
          <a:graphicData uri="http://schemas.openxmlformats.org/presentationml/2006/ole">
            <mc:AlternateContent xmlns:mc="http://schemas.openxmlformats.org/markup-compatibility/2006">
              <mc:Choice xmlns:v="urn:schemas-microsoft-com:vml" Requires="v">
                <p:oleObj spid="_x0000_s37922" name="文档" r:id="rId4" imgW="4510061" imgH="1473455" progId="Word.Document.12">
                  <p:embed/>
                </p:oleObj>
              </mc:Choice>
              <mc:Fallback>
                <p:oleObj name="文档" r:id="rId4" imgW="4510061" imgH="1473455" progId="Word.Document.12">
                  <p:embed/>
                  <p:pic>
                    <p:nvPicPr>
                      <p:cNvPr id="0" name=""/>
                      <p:cNvPicPr/>
                      <p:nvPr/>
                    </p:nvPicPr>
                    <p:blipFill>
                      <a:blip r:embed="rId5"/>
                      <a:stretch>
                        <a:fillRect/>
                      </a:stretch>
                    </p:blipFill>
                    <p:spPr>
                      <a:xfrm>
                        <a:off x="458424" y="1292940"/>
                        <a:ext cx="11275153" cy="3683638"/>
                      </a:xfrm>
                      <a:prstGeom prst="rect">
                        <a:avLst/>
                      </a:prstGeom>
                    </p:spPr>
                  </p:pic>
                </p:oleObj>
              </mc:Fallback>
            </mc:AlternateContent>
          </a:graphicData>
        </a:graphic>
      </p:graphicFrame>
    </p:spTree>
    <p:extLst>
      <p:ext uri="{BB962C8B-B14F-4D97-AF65-F5344CB8AC3E}">
        <p14:creationId xmlns:p14="http://schemas.microsoft.com/office/powerpoint/2010/main" val="14631493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84829"/>
            <a:ext cx="11430000" cy="507344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抽取的一个零件的尺寸在区间</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内的概率约为</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997</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从而零件的尺寸在区间</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之外的概率为</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002</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a:solidFill>
                  <a:srgbClr val="000000"/>
                </a:solidFill>
                <a:latin typeface="Times New Roman" panose="02020603050405020304" pitchFamily="18" charset="0"/>
                <a:cs typeface="Times New Roman" panose="02020603050405020304" pitchFamily="18" charset="0"/>
              </a:rPr>
              <a:t>X~B</a:t>
            </a:r>
            <a:r>
              <a:rPr lang="en-US" altLang="zh-CN" sz="2800">
                <a:solidFill>
                  <a:srgbClr val="000000"/>
                </a:solidFill>
                <a:latin typeface="Times New Roman" panose="02020603050405020304" pitchFamily="18" charset="0"/>
                <a:cs typeface="Times New Roman" panose="02020603050405020304" pitchFamily="18" charset="0"/>
              </a:rPr>
              <a:t>(16,0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002</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7)</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-P</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997</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baseline="30000">
                <a:solidFill>
                  <a:srgbClr val="000000"/>
                </a:solidFill>
                <a:latin typeface="Times New Roman" panose="02020603050405020304" pitchFamily="18" charset="0"/>
                <a:cs typeface="Times New Roman" panose="02020603050405020304" pitchFamily="18" charset="0"/>
              </a:rPr>
              <a:t>16</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042</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i="1">
                <a:solidFill>
                  <a:srgbClr val="000000"/>
                </a:solidFill>
                <a:latin typeface="Times New Roman" panose="02020603050405020304" pitchFamily="18" charset="0"/>
                <a:cs typeface="Times New Roman" panose="02020603050405020304" pitchFamily="18" charset="0"/>
              </a:rPr>
              <a:t>X</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的数学期望为</a:t>
            </a:r>
            <a:r>
              <a:rPr lang="en-US" altLang="zh-CN" sz="2800" i="1">
                <a:solidFill>
                  <a:srgbClr val="000000"/>
                </a:solidFill>
                <a:latin typeface="Times New Roman" panose="02020603050405020304" pitchFamily="18" charset="0"/>
                <a:cs typeface="Times New Roman" panose="02020603050405020304" pitchFamily="18" charset="0"/>
              </a:rPr>
              <a:t>E</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X</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16×0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002</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7</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043</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latin typeface="NEU-BZ-S92"/>
              <a:ea typeface="方正书宋_GBK" panose="03000509000000000000" pitchFamily="65" charset="-122"/>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a:solidFill>
                  <a:srgbClr val="000000"/>
                </a:solidFill>
                <a:latin typeface="Times New Roman" panose="02020603050405020304" pitchFamily="18" charset="0"/>
                <a:cs typeface="Times New Roman" panose="02020603050405020304" pitchFamily="18" charset="0"/>
              </a:rPr>
              <a:t>(2)(</a:t>
            </a:r>
            <a:r>
              <a:rPr lang="en-US" altLang="zh-CN" sz="280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ⅰ</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如果生产状态正常</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一个零件尺寸在区间</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外的概率只有</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002</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7,</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一天内抽取的</a:t>
            </a:r>
            <a:r>
              <a:rPr lang="en-US" altLang="zh-CN" sz="2800">
                <a:solidFill>
                  <a:srgbClr val="000000"/>
                </a:solidFill>
                <a:latin typeface="Times New Roman" panose="02020603050405020304" pitchFamily="18" charset="0"/>
                <a:cs typeface="Times New Roman" panose="02020603050405020304" pitchFamily="18" charset="0"/>
              </a:rPr>
              <a:t>16</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个零件中</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出现尺寸在区间</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μ</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3</a:t>
            </a:r>
            <a:r>
              <a:rPr lang="en-US" altLang="zh-CN" sz="2800" i="1">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σ</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外的零件的概率只有</a:t>
            </a:r>
            <a:r>
              <a:rPr lang="en-US" altLang="zh-CN" sz="2800">
                <a:solidFill>
                  <a:srgbClr val="000000"/>
                </a:solidFill>
                <a:latin typeface="Times New Roman" panose="02020603050405020304" pitchFamily="18" charset="0"/>
                <a:cs typeface="Times New Roman" panose="02020603050405020304" pitchFamily="18" charset="0"/>
              </a:rPr>
              <a:t>0</a:t>
            </a:r>
            <a:r>
              <a:rPr lang="en-US" altLang="zh-CN" sz="2800" i="1">
                <a:solidFill>
                  <a:srgbClr val="000000"/>
                </a:solidFill>
                <a:latin typeface="Times New Roman" panose="02020603050405020304" pitchFamily="18" charset="0"/>
                <a:cs typeface="Times New Roman" panose="02020603050405020304" pitchFamily="18" charset="0"/>
              </a:rPr>
              <a:t>.</a:t>
            </a:r>
            <a:r>
              <a:rPr lang="en-US" altLang="zh-CN" sz="2800">
                <a:solidFill>
                  <a:srgbClr val="000000"/>
                </a:solidFill>
                <a:latin typeface="Times New Roman" panose="02020603050405020304" pitchFamily="18" charset="0"/>
                <a:cs typeface="Times New Roman" panose="02020603050405020304" pitchFamily="18" charset="0"/>
              </a:rPr>
              <a:t>042</a:t>
            </a:r>
            <a:r>
              <a:rPr lang="en-US"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a:solidFill>
                  <a:srgbClr val="000000"/>
                </a:solidFill>
                <a:latin typeface="Times New Roman" panose="02020603050405020304" pitchFamily="18" charset="0"/>
                <a:cs typeface="Times New Roman" panose="02020603050405020304" pitchFamily="18" charset="0"/>
              </a:rPr>
              <a:t>3,</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发生的概率很小</a:t>
            </a:r>
            <a:r>
              <a:rPr lang="en-US" altLang="zh-CN" sz="2800" i="1">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因此一旦发生这种情况</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就有理由认为这条生产线在这一天的生产过程可能出现了异常情况</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需对当天的生产过程进行检查</a:t>
            </a:r>
            <a:r>
              <a:rPr lang="en-US" altLang="zh-CN" sz="2800">
                <a:solidFill>
                  <a:srgbClr val="000000"/>
                </a:solidFill>
                <a:latin typeface="Times New Roman" panose="02020603050405020304" pitchFamily="18" charset="0"/>
                <a:cs typeface="Times New Roman" panose="02020603050405020304" pitchFamily="18" charset="0"/>
              </a:rPr>
              <a:t>,</a:t>
            </a:r>
            <a:r>
              <a:rPr lang="zh-CN" altLang="zh-CN" sz="280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可见上述监控生产过程的方法是合理的</a:t>
            </a:r>
            <a:r>
              <a:rPr lang="en-US" altLang="zh-CN" sz="2800" i="1">
                <a:solidFill>
                  <a:srgbClr val="000000"/>
                </a:solidFill>
                <a:latin typeface="Times New Roman" panose="02020603050405020304" pitchFamily="18" charset="0"/>
                <a:cs typeface="Times New Roman" panose="02020603050405020304" pitchFamily="18" charset="0"/>
              </a:rPr>
              <a:t>.</a:t>
            </a:r>
            <a:endParaRPr lang="zh-CN" altLang="zh-CN" sz="280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72013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816305279"/>
              </p:ext>
            </p:extLst>
          </p:nvPr>
        </p:nvGraphicFramePr>
        <p:xfrm>
          <a:off x="458424" y="227526"/>
          <a:ext cx="11275153" cy="6081595"/>
        </p:xfrm>
        <a:graphic>
          <a:graphicData uri="http://schemas.openxmlformats.org/presentationml/2006/ole">
            <mc:AlternateContent xmlns:mc="http://schemas.openxmlformats.org/markup-compatibility/2006">
              <mc:Choice xmlns:v="urn:schemas-microsoft-com:vml" Requires="v">
                <p:oleObj spid="_x0000_s38946" name="文档" r:id="rId4" imgW="4510061" imgH="2432638" progId="Word.Document.12">
                  <p:embed/>
                </p:oleObj>
              </mc:Choice>
              <mc:Fallback>
                <p:oleObj name="文档" r:id="rId4" imgW="4510061" imgH="2432638" progId="Word.Document.12">
                  <p:embed/>
                  <p:pic>
                    <p:nvPicPr>
                      <p:cNvPr id="0" name=""/>
                      <p:cNvPicPr/>
                      <p:nvPr/>
                    </p:nvPicPr>
                    <p:blipFill>
                      <a:blip r:embed="rId5"/>
                      <a:stretch>
                        <a:fillRect/>
                      </a:stretch>
                    </p:blipFill>
                    <p:spPr>
                      <a:xfrm>
                        <a:off x="458424" y="227526"/>
                        <a:ext cx="11275153" cy="6081595"/>
                      </a:xfrm>
                      <a:prstGeom prst="rect">
                        <a:avLst/>
                      </a:prstGeom>
                    </p:spPr>
                  </p:pic>
                </p:oleObj>
              </mc:Fallback>
            </mc:AlternateContent>
          </a:graphicData>
        </a:graphic>
      </p:graphicFrame>
    </p:spTree>
    <p:extLst>
      <p:ext uri="{BB962C8B-B14F-4D97-AF65-F5344CB8AC3E}">
        <p14:creationId xmlns:p14="http://schemas.microsoft.com/office/powerpoint/2010/main" val="9120978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136370563"/>
              </p:ext>
            </p:extLst>
          </p:nvPr>
        </p:nvGraphicFramePr>
        <p:xfrm>
          <a:off x="457200" y="1905161"/>
          <a:ext cx="11249025" cy="2525712"/>
        </p:xfrm>
        <a:graphic>
          <a:graphicData uri="http://schemas.openxmlformats.org/presentationml/2006/ole">
            <mc:AlternateContent xmlns:mc="http://schemas.openxmlformats.org/markup-compatibility/2006">
              <mc:Choice xmlns:v="urn:schemas-microsoft-com:vml" Requires="v">
                <p:oleObj spid="_x0000_s39970" name="文档" r:id="rId4" imgW="4510061" imgH="1018481" progId="Word.Document.12">
                  <p:embed/>
                </p:oleObj>
              </mc:Choice>
              <mc:Fallback>
                <p:oleObj name="文档" r:id="rId4" imgW="4510061" imgH="1018481" progId="Word.Document.12">
                  <p:embed/>
                  <p:pic>
                    <p:nvPicPr>
                      <p:cNvPr id="0" name=""/>
                      <p:cNvPicPr/>
                      <p:nvPr/>
                    </p:nvPicPr>
                    <p:blipFill>
                      <a:blip r:embed="rId5"/>
                      <a:stretch>
                        <a:fillRect/>
                      </a:stretch>
                    </p:blipFill>
                    <p:spPr>
                      <a:xfrm>
                        <a:off x="457200" y="1905161"/>
                        <a:ext cx="11249025" cy="2525712"/>
                      </a:xfrm>
                      <a:prstGeom prst="rect">
                        <a:avLst/>
                      </a:prstGeom>
                    </p:spPr>
                  </p:pic>
                </p:oleObj>
              </mc:Fallback>
            </mc:AlternateContent>
          </a:graphicData>
        </a:graphic>
      </p:graphicFrame>
    </p:spTree>
    <p:extLst>
      <p:ext uri="{BB962C8B-B14F-4D97-AF65-F5344CB8AC3E}">
        <p14:creationId xmlns:p14="http://schemas.microsoft.com/office/powerpoint/2010/main" val="21529164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6" name="文本框 5"/>
          <p:cNvSpPr txBox="1"/>
          <p:nvPr/>
        </p:nvSpPr>
        <p:spPr>
          <a:xfrm>
            <a:off x="2624485" y="2222090"/>
            <a:ext cx="6648062" cy="1015663"/>
          </a:xfrm>
          <a:prstGeom prst="rect">
            <a:avLst/>
          </a:prstGeom>
          <a:noFill/>
        </p:spPr>
        <p:txBody>
          <a:bodyPr wrap="square" rtlCol="0">
            <a:spAutoFit/>
          </a:bodyPr>
          <a:lstStyle/>
          <a:p>
            <a:pPr algn="ctr"/>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130</TotalTime>
  <Words>4525</Words>
  <Application>Microsoft Office PowerPoint</Application>
  <PresentationFormat>宽屏</PresentationFormat>
  <Paragraphs>273</Paragraphs>
  <Slides>66</Slides>
  <Notes>0</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66</vt:i4>
      </vt:variant>
    </vt:vector>
  </HeadingPairs>
  <TitlesOfParts>
    <vt:vector size="85" baseType="lpstr">
      <vt:lpstr>NEU-BZ-S92</vt:lpstr>
      <vt:lpstr>Open Sans</vt:lpstr>
      <vt:lpstr>方正书宋_GBK</vt:lpstr>
      <vt:lpstr>方正姚体</vt:lpstr>
      <vt:lpstr>仿宋</vt:lpstr>
      <vt:lpstr>黑体</vt:lpstr>
      <vt:lpstr>华文细黑</vt:lpstr>
      <vt:lpstr>华文新魏</vt:lpstr>
      <vt:lpstr>楷体</vt:lpstr>
      <vt:lpstr>思源黑体 CN Medium</vt:lpstr>
      <vt:lpstr>宋体</vt:lpstr>
      <vt:lpstr>微软雅黑</vt:lpstr>
      <vt:lpstr>Arial</vt:lpstr>
      <vt:lpstr>Calibri</vt:lpstr>
      <vt:lpstr>Cambria Math</vt:lpstr>
      <vt:lpstr>Microsoft Yi Baiti</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Windows User</cp:lastModifiedBy>
  <cp:revision>62</cp:revision>
  <dcterms:created xsi:type="dcterms:W3CDTF">2021-08-30T08:30:26Z</dcterms:created>
  <dcterms:modified xsi:type="dcterms:W3CDTF">2025-08-20T01:09:49Z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