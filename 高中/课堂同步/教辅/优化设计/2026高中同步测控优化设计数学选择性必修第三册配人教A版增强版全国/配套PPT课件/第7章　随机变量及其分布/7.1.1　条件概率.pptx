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677" r:id="rId2"/>
    <p:sldId id="488" r:id="rId3"/>
    <p:sldId id="494" r:id="rId4"/>
    <p:sldId id="392" r:id="rId5"/>
    <p:sldId id="686" r:id="rId6"/>
    <p:sldId id="756" r:id="rId7"/>
    <p:sldId id="771" r:id="rId8"/>
    <p:sldId id="772" r:id="rId9"/>
    <p:sldId id="759" r:id="rId10"/>
    <p:sldId id="760" r:id="rId11"/>
    <p:sldId id="761" r:id="rId12"/>
    <p:sldId id="407" r:id="rId13"/>
    <p:sldId id="394" r:id="rId14"/>
    <p:sldId id="762" r:id="rId15"/>
    <p:sldId id="763" r:id="rId16"/>
    <p:sldId id="764" r:id="rId17"/>
    <p:sldId id="699" r:id="rId18"/>
    <p:sldId id="402" r:id="rId19"/>
    <p:sldId id="720" r:id="rId20"/>
    <p:sldId id="721" r:id="rId21"/>
    <p:sldId id="726" r:id="rId22"/>
    <p:sldId id="753" r:id="rId23"/>
    <p:sldId id="498" r:id="rId24"/>
    <p:sldId id="730" r:id="rId25"/>
    <p:sldId id="733" r:id="rId26"/>
    <p:sldId id="743" r:id="rId27"/>
    <p:sldId id="741" r:id="rId28"/>
    <p:sldId id="738" r:id="rId29"/>
    <p:sldId id="751" r:id="rId30"/>
    <p:sldId id="752" r:id="rId31"/>
    <p:sldId id="398" r:id="rId32"/>
    <p:sldId id="395" r:id="rId33"/>
    <p:sldId id="765" r:id="rId34"/>
    <p:sldId id="766" r:id="rId35"/>
    <p:sldId id="767" r:id="rId36"/>
    <p:sldId id="768" r:id="rId37"/>
    <p:sldId id="769" r:id="rId38"/>
    <p:sldId id="770" r:id="rId39"/>
    <p:sldId id="490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7.xml"/><Relationship Id="rId5" Type="http://schemas.openxmlformats.org/officeDocument/2006/relationships/slide" Target="../slides/slide21.xml"/><Relationship Id="rId4" Type="http://schemas.openxmlformats.org/officeDocument/2006/relationships/slide" Target="../slides/slide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5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6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8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9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10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2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3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4.docx"/><Relationship Id="rId4" Type="http://schemas.openxmlformats.org/officeDocument/2006/relationships/oleObject" Target="../embeddings/oleObject1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5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8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20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1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package" Target="../embeddings/Microsoft_Word___22.docx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3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4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5.docx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6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8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30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2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7.emf"/><Relationship Id="rId5" Type="http://schemas.openxmlformats.org/officeDocument/2006/relationships/image" Target="../media/image35.emf"/><Relationship Id="rId10" Type="http://schemas.openxmlformats.org/officeDocument/2006/relationships/package" Target="../embeddings/Microsoft_Word___36.docx"/><Relationship Id="rId4" Type="http://schemas.openxmlformats.org/officeDocument/2006/relationships/package" Target="../embeddings/Microsoft_Word___34.docx"/><Relationship Id="rId9" Type="http://schemas.openxmlformats.org/officeDocument/2006/relationships/oleObject" Target="../embeddings/oleObject36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7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38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7.1.1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条件概率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第七章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2119559"/>
            <a:ext cx="11430000" cy="22806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理解条件概率的定义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掌握条件概率的两种计算方法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能够利用条件概率公式解决一些简单的实际问题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通过本节课学习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提升数学抽象、数学运算、数学建模的核心素养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06340" y="1465599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条件概率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件产品的尺寸合格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,90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件产品的颜色合格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,85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件产品的尺寸、颜色都合格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产品的尺寸合格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产品的颜色合格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产品的尺寸、颜色都合格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求事件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发生的概率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已知其颜色合格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求它的尺寸也合格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试探求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间的关系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261547"/>
              </p:ext>
            </p:extLst>
          </p:nvPr>
        </p:nvGraphicFramePr>
        <p:xfrm>
          <a:off x="458424" y="1788303"/>
          <a:ext cx="11275153" cy="353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文档" r:id="rId4" imgW="4510061" imgH="1414157" progId="Word.Document.12">
                  <p:embed/>
                </p:oleObj>
              </mc:Choice>
              <mc:Fallback>
                <p:oleObj name="文档" r:id="rId4" imgW="4510061" imgH="14141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88303"/>
                        <a:ext cx="11275153" cy="3535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011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36560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条件概率的定义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为两个随机事件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发生的条件概率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简称条件概率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条件概率与事件独立性的关系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当且仅当事件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相互独立时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概率乘法公式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对任意两个事件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122511"/>
              </p:ext>
            </p:extLst>
          </p:nvPr>
        </p:nvGraphicFramePr>
        <p:xfrm>
          <a:off x="7809573" y="1437383"/>
          <a:ext cx="21574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文档" r:id="rId4" imgW="881376" imgH="397868" progId="Word.Document.12">
                  <p:embed/>
                </p:oleObj>
              </mc:Choice>
              <mc:Fallback>
                <p:oleObj name="文档" r:id="rId4" imgW="881376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09573" y="1437383"/>
                        <a:ext cx="2157413" cy="987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681207" y="1437383"/>
            <a:ext cx="2079241" cy="83196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7688206" y="2280198"/>
            <a:ext cx="2048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527096" y="3335592"/>
            <a:ext cx="2007322" cy="475129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534094" y="3821575"/>
            <a:ext cx="19775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927680" y="5000005"/>
            <a:ext cx="1863484" cy="475129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934678" y="5485988"/>
            <a:ext cx="18358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12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52379"/>
            <a:ext cx="11430000" cy="41379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条件概率的性质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是两个互斥事件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C|A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C|A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互为对立事件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697079"/>
              </p:ext>
            </p:extLst>
          </p:nvPr>
        </p:nvGraphicFramePr>
        <p:xfrm>
          <a:off x="1166642" y="3880792"/>
          <a:ext cx="4619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4" name="文档" r:id="rId4" imgW="172746" imgH="198018" progId="Word.Document.12">
                  <p:embed/>
                </p:oleObj>
              </mc:Choice>
              <mc:Fallback>
                <p:oleObj name="文档" r:id="rId4" imgW="172746" imgH="198018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642" y="3880792"/>
                        <a:ext cx="461963" cy="536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885210"/>
              </p:ext>
            </p:extLst>
          </p:nvPr>
        </p:nvGraphicFramePr>
        <p:xfrm>
          <a:off x="1135820" y="4458463"/>
          <a:ext cx="4619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5" name="文档" r:id="rId7" imgW="172746" imgH="198018" progId="Word.Document.12">
                  <p:embed/>
                </p:oleObj>
              </mc:Choice>
              <mc:Fallback>
                <p:oleObj name="文档" r:id="rId7" imgW="172746" imgH="198018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820" y="4458463"/>
                        <a:ext cx="461963" cy="536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102341" y="2205183"/>
            <a:ext cx="312086" cy="475129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109339" y="2691166"/>
            <a:ext cx="3074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626322" y="3355888"/>
            <a:ext cx="2438837" cy="475129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633321" y="3841871"/>
            <a:ext cx="24026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205083" y="4458463"/>
            <a:ext cx="1421696" cy="475129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12081" y="4944446"/>
            <a:ext cx="14006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11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97402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把一枚硬币连续抛掷两次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第一次出现反面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第二次出现正面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898094"/>
              </p:ext>
            </p:extLst>
          </p:nvPr>
        </p:nvGraphicFramePr>
        <p:xfrm>
          <a:off x="458424" y="2849769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文档" r:id="rId4" imgW="4510061" imgH="790994" progId="Word.Document.12">
                  <p:embed/>
                </p:oleObj>
              </mc:Choice>
              <mc:Fallback>
                <p:oleObj name="文档" r:id="rId4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849769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156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928973"/>
              </p:ext>
            </p:extLst>
          </p:nvPr>
        </p:nvGraphicFramePr>
        <p:xfrm>
          <a:off x="458424" y="467470"/>
          <a:ext cx="11275153" cy="494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文档" r:id="rId4" imgW="4510061" imgH="1977664" progId="Word.Document.12">
                  <p:embed/>
                </p:oleObj>
              </mc:Choice>
              <mc:Fallback>
                <p:oleObj name="文档" r:id="rId4" imgW="4510061" imgH="19776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67470"/>
                        <a:ext cx="11275153" cy="4944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186539"/>
              </p:ext>
            </p:extLst>
          </p:nvPr>
        </p:nvGraphicFramePr>
        <p:xfrm>
          <a:off x="458424" y="5301169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5301169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3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03086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93239" y="3362498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42593" y="3963976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266195" y="4510635"/>
            <a:ext cx="480989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98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利用定义求条件概率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915410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个节目准备参加演出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个舞蹈节目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个语言类节目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不放回地依次抽取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个节目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次抽到舞蹈节目的概率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次和第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次都抽到舞蹈节目的概率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次抽到舞蹈节目的条件下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次抽到舞蹈节目的概率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88486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次抽到舞蹈节目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次抽到舞蹈节目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次和第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次都抽到舞蹈节目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499288"/>
              </p:ext>
            </p:extLst>
          </p:nvPr>
        </p:nvGraphicFramePr>
        <p:xfrm>
          <a:off x="458424" y="2201126"/>
          <a:ext cx="11275153" cy="3114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文档" r:id="rId4" imgW="4510061" imgH="1245968" progId="Word.Document.12">
                  <p:embed/>
                </p:oleObj>
              </mc:Choice>
              <mc:Fallback>
                <p:oleObj name="文档" r:id="rId4" imgW="4510061" imgH="12459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201126"/>
                        <a:ext cx="11275153" cy="3114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02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915021"/>
              </p:ext>
            </p:extLst>
          </p:nvPr>
        </p:nvGraphicFramePr>
        <p:xfrm>
          <a:off x="458424" y="1998540"/>
          <a:ext cx="11275153" cy="3114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文档" r:id="rId4" imgW="4510061" imgH="1245968" progId="Word.Document.12">
                  <p:embed/>
                </p:oleObj>
              </mc:Choice>
              <mc:Fallback>
                <p:oleObj name="文档" r:id="rId4" imgW="4510061" imgH="12459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998540"/>
                        <a:ext cx="11275153" cy="3114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791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959201"/>
              </p:ext>
            </p:extLst>
          </p:nvPr>
        </p:nvGraphicFramePr>
        <p:xfrm>
          <a:off x="458424" y="1749820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49820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25960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利用定义计算条件概率的步骤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分别计算概率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将它们相除得到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条件概率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这个公式适用于一般情形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表示事件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同时发生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134663"/>
              </p:ext>
            </p:extLst>
          </p:nvPr>
        </p:nvGraphicFramePr>
        <p:xfrm>
          <a:off x="6734709" y="3213161"/>
          <a:ext cx="2201863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文档" r:id="rId7" imgW="889605" imgH="400348" progId="Word.Document.12">
                  <p:embed/>
                </p:oleObj>
              </mc:Choice>
              <mc:Fallback>
                <p:oleObj name="文档" r:id="rId7" imgW="889605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34709" y="3213161"/>
                        <a:ext cx="2201863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710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778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某地区空气质量监测资料表明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一天的空气质量为优良的概率是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连续两天为优良的概率是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已知某天的空气质量为优良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则随后一天的空气质量为优良的概率是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	D.0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某天的空气质量为优良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随后一天的空气质量为优良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由条件概率公式可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endParaRPr lang="en-US" altLang="zh-CN" sz="2800" i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>
              <a:solidFill>
                <a:srgbClr val="00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929397"/>
              </p:ext>
            </p:extLst>
          </p:nvPr>
        </p:nvGraphicFramePr>
        <p:xfrm>
          <a:off x="458424" y="4099094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099094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缩小样本空间范围求条件概率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09359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已知集合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{1,2,3,4,5,6},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甲、乙两人各从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中任取一个数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若甲先取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不放回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乙后取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在甲取到奇数的条件下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求乙取到的数比甲取到的数大的概率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将甲取到数字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乙取到数字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则甲取到奇数的样本空间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{(1,2),(1,3),(1,4),(1,5),(1,6),(3,1),(3,2),(3,4),(3,5),(3,6),(5,1),(5,2),(5,3),(5,4),(5,6)},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共包含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乙取到的数比甲取到的数大的样本点有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(1,2),(1,3),(1,4),(1,5),(1,6),(3,4),(3,5),(3,6),(5,6),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所以所求概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率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894540"/>
              </p:ext>
            </p:extLst>
          </p:nvPr>
        </p:nvGraphicFramePr>
        <p:xfrm>
          <a:off x="458424" y="5143378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143378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1192848"/>
            <a:ext cx="2259458" cy="412065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81000" y="191179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在本例条件下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求乙取到偶数的概率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甲取到奇数的条件下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乙取到偶数所包含的样本点有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1,2),(1,4),(1,6),(3,2),(3,4),(3,6),(5,2),(5,4),(5,6),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所以所求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概率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325635"/>
              </p:ext>
            </p:extLst>
          </p:nvPr>
        </p:nvGraphicFramePr>
        <p:xfrm>
          <a:off x="458424" y="3630154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文档" r:id="rId5" imgW="4510061" imgH="395677" progId="Word.Document.12">
                  <p:embed/>
                </p:oleObj>
              </mc:Choice>
              <mc:Fallback>
                <p:oleObj name="文档" r:id="rId5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3630154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726486"/>
              </p:ext>
            </p:extLst>
          </p:nvPr>
        </p:nvGraphicFramePr>
        <p:xfrm>
          <a:off x="458424" y="3621585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621585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875847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若甲先取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放回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乙后取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甲取到的数大于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4”;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甲、乙取到的两数之和等于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N|M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甲取到的数大于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所包含的样本点有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(5,1),(5,2),(5,3),(5,4),(5,5),(5,6),(6,1),(6,2),(6,3),(6,4),(6,5),(6,6),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其中甲、乙取到的两数之和等于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的样本点有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(5,2),(6,1),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481239"/>
              </p:ext>
            </p:extLst>
          </p:nvPr>
        </p:nvGraphicFramePr>
        <p:xfrm>
          <a:off x="458424" y="1295191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4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95191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78933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缩小样本空间法求概率的方法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将原来的样本空间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缩小为已知的条件事件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原来的事件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缩小为积事件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中仅包含有限个样本点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每个样本点发生的概率相等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从而可以在缩小的样本空间上利用古典概型公式计算条件概率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的计数是基于缩小的样本空间的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062946"/>
              </p:ext>
            </p:extLst>
          </p:nvPr>
        </p:nvGraphicFramePr>
        <p:xfrm>
          <a:off x="9608834" y="3411245"/>
          <a:ext cx="7937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5" name="文档" r:id="rId7" imgW="399226" imgH="398969" progId="Word.Document.12">
                  <p:embed/>
                </p:oleObj>
              </mc:Choice>
              <mc:Fallback>
                <p:oleObj name="文档" r:id="rId7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8834" y="3411245"/>
                        <a:ext cx="793750" cy="795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4153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个乒乓球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个新的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个旧的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不放回地取两次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则在第一次取到新球的条件下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第二次取到新球的概率为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161400"/>
              </p:ext>
            </p:extLst>
          </p:nvPr>
        </p:nvGraphicFramePr>
        <p:xfrm>
          <a:off x="458424" y="1854480"/>
          <a:ext cx="11275153" cy="3917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文档" r:id="rId4" imgW="4510061" imgH="1566964" progId="Word.Document.12">
                  <p:embed/>
                </p:oleObj>
              </mc:Choice>
              <mc:Fallback>
                <p:oleObj name="文档" r:id="rId4" imgW="4510061" imgH="15669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854480"/>
                        <a:ext cx="11275153" cy="3917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263645"/>
              </p:ext>
            </p:extLst>
          </p:nvPr>
        </p:nvGraphicFramePr>
        <p:xfrm>
          <a:off x="458424" y="5529761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5529761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54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条件概率性质的应用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2483164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在某次考试中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道题中随机地抽出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考生至少答对其中的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道题即可通过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至少答对其中的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道题就获得优秀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已知某考生能答对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道题中的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并且知道他在这次考试中已经通过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求他获得优秀的概率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181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该考生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道题全答对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该考生答对了其中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道题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另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答错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该考生答对了其中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道题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道题答错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该考生在这次考试中通过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该考生在这次考试中获得优秀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两两互斥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D=A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E=A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由互斥事件的概率加法公式及古典概型计算概率的公式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440116"/>
              </p:ext>
            </p:extLst>
          </p:nvPr>
        </p:nvGraphicFramePr>
        <p:xfrm>
          <a:off x="458424" y="2780142"/>
          <a:ext cx="11275153" cy="3955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文档" r:id="rId4" imgW="4510061" imgH="1582347" progId="Word.Document.12">
                  <p:embed/>
                </p:oleObj>
              </mc:Choice>
              <mc:Fallback>
                <p:oleObj name="文档" r:id="rId4" imgW="4510061" imgH="1582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780142"/>
                        <a:ext cx="11275153" cy="3955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094889"/>
              </p:ext>
            </p:extLst>
          </p:nvPr>
        </p:nvGraphicFramePr>
        <p:xfrm>
          <a:off x="458424" y="1562319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562319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203086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利用条件概率的性质求概率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互斥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即为了求得比较复杂事件的概率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往往可以先把它分解成两个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或若干个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互斥的较简单事件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先求出这些简单事件的概率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再利用互斥事件的概率加法公式即得所求复杂事件的概率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81000" y="166859"/>
                <a:ext cx="11430000" cy="351551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【变式训练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NEU-BZ-S92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三行三列的方阵有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个数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1,2,3,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1,2,3),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从中任取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个数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已知取到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的条件下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求至少有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个数位于同行或同列的概率</a:t>
                </a:r>
                <a:r>
                  <a:rPr lang="en-US" altLang="zh-CN" sz="2800" i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en-US" altLang="zh-CN" sz="2800" smtClean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设事件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任取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个数中有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”,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“3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个数中至少有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个数位于同行或同列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”,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“3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个数互不同行且不同列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6859"/>
                <a:ext cx="11430000" cy="3515514"/>
              </a:xfrm>
              <a:prstGeom prst="rect">
                <a:avLst/>
              </a:prstGeom>
              <a:blipFill rotWithShape="0">
                <a:blip r:embed="rId3"/>
                <a:stretch>
                  <a:fillRect l="-1120" t="-347" b="-1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23E02.eps" descr="id:2147512891;FounderCES"/>
          <p:cNvPicPr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56887" y="1299215"/>
            <a:ext cx="2037074" cy="114612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756838"/>
              </p:ext>
            </p:extLst>
          </p:nvPr>
        </p:nvGraphicFramePr>
        <p:xfrm>
          <a:off x="458424" y="3425523"/>
          <a:ext cx="11275153" cy="2974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文档" r:id="rId6" imgW="4510061" imgH="1189999" progId="Word.Document.12">
                  <p:embed/>
                </p:oleObj>
              </mc:Choice>
              <mc:Fallback>
                <p:oleObj name="文档" r:id="rId6" imgW="4510061" imgH="1189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8424" y="3425523"/>
                        <a:ext cx="11275153" cy="2974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>
                  <a:solidFill>
                    <a:schemeClr val="bg1"/>
                  </a:solidFill>
                </a:rPr>
                <a:t>易错辨析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24247"/>
            <a:ext cx="11430000" cy="47480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概率类型判断失误致错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一个盒子中装有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件一等品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件二等品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从中取产品两次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进行不放回抽样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若第一次取到的是一等品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求第二次取到一等品的概率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因为从产品中不放回地抽取两次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所以第一次取到一等品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第二次取到的也是一等品的概率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220522"/>
              </p:ext>
            </p:extLst>
          </p:nvPr>
        </p:nvGraphicFramePr>
        <p:xfrm>
          <a:off x="4433299" y="3436086"/>
          <a:ext cx="2020888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4" imgW="817537" imgH="400348" progId="Word.Document.12">
                  <p:embed/>
                </p:oleObj>
              </mc:Choice>
              <mc:Fallback>
                <p:oleObj name="文档" r:id="rId4" imgW="817537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33299" y="3436086"/>
                        <a:ext cx="2020888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324235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根据题意知所求概率是条件概率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而错解中忽略了这一点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导致错误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5013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第一次取到的是一等品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第二次取到的是一等品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第一次取到一等品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第二次也取到一等品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258596"/>
              </p:ext>
            </p:extLst>
          </p:nvPr>
        </p:nvGraphicFramePr>
        <p:xfrm>
          <a:off x="458424" y="2202497"/>
          <a:ext cx="11275153" cy="353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文档" r:id="rId4" imgW="4510061" imgH="1414157" progId="Word.Document.12">
                  <p:embed/>
                </p:oleObj>
              </mc:Choice>
              <mc:Fallback>
                <p:oleObj name="文档" r:id="rId4" imgW="4510061" imgH="14141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202497"/>
                        <a:ext cx="11275153" cy="3535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560816"/>
              </p:ext>
            </p:extLst>
          </p:nvPr>
        </p:nvGraphicFramePr>
        <p:xfrm>
          <a:off x="458424" y="2404801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404801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04331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深入理解条件概率的概念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在具体的题目中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必须弄清谁是事件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谁是事件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即在哪个事件发生的条件下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求哪个事件发生的概率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998760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知某种动物活到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岁的概率是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岁的概率是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则现龄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岁的这种动物能够活到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岁的概率是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552719"/>
              </p:ext>
            </p:extLst>
          </p:nvPr>
        </p:nvGraphicFramePr>
        <p:xfrm>
          <a:off x="458424" y="2233301"/>
          <a:ext cx="11275153" cy="2131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name="文档" r:id="rId4" imgW="4510061" imgH="852676" progId="Word.Document.12">
                  <p:embed/>
                </p:oleObj>
              </mc:Choice>
              <mc:Fallback>
                <p:oleObj name="文档" r:id="rId4" imgW="4510061" imgH="8526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233301"/>
                        <a:ext cx="11275153" cy="2131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459206"/>
              </p:ext>
            </p:extLst>
          </p:nvPr>
        </p:nvGraphicFramePr>
        <p:xfrm>
          <a:off x="458424" y="4159353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4159353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045090"/>
              </p:ext>
            </p:extLst>
          </p:nvPr>
        </p:nvGraphicFramePr>
        <p:xfrm>
          <a:off x="458424" y="902845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" name="文档" r:id="rId4" imgW="4510061" imgH="790994" progId="Word.Document.12">
                  <p:embed/>
                </p:oleObj>
              </mc:Choice>
              <mc:Fallback>
                <p:oleObj name="文档" r:id="rId4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902845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992322"/>
              </p:ext>
            </p:extLst>
          </p:nvPr>
        </p:nvGraphicFramePr>
        <p:xfrm>
          <a:off x="458424" y="2880330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880330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899065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54296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袋中装有标号分别为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大小、质地完全相同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每次从袋中随机摸出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个小球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记下它的号码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放回袋中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这样连续摸三次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三次记下的号码之和是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三次记下的号码都是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B|A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458028"/>
              </p:ext>
            </p:extLst>
          </p:nvPr>
        </p:nvGraphicFramePr>
        <p:xfrm>
          <a:off x="458424" y="2266816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8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266816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33140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{(1,2,3),(1,3,2),(2,1,3),(2,2,2),(2,3,1),(3,1,2),(3,2,1)},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{(2,2,2)},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{(2,2,2)},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494462"/>
              </p:ext>
            </p:extLst>
          </p:nvPr>
        </p:nvGraphicFramePr>
        <p:xfrm>
          <a:off x="8286108" y="4300050"/>
          <a:ext cx="30797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9" name="文档" r:id="rId7" imgW="1252857" imgH="400348" progId="Word.Document.12">
                  <p:embed/>
                </p:oleObj>
              </mc:Choice>
              <mc:Fallback>
                <p:oleObj name="文档" r:id="rId7" imgW="1252857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86108" y="4300050"/>
                        <a:ext cx="3079750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74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60488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个整数中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已知取出的数是不大于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则它是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的倍数的概率为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根据题意可知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取出的数是不大于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则这样的数共有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的倍数的整数共有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故所求概率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408827"/>
              </p:ext>
            </p:extLst>
          </p:nvPr>
        </p:nvGraphicFramePr>
        <p:xfrm>
          <a:off x="7066322" y="3524730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2" name="文档" r:id="rId4" imgW="399226" imgH="398969" progId="Word.Document.12">
                  <p:embed/>
                </p:oleObj>
              </mc:Choice>
              <mc:Fallback>
                <p:oleObj name="文档" r:id="rId4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6322" y="3524730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942484"/>
              </p:ext>
            </p:extLst>
          </p:nvPr>
        </p:nvGraphicFramePr>
        <p:xfrm>
          <a:off x="1076488" y="4172001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3" name="文档" r:id="rId7" imgW="399226" imgH="398969" progId="Word.Document.12">
                  <p:embed/>
                </p:oleObj>
              </mc:Choice>
              <mc:Fallback>
                <p:oleObj name="文档" r:id="rId7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488" y="4172001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370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385582"/>
              </p:ext>
            </p:extLst>
          </p:nvPr>
        </p:nvGraphicFramePr>
        <p:xfrm>
          <a:off x="458424" y="997431"/>
          <a:ext cx="11275153" cy="1562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" name="文档" r:id="rId4" imgW="4510061" imgH="624911" progId="Word.Document.12">
                  <p:embed/>
                </p:oleObj>
              </mc:Choice>
              <mc:Fallback>
                <p:oleObj name="文档" r:id="rId4" imgW="4510061" imgH="624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997431"/>
                        <a:ext cx="11275153" cy="1562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90709"/>
              </p:ext>
            </p:extLst>
          </p:nvPr>
        </p:nvGraphicFramePr>
        <p:xfrm>
          <a:off x="458424" y="2559709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1" name="文档" r:id="rId7" imgW="4510061" imgH="793212" progId="Word.Document.12">
                  <p:embed/>
                </p:oleObj>
              </mc:Choice>
              <mc:Fallback>
                <p:oleObj name="文档" r:id="rId7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559709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261834"/>
              </p:ext>
            </p:extLst>
          </p:nvPr>
        </p:nvGraphicFramePr>
        <p:xfrm>
          <a:off x="458424" y="4282641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2" name="文档" r:id="rId10" imgW="4510061" imgH="396786" progId="Word.Document.12">
                  <p:embed/>
                </p:oleObj>
              </mc:Choice>
              <mc:Fallback>
                <p:oleObj name="文档" r:id="rId10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4282641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169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28359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抛掷红、蓝两枚质地均匀的骰子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蓝色骰子的点数为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两枚骰子的点数之和大于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发生的条件下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19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0385"/>
              </p:ext>
            </p:extLst>
          </p:nvPr>
        </p:nvGraphicFramePr>
        <p:xfrm>
          <a:off x="458424" y="307516"/>
          <a:ext cx="11275153" cy="6229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文档" r:id="rId4" imgW="4510061" imgH="2491936" progId="Word.Document.12">
                  <p:embed/>
                </p:oleObj>
              </mc:Choice>
              <mc:Fallback>
                <p:oleObj name="文档" r:id="rId4" imgW="4510061" imgH="24919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07516"/>
                        <a:ext cx="11275153" cy="6229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75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0705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512229"/>
              </p:ext>
            </p:extLst>
          </p:nvPr>
        </p:nvGraphicFramePr>
        <p:xfrm>
          <a:off x="458424" y="3119571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2" name="文档" r:id="rId4" imgW="4510061" imgH="790994" progId="Word.Document.12">
                  <p:embed/>
                </p:oleObj>
              </mc:Choice>
              <mc:Fallback>
                <p:oleObj name="文档" r:id="rId4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119571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574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103</TotalTime>
  <Words>2759</Words>
  <Application>Microsoft Office PowerPoint</Application>
  <PresentationFormat>宽屏</PresentationFormat>
  <Paragraphs>109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9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46</cp:revision>
  <dcterms:created xsi:type="dcterms:W3CDTF">2021-08-30T08:30:26Z</dcterms:created>
  <dcterms:modified xsi:type="dcterms:W3CDTF">2025-08-20T01:06:36Z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