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677" r:id="rId2"/>
    <p:sldId id="488" r:id="rId3"/>
    <p:sldId id="494" r:id="rId4"/>
    <p:sldId id="392" r:id="rId5"/>
    <p:sldId id="686" r:id="rId6"/>
    <p:sldId id="756" r:id="rId7"/>
    <p:sldId id="757" r:id="rId8"/>
    <p:sldId id="758" r:id="rId9"/>
    <p:sldId id="759" r:id="rId10"/>
    <p:sldId id="407" r:id="rId11"/>
    <p:sldId id="394" r:id="rId12"/>
    <p:sldId id="761" r:id="rId13"/>
    <p:sldId id="762" r:id="rId14"/>
    <p:sldId id="402" r:id="rId15"/>
    <p:sldId id="720" r:id="rId16"/>
    <p:sldId id="721" r:id="rId17"/>
    <p:sldId id="726" r:id="rId18"/>
    <p:sldId id="753" r:id="rId19"/>
    <p:sldId id="498" r:id="rId20"/>
    <p:sldId id="730" r:id="rId21"/>
    <p:sldId id="733" r:id="rId22"/>
    <p:sldId id="743" r:id="rId23"/>
    <p:sldId id="744" r:id="rId24"/>
    <p:sldId id="771" r:id="rId25"/>
    <p:sldId id="740" r:id="rId26"/>
    <p:sldId id="749" r:id="rId27"/>
    <p:sldId id="754" r:id="rId28"/>
    <p:sldId id="755" r:id="rId29"/>
    <p:sldId id="750" r:id="rId30"/>
    <p:sldId id="764" r:id="rId31"/>
    <p:sldId id="741" r:id="rId32"/>
    <p:sldId id="738" r:id="rId33"/>
    <p:sldId id="751" r:id="rId34"/>
    <p:sldId id="752" r:id="rId35"/>
    <p:sldId id="765" r:id="rId36"/>
    <p:sldId id="766" r:id="rId37"/>
    <p:sldId id="398" r:id="rId38"/>
    <p:sldId id="395" r:id="rId39"/>
    <p:sldId id="767" r:id="rId40"/>
    <p:sldId id="768" r:id="rId41"/>
    <p:sldId id="769" r:id="rId42"/>
    <p:sldId id="770" r:id="rId43"/>
    <p:sldId id="490" r:id="rId4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45" autoAdjust="0"/>
    <p:restoredTop sz="94660"/>
  </p:normalViewPr>
  <p:slideViewPr>
    <p:cSldViewPr snapToGrid="0">
      <p:cViewPr varScale="1">
        <p:scale>
          <a:sx n="93" d="100"/>
          <a:sy n="93" d="100"/>
        </p:scale>
        <p:origin x="444" y="90"/>
      </p:cViewPr>
      <p:guideLst>
        <p:guide orient="horz" pos="368"/>
        <p:guide pos="211"/>
        <p:guide orient="horz" pos="436"/>
        <p:guide orient="horz" pos="777"/>
        <p:guide orient="horz" pos="28"/>
        <p:guide pos="25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slide" Target="../slides/slide11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31.xml"/><Relationship Id="rId5" Type="http://schemas.openxmlformats.org/officeDocument/2006/relationships/slide" Target="../slides/slide25.xml"/><Relationship Id="rId4" Type="http://schemas.openxmlformats.org/officeDocument/2006/relationships/slide" Target="../slides/slide19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6736663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780300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886935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5" action="ppaction://hlinksldjump"/>
          </p:cNvPr>
          <p:cNvSpPr/>
          <p:nvPr userDrawn="1"/>
        </p:nvSpPr>
        <p:spPr>
          <a:xfrm>
            <a:off x="993569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探究四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6" action="ppaction://hlinksldjump"/>
          </p:cNvPr>
          <p:cNvSpPr/>
          <p:nvPr userDrawn="1"/>
        </p:nvSpPr>
        <p:spPr>
          <a:xfrm>
            <a:off x="1100203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易错辨析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5" Type="http://schemas.openxmlformats.org/officeDocument/2006/relationships/package" Target="../embeddings/Microsoft_Word___1.docx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3.bin"/><Relationship Id="rId7" Type="http://schemas.openxmlformats.org/officeDocument/2006/relationships/package" Target="../embeddings/Microsoft_Word___4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3.doc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5.doc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6.docx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7.docx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8.doc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9.doc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10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11.doc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12.docx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oleObject" Target="../embeddings/oleObject13.bin"/><Relationship Id="rId7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3.doc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5.docx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6.docx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7.docx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oleObject" Target="../embeddings/oleObject18.bin"/><Relationship Id="rId7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8.docx"/><Relationship Id="rId9" Type="http://schemas.openxmlformats.org/officeDocument/2006/relationships/package" Target="../embeddings/Microsoft_Word___20.docx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21.docx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22.docx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23.docx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24.docx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25.docx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26.docx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27.docx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oleObject" Target="../embeddings/oleObject28.bin"/><Relationship Id="rId7" Type="http://schemas.openxmlformats.org/officeDocument/2006/relationships/package" Target="../embeddings/Microsoft_Word___29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0.emf"/><Relationship Id="rId5" Type="http://schemas.openxmlformats.org/officeDocument/2006/relationships/image" Target="../media/image28.emf"/><Relationship Id="rId10" Type="http://schemas.openxmlformats.org/officeDocument/2006/relationships/package" Target="../embeddings/Microsoft_Word___30.docx"/><Relationship Id="rId4" Type="http://schemas.openxmlformats.org/officeDocument/2006/relationships/package" Target="../embeddings/Microsoft_Word___28.docx"/><Relationship Id="rId9" Type="http://schemas.openxmlformats.org/officeDocument/2006/relationships/oleObject" Target="../embeddings/oleObject30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31.docx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7.3.1</a:t>
              </a:r>
              <a:r>
                <a:rPr lang="zh-CN" altLang="en-US" sz="3600" b="1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　离散型随机变量的均值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第七章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lang="en-US" altLang="zh-CN" sz="2800" b="1" dirty="0" smtClean="0">
              <a:solidFill>
                <a:srgbClr val="757C8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81000" y="2078463"/>
            <a:ext cx="11430000" cy="22806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理解离散型随机变量的均值的意义和性质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会求离散型随机变量的均值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掌握两点分布的均值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能够利用离散型随机变量的均值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解决一些相关问题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通过本节课学习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培养利用数学模型分析、解决实际问题的能力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91275" y="155855"/>
            <a:ext cx="11430000" cy="339298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方正正中黑简体"/>
                <a:cs typeface="Times New Roman" panose="02020603050405020304" pitchFamily="18" charset="0"/>
              </a:rPr>
              <a:t>离散型随机变量的均值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个西瓜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已知其中重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kg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kg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kg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个西瓜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单位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:kg)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表示这个西瓜的重量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试想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的可能取值有哪些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取上述值时对应的概率分别是多少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如何求这些西瓜的平均重量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VMX3TRAX03.eps" descr="id:2147517185;FounderCES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60894" y="1939633"/>
            <a:ext cx="1942728" cy="1413295"/>
          </a:xfrm>
          <a:prstGeom prst="rect">
            <a:avLst/>
          </a:prstGeom>
        </p:spPr>
      </p:pic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6918774"/>
              </p:ext>
            </p:extLst>
          </p:nvPr>
        </p:nvGraphicFramePr>
        <p:xfrm>
          <a:off x="458424" y="3548835"/>
          <a:ext cx="11275153" cy="262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3" name="文档" r:id="rId5" imgW="4510061" imgH="1051250" progId="Word.Document.12">
                  <p:embed/>
                </p:oleObj>
              </mc:Choice>
              <mc:Fallback>
                <p:oleObj name="文档" r:id="rId5" imgW="4510061" imgH="10512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8424" y="3548835"/>
                        <a:ext cx="11275153" cy="2628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02792"/>
            <a:ext cx="11430000" cy="65248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一般地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若离散型随机变量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的分布列如下表所示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678557854"/>
              </p:ext>
            </p:extLst>
          </p:nvPr>
        </p:nvGraphicFramePr>
        <p:xfrm>
          <a:off x="381000" y="903908"/>
          <a:ext cx="11430000" cy="981456"/>
        </p:xfrm>
        <a:graphic>
          <a:graphicData uri="http://schemas.openxmlformats.org/drawingml/2006/table">
            <a:tbl>
              <a:tblPr firstRow="1" firstCol="1" bandRow="1"/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方正书宋_GBK" panose="03000509000000000000" pitchFamily="65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 i="1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sz="2800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sz="2800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方正书宋_GBK" panose="03000509000000000000" pitchFamily="65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sz="2800" i="1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9245032"/>
              </p:ext>
            </p:extLst>
          </p:nvPr>
        </p:nvGraphicFramePr>
        <p:xfrm>
          <a:off x="458424" y="1739830"/>
          <a:ext cx="11275153" cy="148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文档" r:id="rId4" imgW="4510061" imgH="593335" progId="Word.Document.12">
                  <p:embed/>
                </p:oleObj>
              </mc:Choice>
              <mc:Fallback>
                <p:oleObj name="文档" r:id="rId4" imgW="4510061" imgH="59333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739830"/>
                        <a:ext cx="11275153" cy="1483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2728680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的均值或数学期望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数学期望简称期望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均值是随机变量可能取值关于取值概率的加权平均数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它综合了随机变量的取值和取值的概率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反映了随机变量取值的</a:t>
            </a: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平均水平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一般地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服从两点分布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0×(1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p=p.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一般地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下面的结论成立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aX+b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i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122449" y="2063874"/>
            <a:ext cx="2765237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2122449" y="2615471"/>
            <a:ext cx="276523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2938877" y="3865660"/>
            <a:ext cx="1424529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2938877" y="4417257"/>
            <a:ext cx="14245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1971960" y="5585543"/>
            <a:ext cx="1355391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1971960" y="6137140"/>
            <a:ext cx="13553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180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89758"/>
            <a:ext cx="3677610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知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Y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分布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列为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561270"/>
              </p:ext>
            </p:extLst>
          </p:nvPr>
        </p:nvGraphicFramePr>
        <p:xfrm>
          <a:off x="442268" y="842244"/>
          <a:ext cx="11307463" cy="2593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1" name="文档" r:id="rId4" imgW="4510061" imgH="1036450" progId="Word.Document.12">
                  <p:embed/>
                </p:oleObj>
              </mc:Choice>
              <mc:Fallback>
                <p:oleObj name="文档" r:id="rId4" imgW="4510061" imgH="10364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2268" y="842244"/>
                        <a:ext cx="11307463" cy="25938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774913"/>
              </p:ext>
            </p:extLst>
          </p:nvPr>
        </p:nvGraphicFramePr>
        <p:xfrm>
          <a:off x="458424" y="2184914"/>
          <a:ext cx="11275153" cy="21257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2" name="文档" r:id="rId7" imgW="4510061" imgH="850291" progId="Word.Document.12">
                  <p:embed/>
                </p:oleObj>
              </mc:Choice>
              <mc:Fallback>
                <p:oleObj name="文档" r:id="rId7" imgW="4510061" imgH="85029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2184914"/>
                        <a:ext cx="11275153" cy="21257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表格 4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782847257"/>
              </p:ext>
            </p:extLst>
          </p:nvPr>
        </p:nvGraphicFramePr>
        <p:xfrm>
          <a:off x="381000" y="4310642"/>
          <a:ext cx="11430000" cy="981456"/>
        </p:xfrm>
        <a:graphic>
          <a:graphicData uri="http://schemas.openxmlformats.org/drawingml/2006/table">
            <a:tbl>
              <a:tblPr firstRow="1" firstCol="1" bandRow="1"/>
              <a:tblGrid>
                <a:gridCol w="2857500"/>
                <a:gridCol w="2857500"/>
                <a:gridCol w="2857500"/>
                <a:gridCol w="2857500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81000" y="5309048"/>
            <a:ext cx="4694875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A.16	B.11	C.2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	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D.2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182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7951204"/>
              </p:ext>
            </p:extLst>
          </p:nvPr>
        </p:nvGraphicFramePr>
        <p:xfrm>
          <a:off x="463550" y="1743075"/>
          <a:ext cx="11228388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7" name="文档" r:id="rId4" imgW="4510061" imgH="395677" progId="Word.Document.12">
                  <p:embed/>
                </p:oleObj>
              </mc:Choice>
              <mc:Fallback>
                <p:oleObj name="文档" r:id="rId4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3550" y="1743075"/>
                        <a:ext cx="11228388" cy="976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2557759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由已知得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5×2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(1)D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(2)A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085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350331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均值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是个变量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的变化而变化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随机变量的均值反映样本的平均水平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均值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√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3962620"/>
              </p:ext>
            </p:extLst>
          </p:nvPr>
        </p:nvGraphicFramePr>
        <p:xfrm>
          <a:off x="457200" y="4186238"/>
          <a:ext cx="11249025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1" name="文档" r:id="rId4" imgW="4510061" imgH="395677" progId="Word.Document.12">
                  <p:embed/>
                </p:oleObj>
              </mc:Choice>
              <mc:Fallback>
                <p:oleObj name="文档" r:id="rId4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7200" y="4186238"/>
                        <a:ext cx="11249025" cy="974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9148968" y="2520630"/>
            <a:ext cx="538035" cy="51400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896969" y="3130229"/>
            <a:ext cx="538035" cy="51400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999708" y="3669157"/>
            <a:ext cx="538035" cy="51400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592173" y="4438940"/>
            <a:ext cx="538035" cy="51400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2006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</a:rPr>
                  <a:t>两点分布的均值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787195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某运动员投篮命中率为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求投篮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次命中次数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均值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投篮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命中次数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的分布列如下表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服从两点分布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=p=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617735342"/>
              </p:ext>
            </p:extLst>
          </p:nvPr>
        </p:nvGraphicFramePr>
        <p:xfrm>
          <a:off x="381000" y="3146253"/>
          <a:ext cx="11430000" cy="1280160"/>
        </p:xfrm>
        <a:graphic>
          <a:graphicData uri="http://schemas.openxmlformats.org/drawingml/2006/table">
            <a:tbl>
              <a:tblPr firstRow="1" firstCol="1" bandRow="1"/>
              <a:tblGrid>
                <a:gridCol w="3810000"/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4665758"/>
              </p:ext>
            </p:extLst>
          </p:nvPr>
        </p:nvGraphicFramePr>
        <p:xfrm>
          <a:off x="458424" y="1336288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5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336288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1923010"/>
            <a:ext cx="11430000" cy="339298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两点分布的特点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一次试验的结果要么发生要么不发生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随机变量的取值为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试验次数一般只有一次试验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如果随机变量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服从两点分布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那么随机变量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的均值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=p.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熟练应用上述公式可大大减少运算量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提高解题速度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948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1522318"/>
            <a:ext cx="11430000" cy="339298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在两点分布中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又因为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00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</a:rPr>
                  <a:t>离散型随机变量均值公式及性质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150203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的分布列如下表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2559815"/>
              </p:ext>
            </p:extLst>
          </p:nvPr>
        </p:nvGraphicFramePr>
        <p:xfrm>
          <a:off x="442268" y="1776204"/>
          <a:ext cx="11307463" cy="2593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3" name="文档" r:id="rId4" imgW="4522985" imgH="1037528" progId="Word.Document.12">
                  <p:embed/>
                </p:oleObj>
              </mc:Choice>
              <mc:Fallback>
                <p:oleObj name="文档" r:id="rId4" imgW="4522985" imgH="10375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2268" y="1776204"/>
                        <a:ext cx="11307463" cy="25938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6951567"/>
              </p:ext>
            </p:extLst>
          </p:nvPr>
        </p:nvGraphicFramePr>
        <p:xfrm>
          <a:off x="426561" y="68606"/>
          <a:ext cx="11338878" cy="65227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7" name="文档" r:id="rId4" imgW="4535551" imgH="2609093" progId="Word.Document.12">
                  <p:embed/>
                </p:oleObj>
              </mc:Choice>
              <mc:Fallback>
                <p:oleObj name="文档" r:id="rId4" imgW="4535551" imgH="260909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6561" y="68606"/>
                        <a:ext cx="11338878" cy="65227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1111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5812415"/>
              </p:ext>
            </p:extLst>
          </p:nvPr>
        </p:nvGraphicFramePr>
        <p:xfrm>
          <a:off x="458424" y="1706157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1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706157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2200305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与离散型随机变量性质有关的问题的解题思路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若给出的随机变量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的关系为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Y=aX+b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为常数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一般先求出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再利用公式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aX+b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也可以利用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的分布列得到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的分布列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关键先由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的取值计算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的取值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对应的概率相等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再由定义法求得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29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056810"/>
            <a:ext cx="7774885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已知随机变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量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X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的分布列如下表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765655"/>
              </p:ext>
            </p:extLst>
          </p:nvPr>
        </p:nvGraphicFramePr>
        <p:xfrm>
          <a:off x="467658" y="1786535"/>
          <a:ext cx="11338878" cy="3210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5" name="文档" r:id="rId4" imgW="4510061" imgH="1279031" progId="Word.Document.12">
                  <p:embed/>
                </p:oleObj>
              </mc:Choice>
              <mc:Fallback>
                <p:oleObj name="文档" r:id="rId4" imgW="4510061" imgH="12790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7658" y="1786535"/>
                        <a:ext cx="11338878" cy="32101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291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4279051"/>
            <a:ext cx="133081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934211"/>
              </p:ext>
            </p:extLst>
          </p:nvPr>
        </p:nvGraphicFramePr>
        <p:xfrm>
          <a:off x="458424" y="733741"/>
          <a:ext cx="11275153" cy="3545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9" name="文档" r:id="rId4" imgW="4510061" imgH="1418124" progId="Word.Document.12">
                  <p:embed/>
                </p:oleObj>
              </mc:Choice>
              <mc:Fallback>
                <p:oleObj name="文档" r:id="rId4" imgW="4510061" imgH="141812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733741"/>
                        <a:ext cx="11275153" cy="35453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1548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</a:rPr>
                  <a:t>离散型随机变量的均值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362857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某汽车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4S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店在一次汽车促销活动中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让每位参与者从盒子中任取一个由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中任意三个数字组成的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三位递减数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即个位数字小于十位数字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十位数字小于百位数字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三位递减数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中的三个数字之和既能被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整除又能被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整除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则可以享受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万元的优惠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三位递减数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中的三个数字之和仅能被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整除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则可以享受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万元的优惠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其他结果享受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万元的优惠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试写出所有个位数字为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三位递减数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若小明参加了这次汽车促销活动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求他得到的优惠金额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单位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万元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的分布列及均值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85371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个位数字为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三位递减数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984,974,964,954,874,864,854,764,754,654,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共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不同的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三位递减数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共有</a:t>
            </a:r>
            <a:r>
              <a:rPr lang="en-US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120(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小明得到的优惠金额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的可能取值为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5,3,1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三个数字之和可能为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20,10,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当三个数字之和为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983,974,965,875,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共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三位递减数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”;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当三个数字之和为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910,820,730,640,721,631,541,532,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共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三位递减数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1395532"/>
              </p:ext>
            </p:extLst>
          </p:nvPr>
        </p:nvGraphicFramePr>
        <p:xfrm>
          <a:off x="458424" y="4951849"/>
          <a:ext cx="11275153" cy="98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7" name="文档" r:id="rId4" imgW="4510061" imgH="395677" progId="Word.Document.12">
                  <p:embed/>
                </p:oleObj>
              </mc:Choice>
              <mc:Fallback>
                <p:oleObj name="文档" r:id="rId4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4951849"/>
                        <a:ext cx="11275153" cy="98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0875090"/>
              </p:ext>
            </p:extLst>
          </p:nvPr>
        </p:nvGraphicFramePr>
        <p:xfrm>
          <a:off x="6096000" y="1769981"/>
          <a:ext cx="830263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8" name="文档" r:id="rId7" imgW="343943" imgH="198018" progId="Word.Document.12">
                  <p:embed/>
                </p:oleObj>
              </mc:Choice>
              <mc:Fallback>
                <p:oleObj name="文档" r:id="rId7" imgW="343943" imgH="19801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96000" y="1769981"/>
                        <a:ext cx="830263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9745543"/>
              </p:ext>
            </p:extLst>
          </p:nvPr>
        </p:nvGraphicFramePr>
        <p:xfrm>
          <a:off x="434639" y="324836"/>
          <a:ext cx="11322723" cy="6318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7" name="文档" r:id="rId4" imgW="4510061" imgH="2529919" progId="Word.Document.12">
                  <p:embed/>
                </p:oleObj>
              </mc:Choice>
              <mc:Fallback>
                <p:oleObj name="文档" r:id="rId4" imgW="4510061" imgH="252991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4639" y="324836"/>
                        <a:ext cx="11322723" cy="63184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3461329"/>
              </p:ext>
            </p:extLst>
          </p:nvPr>
        </p:nvGraphicFramePr>
        <p:xfrm>
          <a:off x="458424" y="1233546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1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233546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1923010"/>
            <a:ext cx="11430000" cy="339298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求离散型随机变量均值的步骤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确定取值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根据随机变量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的意义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写出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所有可能的取值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求概率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取每个值的概率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写分布列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写出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的分布列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求均值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由均值的定义求出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其中写出随机变量的分布列是求解随机变量均值的关键所在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06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1607185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在甲、乙等六个单位参加的一次庆祝国庆演出活动中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每个单位的节目集中安排在一起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现采用抽签的方式随机确定各单位的演出顺序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序号为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1,2,…,6),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甲、乙两个单位的演出序号至少有一个为奇数的概率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甲、乙两个单位之间的演出单位个数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的分布列与均值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03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3215744"/>
              </p:ext>
            </p:extLst>
          </p:nvPr>
        </p:nvGraphicFramePr>
        <p:xfrm>
          <a:off x="434639" y="204732"/>
          <a:ext cx="11322723" cy="6517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6" name="文档" r:id="rId4" imgW="4510061" imgH="2609564" progId="Word.Document.12">
                  <p:embed/>
                </p:oleObj>
              </mc:Choice>
              <mc:Fallback>
                <p:oleObj name="文档" r:id="rId4" imgW="4510061" imgH="26095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4639" y="204732"/>
                        <a:ext cx="11322723" cy="65176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70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" name="矩形 2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探究四</a:t>
                </a: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</a:rPr>
                  <a:t>均值的实际应用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7" name="矩形 6"/>
          <p:cNvSpPr>
            <a:spLocks noChangeAspect="1"/>
          </p:cNvSpPr>
          <p:nvPr/>
        </p:nvSpPr>
        <p:spPr>
          <a:xfrm>
            <a:off x="381000" y="917203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某商场经销某商品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根据以往资料统计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顾客采用的分期付款期数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的分布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列为</a:t>
            </a: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商场经销一件该商品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采用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期付款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其利润为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期或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期付款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其利润为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期或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期付款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其利润为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.Y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单位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示经销一件该商品的利润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购买该商品的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名顾客中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至少有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名采用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期付款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的概率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的分布列及均值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492083450"/>
              </p:ext>
            </p:extLst>
          </p:nvPr>
        </p:nvGraphicFramePr>
        <p:xfrm>
          <a:off x="381000" y="2111619"/>
          <a:ext cx="11430000" cy="981456"/>
        </p:xfrm>
        <a:graphic>
          <a:graphicData uri="http://schemas.openxmlformats.org/drawingml/2006/table">
            <a:tbl>
              <a:tblPr firstRow="1" firstCol="1" bandRow="1"/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2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44234"/>
            <a:ext cx="11430000" cy="58916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购买该商品的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名顾客中至少有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名采用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期付款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事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件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购买该商品的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名顾客中无人采用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期付款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)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216,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-P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)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216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784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的可能取值为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200,250,300,</a:t>
            </a:r>
            <a:r>
              <a:rPr lang="zh-CN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250)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300)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的分布</a:t>
            </a:r>
            <a:r>
              <a:rPr lang="zh-CN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列为</a:t>
            </a:r>
            <a:endParaRPr lang="en-US" altLang="zh-CN" sz="2800" smtClean="0">
              <a:solidFill>
                <a:srgbClr val="00000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200×0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250×0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300×0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240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8349"/>
              </p:ext>
            </p:extLst>
          </p:nvPr>
        </p:nvGraphicFramePr>
        <p:xfrm>
          <a:off x="3287012" y="4384942"/>
          <a:ext cx="3350096" cy="981456"/>
        </p:xfrm>
        <a:graphic>
          <a:graphicData uri="http://schemas.openxmlformats.org/drawingml/2006/table">
            <a:tbl>
              <a:tblPr firstRow="1" firstCol="1" bandRow="1"/>
              <a:tblGrid>
                <a:gridCol w="837524"/>
                <a:gridCol w="837524"/>
                <a:gridCol w="837524"/>
                <a:gridCol w="837524"/>
              </a:tblGrid>
              <a:tr h="44285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285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7461333"/>
              </p:ext>
            </p:extLst>
          </p:nvPr>
        </p:nvGraphicFramePr>
        <p:xfrm>
          <a:off x="945649" y="942658"/>
          <a:ext cx="800531" cy="533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95" name="文档" r:id="rId4" imgW="300040" imgH="193989" progId="Word.Document.12">
                  <p:embed/>
                </p:oleObj>
              </mc:Choice>
              <mc:Fallback>
                <p:oleObj name="文档" r:id="rId4" imgW="300040" imgH="193989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5649" y="942658"/>
                        <a:ext cx="800531" cy="53300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630081"/>
              </p:ext>
            </p:extLst>
          </p:nvPr>
        </p:nvGraphicFramePr>
        <p:xfrm>
          <a:off x="667173" y="1520058"/>
          <a:ext cx="800531" cy="533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96" name="文档" r:id="rId7" imgW="300040" imgH="193989" progId="Word.Document.12">
                  <p:embed/>
                </p:oleObj>
              </mc:Choice>
              <mc:Fallback>
                <p:oleObj name="文档" r:id="rId7" imgW="300040" imgH="193989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173" y="1520058"/>
                        <a:ext cx="800531" cy="53300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1260712"/>
              </p:ext>
            </p:extLst>
          </p:nvPr>
        </p:nvGraphicFramePr>
        <p:xfrm>
          <a:off x="2146651" y="2072465"/>
          <a:ext cx="800531" cy="533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97" name="文档" r:id="rId9" imgW="300040" imgH="193989" progId="Word.Document.12">
                  <p:embed/>
                </p:oleObj>
              </mc:Choice>
              <mc:Fallback>
                <p:oleObj name="文档" r:id="rId9" imgW="300040" imgH="193989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651" y="2072465"/>
                        <a:ext cx="800531" cy="53300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0505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1977202"/>
              </p:ext>
            </p:extLst>
          </p:nvPr>
        </p:nvGraphicFramePr>
        <p:xfrm>
          <a:off x="458424" y="452710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9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452710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946858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实际生活中的均值问题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均值在实际生活中有着广泛的应用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如在体育比赛的安排和成绩预测、消费预测、工程方案的选择、产品合格率的预测、投资收益等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都可以通过随机变量的均值来进行预测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概率模型的解答步骤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审题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确定实际问题是哪一种概率模型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可能用到的事件类型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所用的公式有哪些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确定随机变量的分布列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计算随机变量的均值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根据实际意义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回答概率、均值等所表示的结论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5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64281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随机抽取某厂的某种产品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经质检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其中一等品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126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二等品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三等品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已知生产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件一、二、三等品获得的利润分别为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万元、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万元、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万元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件次品亏损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万元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件产品的利润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单位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的分布列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求生产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件产品的平均利润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均值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经技术革新后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仍有四个等级的产品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但次品率降为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1%,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一等品率提高为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70%,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如果此时要求生产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件产品的平均利润不小于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万元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则三等品率最多是多少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521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1819575"/>
              </p:ext>
            </p:extLst>
          </p:nvPr>
        </p:nvGraphicFramePr>
        <p:xfrm>
          <a:off x="458424" y="950576"/>
          <a:ext cx="11275153" cy="3114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6" name="文档" r:id="rId4" imgW="4510061" imgH="1245968" progId="Word.Document.12">
                  <p:embed/>
                </p:oleObj>
              </mc:Choice>
              <mc:Fallback>
                <p:oleObj name="文档" r:id="rId4" imgW="4510061" imgH="124596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950576"/>
                        <a:ext cx="11275153" cy="31149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表格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766988013"/>
              </p:ext>
            </p:extLst>
          </p:nvPr>
        </p:nvGraphicFramePr>
        <p:xfrm>
          <a:off x="381000" y="4002068"/>
          <a:ext cx="11430000" cy="981456"/>
        </p:xfrm>
        <a:graphic>
          <a:graphicData uri="http://schemas.openxmlformats.org/drawingml/2006/table">
            <a:tbl>
              <a:tblPr firstRow="1" firstCol="1" bandRow="1"/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16383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208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63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5038756"/>
            <a:ext cx="8151590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813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1679104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设技术革新后的三等品率为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&lt;x&lt;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29,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则此时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件产品的平均利润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2×(1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76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依题意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)≥4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73,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76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≥4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73,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所以三等品率最多为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3%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277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" y="151371"/>
            <a:ext cx="11336478" cy="433754"/>
            <a:chOff x="3048000" y="2286000"/>
            <a:chExt cx="4813646" cy="457200"/>
          </a:xfrm>
        </p:grpSpPr>
        <p:sp>
          <p:nvSpPr>
            <p:cNvPr id="6" name="矩形 5"/>
            <p:cNvSpPr/>
            <p:nvPr/>
          </p:nvSpPr>
          <p:spPr>
            <a:xfrm>
              <a:off x="3048000" y="2286000"/>
              <a:ext cx="209403" cy="457200"/>
            </a:xfrm>
            <a:prstGeom prst="rect">
              <a:avLst/>
            </a:prstGeom>
            <a:solidFill>
              <a:srgbClr val="7487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smtClean="0">
                  <a:solidFill>
                    <a:schemeClr val="bg1"/>
                  </a:solidFill>
                </a:rPr>
                <a:t> </a:t>
              </a:r>
              <a:endParaRPr lang="zh-CN" altLang="en-US" sz="28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345506" y="2286000"/>
              <a:ext cx="4516140" cy="457200"/>
            </a:xfrm>
            <a:prstGeom prst="rect">
              <a:avLst/>
            </a:prstGeom>
            <a:gradFill flip="none" rotWithShape="1">
              <a:gsLst>
                <a:gs pos="0">
                  <a:srgbClr val="DCDCDC">
                    <a:shade val="30000"/>
                    <a:satMod val="115000"/>
                  </a:srgbClr>
                </a:gs>
                <a:gs pos="51000">
                  <a:srgbClr val="DCDCDC">
                    <a:shade val="67500"/>
                    <a:satMod val="115000"/>
                  </a:srgbClr>
                </a:gs>
                <a:gs pos="73000">
                  <a:srgbClr val="DCDCDC">
                    <a:shade val="100000"/>
                    <a:satMod val="115000"/>
                    <a:alpha val="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800" b="1">
                  <a:solidFill>
                    <a:schemeClr val="bg1"/>
                  </a:solidFill>
                </a:rPr>
                <a:t>易错辨析</a:t>
              </a:r>
              <a:endParaRPr lang="zh-CN" altLang="en-US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682088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不能准确理解题意致错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【典例】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根据统计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一年中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一个家庭万元以上财产被窃的概率为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000 1,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保险公司开办一年期万元以上家庭财产保险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参加者交保险费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若在一年之内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万元以上财产被窃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保险公司赔偿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问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如何确定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可使保险公司期望获利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错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设保险公司获利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X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X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分布列如下表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999 9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000 1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000 1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&lt;a&lt;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999 900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故当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&lt;a&lt;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999 900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保险公司可期望获利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981377"/>
              </p:ext>
            </p:extLst>
          </p:nvPr>
        </p:nvGraphicFramePr>
        <p:xfrm>
          <a:off x="7958185" y="4706329"/>
          <a:ext cx="3579693" cy="1109472"/>
        </p:xfrm>
        <a:graphic>
          <a:graphicData uri="http://schemas.openxmlformats.org/drawingml/2006/table">
            <a:tbl>
              <a:tblPr firstRow="1" firstCol="1" bandRow="1"/>
              <a:tblGrid>
                <a:gridCol w="1193231"/>
                <a:gridCol w="1193231"/>
                <a:gridCol w="1193231"/>
              </a:tblGrid>
              <a:tr h="443391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-a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391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999 9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000 1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954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97084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出错的原因是什么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你如何改正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你如何防范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提</a:t>
            </a: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示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由于没有理解题意而把随机变量的取值弄错了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而当该家庭失窃时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保险公司需赔偿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但是已收取了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故其损失为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元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正解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设保险公司获利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X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X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分布列如下表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999 9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100)×0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000 1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000 1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a&lt;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1 000 000,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又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100,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故当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&lt;a&lt;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1 000 000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保险公司可期望获利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70373670"/>
              </p:ext>
            </p:extLst>
          </p:nvPr>
        </p:nvGraphicFramePr>
        <p:xfrm>
          <a:off x="2631041" y="3210956"/>
          <a:ext cx="7221876" cy="1109472"/>
        </p:xfrm>
        <a:graphic>
          <a:graphicData uri="http://schemas.openxmlformats.org/drawingml/2006/table">
            <a:tbl>
              <a:tblPr firstRow="1" firstCol="1" bandRow="1"/>
              <a:tblGrid>
                <a:gridCol w="2407292"/>
                <a:gridCol w="2407292"/>
                <a:gridCol w="2407292"/>
              </a:tblGrid>
              <a:tr h="459628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-a+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28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999 9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000 1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285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0760609"/>
              </p:ext>
            </p:extLst>
          </p:nvPr>
        </p:nvGraphicFramePr>
        <p:xfrm>
          <a:off x="458424" y="1727236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3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727236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2221384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对于以实际问题为背景的应用题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解题时要准确理解题意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明确各量之间的关系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避免出现错误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10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72813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【变式训练】</a:t>
            </a:r>
            <a:r>
              <a:rPr lang="zh-CN" altLang="zh-CN" sz="280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甲、乙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丙三人进行羽毛球比赛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其中两人比赛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另一人当裁判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每局比赛结束时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负的一方在下一局当裁判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设各局中双方获胜的概率均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各局比赛的结果相互独立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局甲当裁判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局甲当裁判的概率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表示前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局中乙当裁判的次数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均值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952135"/>
              </p:ext>
            </p:extLst>
          </p:nvPr>
        </p:nvGraphicFramePr>
        <p:xfrm>
          <a:off x="1302520" y="2788073"/>
          <a:ext cx="773232" cy="773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7" name="文档" r:id="rId4" imgW="399226" imgH="398969" progId="Word.Document.12">
                  <p:embed/>
                </p:oleObj>
              </mc:Choice>
              <mc:Fallback>
                <p:oleObj name="文档" r:id="rId4" imgW="399226" imgH="398969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2520" y="2788073"/>
                        <a:ext cx="773232" cy="7732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3407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116614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局结果为甲胜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局甲参加比赛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结果为甲负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局甲当裁判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相互独立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 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的可能取值为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0,1,2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局乙和丙比赛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结果为乙胜丙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局结果为乙胜丙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局乙和甲比赛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结果为乙胜甲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局乙参加比赛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结果为乙负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4466977"/>
              </p:ext>
            </p:extLst>
          </p:nvPr>
        </p:nvGraphicFramePr>
        <p:xfrm>
          <a:off x="8606628" y="2275537"/>
          <a:ext cx="298745" cy="5974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1" name="文档" r:id="rId4" imgW="154819" imgH="299398" progId="Word.Document.12">
                  <p:embed/>
                </p:oleObj>
              </mc:Choice>
              <mc:Fallback>
                <p:oleObj name="文档" r:id="rId4" imgW="154819" imgH="299398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6628" y="2275537"/>
                        <a:ext cx="298745" cy="5974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6286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5319075"/>
              </p:ext>
            </p:extLst>
          </p:nvPr>
        </p:nvGraphicFramePr>
        <p:xfrm>
          <a:off x="458424" y="1294157"/>
          <a:ext cx="11275153" cy="4523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5" name="文档" r:id="rId4" imgW="4510061" imgH="1809474" progId="Word.Document.12">
                  <p:embed/>
                </p:oleObj>
              </mc:Choice>
              <mc:Fallback>
                <p:oleObj name="文档" r:id="rId4" imgW="4510061" imgH="18094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294157"/>
                        <a:ext cx="11275153" cy="4523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9839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697710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的分布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列为</a:t>
            </a: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的均值是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A.2	B.2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	D.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的变化而变化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+m=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34958049"/>
              </p:ext>
            </p:extLst>
          </p:nvPr>
        </p:nvGraphicFramePr>
        <p:xfrm>
          <a:off x="381000" y="1351334"/>
          <a:ext cx="11430000" cy="981456"/>
        </p:xfrm>
        <a:graphic>
          <a:graphicData uri="http://schemas.openxmlformats.org/drawingml/2006/table">
            <a:tbl>
              <a:tblPr firstRow="1" firstCol="1" bandRow="1"/>
              <a:tblGrid>
                <a:gridCol w="2857500"/>
                <a:gridCol w="2857500"/>
                <a:gridCol w="2857500"/>
                <a:gridCol w="2857500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059699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某射手射击所得环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Y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分布列如下表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>
              <a:solidFill>
                <a:srgbClr val="000000"/>
              </a:solidFill>
              <a:effectLst/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知</a:t>
            </a:r>
            <a:r>
              <a:rPr lang="en-US" altLang="zh-CN" sz="2800" i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Y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均值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Y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的值为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smtClean="0">
              <a:solidFill>
                <a:srgbClr val="FF0000"/>
              </a:solidFill>
              <a:effectLst/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560829300"/>
              </p:ext>
            </p:extLst>
          </p:nvPr>
        </p:nvGraphicFramePr>
        <p:xfrm>
          <a:off x="381000" y="1793124"/>
          <a:ext cx="11430000" cy="981456"/>
        </p:xfrm>
        <a:graphic>
          <a:graphicData uri="http://schemas.openxmlformats.org/drawingml/2006/table">
            <a:tbl>
              <a:tblPr firstRow="1" firstCol="1" bandRow="1"/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Yi Baiti" panose="03000500000000000000" pitchFamily="66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4715494"/>
              </p:ext>
            </p:extLst>
          </p:nvPr>
        </p:nvGraphicFramePr>
        <p:xfrm>
          <a:off x="458424" y="3390177"/>
          <a:ext cx="11275153" cy="98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1" name="文档" r:id="rId4" imgW="4510061" imgH="395677" progId="Word.Document.12">
                  <p:embed/>
                </p:oleObj>
              </mc:Choice>
              <mc:Fallback>
                <p:oleObj name="文档" r:id="rId4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3390177"/>
                        <a:ext cx="11275153" cy="98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60130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02858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已知随机变量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的分布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列为</a:t>
            </a: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9138380"/>
              </p:ext>
            </p:extLst>
          </p:nvPr>
        </p:nvGraphicFramePr>
        <p:xfrm>
          <a:off x="426561" y="1022931"/>
          <a:ext cx="11338878" cy="2641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8" name="文档" r:id="rId4" imgW="4535551" imgH="1056575" progId="Word.Document.12">
                  <p:embed/>
                </p:oleObj>
              </mc:Choice>
              <mc:Fallback>
                <p:oleObj name="文档" r:id="rId4" imgW="4535551" imgH="105657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6561" y="1022931"/>
                        <a:ext cx="11338878" cy="2641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8429679"/>
              </p:ext>
            </p:extLst>
          </p:nvPr>
        </p:nvGraphicFramePr>
        <p:xfrm>
          <a:off x="458424" y="3142611"/>
          <a:ext cx="11275153" cy="1977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9" name="文档" r:id="rId7" imgW="4510061" imgH="790994" progId="Word.Document.12">
                  <p:embed/>
                </p:oleObj>
              </mc:Choice>
              <mc:Fallback>
                <p:oleObj name="文档" r:id="rId7" imgW="4510061" imgH="7909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3142611"/>
                        <a:ext cx="11275153" cy="1977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792577"/>
              </p:ext>
            </p:extLst>
          </p:nvPr>
        </p:nvGraphicFramePr>
        <p:xfrm>
          <a:off x="458424" y="4959062"/>
          <a:ext cx="11275153" cy="98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0" name="文档" r:id="rId10" imgW="4510061" imgH="395677" progId="Word.Document.12">
                  <p:embed/>
                </p:oleObj>
              </mc:Choice>
              <mc:Fallback>
                <p:oleObj name="文档" r:id="rId10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58424" y="4959062"/>
                        <a:ext cx="11275153" cy="98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13562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907811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盒中装有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节同品牌的五号电池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其中混有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节废电池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现在无放回地每次取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节电池检验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直到取到好电池为止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抽取次数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的分布列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抽取次数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的均值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407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0238034"/>
              </p:ext>
            </p:extLst>
          </p:nvPr>
        </p:nvGraphicFramePr>
        <p:xfrm>
          <a:off x="426561" y="492886"/>
          <a:ext cx="11338878" cy="5756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0" name="文档" r:id="rId4" imgW="4535551" imgH="2302543" progId="Word.Document.12">
                  <p:embed/>
                </p:oleObj>
              </mc:Choice>
              <mc:Fallback>
                <p:oleObj name="文档" r:id="rId4" imgW="4535551" imgH="23025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6561" y="492886"/>
                        <a:ext cx="11338878" cy="57563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86017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624485" y="2222090"/>
            <a:ext cx="66480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135</TotalTime>
  <Words>3357</Words>
  <Application>Microsoft Office PowerPoint</Application>
  <PresentationFormat>宽屏</PresentationFormat>
  <Paragraphs>259</Paragraphs>
  <Slides>43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64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Windows User</cp:lastModifiedBy>
  <cp:revision>50</cp:revision>
  <dcterms:created xsi:type="dcterms:W3CDTF">2021-08-30T08:30:26Z</dcterms:created>
  <dcterms:modified xsi:type="dcterms:W3CDTF">2025-08-20T01:07:11Z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