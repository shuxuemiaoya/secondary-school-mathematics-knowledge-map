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677" r:id="rId2"/>
    <p:sldId id="488" r:id="rId3"/>
    <p:sldId id="494" r:id="rId4"/>
    <p:sldId id="392" r:id="rId5"/>
    <p:sldId id="686" r:id="rId6"/>
    <p:sldId id="757" r:id="rId7"/>
    <p:sldId id="758" r:id="rId8"/>
    <p:sldId id="767" r:id="rId9"/>
    <p:sldId id="760" r:id="rId10"/>
    <p:sldId id="407" r:id="rId11"/>
    <p:sldId id="394" r:id="rId12"/>
    <p:sldId id="699" r:id="rId13"/>
    <p:sldId id="700" r:id="rId14"/>
    <p:sldId id="701" r:id="rId15"/>
    <p:sldId id="402" r:id="rId16"/>
    <p:sldId id="720" r:id="rId17"/>
    <p:sldId id="761" r:id="rId18"/>
    <p:sldId id="762" r:id="rId19"/>
    <p:sldId id="721" r:id="rId20"/>
    <p:sldId id="726" r:id="rId21"/>
    <p:sldId id="498" r:id="rId22"/>
    <p:sldId id="730" r:id="rId23"/>
    <p:sldId id="733" r:id="rId24"/>
    <p:sldId id="743" r:id="rId25"/>
    <p:sldId id="744" r:id="rId26"/>
    <p:sldId id="741" r:id="rId27"/>
    <p:sldId id="738" r:id="rId28"/>
    <p:sldId id="751" r:id="rId29"/>
    <p:sldId id="752" r:id="rId30"/>
    <p:sldId id="763" r:id="rId31"/>
    <p:sldId id="398" r:id="rId32"/>
    <p:sldId id="395" r:id="rId33"/>
    <p:sldId id="764" r:id="rId34"/>
    <p:sldId id="765" r:id="rId35"/>
    <p:sldId id="766" r:id="rId36"/>
    <p:sldId id="4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468" y="90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slide" Target="../slides/slide11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6.xml"/><Relationship Id="rId4" Type="http://schemas.openxmlformats.org/officeDocument/2006/relationships/slide" Target="../slides/slide2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规范解答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2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5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6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7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8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9.doc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10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1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2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3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4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5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6.docx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7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8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0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2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4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7.4.2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超几何分布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第七章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1801061"/>
            <a:ext cx="11430000" cy="22806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理解超几何分布的定义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明确超几何分布与二项分布的区别与联系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能运用超几何分布解决一些实际问题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提升数学抽象、数学建模等核心素养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培养用概率语言和模型解决实际问题的能力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240724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正中黑简体"/>
                <a:cs typeface="Times New Roman" panose="02020603050405020304" pitchFamily="18" charset="0"/>
              </a:rPr>
              <a:t>超几何分布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枚骰子中有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枚质地不均匀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某人从中任取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请问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取出的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枚骰子中有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枚质地不均匀的概率是多少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枚质地不均匀的概率是多少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取出的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枚骰子中有质地不均匀的骰子的概率是多少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950552"/>
              </p:ext>
            </p:extLst>
          </p:nvPr>
        </p:nvGraphicFramePr>
        <p:xfrm>
          <a:off x="458424" y="2903229"/>
          <a:ext cx="11275153" cy="354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文档" r:id="rId4" imgW="4510061" imgH="1418124" progId="Word.Document.12">
                  <p:embed/>
                </p:oleObj>
              </mc:Choice>
              <mc:Fallback>
                <p:oleObj name="文档" r:id="rId4" imgW="4510061" imgH="14181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903229"/>
                        <a:ext cx="11275153" cy="3545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532171"/>
              </p:ext>
            </p:extLst>
          </p:nvPr>
        </p:nvGraphicFramePr>
        <p:xfrm>
          <a:off x="458424" y="651317"/>
          <a:ext cx="11275153" cy="5809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文档" r:id="rId4" imgW="4510061" imgH="2323746" progId="Word.Document.12">
                  <p:embed/>
                </p:oleObj>
              </mc:Choice>
              <mc:Fallback>
                <p:oleObj name="文档" r:id="rId4" imgW="4510061" imgH="23237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651317"/>
                        <a:ext cx="11275153" cy="5809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743683" y="1829412"/>
            <a:ext cx="1133081" cy="97227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743682" y="2808187"/>
            <a:ext cx="113308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728593" y="5663207"/>
            <a:ext cx="51189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728593" y="6214804"/>
            <a:ext cx="5118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64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733459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下列随机事件中的随机变量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服从超几何分布的是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将一枚硬币连抛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记正面向上的次数为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女共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名学生干部中随机选出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名学生干部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记选出女生的人数为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某射击爱好者的射击命中率为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现对目标射击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记命中的次数为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盒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中有大小、质地完全相同的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个白球和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个黑球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每次从中摸出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个球且不放回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记第一次摸出黑球时摸取的次数为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张卡片分别标有数字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1,2,3,4,5,6,7,8,9,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表示抽出的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张卡片中标有数字是偶数的个数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94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299239"/>
              </p:ext>
            </p:extLst>
          </p:nvPr>
        </p:nvGraphicFramePr>
        <p:xfrm>
          <a:off x="458424" y="5185787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2" name="文档" r:id="rId4" imgW="4510061" imgH="396786" progId="Word.Document.12">
                  <p:embed/>
                </p:oleObj>
              </mc:Choice>
              <mc:Fallback>
                <p:oleObj name="文档" r:id="rId4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185787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690758"/>
              </p:ext>
            </p:extLst>
          </p:nvPr>
        </p:nvGraphicFramePr>
        <p:xfrm>
          <a:off x="458424" y="277312"/>
          <a:ext cx="11275153" cy="490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3" name="文档" r:id="rId7" imgW="4510061" imgH="1963390" progId="Word.Document.12">
                  <p:embed/>
                </p:oleObj>
              </mc:Choice>
              <mc:Fallback>
                <p:oleObj name="文档" r:id="rId7" imgW="4510061" imgH="19633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77312"/>
                        <a:ext cx="11275153" cy="490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856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1397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名男演员和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名女演员中随机选出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其中女演员的人数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服从超几何分布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本物理书、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本数学书以及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本英语书中随机抽出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记抽出的数学书为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服从超几何分布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一个箱子中有大小、质地完全相同的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个白球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,8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个红球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从中随机有放回地摸出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个球作为样本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表示样本中白球的个数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服从超几何分布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69799" y="2444039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144371" y="3565268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47846" y="5234327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52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对超几何分布的理解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矩形 2"/>
          <p:cNvSpPr>
            <a:spLocks noChangeAspect="1"/>
          </p:cNvSpPr>
          <p:nvPr/>
        </p:nvSpPr>
        <p:spPr>
          <a:xfrm>
            <a:off x="381000" y="1067580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下列问题中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相应随机变量服从超几何分布的是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抛掷三枚质地均匀的骰子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所得向上的点数是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的骰子的个数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有一批种子的发芽率为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70%,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颗种子做发芽试验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试验中发芽的种子数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盒子中有大小、质地完全相同的红球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黄球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蓝球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从中不放回地任取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其中不是红球的个数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个蓝牙耳机未经检测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抽取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个送检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检验结果为不合格的蓝牙耳机的个数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658555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选项中随机变量服从二项分布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选项符合超几何分布的特征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样本都分为两类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表示抽取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个样本中某类样本被抽取的个数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是超几何分布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;D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选项中没有给出不合格品的个数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无法计算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的概率分布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所以不属于超几何分布问题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077137"/>
              </p:ext>
            </p:extLst>
          </p:nvPr>
        </p:nvGraphicFramePr>
        <p:xfrm>
          <a:off x="458424" y="1254095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54095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87923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对超几何分布的三点说明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超几何分布的模型是不放回抽样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超几何分布中的参数是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超几何分布可解决产品中的正品和次品、盒中的白球和黑球、同学中的男生和女生的有关概率问题等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这些问题往往由差异明显的两部分组成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351487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一批产品中有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件正品、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件次品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从中不放回地任取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求取出次品数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118540"/>
              </p:ext>
            </p:extLst>
          </p:nvPr>
        </p:nvGraphicFramePr>
        <p:xfrm>
          <a:off x="434639" y="1493580"/>
          <a:ext cx="11322723" cy="5749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文档" r:id="rId4" imgW="4529089" imgH="2299631" progId="Word.Document.12">
                  <p:embed/>
                </p:oleObj>
              </mc:Choice>
              <mc:Fallback>
                <p:oleObj name="文档" r:id="rId4" imgW="4529089" imgH="22996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4639" y="1493580"/>
                        <a:ext cx="11322723" cy="57490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超几何分布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149774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在一次购物抽奖活动中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张奖券中有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张一等奖奖券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可获价值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元的奖品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张二等奖奖券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每张可获价值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元的奖品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张没有奖品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顾客甲从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张奖券中任意抽取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求中奖次数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顾客乙从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张奖券中任意抽取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求顾客乙中奖的概率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设顾客乙获得的奖品总价值为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618475"/>
              </p:ext>
            </p:extLst>
          </p:nvPr>
        </p:nvGraphicFramePr>
        <p:xfrm>
          <a:off x="426561" y="532925"/>
          <a:ext cx="11338878" cy="632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文档" r:id="rId4" imgW="4535551" imgH="2530030" progId="Word.Document.12">
                  <p:embed/>
                </p:oleObj>
              </mc:Choice>
              <mc:Fallback>
                <p:oleObj name="文档" r:id="rId4" imgW="4535551" imgH="25300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6561" y="532925"/>
                        <a:ext cx="11338878" cy="6325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632467"/>
              </p:ext>
            </p:extLst>
          </p:nvPr>
        </p:nvGraphicFramePr>
        <p:xfrm>
          <a:off x="585072" y="113014"/>
          <a:ext cx="11065820" cy="7254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文档" r:id="rId4" imgW="4510061" imgH="2963082" progId="Word.Document.12">
                  <p:embed/>
                </p:oleObj>
              </mc:Choice>
              <mc:Fallback>
                <p:oleObj name="文档" r:id="rId4" imgW="4510061" imgH="29630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5072" y="113014"/>
                        <a:ext cx="11065820" cy="7254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121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838548"/>
              </p:ext>
            </p:extLst>
          </p:nvPr>
        </p:nvGraphicFramePr>
        <p:xfrm>
          <a:off x="458424" y="1233547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33547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949794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解决超几何分布问题的两个关键点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超几何分布是概率分布的一种形式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一定要注意公式中字母的范围及其意义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解决问题时可以直接利用公式求解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但不能机械地记忆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超几何分布中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只要知道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就可以利用公式求出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取不同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值的概率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X=k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从而求出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46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0239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2800">
                <a:solidFill>
                  <a:srgbClr val="000000"/>
                </a:solidFill>
                <a:latin typeface="NEU-BZ-S92"/>
                <a:ea typeface="Times New Roman" panose="02020603050405020304" pitchFamily="18" charset="0"/>
                <a:cs typeface="Times New Roman" panose="02020603050405020304" pitchFamily="18" charset="0"/>
              </a:rPr>
              <a:t>一个不透明的袋中装有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个质地、大小完全相同的小球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其中红球有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编号分别为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黑球有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编号分别为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白球有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编号为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现从袋中一次随机取出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求取出的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个球的颜色都不相同的概率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记取得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号球的个数为随机变量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225710"/>
              </p:ext>
            </p:extLst>
          </p:nvPr>
        </p:nvGraphicFramePr>
        <p:xfrm>
          <a:off x="375191" y="190455"/>
          <a:ext cx="11338878" cy="751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文档" r:id="rId4" imgW="4521949" imgH="2999564" progId="Word.Document.12">
                  <p:embed/>
                </p:oleObj>
              </mc:Choice>
              <mc:Fallback>
                <p:oleObj name="文档" r:id="rId4" imgW="4521949" imgH="29995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5191" y="190455"/>
                        <a:ext cx="11338878" cy="751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9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二项分布与超几何分布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784521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不透明的袋子中装有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个大小、质地完全相同的球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个黄球、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个白球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从中随机地摸出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个球作为样本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表示样本中黄球的个数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有放回地摸球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不放回地摸球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28236"/>
              </p:ext>
            </p:extLst>
          </p:nvPr>
        </p:nvGraphicFramePr>
        <p:xfrm>
          <a:off x="458424" y="1294157"/>
          <a:ext cx="11275153" cy="452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文档" r:id="rId4" imgW="4510061" imgH="1809474" progId="Word.Document.12">
                  <p:embed/>
                </p:oleObj>
              </mc:Choice>
              <mc:Fallback>
                <p:oleObj name="文档" r:id="rId4" imgW="4510061" imgH="18094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94157"/>
                        <a:ext cx="11275153" cy="4523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847524"/>
              </p:ext>
            </p:extLst>
          </p:nvPr>
        </p:nvGraphicFramePr>
        <p:xfrm>
          <a:off x="458424" y="1346562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346562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979731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二项分布和超几何分布都可以描述从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件产品中随机抽取的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件产品中次品数的分布规律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并且二者的均值相同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对于不放回抽样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远远小于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每抽取一次后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的影响很小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此时超几何分布可以用二项分布近似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938712"/>
              </p:ext>
            </p:extLst>
          </p:nvPr>
        </p:nvGraphicFramePr>
        <p:xfrm>
          <a:off x="463550" y="1309688"/>
          <a:ext cx="11253788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文档" r:id="rId4" imgW="4521949" imgH="624880" progId="Word.Document.12">
                  <p:embed/>
                </p:oleObj>
              </mc:Choice>
              <mc:Fallback>
                <p:oleObj name="文档" r:id="rId4" imgW="4521949" imgH="6248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1309688"/>
                        <a:ext cx="11253788" cy="154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287358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	B.2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	C.2	D.8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某选手投球击中目标的概率为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且每次投球的结果相互独立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投球一次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击中次数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的均值和方差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重复投球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击中次数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的均值和方差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863173"/>
              </p:ext>
            </p:extLst>
          </p:nvPr>
        </p:nvGraphicFramePr>
        <p:xfrm>
          <a:off x="458424" y="435320"/>
          <a:ext cx="11275153" cy="2131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文档" r:id="rId4" imgW="4510061" imgH="852676" progId="Word.Document.12">
                  <p:embed/>
                </p:oleObj>
              </mc:Choice>
              <mc:Fallback>
                <p:oleObj name="文档" r:id="rId4" imgW="4510061" imgH="8526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35320"/>
                        <a:ext cx="11275153" cy="2131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464270"/>
            <a:ext cx="11430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的分布列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服从两点分布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击中次数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服从二项分布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=np=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177054304"/>
              </p:ext>
            </p:extLst>
          </p:nvPr>
        </p:nvGraphicFramePr>
        <p:xfrm>
          <a:off x="381000" y="3005473"/>
          <a:ext cx="11430000" cy="981456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3810000"/>
                <a:gridCol w="3810000"/>
              </a:tblGrid>
              <a:tr h="4031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1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 smtClean="0">
                  <a:solidFill>
                    <a:schemeClr val="bg1"/>
                  </a:solidFill>
                </a:rPr>
                <a:t>规范解答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56341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超几何分布的综合应用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</a:t>
            </a:r>
            <a:r>
              <a:rPr lang="zh-CN" altLang="zh-CN" sz="280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en-US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知一盘中装有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个粽子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其中豆沙粽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肉粽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白粽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这三种粽子的外观、大小完全相同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从中随机取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求三种粽子各取到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表示取到的豆沙粽个数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分布列与均值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214498"/>
              </p:ext>
            </p:extLst>
          </p:nvPr>
        </p:nvGraphicFramePr>
        <p:xfrm>
          <a:off x="426561" y="465379"/>
          <a:ext cx="11338878" cy="632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文档" r:id="rId4" imgW="4510061" imgH="2526077" progId="Word.Document.12">
                  <p:embed/>
                </p:oleObj>
              </mc:Choice>
              <mc:Fallback>
                <p:oleObj name="文档" r:id="rId4" imgW="4510061" imgH="25260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6561" y="465379"/>
                        <a:ext cx="11338878" cy="6325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447354"/>
              </p:ext>
            </p:extLst>
          </p:nvPr>
        </p:nvGraphicFramePr>
        <p:xfrm>
          <a:off x="458424" y="1151353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151353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1730475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超几何分布是概率分布的一种形式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一定要读懂题意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注意公式中字母的取值范围及其意义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解决问题时可以直接利用公式求解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但不能机械地记忆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在超几何分布中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只要知道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注意这三个参数的含义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就可以利用公式求出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取不同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值时的概率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X=k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从而求出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的分布列、数学期望、方差等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6140"/>
            <a:ext cx="5598560" cy="457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某食品厂为了检查一条自动包装流水线的生产情况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随机抽取该流水线上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件产品作为样本称出它们的重量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:g),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重量的分组区间为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(490,495],(495,500],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,(510,515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由此得到样本的频率分布直方图如图所示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VMX3TRAX05.eps" descr="id:2147518329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46635" y="507413"/>
            <a:ext cx="6097291" cy="4021971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81000" y="4737394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根据频率分布直方图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求抽取的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件产品中重量超过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505 g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的产品数量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从抽取的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件产品中任取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为重量超过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505 g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的产品数量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90535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根据题中频率分布直方图可知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重量超过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505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的产品数量为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712554"/>
              </p:ext>
            </p:extLst>
          </p:nvPr>
        </p:nvGraphicFramePr>
        <p:xfrm>
          <a:off x="426561" y="1842902"/>
          <a:ext cx="11338878" cy="476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文档" r:id="rId4" imgW="4535551" imgH="1906866" progId="Word.Document.12">
                  <p:embed/>
                </p:oleObj>
              </mc:Choice>
              <mc:Fallback>
                <p:oleObj name="文档" r:id="rId4" imgW="4535551" imgH="19068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6561" y="1842902"/>
                        <a:ext cx="11338878" cy="476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570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296076"/>
              </p:ext>
            </p:extLst>
          </p:nvPr>
        </p:nvGraphicFramePr>
        <p:xfrm>
          <a:off x="458424" y="955331"/>
          <a:ext cx="11275153" cy="269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8" name="文档" r:id="rId4" imgW="4510061" imgH="1077778" progId="Word.Document.12">
                  <p:embed/>
                </p:oleObj>
              </mc:Choice>
              <mc:Fallback>
                <p:oleObj name="文档" r:id="rId4" imgW="4510061" imgH="10777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955331"/>
                        <a:ext cx="11275153" cy="2694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901196"/>
              </p:ext>
            </p:extLst>
          </p:nvPr>
        </p:nvGraphicFramePr>
        <p:xfrm>
          <a:off x="458424" y="3649776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文档" r:id="rId7" imgW="4510061" imgH="395677" progId="Word.Document.12">
                  <p:embed/>
                </p:oleObj>
              </mc:Choice>
              <mc:Fallback>
                <p:oleObj name="文档" r:id="rId7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649776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488320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770053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学校要从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名候选人中选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名同学组成学生会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其中高二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班有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名候选人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假设每名候选人都有相同的机会被选到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表示选到高二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班的候选人的人数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966516"/>
              </p:ext>
            </p:extLst>
          </p:nvPr>
        </p:nvGraphicFramePr>
        <p:xfrm>
          <a:off x="458424" y="2340825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2" name="文档" r:id="rId4" imgW="4510061" imgH="396786" progId="Word.Document.12">
                  <p:embed/>
                </p:oleObj>
              </mc:Choice>
              <mc:Fallback>
                <p:oleObj name="文档" r:id="rId4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340825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514650"/>
              </p:ext>
            </p:extLst>
          </p:nvPr>
        </p:nvGraphicFramePr>
        <p:xfrm>
          <a:off x="458424" y="3341284"/>
          <a:ext cx="11275153" cy="1562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name="文档" r:id="rId7" imgW="4510061" imgH="624911" progId="Word.Document.12">
                  <p:embed/>
                </p:oleObj>
              </mc:Choice>
              <mc:Fallback>
                <p:oleObj name="文档" r:id="rId7" imgW="4510061" imgH="624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341284"/>
                        <a:ext cx="11275153" cy="1562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81000" y="4763599"/>
            <a:ext cx="135165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30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9671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一个不透明的袋中有大小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质地完全相同的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个红球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个黑球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从中任取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个红球得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个黑球得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设得分为随机变量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≤6)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92731"/>
              </p:ext>
            </p:extLst>
          </p:nvPr>
        </p:nvGraphicFramePr>
        <p:xfrm>
          <a:off x="458424" y="3084703"/>
          <a:ext cx="11275153" cy="1562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6" name="文档" r:id="rId4" imgW="4510061" imgH="624911" progId="Word.Document.12">
                  <p:embed/>
                </p:oleObj>
              </mc:Choice>
              <mc:Fallback>
                <p:oleObj name="文档" r:id="rId4" imgW="4510061" imgH="624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084703"/>
                        <a:ext cx="11275153" cy="1562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312368"/>
              </p:ext>
            </p:extLst>
          </p:nvPr>
        </p:nvGraphicFramePr>
        <p:xfrm>
          <a:off x="458424" y="4405931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4405931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941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1214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某校高三年级某班的数学课外活动小组有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名男生、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名女生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从中随机选出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人参加学校的数学竞赛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表示选出的男生人数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902026"/>
              </p:ext>
            </p:extLst>
          </p:nvPr>
        </p:nvGraphicFramePr>
        <p:xfrm>
          <a:off x="426561" y="1503855"/>
          <a:ext cx="11338878" cy="5756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文档" r:id="rId4" imgW="4510061" imgH="2297871" progId="Word.Document.12">
                  <p:embed/>
                </p:oleObj>
              </mc:Choice>
              <mc:Fallback>
                <p:oleObj name="文档" r:id="rId4" imgW="4510061" imgH="22978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6561" y="1503855"/>
                        <a:ext cx="11338878" cy="5756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694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111</TotalTime>
  <Words>2228</Words>
  <Application>Microsoft Office PowerPoint</Application>
  <PresentationFormat>宽屏</PresentationFormat>
  <Paragraphs>104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47</cp:revision>
  <dcterms:created xsi:type="dcterms:W3CDTF">2021-08-30T08:30:26Z</dcterms:created>
  <dcterms:modified xsi:type="dcterms:W3CDTF">2025-08-20T01:06:50Z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