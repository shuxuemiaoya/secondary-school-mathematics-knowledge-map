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677" r:id="rId2"/>
    <p:sldId id="488" r:id="rId3"/>
    <p:sldId id="494" r:id="rId4"/>
    <p:sldId id="392" r:id="rId5"/>
    <p:sldId id="686" r:id="rId6"/>
    <p:sldId id="756" r:id="rId7"/>
    <p:sldId id="757" r:id="rId8"/>
    <p:sldId id="758" r:id="rId9"/>
    <p:sldId id="759" r:id="rId10"/>
    <p:sldId id="760" r:id="rId11"/>
    <p:sldId id="407" r:id="rId12"/>
    <p:sldId id="394" r:id="rId13"/>
    <p:sldId id="699" r:id="rId14"/>
    <p:sldId id="700" r:id="rId15"/>
    <p:sldId id="701" r:id="rId16"/>
    <p:sldId id="761" r:id="rId17"/>
    <p:sldId id="402" r:id="rId18"/>
    <p:sldId id="762" r:id="rId19"/>
    <p:sldId id="720" r:id="rId20"/>
    <p:sldId id="726" r:id="rId21"/>
    <p:sldId id="753" r:id="rId22"/>
    <p:sldId id="763" r:id="rId23"/>
    <p:sldId id="498" r:id="rId24"/>
    <p:sldId id="730" r:id="rId25"/>
    <p:sldId id="733" r:id="rId26"/>
    <p:sldId id="743" r:id="rId27"/>
    <p:sldId id="744" r:id="rId28"/>
    <p:sldId id="764" r:id="rId29"/>
    <p:sldId id="772" r:id="rId30"/>
    <p:sldId id="741" r:id="rId31"/>
    <p:sldId id="738" r:id="rId32"/>
    <p:sldId id="751" r:id="rId33"/>
    <p:sldId id="752" r:id="rId34"/>
    <p:sldId id="765" r:id="rId35"/>
    <p:sldId id="766" r:id="rId36"/>
    <p:sldId id="398" r:id="rId37"/>
    <p:sldId id="395" r:id="rId38"/>
    <p:sldId id="767" r:id="rId39"/>
    <p:sldId id="768" r:id="rId40"/>
    <p:sldId id="769" r:id="rId41"/>
    <p:sldId id="770" r:id="rId42"/>
    <p:sldId id="771" r:id="rId43"/>
    <p:sldId id="490"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slide" Target="../slides/slide12.xml"/><Relationship Id="rId1" Type="http://schemas.openxmlformats.org/officeDocument/2006/relationships/slideMaster" Target="../slideMasters/slideMaster1.xml"/><Relationship Id="rId5" Type="http://schemas.openxmlformats.org/officeDocument/2006/relationships/slide" Target="../slides/slide30.xml"/><Relationship Id="rId4" Type="http://schemas.openxmlformats.org/officeDocument/2006/relationships/slide" Target="../slides/slide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规范解答</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package" Target="../embeddings/Microsoft_Word___2.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package" Target="../embeddings/Microsoft_Word___3.docx"/></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5.emf"/><Relationship Id="rId4" Type="http://schemas.openxmlformats.org/officeDocument/2006/relationships/package" Target="../embeddings/Microsoft_Word___4.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package" Target="../embeddings/Microsoft_Word___6.docx"/></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package" Target="../embeddings/Microsoft_Word___7.docx"/></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9.emf"/><Relationship Id="rId4" Type="http://schemas.openxmlformats.org/officeDocument/2006/relationships/package" Target="../embeddings/Microsoft_Word___8.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0.emf"/><Relationship Id="rId4" Type="http://schemas.openxmlformats.org/officeDocument/2006/relationships/package" Target="../embeddings/Microsoft_Word___9.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1.emf"/><Relationship Id="rId4" Type="http://schemas.openxmlformats.org/officeDocument/2006/relationships/package" Target="../embeddings/Microsoft_Word___10.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2.emf"/><Relationship Id="rId4" Type="http://schemas.openxmlformats.org/officeDocument/2006/relationships/package" Target="../embeddings/Microsoft_Word___11.docx"/></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4.emf"/><Relationship Id="rId4" Type="http://schemas.openxmlformats.org/officeDocument/2006/relationships/package" Target="../embeddings/Microsoft_Word___12.docx"/></Relationships>
</file>

<file path=ppt/slides/_rels/slide2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4.bin"/><Relationship Id="rId5" Type="http://schemas.openxmlformats.org/officeDocument/2006/relationships/image" Target="../media/image15.emf"/><Relationship Id="rId4" Type="http://schemas.openxmlformats.org/officeDocument/2006/relationships/package" Target="../embeddings/Microsoft_Word___13.docx"/></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package" Target="../embeddings/Microsoft_Word___15.docx"/></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8.emf"/><Relationship Id="rId4" Type="http://schemas.openxmlformats.org/officeDocument/2006/relationships/package" Target="../embeddings/Microsoft_Word___16.docx"/></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19.emf"/><Relationship Id="rId4" Type="http://schemas.openxmlformats.org/officeDocument/2006/relationships/package" Target="../embeddings/Microsoft_Word___17.docx"/></Relationships>
</file>

<file path=ppt/slides/_rels/slide31.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8.bin"/><Relationship Id="rId7"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19.bin"/><Relationship Id="rId5" Type="http://schemas.openxmlformats.org/officeDocument/2006/relationships/image" Target="../media/image20.emf"/><Relationship Id="rId4" Type="http://schemas.openxmlformats.org/officeDocument/2006/relationships/package" Target="../embeddings/Microsoft_Word___18.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2.emf"/><Relationship Id="rId4" Type="http://schemas.openxmlformats.org/officeDocument/2006/relationships/package" Target="../embeddings/Microsoft_Word___20.docx"/></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23.emf"/><Relationship Id="rId4" Type="http://schemas.openxmlformats.org/officeDocument/2006/relationships/package" Target="../embeddings/Microsoft_Word___21.docx"/></Relationships>
</file>

<file path=ppt/slides/_rels/slide34.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22.bin"/><Relationship Id="rId7"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23.bin"/><Relationship Id="rId5" Type="http://schemas.openxmlformats.org/officeDocument/2006/relationships/image" Target="../media/image24.emf"/><Relationship Id="rId4" Type="http://schemas.openxmlformats.org/officeDocument/2006/relationships/package" Target="../embeddings/Microsoft_Word___22.docx"/></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26.emf"/><Relationship Id="rId4" Type="http://schemas.openxmlformats.org/officeDocument/2006/relationships/package" Target="../embeddings/Microsoft_Word___24.docx"/></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5.bin"/><Relationship Id="rId7" Type="http://schemas.openxmlformats.org/officeDocument/2006/relationships/package" Target="../embeddings/Microsoft_Word___26.docx"/><Relationship Id="rId2" Type="http://schemas.openxmlformats.org/officeDocument/2006/relationships/slideLayout" Target="../slideLayouts/slideLayout3.xml"/><Relationship Id="rId1" Type="http://schemas.openxmlformats.org/officeDocument/2006/relationships/vmlDrawing" Target="../drawings/vmlDrawing21.vml"/><Relationship Id="rId6" Type="http://schemas.openxmlformats.org/officeDocument/2006/relationships/oleObject" Target="../embeddings/oleObject26.bin"/><Relationship Id="rId5" Type="http://schemas.openxmlformats.org/officeDocument/2006/relationships/image" Target="../media/image27.emf"/><Relationship Id="rId4" Type="http://schemas.openxmlformats.org/officeDocument/2006/relationships/package" Target="../embeddings/Microsoft_Word___25.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vmlDrawing" Target="../drawings/vmlDrawing22.vml"/><Relationship Id="rId5" Type="http://schemas.openxmlformats.org/officeDocument/2006/relationships/image" Target="../media/image29.emf"/><Relationship Id="rId4" Type="http://schemas.openxmlformats.org/officeDocument/2006/relationships/package" Target="../embeddings/Microsoft_Word___27.docx"/></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oleObject" Target="../embeddings/oleObject28.bin"/><Relationship Id="rId7" Type="http://schemas.openxmlformats.org/officeDocument/2006/relationships/package" Target="../embeddings/Microsoft_Word___29.docx"/><Relationship Id="rId2" Type="http://schemas.openxmlformats.org/officeDocument/2006/relationships/slideLayout" Target="../slideLayouts/slideLayout3.xml"/><Relationship Id="rId1" Type="http://schemas.openxmlformats.org/officeDocument/2006/relationships/vmlDrawing" Target="../drawings/vmlDrawing23.vml"/><Relationship Id="rId6" Type="http://schemas.openxmlformats.org/officeDocument/2006/relationships/oleObject" Target="../embeddings/oleObject29.bin"/><Relationship Id="rId5" Type="http://schemas.openxmlformats.org/officeDocument/2006/relationships/image" Target="../media/image30.emf"/><Relationship Id="rId4" Type="http://schemas.openxmlformats.org/officeDocument/2006/relationships/package" Target="../embeddings/Microsoft_Word___28.docx"/></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3.xml"/><Relationship Id="rId1" Type="http://schemas.openxmlformats.org/officeDocument/2006/relationships/vmlDrawing" Target="../drawings/vmlDrawing24.vml"/><Relationship Id="rId5" Type="http://schemas.openxmlformats.org/officeDocument/2006/relationships/image" Target="../media/image32.emf"/><Relationship Id="rId4" Type="http://schemas.openxmlformats.org/officeDocument/2006/relationships/package" Target="../embeddings/Microsoft_Word___30.docx"/></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a:solidFill>
                    <a:schemeClr val="bg1"/>
                  </a:solidFill>
                  <a:latin typeface="华文细黑" panose="02010600040101010101" charset="-122"/>
                  <a:ea typeface="华文细黑" panose="02010600040101010101" charset="-122"/>
                </a:rPr>
                <a:t>7.3.2</a:t>
              </a:r>
              <a:r>
                <a:rPr lang="zh-CN" altLang="en-US" sz="3600" b="1">
                  <a:solidFill>
                    <a:schemeClr val="bg1"/>
                  </a:solidFill>
                  <a:latin typeface="华文细黑" panose="02010600040101010101" charset="-122"/>
                  <a:ea typeface="华文细黑" panose="02010600040101010101" charset="-122"/>
                </a:rPr>
                <a:t>　离散型随机变量的方差</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第七章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2078463"/>
            <a:ext cx="11430000" cy="228068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理解取有限个值的离散型随机变量的方差及标准差的概念</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能计算简单离散型随机变量的方差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并能解决一些实际问题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掌握方差的性质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会利用相关公式计算方差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4</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通过本节课学习</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提升数学运算、数学抽象以及数学建模的核心素养</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33328"/>
            <a:ext cx="11430000" cy="581389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600">
                <a:solidFill>
                  <a:srgbClr val="000000"/>
                </a:solidFill>
                <a:latin typeface="NEU-BZ-S92"/>
                <a:ea typeface="方正正中黑简体"/>
                <a:cs typeface="Times New Roman" panose="02020603050405020304" pitchFamily="18" charset="0"/>
              </a:rPr>
              <a:t>离散型随机变量的方差</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b="1" smtClean="0">
                <a:solidFill>
                  <a:srgbClr val="000000"/>
                </a:solidFill>
                <a:latin typeface="Times New Roman" panose="02020603050405020304" pitchFamily="18" charset="0"/>
                <a:cs typeface="Times New Roman" panose="02020603050405020304" pitchFamily="18" charset="0"/>
              </a:rPr>
              <a:t>1</a:t>
            </a:r>
            <a:r>
              <a:rPr lang="en-US" altLang="zh-CN" sz="2600" i="1">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甲、乙两名工人加工同一种零件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两人每天加工的零件数相等</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所得次品数分别为</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cs typeface="Times New Roman" panose="02020603050405020304" pitchFamily="18" charset="0"/>
              </a:rPr>
              <a:t>和</a:t>
            </a:r>
            <a:r>
              <a:rPr lang="en-US" altLang="zh-CN" sz="2600" i="1">
                <a:solidFill>
                  <a:srgbClr val="000000"/>
                </a:solidFill>
                <a:latin typeface="Times New Roman" panose="02020603050405020304" pitchFamily="18" charset="0"/>
                <a:cs typeface="Times New Roman" panose="02020603050405020304" pitchFamily="18" charset="0"/>
              </a:rPr>
              <a:t>Y</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cs typeface="Times New Roman" panose="02020603050405020304" pitchFamily="18" charset="0"/>
              </a:rPr>
              <a:t>和</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cs typeface="Times New Roman" panose="02020603050405020304" pitchFamily="18" charset="0"/>
              </a:rPr>
              <a:t>的分布列如下表所示</a:t>
            </a:r>
            <a:r>
              <a:rPr lang="en-US" altLang="zh-CN" sz="2600" i="1"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600" i="1"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6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600" i="1"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6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(1</a:t>
            </a:r>
            <a:r>
              <a:rPr lang="en-US" altLang="zh-CN" sz="2600" smtClean="0">
                <a:solidFill>
                  <a:srgbClr val="000000"/>
                </a:solidFill>
                <a:latin typeface="Times New Roman" panose="02020603050405020304" pitchFamily="18" charset="0"/>
                <a:cs typeface="Times New Roman" panose="02020603050405020304" pitchFamily="18" charset="0"/>
              </a:rPr>
              <a:t>)</a:t>
            </a:r>
            <a:r>
              <a:rPr lang="zh-CN" altLang="zh-CN" sz="2600" smtClean="0">
                <a:solidFill>
                  <a:srgbClr val="000000"/>
                </a:solidFill>
                <a:latin typeface="Times New Roman" panose="02020603050405020304" pitchFamily="18" charset="0"/>
                <a:cs typeface="Times New Roman" panose="02020603050405020304" pitchFamily="18" charset="0"/>
              </a:rPr>
              <a:t>求</a:t>
            </a:r>
            <a:r>
              <a:rPr lang="en-US" altLang="zh-CN" sz="2600" i="1">
                <a:solidFill>
                  <a:srgbClr val="000000"/>
                </a:solidFill>
                <a:latin typeface="Times New Roman" panose="02020603050405020304" pitchFamily="18" charset="0"/>
                <a:cs typeface="Times New Roman" panose="02020603050405020304" pitchFamily="18" charset="0"/>
              </a:rPr>
              <a:t>E</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E</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Y</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能否由</a:t>
            </a:r>
            <a:r>
              <a:rPr lang="en-US" altLang="zh-CN" sz="2600" i="1">
                <a:solidFill>
                  <a:srgbClr val="000000"/>
                </a:solidFill>
                <a:latin typeface="Times New Roman" panose="02020603050405020304" pitchFamily="18" charset="0"/>
                <a:cs typeface="Times New Roman" panose="02020603050405020304" pitchFamily="18" charset="0"/>
              </a:rPr>
              <a:t>E</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与</a:t>
            </a:r>
            <a:r>
              <a:rPr lang="en-US" altLang="zh-CN" sz="2600" i="1">
                <a:solidFill>
                  <a:srgbClr val="000000"/>
                </a:solidFill>
                <a:latin typeface="Times New Roman" panose="02020603050405020304" pitchFamily="18" charset="0"/>
                <a:cs typeface="Times New Roman" panose="02020603050405020304" pitchFamily="18" charset="0"/>
              </a:rPr>
              <a:t>E</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Y</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的值比较两名工人技术水平的高低</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latin typeface="Times New Roman" panose="02020603050405020304" pitchFamily="18" charset="0"/>
                <a:cs typeface="Times New Roman" panose="02020603050405020304" pitchFamily="18" charset="0"/>
              </a:rPr>
              <a:t>试想用什么指标衡量甲、乙两名工人技术水平的高低</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5842094"/>
              </p:ext>
            </p:extLst>
          </p:nvPr>
        </p:nvGraphicFramePr>
        <p:xfrm>
          <a:off x="1402078" y="2147125"/>
          <a:ext cx="9346570" cy="3421653"/>
        </p:xfrm>
        <a:graphic>
          <a:graphicData uri="http://schemas.openxmlformats.org/presentationml/2006/ole">
            <mc:AlternateContent xmlns:mc="http://schemas.openxmlformats.org/markup-compatibility/2006">
              <mc:Choice xmlns:v="urn:schemas-microsoft-com:vml" Requires="v">
                <p:oleObj spid="_x0000_s3101" name="文档" r:id="rId4" imgW="4510061" imgH="1651707" progId="Word.Document.12">
                  <p:embed/>
                </p:oleObj>
              </mc:Choice>
              <mc:Fallback>
                <p:oleObj name="文档" r:id="rId4" imgW="4510061" imgH="1651707" progId="Word.Document.12">
                  <p:embed/>
                  <p:pic>
                    <p:nvPicPr>
                      <p:cNvPr id="0" name=""/>
                      <p:cNvPicPr/>
                      <p:nvPr/>
                    </p:nvPicPr>
                    <p:blipFill>
                      <a:blip r:embed="rId5"/>
                      <a:stretch>
                        <a:fillRect/>
                      </a:stretch>
                    </p:blipFill>
                    <p:spPr>
                      <a:xfrm>
                        <a:off x="1402078" y="2147125"/>
                        <a:ext cx="9346570" cy="3421653"/>
                      </a:xfrm>
                      <a:prstGeom prst="rect">
                        <a:avLst/>
                      </a:prstGeom>
                    </p:spPr>
                  </p:pic>
                </p:oleObj>
              </mc:Fallback>
            </mc:AlternateContent>
          </a:graphicData>
        </a:graphic>
      </p:graphicFrame>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983071492"/>
              </p:ext>
            </p:extLst>
          </p:nvPr>
        </p:nvGraphicFramePr>
        <p:xfrm>
          <a:off x="458424" y="2310978"/>
          <a:ext cx="11275153" cy="989193"/>
        </p:xfrm>
        <a:graphic>
          <a:graphicData uri="http://schemas.openxmlformats.org/presentationml/2006/ole">
            <mc:AlternateContent xmlns:mc="http://schemas.openxmlformats.org/markup-compatibility/2006">
              <mc:Choice xmlns:v="urn:schemas-microsoft-com:vml" Requires="v">
                <p:oleObj spid="_x0000_s4125"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2310978"/>
                        <a:ext cx="11275153" cy="989193"/>
                      </a:xfrm>
                      <a:prstGeom prst="rect">
                        <a:avLst/>
                      </a:prstGeom>
                    </p:spPr>
                  </p:pic>
                </p:oleObj>
              </mc:Fallback>
            </mc:AlternateContent>
          </a:graphicData>
        </a:graphic>
      </p:graphicFrame>
      <p:sp>
        <p:nvSpPr>
          <p:cNvPr id="4" name="矩形 3"/>
          <p:cNvSpPr>
            <a:spLocks noChangeAspect="1"/>
          </p:cNvSpPr>
          <p:nvPr/>
        </p:nvSpPr>
        <p:spPr>
          <a:xfrm>
            <a:off x="381000" y="3300171"/>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不能</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067283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45709"/>
            <a:ext cx="7476727"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设离散型随机变量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的分布列如下表所示</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771081090"/>
              </p:ext>
            </p:extLst>
          </p:nvPr>
        </p:nvGraphicFramePr>
        <p:xfrm>
          <a:off x="381000" y="930094"/>
          <a:ext cx="11430000" cy="1280160"/>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2190565"/>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考虑</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所有可能取值</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的偏差的</a:t>
            </a:r>
            <a:r>
              <a:rPr lang="zh-CN" altLang="zh-CN" sz="2800" smtClean="0">
                <a:solidFill>
                  <a:srgbClr val="000000"/>
                </a:solidFill>
                <a:latin typeface="Times New Roman" panose="02020603050405020304" pitchFamily="18" charset="0"/>
                <a:cs typeface="Times New Roman" panose="02020603050405020304" pitchFamily="18" charset="0"/>
              </a:rPr>
              <a:t>平方</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a:spLocks noChangeAspect="1"/>
          </p:cNvSpPr>
          <p:nvPr/>
        </p:nvSpPr>
        <p:spPr>
          <a:xfrm>
            <a:off x="381000" y="328128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取每个值的概率不尽相同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所以我们用偏差平方关于取值概率的加权平均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来度量随机变量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取值与其均值</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的偏离程度</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814877980"/>
              </p:ext>
            </p:extLst>
          </p:nvPr>
        </p:nvGraphicFramePr>
        <p:xfrm>
          <a:off x="458424" y="4302327"/>
          <a:ext cx="11275153" cy="1977485"/>
        </p:xfrm>
        <a:graphic>
          <a:graphicData uri="http://schemas.openxmlformats.org/presentationml/2006/ole">
            <mc:AlternateContent xmlns:mc="http://schemas.openxmlformats.org/markup-compatibility/2006">
              <mc:Choice xmlns:v="urn:schemas-microsoft-com:vml" Requires="v">
                <p:oleObj spid="_x0000_s1052" name="文档" r:id="rId4" imgW="4510061" imgH="790994" progId="Word.Document.12">
                  <p:embed/>
                </p:oleObj>
              </mc:Choice>
              <mc:Fallback>
                <p:oleObj name="文档" r:id="rId4" imgW="4510061" imgH="790994" progId="Word.Document.12">
                  <p:embed/>
                  <p:pic>
                    <p:nvPicPr>
                      <p:cNvPr id="0" name=""/>
                      <p:cNvPicPr/>
                      <p:nvPr/>
                    </p:nvPicPr>
                    <p:blipFill>
                      <a:blip r:embed="rId5"/>
                      <a:stretch>
                        <a:fillRect/>
                      </a:stretch>
                    </p:blipFill>
                    <p:spPr>
                      <a:xfrm>
                        <a:off x="458424" y="4302327"/>
                        <a:ext cx="11275153" cy="1977485"/>
                      </a:xfrm>
                      <a:prstGeom prst="rect">
                        <a:avLst/>
                      </a:prstGeom>
                    </p:spPr>
                  </p:pic>
                </p:oleObj>
              </mc:Fallback>
            </mc:AlternateContent>
          </a:graphicData>
        </a:graphic>
      </p:graphicFrame>
      <p:sp>
        <p:nvSpPr>
          <p:cNvPr id="7" name="矩形 6"/>
          <p:cNvSpPr/>
          <p:nvPr/>
        </p:nvSpPr>
        <p:spPr>
          <a:xfrm>
            <a:off x="1393106" y="4524416"/>
            <a:ext cx="6139808"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1393106" y="5076013"/>
            <a:ext cx="61398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11787" y="4422770"/>
            <a:ext cx="2041813" cy="908400"/>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7711787" y="5337673"/>
            <a:ext cx="20418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8571225" y="5448240"/>
            <a:ext cx="105639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8571224" y="5999837"/>
            <a:ext cx="10563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220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随机变量的方差和标准差都可以度量随机变量取值与其均值的偏离程度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反映了随机变量取值的离散程度</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方差或标准差越小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随机变量的取值越</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FF0000"/>
                </a:solidFill>
                <a:latin typeface="Times New Roman" panose="02020603050405020304" pitchFamily="18" charset="0"/>
                <a:cs typeface="Times New Roman" panose="02020603050405020304" pitchFamily="18" charset="0"/>
              </a:rPr>
              <a:t>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方差或标准差越大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随机变量的取值越</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分散</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可以证明下面的结论成立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aX+b</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latin typeface="Times New Roman" panose="02020603050405020304" pitchFamily="18" charset="0"/>
                <a:cs typeface="Times New Roman" panose="02020603050405020304" pitchFamily="18" charset="0"/>
              </a:rPr>
              <a:t>a</a:t>
            </a:r>
            <a:r>
              <a:rPr lang="en-US" altLang="zh-CN" sz="2800" baseline="30000" smtClean="0">
                <a:solidFill>
                  <a:srgbClr val="FF0000"/>
                </a:solidFill>
                <a:latin typeface="Times New Roman" panose="02020603050405020304" pitchFamily="18" charset="0"/>
                <a:cs typeface="Times New Roman" panose="02020603050405020304" pitchFamily="18" charset="0"/>
              </a:rPr>
              <a:t>2</a:t>
            </a:r>
            <a:r>
              <a:rPr lang="en-US" altLang="zh-CN" sz="2800" i="1" smtClean="0">
                <a:solidFill>
                  <a:srgbClr val="FF0000"/>
                </a:solidFill>
                <a:latin typeface="Times New Roman" panose="02020603050405020304" pitchFamily="18" charset="0"/>
                <a:cs typeface="Times New Roman" panose="02020603050405020304" pitchFamily="18" charset="0"/>
              </a:rPr>
              <a:t>D</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X</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892364" y="3322778"/>
            <a:ext cx="84935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892363" y="3874375"/>
            <a:ext cx="8493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674163" y="3322778"/>
            <a:ext cx="84935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7674162" y="3874375"/>
            <a:ext cx="8493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030731" y="4454894"/>
            <a:ext cx="1250503"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2030730" y="5006491"/>
            <a:ext cx="125050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5400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57405"/>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已知随机变量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a:t>
            </a:r>
            <a:r>
              <a:rPr lang="zh-CN" altLang="zh-CN" sz="2800" smtClean="0">
                <a:solidFill>
                  <a:srgbClr val="000000"/>
                </a:solidFill>
                <a:latin typeface="Times New Roman" panose="02020603050405020304" pitchFamily="18" charset="0"/>
                <a:cs typeface="Times New Roman" panose="02020603050405020304" pitchFamily="18" charset="0"/>
              </a:rPr>
              <a:t>为则</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等于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B.0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61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D.0</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(1)B</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(2)12</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1338934879"/>
              </p:ext>
            </p:extLst>
          </p:nvPr>
        </p:nvGraphicFramePr>
        <p:xfrm>
          <a:off x="3122213" y="1634939"/>
          <a:ext cx="6124528" cy="1026072"/>
        </p:xfrm>
        <a:graphic>
          <a:graphicData uri="http://schemas.openxmlformats.org/drawingml/2006/table">
            <a:tbl>
              <a:tblPr firstRow="1" firstCol="1" bandRow="1"/>
              <a:tblGrid>
                <a:gridCol w="1531132"/>
                <a:gridCol w="1531132"/>
                <a:gridCol w="1531132"/>
                <a:gridCol w="1531132"/>
              </a:tblGrid>
              <a:tr h="513036">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036">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798139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0" dur="500"/>
                                        <p:tgtEl>
                                          <p:spTgt spid="2">
                                            <p:txEl>
                                              <p:pRg st="7" end="7"/>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animEffect transition="in" filter="randombar(horizontal)">
                                      <p:cBhvr>
                                        <p:cTn id="13" dur="500"/>
                                        <p:tgtEl>
                                          <p:spTgt spid="2">
                                            <p:txEl>
                                              <p:pRg st="8" end="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9" end="9"/>
                                            </p:txEl>
                                          </p:spTgt>
                                        </p:tgtEl>
                                        <p:attrNameLst>
                                          <p:attrName>style.visibility</p:attrName>
                                        </p:attrNameLst>
                                      </p:cBhvr>
                                      <p:to>
                                        <p:strVal val="visible"/>
                                      </p:to>
                                    </p:set>
                                    <p:animEffect transition="in" filter="randombar(horizontal)">
                                      <p:cBhvr>
                                        <p:cTn id="18"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5040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离散型随机变量的方差越大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随机变量越稳定</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为常数</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rPr>
              <a:t>D</a:t>
            </a:r>
            <a:r>
              <a:rPr lang="en-US" altLang="zh-CN" sz="2800">
                <a:solidFill>
                  <a:srgbClr val="000000"/>
                </a:solidFill>
                <a:latin typeface="Times New Roman" panose="02020603050405020304" pitchFamily="18" charset="0"/>
              </a:rPr>
              <a:t>(</a:t>
            </a:r>
            <a:r>
              <a:rPr lang="en-US" altLang="zh-CN" sz="2800" i="1">
                <a:solidFill>
                  <a:srgbClr val="000000"/>
                </a:solidFill>
                <a:latin typeface="Times New Roman" panose="02020603050405020304" pitchFamily="18" charset="0"/>
              </a:rPr>
              <a:t>a</a:t>
            </a:r>
            <a:r>
              <a:rPr lang="en-US" altLang="zh-CN" sz="2800">
                <a:solidFill>
                  <a:srgbClr val="000000"/>
                </a:solidFill>
                <a:latin typeface="Times New Roman" panose="02020603050405020304" pitchFamily="18" charset="0"/>
              </a:rPr>
              <a:t>)</a:t>
            </a:r>
            <a:r>
              <a:rPr lang="en-US" altLang="zh-CN" sz="2800" i="1">
                <a:solidFill>
                  <a:srgbClr val="000000"/>
                </a:solidFill>
                <a:latin typeface="Times New Roman" panose="02020603050405020304" pitchFamily="18" charset="0"/>
              </a:rPr>
              <a:t>=</a:t>
            </a:r>
            <a:r>
              <a:rPr lang="en-US" altLang="zh-CN" sz="2800">
                <a:solidFill>
                  <a:srgbClr val="000000"/>
                </a:solidFill>
                <a:latin typeface="Times New Roman" panose="02020603050405020304" pitchFamily="18" charset="0"/>
              </a:rPr>
              <a:t>0</a:t>
            </a:r>
            <a:r>
              <a:rPr lang="en-US" altLang="zh-CN" sz="2800" i="1" smtClean="0">
                <a:solidFill>
                  <a:srgbClr val="000000"/>
                </a:solidFill>
                <a:latin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Cambria Math" panose="020405030504060302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标准差与方差具有相同的单位</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离散型随机变</a:t>
            </a:r>
            <a:r>
              <a:rPr lang="zh-CN" altLang="zh-CN" sz="2800" smtClean="0">
                <a:solidFill>
                  <a:srgbClr val="000000"/>
                </a:solidFill>
                <a:latin typeface="Times New Roman" panose="02020603050405020304" pitchFamily="18" charset="0"/>
                <a:cs typeface="Times New Roman" panose="02020603050405020304" pitchFamily="18" charset="0"/>
              </a:rPr>
              <a:t>量</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方差</a:t>
            </a:r>
            <a:r>
              <a:rPr lang="en-US" altLang="zh-CN" sz="2800" i="1" smtClean="0">
                <a:solidFill>
                  <a:srgbClr val="000000"/>
                </a:solidFill>
                <a:latin typeface="Times New Roman" panose="02020603050405020304" pitchFamily="18" charset="0"/>
                <a:cs typeface="Times New Roman" panose="02020603050405020304" pitchFamily="18" charset="0"/>
              </a:rPr>
              <a:t>D</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反映</a:t>
            </a:r>
            <a:r>
              <a:rPr lang="zh-CN" altLang="zh-CN" sz="2800" smtClean="0">
                <a:solidFill>
                  <a:srgbClr val="000000"/>
                </a:solidFill>
                <a:latin typeface="Times New Roman" panose="02020603050405020304" pitchFamily="18" charset="0"/>
                <a:cs typeface="Times New Roman" panose="02020603050405020304" pitchFamily="18" charset="0"/>
              </a:rPr>
              <a:t>了</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取</a:t>
            </a:r>
            <a:r>
              <a:rPr lang="zh-CN" altLang="zh-CN" sz="2800">
                <a:solidFill>
                  <a:srgbClr val="000000"/>
                </a:solidFill>
                <a:latin typeface="Times New Roman" panose="02020603050405020304" pitchFamily="18" charset="0"/>
                <a:cs typeface="Times New Roman" panose="02020603050405020304" pitchFamily="18" charset="0"/>
              </a:rPr>
              <a:t>值的波动水平</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8002543" y="2676002"/>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4274982" y="3220825"/>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826982" y="3794830"/>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9386097" y="4294586"/>
            <a:ext cx="538035" cy="62194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89950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求离散型随机变量的方差、标准差</a:t>
                </a:r>
                <a:endParaRPr lang="zh-CN" altLang="en-US" sz="2800" b="1" dirty="0">
                  <a:solidFill>
                    <a:schemeClr val="bg1"/>
                  </a:solidFill>
                </a:endParaRPr>
              </a:p>
            </p:txBody>
          </p:sp>
        </p:grpSp>
      </p:grpSp>
      <p:sp>
        <p:nvSpPr>
          <p:cNvPr id="2" name="矩形 1"/>
          <p:cNvSpPr>
            <a:spLocks noChangeAspect="1"/>
          </p:cNvSpPr>
          <p:nvPr/>
        </p:nvSpPr>
        <p:spPr>
          <a:xfrm>
            <a:off x="381000" y="578158"/>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的分布</a:t>
            </a:r>
            <a:r>
              <a:rPr lang="zh-CN" altLang="zh-CN" sz="2800" smtClean="0">
                <a:solidFill>
                  <a:srgbClr val="000000"/>
                </a:solidFill>
                <a:latin typeface="Times New Roman" panose="02020603050405020304" pitchFamily="18" charset="0"/>
                <a:cs typeface="Times New Roman" panose="02020603050405020304" pitchFamily="18" charset="0"/>
              </a:rPr>
              <a:t>列为</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的分布</a:t>
            </a:r>
            <a:r>
              <a:rPr lang="zh-CN" altLang="zh-CN" sz="2800" smtClean="0">
                <a:solidFill>
                  <a:srgbClr val="000000"/>
                </a:solidFill>
                <a:latin typeface="Times New Roman" panose="02020603050405020304" pitchFamily="18" charset="0"/>
                <a:cs typeface="Times New Roman" panose="02020603050405020304" pitchFamily="18" charset="0"/>
              </a:rPr>
              <a:t>列为</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求这两个随机变量的均值、方差与标准差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68387213"/>
              </p:ext>
            </p:extLst>
          </p:nvPr>
        </p:nvGraphicFramePr>
        <p:xfrm>
          <a:off x="426561" y="1177043"/>
          <a:ext cx="11338878" cy="2641438"/>
        </p:xfrm>
        <a:graphic>
          <a:graphicData uri="http://schemas.openxmlformats.org/presentationml/2006/ole">
            <mc:AlternateContent xmlns:mc="http://schemas.openxmlformats.org/markup-compatibility/2006">
              <mc:Choice xmlns:v="urn:schemas-microsoft-com:vml" Requires="v">
                <p:oleObj spid="_x0000_s5174" name="文档" r:id="rId4" imgW="4535551" imgH="1056575" progId="Word.Document.12">
                  <p:embed/>
                </p:oleObj>
              </mc:Choice>
              <mc:Fallback>
                <p:oleObj name="文档" r:id="rId4" imgW="4535551" imgH="1056575" progId="Word.Document.12">
                  <p:embed/>
                  <p:pic>
                    <p:nvPicPr>
                      <p:cNvPr id="0" name=""/>
                      <p:cNvPicPr/>
                      <p:nvPr/>
                    </p:nvPicPr>
                    <p:blipFill>
                      <a:blip r:embed="rId5"/>
                      <a:stretch>
                        <a:fillRect/>
                      </a:stretch>
                    </p:blipFill>
                    <p:spPr>
                      <a:xfrm>
                        <a:off x="426561" y="1177043"/>
                        <a:ext cx="11338878" cy="264143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46458044"/>
              </p:ext>
            </p:extLst>
          </p:nvPr>
        </p:nvGraphicFramePr>
        <p:xfrm>
          <a:off x="426561" y="3434183"/>
          <a:ext cx="11338878" cy="2641438"/>
        </p:xfrm>
        <a:graphic>
          <a:graphicData uri="http://schemas.openxmlformats.org/presentationml/2006/ole">
            <mc:AlternateContent xmlns:mc="http://schemas.openxmlformats.org/markup-compatibility/2006">
              <mc:Choice xmlns:v="urn:schemas-microsoft-com:vml" Requires="v">
                <p:oleObj spid="_x0000_s5175" name="文档" r:id="rId7" imgW="4535551" imgH="1056575" progId="Word.Document.12">
                  <p:embed/>
                </p:oleObj>
              </mc:Choice>
              <mc:Fallback>
                <p:oleObj name="文档" r:id="rId7" imgW="4535551" imgH="1056575" progId="Word.Document.12">
                  <p:embed/>
                  <p:pic>
                    <p:nvPicPr>
                      <p:cNvPr id="0" name=""/>
                      <p:cNvPicPr/>
                      <p:nvPr/>
                    </p:nvPicPr>
                    <p:blipFill>
                      <a:blip r:embed="rId8"/>
                      <a:stretch>
                        <a:fillRect/>
                      </a:stretch>
                    </p:blipFill>
                    <p:spPr>
                      <a:xfrm>
                        <a:off x="426561" y="3434183"/>
                        <a:ext cx="11338878" cy="2641438"/>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057186595"/>
              </p:ext>
            </p:extLst>
          </p:nvPr>
        </p:nvGraphicFramePr>
        <p:xfrm>
          <a:off x="493713" y="403261"/>
          <a:ext cx="11345862" cy="5799138"/>
        </p:xfrm>
        <a:graphic>
          <a:graphicData uri="http://schemas.openxmlformats.org/presentationml/2006/ole">
            <mc:AlternateContent xmlns:mc="http://schemas.openxmlformats.org/markup-compatibility/2006">
              <mc:Choice xmlns:v="urn:schemas-microsoft-com:vml" Requires="v">
                <p:oleObj spid="_x0000_s6172" name="文档" r:id="rId4" imgW="4552863" imgH="2330934" progId="Word.Document.12">
                  <p:embed/>
                </p:oleObj>
              </mc:Choice>
              <mc:Fallback>
                <p:oleObj name="文档" r:id="rId4" imgW="4552863" imgH="2330934" progId="Word.Document.12">
                  <p:embed/>
                  <p:pic>
                    <p:nvPicPr>
                      <p:cNvPr id="0" name=""/>
                      <p:cNvPicPr/>
                      <p:nvPr/>
                    </p:nvPicPr>
                    <p:blipFill>
                      <a:blip r:embed="rId5"/>
                      <a:stretch>
                        <a:fillRect/>
                      </a:stretch>
                    </p:blipFill>
                    <p:spPr>
                      <a:xfrm>
                        <a:off x="493713" y="403261"/>
                        <a:ext cx="11345862" cy="5799138"/>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45111038"/>
              </p:ext>
            </p:extLst>
          </p:nvPr>
        </p:nvGraphicFramePr>
        <p:xfrm>
          <a:off x="458424" y="1623964"/>
          <a:ext cx="11275153" cy="494148"/>
        </p:xfrm>
        <a:graphic>
          <a:graphicData uri="http://schemas.openxmlformats.org/presentationml/2006/ole">
            <mc:AlternateContent xmlns:mc="http://schemas.openxmlformats.org/markup-compatibility/2006">
              <mc:Choice xmlns:v="urn:schemas-microsoft-com:vml" Requires="v">
                <p:oleObj spid="_x0000_s8219"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623964"/>
                        <a:ext cx="11275153" cy="494148"/>
                      </a:xfrm>
                      <a:prstGeom prst="rect">
                        <a:avLst/>
                      </a:prstGeom>
                    </p:spPr>
                  </p:pic>
                </p:oleObj>
              </mc:Fallback>
            </mc:AlternateContent>
          </a:graphicData>
        </a:graphic>
      </p:graphicFrame>
      <p:sp>
        <p:nvSpPr>
          <p:cNvPr id="3" name="矩形 2"/>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的方差的步</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骤</a:t>
            </a:r>
            <a:r>
              <a:rPr lang="en-US"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理解</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的意义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的所有可能取值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取各个值的概率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写出分布列</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根据分布列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出</a:t>
            </a:r>
            <a:r>
              <a:rPr lang="zh-CN" altLang="en-US"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均值</a:t>
            </a:r>
            <a:r>
              <a:rPr lang="en-US" altLang="zh-CN" sz="2800" i="1" smtClean="0">
                <a:solidFill>
                  <a:srgbClr val="000000"/>
                </a:solidFill>
                <a:latin typeface="Times New Roman" panose="02020603050405020304" pitchFamily="18" charset="0"/>
                <a:cs typeface="Times New Roman" panose="02020603050405020304" pitchFamily="18" charset="0"/>
              </a:rPr>
              <a:t>E</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根据公式计算方差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907460"/>
            <a:ext cx="695735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a:t>
            </a:r>
            <a:r>
              <a:rPr lang="zh-CN" altLang="zh-CN" sz="2800" smtClean="0">
                <a:solidFill>
                  <a:srgbClr val="000000"/>
                </a:solidFill>
                <a:latin typeface="Times New Roman" panose="02020603050405020304" pitchFamily="18" charset="0"/>
                <a:cs typeface="Times New Roman" panose="02020603050405020304" pitchFamily="18" charset="0"/>
              </a:rPr>
              <a:t>列为</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19778476"/>
              </p:ext>
            </p:extLst>
          </p:nvPr>
        </p:nvGraphicFramePr>
        <p:xfrm>
          <a:off x="420688" y="1563688"/>
          <a:ext cx="11309350" cy="3778250"/>
        </p:xfrm>
        <a:graphic>
          <a:graphicData uri="http://schemas.openxmlformats.org/presentationml/2006/ole">
            <mc:AlternateContent xmlns:mc="http://schemas.openxmlformats.org/markup-compatibility/2006">
              <mc:Choice xmlns:v="urn:schemas-microsoft-com:vml" Requires="v">
                <p:oleObj spid="_x0000_s9243" name="文档" r:id="rId4" imgW="4510061" imgH="1508674" progId="Word.Document.12">
                  <p:embed/>
                </p:oleObj>
              </mc:Choice>
              <mc:Fallback>
                <p:oleObj name="文档" r:id="rId4" imgW="4510061" imgH="1508674" progId="Word.Document.12">
                  <p:embed/>
                  <p:pic>
                    <p:nvPicPr>
                      <p:cNvPr id="0" name=""/>
                      <p:cNvPicPr/>
                      <p:nvPr/>
                    </p:nvPicPr>
                    <p:blipFill>
                      <a:blip r:embed="rId5"/>
                      <a:stretch>
                        <a:fillRect/>
                      </a:stretch>
                    </p:blipFill>
                    <p:spPr>
                      <a:xfrm>
                        <a:off x="420688" y="1563688"/>
                        <a:ext cx="11309350" cy="3778250"/>
                      </a:xfrm>
                      <a:prstGeom prst="rect">
                        <a:avLst/>
                      </a:prstGeom>
                    </p:spPr>
                  </p:pic>
                </p:oleObj>
              </mc:Fallback>
            </mc:AlternateContent>
          </a:graphicData>
        </a:graphic>
      </p:graphicFrame>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272563"/>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C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707788085"/>
              </p:ext>
            </p:extLst>
          </p:nvPr>
        </p:nvGraphicFramePr>
        <p:xfrm>
          <a:off x="457200" y="1215686"/>
          <a:ext cx="11249025" cy="2947987"/>
        </p:xfrm>
        <a:graphic>
          <a:graphicData uri="http://schemas.openxmlformats.org/presentationml/2006/ole">
            <mc:AlternateContent xmlns:mc="http://schemas.openxmlformats.org/markup-compatibility/2006">
              <mc:Choice xmlns:v="urn:schemas-microsoft-com:vml" Requires="v">
                <p:oleObj spid="_x0000_s10267" name="文档" r:id="rId4" imgW="4510061" imgH="1189999" progId="Word.Document.12">
                  <p:embed/>
                </p:oleObj>
              </mc:Choice>
              <mc:Fallback>
                <p:oleObj name="文档" r:id="rId4" imgW="4510061" imgH="1189999" progId="Word.Document.12">
                  <p:embed/>
                  <p:pic>
                    <p:nvPicPr>
                      <p:cNvPr id="0" name=""/>
                      <p:cNvPicPr/>
                      <p:nvPr/>
                    </p:nvPicPr>
                    <p:blipFill>
                      <a:blip r:embed="rId5"/>
                      <a:stretch>
                        <a:fillRect/>
                      </a:stretch>
                    </p:blipFill>
                    <p:spPr>
                      <a:xfrm>
                        <a:off x="457200" y="1215686"/>
                        <a:ext cx="11249025" cy="2947987"/>
                      </a:xfrm>
                      <a:prstGeom prst="rect">
                        <a:avLst/>
                      </a:prstGeom>
                    </p:spPr>
                  </p:pic>
                </p:oleObj>
              </mc:Fallback>
            </mc:AlternateContent>
          </a:graphicData>
        </a:graphic>
      </p:graphicFrame>
    </p:spTree>
    <p:extLst>
      <p:ext uri="{BB962C8B-B14F-4D97-AF65-F5344CB8AC3E}">
        <p14:creationId xmlns:p14="http://schemas.microsoft.com/office/powerpoint/2010/main" val="5441159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离散型随机变量的方差公式及性质</a:t>
                </a:r>
                <a:endParaRPr lang="zh-CN" altLang="en-US" sz="2800" b="1" dirty="0">
                  <a:solidFill>
                    <a:schemeClr val="bg1"/>
                  </a:solidFill>
                </a:endParaRPr>
              </a:p>
            </p:txBody>
          </p:sp>
        </p:grpSp>
      </p:grpSp>
      <p:sp>
        <p:nvSpPr>
          <p:cNvPr id="2" name="矩形 1"/>
          <p:cNvSpPr>
            <a:spLocks noChangeAspect="1"/>
          </p:cNvSpPr>
          <p:nvPr/>
        </p:nvSpPr>
        <p:spPr>
          <a:xfrm>
            <a:off x="381000" y="1222115"/>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已知随机变</a:t>
            </a:r>
            <a:r>
              <a:rPr lang="zh-CN" altLang="zh-CN" sz="2800" smtClean="0">
                <a:solidFill>
                  <a:srgbClr val="000000"/>
                </a:solidFill>
                <a:latin typeface="Times New Roman" panose="02020603050405020304" pitchFamily="18" charset="0"/>
                <a:cs typeface="Times New Roman" panose="02020603050405020304" pitchFamily="18" charset="0"/>
              </a:rPr>
              <a:t>量</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分布</a:t>
            </a:r>
            <a:r>
              <a:rPr lang="zh-CN" altLang="zh-CN" sz="2800" smtClean="0">
                <a:solidFill>
                  <a:srgbClr val="000000"/>
                </a:solidFill>
                <a:latin typeface="Times New Roman" panose="02020603050405020304" pitchFamily="18" charset="0"/>
                <a:cs typeface="Times New Roman" panose="02020603050405020304" pitchFamily="18" charset="0"/>
              </a:rPr>
              <a:t>列为</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求方差及标准差</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95716932"/>
              </p:ext>
            </p:extLst>
          </p:nvPr>
        </p:nvGraphicFramePr>
        <p:xfrm>
          <a:off x="426561" y="2163359"/>
          <a:ext cx="11338878" cy="2641438"/>
        </p:xfrm>
        <a:graphic>
          <a:graphicData uri="http://schemas.openxmlformats.org/presentationml/2006/ole">
            <mc:AlternateContent xmlns:mc="http://schemas.openxmlformats.org/markup-compatibility/2006">
              <mc:Choice xmlns:v="urn:schemas-microsoft-com:vml" Requires="v">
                <p:oleObj spid="_x0000_s11291" name="文档" r:id="rId4" imgW="4510061" imgH="1055497" progId="Word.Document.12">
                  <p:embed/>
                </p:oleObj>
              </mc:Choice>
              <mc:Fallback>
                <p:oleObj name="文档" r:id="rId4" imgW="4510061" imgH="1055497" progId="Word.Document.12">
                  <p:embed/>
                  <p:pic>
                    <p:nvPicPr>
                      <p:cNvPr id="0" name=""/>
                      <p:cNvPicPr/>
                      <p:nvPr/>
                    </p:nvPicPr>
                    <p:blipFill>
                      <a:blip r:embed="rId5"/>
                      <a:stretch>
                        <a:fillRect/>
                      </a:stretch>
                    </p:blipFill>
                    <p:spPr>
                      <a:xfrm>
                        <a:off x="426561" y="2163359"/>
                        <a:ext cx="11338878" cy="2641438"/>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19397448"/>
              </p:ext>
            </p:extLst>
          </p:nvPr>
        </p:nvGraphicFramePr>
        <p:xfrm>
          <a:off x="458424" y="807409"/>
          <a:ext cx="11275153" cy="4264283"/>
        </p:xfrm>
        <a:graphic>
          <a:graphicData uri="http://schemas.openxmlformats.org/presentationml/2006/ole">
            <mc:AlternateContent xmlns:mc="http://schemas.openxmlformats.org/markup-compatibility/2006">
              <mc:Choice xmlns:v="urn:schemas-microsoft-com:vml" Requires="v">
                <p:oleObj spid="_x0000_s12315" name="文档" r:id="rId4" imgW="4510061" imgH="1705713" progId="Word.Document.12">
                  <p:embed/>
                </p:oleObj>
              </mc:Choice>
              <mc:Fallback>
                <p:oleObj name="文档" r:id="rId4" imgW="4510061" imgH="1705713" progId="Word.Document.12">
                  <p:embed/>
                  <p:pic>
                    <p:nvPicPr>
                      <p:cNvPr id="0" name=""/>
                      <p:cNvPicPr/>
                      <p:nvPr/>
                    </p:nvPicPr>
                    <p:blipFill>
                      <a:blip r:embed="rId5"/>
                      <a:stretch>
                        <a:fillRect/>
                      </a:stretch>
                    </p:blipFill>
                    <p:spPr>
                      <a:xfrm>
                        <a:off x="458424" y="807409"/>
                        <a:ext cx="11275153" cy="4264283"/>
                      </a:xfrm>
                      <a:prstGeom prst="rect">
                        <a:avLst/>
                      </a:prstGeom>
                    </p:spPr>
                  </p:pic>
                </p:oleObj>
              </mc:Fallback>
            </mc:AlternateContent>
          </a:graphicData>
        </a:graphic>
      </p:graphicFrame>
    </p:spTree>
    <p:extLst>
      <p:ext uri="{BB962C8B-B14F-4D97-AF65-F5344CB8AC3E}">
        <p14:creationId xmlns:p14="http://schemas.microsoft.com/office/powerpoint/2010/main" val="3316864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515106;FounderCES"/>
          <p:cNvPicPr/>
          <p:nvPr/>
        </p:nvPicPr>
        <p:blipFill>
          <a:blip r:embed="rId2">
            <a:clrChange>
              <a:clrFrom>
                <a:srgbClr val="FFFFFF"/>
              </a:clrFrom>
              <a:clrTo>
                <a:srgbClr val="FFFFFF">
                  <a:alpha val="0"/>
                </a:srgbClr>
              </a:clrTo>
            </a:clrChange>
          </a:blip>
          <a:stretch>
            <a:fillRect/>
          </a:stretch>
        </p:blipFill>
        <p:spPr>
          <a:xfrm>
            <a:off x="4966271" y="1492634"/>
            <a:ext cx="2259458" cy="412065"/>
          </a:xfrm>
          <a:prstGeom prst="rect">
            <a:avLst/>
          </a:prstGeom>
        </p:spPr>
      </p:pic>
      <p:sp>
        <p:nvSpPr>
          <p:cNvPr id="5" name="矩形 4"/>
          <p:cNvSpPr>
            <a:spLocks noChangeAspect="1"/>
          </p:cNvSpPr>
          <p:nvPr/>
        </p:nvSpPr>
        <p:spPr>
          <a:xfrm>
            <a:off x="381000" y="2105694"/>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本例条件不变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问改为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X-E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如何求解</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X-E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X-E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4×384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536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0"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5571859"/>
              </p:ext>
            </p:extLst>
          </p:nvPr>
        </p:nvGraphicFramePr>
        <p:xfrm>
          <a:off x="458424" y="1798624"/>
          <a:ext cx="11275153" cy="494148"/>
        </p:xfrm>
        <a:graphic>
          <a:graphicData uri="http://schemas.openxmlformats.org/presentationml/2006/ole">
            <mc:AlternateContent xmlns:mc="http://schemas.openxmlformats.org/markup-compatibility/2006">
              <mc:Choice xmlns:v="urn:schemas-microsoft-com:vml" Requires="v">
                <p:oleObj spid="_x0000_s14363"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798624"/>
                        <a:ext cx="11275153" cy="494148"/>
                      </a:xfrm>
                      <a:prstGeom prst="rect">
                        <a:avLst/>
                      </a:prstGeom>
                    </p:spPr>
                  </p:pic>
                </p:oleObj>
              </mc:Fallback>
            </mc:AlternateContent>
          </a:graphicData>
        </a:graphic>
      </p:graphicFrame>
      <p:sp>
        <p:nvSpPr>
          <p:cNvPr id="4" name="矩形 3"/>
          <p:cNvSpPr>
            <a:spLocks noChangeAspect="1"/>
          </p:cNvSpPr>
          <p:nvPr/>
        </p:nvSpPr>
        <p:spPr>
          <a:xfrm>
            <a:off x="381000" y="2483164"/>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与离散型随机变量方差性质有关问题的解题思路</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对于变量间存在关系的方差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在求解过程中应注意方差性质的应用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aX+b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为常数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这样处理避免了求随机变量</a:t>
            </a:r>
            <a:r>
              <a:rPr lang="en-US" altLang="zh-CN" sz="2800" i="1">
                <a:solidFill>
                  <a:srgbClr val="000000"/>
                </a:solidFill>
                <a:latin typeface="Times New Roman" panose="02020603050405020304" pitchFamily="18" charset="0"/>
                <a:cs typeface="Times New Roman" panose="02020603050405020304" pitchFamily="18" charset="0"/>
              </a:rPr>
              <a:t>Y=aX+b</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的分布列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避免了繁杂的计算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简化了计算过程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029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09509"/>
            <a:ext cx="695735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a:t>
            </a:r>
            <a:r>
              <a:rPr lang="zh-CN" altLang="zh-CN" sz="2800" smtClean="0">
                <a:solidFill>
                  <a:srgbClr val="000000"/>
                </a:solidFill>
                <a:latin typeface="Times New Roman" panose="02020603050405020304" pitchFamily="18" charset="0"/>
                <a:cs typeface="Times New Roman" panose="02020603050405020304" pitchFamily="18" charset="0"/>
              </a:rPr>
              <a:t>列为</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93922415"/>
              </p:ext>
            </p:extLst>
          </p:nvPr>
        </p:nvGraphicFramePr>
        <p:xfrm>
          <a:off x="426561" y="1261995"/>
          <a:ext cx="11338878" cy="2641438"/>
        </p:xfrm>
        <a:graphic>
          <a:graphicData uri="http://schemas.openxmlformats.org/presentationml/2006/ole">
            <mc:AlternateContent xmlns:mc="http://schemas.openxmlformats.org/markup-compatibility/2006">
              <mc:Choice xmlns:v="urn:schemas-microsoft-com:vml" Requires="v">
                <p:oleObj spid="_x0000_s17458" name="文档" r:id="rId4" imgW="4535551" imgH="1056575" progId="Word.Document.12">
                  <p:embed/>
                </p:oleObj>
              </mc:Choice>
              <mc:Fallback>
                <p:oleObj name="文档" r:id="rId4" imgW="4535551" imgH="1056575" progId="Word.Document.12">
                  <p:embed/>
                  <p:pic>
                    <p:nvPicPr>
                      <p:cNvPr id="0" name=""/>
                      <p:cNvPicPr/>
                      <p:nvPr/>
                    </p:nvPicPr>
                    <p:blipFill>
                      <a:blip r:embed="rId5"/>
                      <a:stretch>
                        <a:fillRect/>
                      </a:stretch>
                    </p:blipFill>
                    <p:spPr>
                      <a:xfrm>
                        <a:off x="426561" y="1261995"/>
                        <a:ext cx="11338878" cy="264143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692538784"/>
              </p:ext>
            </p:extLst>
          </p:nvPr>
        </p:nvGraphicFramePr>
        <p:xfrm>
          <a:off x="458424" y="2930171"/>
          <a:ext cx="11275153" cy="2546203"/>
        </p:xfrm>
        <a:graphic>
          <a:graphicData uri="http://schemas.openxmlformats.org/presentationml/2006/ole">
            <mc:AlternateContent xmlns:mc="http://schemas.openxmlformats.org/markup-compatibility/2006">
              <mc:Choice xmlns:v="urn:schemas-microsoft-com:vml" Requires="v">
                <p:oleObj spid="_x0000_s17459" name="文档" r:id="rId7" imgW="4510061" imgH="1018481" progId="Word.Document.12">
                  <p:embed/>
                </p:oleObj>
              </mc:Choice>
              <mc:Fallback>
                <p:oleObj name="文档" r:id="rId7" imgW="4510061" imgH="1018481" progId="Word.Document.12">
                  <p:embed/>
                  <p:pic>
                    <p:nvPicPr>
                      <p:cNvPr id="0" name=""/>
                      <p:cNvPicPr/>
                      <p:nvPr/>
                    </p:nvPicPr>
                    <p:blipFill>
                      <a:blip r:embed="rId8"/>
                      <a:stretch>
                        <a:fillRect/>
                      </a:stretch>
                    </p:blipFill>
                    <p:spPr>
                      <a:xfrm>
                        <a:off x="458424" y="2930171"/>
                        <a:ext cx="11275153" cy="2546203"/>
                      </a:xfrm>
                      <a:prstGeom prst="rect">
                        <a:avLst/>
                      </a:prstGeom>
                    </p:spPr>
                  </p:pic>
                </p:oleObj>
              </mc:Fallback>
            </mc:AlternateContent>
          </a:graphicData>
        </a:graphic>
      </p:graphicFrame>
    </p:spTree>
    <p:extLst>
      <p:ext uri="{BB962C8B-B14F-4D97-AF65-F5344CB8AC3E}">
        <p14:creationId xmlns:p14="http://schemas.microsoft.com/office/powerpoint/2010/main" val="101548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14742333"/>
              </p:ext>
            </p:extLst>
          </p:nvPr>
        </p:nvGraphicFramePr>
        <p:xfrm>
          <a:off x="458424" y="291375"/>
          <a:ext cx="11275153" cy="5933350"/>
        </p:xfrm>
        <a:graphic>
          <a:graphicData uri="http://schemas.openxmlformats.org/presentationml/2006/ole">
            <mc:AlternateContent xmlns:mc="http://schemas.openxmlformats.org/markup-compatibility/2006">
              <mc:Choice xmlns:v="urn:schemas-microsoft-com:vml" Requires="v">
                <p:oleObj spid="_x0000_s18458" name="文档" r:id="rId4" imgW="4510061" imgH="2373340" progId="Word.Document.12">
                  <p:embed/>
                </p:oleObj>
              </mc:Choice>
              <mc:Fallback>
                <p:oleObj name="文档" r:id="rId4" imgW="4510061" imgH="2373340" progId="Word.Document.12">
                  <p:embed/>
                  <p:pic>
                    <p:nvPicPr>
                      <p:cNvPr id="0" name=""/>
                      <p:cNvPicPr/>
                      <p:nvPr/>
                    </p:nvPicPr>
                    <p:blipFill>
                      <a:blip r:embed="rId5"/>
                      <a:stretch>
                        <a:fillRect/>
                      </a:stretch>
                    </p:blipFill>
                    <p:spPr>
                      <a:xfrm>
                        <a:off x="458424" y="291375"/>
                        <a:ext cx="11275153" cy="5933350"/>
                      </a:xfrm>
                      <a:prstGeom prst="rect">
                        <a:avLst/>
                      </a:prstGeom>
                    </p:spPr>
                  </p:pic>
                </p:oleObj>
              </mc:Fallback>
            </mc:AlternateContent>
          </a:graphicData>
        </a:graphic>
      </p:graphicFrame>
    </p:spTree>
    <p:extLst>
      <p:ext uri="{BB962C8B-B14F-4D97-AF65-F5344CB8AC3E}">
        <p14:creationId xmlns:p14="http://schemas.microsoft.com/office/powerpoint/2010/main" val="40521473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方差的实际应用</a:t>
                </a:r>
                <a:endParaRPr lang="zh-CN" altLang="en-US" sz="2800" b="1" dirty="0">
                  <a:solidFill>
                    <a:schemeClr val="bg1"/>
                  </a:solidFill>
                </a:endParaRPr>
              </a:p>
            </p:txBody>
          </p:sp>
        </p:grpSp>
      </p:grpSp>
      <p:sp>
        <p:nvSpPr>
          <p:cNvPr id="3" name="矩形 2"/>
          <p:cNvSpPr>
            <a:spLocks noChangeAspect="1"/>
          </p:cNvSpPr>
          <p:nvPr/>
        </p:nvSpPr>
        <p:spPr>
          <a:xfrm>
            <a:off x="381000" y="1070254"/>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已知甲、乙两名射击运动员在一次射击中的得分为两个相互独立的随机变量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甲、乙两人在每次射击中击中的环数均大于</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且甲射中</a:t>
            </a:r>
            <a:r>
              <a:rPr lang="en-US" altLang="zh-CN" sz="2800">
                <a:solidFill>
                  <a:srgbClr val="000000"/>
                </a:solidFill>
                <a:latin typeface="Times New Roman" panose="02020603050405020304" pitchFamily="18" charset="0"/>
                <a:cs typeface="Times New Roman" panose="02020603050405020304" pitchFamily="18" charset="0"/>
              </a:rPr>
              <a:t>10,9,8,7</a:t>
            </a:r>
            <a:r>
              <a:rPr lang="zh-CN" altLang="zh-CN" sz="2800">
                <a:solidFill>
                  <a:srgbClr val="000000"/>
                </a:solidFill>
                <a:latin typeface="Times New Roman" panose="02020603050405020304" pitchFamily="18" charset="0"/>
                <a:cs typeface="Times New Roman" panose="02020603050405020304" pitchFamily="18" charset="0"/>
              </a:rPr>
              <a:t>环的概率分别为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5,3</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乙射中</a:t>
            </a:r>
            <a:r>
              <a:rPr lang="en-US" altLang="zh-CN" sz="2800">
                <a:solidFill>
                  <a:srgbClr val="000000"/>
                </a:solidFill>
                <a:latin typeface="Times New Roman" panose="02020603050405020304" pitchFamily="18" charset="0"/>
                <a:cs typeface="Times New Roman" panose="02020603050405020304" pitchFamily="18" charset="0"/>
              </a:rPr>
              <a:t>10,9,8</a:t>
            </a:r>
            <a:r>
              <a:rPr lang="zh-CN" altLang="zh-CN" sz="2800">
                <a:solidFill>
                  <a:srgbClr val="000000"/>
                </a:solidFill>
                <a:latin typeface="Times New Roman" panose="02020603050405020304" pitchFamily="18" charset="0"/>
                <a:cs typeface="Times New Roman" panose="02020603050405020304" pitchFamily="18" charset="0"/>
              </a:rPr>
              <a:t>环的概率分别为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的分布列</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的均值与方差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并以此比较甲、乙的射击技术并从中选拔一人参加某项射击比赛</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6470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依据题意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a+a+</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乙射中</a:t>
            </a:r>
            <a:r>
              <a:rPr lang="en-US" altLang="zh-CN" sz="2800">
                <a:solidFill>
                  <a:srgbClr val="000000"/>
                </a:solidFill>
                <a:latin typeface="Times New Roman" panose="02020603050405020304" pitchFamily="18" charset="0"/>
                <a:cs typeface="Times New Roman" panose="02020603050405020304" pitchFamily="18" charset="0"/>
              </a:rPr>
              <a:t>10,9,8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环的概率分别为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乙射中</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环的概率为</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en-US" altLang="zh-CN" sz="28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Y</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分布列分别为</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748452131"/>
              </p:ext>
            </p:extLst>
          </p:nvPr>
        </p:nvGraphicFramePr>
        <p:xfrm>
          <a:off x="381000" y="3597531"/>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3130059761"/>
              </p:ext>
            </p:extLst>
          </p:nvPr>
        </p:nvGraphicFramePr>
        <p:xfrm>
          <a:off x="381000" y="4659611"/>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99298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的分布列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96,</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说明甲平均射中的环数比乙大</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&lt;D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说明甲射中的环数比乙集中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比较稳定</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故甲的射击技术较好</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应选拔甲参加某项射击比赛</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13151954"/>
              </p:ext>
            </p:extLst>
          </p:nvPr>
        </p:nvGraphicFramePr>
        <p:xfrm>
          <a:off x="458424" y="1428862"/>
          <a:ext cx="11275153" cy="494148"/>
        </p:xfrm>
        <a:graphic>
          <a:graphicData uri="http://schemas.openxmlformats.org/presentationml/2006/ole">
            <mc:AlternateContent xmlns:mc="http://schemas.openxmlformats.org/markup-compatibility/2006">
              <mc:Choice xmlns:v="urn:schemas-microsoft-com:vml" Requires="v">
                <p:oleObj spid="_x0000_s19482"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28862"/>
                        <a:ext cx="11275153" cy="494148"/>
                      </a:xfrm>
                      <a:prstGeom prst="rect">
                        <a:avLst/>
                      </a:prstGeom>
                    </p:spPr>
                  </p:pic>
                </p:oleObj>
              </mc:Fallback>
            </mc:AlternateContent>
          </a:graphicData>
        </a:graphic>
      </p:graphicFrame>
      <p:sp>
        <p:nvSpPr>
          <p:cNvPr id="3" name="矩形 2"/>
          <p:cNvSpPr>
            <a:spLocks noChangeAspect="1"/>
          </p:cNvSpPr>
          <p:nvPr/>
        </p:nvSpPr>
        <p:spPr>
          <a:xfrm>
            <a:off x="381000" y="192301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利用均值和方差的意义分析解决实际问题的步</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骤</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比较均值</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离散型随机变量的均值反映了离散型随机变量取值的平均水平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因此在实际决策问题中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需先计算均值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看一下谁的平均水平高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在均值相等的情况下计算方差</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方差可以度量随机变量取值与其均值的偏离程度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反映了离散型随机变量取值的集中与离散程度</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下结论</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依据均值、方差的实际意义给出结论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11218"/>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甲、乙两个野生动物保护区有相同的自然环境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且野生动物的种类大致相同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数量大致相等</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甲、乙两个野生动物保护区内每个季度发生违反野生动物保护条例事件的次数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的分布列分别为</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cs typeface="Times New Roman" panose="02020603050405020304" pitchFamily="18" charset="0"/>
              </a:rPr>
              <a:t>试评定甲、乙两个野生动物保护区的管理水平</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784173577"/>
              </p:ext>
            </p:extLst>
          </p:nvPr>
        </p:nvGraphicFramePr>
        <p:xfrm>
          <a:off x="381000" y="2730410"/>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200410613"/>
              </p:ext>
            </p:extLst>
          </p:nvPr>
        </p:nvGraphicFramePr>
        <p:xfrm>
          <a:off x="381000" y="3817133"/>
          <a:ext cx="11430000" cy="981456"/>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15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94679"/>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甲野生动物保护区内每个季度发生违反保护条例事件的次数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的均值和方差分别为</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乙野生动物保护区内每个季度发生违反保护条例事件的次数</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的均值和方差分别为</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41</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84907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81153"/>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所以两个野生动物保护区内每个季度发生的违反保护条例事件的平均次数相同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但甲野生动物保护区内每个季度发生违反保护条例事件的次数相对分散和波动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乙野生动物保护区内每个季度发生违反保护条例事件的次数更集中和稳定</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513186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mtClean="0">
                  <a:solidFill>
                    <a:schemeClr val="bg1"/>
                  </a:solidFill>
                </a:rPr>
                <a:t>规范解答</a:t>
              </a:r>
              <a:endParaRPr lang="zh-CN" altLang="en-US" sz="2800" b="1" dirty="0">
                <a:solidFill>
                  <a:schemeClr val="bg1"/>
                </a:solidFill>
              </a:endParaRPr>
            </a:p>
          </p:txBody>
        </p:sp>
      </p:grpSp>
      <p:sp>
        <p:nvSpPr>
          <p:cNvPr id="4" name="矩形 3"/>
          <p:cNvSpPr>
            <a:spLocks noChangeAspect="1"/>
          </p:cNvSpPr>
          <p:nvPr/>
        </p:nvSpPr>
        <p:spPr>
          <a:xfrm>
            <a:off x="381000" y="1031616"/>
            <a:ext cx="11430000" cy="3453253"/>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离散型随机变量均值与方差的综合应用</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【典例】</a:t>
            </a:r>
            <a:r>
              <a:rPr lang="zh-CN" altLang="zh-CN" sz="2800">
                <a:solidFill>
                  <a:srgbClr val="000000"/>
                </a:solidFill>
                <a:effectLst/>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已知袋子中装有大小、质地完全相同的</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个黄球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个蓝球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规定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个红球得</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个黄球得</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个蓝球得</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从该袋子中有放回地依次随机取出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为取出这</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个球所得分数之和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从该袋子中随机取出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记随机变量</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为取出的球所得分数</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若</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383418022"/>
              </p:ext>
            </p:extLst>
          </p:nvPr>
        </p:nvGraphicFramePr>
        <p:xfrm>
          <a:off x="458424" y="4272368"/>
          <a:ext cx="11275153" cy="991965"/>
        </p:xfrm>
        <a:graphic>
          <a:graphicData uri="http://schemas.openxmlformats.org/presentationml/2006/ole">
            <mc:AlternateContent xmlns:mc="http://schemas.openxmlformats.org/markup-compatibility/2006">
              <mc:Choice xmlns:v="urn:schemas-microsoft-com:vml" Requires="v">
                <p:oleObj spid="_x0000_s22549" name="文档" r:id="rId4" imgW="4510061" imgH="396786" progId="Word.Document.12">
                  <p:embed/>
                </p:oleObj>
              </mc:Choice>
              <mc:Fallback>
                <p:oleObj name="文档" r:id="rId4" imgW="4510061" imgH="396786" progId="Word.Document.12">
                  <p:embed/>
                  <p:pic>
                    <p:nvPicPr>
                      <p:cNvPr id="0" name=""/>
                      <p:cNvPicPr/>
                      <p:nvPr/>
                    </p:nvPicPr>
                    <p:blipFill>
                      <a:blip r:embed="rId5"/>
                      <a:stretch>
                        <a:fillRect/>
                      </a:stretch>
                    </p:blipFill>
                    <p:spPr>
                      <a:xfrm>
                        <a:off x="458424" y="4272368"/>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964163644"/>
              </p:ext>
            </p:extLst>
          </p:nvPr>
        </p:nvGraphicFramePr>
        <p:xfrm>
          <a:off x="427038" y="4602163"/>
          <a:ext cx="11337925" cy="2255837"/>
        </p:xfrm>
        <a:graphic>
          <a:graphicData uri="http://schemas.openxmlformats.org/presentationml/2006/ole">
            <mc:AlternateContent xmlns:mc="http://schemas.openxmlformats.org/markup-compatibility/2006">
              <mc:Choice xmlns:v="urn:schemas-microsoft-com:vml" Requires="v">
                <p:oleObj spid="_x0000_s23592" name="文档" r:id="rId4" imgW="4510061" imgH="929355" progId="Word.Document.12">
                  <p:embed/>
                </p:oleObj>
              </mc:Choice>
              <mc:Fallback>
                <p:oleObj name="文档" r:id="rId4" imgW="4510061" imgH="929355" progId="Word.Document.12">
                  <p:embed/>
                  <p:pic>
                    <p:nvPicPr>
                      <p:cNvPr id="0" name=""/>
                      <p:cNvPicPr/>
                      <p:nvPr/>
                    </p:nvPicPr>
                    <p:blipFill>
                      <a:blip r:embed="rId5"/>
                      <a:stretch>
                        <a:fillRect/>
                      </a:stretch>
                    </p:blipFill>
                    <p:spPr>
                      <a:xfrm>
                        <a:off x="427038" y="4602163"/>
                        <a:ext cx="11337925" cy="225583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568768131"/>
              </p:ext>
            </p:extLst>
          </p:nvPr>
        </p:nvGraphicFramePr>
        <p:xfrm>
          <a:off x="490286" y="466634"/>
          <a:ext cx="11275153" cy="4115623"/>
        </p:xfrm>
        <a:graphic>
          <a:graphicData uri="http://schemas.openxmlformats.org/presentationml/2006/ole">
            <mc:AlternateContent xmlns:mc="http://schemas.openxmlformats.org/markup-compatibility/2006">
              <mc:Choice xmlns:v="urn:schemas-microsoft-com:vml" Requires="v">
                <p:oleObj spid="_x0000_s23593" name="文档" r:id="rId7" imgW="4510061" imgH="1646249" progId="Word.Document.12">
                  <p:embed/>
                </p:oleObj>
              </mc:Choice>
              <mc:Fallback>
                <p:oleObj name="文档" r:id="rId7" imgW="4510061" imgH="1646249" progId="Word.Document.12">
                  <p:embed/>
                  <p:pic>
                    <p:nvPicPr>
                      <p:cNvPr id="0" name=""/>
                      <p:cNvPicPr/>
                      <p:nvPr/>
                    </p:nvPicPr>
                    <p:blipFill>
                      <a:blip r:embed="rId8"/>
                      <a:stretch>
                        <a:fillRect/>
                      </a:stretch>
                    </p:blipFill>
                    <p:spPr>
                      <a:xfrm>
                        <a:off x="490286" y="466634"/>
                        <a:ext cx="11275153" cy="4115623"/>
                      </a:xfrm>
                      <a:prstGeom prst="rect">
                        <a:avLst/>
                      </a:prstGeom>
                    </p:spPr>
                  </p:pic>
                </p:oleObj>
              </mc:Fallback>
            </mc:AlternateContent>
          </a:graphicData>
        </a:graphic>
      </p:graphicFrame>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00308"/>
            <a:ext cx="410400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由题意</a:t>
            </a:r>
            <a:r>
              <a:rPr lang="zh-CN" altLang="zh-CN" sz="2800" smtClean="0">
                <a:solidFill>
                  <a:srgbClr val="000000"/>
                </a:solidFill>
                <a:latin typeface="Times New Roman" panose="02020603050405020304" pitchFamily="18" charset="0"/>
                <a:cs typeface="Times New Roman" panose="02020603050405020304" pitchFamily="18" charset="0"/>
              </a:rPr>
              <a:t>知</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Y</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分布</a:t>
            </a:r>
            <a:r>
              <a:rPr lang="zh-CN" altLang="zh-CN" sz="2800" smtClean="0">
                <a:solidFill>
                  <a:srgbClr val="000000"/>
                </a:solidFill>
                <a:latin typeface="Times New Roman" panose="02020603050405020304" pitchFamily="18" charset="0"/>
                <a:cs typeface="Times New Roman" panose="02020603050405020304" pitchFamily="18" charset="0"/>
              </a:rPr>
              <a:t>列为</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16483538"/>
              </p:ext>
            </p:extLst>
          </p:nvPr>
        </p:nvGraphicFramePr>
        <p:xfrm>
          <a:off x="427038" y="920147"/>
          <a:ext cx="11337925" cy="5546725"/>
        </p:xfrm>
        <a:graphic>
          <a:graphicData uri="http://schemas.openxmlformats.org/presentationml/2006/ole">
            <mc:AlternateContent xmlns:mc="http://schemas.openxmlformats.org/markup-compatibility/2006">
              <mc:Choice xmlns:v="urn:schemas-microsoft-com:vml" Requires="v">
                <p:oleObj spid="_x0000_s24597" name="文档" r:id="rId4" imgW="4510061" imgH="2209104" progId="Word.Document.12">
                  <p:embed/>
                </p:oleObj>
              </mc:Choice>
              <mc:Fallback>
                <p:oleObj name="文档" r:id="rId4" imgW="4510061" imgH="2209104" progId="Word.Document.12">
                  <p:embed/>
                  <p:pic>
                    <p:nvPicPr>
                      <p:cNvPr id="0" name=""/>
                      <p:cNvPicPr/>
                      <p:nvPr/>
                    </p:nvPicPr>
                    <p:blipFill>
                      <a:blip r:embed="rId5"/>
                      <a:stretch>
                        <a:fillRect/>
                      </a:stretch>
                    </p:blipFill>
                    <p:spPr>
                      <a:xfrm>
                        <a:off x="427038" y="920147"/>
                        <a:ext cx="11337925" cy="5546725"/>
                      </a:xfrm>
                      <a:prstGeom prst="rect">
                        <a:avLst/>
                      </a:prstGeom>
                    </p:spPr>
                  </p:pic>
                </p:oleObj>
              </mc:Fallback>
            </mc:AlternateContent>
          </a:graphicData>
        </a:graphic>
      </p:graphicFrame>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12584496"/>
              </p:ext>
            </p:extLst>
          </p:nvPr>
        </p:nvGraphicFramePr>
        <p:xfrm>
          <a:off x="458424" y="1757528"/>
          <a:ext cx="11275153" cy="494148"/>
        </p:xfrm>
        <a:graphic>
          <a:graphicData uri="http://schemas.openxmlformats.org/presentationml/2006/ole">
            <mc:AlternateContent xmlns:mc="http://schemas.openxmlformats.org/markup-compatibility/2006">
              <mc:Choice xmlns:v="urn:schemas-microsoft-com:vml" Requires="v">
                <p:oleObj spid="_x0000_s25621"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757528"/>
                        <a:ext cx="11275153" cy="494148"/>
                      </a:xfrm>
                      <a:prstGeom prst="rect">
                        <a:avLst/>
                      </a:prstGeom>
                    </p:spPr>
                  </p:pic>
                </p:oleObj>
              </mc:Fallback>
            </mc:AlternateContent>
          </a:graphicData>
        </a:graphic>
      </p:graphicFrame>
      <p:sp>
        <p:nvSpPr>
          <p:cNvPr id="3" name="矩形 2"/>
          <p:cNvSpPr>
            <a:spLocks noChangeAspect="1"/>
          </p:cNvSpPr>
          <p:nvPr/>
        </p:nvSpPr>
        <p:spPr>
          <a:xfrm>
            <a:off x="381000" y="2413918"/>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对于离散型随机变量均值与方差的综合应用问题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解题时首先要理解关键词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其次要准确无误地找出随机变量的所有可能取值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计算出相应的概率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最后一般就是计算问题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338539"/>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若随机事件</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次试验中发生的概率为</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&lt;p&lt;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用随机变量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次试验中发生的次数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求方差</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的最大值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274881533"/>
              </p:ext>
            </p:extLst>
          </p:nvPr>
        </p:nvGraphicFramePr>
        <p:xfrm>
          <a:off x="458424" y="2051059"/>
          <a:ext cx="11275153" cy="991965"/>
        </p:xfrm>
        <a:graphic>
          <a:graphicData uri="http://schemas.openxmlformats.org/presentationml/2006/ole">
            <mc:AlternateContent xmlns:mc="http://schemas.openxmlformats.org/markup-compatibility/2006">
              <mc:Choice xmlns:v="urn:schemas-microsoft-com:vml" Requires="v">
                <p:oleObj spid="_x0000_s26657" name="文档" r:id="rId4" imgW="4510061" imgH="396786" progId="Word.Document.12">
                  <p:embed/>
                </p:oleObj>
              </mc:Choice>
              <mc:Fallback>
                <p:oleObj name="文档" r:id="rId4" imgW="4510061" imgH="396786" progId="Word.Document.12">
                  <p:embed/>
                  <p:pic>
                    <p:nvPicPr>
                      <p:cNvPr id="0" name=""/>
                      <p:cNvPicPr/>
                      <p:nvPr/>
                    </p:nvPicPr>
                    <p:blipFill>
                      <a:blip r:embed="rId5"/>
                      <a:stretch>
                        <a:fillRect/>
                      </a:stretch>
                    </p:blipFill>
                    <p:spPr>
                      <a:xfrm>
                        <a:off x="458424" y="2051059"/>
                        <a:ext cx="11275153" cy="991965"/>
                      </a:xfrm>
                      <a:prstGeom prst="rect">
                        <a:avLst/>
                      </a:prstGeom>
                    </p:spPr>
                  </p:pic>
                </p:oleObj>
              </mc:Fallback>
            </mc:AlternateContent>
          </a:graphicData>
        </a:graphic>
      </p:graphicFrame>
      <p:sp>
        <p:nvSpPr>
          <p:cNvPr id="6" name="矩形 5"/>
          <p:cNvSpPr>
            <a:spLocks noChangeAspect="1"/>
          </p:cNvSpPr>
          <p:nvPr/>
        </p:nvSpPr>
        <p:spPr>
          <a:xfrm>
            <a:off x="381000" y="3022476"/>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服从两点分布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从而</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p=p-p</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092382341"/>
              </p:ext>
            </p:extLst>
          </p:nvPr>
        </p:nvGraphicFramePr>
        <p:xfrm>
          <a:off x="458424" y="4115593"/>
          <a:ext cx="11275153" cy="1983030"/>
        </p:xfrm>
        <a:graphic>
          <a:graphicData uri="http://schemas.openxmlformats.org/presentationml/2006/ole">
            <mc:AlternateContent xmlns:mc="http://schemas.openxmlformats.org/markup-compatibility/2006">
              <mc:Choice xmlns:v="urn:schemas-microsoft-com:vml" Requires="v">
                <p:oleObj spid="_x0000_s26658" name="文档" r:id="rId7" imgW="4510061" imgH="793212" progId="Word.Document.12">
                  <p:embed/>
                </p:oleObj>
              </mc:Choice>
              <mc:Fallback>
                <p:oleObj name="文档" r:id="rId7" imgW="4510061" imgH="793212" progId="Word.Document.12">
                  <p:embed/>
                  <p:pic>
                    <p:nvPicPr>
                      <p:cNvPr id="0" name=""/>
                      <p:cNvPicPr/>
                      <p:nvPr/>
                    </p:nvPicPr>
                    <p:blipFill>
                      <a:blip r:embed="rId8"/>
                      <a:stretch>
                        <a:fillRect/>
                      </a:stretch>
                    </p:blipFill>
                    <p:spPr>
                      <a:xfrm>
                        <a:off x="458424" y="4115593"/>
                        <a:ext cx="11275153" cy="1983030"/>
                      </a:xfrm>
                      <a:prstGeom prst="rect">
                        <a:avLst/>
                      </a:prstGeom>
                    </p:spPr>
                  </p:pic>
                </p:oleObj>
              </mc:Fallback>
            </mc:AlternateContent>
          </a:graphicData>
        </a:graphic>
      </p:graphicFrame>
    </p:spTree>
    <p:extLst>
      <p:ext uri="{BB962C8B-B14F-4D97-AF65-F5344CB8AC3E}">
        <p14:creationId xmlns:p14="http://schemas.microsoft.com/office/powerpoint/2010/main" val="4119839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1224793459"/>
              </p:ext>
            </p:extLst>
          </p:nvPr>
        </p:nvGraphicFramePr>
        <p:xfrm>
          <a:off x="458424" y="1151278"/>
          <a:ext cx="11275153" cy="3966963"/>
        </p:xfrm>
        <a:graphic>
          <a:graphicData uri="http://schemas.openxmlformats.org/presentationml/2006/ole">
            <mc:AlternateContent xmlns:mc="http://schemas.openxmlformats.org/markup-compatibility/2006">
              <mc:Choice xmlns:v="urn:schemas-microsoft-com:vml" Requires="v">
                <p:oleObj spid="_x0000_s27669" name="文档" r:id="rId4" imgW="4510061" imgH="1586785" progId="Word.Document.12">
                  <p:embed/>
                </p:oleObj>
              </mc:Choice>
              <mc:Fallback>
                <p:oleObj name="文档" r:id="rId4" imgW="4510061" imgH="1586785" progId="Word.Document.12">
                  <p:embed/>
                  <p:pic>
                    <p:nvPicPr>
                      <p:cNvPr id="0" name=""/>
                      <p:cNvPicPr/>
                      <p:nvPr/>
                    </p:nvPicPr>
                    <p:blipFill>
                      <a:blip r:embed="rId5"/>
                      <a:stretch>
                        <a:fillRect/>
                      </a:stretch>
                    </p:blipFill>
                    <p:spPr>
                      <a:xfrm>
                        <a:off x="458424" y="1151278"/>
                        <a:ext cx="11275153" cy="3966963"/>
                      </a:xfrm>
                      <a:prstGeom prst="rect">
                        <a:avLst/>
                      </a:prstGeom>
                    </p:spPr>
                  </p:pic>
                </p:oleObj>
              </mc:Fallback>
            </mc:AlternateContent>
          </a:graphicData>
        </a:graphic>
      </p:graphicFrame>
    </p:spTree>
    <p:extLst>
      <p:ext uri="{BB962C8B-B14F-4D97-AF65-F5344CB8AC3E}">
        <p14:creationId xmlns:p14="http://schemas.microsoft.com/office/powerpoint/2010/main" val="23789352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00639"/>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的分布列为</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X=k</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k=</a:t>
            </a:r>
            <a:r>
              <a:rPr lang="en-US" altLang="zh-CN" sz="2800">
                <a:solidFill>
                  <a:srgbClr val="000000"/>
                </a:solidFill>
                <a:latin typeface="Times New Roman" panose="02020603050405020304" pitchFamily="18" charset="0"/>
                <a:cs typeface="Times New Roman" panose="02020603050405020304" pitchFamily="18" charset="0"/>
              </a:rPr>
              <a:t>3,6,9</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等于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A.6	B.9	C.3	</a:t>
            </a:r>
            <a:r>
              <a:rPr lang="en-US" altLang="zh-CN" sz="2800" smtClean="0">
                <a:solidFill>
                  <a:srgbClr val="000000"/>
                </a:solidFill>
                <a:latin typeface="Times New Roman" panose="02020603050405020304" pitchFamily="18" charset="0"/>
                <a:cs typeface="Times New Roman" panose="02020603050405020304" pitchFamily="18" charset="0"/>
              </a:rPr>
              <a:t>D.4</a:t>
            </a:r>
          </a:p>
          <a:p>
            <a:pPr>
              <a:lnSpc>
                <a:spcPct val="130000"/>
              </a:lnSpc>
              <a:spcAft>
                <a:spcPts val="0"/>
              </a:spcAft>
              <a:tabLst>
                <a:tab pos="1188085" algn="l"/>
                <a:tab pos="2163445" algn="l"/>
                <a:tab pos="3142615" algn="l"/>
                <a:tab pos="4190365" algn="l"/>
              </a:tabLst>
            </a:pP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782277357"/>
              </p:ext>
            </p:extLst>
          </p:nvPr>
        </p:nvGraphicFramePr>
        <p:xfrm>
          <a:off x="6096000" y="1400639"/>
          <a:ext cx="450126" cy="602740"/>
        </p:xfrm>
        <a:graphic>
          <a:graphicData uri="http://schemas.openxmlformats.org/presentationml/2006/ole">
            <mc:AlternateContent xmlns:mc="http://schemas.openxmlformats.org/markup-compatibility/2006">
              <mc:Choice xmlns:v="urn:schemas-microsoft-com:vml" Requires="v">
                <p:oleObj spid="_x0000_s21543" name="文档" r:id="rId4" imgW="233550" imgH="309203" progId="Word.Document.12">
                  <p:embed/>
                </p:oleObj>
              </mc:Choice>
              <mc:Fallback>
                <p:oleObj name="文档" r:id="rId4" imgW="233550" imgH="309203" progId="Word.Document.1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400639"/>
                        <a:ext cx="450126" cy="602740"/>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79802765"/>
              </p:ext>
            </p:extLst>
          </p:nvPr>
        </p:nvGraphicFramePr>
        <p:xfrm>
          <a:off x="458424" y="2676425"/>
          <a:ext cx="11275153" cy="1977485"/>
        </p:xfrm>
        <a:graphic>
          <a:graphicData uri="http://schemas.openxmlformats.org/presentationml/2006/ole">
            <mc:AlternateContent xmlns:mc="http://schemas.openxmlformats.org/markup-compatibility/2006">
              <mc:Choice xmlns:v="urn:schemas-microsoft-com:vml" Requires="v">
                <p:oleObj spid="_x0000_s21544" name="文档" r:id="rId7" imgW="4510061" imgH="790994" progId="Word.Document.12">
                  <p:embed/>
                </p:oleObj>
              </mc:Choice>
              <mc:Fallback>
                <p:oleObj name="文档" r:id="rId7" imgW="4510061" imgH="790994" progId="Word.Document.12">
                  <p:embed/>
                  <p:pic>
                    <p:nvPicPr>
                      <p:cNvPr id="0" name=""/>
                      <p:cNvPicPr/>
                      <p:nvPr/>
                    </p:nvPicPr>
                    <p:blipFill>
                      <a:blip r:embed="rId8"/>
                      <a:stretch>
                        <a:fillRect/>
                      </a:stretch>
                    </p:blipFill>
                    <p:spPr>
                      <a:xfrm>
                        <a:off x="458424" y="2676425"/>
                        <a:ext cx="11275153" cy="197748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151888427"/>
              </p:ext>
            </p:extLst>
          </p:nvPr>
        </p:nvGraphicFramePr>
        <p:xfrm>
          <a:off x="458424" y="944214"/>
          <a:ext cx="11275153" cy="3198438"/>
        </p:xfrm>
        <a:graphic>
          <a:graphicData uri="http://schemas.openxmlformats.org/presentationml/2006/ole">
            <mc:AlternateContent xmlns:mc="http://schemas.openxmlformats.org/markup-compatibility/2006">
              <mc:Choice xmlns:v="urn:schemas-microsoft-com:vml" Requires="v">
                <p:oleObj spid="_x0000_s28693" name="文档" r:id="rId4" imgW="4510061" imgH="1279375" progId="Word.Document.12">
                  <p:embed/>
                </p:oleObj>
              </mc:Choice>
              <mc:Fallback>
                <p:oleObj name="文档" r:id="rId4" imgW="4510061" imgH="1279375" progId="Word.Document.12">
                  <p:embed/>
                  <p:pic>
                    <p:nvPicPr>
                      <p:cNvPr id="0" name=""/>
                      <p:cNvPicPr/>
                      <p:nvPr/>
                    </p:nvPicPr>
                    <p:blipFill>
                      <a:blip r:embed="rId5"/>
                      <a:stretch>
                        <a:fillRect/>
                      </a:stretch>
                    </p:blipFill>
                    <p:spPr>
                      <a:xfrm>
                        <a:off x="458424" y="944214"/>
                        <a:ext cx="11275153" cy="3198438"/>
                      </a:xfrm>
                      <a:prstGeom prst="rect">
                        <a:avLst/>
                      </a:prstGeom>
                    </p:spPr>
                  </p:pic>
                </p:oleObj>
              </mc:Fallback>
            </mc:AlternateContent>
          </a:graphicData>
        </a:graphic>
      </p:graphicFrame>
      <p:sp>
        <p:nvSpPr>
          <p:cNvPr id="5" name="矩形 4"/>
          <p:cNvSpPr>
            <a:spLocks noChangeAspect="1"/>
          </p:cNvSpPr>
          <p:nvPr/>
        </p:nvSpPr>
        <p:spPr>
          <a:xfrm>
            <a:off x="381000" y="414265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依题意知</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服从两点分布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D</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89568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33815"/>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甲、乙两名运动员在以往比赛中得分的分布列如下表所示</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现有一场比赛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要派一名运动员参加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派甲参加较好</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派乙参加较好</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派甲、乙参加均可</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cs typeface="Times New Roman" panose="02020603050405020304" pitchFamily="18" charset="0"/>
              </a:rPr>
              <a:t>无法确定派谁参加较好</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表格 3"/>
          <p:cNvGraphicFramePr>
            <a:graphicFrameLocks noGrp="1" noChangeAspect="1"/>
          </p:cNvGraphicFramePr>
          <p:nvPr>
            <p:extLst>
              <p:ext uri="{D42A27DB-BD31-4B8C-83A1-F6EECF244321}">
                <p14:modId xmlns:p14="http://schemas.microsoft.com/office/powerpoint/2010/main" val="3271477131"/>
              </p:ext>
            </p:extLst>
          </p:nvPr>
        </p:nvGraphicFramePr>
        <p:xfrm>
          <a:off x="381000" y="1275488"/>
          <a:ext cx="11430000" cy="1467711"/>
        </p:xfrm>
        <a:graphic>
          <a:graphicData uri="http://schemas.openxmlformats.org/drawingml/2006/table">
            <a:tbl>
              <a:tblPr firstRow="1" firstCol="1" bandRow="1"/>
              <a:tblGrid>
                <a:gridCol w="2857500"/>
                <a:gridCol w="2857500"/>
                <a:gridCol w="2857500"/>
                <a:gridCol w="2857500"/>
              </a:tblGrid>
              <a:tr h="489237">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甲得分</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237">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甲得分的概率</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237">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乙得分的概率</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85708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645607"/>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49</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cs typeface="Times New Roman" panose="02020603050405020304" pitchFamily="18" charset="0"/>
              </a:rPr>
              <a:t>D</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X</a:t>
            </a:r>
            <a:r>
              <a:rPr lang="en-US" altLang="zh-CN" sz="2800" baseline="-25000" smtClean="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69</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&lt;D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所以甲比乙得分稳定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选甲参加较好</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10458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6040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随机变</a:t>
            </a:r>
            <a:r>
              <a:rPr lang="zh-CN" altLang="zh-CN" sz="2800" smtClean="0">
                <a:solidFill>
                  <a:srgbClr val="000000"/>
                </a:solidFill>
                <a:latin typeface="Times New Roman" panose="02020603050405020304" pitchFamily="18" charset="0"/>
                <a:cs typeface="Times New Roman" panose="02020603050405020304" pitchFamily="18" charset="0"/>
              </a:rPr>
              <a:t>量</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有</a:t>
            </a:r>
            <a:r>
              <a:rPr lang="zh-CN" altLang="zh-CN" sz="2800">
                <a:solidFill>
                  <a:srgbClr val="000000"/>
                </a:solidFill>
                <a:latin typeface="Times New Roman" panose="02020603050405020304" pitchFamily="18" charset="0"/>
                <a:cs typeface="Times New Roman" panose="02020603050405020304" pitchFamily="18" charset="0"/>
              </a:rPr>
              <a:t>四个不同的取值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且其分布列如下</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smtClean="0">
                <a:solidFill>
                  <a:srgbClr val="000000"/>
                </a:solidFill>
                <a:latin typeface="Times New Roman" panose="02020603050405020304" pitchFamily="18" charset="0"/>
                <a:cs typeface="Times New Roman" panose="02020603050405020304" pitchFamily="18" charset="0"/>
              </a:rPr>
              <a:t>E</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X</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的最大值为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23688618"/>
              </p:ext>
            </p:extLst>
          </p:nvPr>
        </p:nvGraphicFramePr>
        <p:xfrm>
          <a:off x="426561" y="1806662"/>
          <a:ext cx="11338878" cy="2641438"/>
        </p:xfrm>
        <a:graphic>
          <a:graphicData uri="http://schemas.openxmlformats.org/presentationml/2006/ole">
            <mc:AlternateContent xmlns:mc="http://schemas.openxmlformats.org/markup-compatibility/2006">
              <mc:Choice xmlns:v="urn:schemas-microsoft-com:vml" Requires="v">
                <p:oleObj spid="_x0000_s29736" name="文档" r:id="rId4" imgW="4510061" imgH="1055497" progId="Word.Document.12">
                  <p:embed/>
                </p:oleObj>
              </mc:Choice>
              <mc:Fallback>
                <p:oleObj name="文档" r:id="rId4" imgW="4510061" imgH="1055497" progId="Word.Document.12">
                  <p:embed/>
                  <p:pic>
                    <p:nvPicPr>
                      <p:cNvPr id="0" name=""/>
                      <p:cNvPicPr/>
                      <p:nvPr/>
                    </p:nvPicPr>
                    <p:blipFill>
                      <a:blip r:embed="rId5"/>
                      <a:stretch>
                        <a:fillRect/>
                      </a:stretch>
                    </p:blipFill>
                    <p:spPr>
                      <a:xfrm>
                        <a:off x="426561" y="1806662"/>
                        <a:ext cx="11338878" cy="264143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64722944"/>
              </p:ext>
            </p:extLst>
          </p:nvPr>
        </p:nvGraphicFramePr>
        <p:xfrm>
          <a:off x="458424" y="3953504"/>
          <a:ext cx="11275153" cy="989193"/>
        </p:xfrm>
        <a:graphic>
          <a:graphicData uri="http://schemas.openxmlformats.org/presentationml/2006/ole">
            <mc:AlternateContent xmlns:mc="http://schemas.openxmlformats.org/markup-compatibility/2006">
              <mc:Choice xmlns:v="urn:schemas-microsoft-com:vml" Requires="v">
                <p:oleObj spid="_x0000_s29737" name="文档" r:id="rId7" imgW="4510061" imgH="395677" progId="Word.Document.12">
                  <p:embed/>
                </p:oleObj>
              </mc:Choice>
              <mc:Fallback>
                <p:oleObj name="文档" r:id="rId7" imgW="4510061" imgH="395677" progId="Word.Document.12">
                  <p:embed/>
                  <p:pic>
                    <p:nvPicPr>
                      <p:cNvPr id="0" name=""/>
                      <p:cNvPicPr/>
                      <p:nvPr/>
                    </p:nvPicPr>
                    <p:blipFill>
                      <a:blip r:embed="rId8"/>
                      <a:stretch>
                        <a:fillRect/>
                      </a:stretch>
                    </p:blipFill>
                    <p:spPr>
                      <a:xfrm>
                        <a:off x="458424" y="3953504"/>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766696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5755982"/>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D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13163346"/>
              </p:ext>
            </p:extLst>
          </p:nvPr>
        </p:nvGraphicFramePr>
        <p:xfrm>
          <a:off x="458424" y="322070"/>
          <a:ext cx="11275153" cy="5454460"/>
        </p:xfrm>
        <a:graphic>
          <a:graphicData uri="http://schemas.openxmlformats.org/presentationml/2006/ole">
            <mc:AlternateContent xmlns:mc="http://schemas.openxmlformats.org/markup-compatibility/2006">
              <mc:Choice xmlns:v="urn:schemas-microsoft-com:vml" Requires="v">
                <p:oleObj spid="_x0000_s30741" name="文档" r:id="rId4" imgW="4510061" imgH="2185028" progId="Word.Document.12">
                  <p:embed/>
                </p:oleObj>
              </mc:Choice>
              <mc:Fallback>
                <p:oleObj name="文档" r:id="rId4" imgW="4510061" imgH="2185028" progId="Word.Document.12">
                  <p:embed/>
                  <p:pic>
                    <p:nvPicPr>
                      <p:cNvPr id="0" name=""/>
                      <p:cNvPicPr/>
                      <p:nvPr/>
                    </p:nvPicPr>
                    <p:blipFill>
                      <a:blip r:embed="rId5"/>
                      <a:stretch>
                        <a:fillRect/>
                      </a:stretch>
                    </p:blipFill>
                    <p:spPr>
                      <a:xfrm>
                        <a:off x="458424" y="322070"/>
                        <a:ext cx="11275153" cy="5454460"/>
                      </a:xfrm>
                      <a:prstGeom prst="rect">
                        <a:avLst/>
                      </a:prstGeom>
                    </p:spPr>
                  </p:pic>
                </p:oleObj>
              </mc:Fallback>
            </mc:AlternateContent>
          </a:graphicData>
        </a:graphic>
      </p:graphicFrame>
    </p:spTree>
    <p:extLst>
      <p:ext uri="{BB962C8B-B14F-4D97-AF65-F5344CB8AC3E}">
        <p14:creationId xmlns:p14="http://schemas.microsoft.com/office/powerpoint/2010/main" val="41492065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135</TotalTime>
  <Words>2562</Words>
  <Application>Microsoft Office PowerPoint</Application>
  <PresentationFormat>宽屏</PresentationFormat>
  <Paragraphs>235</Paragraphs>
  <Slides>43</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64"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48</cp:revision>
  <dcterms:created xsi:type="dcterms:W3CDTF">2021-08-30T08:30:26Z</dcterms:created>
  <dcterms:modified xsi:type="dcterms:W3CDTF">2025-08-20T01:07:04Z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