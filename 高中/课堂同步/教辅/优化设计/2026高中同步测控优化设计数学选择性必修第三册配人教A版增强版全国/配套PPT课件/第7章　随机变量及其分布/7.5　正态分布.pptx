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677" r:id="rId2"/>
    <p:sldId id="488" r:id="rId3"/>
    <p:sldId id="494" r:id="rId4"/>
    <p:sldId id="392" r:id="rId5"/>
    <p:sldId id="686" r:id="rId6"/>
    <p:sldId id="757" r:id="rId7"/>
    <p:sldId id="758" r:id="rId8"/>
    <p:sldId id="759" r:id="rId9"/>
    <p:sldId id="760" r:id="rId10"/>
    <p:sldId id="761" r:id="rId11"/>
    <p:sldId id="762" r:id="rId12"/>
    <p:sldId id="407" r:id="rId13"/>
    <p:sldId id="394" r:id="rId14"/>
    <p:sldId id="699" r:id="rId15"/>
    <p:sldId id="700" r:id="rId16"/>
    <p:sldId id="701" r:id="rId17"/>
    <p:sldId id="402" r:id="rId18"/>
    <p:sldId id="720" r:id="rId19"/>
    <p:sldId id="721" r:id="rId20"/>
    <p:sldId id="726" r:id="rId21"/>
    <p:sldId id="753" r:id="rId22"/>
    <p:sldId id="763" r:id="rId23"/>
    <p:sldId id="775" r:id="rId24"/>
    <p:sldId id="498" r:id="rId25"/>
    <p:sldId id="730" r:id="rId26"/>
    <p:sldId id="733" r:id="rId27"/>
    <p:sldId id="743" r:id="rId28"/>
    <p:sldId id="744" r:id="rId29"/>
    <p:sldId id="741" r:id="rId30"/>
    <p:sldId id="738" r:id="rId31"/>
    <p:sldId id="751" r:id="rId32"/>
    <p:sldId id="752" r:id="rId33"/>
    <p:sldId id="765" r:id="rId34"/>
    <p:sldId id="766" r:id="rId35"/>
    <p:sldId id="776" r:id="rId36"/>
    <p:sldId id="767" r:id="rId37"/>
    <p:sldId id="770" r:id="rId38"/>
    <p:sldId id="398" r:id="rId39"/>
    <p:sldId id="395" r:id="rId40"/>
    <p:sldId id="771" r:id="rId41"/>
    <p:sldId id="772" r:id="rId42"/>
    <p:sldId id="773" r:id="rId43"/>
    <p:sldId id="774" r:id="rId44"/>
    <p:sldId id="490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3" d="100"/>
          <a:sy n="93" d="100"/>
        </p:scale>
        <p:origin x="456" y="90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29.xml"/><Relationship Id="rId5" Type="http://schemas.openxmlformats.org/officeDocument/2006/relationships/slide" Target="../slides/slide20.xml"/><Relationship Id="rId4" Type="http://schemas.openxmlformats.org/officeDocument/2006/relationships/slide" Target="../slides/slide2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6736663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780300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探究四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6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数学建模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.docx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jpeg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Relationship Id="rId9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7.docx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8.docx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0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2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3.docx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4.docx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6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8.docx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9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20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0.docx"/><Relationship Id="rId9" Type="http://schemas.openxmlformats.org/officeDocument/2006/relationships/package" Target="../embeddings/Microsoft_Word___22.docx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3.docx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29.emf"/><Relationship Id="rId5" Type="http://schemas.openxmlformats.org/officeDocument/2006/relationships/image" Target="../media/image27.emf"/><Relationship Id="rId10" Type="http://schemas.openxmlformats.org/officeDocument/2006/relationships/package" Target="../embeddings/Microsoft_Word___26.docx"/><Relationship Id="rId4" Type="http://schemas.openxmlformats.org/officeDocument/2006/relationships/package" Target="../embeddings/Microsoft_Word___24.docx"/><Relationship Id="rId9" Type="http://schemas.openxmlformats.org/officeDocument/2006/relationships/oleObject" Target="../embeddings/oleObject26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7.docx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9.docx"/><Relationship Id="rId3" Type="http://schemas.openxmlformats.org/officeDocument/2006/relationships/image" Target="../media/image32.jpeg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Word___28.docx"/><Relationship Id="rId4" Type="http://schemas.openxmlformats.org/officeDocument/2006/relationships/oleObject" Target="../embeddings/oleObject28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30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31.docx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32.docx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3.bin"/><Relationship Id="rId7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33.docx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5.docx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36.bin"/><Relationship Id="rId7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36.docx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38.docx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__39.docx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7.5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正态分布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第七章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1518310"/>
            <a:ext cx="11430000" cy="34009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了解正态曲线和正态分布的意义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理解正态曲线的性质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明确正态分布中参数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的意义及其对正态曲线形状的影响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会用正态分布解决实际问题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提升数学运算、直观想象、数学建模的核心素养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培养利用数形结合思想解决问题的能力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0"/>
            <a:ext cx="11430000" cy="57304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正态分</a:t>
            </a:r>
            <a:r>
              <a:rPr lang="zh-CN" altLang="zh-CN" sz="280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布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860629"/>
              </p:ext>
            </p:extLst>
          </p:nvPr>
        </p:nvGraphicFramePr>
        <p:xfrm>
          <a:off x="458424" y="416920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16920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VMX3TRAX06.eps" descr="id:2147518436;FounderCES"/>
          <p:cNvPicPr/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80473" y="1272550"/>
            <a:ext cx="3638162" cy="2554416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106140"/>
              </p:ext>
            </p:extLst>
          </p:nvPr>
        </p:nvGraphicFramePr>
        <p:xfrm>
          <a:off x="458424" y="3626152"/>
          <a:ext cx="11275153" cy="2974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文档" r:id="rId8" imgW="4510061" imgH="1189999" progId="Word.Document.12">
                  <p:embed/>
                </p:oleObj>
              </mc:Choice>
              <mc:Fallback>
                <p:oleObj name="文档" r:id="rId8" imgW="4510061" imgH="1189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8424" y="3626152"/>
                        <a:ext cx="11275153" cy="2974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573266"/>
              </p:ext>
            </p:extLst>
          </p:nvPr>
        </p:nvGraphicFramePr>
        <p:xfrm>
          <a:off x="463550" y="622300"/>
          <a:ext cx="11228388" cy="535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文档" r:id="rId4" imgW="4510061" imgH="2155916" progId="Word.Document.12">
                  <p:embed/>
                </p:oleObj>
              </mc:Choice>
              <mc:Fallback>
                <p:oleObj name="文档" r:id="rId4" imgW="4510061" imgH="21559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3550" y="622300"/>
                        <a:ext cx="11228388" cy="5351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687304" y="1145635"/>
            <a:ext cx="326834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3687303" y="1697232"/>
            <a:ext cx="3268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285345" y="3279236"/>
            <a:ext cx="2099021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1285344" y="3830833"/>
            <a:ext cx="20990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9103253" y="3279236"/>
            <a:ext cx="1393634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9103252" y="3830833"/>
            <a:ext cx="1393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424640" y="4862045"/>
            <a:ext cx="1595396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5424639" y="5413642"/>
            <a:ext cx="159539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224702" y="5421571"/>
            <a:ext cx="2264494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2224701" y="5973168"/>
            <a:ext cx="22644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42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61164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由服从正态分布的随机变量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的密度函数及图象可以发现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正态曲线还有以下特点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|x|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无限增大时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曲线无限接近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386369"/>
              </p:ext>
            </p:extLst>
          </p:nvPr>
        </p:nvGraphicFramePr>
        <p:xfrm>
          <a:off x="458424" y="2859239"/>
          <a:ext cx="11275153" cy="1557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0" name="文档" r:id="rId4" imgW="4510061" imgH="623164" progId="Word.Document.12">
                  <p:embed/>
                </p:oleObj>
              </mc:Choice>
              <mc:Fallback>
                <p:oleObj name="文档" r:id="rId4" imgW="4510061" imgH="6231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859239"/>
                        <a:ext cx="11275153" cy="1557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4726589" y="2859239"/>
            <a:ext cx="753442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4726589" y="3410836"/>
            <a:ext cx="7534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319046" y="3526972"/>
            <a:ext cx="818033" cy="735770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319046" y="4269245"/>
            <a:ext cx="81803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947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49570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参数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对正态曲线形状的影响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在参数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取固定值时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正态曲线的位置由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且随着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的变化而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沿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取定值时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因为正态曲线的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峰值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成反比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而且对任意的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正态曲线与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轴之间的区域的面积总为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因此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较小时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峰值高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正态曲线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 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瘦高</a:t>
            </a:r>
            <a:r>
              <a:rPr lang="zh-CN" altLang="zh-CN" sz="2800">
                <a:solidFill>
                  <a:srgbClr val="FF0000"/>
                </a:solidFill>
                <a:effectLst/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的分布比较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较大时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峰值低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正态曲线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 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矮胖</a:t>
            </a:r>
            <a:r>
              <a:rPr lang="zh-CN" altLang="zh-CN" sz="2800">
                <a:solidFill>
                  <a:srgbClr val="FF0000"/>
                </a:solidFill>
                <a:effectLst/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的分布比较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分散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参数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反映了正态分布的集中位置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反映了随机变量的分布相对于均值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的离散程度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568813"/>
              </p:ext>
            </p:extLst>
          </p:nvPr>
        </p:nvGraphicFramePr>
        <p:xfrm>
          <a:off x="5837967" y="2423233"/>
          <a:ext cx="1586057" cy="907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name="文档" r:id="rId4" imgW="705336" imgH="400348" progId="Word.Document.12">
                  <p:embed/>
                </p:oleObj>
              </mc:Choice>
              <mc:Fallback>
                <p:oleObj name="文档" r:id="rId4" imgW="705336" imgH="4003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37967" y="2423233"/>
                        <a:ext cx="1586057" cy="907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0800129" y="1493979"/>
            <a:ext cx="793157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0800129" y="2045576"/>
            <a:ext cx="7931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09072" y="3725550"/>
            <a:ext cx="793157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709072" y="4277147"/>
            <a:ext cx="7931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986215" y="3725550"/>
            <a:ext cx="710926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986215" y="4277147"/>
            <a:ext cx="71092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67616" y="4318819"/>
            <a:ext cx="946243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667616" y="4870416"/>
            <a:ext cx="9462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978850" y="4318819"/>
            <a:ext cx="703887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5978849" y="4870416"/>
            <a:ext cx="7038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319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46407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可以证明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对给定的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+k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是一个只与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有关的定值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特别地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)≈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682 7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)≈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954 5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)≈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997 3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在实际应用中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通常认为服从于正态分布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只取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区间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这在统计学中称为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70992" y="779065"/>
            <a:ext cx="522780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070991" y="1330662"/>
            <a:ext cx="5227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5657068" y="779065"/>
            <a:ext cx="463940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5657067" y="1330662"/>
            <a:ext cx="4639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164238" y="2411923"/>
            <a:ext cx="1179161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3164238" y="2963520"/>
            <a:ext cx="117916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503182" y="3000560"/>
            <a:ext cx="1179161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503182" y="3552157"/>
            <a:ext cx="117916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503182" y="3597659"/>
            <a:ext cx="1179161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3503182" y="4149256"/>
            <a:ext cx="117916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1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11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82766"/>
            <a:ext cx="11430000" cy="58734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内取值的概率约为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954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B.0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046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977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D.0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023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已知随机变量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ξ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服从正态分布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Y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Y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内取值的概率相等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值的概率约为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954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内取值的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概率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因为随机变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Y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从正态分布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Y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Y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Y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(1)D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3220590"/>
              </p:ext>
            </p:extLst>
          </p:nvPr>
        </p:nvGraphicFramePr>
        <p:xfrm>
          <a:off x="916847" y="3842239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6847" y="3842239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544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23010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正态密度函数解析式中参数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的意义分别是样本的均值与方差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服从正态分布的随机变量是连续型随机变量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正态曲线与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轴围成图形的面积随参数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</a:rPr>
              <a:t>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</a:rPr>
              <a:t>σ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的变化而变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化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正态曲线关于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轴对称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16187" y="3127271"/>
            <a:ext cx="667944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876684" y="3690259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556756" y="4214534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544822" y="4831440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20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正态曲线及性质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098833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个正态曲线的图象如图所示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的样本均值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样本方差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en-US" altLang="zh-CN" sz="2800" i="1" smtClean="0">
              <a:solidFill>
                <a:srgbClr val="000000"/>
              </a:solidFill>
              <a:effectLst/>
              <a:latin typeface="宋体" panose="02010600030101010101" pitchFamily="2" charset="-12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>
              <a:solidFill>
                <a:srgbClr val="000000"/>
              </a:solidFill>
              <a:latin typeface="宋体" panose="02010600030101010101" pitchFamily="2" charset="-12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smtClean="0">
              <a:solidFill>
                <a:srgbClr val="000000"/>
              </a:solidFill>
              <a:effectLst/>
              <a:latin typeface="宋体" panose="02010600030101010101" pitchFamily="2" charset="-12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>
              <a:solidFill>
                <a:srgbClr val="000000"/>
              </a:solidFill>
              <a:latin typeface="宋体" panose="02010600030101010101" pitchFamily="2" charset="-12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smtClean="0">
              <a:solidFill>
                <a:srgbClr val="000000"/>
              </a:solidFill>
              <a:effectLst/>
              <a:latin typeface="宋体" panose="02010600030101010101" pitchFamily="2" charset="-12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VMX3TRAX07.eps" descr="id:2147518457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51332" y="2460158"/>
            <a:ext cx="3931689" cy="265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114947"/>
              </p:ext>
            </p:extLst>
          </p:nvPr>
        </p:nvGraphicFramePr>
        <p:xfrm>
          <a:off x="463550" y="1596080"/>
          <a:ext cx="11264900" cy="275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文档" r:id="rId4" imgW="4558286" imgH="1107247" progId="Word.Document.12">
                  <p:embed/>
                </p:oleObj>
              </mc:Choice>
              <mc:Fallback>
                <p:oleObj name="文档" r:id="rId4" imgW="4558286" imgH="11072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3550" y="1596080"/>
                        <a:ext cx="11264900" cy="2754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4350392"/>
            <a:ext cx="189987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9011523"/>
              </p:ext>
            </p:extLst>
          </p:nvPr>
        </p:nvGraphicFramePr>
        <p:xfrm>
          <a:off x="458424" y="1829447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8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829447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599894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利用正态曲线的性质求参数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正态曲线是单峰的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它关于直线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由此性质结合图象求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正态曲线在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处达到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峰值</a:t>
            </a:r>
            <a:r>
              <a:rPr lang="en-US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由此性质结合图象求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766712"/>
              </p:ext>
            </p:extLst>
          </p:nvPr>
        </p:nvGraphicFramePr>
        <p:xfrm>
          <a:off x="4803695" y="3666570"/>
          <a:ext cx="1292305" cy="82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9" name="文档" r:id="rId7" imgW="632649" imgH="400348" progId="Word.Document.12">
                  <p:embed/>
                </p:oleObj>
              </mc:Choice>
              <mc:Fallback>
                <p:oleObj name="文档" r:id="rId7" imgW="632649" imgH="4003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03695" y="3666570"/>
                        <a:ext cx="1292305" cy="825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020053"/>
              </p:ext>
            </p:extLst>
          </p:nvPr>
        </p:nvGraphicFramePr>
        <p:xfrm>
          <a:off x="458424" y="917423"/>
          <a:ext cx="11275153" cy="1557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2" name="文档" r:id="rId4" imgW="4510061" imgH="623164" progId="Word.Document.12">
                  <p:embed/>
                </p:oleObj>
              </mc:Choice>
              <mc:Fallback>
                <p:oleObj name="文档" r:id="rId4" imgW="4510061" imgH="6231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917423"/>
                        <a:ext cx="11275153" cy="1557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005429"/>
              </p:ext>
            </p:extLst>
          </p:nvPr>
        </p:nvGraphicFramePr>
        <p:xfrm>
          <a:off x="458424" y="2388958"/>
          <a:ext cx="11275153" cy="3114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3" name="文档" r:id="rId7" imgW="4510061" imgH="1245968" progId="Word.Document.12">
                  <p:embed/>
                </p:oleObj>
              </mc:Choice>
              <mc:Fallback>
                <p:oleObj name="文档" r:id="rId7" imgW="4510061" imgH="12459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388958"/>
                        <a:ext cx="11275153" cy="3114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利用正态分布的性质求概率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89826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服从正态分布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023,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&lt;X&lt;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477	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625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977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服从正态分布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(1,4),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&lt;Y&lt;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&lt;Y&lt;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978724"/>
              </p:ext>
            </p:extLst>
          </p:nvPr>
        </p:nvGraphicFramePr>
        <p:xfrm>
          <a:off x="458424" y="3644083"/>
          <a:ext cx="11275153" cy="197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5" name="文档" r:id="rId4" imgW="4510061" imgH="790994" progId="Word.Document.12">
                  <p:embed/>
                </p:oleObj>
              </mc:Choice>
              <mc:Fallback>
                <p:oleObj name="文档" r:id="rId4" imgW="4510061" imgH="7909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644083"/>
                        <a:ext cx="11275153" cy="197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733796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服从正态分布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所以正态曲线关于直线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023,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&lt;X&lt;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服从正态分布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(1,4),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所以正态曲线关于直线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altLang="zh-CN" sz="280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(1)C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(2)B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217001"/>
              </p:ext>
            </p:extLst>
          </p:nvPr>
        </p:nvGraphicFramePr>
        <p:xfrm>
          <a:off x="458424" y="4087433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9" name="文档" r:id="rId4" imgW="4510061" imgH="396786" progId="Word.Document.12">
                  <p:embed/>
                </p:oleObj>
              </mc:Choice>
              <mc:Fallback>
                <p:oleObj name="文档" r:id="rId4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087433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延伸探究H.eps" descr="id:2147515106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6271" y="792155"/>
            <a:ext cx="2259458" cy="412065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81000" y="1923010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服从正态分布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84,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服从正态分布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即正态曲线关于直线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81000" y="774978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&lt;X&lt;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所以正态曲线关于直线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469277"/>
              </p:ext>
            </p:extLst>
          </p:nvPr>
        </p:nvGraphicFramePr>
        <p:xfrm>
          <a:off x="458424" y="3596363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2" name="文档" r:id="rId4" imgW="4510061" imgH="396786" progId="Word.Document.12">
                  <p:embed/>
                </p:oleObj>
              </mc:Choice>
              <mc:Fallback>
                <p:oleObj name="文档" r:id="rId4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596363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360218"/>
              </p:ext>
            </p:extLst>
          </p:nvPr>
        </p:nvGraphicFramePr>
        <p:xfrm>
          <a:off x="458424" y="4344286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3" name="文档" r:id="rId7" imgW="4510061" imgH="396786" progId="Word.Document.12">
                  <p:embed/>
                </p:oleObj>
              </mc:Choice>
              <mc:Fallback>
                <p:oleObj name="文档" r:id="rId7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4344286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291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873089"/>
              </p:ext>
            </p:extLst>
          </p:nvPr>
        </p:nvGraphicFramePr>
        <p:xfrm>
          <a:off x="458424" y="719839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6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19839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466057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正态分布的随机变量在某个区间内取值概率的求解策略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充分利用正态曲线的对称性和曲线与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轴之间的区域的面积为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熟记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注意概率值的求解转化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254668"/>
              </p:ext>
            </p:extLst>
          </p:nvPr>
        </p:nvGraphicFramePr>
        <p:xfrm>
          <a:off x="458424" y="4919310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7" name="文档" r:id="rId7" imgW="4510061" imgH="395677" progId="Word.Document.12">
                  <p:embed/>
                </p:oleObj>
              </mc:Choice>
              <mc:Fallback>
                <p:oleObj name="文档" r:id="rId7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4919310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54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504443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32,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≤3);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≤5)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68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10590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由正态分布图象的对称性可得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≤3)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)≈0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≤5)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702211"/>
              </p:ext>
            </p:extLst>
          </p:nvPr>
        </p:nvGraphicFramePr>
        <p:xfrm>
          <a:off x="463550" y="3390309"/>
          <a:ext cx="11264900" cy="286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4" name="文档" r:id="rId4" imgW="4558286" imgH="1189999" progId="Word.Document.12">
                  <p:embed/>
                </p:oleObj>
              </mc:Choice>
              <mc:Fallback>
                <p:oleObj name="文档" r:id="rId4" imgW="4558286" imgH="1189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3550" y="3390309"/>
                        <a:ext cx="11264900" cy="2865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97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正态分布的实际应用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" name="矩形 2"/>
          <p:cNvSpPr>
            <a:spLocks noChangeAspect="1"/>
          </p:cNvSpPr>
          <p:nvPr/>
        </p:nvSpPr>
        <p:spPr>
          <a:xfrm>
            <a:off x="381000" y="1918085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在某次数学考试中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考生的成绩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服从正态分布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(90,100)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求考试成绩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落在区间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(70,110)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若这次考试共有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2 000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名考生参加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试估计考试成绩落在区间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(80,100)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内的考生人数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044358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(90,100),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2×10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2×10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由于正态变量在区间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内取值的概率约是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故考试成绩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落在区间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[70,110]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内的概率约是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由于正态变量在区间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内取值的概率约是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故考试成绩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落在区间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[80,100]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内的概率约是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这次考试共有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名考生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则估计考试成绩落在区间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[80,100]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内的考生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7≈1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555503"/>
              </p:ext>
            </p:extLst>
          </p:nvPr>
        </p:nvGraphicFramePr>
        <p:xfrm>
          <a:off x="458424" y="1603416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5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603416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349600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正态曲线的应用及求解策略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解答此类题目的关键在于首先将待求问题的正态变量的取值范围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向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],[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],[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这三个区间进行转化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然后利用上述区间的概率求出相应的概率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在此过程中依然会用到化归思想及数形结合思想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48216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某年级的一次信息技术测验成绩近似服从正态分布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(70,10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如果规定低于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分为不及格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成绩不及格的学生人数占总人数的比例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成绩在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分的学生人数占总人数的比例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05429"/>
            <a:ext cx="11430000" cy="47459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设学生的测验成绩为随机变量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(70,10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70,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因为成绩在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分的概率为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≤70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10)≈0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682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所以成绩不及格的概率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682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158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即成绩不及格的学生人数约占总人数的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865%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成绩在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分的概率为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[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2×10≤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≤70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2×10)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≤70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pPr>
              <a:lnSpc>
                <a:spcPct val="15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  ×(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954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682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135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即成绩在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分的学生人数约占总人数的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59%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341727"/>
              </p:ext>
            </p:extLst>
          </p:nvPr>
        </p:nvGraphicFramePr>
        <p:xfrm>
          <a:off x="4309399" y="1532920"/>
          <a:ext cx="415608" cy="764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8" name="文档" r:id="rId4" imgW="219248" imgH="396350" progId="Word.Document.12">
                  <p:embed/>
                </p:oleObj>
              </mc:Choice>
              <mc:Fallback>
                <p:oleObj name="文档" r:id="rId4" imgW="219248" imgH="396350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9399" y="1532920"/>
                        <a:ext cx="415608" cy="7648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462657"/>
              </p:ext>
            </p:extLst>
          </p:nvPr>
        </p:nvGraphicFramePr>
        <p:xfrm>
          <a:off x="381000" y="3258978"/>
          <a:ext cx="415608" cy="764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9" name="文档" r:id="rId7" imgW="219248" imgH="396350" progId="Word.Document.12">
                  <p:embed/>
                </p:oleObj>
              </mc:Choice>
              <mc:Fallback>
                <p:oleObj name="文档" r:id="rId7" imgW="219248" imgH="396350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258978"/>
                        <a:ext cx="415608" cy="7648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776498"/>
              </p:ext>
            </p:extLst>
          </p:nvPr>
        </p:nvGraphicFramePr>
        <p:xfrm>
          <a:off x="640174" y="3894431"/>
          <a:ext cx="415608" cy="764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0" name="文档" r:id="rId9" imgW="219248" imgH="396350" progId="Word.Document.12">
                  <p:embed/>
                </p:oleObj>
              </mc:Choice>
              <mc:Fallback>
                <p:oleObj name="文档" r:id="rId9" imgW="219248" imgH="396350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174" y="3894431"/>
                        <a:ext cx="415608" cy="7648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" y="151371"/>
            <a:ext cx="11336478" cy="433754"/>
            <a:chOff x="3048000" y="2286000"/>
            <a:chExt cx="4813646" cy="457200"/>
          </a:xfrm>
        </p:grpSpPr>
        <p:sp>
          <p:nvSpPr>
            <p:cNvPr id="6" name="矩形 5"/>
            <p:cNvSpPr/>
            <p:nvPr/>
          </p:nvSpPr>
          <p:spPr>
            <a:xfrm>
              <a:off x="3048000" y="2286000"/>
              <a:ext cx="209403" cy="457200"/>
            </a:xfrm>
            <a:prstGeom prst="rect">
              <a:avLst/>
            </a:prstGeom>
            <a:solidFill>
              <a:srgbClr val="7487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smtClean="0">
                  <a:solidFill>
                    <a:schemeClr val="bg1"/>
                  </a:solidFill>
                </a:rPr>
                <a:t> </a:t>
              </a:r>
              <a:endParaRPr lang="zh-CN" altLang="en-US" sz="28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345506" y="2286000"/>
              <a:ext cx="4516140" cy="457200"/>
            </a:xfrm>
            <a:prstGeom prst="rect">
              <a:avLst/>
            </a:prstGeom>
            <a:gradFill flip="none" rotWithShape="1">
              <a:gsLst>
                <a:gs pos="0">
                  <a:srgbClr val="DCDCDC">
                    <a:shade val="30000"/>
                    <a:satMod val="115000"/>
                  </a:srgbClr>
                </a:gs>
                <a:gs pos="51000">
                  <a:srgbClr val="DCDCDC">
                    <a:shade val="67500"/>
                    <a:satMod val="115000"/>
                  </a:srgbClr>
                </a:gs>
                <a:gs pos="73000">
                  <a:srgbClr val="DCDCDC">
                    <a:shade val="100000"/>
                    <a:satMod val="115000"/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 smtClean="0">
                  <a:solidFill>
                    <a:schemeClr val="bg1"/>
                  </a:solidFill>
                </a:rPr>
                <a:t>数学建模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10659"/>
            <a:ext cx="11430000" cy="57304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正态分布与统计知识的综合</a:t>
            </a:r>
            <a:r>
              <a:rPr lang="zh-CN" altLang="zh-CN" sz="280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应用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VMX3TRAX08.eps" descr="id:2147518513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28240" y="1633473"/>
            <a:ext cx="5720605" cy="3235518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80999" y="1283701"/>
            <a:ext cx="5978703" cy="4953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7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7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某市对在今年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月份的高三期末考试中的数学成绩数据统计显示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全市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10 000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名学生的成绩近似服从正态分布</a:t>
            </a:r>
            <a:r>
              <a:rPr lang="en-US" altLang="zh-CN" sz="27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(120,5</a:t>
            </a:r>
            <a:r>
              <a:rPr lang="en-US" altLang="zh-CN" sz="27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现某校随机抽取了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名学生的数学成绩分析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结果这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名学生的成绩全部介于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分到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145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分之间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现将结果按如下方式分为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第一组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[85,95),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第二组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[95,105),</a:t>
            </a:r>
            <a:r>
              <a:rPr lang="en-US" altLang="zh-CN" sz="27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第六组</a:t>
            </a: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[135,145</a:t>
            </a:r>
            <a:r>
              <a:rPr lang="en-US" altLang="zh-CN" sz="27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zh-CN" altLang="en-US" sz="27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r>
              <a:rPr lang="zh-CN" altLang="en-US" sz="2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到的频率分布直方图如图所示</a:t>
            </a:r>
            <a:r>
              <a:rPr lang="en-US" altLang="zh-CN" sz="27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7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75738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试由样本频率分布直方图估计该校学生数学成绩的平均分数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同一组数据用该组区间的中点值作代表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若从这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名学生中成绩在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含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以上的随机抽取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人在全市前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名的人数记为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的分布列和均值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)≈0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682 7,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)≈0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954 5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)≈0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997 3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445474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由频率分布直方图可知数学成绩落在区间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[125,135)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内的频率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01×10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024×10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03×10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016×10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008×10)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所以估计该校全体学生的数学成绩的平均分数为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651436"/>
              </p:ext>
            </p:extLst>
          </p:nvPr>
        </p:nvGraphicFramePr>
        <p:xfrm>
          <a:off x="458424" y="3624308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0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624308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613501"/>
            <a:ext cx="7007046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即全市前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名的数学成绩全部在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分以上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69362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根据频率分布直方图可知这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人中成绩在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分以上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包括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分以上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包括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50×(0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的可能取值为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0,1,2,3,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服从超几何分布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60452"/>
              </p:ext>
            </p:extLst>
          </p:nvPr>
        </p:nvGraphicFramePr>
        <p:xfrm>
          <a:off x="457200" y="2081213"/>
          <a:ext cx="11272838" cy="122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6" name="文档" r:id="rId4" imgW="4510061" imgH="491990" progId="Word.Document.12">
                  <p:embed/>
                </p:oleObj>
              </mc:Choice>
              <mc:Fallback>
                <p:oleObj name="文档" r:id="rId4" imgW="4510061" imgH="4919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" y="2081213"/>
                        <a:ext cx="11272838" cy="1227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068778"/>
            <a:ext cx="3007555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922068"/>
              </p:ext>
            </p:extLst>
          </p:nvPr>
        </p:nvGraphicFramePr>
        <p:xfrm>
          <a:off x="2658269" y="3511726"/>
          <a:ext cx="6870700" cy="263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7" name="文档" r:id="rId7" imgW="2764993" imgH="1051544" progId="Word.Document.12">
                  <p:embed/>
                </p:oleObj>
              </mc:Choice>
              <mc:Fallback>
                <p:oleObj name="文档" r:id="rId7" imgW="2764993" imgH="1051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58269" y="3511726"/>
                        <a:ext cx="6870700" cy="2633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025226"/>
              </p:ext>
            </p:extLst>
          </p:nvPr>
        </p:nvGraphicFramePr>
        <p:xfrm>
          <a:off x="458424" y="4828558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8" name="文档" r:id="rId10" imgW="4510061" imgH="395677" progId="Word.Document.12">
                  <p:embed/>
                </p:oleObj>
              </mc:Choice>
              <mc:Fallback>
                <p:oleObj name="文档" r:id="rId10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8424" y="4828558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553593"/>
              </p:ext>
            </p:extLst>
          </p:nvPr>
        </p:nvGraphicFramePr>
        <p:xfrm>
          <a:off x="458424" y="2363704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8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363704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04331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求解此类问题的关键是先对题设信息适当分析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再借助正态分布曲线的对称性解题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求解时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为增加解题的直观性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可画草图辅助求解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829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19684"/>
            <a:ext cx="594788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全民健身倡导全民做到每天参加一次以上的体育健身活动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旨在全面提高国民体质和健康水平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某市的体育部门对某小区的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4 000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人进行了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运动参与度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统计评分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得到的频率分布直方图如图所示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VMX3TRAX09.eps" descr="id:2147518535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05437" y="427328"/>
            <a:ext cx="5376279" cy="2947620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81000" y="3416044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4 000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运动参与度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的平均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得分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同一组数据用该组区间的中点值作代表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由频率分布直方图可认为这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4 000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运动参与度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的得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从正态分布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分别取平均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得分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方差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4 000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运动参与度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得分超过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分的估计有多少人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611900"/>
              </p:ext>
            </p:extLst>
          </p:nvPr>
        </p:nvGraphicFramePr>
        <p:xfrm>
          <a:off x="6780943" y="3436638"/>
          <a:ext cx="800531" cy="533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8" name="文档" r:id="rId5" imgW="299894" imgH="193601" progId="Word.Document.12">
                  <p:embed/>
                </p:oleObj>
              </mc:Choice>
              <mc:Fallback>
                <p:oleObj name="文档" r:id="rId5" imgW="299894" imgH="19360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0943" y="3436638"/>
                        <a:ext cx="800531" cy="53300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051145"/>
              </p:ext>
            </p:extLst>
          </p:nvPr>
        </p:nvGraphicFramePr>
        <p:xfrm>
          <a:off x="5815173" y="5121600"/>
          <a:ext cx="800531" cy="533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9" name="文档" r:id="rId8" imgW="299894" imgH="193601" progId="Word.Document.12">
                  <p:embed/>
                </p:oleObj>
              </mc:Choice>
              <mc:Fallback>
                <p:oleObj name="文档" r:id="rId8" imgW="299894" imgH="19360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173" y="5121600"/>
                        <a:ext cx="800531" cy="53300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84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432172"/>
            <a:ext cx="11430000" cy="344998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如果用这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4 000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人得分的情况来估计全市所有人的得分情况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现从全市随机抽取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运动参与度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的得分不超过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分的人数为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≤3)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精确到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001)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)≈0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682 7,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)≈0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954 5;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841 35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778792"/>
              </p:ext>
            </p:extLst>
          </p:nvPr>
        </p:nvGraphicFramePr>
        <p:xfrm>
          <a:off x="458424" y="3126341"/>
          <a:ext cx="11275153" cy="57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5" name="文档" r:id="rId4" imgW="4510061" imgH="228125" progId="Word.Document.12">
                  <p:embed/>
                </p:oleObj>
              </mc:Choice>
              <mc:Fallback>
                <p:oleObj name="文档" r:id="rId4" imgW="4510061" imgH="2281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126341"/>
                        <a:ext cx="11275153" cy="570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404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453719"/>
            <a:ext cx="2589170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549701420"/>
              </p:ext>
            </p:extLst>
          </p:nvPr>
        </p:nvGraphicFramePr>
        <p:xfrm>
          <a:off x="381000" y="2106205"/>
          <a:ext cx="11429999" cy="981456"/>
        </p:xfrm>
        <a:graphic>
          <a:graphicData uri="http://schemas.openxmlformats.org/drawingml/2006/table">
            <a:tbl>
              <a:tblPr firstRow="1" firstCol="1" bandRow="1"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中点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频率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639003"/>
              </p:ext>
            </p:extLst>
          </p:nvPr>
        </p:nvGraphicFramePr>
        <p:xfrm>
          <a:off x="458424" y="3244136"/>
          <a:ext cx="11275153" cy="1137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4" name="文档" r:id="rId4" imgW="4510061" imgH="454974" progId="Word.Document.12">
                  <p:embed/>
                </p:oleObj>
              </mc:Choice>
              <mc:Fallback>
                <p:oleObj name="文档" r:id="rId4" imgW="4510061" imgH="4549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244136"/>
                        <a:ext cx="11275153" cy="1137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911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102855"/>
              </p:ext>
            </p:extLst>
          </p:nvPr>
        </p:nvGraphicFramePr>
        <p:xfrm>
          <a:off x="458424" y="370770"/>
          <a:ext cx="11275153" cy="6123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1" name="文档" r:id="rId4" imgW="4510061" imgH="2452075" progId="Word.Document.12">
                  <p:embed/>
                </p:oleObj>
              </mc:Choice>
              <mc:Fallback>
                <p:oleObj name="文档" r:id="rId4" imgW="4510061" imgH="24520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70770"/>
                        <a:ext cx="11275153" cy="6123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545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523501"/>
              </p:ext>
            </p:extLst>
          </p:nvPr>
        </p:nvGraphicFramePr>
        <p:xfrm>
          <a:off x="458424" y="1500866"/>
          <a:ext cx="11275153" cy="1562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8" name="文档" r:id="rId4" imgW="4510061" imgH="624911" progId="Word.Document.12">
                  <p:embed/>
                </p:oleObj>
              </mc:Choice>
              <mc:Fallback>
                <p:oleObj name="文档" r:id="rId4" imgW="4510061" imgH="6249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500866"/>
                        <a:ext cx="11275153" cy="1562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105585"/>
              </p:ext>
            </p:extLst>
          </p:nvPr>
        </p:nvGraphicFramePr>
        <p:xfrm>
          <a:off x="458424" y="3063144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9" name="文档" r:id="rId7" imgW="4510061" imgH="396786" progId="Word.Document.12">
                  <p:embed/>
                </p:oleObj>
              </mc:Choice>
              <mc:Fallback>
                <p:oleObj name="文档" r:id="rId7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3063144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81000" y="4055109"/>
            <a:ext cx="135165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62502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服从正态分布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(3,1),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4)≈0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682 7,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4)≈(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158 8	B.0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158 7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158 6	D.0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158 5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(3,1),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335427"/>
              </p:ext>
            </p:extLst>
          </p:nvPr>
        </p:nvGraphicFramePr>
        <p:xfrm>
          <a:off x="458424" y="3818019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7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818019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542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572161"/>
              </p:ext>
            </p:extLst>
          </p:nvPr>
        </p:nvGraphicFramePr>
        <p:xfrm>
          <a:off x="458424" y="698347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6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698347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68754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A.95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45%	B.99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73%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56%	D.0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27%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820593"/>
              </p:ext>
            </p:extLst>
          </p:nvPr>
        </p:nvGraphicFramePr>
        <p:xfrm>
          <a:off x="458424" y="2777045"/>
          <a:ext cx="11275153" cy="1557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7" name="文档" r:id="rId7" imgW="4510061" imgH="623164" progId="Word.Document.12">
                  <p:embed/>
                </p:oleObj>
              </mc:Choice>
              <mc:Fallback>
                <p:oleObj name="文档" r:id="rId7" imgW="4510061" imgH="6231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777045"/>
                        <a:ext cx="11275153" cy="1557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539691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97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1751362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≤11)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正态曲线以直线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为对称轴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≤11)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≤11)]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074297"/>
              </p:ext>
            </p:extLst>
          </p:nvPr>
        </p:nvGraphicFramePr>
        <p:xfrm>
          <a:off x="5754770" y="2822273"/>
          <a:ext cx="415608" cy="764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5" name="文档" r:id="rId4" imgW="219248" imgH="396350" progId="Word.Document.12">
                  <p:embed/>
                </p:oleObj>
              </mc:Choice>
              <mc:Fallback>
                <p:oleObj name="文档" r:id="rId4" imgW="219248" imgH="396350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770" y="2822273"/>
                        <a:ext cx="415608" cy="7648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596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48929"/>
            <a:ext cx="11430000" cy="53041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设在一次数学考试中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某班学生的分数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(110,20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且试卷满分是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这个班的学生共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求这个班的学生在这次数学考试中及格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分以上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的人数和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分以上的人数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(110,20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110,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(110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20)≈0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682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130)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682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7)≈0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158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90)≈0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682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158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841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故及格的人数为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841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4≈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130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分以上的人数为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158</a:t>
            </a:r>
            <a:r>
              <a:rPr lang="en-US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7≈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353371"/>
              </p:ext>
            </p:extLst>
          </p:nvPr>
        </p:nvGraphicFramePr>
        <p:xfrm>
          <a:off x="2607338" y="3331823"/>
          <a:ext cx="773232" cy="773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9" name="文档" r:id="rId4" imgW="399226" imgH="398969" progId="Word.Document.12">
                  <p:embed/>
                </p:oleObj>
              </mc:Choice>
              <mc:Fallback>
                <p:oleObj name="文档" r:id="rId4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7338" y="3331823"/>
                        <a:ext cx="773232" cy="773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3167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24485" y="2222090"/>
            <a:ext cx="6648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182</TotalTime>
  <Words>2926</Words>
  <Application>Microsoft Office PowerPoint</Application>
  <PresentationFormat>宽屏</PresentationFormat>
  <Paragraphs>189</Paragraphs>
  <Slides>44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5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Windows User</cp:lastModifiedBy>
  <cp:revision>52</cp:revision>
  <dcterms:created xsi:type="dcterms:W3CDTF">2021-08-30T08:30:26Z</dcterms:created>
  <dcterms:modified xsi:type="dcterms:W3CDTF">2025-08-20T01:06:43Z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