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677" r:id="rId2"/>
    <p:sldId id="488" r:id="rId3"/>
    <p:sldId id="494" r:id="rId4"/>
    <p:sldId id="392" r:id="rId5"/>
    <p:sldId id="686" r:id="rId6"/>
    <p:sldId id="756" r:id="rId7"/>
    <p:sldId id="757" r:id="rId8"/>
    <p:sldId id="758" r:id="rId9"/>
    <p:sldId id="759" r:id="rId10"/>
    <p:sldId id="407" r:id="rId11"/>
    <p:sldId id="394" r:id="rId12"/>
    <p:sldId id="760" r:id="rId13"/>
    <p:sldId id="699" r:id="rId14"/>
    <p:sldId id="700" r:id="rId15"/>
    <p:sldId id="701" r:id="rId16"/>
    <p:sldId id="761" r:id="rId17"/>
    <p:sldId id="402" r:id="rId18"/>
    <p:sldId id="762" r:id="rId19"/>
    <p:sldId id="720" r:id="rId20"/>
    <p:sldId id="721" r:id="rId21"/>
    <p:sldId id="726" r:id="rId22"/>
    <p:sldId id="741" r:id="rId23"/>
    <p:sldId id="738" r:id="rId24"/>
    <p:sldId id="751" r:id="rId25"/>
    <p:sldId id="752" r:id="rId26"/>
    <p:sldId id="763" r:id="rId27"/>
    <p:sldId id="398" r:id="rId28"/>
    <p:sldId id="395" r:id="rId29"/>
    <p:sldId id="769" r:id="rId30"/>
    <p:sldId id="766" r:id="rId31"/>
    <p:sldId id="767" r:id="rId32"/>
    <p:sldId id="768" r:id="rId33"/>
    <p:sldId id="490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2.xml"/><Relationship Id="rId5" Type="http://schemas.openxmlformats.org/officeDocument/2006/relationships/slide" Target="../slides/slide21.xml"/><Relationship Id="rId4" Type="http://schemas.openxmlformats.org/officeDocument/2006/relationships/slide" Target="../slides/slide1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5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__6.docx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5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7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9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0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2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7.1.2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全概率公式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第七章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2232576"/>
            <a:ext cx="11430000" cy="17205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理解并掌握全概率公式及贝叶斯公式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会用全概率公式及贝叶斯公式解决一些实际问题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通过本节课学习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提升数学抽象、数学运算、数学建模等核心素养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42933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全概率公式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一个盒子里装有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只好的晶体管、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只坏的晶体管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每次随机摸出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摸出的晶体管不放回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第一次摸到好的晶体管的概率是多少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第二次摸到好的晶体管的概率又是多少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它们有怎样的关系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422162"/>
              </p:ext>
            </p:extLst>
          </p:nvPr>
        </p:nvGraphicFramePr>
        <p:xfrm>
          <a:off x="458424" y="555532"/>
          <a:ext cx="11275153" cy="5240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文档" r:id="rId4" imgW="4510061" imgH="2096259" progId="Word.Document.12">
                  <p:embed/>
                </p:oleObj>
              </mc:Choice>
              <mc:Fallback>
                <p:oleObj name="文档" r:id="rId4" imgW="4510061" imgH="20962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55532"/>
                        <a:ext cx="11275153" cy="5240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426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68721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是一组两两互斥的事件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cs typeface="宋体" panose="02010600030101010101" pitchFamily="2" charset="-122"/>
              </a:rPr>
              <a:t>∪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zh-CN" sz="2800">
                <a:solidFill>
                  <a:srgbClr val="000000"/>
                </a:solidFill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i=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1,2,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则对任意的事件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endParaRPr lang="zh-CN" altLang="en-US" sz="280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478353"/>
              </p:ext>
            </p:extLst>
          </p:nvPr>
        </p:nvGraphicFramePr>
        <p:xfrm>
          <a:off x="458424" y="1766367"/>
          <a:ext cx="11275153" cy="148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文档" r:id="rId4" imgW="4510061" imgH="593335" progId="Word.Document.12">
                  <p:embed/>
                </p:oleObj>
              </mc:Choice>
              <mc:Fallback>
                <p:oleObj name="文档" r:id="rId4" imgW="4510061" imgH="5933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66367"/>
                        <a:ext cx="11275153" cy="1483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87537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我们称此公式为全概率公式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是一组两两互斥的事件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则对任意的事件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39210"/>
              </p:ext>
            </p:extLst>
          </p:nvPr>
        </p:nvGraphicFramePr>
        <p:xfrm>
          <a:off x="458424" y="4647722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4647722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269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347965"/>
            <a:ext cx="11430000" cy="61937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某乡镇有甲、乙两家超市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一周内老王要去超市购物两次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第一次购物时随机地选择一家超市购物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若第一次去甲超市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则第二次去甲超市的概率为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若第一次去乙超市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则第二次去甲超市的概率为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老王第二次去甲超市购物的概率为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第一次去甲超市购物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第一次去乙超市购物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第二次去甲超市购物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根据题意得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由全概率公式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老王第二次去甲超市购物的概率为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47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67201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全概率公式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只能是一个单一的事件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在贝叶斯公式中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是试验之前就已知的概率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称为先验概率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称为后验概率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084563"/>
              </p:ext>
            </p:extLst>
          </p:nvPr>
        </p:nvGraphicFramePr>
        <p:xfrm>
          <a:off x="3348081" y="2629507"/>
          <a:ext cx="935611" cy="935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文档" r:id="rId4" imgW="399226" imgH="398969" progId="Word.Document.12">
                  <p:embed/>
                </p:oleObj>
              </mc:Choice>
              <mc:Fallback>
                <p:oleObj name="文档" r:id="rId4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81" y="2629507"/>
                        <a:ext cx="935611" cy="9356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0975109" y="3425415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53590" y="4556834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01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全概率公式的应用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79211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有编号为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Ⅲ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的三个口袋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号袋内装有两个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号球与一个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Ⅱ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号袋内装有两个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号球与一个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Ⅲ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号袋内装有三个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号球与两个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现在先从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号袋内随机地摸出一个球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放入与球上号数相同的口袋中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第二次从放入球的口袋中随机摸出一个球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计算第二次摸到几号球的概率最大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0560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分别表示第一、二次摸到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号球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两两互斥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795255"/>
              </p:ext>
            </p:extLst>
          </p:nvPr>
        </p:nvGraphicFramePr>
        <p:xfrm>
          <a:off x="458424" y="1540737"/>
          <a:ext cx="11275153" cy="452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文档" r:id="rId4" imgW="4510061" imgH="1809474" progId="Word.Document.12">
                  <p:embed/>
                </p:oleObj>
              </mc:Choice>
              <mc:Fallback>
                <p:oleObj name="文档" r:id="rId4" imgW="4510061" imgH="18094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540737"/>
                        <a:ext cx="11275153" cy="452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413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432559"/>
            <a:ext cx="2259458" cy="41206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81000" y="844624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在上题中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若第二次取到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问它取自哪一个口袋的概率最大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467708"/>
              </p:ext>
            </p:extLst>
          </p:nvPr>
        </p:nvGraphicFramePr>
        <p:xfrm>
          <a:off x="458424" y="1690986"/>
          <a:ext cx="11275153" cy="4264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文档" r:id="rId5" imgW="4510061" imgH="1705713" progId="Word.Document.12">
                  <p:embed/>
                </p:oleObj>
              </mc:Choice>
              <mc:Fallback>
                <p:oleObj name="文档" r:id="rId5" imgW="4510061" imgH="17057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1690986"/>
                        <a:ext cx="11275153" cy="4264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505280"/>
              </p:ext>
            </p:extLst>
          </p:nvPr>
        </p:nvGraphicFramePr>
        <p:xfrm>
          <a:off x="458424" y="1708938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08938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203086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全概率公式为复杂事件的概率计算提供了一条有效途径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是概率论中一个有效的分析工具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其重要意义在于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对于一个复杂的事件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若无法直接求出它的概率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则可以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化整为零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通过选择样本空间的划分将复杂事件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分解为若干个简单事件来进行处理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从而使分析问题的思路变得清晰条理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计算化繁就简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化难为易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6697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已知口袋中有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张卡片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张卡片是中奖卡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三个人依次从口袋中摸出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则中奖概率是否与摸卡的次序有关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825562"/>
              </p:ext>
            </p:extLst>
          </p:nvPr>
        </p:nvGraphicFramePr>
        <p:xfrm>
          <a:off x="458424" y="1695917"/>
          <a:ext cx="11275153" cy="468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文档" r:id="rId4" imgW="4510061" imgH="1874374" progId="Word.Document.12">
                  <p:embed/>
                </p:oleObj>
              </mc:Choice>
              <mc:Fallback>
                <p:oleObj name="文档" r:id="rId4" imgW="4510061" imgH="18743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695917"/>
                        <a:ext cx="11275153" cy="4685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197995"/>
              </p:ext>
            </p:extLst>
          </p:nvPr>
        </p:nvGraphicFramePr>
        <p:xfrm>
          <a:off x="458424" y="1817100"/>
          <a:ext cx="11275153" cy="327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文档" r:id="rId4" imgW="4510061" imgH="1311089" progId="Word.Document.12">
                  <p:embed/>
                </p:oleObj>
              </mc:Choice>
              <mc:Fallback>
                <p:oleObj name="文档" r:id="rId4" imgW="4510061" imgH="13110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817100"/>
                        <a:ext cx="11275153" cy="3272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885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贝叶斯公式的应用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68177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经过普查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了解到人群中患有某种疾病的概率为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某病人因患有类似病症前去就医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医生让他做某项化验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经临床多次试验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患有该病的患者化验结果阳性率为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95%,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而非该病患者的化验结果阳性率仅为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现该病人化验结果呈阳性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求该病人患有此种疾病的概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精确到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0.001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73219"/>
              </p:ext>
            </p:extLst>
          </p:nvPr>
        </p:nvGraphicFramePr>
        <p:xfrm>
          <a:off x="458424" y="939979"/>
          <a:ext cx="11275153" cy="4821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文档" r:id="rId4" imgW="4510061" imgH="1928429" progId="Word.Document.12">
                  <p:embed/>
                </p:oleObj>
              </mc:Choice>
              <mc:Fallback>
                <p:oleObj name="文档" r:id="rId4" imgW="4510061" imgH="19284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939979"/>
                        <a:ext cx="11275153" cy="4821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941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136843"/>
              </p:ext>
            </p:extLst>
          </p:nvPr>
        </p:nvGraphicFramePr>
        <p:xfrm>
          <a:off x="458424" y="1927487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927487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42163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贝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叶斯公式用来描述两个条件概率之间的关系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要先找出先验概率与条件概率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后计算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8316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仓库中有不同工厂生产的灯管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其中有甲厂生产的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次品率为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2%;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乙厂生产的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次品率为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3%;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丙厂生产的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次品率为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4%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从中随机抽取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发现为次品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则该次品是甲厂产品的概率为多少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14675"/>
            <a:ext cx="11430000" cy="17205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分别表示抽得灯管来自甲、乙、丙厂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表示抽得灯管为次品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两两互斥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根据题意得</a:t>
            </a:r>
            <a:endParaRPr lang="zh-CN" altLang="en-US" sz="280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403549"/>
              </p:ext>
            </p:extLst>
          </p:nvPr>
        </p:nvGraphicFramePr>
        <p:xfrm>
          <a:off x="458424" y="2358135"/>
          <a:ext cx="11275153" cy="3114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文档" r:id="rId4" imgW="4510061" imgH="1245968" progId="Word.Document.12">
                  <p:embed/>
                </p:oleObj>
              </mc:Choice>
              <mc:Fallback>
                <p:oleObj name="文档" r:id="rId4" imgW="4510061" imgH="12459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358135"/>
                        <a:ext cx="11275153" cy="3114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smtClean="0">
                  <a:solidFill>
                    <a:schemeClr val="bg1"/>
                  </a:solidFill>
                </a:rPr>
                <a:t>规范解答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075181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两个公式的综合应用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某种仪器由三个部件组装而成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假设各部件的质量互不影响且它们的优质品率分别为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如果三个部件都是优质品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那么组装后的仪器一定合格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如果有一个部件不是优质品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那么组装后的仪器不合格率为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如果有两个部件不是优质品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那么仪器的不合格率为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如果三个部件都不是优质品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那么仪器的不合格率为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求仪器的不合格率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如果已发现一台仪器不合格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则它有几个部件不是优质品的概率最大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74555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规</a:t>
            </a:r>
            <a:r>
              <a:rPr lang="zh-CN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范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展示</a:t>
            </a:r>
            <a:r>
              <a:rPr lang="en-US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仪器不合格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仪器上有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个部件不是优质品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0,1,2,3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组成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且两两互斥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根据题意得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504,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398,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006,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116233"/>
              </p:ext>
            </p:extLst>
          </p:nvPr>
        </p:nvGraphicFramePr>
        <p:xfrm>
          <a:off x="458424" y="468584"/>
          <a:ext cx="11275153" cy="5661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文档" r:id="rId4" imgW="4510061" imgH="2264449" progId="Word.Document.12">
                  <p:embed/>
                </p:oleObj>
              </mc:Choice>
              <mc:Fallback>
                <p:oleObj name="文档" r:id="rId4" imgW="4510061" imgH="22644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68584"/>
                        <a:ext cx="11275153" cy="5661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650417"/>
              </p:ext>
            </p:extLst>
          </p:nvPr>
        </p:nvGraphicFramePr>
        <p:xfrm>
          <a:off x="458424" y="2137673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137673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80701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正确找出由两两互斥的事件组成的样本空间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是解决此类问题的关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32908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、乙、丙三个地区爆发了某种流行病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设三个地区感染此病的比例分别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        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现从这三个地区任抽取一个人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假设每个人来自三个地区的可能性相同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求此人感染此病的概率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若此人感染此病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求此人来自乙地区的概率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599082"/>
              </p:ext>
            </p:extLst>
          </p:nvPr>
        </p:nvGraphicFramePr>
        <p:xfrm>
          <a:off x="3048592" y="763074"/>
          <a:ext cx="1562966" cy="89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文档" r:id="rId4" imgW="695518" imgH="397868" progId="Word.Document.12">
                  <p:embed/>
                </p:oleObj>
              </mc:Choice>
              <mc:Fallback>
                <p:oleObj name="文档" r:id="rId4" imgW="695518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592" y="763074"/>
                        <a:ext cx="1562966" cy="897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03516"/>
              </p:ext>
            </p:extLst>
          </p:nvPr>
        </p:nvGraphicFramePr>
        <p:xfrm>
          <a:off x="458424" y="3052408"/>
          <a:ext cx="11275153" cy="3123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文档" r:id="rId7" imgW="4510061" imgH="1249463" progId="Word.Document.12">
                  <p:embed/>
                </p:oleObj>
              </mc:Choice>
              <mc:Fallback>
                <p:oleObj name="文档" r:id="rId7" imgW="4510061" imgH="12494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052408"/>
                        <a:ext cx="11275153" cy="3123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248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6097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设某医院仓库中有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盒同样规格的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已知其中有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盒依次是甲厂、乙厂、丙厂生产的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且甲、乙、丙三厂生产该种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光片的次品率依次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现从这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盒中任取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再从这盒中任取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则取得的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光片是次品的概率为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649635"/>
              </p:ext>
            </p:extLst>
          </p:nvPr>
        </p:nvGraphicFramePr>
        <p:xfrm>
          <a:off x="1741144" y="2166542"/>
          <a:ext cx="2247428" cy="82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文档" r:id="rId4" imgW="1095008" imgH="401471" progId="Word.Document.12">
                  <p:embed/>
                </p:oleObj>
              </mc:Choice>
              <mc:Fallback>
                <p:oleObj name="文档" r:id="rId4" imgW="1095008" imgH="4014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1144" y="2166542"/>
                        <a:ext cx="2247428" cy="825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449354"/>
              </p:ext>
            </p:extLst>
          </p:nvPr>
        </p:nvGraphicFramePr>
        <p:xfrm>
          <a:off x="458424" y="3409338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409338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57754"/>
            <a:ext cx="11430000" cy="11603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分别表示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取得的这盒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光片是由甲厂、乙厂、丙厂生产的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光片为次品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472710"/>
              </p:ext>
            </p:extLst>
          </p:nvPr>
        </p:nvGraphicFramePr>
        <p:xfrm>
          <a:off x="458424" y="1518136"/>
          <a:ext cx="11275153" cy="2974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文档" r:id="rId4" imgW="4510061" imgH="1189999" progId="Word.Document.12">
                  <p:embed/>
                </p:oleObj>
              </mc:Choice>
              <mc:Fallback>
                <p:oleObj name="文档" r:id="rId4" imgW="4510061" imgH="1189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518136"/>
                        <a:ext cx="11275153" cy="2974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493134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4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84587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某学生在做一道有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个选项的单项选择题时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若他不知道问题的正确答案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则随机猜测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现某道题从卷面上看是答对了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试在以下情况下求学生确实知道该题正确答案的概率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该学生知道正确答案和随机猜测的概率都是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该学生知道正确答案的概率是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95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56731"/>
            <a:ext cx="11430000" cy="1774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学生答对了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学生知道正确答案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学生随机猜测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”;“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确实知道正确答案的概率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就是计算在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发生的条件下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发生的概率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516127"/>
              </p:ext>
            </p:extLst>
          </p:nvPr>
        </p:nvGraphicFramePr>
        <p:xfrm>
          <a:off x="8475960" y="656731"/>
          <a:ext cx="800531" cy="53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文档" r:id="rId4" imgW="300127" imgH="193346" progId="Word.Document.12">
                  <p:embed/>
                </p:oleObj>
              </mc:Choice>
              <mc:Fallback>
                <p:oleObj name="文档" r:id="rId4" imgW="300127" imgH="193346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5960" y="656731"/>
                        <a:ext cx="800531" cy="5330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150119"/>
              </p:ext>
            </p:extLst>
          </p:nvPr>
        </p:nvGraphicFramePr>
        <p:xfrm>
          <a:off x="458424" y="2431512"/>
          <a:ext cx="11275153" cy="368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name="文档" r:id="rId7" imgW="4510061" imgH="1473455" progId="Word.Document.12">
                  <p:embed/>
                </p:oleObj>
              </mc:Choice>
              <mc:Fallback>
                <p:oleObj name="文档" r:id="rId7" imgW="4510061" imgH="14734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431512"/>
                        <a:ext cx="11275153" cy="3683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91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2628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关于两类投保人的问题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如果易出事故的人在一年内出事故的概率为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不易出事故的人在一年内出事故的概率为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且第一类人占总投保人的比例是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那么随机抽取一名投保人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他会在一年内出事故的概率是多少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假设他在一年内出了事故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则他属于易出事故的人的概率为多少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634525"/>
              </p:ext>
            </p:extLst>
          </p:nvPr>
        </p:nvGraphicFramePr>
        <p:xfrm>
          <a:off x="458424" y="2998956"/>
          <a:ext cx="11275153" cy="269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文档" r:id="rId4" imgW="4510061" imgH="1077778" progId="Word.Document.12">
                  <p:embed/>
                </p:oleObj>
              </mc:Choice>
              <mc:Fallback>
                <p:oleObj name="文档" r:id="rId4" imgW="4510061" imgH="10777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998956"/>
                        <a:ext cx="11275153" cy="2694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12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103</TotalTime>
  <Words>2295</Words>
  <Application>Microsoft Office PowerPoint</Application>
  <PresentationFormat>宽屏</PresentationFormat>
  <Paragraphs>81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3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45</cp:revision>
  <dcterms:created xsi:type="dcterms:W3CDTF">2021-08-30T08:30:26Z</dcterms:created>
  <dcterms:modified xsi:type="dcterms:W3CDTF">2025-08-20T01:06:29Z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