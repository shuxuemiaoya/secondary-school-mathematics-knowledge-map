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677" r:id="rId2"/>
    <p:sldId id="488" r:id="rId3"/>
    <p:sldId id="494" r:id="rId4"/>
    <p:sldId id="392" r:id="rId5"/>
    <p:sldId id="686" r:id="rId6"/>
    <p:sldId id="775" r:id="rId7"/>
    <p:sldId id="757" r:id="rId8"/>
    <p:sldId id="758" r:id="rId9"/>
    <p:sldId id="759" r:id="rId10"/>
    <p:sldId id="760" r:id="rId11"/>
    <p:sldId id="762" r:id="rId12"/>
    <p:sldId id="407" r:id="rId13"/>
    <p:sldId id="394" r:id="rId14"/>
    <p:sldId id="699" r:id="rId15"/>
    <p:sldId id="776" r:id="rId16"/>
    <p:sldId id="777" r:id="rId17"/>
    <p:sldId id="402" r:id="rId18"/>
    <p:sldId id="726" r:id="rId19"/>
    <p:sldId id="753" r:id="rId20"/>
    <p:sldId id="778" r:id="rId21"/>
    <p:sldId id="498" r:id="rId22"/>
    <p:sldId id="730" r:id="rId23"/>
    <p:sldId id="733" r:id="rId24"/>
    <p:sldId id="743" r:id="rId25"/>
    <p:sldId id="741" r:id="rId26"/>
    <p:sldId id="738" r:id="rId27"/>
    <p:sldId id="751" r:id="rId28"/>
    <p:sldId id="752" r:id="rId29"/>
    <p:sldId id="767" r:id="rId30"/>
    <p:sldId id="768" r:id="rId31"/>
    <p:sldId id="398" r:id="rId32"/>
    <p:sldId id="395" r:id="rId33"/>
    <p:sldId id="771" r:id="rId34"/>
    <p:sldId id="772" r:id="rId35"/>
    <p:sldId id="773" r:id="rId36"/>
    <p:sldId id="774" r:id="rId37"/>
    <p:sldId id="490"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36" userDrawn="1">
          <p15:clr>
            <a:srgbClr val="A4A3A4"/>
          </p15:clr>
        </p15:guide>
        <p15:guide id="4" orient="horz" pos="777" userDrawn="1">
          <p15:clr>
            <a:srgbClr val="A4A3A4"/>
          </p15:clr>
        </p15:guide>
        <p15:guide id="5" orient="horz" pos="28" userDrawn="1">
          <p15:clr>
            <a:srgbClr val="A4A3A4"/>
          </p15:clr>
        </p15:guide>
        <p15:guide id="6" pos="2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3" d="100"/>
          <a:sy n="93" d="100"/>
        </p:scale>
        <p:origin x="456" y="90"/>
      </p:cViewPr>
      <p:guideLst>
        <p:guide orient="horz" pos="368"/>
        <p:guide pos="211"/>
        <p:guide orient="horz" pos="436"/>
        <p:guide orient="horz" pos="777"/>
        <p:guide orient="horz" pos="28"/>
        <p:guide pos="257"/>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image" Target="../media/image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image" Target="../media/image15.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image" Target="../media/image18.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image" Target="../media/image23.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image" Target="../media/image29.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image" Target="../media/image37.emf"/><Relationship Id="rId5" Type="http://schemas.openxmlformats.org/officeDocument/2006/relationships/image" Target="../media/image41.emf"/><Relationship Id="rId4" Type="http://schemas.openxmlformats.org/officeDocument/2006/relationships/image" Target="../media/image40.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slide" Target="../slides/slide13.xml"/><Relationship Id="rId1" Type="http://schemas.openxmlformats.org/officeDocument/2006/relationships/slideMaster" Target="../slideMasters/slideMaster1.xml"/><Relationship Id="rId5" Type="http://schemas.openxmlformats.org/officeDocument/2006/relationships/slide" Target="../slides/slide25.xml"/><Relationship Id="rId4" Type="http://schemas.openxmlformats.org/officeDocument/2006/relationships/slide" Target="../slides/slide2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780300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886935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
        <p:nvSpPr>
          <p:cNvPr id="9" name="圆角矩形 8">
            <a:hlinkClick r:id="rId4" action="ppaction://hlinksldjump"/>
          </p:cNvPr>
          <p:cNvSpPr/>
          <p:nvPr userDrawn="1"/>
        </p:nvSpPr>
        <p:spPr>
          <a:xfrm>
            <a:off x="993569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探究三</a:t>
            </a:r>
            <a:endParaRPr lang="zh-CN" altLang="en-US" sz="1400" dirty="0">
              <a:ln>
                <a:solidFill>
                  <a:schemeClr val="bg1"/>
                </a:solidFill>
              </a:ln>
              <a:solidFill>
                <a:schemeClr val="bg1"/>
              </a:solidFill>
            </a:endParaRPr>
          </a:p>
        </p:txBody>
      </p:sp>
      <p:sp>
        <p:nvSpPr>
          <p:cNvPr id="6" name="圆角矩形 5">
            <a:hlinkClick r:id="rId5" action="ppaction://hlinksldjump"/>
          </p:cNvPr>
          <p:cNvSpPr/>
          <p:nvPr userDrawn="1"/>
        </p:nvSpPr>
        <p:spPr>
          <a:xfrm>
            <a:off x="1100203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smtClean="0">
                <a:ln>
                  <a:solidFill>
                    <a:schemeClr val="bg1"/>
                  </a:solidFill>
                </a:ln>
                <a:solidFill>
                  <a:schemeClr val="bg1"/>
                </a:solidFill>
              </a:rPr>
              <a:t>规范解答</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slide" Target="slide4.xml"/><Relationship Id="rId1" Type="http://schemas.openxmlformats.org/officeDocument/2006/relationships/slideLayout" Target="../slideLayouts/slideLayout1.xml"/><Relationship Id="rId4" Type="http://schemas.openxmlformats.org/officeDocument/2006/relationships/slide" Target="slide3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image" Target="../media/image2.emf"/><Relationship Id="rId4" Type="http://schemas.openxmlformats.org/officeDocument/2006/relationships/package" Target="../embeddings/Microsoft_Word___1.docx"/></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3.xml"/><Relationship Id="rId1" Type="http://schemas.openxmlformats.org/officeDocument/2006/relationships/vmlDrawing" Target="../drawings/vmlDrawing2.vml"/><Relationship Id="rId5" Type="http://schemas.openxmlformats.org/officeDocument/2006/relationships/image" Target="../media/image3.emf"/><Relationship Id="rId4" Type="http://schemas.openxmlformats.org/officeDocument/2006/relationships/package" Target="../embeddings/Microsoft_Word___2.docx"/></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vmlDrawing" Target="../drawings/vmlDrawing3.vml"/><Relationship Id="rId5" Type="http://schemas.openxmlformats.org/officeDocument/2006/relationships/image" Target="../media/image4.emf"/><Relationship Id="rId4" Type="http://schemas.openxmlformats.org/officeDocument/2006/relationships/package" Target="../embeddings/Microsoft_Word___3.docx"/></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oleObject" Target="../embeddings/oleObject4.bin"/><Relationship Id="rId7" Type="http://schemas.openxmlformats.org/officeDocument/2006/relationships/package" Target="../embeddings/Microsoft_Word___5.docx"/><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5.bin"/><Relationship Id="rId11" Type="http://schemas.openxmlformats.org/officeDocument/2006/relationships/image" Target="../media/image7.emf"/><Relationship Id="rId5" Type="http://schemas.openxmlformats.org/officeDocument/2006/relationships/image" Target="../media/image5.emf"/><Relationship Id="rId10" Type="http://schemas.openxmlformats.org/officeDocument/2006/relationships/package" Target="../embeddings/Microsoft_Word___6.docx"/><Relationship Id="rId4" Type="http://schemas.openxmlformats.org/officeDocument/2006/relationships/package" Target="../embeddings/Microsoft_Word___4.docx"/><Relationship Id="rId9" Type="http://schemas.openxmlformats.org/officeDocument/2006/relationships/oleObject" Target="../embeddings/oleObject6.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8.emf"/><Relationship Id="rId4" Type="http://schemas.openxmlformats.org/officeDocument/2006/relationships/package" Target="../embeddings/Microsoft_Word___7.docx"/></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oleObject" Target="../embeddings/oleObject8.bin"/><Relationship Id="rId7" Type="http://schemas.openxmlformats.org/officeDocument/2006/relationships/package" Target="../embeddings/Microsoft_Word___9.docx"/><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9.bin"/><Relationship Id="rId11" Type="http://schemas.openxmlformats.org/officeDocument/2006/relationships/image" Target="../media/image12.emf"/><Relationship Id="rId5" Type="http://schemas.openxmlformats.org/officeDocument/2006/relationships/image" Target="../media/image10.emf"/><Relationship Id="rId10" Type="http://schemas.openxmlformats.org/officeDocument/2006/relationships/package" Target="../embeddings/Microsoft_Word___10.docx"/><Relationship Id="rId4" Type="http://schemas.openxmlformats.org/officeDocument/2006/relationships/package" Target="../embeddings/Microsoft_Word___8.docx"/><Relationship Id="rId9" Type="http://schemas.openxmlformats.org/officeDocument/2006/relationships/oleObject" Target="../embeddings/oleObject10.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13.emf"/><Relationship Id="rId4" Type="http://schemas.openxmlformats.org/officeDocument/2006/relationships/package" Target="../embeddings/Microsoft_Word___11.docx"/></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4.emf"/><Relationship Id="rId4" Type="http://schemas.openxmlformats.org/officeDocument/2006/relationships/package" Target="../embeddings/Microsoft_Word___12.docx"/></Relationships>
</file>

<file path=ppt/slides/_rels/slide21.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oleObject" Target="../embeddings/oleObject13.bin"/><Relationship Id="rId7" Type="http://schemas.openxmlformats.org/officeDocument/2006/relationships/package" Target="../embeddings/Microsoft_Word___14.docx"/><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14.bin"/><Relationship Id="rId11" Type="http://schemas.openxmlformats.org/officeDocument/2006/relationships/image" Target="../media/image17.emf"/><Relationship Id="rId5" Type="http://schemas.openxmlformats.org/officeDocument/2006/relationships/image" Target="../media/image15.emf"/><Relationship Id="rId10" Type="http://schemas.openxmlformats.org/officeDocument/2006/relationships/package" Target="../embeddings/Microsoft_Word___15.docx"/><Relationship Id="rId4" Type="http://schemas.openxmlformats.org/officeDocument/2006/relationships/package" Target="../embeddings/Microsoft_Word___13.docx"/><Relationship Id="rId9" Type="http://schemas.openxmlformats.org/officeDocument/2006/relationships/oleObject" Target="../embeddings/oleObject15.bin"/></Relationships>
</file>

<file path=ppt/slides/_rels/slide22.xml.rels><?xml version="1.0" encoding="UTF-8" standalone="yes"?>
<Relationships xmlns="http://schemas.openxmlformats.org/package/2006/relationships"><Relationship Id="rId8" Type="http://schemas.openxmlformats.org/officeDocument/2006/relationships/package" Target="../embeddings/Microsoft_Word___17.docx"/><Relationship Id="rId3" Type="http://schemas.openxmlformats.org/officeDocument/2006/relationships/image" Target="../media/image21.jpeg"/><Relationship Id="rId7" Type="http://schemas.openxmlformats.org/officeDocument/2006/relationships/oleObject" Target="../embeddings/oleObject17.bin"/><Relationship Id="rId12" Type="http://schemas.openxmlformats.org/officeDocument/2006/relationships/image" Target="../media/image20.e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18.emf"/><Relationship Id="rId11" Type="http://schemas.openxmlformats.org/officeDocument/2006/relationships/package" Target="../embeddings/Microsoft_Word___18.docx"/><Relationship Id="rId5" Type="http://schemas.openxmlformats.org/officeDocument/2006/relationships/package" Target="../embeddings/Microsoft_Word___16.docx"/><Relationship Id="rId10" Type="http://schemas.openxmlformats.org/officeDocument/2006/relationships/oleObject" Target="../embeddings/oleObject18.bin"/><Relationship Id="rId4" Type="http://schemas.openxmlformats.org/officeDocument/2006/relationships/oleObject" Target="../embeddings/oleObject16.bin"/><Relationship Id="rId9" Type="http://schemas.openxmlformats.org/officeDocument/2006/relationships/image" Target="../media/image19.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22.emf"/><Relationship Id="rId4" Type="http://schemas.openxmlformats.org/officeDocument/2006/relationships/package" Target="../embeddings/Microsoft_Word___19.docx"/></Relationships>
</file>

<file path=ppt/slides/_rels/slide24.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oleObject" Target="../embeddings/oleObject20.bin"/><Relationship Id="rId7" Type="http://schemas.openxmlformats.org/officeDocument/2006/relationships/package" Target="../embeddings/Microsoft_Word___21.docx"/><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21.bin"/><Relationship Id="rId11" Type="http://schemas.openxmlformats.org/officeDocument/2006/relationships/image" Target="../media/image25.emf"/><Relationship Id="rId5" Type="http://schemas.openxmlformats.org/officeDocument/2006/relationships/image" Target="../media/image23.emf"/><Relationship Id="rId10" Type="http://schemas.openxmlformats.org/officeDocument/2006/relationships/package" Target="../embeddings/Microsoft_Word___22.docx"/><Relationship Id="rId4" Type="http://schemas.openxmlformats.org/officeDocument/2006/relationships/package" Target="../embeddings/Microsoft_Word___20.docx"/><Relationship Id="rId9" Type="http://schemas.openxmlformats.org/officeDocument/2006/relationships/oleObject" Target="../embeddings/oleObject22.bin"/></Relationships>
</file>

<file path=ppt/slides/_rels/slide2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27.emf"/><Relationship Id="rId4" Type="http://schemas.openxmlformats.org/officeDocument/2006/relationships/package" Target="../embeddings/Microsoft_Word___23.docx"/></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28.emf"/><Relationship Id="rId4" Type="http://schemas.openxmlformats.org/officeDocument/2006/relationships/package" Target="../embeddings/Microsoft_Word___24.docx"/></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oleObject" Target="../embeddings/oleObject25.bin"/><Relationship Id="rId7" Type="http://schemas.openxmlformats.org/officeDocument/2006/relationships/package" Target="../embeddings/Microsoft_Word___26.docx"/><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26.bin"/><Relationship Id="rId5" Type="http://schemas.openxmlformats.org/officeDocument/2006/relationships/image" Target="../media/image29.emf"/><Relationship Id="rId4" Type="http://schemas.openxmlformats.org/officeDocument/2006/relationships/package" Target="../embeddings/Microsoft_Word___25.docx"/></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oleObject" Target="../embeddings/oleObject27.bin"/><Relationship Id="rId7" Type="http://schemas.openxmlformats.org/officeDocument/2006/relationships/package" Target="../embeddings/Microsoft_Word___28.docx"/><Relationship Id="rId2" Type="http://schemas.openxmlformats.org/officeDocument/2006/relationships/slideLayout" Target="../slideLayouts/slideLayout3.xml"/><Relationship Id="rId1" Type="http://schemas.openxmlformats.org/officeDocument/2006/relationships/vmlDrawing" Target="../drawings/vmlDrawing16.vml"/><Relationship Id="rId6" Type="http://schemas.openxmlformats.org/officeDocument/2006/relationships/oleObject" Target="../embeddings/oleObject28.bin"/><Relationship Id="rId5" Type="http://schemas.openxmlformats.org/officeDocument/2006/relationships/image" Target="../media/image35.emf"/><Relationship Id="rId4" Type="http://schemas.openxmlformats.org/officeDocument/2006/relationships/package" Target="../embeddings/Microsoft_Word___27.docx"/></Relationships>
</file>

<file path=ppt/slides/_rels/slide34.xml.rels><?xml version="1.0" encoding="UTF-8" standalone="yes"?>
<Relationships xmlns="http://schemas.openxmlformats.org/package/2006/relationships"><Relationship Id="rId8" Type="http://schemas.openxmlformats.org/officeDocument/2006/relationships/image" Target="../media/image38.emf"/><Relationship Id="rId13" Type="http://schemas.openxmlformats.org/officeDocument/2006/relationships/package" Target="../embeddings/Microsoft_Word___32.docx"/><Relationship Id="rId3" Type="http://schemas.openxmlformats.org/officeDocument/2006/relationships/oleObject" Target="../embeddings/oleObject29.bin"/><Relationship Id="rId7" Type="http://schemas.openxmlformats.org/officeDocument/2006/relationships/package" Target="../embeddings/Microsoft_Word___30.docx"/><Relationship Id="rId12" Type="http://schemas.openxmlformats.org/officeDocument/2006/relationships/oleObject" Target="../embeddings/oleObject32.bin"/><Relationship Id="rId17" Type="http://schemas.openxmlformats.org/officeDocument/2006/relationships/image" Target="../media/image41.emf"/><Relationship Id="rId2" Type="http://schemas.openxmlformats.org/officeDocument/2006/relationships/slideLayout" Target="../slideLayouts/slideLayout3.xml"/><Relationship Id="rId16" Type="http://schemas.openxmlformats.org/officeDocument/2006/relationships/package" Target="../embeddings/Microsoft_Word___33.docx"/><Relationship Id="rId1" Type="http://schemas.openxmlformats.org/officeDocument/2006/relationships/vmlDrawing" Target="../drawings/vmlDrawing17.vml"/><Relationship Id="rId6" Type="http://schemas.openxmlformats.org/officeDocument/2006/relationships/oleObject" Target="../embeddings/oleObject30.bin"/><Relationship Id="rId11" Type="http://schemas.openxmlformats.org/officeDocument/2006/relationships/image" Target="../media/image39.emf"/><Relationship Id="rId5" Type="http://schemas.openxmlformats.org/officeDocument/2006/relationships/image" Target="../media/image37.emf"/><Relationship Id="rId15" Type="http://schemas.openxmlformats.org/officeDocument/2006/relationships/oleObject" Target="../embeddings/oleObject33.bin"/><Relationship Id="rId10" Type="http://schemas.openxmlformats.org/officeDocument/2006/relationships/package" Target="../embeddings/Microsoft_Word___31.docx"/><Relationship Id="rId4" Type="http://schemas.openxmlformats.org/officeDocument/2006/relationships/package" Target="../embeddings/Microsoft_Word___29.docx"/><Relationship Id="rId9" Type="http://schemas.openxmlformats.org/officeDocument/2006/relationships/oleObject" Target="../embeddings/oleObject31.bin"/><Relationship Id="rId14" Type="http://schemas.openxmlformats.org/officeDocument/2006/relationships/image" Target="../media/image40.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3.xml"/><Relationship Id="rId1" Type="http://schemas.openxmlformats.org/officeDocument/2006/relationships/vmlDrawing" Target="../drawings/vmlDrawing18.vml"/><Relationship Id="rId5" Type="http://schemas.openxmlformats.org/officeDocument/2006/relationships/image" Target="../media/image42.emf"/><Relationship Id="rId4" Type="http://schemas.openxmlformats.org/officeDocument/2006/relationships/package" Target="../embeddings/Microsoft_Word___34.docx"/></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3.xml"/><Relationship Id="rId1" Type="http://schemas.openxmlformats.org/officeDocument/2006/relationships/vmlDrawing" Target="../drawings/vmlDrawing19.vml"/><Relationship Id="rId5" Type="http://schemas.openxmlformats.org/officeDocument/2006/relationships/image" Target="../media/image43.emf"/><Relationship Id="rId4" Type="http://schemas.openxmlformats.org/officeDocument/2006/relationships/package" Target="../embeddings/Microsoft_Word___35.docx"/></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zh-CN" altLang="en-US" sz="3600" b="1">
                  <a:solidFill>
                    <a:schemeClr val="bg1"/>
                  </a:solidFill>
                  <a:latin typeface="华文细黑" panose="02010600040101010101" charset="-122"/>
                  <a:ea typeface="华文细黑" panose="02010600040101010101" charset="-122"/>
                </a:rPr>
                <a:t>第</a:t>
              </a:r>
              <a:r>
                <a:rPr lang="en-US" altLang="zh-CN" sz="3600" b="1">
                  <a:solidFill>
                    <a:schemeClr val="bg1"/>
                  </a:solidFill>
                  <a:latin typeface="华文细黑" panose="02010600040101010101" charset="-122"/>
                  <a:ea typeface="华文细黑" panose="02010600040101010101" charset="-122"/>
                </a:rPr>
                <a:t>2</a:t>
              </a:r>
              <a:r>
                <a:rPr lang="zh-CN" altLang="en-US" sz="3600" b="1">
                  <a:solidFill>
                    <a:schemeClr val="bg1"/>
                  </a:solidFill>
                  <a:latin typeface="华文细黑" panose="02010600040101010101" charset="-122"/>
                  <a:ea typeface="华文细黑" panose="02010600040101010101" charset="-122"/>
                </a:rPr>
                <a:t>课时　离散型随机变量的分布列</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smtClean="0">
                <a:solidFill>
                  <a:schemeClr val="bg1"/>
                </a:solidFill>
                <a:latin typeface="华文细黑" panose="02010600040101010101" charset="-122"/>
                <a:ea typeface="华文细黑" panose="02010600040101010101" charset="-122"/>
                <a:cs typeface="Open Sans" panose="020B0606030504020204" pitchFamily="34" charset="0"/>
              </a:rPr>
              <a:t>第七章</a:t>
            </a:r>
            <a:endParaRPr lang="en-US" altLang="zh-CN" sz="3600" b="1" kern="0" smtClean="0">
              <a:solidFill>
                <a:schemeClr val="bg1"/>
              </a:solidFill>
              <a:latin typeface="华文细黑" panose="02010600040101010101" charset="-122"/>
              <a:ea typeface="华文细黑" panose="02010600040101010101" charset="-122"/>
              <a:cs typeface="Open Sans" panose="020B0606030504020204" pitchFamily="34" charset="0"/>
            </a:endParaRPr>
          </a:p>
          <a:p>
            <a:pPr algn="ctr"/>
            <a:r>
              <a:rPr lang="en-US" altLang="zh-CN" sz="3600" b="1" kern="0" smtClean="0">
                <a:solidFill>
                  <a:schemeClr val="bg1"/>
                </a:solidFill>
                <a:latin typeface="华文细黑" panose="02010600040101010101" charset="-122"/>
                <a:ea typeface="华文细黑" panose="02010600040101010101" charset="-122"/>
                <a:cs typeface="Open Sans" panose="020B0606030504020204" pitchFamily="34" charset="0"/>
              </a:rPr>
              <a:t>7.2</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mtClean="0">
                <a:solidFill>
                  <a:srgbClr val="757C82"/>
                </a:solidFill>
                <a:latin typeface="Times New Roman" panose="02020603050405020304" pitchFamily="18" charset="0"/>
                <a:cs typeface="Times New Roman" panose="02020603050405020304" pitchFamily="18" charset="0"/>
              </a:rPr>
              <a:t>2025</a:t>
            </a:r>
            <a:endParaRPr lang="en-US" altLang="zh-CN" sz="2800" b="1" dirty="0" smtClean="0">
              <a:solidFill>
                <a:srgbClr val="757C8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自主预习 新知导学</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4" name="矩形 3"/>
          <p:cNvSpPr>
            <a:spLocks noChangeAspect="1"/>
          </p:cNvSpPr>
          <p:nvPr/>
        </p:nvSpPr>
        <p:spPr>
          <a:xfrm>
            <a:off x="381000" y="2027092"/>
            <a:ext cx="11430000" cy="2280689"/>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理解取有限值的离散型随机变量的分布列的概念与性质</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会求出某些简单离散型随机变量的分布列</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理解两点分布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并能简单运用</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pPr>
            <a:r>
              <a:rPr lang="en-US" altLang="zh-CN" sz="2800">
                <a:solidFill>
                  <a:srgbClr val="000000"/>
                </a:solidFill>
                <a:latin typeface="Times New Roman" panose="02020603050405020304" pitchFamily="18" charset="0"/>
              </a:rPr>
              <a:t>4</a:t>
            </a:r>
            <a:r>
              <a:rPr lang="en-US" altLang="zh-CN" sz="2800" i="1">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进一步提升数学抽象、数学建模等核心素养</a:t>
            </a:r>
            <a:r>
              <a:rPr lang="en-US" altLang="zh-CN" sz="2800" i="1">
                <a:solidFill>
                  <a:srgbClr val="000000"/>
                </a:solidFill>
                <a:latin typeface="Times New Roman" panose="02020603050405020304" pitchFamily="18" charset="0"/>
              </a:rPr>
              <a:t>.</a:t>
            </a:r>
            <a:endParaRPr lang="zh-CN" altLang="en-US" sz="28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自主预习 新知导学</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2078725"/>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ea typeface="方正正中黑简体"/>
                <a:cs typeface="Times New Roman" panose="02020603050405020304" pitchFamily="18" charset="0"/>
              </a:rPr>
              <a:t>一、离散型随机变量的分布列</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smtClean="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掷一枚质地均匀的骰子</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所得点数为</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的可能取值有哪些</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当</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取不同的值时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其概率分别是多少</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提示</a:t>
            </a:r>
            <a:r>
              <a:rPr lang="en-US"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的可能取值为</a:t>
            </a:r>
            <a:r>
              <a:rPr lang="en-US" altLang="zh-CN" sz="2800">
                <a:solidFill>
                  <a:srgbClr val="000000"/>
                </a:solidFill>
                <a:latin typeface="Times New Roman" panose="02020603050405020304" pitchFamily="18" charset="0"/>
                <a:cs typeface="Times New Roman" panose="02020603050405020304" pitchFamily="18" charset="0"/>
              </a:rPr>
              <a:t>1,2,3,4,5,6;</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概率均</a:t>
            </a:r>
            <a:r>
              <a:rPr lang="zh-CN" altLang="zh-CN" sz="28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a:t>
            </a:r>
            <a:r>
              <a:rPr lang="en-US" altLang="zh-CN" sz="28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171921420"/>
              </p:ext>
            </p:extLst>
          </p:nvPr>
        </p:nvGraphicFramePr>
        <p:xfrm>
          <a:off x="6522735" y="3792910"/>
          <a:ext cx="441456" cy="557117"/>
        </p:xfrm>
        <a:graphic>
          <a:graphicData uri="http://schemas.openxmlformats.org/presentationml/2006/ole">
            <mc:AlternateContent xmlns:mc="http://schemas.openxmlformats.org/markup-compatibility/2006">
              <mc:Choice xmlns:v="urn:schemas-microsoft-com:vml" Requires="v">
                <p:oleObj spid="_x0000_s2073" name="文档" r:id="rId4" imgW="255315" imgH="313738" progId="Word.Document.12">
                  <p:embed/>
                </p:oleObj>
              </mc:Choice>
              <mc:Fallback>
                <p:oleObj name="文档" r:id="rId4" imgW="255315" imgH="313738" progId="Word.Document.12">
                  <p:embed/>
                  <p:pic>
                    <p:nvPicPr>
                      <p:cNvPr id="0" name=""/>
                      <p:cNvPicPr>
                        <a:picLocks noChangeAspect="1" noChangeArrowheads="1"/>
                      </p:cNvPicPr>
                      <p:nvPr/>
                    </p:nvPicPr>
                    <p:blipFill>
                      <a:blip r:embed="rId5"/>
                      <a:srcRect/>
                      <a:stretch>
                        <a:fillRect/>
                      </a:stretch>
                    </p:blipFill>
                    <p:spPr bwMode="auto">
                      <a:xfrm>
                        <a:off x="6522735" y="3792910"/>
                        <a:ext cx="441456" cy="557117"/>
                      </a:xfrm>
                      <a:prstGeom prst="rect">
                        <a:avLst/>
                      </a:prstGeom>
                      <a:noFill/>
                    </p:spPr>
                  </p:pic>
                </p:oleObj>
              </mc:Fallback>
            </mc:AlternateContent>
          </a:graphicData>
        </a:graphic>
      </p:graphicFrame>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randombar(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10526"/>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一般地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设离散型随机变量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的可能取值为</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我们称</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取每一个值</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zh-CN" altLang="zh-CN" sz="2800">
                <a:solidFill>
                  <a:srgbClr val="000000"/>
                </a:solidFill>
                <a:latin typeface="Times New Roman" panose="02020603050405020304" pitchFamily="18" charset="0"/>
                <a:cs typeface="Times New Roman" panose="02020603050405020304" pitchFamily="18" charset="0"/>
              </a:rPr>
              <a:t>的</a:t>
            </a:r>
            <a:r>
              <a:rPr lang="zh-CN" altLang="zh-CN" sz="2800" smtClean="0">
                <a:solidFill>
                  <a:srgbClr val="000000"/>
                </a:solidFill>
                <a:latin typeface="Times New Roman" panose="02020603050405020304" pitchFamily="18" charset="0"/>
                <a:cs typeface="Times New Roman" panose="02020603050405020304" pitchFamily="18" charset="0"/>
              </a:rPr>
              <a:t>概率</a:t>
            </a:r>
            <a:r>
              <a:rPr lang="en-US" altLang="zh-CN" sz="2800" smtClean="0">
                <a:solidFill>
                  <a:srgbClr val="000000"/>
                </a:solidFill>
                <a:latin typeface="Times New Roman" panose="02020603050405020304" pitchFamily="18" charset="0"/>
                <a:cs typeface="Times New Roman" panose="02020603050405020304" pitchFamily="18" charset="0"/>
              </a:rPr>
              <a:t> </a:t>
            </a:r>
            <a:r>
              <a:rPr lang="en-US" altLang="zh-CN" sz="2800" i="1" smtClean="0">
                <a:solidFill>
                  <a:srgbClr val="FF0000"/>
                </a:solidFill>
                <a:latin typeface="Times New Roman" panose="02020603050405020304" pitchFamily="18" charset="0"/>
                <a:cs typeface="Times New Roman" panose="02020603050405020304" pitchFamily="18" charset="0"/>
              </a:rPr>
              <a:t>P</a:t>
            </a:r>
            <a:r>
              <a:rPr lang="en-US" altLang="zh-CN" sz="2800" smtClean="0">
                <a:solidFill>
                  <a:srgbClr val="FF0000"/>
                </a:solidFill>
                <a:latin typeface="Times New Roman" panose="02020603050405020304" pitchFamily="18" charset="0"/>
                <a:cs typeface="Times New Roman" panose="02020603050405020304" pitchFamily="18" charset="0"/>
              </a:rPr>
              <a:t>(</a:t>
            </a:r>
            <a:r>
              <a:rPr lang="en-US" altLang="zh-CN" sz="2800" i="1" smtClean="0">
                <a:solidFill>
                  <a:srgbClr val="FF0000"/>
                </a:solidFill>
                <a:latin typeface="Times New Roman" panose="02020603050405020304" pitchFamily="18" charset="0"/>
                <a:cs typeface="Times New Roman" panose="02020603050405020304" pitchFamily="18" charset="0"/>
              </a:rPr>
              <a:t>X=x</a:t>
            </a:r>
            <a:r>
              <a:rPr lang="en-US" altLang="zh-CN" sz="2800" i="1" baseline="-25000" smtClean="0">
                <a:solidFill>
                  <a:srgbClr val="FF0000"/>
                </a:solidFill>
                <a:latin typeface="Times New Roman" panose="02020603050405020304" pitchFamily="18" charset="0"/>
                <a:cs typeface="Times New Roman" panose="02020603050405020304" pitchFamily="18" charset="0"/>
              </a:rPr>
              <a:t>i</a:t>
            </a:r>
            <a:r>
              <a:rPr lang="en-US" altLang="zh-CN" sz="2800">
                <a:solidFill>
                  <a:srgbClr val="FF0000"/>
                </a:solidFill>
                <a:latin typeface="Times New Roman" panose="02020603050405020304" pitchFamily="18" charset="0"/>
                <a:cs typeface="Times New Roman" panose="02020603050405020304" pitchFamily="18" charset="0"/>
              </a:rPr>
              <a:t>)</a:t>
            </a:r>
            <a:r>
              <a:rPr lang="en-US" altLang="zh-CN" sz="2800" i="1">
                <a:solidFill>
                  <a:srgbClr val="FF0000"/>
                </a:solidFill>
                <a:latin typeface="Times New Roman" panose="02020603050405020304" pitchFamily="18" charset="0"/>
                <a:cs typeface="Times New Roman" panose="02020603050405020304" pitchFamily="18" charset="0"/>
              </a:rPr>
              <a:t>=</a:t>
            </a:r>
            <a:r>
              <a:rPr lang="en-US" altLang="zh-CN" sz="2800" i="1" smtClean="0">
                <a:solidFill>
                  <a:srgbClr val="FF0000"/>
                </a:solidFill>
                <a:latin typeface="Times New Roman" panose="02020603050405020304" pitchFamily="18" charset="0"/>
                <a:cs typeface="Times New Roman" panose="02020603050405020304" pitchFamily="18" charset="0"/>
              </a:rPr>
              <a:t>p</a:t>
            </a:r>
            <a:r>
              <a:rPr lang="en-US" altLang="zh-CN" sz="2800" i="1" baseline="-25000" smtClean="0">
                <a:solidFill>
                  <a:srgbClr val="FF0000"/>
                </a:solidFill>
                <a:latin typeface="Times New Roman" panose="02020603050405020304" pitchFamily="18" charset="0"/>
                <a:cs typeface="Times New Roman" panose="02020603050405020304" pitchFamily="18" charset="0"/>
              </a:rPr>
              <a:t>i </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i=</a:t>
            </a:r>
            <a:r>
              <a:rPr lang="en-US" altLang="zh-CN" sz="2800">
                <a:solidFill>
                  <a:srgbClr val="000000"/>
                </a:solidFill>
                <a:latin typeface="Times New Roman" panose="02020603050405020304" pitchFamily="18" charset="0"/>
                <a:cs typeface="Times New Roman" panose="02020603050405020304" pitchFamily="18" charset="0"/>
              </a:rPr>
              <a:t>1,2,</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为</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的概率分布列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简称</a:t>
            </a:r>
            <a:r>
              <a:rPr lang="zh-CN" altLang="zh-CN" sz="2800">
                <a:solidFill>
                  <a:srgbClr val="FF0000"/>
                </a:solidFill>
                <a:latin typeface="Times New Roman" panose="02020603050405020304" pitchFamily="18" charset="0"/>
                <a:cs typeface="Times New Roman" panose="02020603050405020304" pitchFamily="18" charset="0"/>
              </a:rPr>
              <a:t>分布列</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与函数的表示法类似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离散型随机变量的分布列也可以用</a:t>
            </a:r>
            <a:r>
              <a:rPr lang="zh-CN" altLang="zh-CN" sz="2800">
                <a:solidFill>
                  <a:srgbClr val="FF0000"/>
                </a:solidFill>
                <a:latin typeface="Times New Roman" panose="02020603050405020304" pitchFamily="18" charset="0"/>
                <a:cs typeface="Times New Roman" panose="02020603050405020304" pitchFamily="18" charset="0"/>
              </a:rPr>
              <a:t>表格</a:t>
            </a:r>
            <a:r>
              <a:rPr lang="zh-CN" altLang="zh-CN" sz="2800">
                <a:solidFill>
                  <a:srgbClr val="000000"/>
                </a:solidFill>
                <a:latin typeface="Times New Roman" panose="02020603050405020304" pitchFamily="18" charset="0"/>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如下表</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nvPr>
        </p:nvGraphicFramePr>
        <p:xfrm>
          <a:off x="381000" y="2783199"/>
          <a:ext cx="11430000" cy="981456"/>
        </p:xfrm>
        <a:graphic>
          <a:graphicData uri="http://schemas.openxmlformats.org/drawingml/2006/table">
            <a:tbl>
              <a:tblPr firstRow="1" firstCol="1" bandRow="1"/>
              <a:tblGrid>
                <a:gridCol w="2286000"/>
                <a:gridCol w="2286000"/>
                <a:gridCol w="2286000"/>
                <a:gridCol w="2286000"/>
                <a:gridCol w="2286000"/>
              </a:tblGrid>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i="1"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sz="2800"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sz="2800"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sz="2800" i="1"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4" name="矩形 3"/>
          <p:cNvSpPr>
            <a:spLocks noChangeAspect="1"/>
          </p:cNvSpPr>
          <p:nvPr/>
        </p:nvSpPr>
        <p:spPr>
          <a:xfrm>
            <a:off x="381000" y="3777708"/>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还可以用</a:t>
            </a:r>
            <a:r>
              <a:rPr lang="zh-CN" altLang="zh-CN" sz="2800">
                <a:solidFill>
                  <a:srgbClr val="FF0000"/>
                </a:solidFill>
                <a:latin typeface="Times New Roman" panose="02020603050405020304" pitchFamily="18" charset="0"/>
                <a:cs typeface="Times New Roman" panose="02020603050405020304" pitchFamily="18" charset="0"/>
              </a:rPr>
              <a:t>图形</a:t>
            </a:r>
            <a:r>
              <a:rPr lang="zh-CN" altLang="zh-CN" sz="2800">
                <a:solidFill>
                  <a:srgbClr val="000000"/>
                </a:solidFill>
                <a:latin typeface="Times New Roman" panose="02020603050405020304" pitchFamily="18" charset="0"/>
                <a:cs typeface="Times New Roman" panose="02020603050405020304" pitchFamily="18" charset="0"/>
              </a:rPr>
              <a:t>表示</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根据概率的性质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离散型随机变量分布列具有下述两个性质</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①</a:t>
            </a:r>
            <a:r>
              <a:rPr lang="en-US" altLang="zh-CN" sz="2800" i="1" smtClean="0">
                <a:solidFill>
                  <a:srgbClr val="000000"/>
                </a:solidFill>
                <a:latin typeface="Times New Roman" panose="02020603050405020304" pitchFamily="18" charset="0"/>
                <a:cs typeface="Times New Roman" panose="02020603050405020304" pitchFamily="18" charset="0"/>
              </a:rPr>
              <a:t>p</a:t>
            </a:r>
            <a:r>
              <a:rPr lang="en-US" altLang="zh-CN" sz="2800" i="1" baseline="-25000" smtClean="0">
                <a:solidFill>
                  <a:srgbClr val="000000"/>
                </a:solidFill>
                <a:latin typeface="Times New Roman" panose="02020603050405020304" pitchFamily="18" charset="0"/>
                <a:cs typeface="Times New Roman" panose="02020603050405020304" pitchFamily="18" charset="0"/>
              </a:rPr>
              <a:t>i </a:t>
            </a:r>
            <a:r>
              <a:rPr lang="en-US" altLang="zh-CN" sz="2800" smtClean="0">
                <a:solidFill>
                  <a:srgbClr val="FF0000"/>
                </a:solidFill>
                <a:latin typeface="宋体" panose="02010600030101010101" pitchFamily="2" charset="-122"/>
                <a:ea typeface="方正书宋_GBK" panose="03000509000000000000" pitchFamily="65" charset="-122"/>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0,</a:t>
            </a:r>
            <a:r>
              <a:rPr lang="en-US" altLang="zh-CN" sz="2800" i="1" smtClean="0">
                <a:solidFill>
                  <a:srgbClr val="000000"/>
                </a:solidFill>
                <a:latin typeface="Times New Roman" panose="02020603050405020304" pitchFamily="18" charset="0"/>
                <a:cs typeface="Times New Roman" panose="02020603050405020304" pitchFamily="18" charset="0"/>
              </a:rPr>
              <a:t>i=</a:t>
            </a:r>
            <a:r>
              <a:rPr lang="en-US" altLang="zh-CN" sz="2800" smtClean="0">
                <a:solidFill>
                  <a:srgbClr val="000000"/>
                </a:solidFill>
                <a:latin typeface="Times New Roman" panose="02020603050405020304" pitchFamily="18" charset="0"/>
                <a:cs typeface="Times New Roman" panose="02020603050405020304" pitchFamily="18" charset="0"/>
              </a:rPr>
              <a:t>1,2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②</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en-US" altLang="zh-CN" sz="2800" i="1" smtClean="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FF0000"/>
                </a:solidFill>
                <a:latin typeface="Times New Roman" panose="02020603050405020304" pitchFamily="18" charset="0"/>
                <a:cs typeface="Times New Roman" panose="02020603050405020304" pitchFamily="18" charset="0"/>
              </a:rPr>
              <a:t>1 </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5" name="矩形 4"/>
          <p:cNvSpPr/>
          <p:nvPr/>
        </p:nvSpPr>
        <p:spPr>
          <a:xfrm>
            <a:off x="2487679" y="1091414"/>
            <a:ext cx="1743937"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2487679" y="1643011"/>
            <a:ext cx="17439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327598" y="1091414"/>
            <a:ext cx="1068513"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9327598" y="1643011"/>
            <a:ext cx="10685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9487328" y="1714630"/>
            <a:ext cx="745733" cy="450490"/>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9487328" y="2188104"/>
            <a:ext cx="7457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874177" y="3798256"/>
            <a:ext cx="745733"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1874177" y="4349853"/>
            <a:ext cx="7457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128445" y="4899832"/>
            <a:ext cx="443502"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p:nvPr/>
        </p:nvCxnSpPr>
        <p:spPr>
          <a:xfrm>
            <a:off x="1128444" y="5451429"/>
            <a:ext cx="4435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3059986" y="5444925"/>
            <a:ext cx="289389"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p:nvPr/>
        </p:nvCxnSpPr>
        <p:spPr>
          <a:xfrm>
            <a:off x="3059985" y="5996522"/>
            <a:ext cx="2893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33541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1"/>
                                        </p:tgtEl>
                                      </p:cBhvr>
                                    </p:animEffect>
                                    <p:set>
                                      <p:cBhvr>
                                        <p:cTn id="17" dur="1" fill="hold">
                                          <p:stCondLst>
                                            <p:cond delay="499"/>
                                          </p:stCondLst>
                                        </p:cTn>
                                        <p:tgtEl>
                                          <p:spTgt spid="11"/>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4"/>
                                        </p:tgtEl>
                                      </p:cBhvr>
                                    </p:animEffect>
                                    <p:set>
                                      <p:cBhvr>
                                        <p:cTn id="22" dur="1" fill="hold">
                                          <p:stCondLst>
                                            <p:cond delay="499"/>
                                          </p:stCondLst>
                                        </p:cTn>
                                        <p:tgtEl>
                                          <p:spTgt spid="1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6"/>
                                        </p:tgtEl>
                                      </p:cBhvr>
                                    </p:animEffect>
                                    <p:set>
                                      <p:cBhvr>
                                        <p:cTn id="27" dur="1" fill="hold">
                                          <p:stCondLst>
                                            <p:cond delay="499"/>
                                          </p:stCondLst>
                                        </p:cTn>
                                        <p:tgtEl>
                                          <p:spTgt spid="16"/>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19"/>
                                        </p:tgtEl>
                                      </p:cBhvr>
                                    </p:animEffect>
                                    <p:set>
                                      <p:cBhvr>
                                        <p:cTn id="3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1" grpId="0" animBg="1"/>
      <p:bldP spid="14" grpId="0" animBg="1"/>
      <p:bldP spid="16" grpId="0" animBg="1"/>
      <p:bldP spid="1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56483"/>
            <a:ext cx="11430000" cy="26345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3</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下列各表可以表示离散型随机变量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的分布列的是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A.                                                      B</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C.                                                       D</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p:cNvGraphicFramePr>
          <p:nvPr>
            <p:extLst>
              <p:ext uri="{D42A27DB-BD31-4B8C-83A1-F6EECF244321}">
                <p14:modId xmlns:p14="http://schemas.microsoft.com/office/powerpoint/2010/main" val="2929510925"/>
              </p:ext>
            </p:extLst>
          </p:nvPr>
        </p:nvGraphicFramePr>
        <p:xfrm>
          <a:off x="995464" y="1157780"/>
          <a:ext cx="3463520" cy="981456"/>
        </p:xfrm>
        <a:graphic>
          <a:graphicData uri="http://schemas.openxmlformats.org/drawingml/2006/table">
            <a:tbl>
              <a:tblPr firstRow="1" firstCol="1" bandRow="1"/>
              <a:tblGrid>
                <a:gridCol w="865880"/>
                <a:gridCol w="865880"/>
                <a:gridCol w="865880"/>
                <a:gridCol w="865880"/>
              </a:tblGrid>
              <a:tr h="284143">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4143">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2564523690"/>
              </p:ext>
            </p:extLst>
          </p:nvPr>
        </p:nvGraphicFramePr>
        <p:xfrm>
          <a:off x="6096000" y="1126961"/>
          <a:ext cx="3646712" cy="981456"/>
        </p:xfrm>
        <a:graphic>
          <a:graphicData uri="http://schemas.openxmlformats.org/drawingml/2006/table">
            <a:tbl>
              <a:tblPr firstRow="1" firstCol="1" bandRow="1"/>
              <a:tblGrid>
                <a:gridCol w="911678"/>
                <a:gridCol w="911678"/>
                <a:gridCol w="911678"/>
                <a:gridCol w="911678"/>
              </a:tblGrid>
              <a:tr h="42712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2712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2355827908"/>
              </p:ext>
            </p:extLst>
          </p:nvPr>
        </p:nvGraphicFramePr>
        <p:xfrm>
          <a:off x="1005739" y="2370139"/>
          <a:ext cx="3490060" cy="981456"/>
        </p:xfrm>
        <a:graphic>
          <a:graphicData uri="http://schemas.openxmlformats.org/drawingml/2006/table">
            <a:tbl>
              <a:tblPr firstRow="1" firstCol="1" bandRow="1"/>
              <a:tblGrid>
                <a:gridCol w="872515"/>
                <a:gridCol w="872515"/>
                <a:gridCol w="872515"/>
                <a:gridCol w="872515"/>
              </a:tblGrid>
              <a:tr h="420574">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20574">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2764212417"/>
              </p:ext>
            </p:extLst>
          </p:nvPr>
        </p:nvGraphicFramePr>
        <p:xfrm>
          <a:off x="6096000" y="2359865"/>
          <a:ext cx="3650644" cy="981456"/>
        </p:xfrm>
        <a:graphic>
          <a:graphicData uri="http://schemas.openxmlformats.org/drawingml/2006/table">
            <a:tbl>
              <a:tblPr firstRow="1" firstCol="1" bandRow="1"/>
              <a:tblGrid>
                <a:gridCol w="912661"/>
                <a:gridCol w="912661"/>
                <a:gridCol w="912661"/>
                <a:gridCol w="912661"/>
              </a:tblGrid>
              <a:tr h="135637">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06615">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7" name="矩形 6"/>
          <p:cNvSpPr>
            <a:spLocks noChangeAspect="1"/>
          </p:cNvSpPr>
          <p:nvPr/>
        </p:nvSpPr>
        <p:spPr>
          <a:xfrm>
            <a:off x="381000" y="3318050"/>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某射击运动员射击所得环数</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的分布</a:t>
            </a:r>
            <a:r>
              <a:rPr lang="zh-CN" altLang="zh-CN" sz="2800" smtClean="0">
                <a:solidFill>
                  <a:srgbClr val="000000"/>
                </a:solidFill>
                <a:latin typeface="Times New Roman" panose="02020603050405020304" pitchFamily="18" charset="0"/>
                <a:cs typeface="Times New Roman" panose="02020603050405020304" pitchFamily="18" charset="0"/>
              </a:rPr>
              <a:t>列为</a:t>
            </a: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en-US" sz="2800">
                <a:solidFill>
                  <a:srgbClr val="000000"/>
                </a:solidFill>
                <a:latin typeface="Times New Roman" panose="02020603050405020304" pitchFamily="18" charset="0"/>
                <a:cs typeface="Times New Roman" panose="02020603050405020304" pitchFamily="18" charset="0"/>
              </a:rPr>
              <a:t>则此射击运动员射击一次命中环数大于</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smtClean="0">
                <a:solidFill>
                  <a:srgbClr val="000000"/>
                </a:solidFill>
                <a:latin typeface="Times New Roman" panose="02020603050405020304" pitchFamily="18" charset="0"/>
                <a:cs typeface="Times New Roman" panose="02020603050405020304" pitchFamily="18" charset="0"/>
              </a:rPr>
              <a:t>的</a:t>
            </a:r>
            <a:r>
              <a:rPr lang="zh-CN" altLang="zh-CN" sz="2800">
                <a:solidFill>
                  <a:srgbClr val="000000"/>
                </a:solidFill>
                <a:latin typeface="Times New Roman" panose="02020603050405020304" pitchFamily="18" charset="0"/>
                <a:cs typeface="Times New Roman" panose="02020603050405020304" pitchFamily="18" charset="0"/>
              </a:rPr>
              <a:t>概率为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28	</a:t>
            </a:r>
            <a:r>
              <a:rPr lang="en-US" altLang="zh-CN" sz="2800" smtClean="0">
                <a:solidFill>
                  <a:srgbClr val="000000"/>
                </a:solidFill>
                <a:latin typeface="Times New Roman" panose="02020603050405020304" pitchFamily="18" charset="0"/>
                <a:cs typeface="Times New Roman" panose="02020603050405020304" pitchFamily="18" charset="0"/>
              </a:rPr>
              <a:t>	B.0</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88</a:t>
            </a:r>
            <a:r>
              <a:rPr lang="en-US" altLang="zh-CN" sz="280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	C.0</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79</a:t>
            </a:r>
            <a:r>
              <a:rPr lang="en-US" altLang="zh-CN" sz="280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	D.0</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51</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8" name="表格 7"/>
          <p:cNvGraphicFramePr>
            <a:graphicFrameLocks noGrp="1" noChangeAspect="1"/>
          </p:cNvGraphicFramePr>
          <p:nvPr>
            <p:extLst>
              <p:ext uri="{D42A27DB-BD31-4B8C-83A1-F6EECF244321}">
                <p14:modId xmlns:p14="http://schemas.microsoft.com/office/powerpoint/2010/main" val="3734307445"/>
              </p:ext>
            </p:extLst>
          </p:nvPr>
        </p:nvGraphicFramePr>
        <p:xfrm>
          <a:off x="381000" y="4012349"/>
          <a:ext cx="11430000" cy="981456"/>
        </p:xfrm>
        <a:graphic>
          <a:graphicData uri="http://schemas.openxmlformats.org/drawingml/2006/table">
            <a:tbl>
              <a:tblPr firstRow="1" firstCol="1" bandRow="1"/>
              <a:tblGrid>
                <a:gridCol w="1428750"/>
                <a:gridCol w="1428750"/>
                <a:gridCol w="1428750"/>
                <a:gridCol w="1428750"/>
                <a:gridCol w="1428750"/>
                <a:gridCol w="1428750"/>
                <a:gridCol w="1428750"/>
                <a:gridCol w="1428750"/>
              </a:tblGrid>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9730649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763240"/>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&gt;</a:t>
            </a:r>
            <a:r>
              <a:rPr lang="en-US" altLang="zh-CN" sz="2800">
                <a:solidFill>
                  <a:srgbClr val="000000"/>
                </a:solidFill>
                <a:latin typeface="Times New Roman" panose="02020603050405020304" pitchFamily="18" charset="0"/>
                <a:cs typeface="Times New Roman" panose="02020603050405020304" pitchFamily="18" charset="0"/>
              </a:rPr>
              <a:t>1;B</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&lt;</a:t>
            </a:r>
            <a:r>
              <a:rPr lang="en-US" altLang="zh-CN" sz="2800">
                <a:solidFill>
                  <a:srgbClr val="000000"/>
                </a:solidFill>
                <a:latin typeface="Times New Roman" panose="02020603050405020304" pitchFamily="18" charset="0"/>
                <a:cs typeface="Times New Roman" panose="02020603050405020304" pitchFamily="18" charset="0"/>
              </a:rPr>
              <a:t>0;C</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&lt;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X&gt;</a:t>
            </a:r>
            <a:r>
              <a:rPr lang="en-US" altLang="zh-CN" sz="2800">
                <a:solidFill>
                  <a:srgbClr val="000000"/>
                </a:solidFill>
                <a:latin typeface="Times New Roman" panose="02020603050405020304" pitchFamily="18" charset="0"/>
                <a:cs typeface="Times New Roman" panose="02020603050405020304" pitchFamily="18" charset="0"/>
              </a:rPr>
              <a:t>7)</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9)</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10)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29</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79</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(1)D</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(2)C</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988046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44782"/>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ea typeface="方正正中黑简体"/>
                <a:cs typeface="Times New Roman" panose="02020603050405020304" pitchFamily="18" charset="0"/>
              </a:rPr>
              <a:t>二、两点分布</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smtClean="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在同时抛掷两枚质地均匀的骰子的随机试验中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定义</a:t>
            </a:r>
            <a:endParaRPr lang="en-US" altLang="zh-CN" sz="2800" i="1"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i="1">
              <a:solidFill>
                <a:srgbClr val="000000"/>
              </a:solidFill>
              <a:effectLst/>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求随机变量</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的分布列</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提示</a:t>
            </a:r>
            <a:r>
              <a:rPr lang="en-US"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321968552"/>
              </p:ext>
            </p:extLst>
          </p:nvPr>
        </p:nvGraphicFramePr>
        <p:xfrm>
          <a:off x="458424" y="1725270"/>
          <a:ext cx="11275153" cy="1483338"/>
        </p:xfrm>
        <a:graphic>
          <a:graphicData uri="http://schemas.openxmlformats.org/presentationml/2006/ole">
            <mc:AlternateContent xmlns:mc="http://schemas.openxmlformats.org/markup-compatibility/2006">
              <mc:Choice xmlns:v="urn:schemas-microsoft-com:vml" Requires="v">
                <p:oleObj spid="_x0000_s4117" name="文档" r:id="rId4" imgW="4510061" imgH="593335" progId="Word.Document.12">
                  <p:embed/>
                </p:oleObj>
              </mc:Choice>
              <mc:Fallback>
                <p:oleObj name="文档" r:id="rId4" imgW="4510061" imgH="593335" progId="Word.Document.12">
                  <p:embed/>
                  <p:pic>
                    <p:nvPicPr>
                      <p:cNvPr id="0" name=""/>
                      <p:cNvPicPr/>
                      <p:nvPr/>
                    </p:nvPicPr>
                    <p:blipFill>
                      <a:blip r:embed="rId5"/>
                      <a:stretch>
                        <a:fillRect/>
                      </a:stretch>
                    </p:blipFill>
                    <p:spPr>
                      <a:xfrm>
                        <a:off x="458424" y="1725270"/>
                        <a:ext cx="11275153" cy="1483338"/>
                      </a:xfrm>
                      <a:prstGeom prst="rect">
                        <a:avLst/>
                      </a:prstGeom>
                    </p:spPr>
                  </p:pic>
                </p:oleObj>
              </mc:Fallback>
            </mc:AlternateContent>
          </a:graphicData>
        </a:graphic>
      </p:graphicFrame>
      <p:graphicFrame>
        <p:nvGraphicFramePr>
          <p:cNvPr id="4" name="表格 3"/>
          <p:cNvGraphicFramePr>
            <a:graphicFrameLocks noGrp="1" noChangeAspect="1"/>
          </p:cNvGraphicFramePr>
          <p:nvPr>
            <p:extLst>
              <p:ext uri="{D42A27DB-BD31-4B8C-83A1-F6EECF244321}">
                <p14:modId xmlns:p14="http://schemas.microsoft.com/office/powerpoint/2010/main" val="2139675981"/>
              </p:ext>
            </p:extLst>
          </p:nvPr>
        </p:nvGraphicFramePr>
        <p:xfrm>
          <a:off x="381000" y="4166449"/>
          <a:ext cx="11430000" cy="981456"/>
        </p:xfrm>
        <a:graphic>
          <a:graphicData uri="http://schemas.openxmlformats.org/drawingml/2006/table">
            <a:tbl>
              <a:tblPr firstRow="1" firstCol="1" bandRow="1"/>
              <a:tblGrid>
                <a:gridCol w="3810000"/>
                <a:gridCol w="3810000"/>
                <a:gridCol w="3810000"/>
              </a:tblGrid>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6929591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7" dur="500"/>
                                        <p:tgtEl>
                                          <p:spTgt spid="2">
                                            <p:txEl>
                                              <p:pRg st="5" end="5"/>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149415609"/>
              </p:ext>
            </p:extLst>
          </p:nvPr>
        </p:nvGraphicFramePr>
        <p:xfrm>
          <a:off x="458424" y="351852"/>
          <a:ext cx="11275153" cy="2052055"/>
        </p:xfrm>
        <a:graphic>
          <a:graphicData uri="http://schemas.openxmlformats.org/presentationml/2006/ole">
            <mc:AlternateContent xmlns:mc="http://schemas.openxmlformats.org/markup-compatibility/2006">
              <mc:Choice xmlns:v="urn:schemas-microsoft-com:vml" Requires="v">
                <p:oleObj spid="_x0000_s5141" name="文档" r:id="rId4" imgW="4510061" imgH="820822" progId="Word.Document.12">
                  <p:embed/>
                </p:oleObj>
              </mc:Choice>
              <mc:Fallback>
                <p:oleObj name="文档" r:id="rId4" imgW="4510061" imgH="820822" progId="Word.Document.12">
                  <p:embed/>
                  <p:pic>
                    <p:nvPicPr>
                      <p:cNvPr id="0" name=""/>
                      <p:cNvPicPr/>
                      <p:nvPr/>
                    </p:nvPicPr>
                    <p:blipFill>
                      <a:blip r:embed="rId5"/>
                      <a:stretch>
                        <a:fillRect/>
                      </a:stretch>
                    </p:blipFill>
                    <p:spPr>
                      <a:xfrm>
                        <a:off x="458424" y="351852"/>
                        <a:ext cx="11275153" cy="2052055"/>
                      </a:xfrm>
                      <a:prstGeom prst="rect">
                        <a:avLst/>
                      </a:prstGeom>
                    </p:spPr>
                  </p:pic>
                </p:oleObj>
              </mc:Fallback>
            </mc:AlternateContent>
          </a:graphicData>
        </a:graphic>
      </p:graphicFrame>
      <p:graphicFrame>
        <p:nvGraphicFramePr>
          <p:cNvPr id="3" name="表格 2"/>
          <p:cNvGraphicFramePr>
            <a:graphicFrameLocks noGrp="1" noChangeAspect="1"/>
          </p:cNvGraphicFramePr>
          <p:nvPr>
            <p:extLst>
              <p:ext uri="{D42A27DB-BD31-4B8C-83A1-F6EECF244321}">
                <p14:modId xmlns:p14="http://schemas.microsoft.com/office/powerpoint/2010/main" val="712321260"/>
              </p:ext>
            </p:extLst>
          </p:nvPr>
        </p:nvGraphicFramePr>
        <p:xfrm>
          <a:off x="381000" y="2239523"/>
          <a:ext cx="11430000" cy="981456"/>
        </p:xfrm>
        <a:graphic>
          <a:graphicData uri="http://schemas.openxmlformats.org/drawingml/2006/table">
            <a:tbl>
              <a:tblPr firstRow="1" firstCol="1" bandRow="1"/>
              <a:tblGrid>
                <a:gridCol w="3810000"/>
                <a:gridCol w="3810000"/>
                <a:gridCol w="3810000"/>
              </a:tblGrid>
              <a:tr h="0">
                <a:tc>
                  <a:txBody>
                    <a:bodyPr/>
                    <a:lstStyle/>
                    <a:p>
                      <a:pPr algn="ctr">
                        <a:lnSpc>
                          <a:spcPct val="115000"/>
                        </a:lnSpc>
                        <a:spcAft>
                          <a:spcPts val="0"/>
                        </a:spcAft>
                        <a:tabLst>
                          <a:tab pos="1188085" algn="l"/>
                          <a:tab pos="2163445" algn="l"/>
                          <a:tab pos="3142615" algn="l"/>
                          <a:tab pos="4190365" algn="l"/>
                        </a:tabLst>
                      </a:pPr>
                      <a:r>
                        <a:rPr lang="en-US" sz="2800" i="1" u="non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800" u="none">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u="non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2800" u="none">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u="non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u="none">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u="non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endParaRPr lang="zh-CN" sz="2800" u="none">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u="non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en-US" sz="2800" i="1" u="non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endParaRPr lang="zh-CN" sz="2800" u="none">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u="none">
                          <a:solidFill>
                            <a:srgbClr val="FF0000"/>
                          </a:solidFill>
                          <a:effectLst/>
                          <a:uFill>
                            <a:solidFill>
                              <a:srgbClr val="000000"/>
                            </a:solidFill>
                          </a:uFill>
                          <a:latin typeface="Times New Roman" panose="02020603050405020304" pitchFamily="18" charset="0"/>
                          <a:ea typeface="宋体" panose="02010600030101010101" pitchFamily="2" charset="-122"/>
                          <a:cs typeface="Times New Roman" panose="02020603050405020304" pitchFamily="18" charset="0"/>
                        </a:rPr>
                        <a:t>p</a:t>
                      </a:r>
                      <a:endParaRPr lang="zh-CN" sz="2800" u="none">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4" name="矩形 3"/>
          <p:cNvSpPr>
            <a:spLocks noChangeAspect="1"/>
          </p:cNvSpPr>
          <p:nvPr/>
        </p:nvSpPr>
        <p:spPr>
          <a:xfrm>
            <a:off x="381000" y="3386632"/>
            <a:ext cx="5969904"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我们称</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smtClean="0">
                <a:solidFill>
                  <a:srgbClr val="000000"/>
                </a:solidFill>
                <a:latin typeface="Times New Roman" panose="02020603050405020304" pitchFamily="18" charset="0"/>
                <a:cs typeface="Times New Roman" panose="02020603050405020304" pitchFamily="18" charset="0"/>
              </a:rPr>
              <a:t>服从</a:t>
            </a:r>
            <a:r>
              <a:rPr lang="en-US" altLang="zh-CN" sz="2800" smtClean="0">
                <a:solidFill>
                  <a:srgbClr val="000000"/>
                </a:solidFill>
                <a:latin typeface="Times New Roman" panose="02020603050405020304" pitchFamily="18" charset="0"/>
                <a:cs typeface="Times New Roman" panose="02020603050405020304" pitchFamily="18" charset="0"/>
              </a:rPr>
              <a:t> </a:t>
            </a:r>
            <a:r>
              <a:rPr lang="zh-CN" altLang="zh-CN" sz="2800" smtClean="0">
                <a:solidFill>
                  <a:srgbClr val="FF0000"/>
                </a:solidFill>
                <a:latin typeface="Times New Roman" panose="02020603050405020304" pitchFamily="18" charset="0"/>
                <a:cs typeface="Times New Roman" panose="02020603050405020304" pitchFamily="18" charset="0"/>
              </a:rPr>
              <a:t>两点分布</a:t>
            </a:r>
            <a:r>
              <a:rPr lang="en-US" altLang="zh-CN" sz="2800" smtClean="0">
                <a:solidFill>
                  <a:srgbClr val="FF0000"/>
                </a:solidFill>
                <a:latin typeface="Times New Roman" panose="02020603050405020304" pitchFamily="18" charset="0"/>
                <a:cs typeface="Times New Roman" panose="02020603050405020304" pitchFamily="18" charset="0"/>
              </a:rPr>
              <a:t> </a:t>
            </a:r>
            <a:r>
              <a:rPr lang="zh-CN" altLang="zh-CN" sz="2800" smtClean="0">
                <a:solidFill>
                  <a:srgbClr val="000000"/>
                </a:solidFill>
                <a:latin typeface="Times New Roman" panose="02020603050405020304" pitchFamily="18" charset="0"/>
                <a:cs typeface="Times New Roman" panose="02020603050405020304" pitchFamily="18" charset="0"/>
              </a:rPr>
              <a:t>或</a:t>
            </a:r>
            <a:r>
              <a:rPr lang="en-US" altLang="zh-CN" sz="2800" smtClean="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FF0000"/>
                </a:solidFill>
                <a:latin typeface="Times New Roman" panose="02020603050405020304" pitchFamily="18" charset="0"/>
                <a:cs typeface="Times New Roman" panose="02020603050405020304" pitchFamily="18" charset="0"/>
              </a:rPr>
              <a:t>0—1</a:t>
            </a:r>
            <a:r>
              <a:rPr lang="zh-CN" altLang="zh-CN" sz="2800" smtClean="0">
                <a:solidFill>
                  <a:srgbClr val="FF0000"/>
                </a:solidFill>
                <a:latin typeface="Times New Roman" panose="02020603050405020304" pitchFamily="18" charset="0"/>
                <a:cs typeface="Times New Roman" panose="02020603050405020304" pitchFamily="18" charset="0"/>
              </a:rPr>
              <a:t>分布</a:t>
            </a:r>
            <a:r>
              <a:rPr lang="en-US" altLang="zh-CN" sz="2800" smtClean="0">
                <a:solidFill>
                  <a:srgbClr val="FF0000"/>
                </a:solidFill>
                <a:latin typeface="Times New Roman" panose="02020603050405020304" pitchFamily="18" charset="0"/>
                <a:cs typeface="Times New Roman" panose="02020603050405020304" pitchFamily="18" charset="0"/>
              </a:rPr>
              <a:t> </a:t>
            </a:r>
            <a:r>
              <a:rPr lang="en-US" altLang="zh-CN" sz="2800" i="1"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5" name="矩形 4"/>
          <p:cNvSpPr/>
          <p:nvPr/>
        </p:nvSpPr>
        <p:spPr>
          <a:xfrm>
            <a:off x="9252592" y="2841296"/>
            <a:ext cx="1424529" cy="351786"/>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9252592" y="3199586"/>
            <a:ext cx="142452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2568767" y="3428709"/>
            <a:ext cx="1424529"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2568767" y="3980306"/>
            <a:ext cx="142452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4462885" y="3428709"/>
            <a:ext cx="1527289"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4462885" y="3980306"/>
            <a:ext cx="15272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矩形 11"/>
          <p:cNvSpPr>
            <a:spLocks noChangeAspect="1"/>
          </p:cNvSpPr>
          <p:nvPr/>
        </p:nvSpPr>
        <p:spPr>
          <a:xfrm>
            <a:off x="381000" y="4045622"/>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3</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若随机变量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服从两点分布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且</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设</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且</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3012375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2">
                                            <p:txEl>
                                              <p:pRg st="1" end="1"/>
                                            </p:txEl>
                                          </p:spTgt>
                                        </p:tgtEl>
                                        <p:attrNameLst>
                                          <p:attrName>style.visibility</p:attrName>
                                        </p:attrNameLst>
                                      </p:cBhvr>
                                      <p:to>
                                        <p:strVal val="visible"/>
                                      </p:to>
                                    </p:set>
                                    <p:animEffect transition="in" filter="randombar(horizontal)">
                                      <p:cBhvr>
                                        <p:cTn id="22" dur="500"/>
                                        <p:tgtEl>
                                          <p:spTgt spid="1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12">
                                            <p:txEl>
                                              <p:pRg st="2" end="2"/>
                                            </p:txEl>
                                          </p:spTgt>
                                        </p:tgtEl>
                                        <p:attrNameLst>
                                          <p:attrName>style.visibility</p:attrName>
                                        </p:attrNameLst>
                                      </p:cBhvr>
                                      <p:to>
                                        <p:strVal val="visible"/>
                                      </p:to>
                                    </p:set>
                                    <p:animEffect transition="in" filter="randombar(horizontal)">
                                      <p:cBhvr>
                                        <p:cTn id="27"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1362857"/>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a:solidFill>
                  <a:srgbClr val="000000"/>
                </a:solidFill>
                <a:latin typeface="NEU-BZ-S92"/>
                <a:ea typeface="Arial" panose="020B0604020202020204" pitchFamily="34" charset="0"/>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正确的在后面的括号内画</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Cambria Math" panose="02040503050406030204" pitchFamily="18" charset="0"/>
                <a:ea typeface="NEU-BZ-S9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错误的画</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在离散型随机变量分布列中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每一个可能取值对应的概率可以为任意的实数</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离散型随机变量的分布列的每个随机变量取值对应的概率都相等</a:t>
            </a:r>
            <a:r>
              <a:rPr lang="en-US" altLang="zh-CN" sz="2800" i="1" smtClean="0">
                <a:solidFill>
                  <a:srgbClr val="000000"/>
                </a:solidFill>
                <a:latin typeface="Times New Roman" panose="02020603050405020304" pitchFamily="18" charset="0"/>
                <a:cs typeface="Times New Roman" panose="02020603050405020304" pitchFamily="18" charset="0"/>
              </a:rPr>
              <a:t>.</a:t>
            </a:r>
          </a:p>
          <a:p>
            <a:pPr algn="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在离散型随机变量分布列中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所有概率之和为</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Cambria Math" panose="020405030504060302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只取两个值的分布是两点分布</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4" name="矩形 3"/>
          <p:cNvSpPr/>
          <p:nvPr/>
        </p:nvSpPr>
        <p:spPr>
          <a:xfrm>
            <a:off x="1464998" y="3116385"/>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0973922" y="4204957"/>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141067" y="4784274"/>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466152" y="5330933"/>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359387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离散型随机变量的分布列及其性质的应用</a:t>
                </a:r>
                <a:endParaRPr lang="zh-CN" altLang="en-US" sz="2800" b="1" dirty="0">
                  <a:solidFill>
                    <a:schemeClr val="bg1"/>
                  </a:solidFill>
                </a:endParaRPr>
              </a:p>
            </p:txBody>
          </p:sp>
        </p:grpSp>
      </p:grpSp>
      <p:sp>
        <p:nvSpPr>
          <p:cNvPr id="2" name="矩形 1"/>
          <p:cNvSpPr>
            <a:spLocks noChangeAspect="1"/>
          </p:cNvSpPr>
          <p:nvPr/>
        </p:nvSpPr>
        <p:spPr>
          <a:xfrm>
            <a:off x="381000" y="689845"/>
            <a:ext cx="8095486"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已知一个离散型随机变量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的分布</a:t>
            </a:r>
            <a:r>
              <a:rPr lang="zh-CN" altLang="zh-CN" sz="2800" smtClean="0">
                <a:solidFill>
                  <a:srgbClr val="000000"/>
                </a:solidFill>
                <a:latin typeface="Times New Roman" panose="02020603050405020304" pitchFamily="18" charset="0"/>
                <a:cs typeface="Times New Roman" panose="02020603050405020304" pitchFamily="18" charset="0"/>
              </a:rPr>
              <a:t>列为</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74607252"/>
              </p:ext>
            </p:extLst>
          </p:nvPr>
        </p:nvGraphicFramePr>
        <p:xfrm>
          <a:off x="442268" y="1292941"/>
          <a:ext cx="11307463" cy="2593820"/>
        </p:xfrm>
        <a:graphic>
          <a:graphicData uri="http://schemas.openxmlformats.org/presentationml/2006/ole">
            <mc:AlternateContent xmlns:mc="http://schemas.openxmlformats.org/markup-compatibility/2006">
              <mc:Choice xmlns:v="urn:schemas-microsoft-com:vml" Requires="v">
                <p:oleObj spid="_x0000_s7224" name="文档" r:id="rId4" imgW="4510061" imgH="1036450" progId="Word.Document.12">
                  <p:embed/>
                </p:oleObj>
              </mc:Choice>
              <mc:Fallback>
                <p:oleObj name="文档" r:id="rId4" imgW="4510061" imgH="1036450" progId="Word.Document.12">
                  <p:embed/>
                  <p:pic>
                    <p:nvPicPr>
                      <p:cNvPr id="0" name=""/>
                      <p:cNvPicPr/>
                      <p:nvPr/>
                    </p:nvPicPr>
                    <p:blipFill>
                      <a:blip r:embed="rId5"/>
                      <a:stretch>
                        <a:fillRect/>
                      </a:stretch>
                    </p:blipFill>
                    <p:spPr>
                      <a:xfrm>
                        <a:off x="442268" y="1292941"/>
                        <a:ext cx="11307463" cy="259382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622884390"/>
              </p:ext>
            </p:extLst>
          </p:nvPr>
        </p:nvGraphicFramePr>
        <p:xfrm>
          <a:off x="458424" y="2622934"/>
          <a:ext cx="11275153" cy="1557910"/>
        </p:xfrm>
        <a:graphic>
          <a:graphicData uri="http://schemas.openxmlformats.org/presentationml/2006/ole">
            <mc:AlternateContent xmlns:mc="http://schemas.openxmlformats.org/markup-compatibility/2006">
              <mc:Choice xmlns:v="urn:schemas-microsoft-com:vml" Requires="v">
                <p:oleObj spid="_x0000_s7225" name="文档" r:id="rId7" imgW="4510061" imgH="623164" progId="Word.Document.12">
                  <p:embed/>
                </p:oleObj>
              </mc:Choice>
              <mc:Fallback>
                <p:oleObj name="文档" r:id="rId7" imgW="4510061" imgH="623164" progId="Word.Document.12">
                  <p:embed/>
                  <p:pic>
                    <p:nvPicPr>
                      <p:cNvPr id="0" name=""/>
                      <p:cNvPicPr/>
                      <p:nvPr/>
                    </p:nvPicPr>
                    <p:blipFill>
                      <a:blip r:embed="rId8"/>
                      <a:stretch>
                        <a:fillRect/>
                      </a:stretch>
                    </p:blipFill>
                    <p:spPr>
                      <a:xfrm>
                        <a:off x="458424" y="2622934"/>
                        <a:ext cx="11275153" cy="1557910"/>
                      </a:xfrm>
                      <a:prstGeom prst="rect">
                        <a:avLst/>
                      </a:prstGeom>
                    </p:spPr>
                  </p:pic>
                </p:oleObj>
              </mc:Fallback>
            </mc:AlternateContent>
          </a:graphicData>
        </a:graphic>
      </p:graphicFrame>
      <p:sp>
        <p:nvSpPr>
          <p:cNvPr id="10" name="矩形 9"/>
          <p:cNvSpPr>
            <a:spLocks noChangeAspect="1"/>
          </p:cNvSpPr>
          <p:nvPr/>
        </p:nvSpPr>
        <p:spPr>
          <a:xfrm>
            <a:off x="381000" y="4002743"/>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已知离散型随机变</a:t>
            </a:r>
            <a:r>
              <a:rPr lang="zh-CN" altLang="zh-CN" sz="2800" smtClean="0">
                <a:solidFill>
                  <a:srgbClr val="000000"/>
                </a:solidFill>
                <a:latin typeface="Times New Roman" panose="02020603050405020304" pitchFamily="18" charset="0"/>
                <a:cs typeface="Times New Roman" panose="02020603050405020304" pitchFamily="18" charset="0"/>
              </a:rPr>
              <a:t>量</a:t>
            </a:r>
            <a:r>
              <a:rPr lang="en-US" altLang="zh-CN" sz="2800" i="1" smtClean="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X</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其可能取值为</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3</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若对应的概率成等差数列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则该等差数列的公差的取值范围是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2046452653"/>
              </p:ext>
            </p:extLst>
          </p:nvPr>
        </p:nvGraphicFramePr>
        <p:xfrm>
          <a:off x="458424" y="5093466"/>
          <a:ext cx="11275153" cy="989193"/>
        </p:xfrm>
        <a:graphic>
          <a:graphicData uri="http://schemas.openxmlformats.org/presentationml/2006/ole">
            <mc:AlternateContent xmlns:mc="http://schemas.openxmlformats.org/markup-compatibility/2006">
              <mc:Choice xmlns:v="urn:schemas-microsoft-com:vml" Requires="v">
                <p:oleObj spid="_x0000_s7226" name="文档" r:id="rId10" imgW="4510061" imgH="395677" progId="Word.Document.12">
                  <p:embed/>
                </p:oleObj>
              </mc:Choice>
              <mc:Fallback>
                <p:oleObj name="文档" r:id="rId10" imgW="4510061" imgH="395677" progId="Word.Document.12">
                  <p:embed/>
                  <p:pic>
                    <p:nvPicPr>
                      <p:cNvPr id="0" name=""/>
                      <p:cNvPicPr/>
                      <p:nvPr/>
                    </p:nvPicPr>
                    <p:blipFill>
                      <a:blip r:embed="rId11"/>
                      <a:stretch>
                        <a:fillRect/>
                      </a:stretch>
                    </p:blipFill>
                    <p:spPr>
                      <a:xfrm>
                        <a:off x="458424" y="5093466"/>
                        <a:ext cx="11275153" cy="989193"/>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580539851"/>
              </p:ext>
            </p:extLst>
          </p:nvPr>
        </p:nvGraphicFramePr>
        <p:xfrm>
          <a:off x="458424" y="808219"/>
          <a:ext cx="11275153" cy="4029540"/>
        </p:xfrm>
        <a:graphic>
          <a:graphicData uri="http://schemas.openxmlformats.org/presentationml/2006/ole">
            <mc:AlternateContent xmlns:mc="http://schemas.openxmlformats.org/markup-compatibility/2006">
              <mc:Choice xmlns:v="urn:schemas-microsoft-com:vml" Requires="v">
                <p:oleObj spid="_x0000_s11283" name="文档" r:id="rId4" imgW="4510061" imgH="1611816" progId="Word.Document.12">
                  <p:embed/>
                </p:oleObj>
              </mc:Choice>
              <mc:Fallback>
                <p:oleObj name="文档" r:id="rId4" imgW="4510061" imgH="1611816" progId="Word.Document.12">
                  <p:embed/>
                  <p:pic>
                    <p:nvPicPr>
                      <p:cNvPr id="0" name=""/>
                      <p:cNvPicPr/>
                      <p:nvPr/>
                    </p:nvPicPr>
                    <p:blipFill>
                      <a:blip r:embed="rId5"/>
                      <a:stretch>
                        <a:fillRect/>
                      </a:stretch>
                    </p:blipFill>
                    <p:spPr>
                      <a:xfrm>
                        <a:off x="458424" y="808219"/>
                        <a:ext cx="11275153" cy="4029540"/>
                      </a:xfrm>
                      <a:prstGeom prst="rect">
                        <a:avLst/>
                      </a:prstGeom>
                    </p:spPr>
                  </p:pic>
                </p:oleObj>
              </mc:Fallback>
            </mc:AlternateContent>
          </a:graphicData>
        </a:graphic>
      </p:graphicFrame>
      <p:sp>
        <p:nvSpPr>
          <p:cNvPr id="6" name="矩形 5"/>
          <p:cNvSpPr>
            <a:spLocks noChangeAspect="1"/>
          </p:cNvSpPr>
          <p:nvPr/>
        </p:nvSpPr>
        <p:spPr>
          <a:xfrm>
            <a:off x="381000" y="4873296"/>
            <a:ext cx="2768707"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(1)C</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2)B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反思感悟H.eps" descr="id:2147503815;FounderCES"/>
          <p:cNvPicPr/>
          <p:nvPr/>
        </p:nvPicPr>
        <p:blipFill>
          <a:blip r:embed="rId2">
            <a:clrChange>
              <a:clrFrom>
                <a:srgbClr val="FFFFFF"/>
              </a:clrFrom>
              <a:clrTo>
                <a:srgbClr val="FFFFFF">
                  <a:alpha val="0"/>
                </a:srgbClr>
              </a:clrTo>
            </a:clrChange>
          </a:blip>
          <a:stretch>
            <a:fillRect/>
          </a:stretch>
        </p:blipFill>
        <p:spPr>
          <a:xfrm>
            <a:off x="497437" y="551458"/>
            <a:ext cx="2265333" cy="532911"/>
          </a:xfrm>
          <a:prstGeom prst="rect">
            <a:avLst/>
          </a:prstGeom>
        </p:spPr>
      </p:pic>
      <p:sp>
        <p:nvSpPr>
          <p:cNvPr id="3" name="矩形 2"/>
          <p:cNvSpPr>
            <a:spLocks noChangeAspect="1"/>
          </p:cNvSpPr>
          <p:nvPr/>
        </p:nvSpPr>
        <p:spPr>
          <a:xfrm>
            <a:off x="381000" y="1082780"/>
            <a:ext cx="11430000" cy="50734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离散型随机变量的分布列及其性质应用的注意点</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离散型随机变量的分布列中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各个概率值之和等于</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这个性质一方面可以用来求参数值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另一方面还可以用来检验一个随机变量的分布列是否正确</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因为离散型随机变量取各个值时对应的事件是彼此互斥事件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所以随机变量在某一范围内取值的概率等于它取这个范围内的各个值的概率之和</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离散型随机变量的分布列可以用表格来表示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也可以用公式来表示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当随机变量的各个取值与它相对应的概率值之间具有明显的函数关系时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就可以用函数解析式来表示</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56942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99541"/>
            <a:ext cx="8393644"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设离散型随机变量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的概率分布列</a:t>
            </a:r>
            <a:r>
              <a:rPr lang="zh-CN" altLang="zh-CN" sz="2800" smtClean="0">
                <a:solidFill>
                  <a:srgbClr val="000000"/>
                </a:solidFill>
                <a:latin typeface="Times New Roman" panose="02020603050405020304" pitchFamily="18" charset="0"/>
                <a:cs typeface="Times New Roman" panose="02020603050405020304" pitchFamily="18" charset="0"/>
              </a:rPr>
              <a:t>为</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410018682"/>
              </p:ext>
            </p:extLst>
          </p:nvPr>
        </p:nvGraphicFramePr>
        <p:xfrm>
          <a:off x="434639" y="1152027"/>
          <a:ext cx="11322723" cy="2203768"/>
        </p:xfrm>
        <a:graphic>
          <a:graphicData uri="http://schemas.openxmlformats.org/presentationml/2006/ole">
            <mc:AlternateContent xmlns:mc="http://schemas.openxmlformats.org/markup-compatibility/2006">
              <mc:Choice xmlns:v="urn:schemas-microsoft-com:vml" Requires="v">
                <p:oleObj spid="_x0000_s30758" name="文档" r:id="rId4" imgW="4529089" imgH="881507" progId="Word.Document.12">
                  <p:embed/>
                </p:oleObj>
              </mc:Choice>
              <mc:Fallback>
                <p:oleObj name="文档" r:id="rId4" imgW="4529089" imgH="881507" progId="Word.Document.12">
                  <p:embed/>
                  <p:pic>
                    <p:nvPicPr>
                      <p:cNvPr id="0" name=""/>
                      <p:cNvPicPr/>
                      <p:nvPr/>
                    </p:nvPicPr>
                    <p:blipFill>
                      <a:blip r:embed="rId5"/>
                      <a:stretch>
                        <a:fillRect/>
                      </a:stretch>
                    </p:blipFill>
                    <p:spPr>
                      <a:xfrm>
                        <a:off x="434639" y="1152027"/>
                        <a:ext cx="11322723" cy="2203768"/>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368627958"/>
              </p:ext>
            </p:extLst>
          </p:nvPr>
        </p:nvGraphicFramePr>
        <p:xfrm>
          <a:off x="458424" y="3355795"/>
          <a:ext cx="11275153" cy="1983030"/>
        </p:xfrm>
        <a:graphic>
          <a:graphicData uri="http://schemas.openxmlformats.org/presentationml/2006/ole">
            <mc:AlternateContent xmlns:mc="http://schemas.openxmlformats.org/markup-compatibility/2006">
              <mc:Choice xmlns:v="urn:schemas-microsoft-com:vml" Requires="v">
                <p:oleObj spid="_x0000_s30759" name="文档" r:id="rId7" imgW="4510061" imgH="793212" progId="Word.Document.12">
                  <p:embed/>
                </p:oleObj>
              </mc:Choice>
              <mc:Fallback>
                <p:oleObj name="文档" r:id="rId7" imgW="4510061" imgH="793212" progId="Word.Document.12">
                  <p:embed/>
                  <p:pic>
                    <p:nvPicPr>
                      <p:cNvPr id="0" name=""/>
                      <p:cNvPicPr/>
                      <p:nvPr/>
                    </p:nvPicPr>
                    <p:blipFill>
                      <a:blip r:embed="rId8"/>
                      <a:stretch>
                        <a:fillRect/>
                      </a:stretch>
                    </p:blipFill>
                    <p:spPr>
                      <a:xfrm>
                        <a:off x="458424" y="3355795"/>
                        <a:ext cx="11275153" cy="198303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4174007861"/>
              </p:ext>
            </p:extLst>
          </p:nvPr>
        </p:nvGraphicFramePr>
        <p:xfrm>
          <a:off x="458424" y="5063580"/>
          <a:ext cx="11275153" cy="991965"/>
        </p:xfrm>
        <a:graphic>
          <a:graphicData uri="http://schemas.openxmlformats.org/presentationml/2006/ole">
            <mc:AlternateContent xmlns:mc="http://schemas.openxmlformats.org/markup-compatibility/2006">
              <mc:Choice xmlns:v="urn:schemas-microsoft-com:vml" Requires="v">
                <p:oleObj spid="_x0000_s30760" name="文档" r:id="rId10" imgW="4510061" imgH="396786" progId="Word.Document.12">
                  <p:embed/>
                </p:oleObj>
              </mc:Choice>
              <mc:Fallback>
                <p:oleObj name="文档" r:id="rId10" imgW="4510061" imgH="396786" progId="Word.Document.12">
                  <p:embed/>
                  <p:pic>
                    <p:nvPicPr>
                      <p:cNvPr id="0" name=""/>
                      <p:cNvPicPr/>
                      <p:nvPr/>
                    </p:nvPicPr>
                    <p:blipFill>
                      <a:blip r:embed="rId11"/>
                      <a:stretch>
                        <a:fillRect/>
                      </a:stretch>
                    </p:blipFill>
                    <p:spPr>
                      <a:xfrm>
                        <a:off x="458424" y="5063580"/>
                        <a:ext cx="11275153" cy="991965"/>
                      </a:xfrm>
                      <a:prstGeom prst="rect">
                        <a:avLst/>
                      </a:prstGeom>
                    </p:spPr>
                  </p:pic>
                </p:oleObj>
              </mc:Fallback>
            </mc:AlternateContent>
          </a:graphicData>
        </a:graphic>
      </p:graphicFrame>
    </p:spTree>
    <p:extLst>
      <p:ext uri="{BB962C8B-B14F-4D97-AF65-F5344CB8AC3E}">
        <p14:creationId xmlns:p14="http://schemas.microsoft.com/office/powerpoint/2010/main" val="36998394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求离散型随机变量的分布列</a:t>
                </a:r>
                <a:endParaRPr lang="zh-CN" altLang="en-US" sz="2800" b="1" dirty="0">
                  <a:solidFill>
                    <a:schemeClr val="bg1"/>
                  </a:solidFill>
                </a:endParaRPr>
              </a:p>
            </p:txBody>
          </p:sp>
        </p:grpSp>
      </p:grpSp>
      <p:sp>
        <p:nvSpPr>
          <p:cNvPr id="14" name="矩形 13"/>
          <p:cNvSpPr>
            <a:spLocks noChangeAspect="1"/>
          </p:cNvSpPr>
          <p:nvPr/>
        </p:nvSpPr>
        <p:spPr>
          <a:xfrm>
            <a:off x="381000" y="759785"/>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smtClean="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smtClean="0">
                <a:solidFill>
                  <a:srgbClr val="000000"/>
                </a:solidFill>
                <a:latin typeface="Times New Roman" panose="02020603050405020304" pitchFamily="18" charset="0"/>
                <a:cs typeface="Times New Roman" panose="02020603050405020304" pitchFamily="18" charset="0"/>
              </a:rPr>
              <a:t>2</a:t>
            </a:r>
            <a:r>
              <a:rPr lang="zh-CN" altLang="zh-CN" sz="2800" smtClean="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某</a:t>
            </a:r>
            <a:r>
              <a:rPr lang="zh-CN" altLang="zh-CN" sz="2800">
                <a:solidFill>
                  <a:srgbClr val="000000"/>
                </a:solidFill>
                <a:latin typeface="Times New Roman" panose="02020603050405020304" pitchFamily="18" charset="0"/>
                <a:cs typeface="Times New Roman" panose="02020603050405020304" pitchFamily="18" charset="0"/>
              </a:rPr>
              <a:t>射击运动员有</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发子弹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射击一次命中率为</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r>
              <a:rPr lang="zh-CN" altLang="zh-CN" sz="2800">
                <a:solidFill>
                  <a:srgbClr val="000000"/>
                </a:solidFill>
                <a:latin typeface="Times New Roman" panose="02020603050405020304" pitchFamily="18" charset="0"/>
                <a:cs typeface="Times New Roman" panose="02020603050405020304" pitchFamily="18" charset="0"/>
              </a:rPr>
              <a:t>若命中就停止射击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否则一直到子弹用尽</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求耗用子弹数</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的分布列</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由题意知</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是一个离散型随机变量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其可能取值为</a:t>
            </a:r>
            <a:r>
              <a:rPr lang="en-US" altLang="zh-CN" sz="2800">
                <a:solidFill>
                  <a:srgbClr val="000000"/>
                </a:solidFill>
                <a:latin typeface="Times New Roman" panose="02020603050405020304" pitchFamily="18" charset="0"/>
                <a:cs typeface="Times New Roman" panose="02020603050405020304" pitchFamily="18" charset="0"/>
              </a:rPr>
              <a:t>1,2,3,4,5</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即第一枪就中了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即第一枪未中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第二枪中了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16;</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同理</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032;</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baseline="30000">
                <a:solidFill>
                  <a:srgbClr val="000000"/>
                </a:solidFill>
                <a:latin typeface="Times New Roman" panose="02020603050405020304" pitchFamily="18" charset="0"/>
                <a:cs typeface="Times New Roman" panose="02020603050405020304" pitchFamily="18" charset="0"/>
              </a:rPr>
              <a:t>3</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006</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baseline="300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001</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6</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故耗用子弹数</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的分布列为</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15" name="表格 14"/>
          <p:cNvGraphicFramePr>
            <a:graphicFrameLocks noGrp="1" noChangeAspect="1"/>
          </p:cNvGraphicFramePr>
          <p:nvPr>
            <p:extLst>
              <p:ext uri="{D42A27DB-BD31-4B8C-83A1-F6EECF244321}">
                <p14:modId xmlns:p14="http://schemas.microsoft.com/office/powerpoint/2010/main" val="141307377"/>
              </p:ext>
            </p:extLst>
          </p:nvPr>
        </p:nvGraphicFramePr>
        <p:xfrm>
          <a:off x="381000" y="5330537"/>
          <a:ext cx="11430000" cy="981456"/>
        </p:xfrm>
        <a:graphic>
          <a:graphicData uri="http://schemas.openxmlformats.org/drawingml/2006/table">
            <a:tbl>
              <a:tblPr firstRow="1" firstCol="1" bandRow="1"/>
              <a:tblGrid>
                <a:gridCol w="1905000"/>
                <a:gridCol w="1905000"/>
                <a:gridCol w="1905000"/>
                <a:gridCol w="1905000"/>
                <a:gridCol w="1905000"/>
                <a:gridCol w="1905000"/>
              </a:tblGrid>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032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006</a:t>
                      </a:r>
                      <a:r>
                        <a:rPr lang="en-US"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001</a:t>
                      </a:r>
                      <a:r>
                        <a:rPr lang="en-US"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randombar(horizontal)">
                                      <p:cBhvr>
                                        <p:cTn id="7" dur="500"/>
                                        <p:tgtEl>
                                          <p:spTgt spid="14">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14">
                                            <p:txEl>
                                              <p:pRg st="2" end="2"/>
                                            </p:txEl>
                                          </p:spTgt>
                                        </p:tgtEl>
                                        <p:attrNameLst>
                                          <p:attrName>style.visibility</p:attrName>
                                        </p:attrNameLst>
                                      </p:cBhvr>
                                      <p:to>
                                        <p:strVal val="visible"/>
                                      </p:to>
                                    </p:set>
                                    <p:animEffect transition="in" filter="randombar(horizontal)">
                                      <p:cBhvr>
                                        <p:cTn id="10" dur="500"/>
                                        <p:tgtEl>
                                          <p:spTgt spid="14">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animEffect transition="in" filter="randombar(horizontal)">
                                      <p:cBhvr>
                                        <p:cTn id="13" dur="500"/>
                                        <p:tgtEl>
                                          <p:spTgt spid="14">
                                            <p:txEl>
                                              <p:pRg st="3" end="3"/>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randombar(horizontal)">
                                      <p:cBhvr>
                                        <p:cTn id="1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191721557"/>
              </p:ext>
            </p:extLst>
          </p:nvPr>
        </p:nvGraphicFramePr>
        <p:xfrm>
          <a:off x="458424" y="1274643"/>
          <a:ext cx="11275153" cy="494148"/>
        </p:xfrm>
        <a:graphic>
          <a:graphicData uri="http://schemas.openxmlformats.org/presentationml/2006/ole">
            <mc:AlternateContent xmlns:mc="http://schemas.openxmlformats.org/markup-compatibility/2006">
              <mc:Choice xmlns:v="urn:schemas-microsoft-com:vml" Requires="v">
                <p:oleObj spid="_x0000_s17427"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274643"/>
                        <a:ext cx="11275153" cy="494148"/>
                      </a:xfrm>
                      <a:prstGeom prst="rect">
                        <a:avLst/>
                      </a:prstGeom>
                    </p:spPr>
                  </p:pic>
                </p:oleObj>
              </mc:Fallback>
            </mc:AlternateContent>
          </a:graphicData>
        </a:graphic>
      </p:graphicFrame>
      <p:sp>
        <p:nvSpPr>
          <p:cNvPr id="4" name="矩形 3"/>
          <p:cNvSpPr>
            <a:spLocks noChangeAspect="1"/>
          </p:cNvSpPr>
          <p:nvPr/>
        </p:nvSpPr>
        <p:spPr>
          <a:xfrm>
            <a:off x="381000" y="1966780"/>
            <a:ext cx="11430000" cy="283282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求离散型随机变量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分布列的一般步骤</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确定</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的所有可能取值</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仿宋" panose="02010609060101010101" pitchFamily="49"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以及每个取值所表示的意义</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利用概率的相关知识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求出每个取值相应的概率</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X=x</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i=</a:t>
            </a:r>
            <a:r>
              <a:rPr lang="en-US" altLang="zh-CN" sz="2800">
                <a:solidFill>
                  <a:srgbClr val="000000"/>
                </a:solidFill>
                <a:latin typeface="Times New Roman" panose="02020603050405020304" pitchFamily="18" charset="0"/>
                <a:cs typeface="Times New Roman" panose="02020603050405020304" pitchFamily="18" charset="0"/>
              </a:rPr>
              <a:t>1,2,</a:t>
            </a:r>
            <a:r>
              <a:rPr lang="en-US" altLang="zh-CN" sz="2800">
                <a:solidFill>
                  <a:srgbClr val="000000"/>
                </a:solidFill>
                <a:latin typeface="仿宋" panose="02010609060101010101" pitchFamily="49"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写出</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的分布列</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根据分布列的性质对结果进行检验</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029159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81000" y="2033775"/>
            <a:ext cx="11430000" cy="17727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zh-CN" altLang="en-US" sz="2800" smtClean="0">
                <a:solidFill>
                  <a:srgbClr val="000000"/>
                </a:solidFill>
                <a:latin typeface="Times New Roman" panose="02020603050405020304" pitchFamily="18" charset="0"/>
                <a:cs typeface="Times New Roman" panose="02020603050405020304" pitchFamily="18" charset="0"/>
              </a:rPr>
              <a:t>一</a:t>
            </a:r>
            <a:r>
              <a:rPr lang="zh-CN" altLang="en-US" sz="2800">
                <a:solidFill>
                  <a:srgbClr val="000000"/>
                </a:solidFill>
                <a:latin typeface="Times New Roman" panose="02020603050405020304" pitchFamily="18" charset="0"/>
                <a:cs typeface="Times New Roman" panose="02020603050405020304" pitchFamily="18" charset="0"/>
              </a:rPr>
              <a:t>个不透明的袋中有大小</a:t>
            </a:r>
            <a:r>
              <a:rPr lang="zh-CN"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质地相同的</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个白球和</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个黑球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每次从中任取</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个球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每次取出的黑球不再放回</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直到取出白球为止</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求取球次数</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的分布列</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015480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985192968"/>
              </p:ext>
            </p:extLst>
          </p:nvPr>
        </p:nvGraphicFramePr>
        <p:xfrm>
          <a:off x="438150" y="106167"/>
          <a:ext cx="11277600" cy="7364413"/>
        </p:xfrm>
        <a:graphic>
          <a:graphicData uri="http://schemas.openxmlformats.org/presentationml/2006/ole">
            <mc:AlternateContent xmlns:mc="http://schemas.openxmlformats.org/markup-compatibility/2006">
              <mc:Choice xmlns:v="urn:schemas-microsoft-com:vml" Requires="v">
                <p:oleObj spid="_x0000_s32781" name="文档" r:id="rId4" imgW="4510061" imgH="2977519" progId="Word.Document.12">
                  <p:embed/>
                </p:oleObj>
              </mc:Choice>
              <mc:Fallback>
                <p:oleObj name="文档" r:id="rId4" imgW="4510061" imgH="2977519" progId="Word.Document.12">
                  <p:embed/>
                  <p:pic>
                    <p:nvPicPr>
                      <p:cNvPr id="0" name=""/>
                      <p:cNvPicPr/>
                      <p:nvPr/>
                    </p:nvPicPr>
                    <p:blipFill>
                      <a:blip r:embed="rId5"/>
                      <a:stretch>
                        <a:fillRect/>
                      </a:stretch>
                    </p:blipFill>
                    <p:spPr>
                      <a:xfrm>
                        <a:off x="438150" y="106167"/>
                        <a:ext cx="11277600" cy="7364413"/>
                      </a:xfrm>
                      <a:prstGeom prst="rect">
                        <a:avLst/>
                      </a:prstGeom>
                    </p:spPr>
                  </p:pic>
                </p:oleObj>
              </mc:Fallback>
            </mc:AlternateContent>
          </a:graphicData>
        </a:graphic>
      </p:graphicFrame>
    </p:spTree>
    <p:extLst>
      <p:ext uri="{BB962C8B-B14F-4D97-AF65-F5344CB8AC3E}">
        <p14:creationId xmlns:p14="http://schemas.microsoft.com/office/powerpoint/2010/main" val="33188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探究三</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两点分布</a:t>
                </a:r>
                <a:endParaRPr lang="zh-CN" altLang="en-US" sz="2800" b="1" dirty="0">
                  <a:solidFill>
                    <a:schemeClr val="bg1"/>
                  </a:solidFill>
                </a:endParaRPr>
              </a:p>
            </p:txBody>
          </p:sp>
        </p:grpSp>
      </p:grpSp>
      <p:graphicFrame>
        <p:nvGraphicFramePr>
          <p:cNvPr id="2" name="对象 1"/>
          <p:cNvGraphicFramePr>
            <a:graphicFrameLocks noChangeAspect="1"/>
          </p:cNvGraphicFramePr>
          <p:nvPr>
            <p:extLst>
              <p:ext uri="{D42A27DB-BD31-4B8C-83A1-F6EECF244321}">
                <p14:modId xmlns:p14="http://schemas.microsoft.com/office/powerpoint/2010/main" val="4200923285"/>
              </p:ext>
            </p:extLst>
          </p:nvPr>
        </p:nvGraphicFramePr>
        <p:xfrm>
          <a:off x="458424" y="701173"/>
          <a:ext cx="11275153" cy="2052055"/>
        </p:xfrm>
        <a:graphic>
          <a:graphicData uri="http://schemas.openxmlformats.org/presentationml/2006/ole">
            <mc:AlternateContent xmlns:mc="http://schemas.openxmlformats.org/markup-compatibility/2006">
              <mc:Choice xmlns:v="urn:schemas-microsoft-com:vml" Requires="v">
                <p:oleObj spid="_x0000_s19509" name="文档" r:id="rId4" imgW="4521949" imgH="822055" progId="Word.Document.12">
                  <p:embed/>
                </p:oleObj>
              </mc:Choice>
              <mc:Fallback>
                <p:oleObj name="文档" r:id="rId4" imgW="4521949" imgH="822055" progId="Word.Document.12">
                  <p:embed/>
                  <p:pic>
                    <p:nvPicPr>
                      <p:cNvPr id="0" name=""/>
                      <p:cNvPicPr/>
                      <p:nvPr/>
                    </p:nvPicPr>
                    <p:blipFill>
                      <a:blip r:embed="rId5"/>
                      <a:stretch>
                        <a:fillRect/>
                      </a:stretch>
                    </p:blipFill>
                    <p:spPr>
                      <a:xfrm>
                        <a:off x="458424" y="701173"/>
                        <a:ext cx="11275153" cy="2052055"/>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4108480734"/>
              </p:ext>
            </p:extLst>
          </p:nvPr>
        </p:nvGraphicFramePr>
        <p:xfrm>
          <a:off x="458424" y="2578567"/>
          <a:ext cx="11275153" cy="2125728"/>
        </p:xfrm>
        <a:graphic>
          <a:graphicData uri="http://schemas.openxmlformats.org/presentationml/2006/ole">
            <mc:AlternateContent xmlns:mc="http://schemas.openxmlformats.org/markup-compatibility/2006">
              <mc:Choice xmlns:v="urn:schemas-microsoft-com:vml" Requires="v">
                <p:oleObj spid="_x0000_s19510" name="文档" r:id="rId7" imgW="4510061" imgH="850291" progId="Word.Document.12">
                  <p:embed/>
                </p:oleObj>
              </mc:Choice>
              <mc:Fallback>
                <p:oleObj name="文档" r:id="rId7" imgW="4510061" imgH="850291" progId="Word.Document.12">
                  <p:embed/>
                  <p:pic>
                    <p:nvPicPr>
                      <p:cNvPr id="0" name=""/>
                      <p:cNvPicPr/>
                      <p:nvPr/>
                    </p:nvPicPr>
                    <p:blipFill>
                      <a:blip r:embed="rId8"/>
                      <a:stretch>
                        <a:fillRect/>
                      </a:stretch>
                    </p:blipFill>
                    <p:spPr>
                      <a:xfrm>
                        <a:off x="458424" y="2578567"/>
                        <a:ext cx="11275153" cy="2125728"/>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204222014"/>
              </p:ext>
            </p:extLst>
          </p:nvPr>
        </p:nvGraphicFramePr>
        <p:xfrm>
          <a:off x="438150" y="4687440"/>
          <a:ext cx="11277600" cy="2108200"/>
        </p:xfrm>
        <a:graphic>
          <a:graphicData uri="http://schemas.openxmlformats.org/presentationml/2006/ole">
            <mc:AlternateContent xmlns:mc="http://schemas.openxmlformats.org/markup-compatibility/2006">
              <mc:Choice xmlns:v="urn:schemas-microsoft-com:vml" Requires="v">
                <p:oleObj spid="_x0000_s19511" name="文档" r:id="rId10" imgW="4510061" imgH="905995" progId="Word.Document.12">
                  <p:embed/>
                </p:oleObj>
              </mc:Choice>
              <mc:Fallback>
                <p:oleObj name="文档" r:id="rId10" imgW="4510061" imgH="905995" progId="Word.Document.12">
                  <p:embed/>
                  <p:pic>
                    <p:nvPicPr>
                      <p:cNvPr id="0" name=""/>
                      <p:cNvPicPr/>
                      <p:nvPr/>
                    </p:nvPicPr>
                    <p:blipFill>
                      <a:blip r:embed="rId11"/>
                      <a:stretch>
                        <a:fillRect/>
                      </a:stretch>
                    </p:blipFill>
                    <p:spPr>
                      <a:xfrm>
                        <a:off x="438150" y="4687440"/>
                        <a:ext cx="11277600" cy="2108200"/>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14"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延伸探究H.eps" descr="id:2147515106;FounderCES"/>
          <p:cNvPicPr/>
          <p:nvPr/>
        </p:nvPicPr>
        <p:blipFill>
          <a:blip r:embed="rId3">
            <a:clrChange>
              <a:clrFrom>
                <a:srgbClr val="FFFFFF"/>
              </a:clrFrom>
              <a:clrTo>
                <a:srgbClr val="FFFFFF">
                  <a:alpha val="0"/>
                </a:srgbClr>
              </a:clrTo>
            </a:clrChange>
          </a:blip>
          <a:stretch>
            <a:fillRect/>
          </a:stretch>
        </p:blipFill>
        <p:spPr>
          <a:xfrm>
            <a:off x="4966271" y="319546"/>
            <a:ext cx="2259458" cy="412065"/>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1943417516"/>
              </p:ext>
            </p:extLst>
          </p:nvPr>
        </p:nvGraphicFramePr>
        <p:xfrm>
          <a:off x="458424" y="2133029"/>
          <a:ext cx="11275153" cy="2125728"/>
        </p:xfrm>
        <a:graphic>
          <a:graphicData uri="http://schemas.openxmlformats.org/presentationml/2006/ole">
            <mc:AlternateContent xmlns:mc="http://schemas.openxmlformats.org/markup-compatibility/2006">
              <mc:Choice xmlns:v="urn:schemas-microsoft-com:vml" Requires="v">
                <p:oleObj spid="_x0000_s20533" name="文档" r:id="rId5" imgW="4510061" imgH="850291" progId="Word.Document.12">
                  <p:embed/>
                </p:oleObj>
              </mc:Choice>
              <mc:Fallback>
                <p:oleObj name="文档" r:id="rId5" imgW="4510061" imgH="850291" progId="Word.Document.12">
                  <p:embed/>
                  <p:pic>
                    <p:nvPicPr>
                      <p:cNvPr id="0" name=""/>
                      <p:cNvPicPr/>
                      <p:nvPr/>
                    </p:nvPicPr>
                    <p:blipFill>
                      <a:blip r:embed="rId6"/>
                      <a:stretch>
                        <a:fillRect/>
                      </a:stretch>
                    </p:blipFill>
                    <p:spPr>
                      <a:xfrm>
                        <a:off x="458424" y="2133029"/>
                        <a:ext cx="11275153" cy="2125728"/>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488870236"/>
              </p:ext>
            </p:extLst>
          </p:nvPr>
        </p:nvGraphicFramePr>
        <p:xfrm>
          <a:off x="442268" y="4258757"/>
          <a:ext cx="11307463" cy="2593820"/>
        </p:xfrm>
        <a:graphic>
          <a:graphicData uri="http://schemas.openxmlformats.org/presentationml/2006/ole">
            <mc:AlternateContent xmlns:mc="http://schemas.openxmlformats.org/markup-compatibility/2006">
              <mc:Choice xmlns:v="urn:schemas-microsoft-com:vml" Requires="v">
                <p:oleObj spid="_x0000_s20534" name="文档" r:id="rId8" imgW="4522985" imgH="1037528" progId="Word.Document.12">
                  <p:embed/>
                </p:oleObj>
              </mc:Choice>
              <mc:Fallback>
                <p:oleObj name="文档" r:id="rId8" imgW="4522985" imgH="1037528" progId="Word.Document.12">
                  <p:embed/>
                  <p:pic>
                    <p:nvPicPr>
                      <p:cNvPr id="0" name=""/>
                      <p:cNvPicPr/>
                      <p:nvPr/>
                    </p:nvPicPr>
                    <p:blipFill>
                      <a:blip r:embed="rId9"/>
                      <a:stretch>
                        <a:fillRect/>
                      </a:stretch>
                    </p:blipFill>
                    <p:spPr>
                      <a:xfrm>
                        <a:off x="442268" y="4258757"/>
                        <a:ext cx="11307463" cy="259382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87879178"/>
              </p:ext>
            </p:extLst>
          </p:nvPr>
        </p:nvGraphicFramePr>
        <p:xfrm>
          <a:off x="458424" y="602667"/>
          <a:ext cx="11275153" cy="1487498"/>
        </p:xfrm>
        <a:graphic>
          <a:graphicData uri="http://schemas.openxmlformats.org/presentationml/2006/ole">
            <mc:AlternateContent xmlns:mc="http://schemas.openxmlformats.org/markup-compatibility/2006">
              <mc:Choice xmlns:v="urn:schemas-microsoft-com:vml" Requires="v">
                <p:oleObj spid="_x0000_s20535" name="文档" r:id="rId11" imgW="4510061" imgH="594999" progId="Word.Document.12">
                  <p:embed/>
                </p:oleObj>
              </mc:Choice>
              <mc:Fallback>
                <p:oleObj name="文档" r:id="rId11" imgW="4510061" imgH="594999" progId="Word.Document.12">
                  <p:embed/>
                  <p:pic>
                    <p:nvPicPr>
                      <p:cNvPr id="0" name=""/>
                      <p:cNvPicPr/>
                      <p:nvPr/>
                    </p:nvPicPr>
                    <p:blipFill>
                      <a:blip r:embed="rId12"/>
                      <a:stretch>
                        <a:fillRect/>
                      </a:stretch>
                    </p:blipFill>
                    <p:spPr>
                      <a:xfrm>
                        <a:off x="458424" y="602667"/>
                        <a:ext cx="11275153" cy="1487498"/>
                      </a:xfrm>
                      <a:prstGeom prst="rect">
                        <a:avLst/>
                      </a:prstGeom>
                    </p:spPr>
                  </p:pic>
                </p:oleObj>
              </mc:Fallback>
            </mc:AlternateContent>
          </a:graphicData>
        </a:graphic>
      </p:graphicFrame>
    </p:spTree>
    <p:extLst>
      <p:ext uri="{BB962C8B-B14F-4D97-AF65-F5344CB8AC3E}">
        <p14:creationId xmlns:p14="http://schemas.microsoft.com/office/powerpoint/2010/main" val="358244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par>
                                <p:cTn id="8" presetID="14"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58821331"/>
              </p:ext>
            </p:extLst>
          </p:nvPr>
        </p:nvGraphicFramePr>
        <p:xfrm>
          <a:off x="458424" y="1428755"/>
          <a:ext cx="11275153" cy="494148"/>
        </p:xfrm>
        <a:graphic>
          <a:graphicData uri="http://schemas.openxmlformats.org/presentationml/2006/ole">
            <mc:AlternateContent xmlns:mc="http://schemas.openxmlformats.org/markup-compatibility/2006">
              <mc:Choice xmlns:v="urn:schemas-microsoft-com:vml" Requires="v">
                <p:oleObj spid="_x0000_s21523"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428755"/>
                        <a:ext cx="11275153" cy="494148"/>
                      </a:xfrm>
                      <a:prstGeom prst="rect">
                        <a:avLst/>
                      </a:prstGeom>
                    </p:spPr>
                  </p:pic>
                </p:oleObj>
              </mc:Fallback>
            </mc:AlternateContent>
          </a:graphicData>
        </a:graphic>
      </p:graphicFrame>
      <p:sp>
        <p:nvSpPr>
          <p:cNvPr id="3" name="矩形 2"/>
          <p:cNvSpPr>
            <a:spLocks noChangeAspect="1"/>
          </p:cNvSpPr>
          <p:nvPr/>
        </p:nvSpPr>
        <p:spPr>
          <a:xfrm>
            <a:off x="381000" y="2123568"/>
            <a:ext cx="11430000" cy="227267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两点分布的几个特点</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两点分布中只有两个对应结果</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且两个结果是对立的</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由对立事件的概率求法可知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已知</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或</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便可求出</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或</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879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716670011"/>
              </p:ext>
            </p:extLst>
          </p:nvPr>
        </p:nvGraphicFramePr>
        <p:xfrm>
          <a:off x="458424" y="290207"/>
          <a:ext cx="11275153" cy="2052055"/>
        </p:xfrm>
        <a:graphic>
          <a:graphicData uri="http://schemas.openxmlformats.org/presentationml/2006/ole">
            <mc:AlternateContent xmlns:mc="http://schemas.openxmlformats.org/markup-compatibility/2006">
              <mc:Choice xmlns:v="urn:schemas-microsoft-com:vml" Requires="v">
                <p:oleObj spid="_x0000_s22581" name="文档" r:id="rId4" imgW="4510061" imgH="820822" progId="Word.Document.12">
                  <p:embed/>
                </p:oleObj>
              </mc:Choice>
              <mc:Fallback>
                <p:oleObj name="文档" r:id="rId4" imgW="4510061" imgH="820822" progId="Word.Document.12">
                  <p:embed/>
                  <p:pic>
                    <p:nvPicPr>
                      <p:cNvPr id="0" name=""/>
                      <p:cNvPicPr/>
                      <p:nvPr/>
                    </p:nvPicPr>
                    <p:blipFill>
                      <a:blip r:embed="rId5"/>
                      <a:stretch>
                        <a:fillRect/>
                      </a:stretch>
                    </p:blipFill>
                    <p:spPr>
                      <a:xfrm>
                        <a:off x="458424" y="290207"/>
                        <a:ext cx="11275153" cy="2052055"/>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4007553075"/>
              </p:ext>
            </p:extLst>
          </p:nvPr>
        </p:nvGraphicFramePr>
        <p:xfrm>
          <a:off x="458424" y="2149338"/>
          <a:ext cx="11275153" cy="2125728"/>
        </p:xfrm>
        <a:graphic>
          <a:graphicData uri="http://schemas.openxmlformats.org/presentationml/2006/ole">
            <mc:AlternateContent xmlns:mc="http://schemas.openxmlformats.org/markup-compatibility/2006">
              <mc:Choice xmlns:v="urn:schemas-microsoft-com:vml" Requires="v">
                <p:oleObj spid="_x0000_s22582" name="文档" r:id="rId7" imgW="4510061" imgH="850291" progId="Word.Document.12">
                  <p:embed/>
                </p:oleObj>
              </mc:Choice>
              <mc:Fallback>
                <p:oleObj name="文档" r:id="rId7" imgW="4510061" imgH="850291" progId="Word.Document.12">
                  <p:embed/>
                  <p:pic>
                    <p:nvPicPr>
                      <p:cNvPr id="0" name=""/>
                      <p:cNvPicPr/>
                      <p:nvPr/>
                    </p:nvPicPr>
                    <p:blipFill>
                      <a:blip r:embed="rId8"/>
                      <a:stretch>
                        <a:fillRect/>
                      </a:stretch>
                    </p:blipFill>
                    <p:spPr>
                      <a:xfrm>
                        <a:off x="458424" y="2149338"/>
                        <a:ext cx="11275153" cy="2125728"/>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726562238"/>
              </p:ext>
            </p:extLst>
          </p:nvPr>
        </p:nvGraphicFramePr>
        <p:xfrm>
          <a:off x="442268" y="4275066"/>
          <a:ext cx="11307463" cy="2593820"/>
        </p:xfrm>
        <a:graphic>
          <a:graphicData uri="http://schemas.openxmlformats.org/presentationml/2006/ole">
            <mc:AlternateContent xmlns:mc="http://schemas.openxmlformats.org/markup-compatibility/2006">
              <mc:Choice xmlns:v="urn:schemas-microsoft-com:vml" Requires="v">
                <p:oleObj spid="_x0000_s22583" name="文档" r:id="rId10" imgW="4522985" imgH="1037528" progId="Word.Document.12">
                  <p:embed/>
                </p:oleObj>
              </mc:Choice>
              <mc:Fallback>
                <p:oleObj name="文档" r:id="rId10" imgW="4522985" imgH="1037528" progId="Word.Document.12">
                  <p:embed/>
                  <p:pic>
                    <p:nvPicPr>
                      <p:cNvPr id="0" name=""/>
                      <p:cNvPicPr/>
                      <p:nvPr/>
                    </p:nvPicPr>
                    <p:blipFill>
                      <a:blip r:embed="rId11"/>
                      <a:stretch>
                        <a:fillRect/>
                      </a:stretch>
                    </p:blipFill>
                    <p:spPr>
                      <a:xfrm>
                        <a:off x="442268" y="4275066"/>
                        <a:ext cx="11307463" cy="2593820"/>
                      </a:xfrm>
                      <a:prstGeom prst="rect">
                        <a:avLst/>
                      </a:prstGeom>
                    </p:spPr>
                  </p:pic>
                </p:oleObj>
              </mc:Fallback>
            </mc:AlternateContent>
          </a:graphicData>
        </a:graphic>
      </p:graphicFrame>
    </p:spTree>
    <p:extLst>
      <p:ext uri="{BB962C8B-B14F-4D97-AF65-F5344CB8AC3E}">
        <p14:creationId xmlns:p14="http://schemas.microsoft.com/office/powerpoint/2010/main" val="728069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14"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 y="151371"/>
            <a:ext cx="11336478" cy="433754"/>
            <a:chOff x="3048000" y="2286000"/>
            <a:chExt cx="4813646" cy="457200"/>
          </a:xfrm>
        </p:grpSpPr>
        <p:sp>
          <p:nvSpPr>
            <p:cNvPr id="6" name="矩形 5"/>
            <p:cNvSpPr/>
            <p:nvPr/>
          </p:nvSpPr>
          <p:spPr>
            <a:xfrm>
              <a:off x="3048000" y="2286000"/>
              <a:ext cx="209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rPr>
                <a:t> </a:t>
              </a:r>
              <a:endParaRPr lang="zh-CN" altLang="en-US" sz="2800" b="1" dirty="0" smtClean="0">
                <a:solidFill>
                  <a:schemeClr val="bg1"/>
                </a:solidFill>
              </a:endParaRPr>
            </a:p>
          </p:txBody>
        </p:sp>
        <p:sp>
          <p:nvSpPr>
            <p:cNvPr id="8" name="矩形 7"/>
            <p:cNvSpPr/>
            <p:nvPr/>
          </p:nvSpPr>
          <p:spPr>
            <a:xfrm>
              <a:off x="3345506" y="2286000"/>
              <a:ext cx="4516140"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mtClean="0">
                  <a:solidFill>
                    <a:schemeClr val="bg1"/>
                  </a:solidFill>
                </a:rPr>
                <a:t>规范解答</a:t>
              </a:r>
              <a:endParaRPr lang="zh-CN" altLang="en-US" sz="2800" b="1" dirty="0">
                <a:solidFill>
                  <a:schemeClr val="bg1"/>
                </a:solidFill>
              </a:endParaRPr>
            </a:p>
          </p:txBody>
        </p:sp>
      </p:grpSp>
      <p:sp>
        <p:nvSpPr>
          <p:cNvPr id="2" name="矩形 1"/>
          <p:cNvSpPr>
            <a:spLocks noChangeAspect="1"/>
          </p:cNvSpPr>
          <p:nvPr/>
        </p:nvSpPr>
        <p:spPr>
          <a:xfrm>
            <a:off x="381000" y="694065"/>
            <a:ext cx="11430000" cy="2973122"/>
          </a:xfrm>
          <a:prstGeom prst="rect">
            <a:avLst/>
          </a:prstGeom>
        </p:spPr>
        <p:txBody>
          <a:bodyPr>
            <a:spAutoFit/>
          </a:bodyPr>
          <a:lstStyle/>
          <a:p>
            <a:pPr algn="ctr">
              <a:lnSpc>
                <a:spcPct val="120000"/>
              </a:lnSpc>
              <a:spcAft>
                <a:spcPts val="0"/>
              </a:spcAft>
              <a:tabLst>
                <a:tab pos="1188085" algn="l"/>
                <a:tab pos="2163445" algn="l"/>
                <a:tab pos="3142615" algn="l"/>
                <a:tab pos="4190365" algn="l"/>
              </a:tabLst>
            </a:pPr>
            <a:r>
              <a:rPr lang="zh-CN" altLang="zh-CN" sz="25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分布列与统计知识的综合应用</a:t>
            </a:r>
            <a:endParaRPr lang="zh-CN" altLang="zh-CN" sz="25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500">
                <a:solidFill>
                  <a:srgbClr val="000000"/>
                </a:solidFill>
                <a:latin typeface="Arial" panose="020B0604020202020204" pitchFamily="34" charset="0"/>
                <a:ea typeface="黑体" panose="02010609060101010101" pitchFamily="49" charset="-122"/>
                <a:cs typeface="Times New Roman" panose="02020603050405020304" pitchFamily="18" charset="0"/>
              </a:rPr>
              <a:t>【典例】</a:t>
            </a:r>
            <a:r>
              <a:rPr lang="zh-CN" altLang="zh-CN" sz="2500">
                <a:solidFill>
                  <a:srgbClr val="000000"/>
                </a:solidFill>
                <a:latin typeface="NEU-BZ-S92"/>
                <a:ea typeface="Arial" panose="020B0604020202020204" pitchFamily="34" charset="0"/>
                <a:cs typeface="Times New Roman" panose="02020603050405020304" pitchFamily="18" charset="0"/>
              </a:rPr>
              <a:t> </a:t>
            </a:r>
            <a:r>
              <a:rPr lang="zh-CN" altLang="zh-CN" sz="2500">
                <a:solidFill>
                  <a:srgbClr val="000000"/>
                </a:solidFill>
                <a:latin typeface="Times New Roman" panose="02020603050405020304" pitchFamily="18" charset="0"/>
                <a:cs typeface="Times New Roman" panose="02020603050405020304" pitchFamily="18" charset="0"/>
              </a:rPr>
              <a:t>某经销商经销某种农产品</a:t>
            </a:r>
            <a:r>
              <a:rPr lang="en-US" altLang="zh-CN" sz="2500">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cs typeface="Times New Roman" panose="02020603050405020304" pitchFamily="18" charset="0"/>
              </a:rPr>
              <a:t>在一个销售季度内</a:t>
            </a:r>
            <a:r>
              <a:rPr lang="en-US" altLang="zh-CN" sz="2500">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cs typeface="Times New Roman" panose="02020603050405020304" pitchFamily="18" charset="0"/>
              </a:rPr>
              <a:t>每售出</a:t>
            </a:r>
            <a:r>
              <a:rPr lang="en-US" altLang="zh-CN" sz="2500">
                <a:solidFill>
                  <a:srgbClr val="000000"/>
                </a:solidFill>
                <a:latin typeface="Times New Roman" panose="02020603050405020304" pitchFamily="18" charset="0"/>
                <a:cs typeface="Times New Roman" panose="02020603050405020304" pitchFamily="18" charset="0"/>
              </a:rPr>
              <a:t>1 t</a:t>
            </a:r>
            <a:r>
              <a:rPr lang="zh-CN" altLang="zh-CN" sz="2500">
                <a:solidFill>
                  <a:srgbClr val="000000"/>
                </a:solidFill>
                <a:latin typeface="Times New Roman" panose="02020603050405020304" pitchFamily="18" charset="0"/>
                <a:cs typeface="Times New Roman" panose="02020603050405020304" pitchFamily="18" charset="0"/>
              </a:rPr>
              <a:t>该产品获利润</a:t>
            </a:r>
            <a:r>
              <a:rPr lang="en-US" altLang="zh-CN" sz="2500">
                <a:solidFill>
                  <a:srgbClr val="000000"/>
                </a:solidFill>
                <a:latin typeface="Times New Roman" panose="02020603050405020304" pitchFamily="18" charset="0"/>
                <a:cs typeface="Times New Roman" panose="02020603050405020304" pitchFamily="18" charset="0"/>
              </a:rPr>
              <a:t>500</a:t>
            </a:r>
            <a:r>
              <a:rPr lang="zh-CN" altLang="zh-CN" sz="2500">
                <a:solidFill>
                  <a:srgbClr val="000000"/>
                </a:solidFill>
                <a:latin typeface="Times New Roman" panose="02020603050405020304" pitchFamily="18" charset="0"/>
                <a:cs typeface="Times New Roman" panose="02020603050405020304" pitchFamily="18" charset="0"/>
              </a:rPr>
              <a:t>元</a:t>
            </a:r>
            <a:r>
              <a:rPr lang="en-US" altLang="zh-CN" sz="2500">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cs typeface="Times New Roman" panose="02020603050405020304" pitchFamily="18" charset="0"/>
              </a:rPr>
              <a:t>未售出的产品</a:t>
            </a:r>
            <a:r>
              <a:rPr lang="en-US" altLang="zh-CN" sz="2500">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cs typeface="Times New Roman" panose="02020603050405020304" pitchFamily="18" charset="0"/>
              </a:rPr>
              <a:t>每吨亏损</a:t>
            </a:r>
            <a:r>
              <a:rPr lang="en-US" altLang="zh-CN" sz="2500">
                <a:solidFill>
                  <a:srgbClr val="000000"/>
                </a:solidFill>
                <a:latin typeface="Times New Roman" panose="02020603050405020304" pitchFamily="18" charset="0"/>
                <a:cs typeface="Times New Roman" panose="02020603050405020304" pitchFamily="18" charset="0"/>
              </a:rPr>
              <a:t>300</a:t>
            </a:r>
            <a:r>
              <a:rPr lang="zh-CN" altLang="zh-CN" sz="2500">
                <a:solidFill>
                  <a:srgbClr val="000000"/>
                </a:solidFill>
                <a:latin typeface="Times New Roman" panose="02020603050405020304" pitchFamily="18" charset="0"/>
                <a:cs typeface="Times New Roman" panose="02020603050405020304" pitchFamily="18" charset="0"/>
              </a:rPr>
              <a:t>元</a:t>
            </a:r>
            <a:r>
              <a:rPr lang="en-US" altLang="zh-CN" sz="2500" i="1">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cs typeface="Times New Roman" panose="02020603050405020304" pitchFamily="18" charset="0"/>
              </a:rPr>
              <a:t>根据历史资料</a:t>
            </a:r>
            <a:r>
              <a:rPr lang="en-US" altLang="zh-CN" sz="2500">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cs typeface="Times New Roman" panose="02020603050405020304" pitchFamily="18" charset="0"/>
              </a:rPr>
              <a:t>得到一个销售季度内该农产品市场需求量的频率分布直方图如图所示</a:t>
            </a:r>
            <a:r>
              <a:rPr lang="en-US" altLang="zh-CN" sz="2500" i="1">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cs typeface="Times New Roman" panose="02020603050405020304" pitchFamily="18" charset="0"/>
              </a:rPr>
              <a:t>该经销商为下一个销售季度购进了</a:t>
            </a:r>
            <a:r>
              <a:rPr lang="en-US" altLang="zh-CN" sz="2500">
                <a:solidFill>
                  <a:srgbClr val="000000"/>
                </a:solidFill>
                <a:latin typeface="Times New Roman" panose="02020603050405020304" pitchFamily="18" charset="0"/>
                <a:cs typeface="Times New Roman" panose="02020603050405020304" pitchFamily="18" charset="0"/>
              </a:rPr>
              <a:t>130 t</a:t>
            </a:r>
            <a:r>
              <a:rPr lang="zh-CN" altLang="zh-CN" sz="2500">
                <a:solidFill>
                  <a:srgbClr val="000000"/>
                </a:solidFill>
                <a:latin typeface="Times New Roman" panose="02020603050405020304" pitchFamily="18" charset="0"/>
                <a:cs typeface="Times New Roman" panose="02020603050405020304" pitchFamily="18" charset="0"/>
              </a:rPr>
              <a:t>该农产品</a:t>
            </a:r>
            <a:r>
              <a:rPr lang="en-US" altLang="zh-CN" sz="2500">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cs typeface="Times New Roman" panose="02020603050405020304" pitchFamily="18" charset="0"/>
              </a:rPr>
              <a:t>以</a:t>
            </a:r>
            <a:r>
              <a:rPr lang="en-US" altLang="zh-CN" sz="2500" i="1">
                <a:solidFill>
                  <a:srgbClr val="000000"/>
                </a:solidFill>
                <a:latin typeface="Times New Roman" panose="02020603050405020304" pitchFamily="18" charset="0"/>
                <a:cs typeface="Times New Roman" panose="02020603050405020304" pitchFamily="18" charset="0"/>
              </a:rPr>
              <a:t>X</a:t>
            </a:r>
            <a:r>
              <a:rPr lang="en-US" altLang="zh-CN" sz="2500">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cs typeface="Times New Roman" panose="02020603050405020304" pitchFamily="18" charset="0"/>
              </a:rPr>
              <a:t>单位</a:t>
            </a:r>
            <a:r>
              <a:rPr lang="en-US" altLang="zh-CN" sz="2500">
                <a:solidFill>
                  <a:srgbClr val="000000"/>
                </a:solidFill>
                <a:latin typeface="Times New Roman" panose="02020603050405020304" pitchFamily="18" charset="0"/>
                <a:cs typeface="Times New Roman" panose="02020603050405020304" pitchFamily="18" charset="0"/>
              </a:rPr>
              <a:t>:t,100</a:t>
            </a:r>
            <a:r>
              <a:rPr lang="en-US" altLang="zh-CN" sz="25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500" i="1">
                <a:solidFill>
                  <a:srgbClr val="000000"/>
                </a:solidFill>
                <a:latin typeface="Times New Roman" panose="02020603050405020304" pitchFamily="18" charset="0"/>
                <a:cs typeface="Times New Roman" panose="02020603050405020304" pitchFamily="18" charset="0"/>
              </a:rPr>
              <a:t>X</a:t>
            </a:r>
            <a:r>
              <a:rPr lang="en-US" altLang="zh-CN" sz="25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500">
                <a:solidFill>
                  <a:srgbClr val="000000"/>
                </a:solidFill>
                <a:latin typeface="Times New Roman" panose="02020603050405020304" pitchFamily="18" charset="0"/>
                <a:cs typeface="Times New Roman" panose="02020603050405020304" pitchFamily="18" charset="0"/>
              </a:rPr>
              <a:t>150)</a:t>
            </a:r>
            <a:r>
              <a:rPr lang="zh-CN" altLang="zh-CN" sz="2500">
                <a:solidFill>
                  <a:srgbClr val="000000"/>
                </a:solidFill>
                <a:latin typeface="Times New Roman" panose="02020603050405020304" pitchFamily="18" charset="0"/>
                <a:cs typeface="Times New Roman" panose="02020603050405020304" pitchFamily="18" charset="0"/>
              </a:rPr>
              <a:t>表示下一个销售季度内的市场需求量</a:t>
            </a:r>
            <a:r>
              <a:rPr lang="en-US" altLang="zh-CN" sz="2500">
                <a:solidFill>
                  <a:srgbClr val="000000"/>
                </a:solidFill>
                <a:latin typeface="Times New Roman" panose="02020603050405020304" pitchFamily="18" charset="0"/>
                <a:cs typeface="Times New Roman" panose="02020603050405020304" pitchFamily="18" charset="0"/>
              </a:rPr>
              <a:t>,</a:t>
            </a:r>
            <a:r>
              <a:rPr lang="en-US" altLang="zh-CN" sz="2500" i="1">
                <a:solidFill>
                  <a:srgbClr val="000000"/>
                </a:solidFill>
                <a:latin typeface="Times New Roman" panose="02020603050405020304" pitchFamily="18" charset="0"/>
                <a:cs typeface="Times New Roman" panose="02020603050405020304" pitchFamily="18" charset="0"/>
              </a:rPr>
              <a:t>T</a:t>
            </a:r>
            <a:r>
              <a:rPr lang="en-US" altLang="zh-CN" sz="2500">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cs typeface="Times New Roman" panose="02020603050405020304" pitchFamily="18" charset="0"/>
              </a:rPr>
              <a:t>单位</a:t>
            </a:r>
            <a:r>
              <a:rPr lang="en-US" altLang="zh-CN" sz="2500">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cs typeface="Times New Roman" panose="02020603050405020304" pitchFamily="18" charset="0"/>
              </a:rPr>
              <a:t>元</a:t>
            </a:r>
            <a:r>
              <a:rPr lang="en-US" altLang="zh-CN" sz="2500">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cs typeface="Times New Roman" panose="02020603050405020304" pitchFamily="18" charset="0"/>
              </a:rPr>
              <a:t>表示下一个销售季度内经销该农产品的利润</a:t>
            </a:r>
            <a:r>
              <a:rPr lang="en-US" altLang="zh-CN" sz="2500" i="1">
                <a:solidFill>
                  <a:srgbClr val="000000"/>
                </a:solidFill>
                <a:latin typeface="Times New Roman" panose="02020603050405020304" pitchFamily="18" charset="0"/>
                <a:cs typeface="Times New Roman" panose="02020603050405020304" pitchFamily="18" charset="0"/>
              </a:rPr>
              <a:t>.</a:t>
            </a:r>
            <a:endParaRPr lang="zh-CN" altLang="zh-CN" sz="2500">
              <a:solidFill>
                <a:srgbClr val="000000"/>
              </a:solidFill>
              <a:latin typeface="NEU-BZ-S92"/>
              <a:ea typeface="方正书宋_GBK" panose="03000509000000000000" pitchFamily="65" charset="-122"/>
              <a:cs typeface="Times New Roman" panose="02020603050405020304" pitchFamily="18" charset="0"/>
            </a:endParaRPr>
          </a:p>
        </p:txBody>
      </p:sp>
      <p:pic>
        <p:nvPicPr>
          <p:cNvPr id="7" name="VMX3TRAX01.eps" descr="id:2147516927;FounderCES"/>
          <p:cNvPicPr/>
          <p:nvPr/>
        </p:nvPicPr>
        <p:blipFill>
          <a:blip r:embed="rId2">
            <a:clrChange>
              <a:clrFrom>
                <a:srgbClr val="FFFFFF"/>
              </a:clrFrom>
              <a:clrTo>
                <a:srgbClr val="FFFFFF">
                  <a:alpha val="0"/>
                </a:srgbClr>
              </a:clrTo>
            </a:clrChange>
          </a:blip>
          <a:stretch>
            <a:fillRect/>
          </a:stretch>
        </p:blipFill>
        <p:spPr>
          <a:xfrm>
            <a:off x="3503320" y="3583485"/>
            <a:ext cx="5969453" cy="2806614"/>
          </a:xfrm>
          <a:prstGeom prst="rect">
            <a:avLst/>
          </a:prstGeom>
        </p:spPr>
      </p:pic>
    </p:spTree>
    <p:extLst>
      <p:ext uri="{BB962C8B-B14F-4D97-AF65-F5344CB8AC3E}">
        <p14:creationId xmlns:p14="http://schemas.microsoft.com/office/powerpoint/2010/main" val="4249546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532592"/>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将</a:t>
            </a:r>
            <a:r>
              <a:rPr lang="en-US" altLang="zh-CN" sz="2800" i="1">
                <a:solidFill>
                  <a:srgbClr val="000000"/>
                </a:solidFill>
                <a:latin typeface="Times New Roman" panose="02020603050405020304" pitchFamily="18" charset="0"/>
                <a:cs typeface="Times New Roman" panose="02020603050405020304" pitchFamily="18" charset="0"/>
              </a:rPr>
              <a:t>T</a:t>
            </a:r>
            <a:r>
              <a:rPr lang="zh-CN" altLang="zh-CN" sz="2800">
                <a:solidFill>
                  <a:srgbClr val="000000"/>
                </a:solidFill>
                <a:latin typeface="Times New Roman" panose="02020603050405020304" pitchFamily="18" charset="0"/>
                <a:cs typeface="Times New Roman" panose="02020603050405020304" pitchFamily="18" charset="0"/>
              </a:rPr>
              <a:t>表示为</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的函数</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根据频率分布直方图估计利润</a:t>
            </a:r>
            <a:r>
              <a:rPr lang="en-US" altLang="zh-CN" sz="2800" i="1">
                <a:solidFill>
                  <a:srgbClr val="000000"/>
                </a:solidFill>
                <a:latin typeface="Times New Roman" panose="02020603050405020304" pitchFamily="18" charset="0"/>
                <a:cs typeface="Times New Roman" panose="02020603050405020304" pitchFamily="18" charset="0"/>
              </a:rPr>
              <a:t>T</a:t>
            </a:r>
            <a:r>
              <a:rPr lang="zh-CN" altLang="zh-CN" sz="2800">
                <a:solidFill>
                  <a:srgbClr val="000000"/>
                </a:solidFill>
                <a:latin typeface="Times New Roman" panose="02020603050405020304" pitchFamily="18" charset="0"/>
                <a:cs typeface="Times New Roman" panose="02020603050405020304" pitchFamily="18" charset="0"/>
              </a:rPr>
              <a:t>不少于</a:t>
            </a:r>
            <a:r>
              <a:rPr lang="en-US" altLang="zh-CN" sz="2800">
                <a:solidFill>
                  <a:srgbClr val="000000"/>
                </a:solidFill>
                <a:latin typeface="Times New Roman" panose="02020603050405020304" pitchFamily="18" charset="0"/>
                <a:cs typeface="Times New Roman" panose="02020603050405020304" pitchFamily="18" charset="0"/>
              </a:rPr>
              <a:t>57 000</a:t>
            </a:r>
            <a:r>
              <a:rPr lang="zh-CN" altLang="zh-CN" sz="2800">
                <a:solidFill>
                  <a:srgbClr val="000000"/>
                </a:solidFill>
                <a:latin typeface="Times New Roman" panose="02020603050405020304" pitchFamily="18" charset="0"/>
                <a:cs typeface="Times New Roman" panose="02020603050405020304" pitchFamily="18" charset="0"/>
              </a:rPr>
              <a:t>元的概率</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在频率分布直方图的需求量分组中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以各组的区间中点值代表该组的各个值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并以需求量落入该区间的频率作为需求量取该区间中点值的概率</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例如</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若需求量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NEU-BZ-S92"/>
                <a:cs typeface="宋体" panose="02010600030101010101" pitchFamily="2" charset="-122"/>
              </a:rPr>
              <a:t>∈</a:t>
            </a:r>
            <a:r>
              <a:rPr lang="en-US" altLang="zh-CN" sz="2800">
                <a:solidFill>
                  <a:srgbClr val="000000"/>
                </a:solidFill>
                <a:latin typeface="Times New Roman" panose="02020603050405020304" pitchFamily="18" charset="0"/>
                <a:cs typeface="Times New Roman" panose="02020603050405020304" pitchFamily="18" charset="0"/>
              </a:rPr>
              <a:t>[100,110),</a:t>
            </a:r>
            <a:r>
              <a:rPr lang="zh-CN" altLang="zh-CN" sz="2800">
                <a:solidFill>
                  <a:srgbClr val="000000"/>
                </a:solidFill>
                <a:latin typeface="Times New Roman" panose="02020603050405020304" pitchFamily="18" charset="0"/>
                <a:cs typeface="Times New Roman" panose="02020603050405020304" pitchFamily="18" charset="0"/>
              </a:rPr>
              <a:t>则取</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105,</a:t>
            </a:r>
            <a:r>
              <a:rPr lang="zh-CN" altLang="zh-CN" sz="2800">
                <a:solidFill>
                  <a:srgbClr val="000000"/>
                </a:solidFill>
                <a:latin typeface="Times New Roman" panose="02020603050405020304" pitchFamily="18" charset="0"/>
                <a:cs typeface="Times New Roman" panose="02020603050405020304" pitchFamily="18" charset="0"/>
              </a:rPr>
              <a:t>且</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105</a:t>
            </a:r>
            <a:r>
              <a:rPr lang="zh-CN" altLang="zh-CN" sz="2800">
                <a:solidFill>
                  <a:srgbClr val="000000"/>
                </a:solidFill>
                <a:latin typeface="Times New Roman" panose="02020603050405020304" pitchFamily="18" charset="0"/>
                <a:cs typeface="Times New Roman" panose="02020603050405020304" pitchFamily="18" charset="0"/>
              </a:rPr>
              <a:t>的概率等于需求量落入区间</a:t>
            </a:r>
            <a:r>
              <a:rPr lang="en-US" altLang="zh-CN" sz="2800">
                <a:solidFill>
                  <a:srgbClr val="000000"/>
                </a:solidFill>
                <a:latin typeface="Times New Roman" panose="02020603050405020304" pitchFamily="18" charset="0"/>
                <a:cs typeface="Times New Roman" panose="02020603050405020304" pitchFamily="18" charset="0"/>
              </a:rPr>
              <a:t>[100,110</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内</a:t>
            </a:r>
            <a:r>
              <a:rPr lang="zh-CN" altLang="zh-CN" sz="2800" smtClean="0">
                <a:solidFill>
                  <a:srgbClr val="000000"/>
                </a:solidFill>
                <a:latin typeface="Times New Roman" panose="02020603050405020304" pitchFamily="18" charset="0"/>
                <a:cs typeface="Times New Roman" panose="02020603050405020304" pitchFamily="18" charset="0"/>
              </a:rPr>
              <a:t>的</a:t>
            </a:r>
            <a:r>
              <a:rPr lang="zh-CN" altLang="zh-CN" sz="2800">
                <a:solidFill>
                  <a:srgbClr val="000000"/>
                </a:solidFill>
                <a:latin typeface="Times New Roman" panose="02020603050405020304" pitchFamily="18" charset="0"/>
                <a:cs typeface="Times New Roman" panose="02020603050405020304" pitchFamily="18" charset="0"/>
              </a:rPr>
              <a:t>频率</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a:t>
            </a:r>
            <a:r>
              <a:rPr lang="en-US" altLang="zh-CN" sz="2800" i="1">
                <a:solidFill>
                  <a:srgbClr val="000000"/>
                </a:solidFill>
                <a:latin typeface="Times New Roman" panose="02020603050405020304" pitchFamily="18" charset="0"/>
                <a:cs typeface="Times New Roman" panose="02020603050405020304" pitchFamily="18" charset="0"/>
              </a:rPr>
              <a:t>T</a:t>
            </a:r>
            <a:r>
              <a:rPr lang="zh-CN" altLang="zh-CN" sz="2800">
                <a:solidFill>
                  <a:srgbClr val="000000"/>
                </a:solidFill>
                <a:latin typeface="Times New Roman" panose="02020603050405020304" pitchFamily="18" charset="0"/>
                <a:cs typeface="Times New Roman" panose="02020603050405020304" pitchFamily="18" charset="0"/>
              </a:rPr>
              <a:t>的分布列</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8128557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78440"/>
            <a:ext cx="11430000" cy="520264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规</a:t>
            </a:r>
            <a:r>
              <a:rPr lang="zh-CN" altLang="zh-CN" sz="280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范</a:t>
            </a:r>
            <a:r>
              <a:rPr lang="zh-CN" altLang="en-US" sz="2800">
                <a:solidFill>
                  <a:srgbClr val="FF0000"/>
                </a:solidFill>
                <a:latin typeface="Arial" panose="020B0604020202020204" pitchFamily="34" charset="0"/>
                <a:ea typeface="黑体" panose="02010609060101010101" pitchFamily="49" charset="-122"/>
                <a:cs typeface="Times New Roman" panose="02020603050405020304" pitchFamily="18" charset="0"/>
              </a:rPr>
              <a:t>展示</a:t>
            </a:r>
            <a:r>
              <a:rPr lang="en-US" altLang="zh-CN" sz="2800" smtClean="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当</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NEU-BZ-S92"/>
                <a:cs typeface="宋体" panose="02010600030101010101" pitchFamily="2" charset="-122"/>
              </a:rPr>
              <a:t>∈</a:t>
            </a:r>
            <a:r>
              <a:rPr lang="en-US" altLang="zh-CN" sz="2800">
                <a:solidFill>
                  <a:srgbClr val="000000"/>
                </a:solidFill>
                <a:latin typeface="Times New Roman" panose="02020603050405020304" pitchFamily="18" charset="0"/>
                <a:cs typeface="Times New Roman" panose="02020603050405020304" pitchFamily="18" charset="0"/>
              </a:rPr>
              <a:t>[100,130)</a:t>
            </a:r>
            <a:r>
              <a:rPr lang="zh-CN" altLang="zh-CN" sz="2800">
                <a:solidFill>
                  <a:srgbClr val="000000"/>
                </a:solidFill>
                <a:latin typeface="Times New Roman" panose="02020603050405020304" pitchFamily="18" charset="0"/>
                <a:cs typeface="Times New Roman" panose="02020603050405020304" pitchFamily="18" charset="0"/>
              </a:rPr>
              <a:t>时</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T=</a:t>
            </a:r>
            <a:r>
              <a:rPr lang="en-US" altLang="zh-CN" sz="2800">
                <a:solidFill>
                  <a:srgbClr val="000000"/>
                </a:solidFill>
                <a:latin typeface="Times New Roman" panose="02020603050405020304" pitchFamily="18" charset="0"/>
                <a:cs typeface="Times New Roman" panose="02020603050405020304" pitchFamily="18" charset="0"/>
              </a:rPr>
              <a:t>500</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300(130</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800</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39 000;</a:t>
            </a:r>
            <a:r>
              <a:rPr lang="zh-CN" altLang="zh-CN" sz="2800">
                <a:solidFill>
                  <a:srgbClr val="000000"/>
                </a:solidFill>
                <a:latin typeface="Times New Roman" panose="02020603050405020304" pitchFamily="18" charset="0"/>
                <a:cs typeface="Times New Roman" panose="02020603050405020304" pitchFamily="18" charset="0"/>
              </a:rPr>
              <a:t>当</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NEU-BZ-S92"/>
                <a:cs typeface="宋体" panose="02010600030101010101" pitchFamily="2" charset="-122"/>
              </a:rPr>
              <a:t>∈</a:t>
            </a:r>
            <a:r>
              <a:rPr lang="en-US" altLang="zh-CN" sz="2800">
                <a:solidFill>
                  <a:srgbClr val="000000"/>
                </a:solidFill>
                <a:latin typeface="Times New Roman" panose="02020603050405020304" pitchFamily="18" charset="0"/>
                <a:cs typeface="Times New Roman" panose="02020603050405020304" pitchFamily="18" charset="0"/>
              </a:rPr>
              <a:t>[130,150]</a:t>
            </a:r>
            <a:r>
              <a:rPr lang="zh-CN" altLang="zh-CN" sz="2800">
                <a:solidFill>
                  <a:srgbClr val="000000"/>
                </a:solidFill>
                <a:latin typeface="Times New Roman" panose="02020603050405020304" pitchFamily="18" charset="0"/>
                <a:cs typeface="Times New Roman" panose="02020603050405020304" pitchFamily="18" charset="0"/>
              </a:rPr>
              <a:t>时</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T=</a:t>
            </a:r>
            <a:r>
              <a:rPr lang="en-US" altLang="zh-CN" sz="2800">
                <a:solidFill>
                  <a:srgbClr val="000000"/>
                </a:solidFill>
                <a:latin typeface="Times New Roman" panose="02020603050405020304" pitchFamily="18" charset="0"/>
                <a:cs typeface="Times New Roman" panose="02020603050405020304" pitchFamily="18" charset="0"/>
              </a:rPr>
              <a:t>500×130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65 000</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当</a:t>
            </a:r>
            <a:r>
              <a:rPr lang="en-US" altLang="zh-CN" sz="2800">
                <a:solidFill>
                  <a:srgbClr val="000000"/>
                </a:solidFill>
                <a:latin typeface="Times New Roman" panose="02020603050405020304" pitchFamily="18" charset="0"/>
                <a:cs typeface="Times New Roman" panose="02020603050405020304" pitchFamily="18" charset="0"/>
              </a:rPr>
              <a:t>100</a:t>
            </a:r>
            <a:r>
              <a:rPr lang="en-US" altLang="zh-CN"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X&lt;</a:t>
            </a:r>
            <a:r>
              <a:rPr lang="en-US" altLang="zh-CN" sz="2800">
                <a:solidFill>
                  <a:srgbClr val="000000"/>
                </a:solidFill>
                <a:latin typeface="Times New Roman" panose="02020603050405020304" pitchFamily="18" charset="0"/>
                <a:cs typeface="Times New Roman" panose="02020603050405020304" pitchFamily="18" charset="0"/>
              </a:rPr>
              <a:t>130</a:t>
            </a:r>
            <a:r>
              <a:rPr lang="zh-CN" altLang="zh-CN" sz="2800">
                <a:solidFill>
                  <a:srgbClr val="000000"/>
                </a:solidFill>
                <a:latin typeface="Times New Roman" panose="02020603050405020304" pitchFamily="18" charset="0"/>
                <a:cs typeface="Times New Roman" panose="02020603050405020304" pitchFamily="18" charset="0"/>
              </a:rPr>
              <a:t>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由</a:t>
            </a:r>
            <a:r>
              <a:rPr lang="en-US" altLang="zh-CN" sz="2800" i="1">
                <a:solidFill>
                  <a:srgbClr val="000000"/>
                </a:solidFill>
                <a:latin typeface="Times New Roman" panose="02020603050405020304" pitchFamily="18" charset="0"/>
                <a:cs typeface="Times New Roman" panose="02020603050405020304" pitchFamily="18" charset="0"/>
              </a:rPr>
              <a:t>T=</a:t>
            </a:r>
            <a:r>
              <a:rPr lang="en-US" altLang="zh-CN" sz="2800">
                <a:solidFill>
                  <a:srgbClr val="000000"/>
                </a:solidFill>
                <a:latin typeface="Times New Roman" panose="02020603050405020304" pitchFamily="18" charset="0"/>
                <a:cs typeface="Times New Roman" panose="02020603050405020304" pitchFamily="18" charset="0"/>
              </a:rPr>
              <a:t>800</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39 000</a:t>
            </a:r>
            <a:r>
              <a:rPr lang="en-US" altLang="zh-CN"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57 000,</a:t>
            </a:r>
            <a:r>
              <a:rPr lang="zh-CN" altLang="zh-CN" sz="2800">
                <a:solidFill>
                  <a:srgbClr val="000000"/>
                </a:solidFill>
                <a:latin typeface="Times New Roman" panose="02020603050405020304" pitchFamily="18" charset="0"/>
                <a:cs typeface="Times New Roman" panose="02020603050405020304" pitchFamily="18" charset="0"/>
              </a:rPr>
              <a:t>得</a:t>
            </a:r>
            <a:r>
              <a:rPr lang="en-US" altLang="zh-CN" sz="2800">
                <a:solidFill>
                  <a:srgbClr val="000000"/>
                </a:solidFill>
                <a:latin typeface="Times New Roman" panose="02020603050405020304" pitchFamily="18" charset="0"/>
                <a:cs typeface="Times New Roman" panose="02020603050405020304" pitchFamily="18" charset="0"/>
              </a:rPr>
              <a:t>120</a:t>
            </a:r>
            <a:r>
              <a:rPr lang="en-US" altLang="zh-CN"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X&lt;</a:t>
            </a:r>
            <a:r>
              <a:rPr lang="en-US" altLang="zh-CN" sz="2800">
                <a:solidFill>
                  <a:srgbClr val="000000"/>
                </a:solidFill>
                <a:latin typeface="Times New Roman" panose="02020603050405020304" pitchFamily="18" charset="0"/>
                <a:cs typeface="Times New Roman" panose="02020603050405020304" pitchFamily="18" charset="0"/>
              </a:rPr>
              <a:t>130</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所以当且仅当</a:t>
            </a:r>
            <a:r>
              <a:rPr lang="en-US" altLang="zh-CN" sz="2800">
                <a:solidFill>
                  <a:srgbClr val="000000"/>
                </a:solidFill>
                <a:latin typeface="Times New Roman" panose="02020603050405020304" pitchFamily="18" charset="0"/>
                <a:cs typeface="Times New Roman" panose="02020603050405020304" pitchFamily="18" charset="0"/>
              </a:rPr>
              <a:t>120</a:t>
            </a:r>
            <a:r>
              <a:rPr lang="en-US" altLang="zh-CN"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150</a:t>
            </a:r>
            <a:r>
              <a:rPr lang="zh-CN" altLang="zh-CN" sz="2800">
                <a:solidFill>
                  <a:srgbClr val="000000"/>
                </a:solidFill>
                <a:latin typeface="Times New Roman" panose="02020603050405020304" pitchFamily="18" charset="0"/>
                <a:cs typeface="Times New Roman" panose="02020603050405020304" pitchFamily="18" charset="0"/>
              </a:rPr>
              <a:t>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利润</a:t>
            </a:r>
            <a:r>
              <a:rPr lang="en-US" altLang="zh-CN" sz="2800" i="1">
                <a:solidFill>
                  <a:srgbClr val="000000"/>
                </a:solidFill>
                <a:latin typeface="Times New Roman" panose="02020603050405020304" pitchFamily="18" charset="0"/>
                <a:cs typeface="Times New Roman" panose="02020603050405020304" pitchFamily="18" charset="0"/>
              </a:rPr>
              <a:t>T</a:t>
            </a:r>
            <a:r>
              <a:rPr lang="zh-CN" altLang="zh-CN" sz="2800">
                <a:solidFill>
                  <a:srgbClr val="000000"/>
                </a:solidFill>
                <a:latin typeface="Times New Roman" panose="02020603050405020304" pitchFamily="18" charset="0"/>
                <a:cs typeface="Times New Roman" panose="02020603050405020304" pitchFamily="18" charset="0"/>
              </a:rPr>
              <a:t>不少于</a:t>
            </a:r>
            <a:r>
              <a:rPr lang="en-US" altLang="zh-CN" sz="2800">
                <a:solidFill>
                  <a:srgbClr val="000000"/>
                </a:solidFill>
                <a:latin typeface="Times New Roman" panose="02020603050405020304" pitchFamily="18" charset="0"/>
                <a:cs typeface="Times New Roman" panose="02020603050405020304" pitchFamily="18" charset="0"/>
              </a:rPr>
              <a:t>57 000</a:t>
            </a:r>
            <a:r>
              <a:rPr lang="zh-CN" altLang="zh-CN" sz="2800">
                <a:solidFill>
                  <a:srgbClr val="000000"/>
                </a:solidFill>
                <a:latin typeface="Times New Roman" panose="02020603050405020304" pitchFamily="18" charset="0"/>
                <a:cs typeface="Times New Roman" panose="02020603050405020304" pitchFamily="18" charset="0"/>
              </a:rPr>
              <a:t>元</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由频率分布直方图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知需求量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NEU-BZ-S92"/>
                <a:cs typeface="宋体" panose="02010600030101010101" pitchFamily="2" charset="-122"/>
              </a:rPr>
              <a:t>∈</a:t>
            </a:r>
            <a:r>
              <a:rPr lang="en-US" altLang="zh-CN" sz="2800">
                <a:solidFill>
                  <a:srgbClr val="000000"/>
                </a:solidFill>
                <a:latin typeface="Times New Roman" panose="02020603050405020304" pitchFamily="18" charset="0"/>
                <a:cs typeface="Times New Roman" panose="02020603050405020304" pitchFamily="18" charset="0"/>
              </a:rPr>
              <a:t>[120,150]</a:t>
            </a:r>
            <a:r>
              <a:rPr lang="zh-CN" altLang="zh-CN" sz="2800">
                <a:solidFill>
                  <a:srgbClr val="000000"/>
                </a:solidFill>
                <a:latin typeface="Times New Roman" panose="02020603050405020304" pitchFamily="18" charset="0"/>
                <a:cs typeface="Times New Roman" panose="02020603050405020304" pitchFamily="18" charset="0"/>
              </a:rPr>
              <a:t>的频率为</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cs typeface="Times New Roman" panose="02020603050405020304" pitchFamily="18" charset="0"/>
              </a:rPr>
              <a:t>所以估计下一个销售季度内的利润</a:t>
            </a:r>
            <a:r>
              <a:rPr lang="en-US" altLang="zh-CN" sz="2800" i="1">
                <a:solidFill>
                  <a:srgbClr val="000000"/>
                </a:solidFill>
                <a:latin typeface="Times New Roman" panose="02020603050405020304" pitchFamily="18" charset="0"/>
                <a:cs typeface="Times New Roman" panose="02020603050405020304" pitchFamily="18" charset="0"/>
              </a:rPr>
              <a:t>T</a:t>
            </a:r>
            <a:r>
              <a:rPr lang="zh-CN" altLang="zh-CN" sz="2800">
                <a:solidFill>
                  <a:srgbClr val="000000"/>
                </a:solidFill>
                <a:latin typeface="Times New Roman" panose="02020603050405020304" pitchFamily="18" charset="0"/>
                <a:cs typeface="Times New Roman" panose="02020603050405020304" pitchFamily="18" charset="0"/>
              </a:rPr>
              <a:t>不少于</a:t>
            </a:r>
            <a:r>
              <a:rPr lang="en-US" altLang="zh-CN" sz="2800">
                <a:solidFill>
                  <a:srgbClr val="000000"/>
                </a:solidFill>
                <a:latin typeface="Times New Roman" panose="02020603050405020304" pitchFamily="18" charset="0"/>
                <a:cs typeface="Times New Roman" panose="02020603050405020304" pitchFamily="18" charset="0"/>
              </a:rPr>
              <a:t>57 000</a:t>
            </a:r>
            <a:r>
              <a:rPr lang="zh-CN" altLang="zh-CN" sz="2800">
                <a:solidFill>
                  <a:srgbClr val="000000"/>
                </a:solidFill>
                <a:latin typeface="Times New Roman" panose="02020603050405020304" pitchFamily="18" charset="0"/>
                <a:cs typeface="Times New Roman" panose="02020603050405020304" pitchFamily="18" charset="0"/>
              </a:rPr>
              <a:t>元的概率为</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依题意可得</a:t>
            </a:r>
            <a:r>
              <a:rPr lang="en-US" altLang="zh-CN" sz="2800" i="1">
                <a:solidFill>
                  <a:srgbClr val="000000"/>
                </a:solidFill>
                <a:latin typeface="Times New Roman" panose="02020603050405020304" pitchFamily="18" charset="0"/>
                <a:cs typeface="Times New Roman" panose="02020603050405020304" pitchFamily="18" charset="0"/>
              </a:rPr>
              <a:t>T</a:t>
            </a:r>
            <a:r>
              <a:rPr lang="zh-CN" altLang="zh-CN" sz="2800">
                <a:solidFill>
                  <a:srgbClr val="000000"/>
                </a:solidFill>
                <a:latin typeface="Times New Roman" panose="02020603050405020304" pitchFamily="18" charset="0"/>
                <a:cs typeface="Times New Roman" panose="02020603050405020304" pitchFamily="18" charset="0"/>
              </a:rPr>
              <a:t>的分布列为</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602290113"/>
              </p:ext>
            </p:extLst>
          </p:nvPr>
        </p:nvGraphicFramePr>
        <p:xfrm>
          <a:off x="458424" y="1458634"/>
          <a:ext cx="11275153" cy="989193"/>
        </p:xfrm>
        <a:graphic>
          <a:graphicData uri="http://schemas.openxmlformats.org/presentationml/2006/ole">
            <mc:AlternateContent xmlns:mc="http://schemas.openxmlformats.org/markup-compatibility/2006">
              <mc:Choice xmlns:v="urn:schemas-microsoft-com:vml" Requires="v">
                <p:oleObj spid="_x0000_s9234" name="文档" r:id="rId4" imgW="4510061" imgH="395677" progId="Word.Document.12">
                  <p:embed/>
                </p:oleObj>
              </mc:Choice>
              <mc:Fallback>
                <p:oleObj name="文档" r:id="rId4" imgW="4510061" imgH="395677" progId="Word.Document.12">
                  <p:embed/>
                  <p:pic>
                    <p:nvPicPr>
                      <p:cNvPr id="0" name=""/>
                      <p:cNvPicPr/>
                      <p:nvPr/>
                    </p:nvPicPr>
                    <p:blipFill>
                      <a:blip r:embed="rId5"/>
                      <a:stretch>
                        <a:fillRect/>
                      </a:stretch>
                    </p:blipFill>
                    <p:spPr>
                      <a:xfrm>
                        <a:off x="458424" y="1458634"/>
                        <a:ext cx="11275153" cy="989193"/>
                      </a:xfrm>
                      <a:prstGeom prst="rect">
                        <a:avLst/>
                      </a:prstGeom>
                    </p:spPr>
                  </p:pic>
                </p:oleObj>
              </mc:Fallback>
            </mc:AlternateContent>
          </a:graphicData>
        </a:graphic>
      </p:graphicFrame>
      <p:graphicFrame>
        <p:nvGraphicFramePr>
          <p:cNvPr id="4" name="表格 3"/>
          <p:cNvGraphicFramePr>
            <a:graphicFrameLocks noGrp="1" noChangeAspect="1"/>
          </p:cNvGraphicFramePr>
          <p:nvPr>
            <p:extLst>
              <p:ext uri="{D42A27DB-BD31-4B8C-83A1-F6EECF244321}">
                <p14:modId xmlns:p14="http://schemas.microsoft.com/office/powerpoint/2010/main" val="1545413065"/>
              </p:ext>
            </p:extLst>
          </p:nvPr>
        </p:nvGraphicFramePr>
        <p:xfrm>
          <a:off x="381000" y="5306885"/>
          <a:ext cx="11430000" cy="981456"/>
        </p:xfrm>
        <a:graphic>
          <a:graphicData uri="http://schemas.openxmlformats.org/drawingml/2006/table">
            <a:tbl>
              <a:tblPr firstRow="1" firstCol="1" bandRow="1"/>
              <a:tblGrid>
                <a:gridCol w="2286000"/>
                <a:gridCol w="2286000"/>
                <a:gridCol w="2286000"/>
                <a:gridCol w="2286000"/>
                <a:gridCol w="2286000"/>
              </a:tblGrid>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45 000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53 000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61 000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65 000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8171020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188262738"/>
              </p:ext>
            </p:extLst>
          </p:nvPr>
        </p:nvGraphicFramePr>
        <p:xfrm>
          <a:off x="458424" y="1449303"/>
          <a:ext cx="11275153" cy="494148"/>
        </p:xfrm>
        <a:graphic>
          <a:graphicData uri="http://schemas.openxmlformats.org/presentationml/2006/ole">
            <mc:AlternateContent xmlns:mc="http://schemas.openxmlformats.org/markup-compatibility/2006">
              <mc:Choice xmlns:v="urn:schemas-microsoft-com:vml" Requires="v">
                <p:oleObj spid="_x0000_s23571"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449303"/>
                        <a:ext cx="11275153" cy="494148"/>
                      </a:xfrm>
                      <a:prstGeom prst="rect">
                        <a:avLst/>
                      </a:prstGeom>
                    </p:spPr>
                  </p:pic>
                </p:oleObj>
              </mc:Fallback>
            </mc:AlternateContent>
          </a:graphicData>
        </a:graphic>
      </p:graphicFrame>
      <p:sp>
        <p:nvSpPr>
          <p:cNvPr id="3" name="矩形 2"/>
          <p:cNvSpPr>
            <a:spLocks noChangeAspect="1"/>
          </p:cNvSpPr>
          <p:nvPr/>
        </p:nvSpPr>
        <p:spPr>
          <a:xfrm>
            <a:off x="381000" y="2203086"/>
            <a:ext cx="11430000" cy="283282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第一步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分两种情况讨论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将</a:t>
            </a:r>
            <a:r>
              <a:rPr lang="en-US" altLang="zh-CN" sz="2800" i="1">
                <a:solidFill>
                  <a:srgbClr val="000000"/>
                </a:solidFill>
                <a:latin typeface="Times New Roman" panose="02020603050405020304" pitchFamily="18" charset="0"/>
                <a:cs typeface="Times New Roman" panose="02020603050405020304" pitchFamily="18" charset="0"/>
              </a:rPr>
              <a:t>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表示为</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的函数</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第二步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根据频率分布直方图估计利润</a:t>
            </a:r>
            <a:r>
              <a:rPr lang="en-US" altLang="zh-CN" sz="2800" i="1">
                <a:solidFill>
                  <a:srgbClr val="000000"/>
                </a:solidFill>
                <a:latin typeface="Times New Roman" panose="02020603050405020304" pitchFamily="18" charset="0"/>
                <a:cs typeface="Times New Roman" panose="02020603050405020304" pitchFamily="18" charset="0"/>
              </a:rPr>
              <a:t>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不少于</a:t>
            </a:r>
            <a:r>
              <a:rPr lang="en-US" altLang="zh-CN" sz="2800">
                <a:solidFill>
                  <a:srgbClr val="000000"/>
                </a:solidFill>
                <a:latin typeface="Times New Roman" panose="02020603050405020304" pitchFamily="18" charset="0"/>
                <a:cs typeface="Times New Roman" panose="02020603050405020304" pitchFamily="18" charset="0"/>
              </a:rPr>
              <a:t>57</a:t>
            </a:r>
            <a:r>
              <a:rPr lang="en-US"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000</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元的概率</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第三步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列出分布列</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离散型随机变量的分布列与统计知识的综合考查是高考考查学生能力的一个重要体现</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4340794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553141"/>
            <a:ext cx="11430000" cy="339298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【变式训练】</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已知</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件次品和</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件正品混放在一起</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现需要通过检测将其区分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每次随机检测</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件产品</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检测后不放回</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直到检测出</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件次品或者检测出</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件正品时检测结束</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求第一次检测出的是次品</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且第二次检测出的是正品的概率</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已知每检测</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件产品需要费用</a:t>
            </a:r>
            <a:r>
              <a:rPr lang="en-US" altLang="zh-CN" sz="2800">
                <a:solidFill>
                  <a:srgbClr val="000000"/>
                </a:solidFill>
                <a:latin typeface="Times New Roman" panose="02020603050405020304" pitchFamily="18" charset="0"/>
                <a:cs typeface="Times New Roman" panose="02020603050405020304" pitchFamily="18" charset="0"/>
              </a:rPr>
              <a:t>100</a:t>
            </a:r>
            <a:r>
              <a:rPr lang="zh-CN" altLang="zh-CN" sz="2800">
                <a:solidFill>
                  <a:srgbClr val="000000"/>
                </a:solidFill>
                <a:latin typeface="Times New Roman" panose="02020603050405020304" pitchFamily="18" charset="0"/>
                <a:cs typeface="Times New Roman" panose="02020603050405020304" pitchFamily="18" charset="0"/>
              </a:rPr>
              <a:t>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设</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表示直到检测出</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件次品或者检测出</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件正品时所需要的检测费用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单位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的分布列</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62843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430164375"/>
              </p:ext>
            </p:extLst>
          </p:nvPr>
        </p:nvGraphicFramePr>
        <p:xfrm>
          <a:off x="458424" y="4817353"/>
          <a:ext cx="11307463" cy="2593820"/>
        </p:xfrm>
        <a:graphic>
          <a:graphicData uri="http://schemas.openxmlformats.org/presentationml/2006/ole">
            <mc:AlternateContent xmlns:mc="http://schemas.openxmlformats.org/markup-compatibility/2006">
              <mc:Choice xmlns:v="urn:schemas-microsoft-com:vml" Requires="v">
                <p:oleObj spid="_x0000_s24612" name="文档" r:id="rId4" imgW="4522985" imgH="1037528" progId="Word.Document.12">
                  <p:embed/>
                </p:oleObj>
              </mc:Choice>
              <mc:Fallback>
                <p:oleObj name="文档" r:id="rId4" imgW="4522985" imgH="1037528" progId="Word.Document.12">
                  <p:embed/>
                  <p:pic>
                    <p:nvPicPr>
                      <p:cNvPr id="0" name=""/>
                      <p:cNvPicPr/>
                      <p:nvPr/>
                    </p:nvPicPr>
                    <p:blipFill>
                      <a:blip r:embed="rId5"/>
                      <a:stretch>
                        <a:fillRect/>
                      </a:stretch>
                    </p:blipFill>
                    <p:spPr>
                      <a:xfrm>
                        <a:off x="458424" y="4817353"/>
                        <a:ext cx="11307463" cy="259382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045838841"/>
              </p:ext>
            </p:extLst>
          </p:nvPr>
        </p:nvGraphicFramePr>
        <p:xfrm>
          <a:off x="463550" y="184932"/>
          <a:ext cx="11228388" cy="4645025"/>
        </p:xfrm>
        <a:graphic>
          <a:graphicData uri="http://schemas.openxmlformats.org/presentationml/2006/ole">
            <mc:AlternateContent xmlns:mc="http://schemas.openxmlformats.org/markup-compatibility/2006">
              <mc:Choice xmlns:v="urn:schemas-microsoft-com:vml" Requires="v">
                <p:oleObj spid="_x0000_s24613" name="文档" r:id="rId7" imgW="4510061" imgH="1874374" progId="Word.Document.12">
                  <p:embed/>
                </p:oleObj>
              </mc:Choice>
              <mc:Fallback>
                <p:oleObj name="文档" r:id="rId7" imgW="4510061" imgH="1874374" progId="Word.Document.12">
                  <p:embed/>
                  <p:pic>
                    <p:nvPicPr>
                      <p:cNvPr id="0" name=""/>
                      <p:cNvPicPr/>
                      <p:nvPr/>
                    </p:nvPicPr>
                    <p:blipFill>
                      <a:blip r:embed="rId8"/>
                      <a:stretch>
                        <a:fillRect/>
                      </a:stretch>
                    </p:blipFill>
                    <p:spPr>
                      <a:xfrm>
                        <a:off x="463550" y="184932"/>
                        <a:ext cx="11228388" cy="4645025"/>
                      </a:xfrm>
                      <a:prstGeom prst="rect">
                        <a:avLst/>
                      </a:prstGeom>
                    </p:spPr>
                  </p:pic>
                </p:oleObj>
              </mc:Fallback>
            </mc:AlternateContent>
          </a:graphicData>
        </a:graphic>
      </p:graphicFrame>
    </p:spTree>
    <p:extLst>
      <p:ext uri="{BB962C8B-B14F-4D97-AF65-F5344CB8AC3E}">
        <p14:creationId xmlns:p14="http://schemas.microsoft.com/office/powerpoint/2010/main" val="40054411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81000" y="518822"/>
            <a:ext cx="9042860"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下列表中可以作为离散型随机变量的分布列的是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6" name="图片 5"/>
          <p:cNvPicPr>
            <a:picLocks noChangeAspect="1"/>
          </p:cNvPicPr>
          <p:nvPr/>
        </p:nvPicPr>
        <p:blipFill>
          <a:blip r:embed="rId2">
            <a:clrChange>
              <a:clrFrom>
                <a:srgbClr val="FFFFFF"/>
              </a:clrFrom>
              <a:clrTo>
                <a:srgbClr val="FFFFFF">
                  <a:alpha val="0"/>
                </a:srgbClr>
              </a:clrTo>
            </a:clrChange>
          </a:blip>
          <a:stretch>
            <a:fillRect/>
          </a:stretch>
        </p:blipFill>
        <p:spPr>
          <a:xfrm>
            <a:off x="381000" y="1171308"/>
            <a:ext cx="4242990" cy="1782885"/>
          </a:xfrm>
          <a:prstGeom prst="rect">
            <a:avLst/>
          </a:prstGeom>
        </p:spPr>
      </p:pic>
      <p:pic>
        <p:nvPicPr>
          <p:cNvPr id="9" name="图片 8"/>
          <p:cNvPicPr>
            <a:picLocks noChangeAspect="1"/>
          </p:cNvPicPr>
          <p:nvPr/>
        </p:nvPicPr>
        <p:blipFill>
          <a:blip r:embed="rId3">
            <a:clrChange>
              <a:clrFrom>
                <a:srgbClr val="FFFFFF"/>
              </a:clrFrom>
              <a:clrTo>
                <a:srgbClr val="FFFFFF">
                  <a:alpha val="0"/>
                </a:srgbClr>
              </a:clrTo>
            </a:clrChange>
          </a:blip>
          <a:stretch>
            <a:fillRect/>
          </a:stretch>
        </p:blipFill>
        <p:spPr>
          <a:xfrm>
            <a:off x="5362576" y="1168273"/>
            <a:ext cx="5106791" cy="1775975"/>
          </a:xfrm>
          <a:prstGeom prst="rect">
            <a:avLst/>
          </a:prstGeom>
        </p:spPr>
      </p:pic>
      <p:pic>
        <p:nvPicPr>
          <p:cNvPr id="10" name="图片 9"/>
          <p:cNvPicPr>
            <a:picLocks noChangeAspect="1"/>
          </p:cNvPicPr>
          <p:nvPr/>
        </p:nvPicPr>
        <p:blipFill>
          <a:blip r:embed="rId4">
            <a:clrChange>
              <a:clrFrom>
                <a:srgbClr val="FFFFFF"/>
              </a:clrFrom>
              <a:clrTo>
                <a:srgbClr val="FFFFFF">
                  <a:alpha val="0"/>
                </a:srgbClr>
              </a:clrTo>
            </a:clrChange>
          </a:blip>
          <a:stretch>
            <a:fillRect/>
          </a:stretch>
        </p:blipFill>
        <p:spPr>
          <a:xfrm>
            <a:off x="381000" y="3155718"/>
            <a:ext cx="4166976" cy="1782885"/>
          </a:xfrm>
          <a:prstGeom prst="rect">
            <a:avLst/>
          </a:prstGeom>
        </p:spPr>
      </p:pic>
      <p:pic>
        <p:nvPicPr>
          <p:cNvPr id="11" name="图片 10"/>
          <p:cNvPicPr>
            <a:picLocks noChangeAspect="1"/>
          </p:cNvPicPr>
          <p:nvPr/>
        </p:nvPicPr>
        <p:blipFill>
          <a:blip r:embed="rId5">
            <a:clrChange>
              <a:clrFrom>
                <a:srgbClr val="FFFFFF"/>
              </a:clrFrom>
              <a:clrTo>
                <a:srgbClr val="FFFFFF">
                  <a:alpha val="0"/>
                </a:srgbClr>
              </a:clrTo>
            </a:clrChange>
          </a:blip>
          <a:stretch>
            <a:fillRect/>
          </a:stretch>
        </p:blipFill>
        <p:spPr>
          <a:xfrm>
            <a:off x="5362576" y="3123655"/>
            <a:ext cx="4160065" cy="1741423"/>
          </a:xfrm>
          <a:prstGeom prst="rect">
            <a:avLst/>
          </a:prstGeom>
        </p:spPr>
      </p:pic>
      <p:sp>
        <p:nvSpPr>
          <p:cNvPr id="12" name="矩形 11"/>
          <p:cNvSpPr>
            <a:spLocks noChangeAspect="1"/>
          </p:cNvSpPr>
          <p:nvPr/>
        </p:nvSpPr>
        <p:spPr>
          <a:xfrm>
            <a:off x="381000" y="5140128"/>
            <a:ext cx="1351652"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D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1379517300"/>
              </p:ext>
            </p:extLst>
          </p:nvPr>
        </p:nvGraphicFramePr>
        <p:xfrm>
          <a:off x="458424" y="807605"/>
          <a:ext cx="11275153" cy="1983030"/>
        </p:xfrm>
        <a:graphic>
          <a:graphicData uri="http://schemas.openxmlformats.org/presentationml/2006/ole">
            <mc:AlternateContent xmlns:mc="http://schemas.openxmlformats.org/markup-compatibility/2006">
              <mc:Choice xmlns:v="urn:schemas-microsoft-com:vml" Requires="v">
                <p:oleObj spid="_x0000_s27682" name="文档" r:id="rId4" imgW="4510061" imgH="793212" progId="Word.Document.12">
                  <p:embed/>
                </p:oleObj>
              </mc:Choice>
              <mc:Fallback>
                <p:oleObj name="文档" r:id="rId4" imgW="4510061" imgH="793212" progId="Word.Document.12">
                  <p:embed/>
                  <p:pic>
                    <p:nvPicPr>
                      <p:cNvPr id="0" name=""/>
                      <p:cNvPicPr/>
                      <p:nvPr/>
                    </p:nvPicPr>
                    <p:blipFill>
                      <a:blip r:embed="rId5"/>
                      <a:stretch>
                        <a:fillRect/>
                      </a:stretch>
                    </p:blipFill>
                    <p:spPr>
                      <a:xfrm>
                        <a:off x="458424" y="807605"/>
                        <a:ext cx="11275153" cy="198303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028709351"/>
              </p:ext>
            </p:extLst>
          </p:nvPr>
        </p:nvGraphicFramePr>
        <p:xfrm>
          <a:off x="458424" y="2626248"/>
          <a:ext cx="11275153" cy="1983030"/>
        </p:xfrm>
        <a:graphic>
          <a:graphicData uri="http://schemas.openxmlformats.org/presentationml/2006/ole">
            <mc:AlternateContent xmlns:mc="http://schemas.openxmlformats.org/markup-compatibility/2006">
              <mc:Choice xmlns:v="urn:schemas-microsoft-com:vml" Requires="v">
                <p:oleObj spid="_x0000_s27683" name="文档" r:id="rId7" imgW="4510061" imgH="793212" progId="Word.Document.12">
                  <p:embed/>
                </p:oleObj>
              </mc:Choice>
              <mc:Fallback>
                <p:oleObj name="文档" r:id="rId7" imgW="4510061" imgH="793212" progId="Word.Document.12">
                  <p:embed/>
                  <p:pic>
                    <p:nvPicPr>
                      <p:cNvPr id="0" name=""/>
                      <p:cNvPicPr/>
                      <p:nvPr/>
                    </p:nvPicPr>
                    <p:blipFill>
                      <a:blip r:embed="rId8"/>
                      <a:stretch>
                        <a:fillRect/>
                      </a:stretch>
                    </p:blipFill>
                    <p:spPr>
                      <a:xfrm>
                        <a:off x="458424" y="2626248"/>
                        <a:ext cx="11275153" cy="1983030"/>
                      </a:xfrm>
                      <a:prstGeom prst="rect">
                        <a:avLst/>
                      </a:prstGeom>
                    </p:spPr>
                  </p:pic>
                </p:oleObj>
              </mc:Fallback>
            </mc:AlternateContent>
          </a:graphicData>
        </a:graphic>
      </p:graphicFrame>
      <p:sp>
        <p:nvSpPr>
          <p:cNvPr id="7" name="矩形 6"/>
          <p:cNvSpPr>
            <a:spLocks noChangeAspect="1"/>
          </p:cNvSpPr>
          <p:nvPr/>
        </p:nvSpPr>
        <p:spPr>
          <a:xfrm>
            <a:off x="381000" y="4508868"/>
            <a:ext cx="1330814"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C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0220667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220446"/>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某工厂一批产品分为一、二、三级</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其中一级品是二级品的两倍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三级品为二级品的一半</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从这批产品中随机抽取一个检验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其级别为随机变量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则</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4042175123"/>
              </p:ext>
            </p:extLst>
          </p:nvPr>
        </p:nvGraphicFramePr>
        <p:xfrm>
          <a:off x="458424" y="1323685"/>
          <a:ext cx="11275153" cy="991965"/>
        </p:xfrm>
        <a:graphic>
          <a:graphicData uri="http://schemas.openxmlformats.org/presentationml/2006/ole">
            <mc:AlternateContent xmlns:mc="http://schemas.openxmlformats.org/markup-compatibility/2006">
              <mc:Choice xmlns:v="urn:schemas-microsoft-com:vml" Requires="v">
                <p:oleObj spid="_x0000_s33804" name="文档" r:id="rId4" imgW="4510061" imgH="396786" progId="Word.Document.12">
                  <p:embed/>
                </p:oleObj>
              </mc:Choice>
              <mc:Fallback>
                <p:oleObj name="文档" r:id="rId4" imgW="4510061" imgH="396786" progId="Word.Document.12">
                  <p:embed/>
                  <p:pic>
                    <p:nvPicPr>
                      <p:cNvPr id="0" name=""/>
                      <p:cNvPicPr/>
                      <p:nvPr/>
                    </p:nvPicPr>
                    <p:blipFill>
                      <a:blip r:embed="rId5"/>
                      <a:stretch>
                        <a:fillRect/>
                      </a:stretch>
                    </p:blipFill>
                    <p:spPr>
                      <a:xfrm>
                        <a:off x="458424" y="1323685"/>
                        <a:ext cx="11275153" cy="991965"/>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689418077"/>
              </p:ext>
            </p:extLst>
          </p:nvPr>
        </p:nvGraphicFramePr>
        <p:xfrm>
          <a:off x="458424" y="2027974"/>
          <a:ext cx="11275153" cy="1636158"/>
        </p:xfrm>
        <a:graphic>
          <a:graphicData uri="http://schemas.openxmlformats.org/presentationml/2006/ole">
            <mc:AlternateContent xmlns:mc="http://schemas.openxmlformats.org/markup-compatibility/2006">
              <mc:Choice xmlns:v="urn:schemas-microsoft-com:vml" Requires="v">
                <p:oleObj spid="_x0000_s33805" name="文档" r:id="rId7" imgW="4510061" imgH="654463" progId="Word.Document.12">
                  <p:embed/>
                </p:oleObj>
              </mc:Choice>
              <mc:Fallback>
                <p:oleObj name="文档" r:id="rId7" imgW="4510061" imgH="654463" progId="Word.Document.12">
                  <p:embed/>
                  <p:pic>
                    <p:nvPicPr>
                      <p:cNvPr id="0" name=""/>
                      <p:cNvPicPr/>
                      <p:nvPr/>
                    </p:nvPicPr>
                    <p:blipFill>
                      <a:blip r:embed="rId8"/>
                      <a:stretch>
                        <a:fillRect/>
                      </a:stretch>
                    </p:blipFill>
                    <p:spPr>
                      <a:xfrm>
                        <a:off x="458424" y="2027974"/>
                        <a:ext cx="11275153" cy="1636158"/>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4013227036"/>
              </p:ext>
            </p:extLst>
          </p:nvPr>
        </p:nvGraphicFramePr>
        <p:xfrm>
          <a:off x="1296708" y="3131213"/>
          <a:ext cx="9598583" cy="2055650"/>
        </p:xfrm>
        <a:graphic>
          <a:graphicData uri="http://schemas.openxmlformats.org/presentationml/2006/ole">
            <mc:AlternateContent xmlns:mc="http://schemas.openxmlformats.org/markup-compatibility/2006">
              <mc:Choice xmlns:v="urn:schemas-microsoft-com:vml" Requires="v">
                <p:oleObj spid="_x0000_s33806" name="文档" r:id="rId10" imgW="3839433" imgH="822260" progId="Word.Document.12">
                  <p:embed/>
                </p:oleObj>
              </mc:Choice>
              <mc:Fallback>
                <p:oleObj name="文档" r:id="rId10" imgW="3839433" imgH="822260" progId="Word.Document.12">
                  <p:embed/>
                  <p:pic>
                    <p:nvPicPr>
                      <p:cNvPr id="0" name=""/>
                      <p:cNvPicPr/>
                      <p:nvPr/>
                    </p:nvPicPr>
                    <p:blipFill>
                      <a:blip r:embed="rId11"/>
                      <a:stretch>
                        <a:fillRect/>
                      </a:stretch>
                    </p:blipFill>
                    <p:spPr>
                      <a:xfrm>
                        <a:off x="1296708" y="3131213"/>
                        <a:ext cx="9598583" cy="205565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478166552"/>
              </p:ext>
            </p:extLst>
          </p:nvPr>
        </p:nvGraphicFramePr>
        <p:xfrm>
          <a:off x="458424" y="4488002"/>
          <a:ext cx="11275153" cy="991965"/>
        </p:xfrm>
        <a:graphic>
          <a:graphicData uri="http://schemas.openxmlformats.org/presentationml/2006/ole">
            <mc:AlternateContent xmlns:mc="http://schemas.openxmlformats.org/markup-compatibility/2006">
              <mc:Choice xmlns:v="urn:schemas-microsoft-com:vml" Requires="v">
                <p:oleObj spid="_x0000_s33807" name="文档" r:id="rId13" imgW="4510061" imgH="396786" progId="Word.Document.12">
                  <p:embed/>
                </p:oleObj>
              </mc:Choice>
              <mc:Fallback>
                <p:oleObj name="文档" r:id="rId13" imgW="4510061" imgH="396786" progId="Word.Document.12">
                  <p:embed/>
                  <p:pic>
                    <p:nvPicPr>
                      <p:cNvPr id="0" name=""/>
                      <p:cNvPicPr/>
                      <p:nvPr/>
                    </p:nvPicPr>
                    <p:blipFill>
                      <a:blip r:embed="rId14"/>
                      <a:stretch>
                        <a:fillRect/>
                      </a:stretch>
                    </p:blipFill>
                    <p:spPr>
                      <a:xfrm>
                        <a:off x="458424" y="4488002"/>
                        <a:ext cx="11275153" cy="991965"/>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321602662"/>
              </p:ext>
            </p:extLst>
          </p:nvPr>
        </p:nvGraphicFramePr>
        <p:xfrm>
          <a:off x="458424" y="5269055"/>
          <a:ext cx="11275153" cy="991965"/>
        </p:xfrm>
        <a:graphic>
          <a:graphicData uri="http://schemas.openxmlformats.org/presentationml/2006/ole">
            <mc:AlternateContent xmlns:mc="http://schemas.openxmlformats.org/markup-compatibility/2006">
              <mc:Choice xmlns:v="urn:schemas-microsoft-com:vml" Requires="v">
                <p:oleObj spid="_x0000_s33808" name="文档" r:id="rId16" imgW="4510061" imgH="396786" progId="Word.Document.12">
                  <p:embed/>
                </p:oleObj>
              </mc:Choice>
              <mc:Fallback>
                <p:oleObj name="文档" r:id="rId16" imgW="4510061" imgH="396786" progId="Word.Document.12">
                  <p:embed/>
                  <p:pic>
                    <p:nvPicPr>
                      <p:cNvPr id="0" name=""/>
                      <p:cNvPicPr/>
                      <p:nvPr/>
                    </p:nvPicPr>
                    <p:blipFill>
                      <a:blip r:embed="rId17"/>
                      <a:stretch>
                        <a:fillRect/>
                      </a:stretch>
                    </p:blipFill>
                    <p:spPr>
                      <a:xfrm>
                        <a:off x="458424" y="5269055"/>
                        <a:ext cx="11275153" cy="991965"/>
                      </a:xfrm>
                      <a:prstGeom prst="rect">
                        <a:avLst/>
                      </a:prstGeom>
                    </p:spPr>
                  </p:pic>
                </p:oleObj>
              </mc:Fallback>
            </mc:AlternateContent>
          </a:graphicData>
        </a:graphic>
      </p:graphicFrame>
    </p:spTree>
    <p:extLst>
      <p:ext uri="{BB962C8B-B14F-4D97-AF65-F5344CB8AC3E}">
        <p14:creationId xmlns:p14="http://schemas.microsoft.com/office/powerpoint/2010/main" val="31235811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par>
                                <p:cTn id="8" presetID="14"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randombar(horizontal)">
                                      <p:cBhvr>
                                        <p:cTn id="10" dur="500"/>
                                        <p:tgtEl>
                                          <p:spTgt spid="6"/>
                                        </p:tgtEl>
                                      </p:cBhvr>
                                    </p:animEffect>
                                  </p:childTnLst>
                                </p:cTn>
                              </p:par>
                              <p:par>
                                <p:cTn id="11" presetID="14" presetClass="entr" presetSubtype="1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randombar(horizontal)">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randombar(horizontal)">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1112596933"/>
              </p:ext>
            </p:extLst>
          </p:nvPr>
        </p:nvGraphicFramePr>
        <p:xfrm>
          <a:off x="458424" y="1639920"/>
          <a:ext cx="11275153" cy="2702003"/>
        </p:xfrm>
        <a:graphic>
          <a:graphicData uri="http://schemas.openxmlformats.org/presentationml/2006/ole">
            <mc:AlternateContent xmlns:mc="http://schemas.openxmlformats.org/markup-compatibility/2006">
              <mc:Choice xmlns:v="urn:schemas-microsoft-com:vml" Requires="v">
                <p:oleObj spid="_x0000_s28690" name="文档" r:id="rId4" imgW="4521949" imgH="1080320" progId="Word.Document.12">
                  <p:embed/>
                </p:oleObj>
              </mc:Choice>
              <mc:Fallback>
                <p:oleObj name="文档" r:id="rId4" imgW="4521949" imgH="1080320" progId="Word.Document.12">
                  <p:embed/>
                  <p:pic>
                    <p:nvPicPr>
                      <p:cNvPr id="0" name=""/>
                      <p:cNvPicPr/>
                      <p:nvPr/>
                    </p:nvPicPr>
                    <p:blipFill>
                      <a:blip r:embed="rId5"/>
                      <a:stretch>
                        <a:fillRect/>
                      </a:stretch>
                    </p:blipFill>
                    <p:spPr>
                      <a:xfrm>
                        <a:off x="458424" y="1639920"/>
                        <a:ext cx="11275153" cy="2702003"/>
                      </a:xfrm>
                      <a:prstGeom prst="rect">
                        <a:avLst/>
                      </a:prstGeom>
                    </p:spPr>
                  </p:pic>
                </p:oleObj>
              </mc:Fallback>
            </mc:AlternateContent>
          </a:graphicData>
        </a:graphic>
      </p:graphicFrame>
    </p:spTree>
    <p:extLst>
      <p:ext uri="{BB962C8B-B14F-4D97-AF65-F5344CB8AC3E}">
        <p14:creationId xmlns:p14="http://schemas.microsoft.com/office/powerpoint/2010/main" val="6835096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extLst>
              <p:ext uri="{D42A27DB-BD31-4B8C-83A1-F6EECF244321}">
                <p14:modId xmlns:p14="http://schemas.microsoft.com/office/powerpoint/2010/main" val="2029309352"/>
              </p:ext>
            </p:extLst>
          </p:nvPr>
        </p:nvGraphicFramePr>
        <p:xfrm>
          <a:off x="434639" y="856121"/>
          <a:ext cx="11322723" cy="5749078"/>
        </p:xfrm>
        <a:graphic>
          <a:graphicData uri="http://schemas.openxmlformats.org/presentationml/2006/ole">
            <mc:AlternateContent xmlns:mc="http://schemas.openxmlformats.org/markup-compatibility/2006">
              <mc:Choice xmlns:v="urn:schemas-microsoft-com:vml" Requires="v">
                <p:oleObj spid="_x0000_s29728" name="文档" r:id="rId4" imgW="4529089" imgH="2299631" progId="Word.Document.12">
                  <p:embed/>
                </p:oleObj>
              </mc:Choice>
              <mc:Fallback>
                <p:oleObj name="文档" r:id="rId4" imgW="4529089" imgH="2299631" progId="Word.Document.12">
                  <p:embed/>
                  <p:pic>
                    <p:nvPicPr>
                      <p:cNvPr id="0" name=""/>
                      <p:cNvPicPr/>
                      <p:nvPr/>
                    </p:nvPicPr>
                    <p:blipFill>
                      <a:blip r:embed="rId5"/>
                      <a:stretch>
                        <a:fillRect/>
                      </a:stretch>
                    </p:blipFill>
                    <p:spPr>
                      <a:xfrm>
                        <a:off x="434639" y="856121"/>
                        <a:ext cx="11322723" cy="5749078"/>
                      </a:xfrm>
                      <a:prstGeom prst="rect">
                        <a:avLst/>
                      </a:prstGeom>
                    </p:spPr>
                  </p:pic>
                </p:oleObj>
              </mc:Fallback>
            </mc:AlternateContent>
          </a:graphicData>
        </a:graphic>
      </p:graphicFrame>
    </p:spTree>
    <p:extLst>
      <p:ext uri="{BB962C8B-B14F-4D97-AF65-F5344CB8AC3E}">
        <p14:creationId xmlns:p14="http://schemas.microsoft.com/office/powerpoint/2010/main" val="42074385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6" name="文本框 5"/>
          <p:cNvSpPr txBox="1"/>
          <p:nvPr/>
        </p:nvSpPr>
        <p:spPr>
          <a:xfrm>
            <a:off x="2624485" y="2222090"/>
            <a:ext cx="6648062" cy="1015663"/>
          </a:xfrm>
          <a:prstGeom prst="rect">
            <a:avLst/>
          </a:prstGeom>
          <a:noFill/>
        </p:spPr>
        <p:txBody>
          <a:bodyPr wrap="square" rtlCol="0">
            <a:spAutoFit/>
          </a:bodyPr>
          <a:lstStyle/>
          <a:p>
            <a:pPr algn="ctr"/>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146</TotalTime>
  <Words>2498</Words>
  <Application>Microsoft Office PowerPoint</Application>
  <PresentationFormat>宽屏</PresentationFormat>
  <Paragraphs>207</Paragraphs>
  <Slides>37</Slides>
  <Notes>0</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37</vt:i4>
      </vt:variant>
    </vt:vector>
  </HeadingPairs>
  <TitlesOfParts>
    <vt:vector size="58" baseType="lpstr">
      <vt:lpstr>NEU-BZ-S92</vt:lpstr>
      <vt:lpstr>Open Sans</vt:lpstr>
      <vt:lpstr>方正书宋_GBK</vt:lpstr>
      <vt:lpstr>方正姚体</vt:lpstr>
      <vt:lpstr>方正正中黑简体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Microsoft Yi Baiti</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Windows User</cp:lastModifiedBy>
  <cp:revision>44</cp:revision>
  <dcterms:created xsi:type="dcterms:W3CDTF">2021-08-30T08:30:26Z</dcterms:created>
  <dcterms:modified xsi:type="dcterms:W3CDTF">2025-08-20T01:07:17Z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