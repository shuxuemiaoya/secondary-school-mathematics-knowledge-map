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docx" ContentType="application/vnd.openxmlformats-officedocument.wordprocessingml.document"/>
  <Default Extension="wdp" ContentType="image/vnd.ms-photo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4"/>
  </p:notesMasterIdLst>
  <p:sldIdLst>
    <p:sldId id="677" r:id="rId2"/>
    <p:sldId id="488" r:id="rId3"/>
    <p:sldId id="494" r:id="rId4"/>
    <p:sldId id="392" r:id="rId5"/>
    <p:sldId id="686" r:id="rId6"/>
    <p:sldId id="756" r:id="rId7"/>
    <p:sldId id="757" r:id="rId8"/>
    <p:sldId id="758" r:id="rId9"/>
    <p:sldId id="759" r:id="rId10"/>
    <p:sldId id="760" r:id="rId11"/>
    <p:sldId id="761" r:id="rId12"/>
    <p:sldId id="762" r:id="rId13"/>
    <p:sldId id="407" r:id="rId14"/>
    <p:sldId id="394" r:id="rId15"/>
    <p:sldId id="699" r:id="rId16"/>
    <p:sldId id="700" r:id="rId17"/>
    <p:sldId id="701" r:id="rId18"/>
    <p:sldId id="763" r:id="rId19"/>
    <p:sldId id="764" r:id="rId20"/>
    <p:sldId id="765" r:id="rId21"/>
    <p:sldId id="402" r:id="rId22"/>
    <p:sldId id="720" r:id="rId23"/>
    <p:sldId id="721" r:id="rId24"/>
    <p:sldId id="726" r:id="rId25"/>
    <p:sldId id="753" r:id="rId26"/>
    <p:sldId id="498" r:id="rId27"/>
    <p:sldId id="730" r:id="rId28"/>
    <p:sldId id="733" r:id="rId29"/>
    <p:sldId id="743" r:id="rId30"/>
    <p:sldId id="744" r:id="rId31"/>
    <p:sldId id="766" r:id="rId32"/>
    <p:sldId id="740" r:id="rId33"/>
    <p:sldId id="749" r:id="rId34"/>
    <p:sldId id="754" r:id="rId35"/>
    <p:sldId id="755" r:id="rId36"/>
    <p:sldId id="750" r:id="rId37"/>
    <p:sldId id="741" r:id="rId38"/>
    <p:sldId id="767" r:id="rId39"/>
    <p:sldId id="768" r:id="rId40"/>
    <p:sldId id="738" r:id="rId41"/>
    <p:sldId id="751" r:id="rId42"/>
    <p:sldId id="752" r:id="rId43"/>
    <p:sldId id="769" r:id="rId44"/>
    <p:sldId id="770" r:id="rId45"/>
    <p:sldId id="398" r:id="rId46"/>
    <p:sldId id="395" r:id="rId47"/>
    <p:sldId id="771" r:id="rId48"/>
    <p:sldId id="772" r:id="rId49"/>
    <p:sldId id="773" r:id="rId50"/>
    <p:sldId id="775" r:id="rId51"/>
    <p:sldId id="776" r:id="rId52"/>
    <p:sldId id="490" r:id="rId5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68">
          <p15:clr>
            <a:srgbClr val="A4A3A4"/>
          </p15:clr>
        </p15:guide>
        <p15:guide id="2" pos="211" userDrawn="1">
          <p15:clr>
            <a:srgbClr val="A4A3A4"/>
          </p15:clr>
        </p15:guide>
        <p15:guide id="3" orient="horz" pos="436" userDrawn="1">
          <p15:clr>
            <a:srgbClr val="A4A3A4"/>
          </p15:clr>
        </p15:guide>
        <p15:guide id="4" orient="horz" pos="777" userDrawn="1">
          <p15:clr>
            <a:srgbClr val="A4A3A4"/>
          </p15:clr>
        </p15:guide>
        <p15:guide id="5" orient="horz" pos="28" userDrawn="1">
          <p15:clr>
            <a:srgbClr val="A4A3A4"/>
          </p15:clr>
        </p15:guide>
        <p15:guide id="6" pos="25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C5B3E"/>
    <a:srgbClr val="7088DB"/>
    <a:srgbClr val="CF5B1B"/>
    <a:srgbClr val="38425D"/>
    <a:srgbClr val="4472C4"/>
    <a:srgbClr val="DFF0F5"/>
    <a:srgbClr val="4040C8"/>
    <a:srgbClr val="159470"/>
    <a:srgbClr val="157392"/>
    <a:srgbClr val="15937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4" autoAdjust="0"/>
    <p:restoredTop sz="94660"/>
  </p:normalViewPr>
  <p:slideViewPr>
    <p:cSldViewPr snapToGrid="0">
      <p:cViewPr varScale="1">
        <p:scale>
          <a:sx n="93" d="100"/>
          <a:sy n="93" d="100"/>
        </p:scale>
        <p:origin x="456" y="108"/>
      </p:cViewPr>
      <p:guideLst>
        <p:guide orient="horz" pos="368"/>
        <p:guide pos="211"/>
        <p:guide orient="horz" pos="436"/>
        <p:guide orient="horz" pos="777"/>
        <p:guide orient="horz" pos="28"/>
        <p:guide pos="257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9918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e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4.emf"/><Relationship Id="rId1" Type="http://schemas.openxmlformats.org/officeDocument/2006/relationships/image" Target="../media/image3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e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e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e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e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.emf"/></Relationships>
</file>

<file path=ppt/drawings/_rels/vmlDrawing8.vml.rels><?xml version="1.0" encoding="UTF-8" standalone="yes"?>
<Relationships xmlns="http://schemas.openxmlformats.org/package/2006/relationships"><Relationship Id="rId3" Type="http://schemas.openxmlformats.org/officeDocument/2006/relationships/image" Target="../media/image14.emf"/><Relationship Id="rId2" Type="http://schemas.openxmlformats.org/officeDocument/2006/relationships/image" Target="../media/image13.emf"/><Relationship Id="rId1" Type="http://schemas.openxmlformats.org/officeDocument/2006/relationships/image" Target="../media/image12.e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15.emf"/></Relationships>
</file>

<file path=ppt/drawings/_rels/vmlDrawing10.vml.rels><?xml version="1.0" encoding="UTF-8" standalone="yes"?>
<Relationships xmlns="http://schemas.openxmlformats.org/package/2006/relationships"><Relationship Id="rId2" Type="http://schemas.openxmlformats.org/officeDocument/2006/relationships/image" Target="../media/image17.emf"/><Relationship Id="rId1" Type="http://schemas.openxmlformats.org/officeDocument/2006/relationships/image" Target="../media/image16.emf"/></Relationships>
</file>

<file path=ppt/drawings/_rels/vmlDrawing1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8.emf"/></Relationships>
</file>

<file path=ppt/drawings/_rels/vmlDrawing1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9.emf"/></Relationships>
</file>

<file path=ppt/drawings/_rels/vmlDrawing13.vml.rels><?xml version="1.0" encoding="UTF-8" standalone="yes"?>
<Relationships xmlns="http://schemas.openxmlformats.org/package/2006/relationships"><Relationship Id="rId2" Type="http://schemas.openxmlformats.org/officeDocument/2006/relationships/image" Target="../media/image21.emf"/><Relationship Id="rId1" Type="http://schemas.openxmlformats.org/officeDocument/2006/relationships/image" Target="../media/image20.emf"/></Relationships>
</file>

<file path=ppt/drawings/_rels/vmlDrawing14.vml.rels><?xml version="1.0" encoding="UTF-8" standalone="yes"?>
<Relationships xmlns="http://schemas.openxmlformats.org/package/2006/relationships"><Relationship Id="rId1" Type="http://schemas.openxmlformats.org/officeDocument/2006/relationships/image" Target="../media/image22.emf"/></Relationships>
</file>

<file path=ppt/drawings/_rels/vmlDrawing15.vml.rels><?xml version="1.0" encoding="UTF-8" standalone="yes"?>
<Relationships xmlns="http://schemas.openxmlformats.org/package/2006/relationships"><Relationship Id="rId2" Type="http://schemas.openxmlformats.org/officeDocument/2006/relationships/image" Target="../media/image24.emf"/><Relationship Id="rId1" Type="http://schemas.openxmlformats.org/officeDocument/2006/relationships/image" Target="../media/image23.emf"/></Relationships>
</file>

<file path=ppt/drawings/_rels/vmlDrawing16.vml.rels><?xml version="1.0" encoding="UTF-8" standalone="yes"?>
<Relationships xmlns="http://schemas.openxmlformats.org/package/2006/relationships"><Relationship Id="rId1" Type="http://schemas.openxmlformats.org/officeDocument/2006/relationships/image" Target="../media/image25.emf"/></Relationships>
</file>

<file path=ppt/drawings/_rels/vmlDrawing17.vml.rels><?xml version="1.0" encoding="UTF-8" standalone="yes"?>
<Relationships xmlns="http://schemas.openxmlformats.org/package/2006/relationships"><Relationship Id="rId1" Type="http://schemas.openxmlformats.org/officeDocument/2006/relationships/image" Target="../media/image26.emf"/></Relationships>
</file>

<file path=ppt/drawings/_rels/vmlDrawing18.vml.rels><?xml version="1.0" encoding="UTF-8" standalone="yes"?>
<Relationships xmlns="http://schemas.openxmlformats.org/package/2006/relationships"><Relationship Id="rId1" Type="http://schemas.openxmlformats.org/officeDocument/2006/relationships/image" Target="../media/image27.emf"/></Relationships>
</file>

<file path=ppt/drawings/_rels/vmlDrawing19.vml.rels><?xml version="1.0" encoding="UTF-8" standalone="yes"?>
<Relationships xmlns="http://schemas.openxmlformats.org/package/2006/relationships"><Relationship Id="rId1" Type="http://schemas.openxmlformats.org/officeDocument/2006/relationships/image" Target="../media/image28.emf"/></Relationships>
</file>

<file path=ppt/drawings/_rels/vmlDrawing20.vml.rels><?xml version="1.0" encoding="UTF-8" standalone="yes"?>
<Relationships xmlns="http://schemas.openxmlformats.org/package/2006/relationships"><Relationship Id="rId1" Type="http://schemas.openxmlformats.org/officeDocument/2006/relationships/image" Target="../media/image29.emf"/></Relationships>
</file>

<file path=ppt/drawings/_rels/vmlDrawing2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0.emf"/></Relationships>
</file>

<file path=ppt/drawings/_rels/vmlDrawing22.vml.rels><?xml version="1.0" encoding="UTF-8" standalone="yes"?>
<Relationships xmlns="http://schemas.openxmlformats.org/package/2006/relationships"><Relationship Id="rId1" Type="http://schemas.openxmlformats.org/officeDocument/2006/relationships/image" Target="../media/image31.emf"/></Relationships>
</file>

<file path=ppt/drawings/_rels/vmlDrawing23.vml.rels><?xml version="1.0" encoding="UTF-8" standalone="yes"?>
<Relationships xmlns="http://schemas.openxmlformats.org/package/2006/relationships"><Relationship Id="rId1" Type="http://schemas.openxmlformats.org/officeDocument/2006/relationships/image" Target="../media/image32.emf"/></Relationships>
</file>

<file path=ppt/drawings/_rels/vmlDrawing24.vml.rels><?xml version="1.0" encoding="UTF-8" standalone="yes"?>
<Relationships xmlns="http://schemas.openxmlformats.org/package/2006/relationships"><Relationship Id="rId1" Type="http://schemas.openxmlformats.org/officeDocument/2006/relationships/image" Target="../media/image33.emf"/></Relationships>
</file>

<file path=ppt/drawings/_rels/vmlDrawing25.vml.rels><?xml version="1.0" encoding="UTF-8" standalone="yes"?>
<Relationships xmlns="http://schemas.openxmlformats.org/package/2006/relationships"><Relationship Id="rId1" Type="http://schemas.openxmlformats.org/officeDocument/2006/relationships/image" Target="../media/image34.emf"/></Relationships>
</file>

<file path=ppt/drawings/_rels/vmlDrawing26.vml.rels><?xml version="1.0" encoding="UTF-8" standalone="yes"?>
<Relationships xmlns="http://schemas.openxmlformats.org/package/2006/relationships"><Relationship Id="rId1" Type="http://schemas.openxmlformats.org/officeDocument/2006/relationships/image" Target="../media/image35.emf"/></Relationships>
</file>

<file path=ppt/drawings/_rels/vmlDrawing27.vml.rels><?xml version="1.0" encoding="UTF-8" standalone="yes"?>
<Relationships xmlns="http://schemas.openxmlformats.org/package/2006/relationships"><Relationship Id="rId2" Type="http://schemas.openxmlformats.org/officeDocument/2006/relationships/image" Target="../media/image37.emf"/><Relationship Id="rId1" Type="http://schemas.openxmlformats.org/officeDocument/2006/relationships/image" Target="../media/image36.emf"/></Relationships>
</file>

<file path=ppt/drawings/_rels/vmlDrawing28.vml.rels><?xml version="1.0" encoding="UTF-8" standalone="yes"?>
<Relationships xmlns="http://schemas.openxmlformats.org/package/2006/relationships"><Relationship Id="rId2" Type="http://schemas.openxmlformats.org/officeDocument/2006/relationships/image" Target="../media/image39.emf"/><Relationship Id="rId1" Type="http://schemas.openxmlformats.org/officeDocument/2006/relationships/image" Target="../media/image38.emf"/></Relationships>
</file>

<file path=ppt/drawings/_rels/vmlDrawing29.vml.rels><?xml version="1.0" encoding="UTF-8" standalone="yes"?>
<Relationships xmlns="http://schemas.openxmlformats.org/package/2006/relationships"><Relationship Id="rId2" Type="http://schemas.openxmlformats.org/officeDocument/2006/relationships/image" Target="../media/image41.emf"/><Relationship Id="rId1" Type="http://schemas.openxmlformats.org/officeDocument/2006/relationships/image" Target="../media/image40.emf"/></Relationships>
</file>

<file path=ppt/drawings/_rels/vmlDrawing30.vml.rels><?xml version="1.0" encoding="UTF-8" standalone="yes"?>
<Relationships xmlns="http://schemas.openxmlformats.org/package/2006/relationships"><Relationship Id="rId2" Type="http://schemas.openxmlformats.org/officeDocument/2006/relationships/image" Target="../media/image43.emf"/><Relationship Id="rId1" Type="http://schemas.openxmlformats.org/officeDocument/2006/relationships/image" Target="../media/image42.emf"/></Relationships>
</file>

<file path=ppt/drawings/_rels/vmlDrawing31.vml.rels><?xml version="1.0" encoding="UTF-8" standalone="yes"?>
<Relationships xmlns="http://schemas.openxmlformats.org/package/2006/relationships"><Relationship Id="rId3" Type="http://schemas.openxmlformats.org/officeDocument/2006/relationships/image" Target="../media/image46.emf"/><Relationship Id="rId2" Type="http://schemas.openxmlformats.org/officeDocument/2006/relationships/image" Target="../media/image45.emf"/><Relationship Id="rId1" Type="http://schemas.openxmlformats.org/officeDocument/2006/relationships/image" Target="../media/image44.emf"/></Relationships>
</file>

<file path=ppt/drawings/_rels/vmlDrawing32.vml.rels><?xml version="1.0" encoding="UTF-8" standalone="yes"?>
<Relationships xmlns="http://schemas.openxmlformats.org/package/2006/relationships"><Relationship Id="rId2" Type="http://schemas.openxmlformats.org/officeDocument/2006/relationships/image" Target="../media/image48.emf"/><Relationship Id="rId1" Type="http://schemas.openxmlformats.org/officeDocument/2006/relationships/image" Target="../media/image47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44B3386-1164-4DE5-87D6-99DD641BC976}" type="datetimeFigureOut">
              <a:rPr lang="zh-CN" altLang="en-US" smtClean="0"/>
              <a:t>2025-08-20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5BDB411-4171-48A7-B819-B87F89F6C7E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544889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slide" Target="../slides/slide21.xml"/><Relationship Id="rId2" Type="http://schemas.openxmlformats.org/officeDocument/2006/relationships/slide" Target="../slides/slide14.xml"/><Relationship Id="rId1" Type="http://schemas.openxmlformats.org/officeDocument/2006/relationships/slideMaster" Target="../slideMasters/slideMaster1.xml"/><Relationship Id="rId6" Type="http://schemas.openxmlformats.org/officeDocument/2006/relationships/slide" Target="../slides/slide37.xml"/><Relationship Id="rId5" Type="http://schemas.openxmlformats.org/officeDocument/2006/relationships/slide" Target="../slides/slide32.xml"/><Relationship Id="rId4" Type="http://schemas.openxmlformats.org/officeDocument/2006/relationships/slide" Target="../slides/slide26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6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圆角矩形 6">
            <a:hlinkClick r:id="rId2" action="ppaction://hlinksldjump"/>
          </p:cNvPr>
          <p:cNvSpPr/>
          <p:nvPr userDrawn="1"/>
        </p:nvSpPr>
        <p:spPr>
          <a:xfrm>
            <a:off x="6736663" y="6512560"/>
            <a:ext cx="984481" cy="274320"/>
          </a:xfrm>
          <a:prstGeom prst="roundRect">
            <a:avLst>
              <a:gd name="adj" fmla="val 50000"/>
            </a:avLst>
          </a:prstGeom>
          <a:solidFill>
            <a:srgbClr val="7F7F7F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 smtClean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探究一</a:t>
            </a:r>
            <a:endParaRPr lang="zh-CN" altLang="en-US" sz="1400" dirty="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8" name="圆角矩形 7">
            <a:hlinkClick r:id="rId3" action="ppaction://hlinksldjump"/>
          </p:cNvPr>
          <p:cNvSpPr/>
          <p:nvPr userDrawn="1"/>
        </p:nvSpPr>
        <p:spPr>
          <a:xfrm>
            <a:off x="7803007" y="6512560"/>
            <a:ext cx="984481" cy="274320"/>
          </a:xfrm>
          <a:prstGeom prst="roundRect">
            <a:avLst>
              <a:gd name="adj" fmla="val 50000"/>
            </a:avLst>
          </a:prstGeom>
          <a:solidFill>
            <a:srgbClr val="7F7F7F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zh-CN" altLang="en-US" sz="1400" dirty="0" smtClean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探究二</a:t>
            </a:r>
            <a:endParaRPr lang="zh-CN" altLang="en-US" sz="1400" dirty="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9" name="圆角矩形 8">
            <a:hlinkClick r:id="rId4" action="ppaction://hlinksldjump"/>
          </p:cNvPr>
          <p:cNvSpPr/>
          <p:nvPr userDrawn="1"/>
        </p:nvSpPr>
        <p:spPr>
          <a:xfrm>
            <a:off x="8869351" y="6512560"/>
            <a:ext cx="984481" cy="274320"/>
          </a:xfrm>
          <a:prstGeom prst="roundRect">
            <a:avLst>
              <a:gd name="adj" fmla="val 50000"/>
            </a:avLst>
          </a:prstGeom>
          <a:solidFill>
            <a:srgbClr val="7F7F7F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zh-CN" altLang="en-US" sz="1400" dirty="0" smtClean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探究三</a:t>
            </a:r>
            <a:endParaRPr lang="zh-CN" altLang="en-US" sz="1400" dirty="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5" name="圆角矩形 4">
            <a:hlinkClick r:id="rId5" action="ppaction://hlinksldjump"/>
          </p:cNvPr>
          <p:cNvSpPr/>
          <p:nvPr userDrawn="1"/>
        </p:nvSpPr>
        <p:spPr>
          <a:xfrm>
            <a:off x="9935695" y="6512560"/>
            <a:ext cx="984481" cy="274320"/>
          </a:xfrm>
          <a:prstGeom prst="roundRect">
            <a:avLst>
              <a:gd name="adj" fmla="val 50000"/>
            </a:avLst>
          </a:prstGeom>
          <a:solidFill>
            <a:srgbClr val="7F7F7F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zh-CN" altLang="en-US" sz="1400" dirty="0" smtClean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探究四</a:t>
            </a:r>
            <a:endParaRPr lang="zh-CN" altLang="en-US" sz="1400" dirty="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6" name="圆角矩形 5">
            <a:hlinkClick r:id="rId6" action="ppaction://hlinksldjump"/>
          </p:cNvPr>
          <p:cNvSpPr/>
          <p:nvPr userDrawn="1"/>
        </p:nvSpPr>
        <p:spPr>
          <a:xfrm>
            <a:off x="11002039" y="6512560"/>
            <a:ext cx="984481" cy="274320"/>
          </a:xfrm>
          <a:prstGeom prst="roundRect">
            <a:avLst>
              <a:gd name="adj" fmla="val 50000"/>
            </a:avLst>
          </a:prstGeom>
          <a:solidFill>
            <a:srgbClr val="7F7F7F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zh-CN" altLang="en-US" sz="1400" dirty="0" smtClean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易错辨析</a:t>
            </a:r>
            <a:endParaRPr lang="zh-CN" altLang="en-US" sz="1400" dirty="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pattFill prst="lgConfetti">
          <a:fgClr>
            <a:srgbClr val="E8F4E9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1" r:id="rId3"/>
  </p:sldLayoutIdLst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" Target="slide13.xml"/><Relationship Id="rId2" Type="http://schemas.openxmlformats.org/officeDocument/2006/relationships/slide" Target="slide4.xml"/><Relationship Id="rId1" Type="http://schemas.openxmlformats.org/officeDocument/2006/relationships/slideLayout" Target="../slideLayouts/slideLayout1.xml"/><Relationship Id="rId4" Type="http://schemas.openxmlformats.org/officeDocument/2006/relationships/slide" Target="slide4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2.emf"/><Relationship Id="rId4" Type="http://schemas.openxmlformats.org/officeDocument/2006/relationships/package" Target="../embeddings/Microsoft_Word___1.docx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emf"/><Relationship Id="rId3" Type="http://schemas.openxmlformats.org/officeDocument/2006/relationships/oleObject" Target="../embeddings/oleObject2.bin"/><Relationship Id="rId7" Type="http://schemas.openxmlformats.org/officeDocument/2006/relationships/package" Target="../embeddings/Microsoft_Word___3.docx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2.vml"/><Relationship Id="rId6" Type="http://schemas.openxmlformats.org/officeDocument/2006/relationships/oleObject" Target="../embeddings/oleObject3.bin"/><Relationship Id="rId11" Type="http://schemas.openxmlformats.org/officeDocument/2006/relationships/image" Target="../media/image5.emf"/><Relationship Id="rId5" Type="http://schemas.openxmlformats.org/officeDocument/2006/relationships/image" Target="../media/image3.emf"/><Relationship Id="rId10" Type="http://schemas.openxmlformats.org/officeDocument/2006/relationships/package" Target="../embeddings/Microsoft_Word___4.docx"/><Relationship Id="rId4" Type="http://schemas.openxmlformats.org/officeDocument/2006/relationships/package" Target="../embeddings/Microsoft_Word___2.docx"/><Relationship Id="rId9" Type="http://schemas.openxmlformats.org/officeDocument/2006/relationships/oleObject" Target="../embeddings/oleObject4.bin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5" Type="http://schemas.openxmlformats.org/officeDocument/2006/relationships/image" Target="../media/image6.emf"/><Relationship Id="rId4" Type="http://schemas.openxmlformats.org/officeDocument/2006/relationships/package" Target="../embeddings/Microsoft_Word___5.docx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5" Type="http://schemas.openxmlformats.org/officeDocument/2006/relationships/image" Target="../media/image7.emf"/><Relationship Id="rId4" Type="http://schemas.openxmlformats.org/officeDocument/2006/relationships/package" Target="../embeddings/Microsoft_Word___6.docx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5" Type="http://schemas.openxmlformats.org/officeDocument/2006/relationships/image" Target="../media/image8.emf"/><Relationship Id="rId4" Type="http://schemas.openxmlformats.org/officeDocument/2006/relationships/package" Target="../embeddings/Microsoft_Word___7.docx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.vml"/><Relationship Id="rId6" Type="http://schemas.openxmlformats.org/officeDocument/2006/relationships/image" Target="../media/image9.emf"/><Relationship Id="rId5" Type="http://schemas.openxmlformats.org/officeDocument/2006/relationships/package" Target="../embeddings/Microsoft_Word___8.docx"/><Relationship Id="rId4" Type="http://schemas.openxmlformats.org/officeDocument/2006/relationships/oleObject" Target="../embeddings/oleObject8.bin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7.vml"/><Relationship Id="rId5" Type="http://schemas.openxmlformats.org/officeDocument/2006/relationships/image" Target="../media/image11.emf"/><Relationship Id="rId4" Type="http://schemas.openxmlformats.org/officeDocument/2006/relationships/package" Target="../embeddings/Microsoft_Word___9.docx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emf"/><Relationship Id="rId3" Type="http://schemas.openxmlformats.org/officeDocument/2006/relationships/oleObject" Target="../embeddings/oleObject10.bin"/><Relationship Id="rId7" Type="http://schemas.openxmlformats.org/officeDocument/2006/relationships/package" Target="../embeddings/Microsoft_Word___11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8.vml"/><Relationship Id="rId6" Type="http://schemas.openxmlformats.org/officeDocument/2006/relationships/oleObject" Target="../embeddings/oleObject11.bin"/><Relationship Id="rId11" Type="http://schemas.openxmlformats.org/officeDocument/2006/relationships/image" Target="../media/image14.emf"/><Relationship Id="rId5" Type="http://schemas.openxmlformats.org/officeDocument/2006/relationships/image" Target="../media/image12.emf"/><Relationship Id="rId10" Type="http://schemas.openxmlformats.org/officeDocument/2006/relationships/package" Target="../embeddings/Microsoft_Word___12.docx"/><Relationship Id="rId4" Type="http://schemas.openxmlformats.org/officeDocument/2006/relationships/package" Target="../embeddings/Microsoft_Word___10.docx"/><Relationship Id="rId9" Type="http://schemas.openxmlformats.org/officeDocument/2006/relationships/oleObject" Target="../embeddings/oleObject12.bin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9.vml"/><Relationship Id="rId5" Type="http://schemas.openxmlformats.org/officeDocument/2006/relationships/image" Target="../media/image15.emf"/><Relationship Id="rId4" Type="http://schemas.openxmlformats.org/officeDocument/2006/relationships/package" Target="../embeddings/Microsoft_Word___13.docx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emf"/><Relationship Id="rId3" Type="http://schemas.openxmlformats.org/officeDocument/2006/relationships/oleObject" Target="../embeddings/oleObject14.bin"/><Relationship Id="rId7" Type="http://schemas.openxmlformats.org/officeDocument/2006/relationships/package" Target="../embeddings/Microsoft_Word___15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0.vml"/><Relationship Id="rId6" Type="http://schemas.openxmlformats.org/officeDocument/2006/relationships/oleObject" Target="../embeddings/oleObject15.bin"/><Relationship Id="rId5" Type="http://schemas.openxmlformats.org/officeDocument/2006/relationships/image" Target="../media/image16.emf"/><Relationship Id="rId4" Type="http://schemas.openxmlformats.org/officeDocument/2006/relationships/package" Target="../embeddings/Microsoft_Word___14.docx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6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1.vml"/><Relationship Id="rId5" Type="http://schemas.openxmlformats.org/officeDocument/2006/relationships/image" Target="../media/image18.emf"/><Relationship Id="rId4" Type="http://schemas.openxmlformats.org/officeDocument/2006/relationships/package" Target="../embeddings/Microsoft_Word___16.docx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7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2.vml"/><Relationship Id="rId5" Type="http://schemas.openxmlformats.org/officeDocument/2006/relationships/image" Target="../media/image19.emf"/><Relationship Id="rId4" Type="http://schemas.openxmlformats.org/officeDocument/2006/relationships/package" Target="../embeddings/Microsoft_Word___17.docx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emf"/><Relationship Id="rId3" Type="http://schemas.openxmlformats.org/officeDocument/2006/relationships/oleObject" Target="../embeddings/oleObject18.bin"/><Relationship Id="rId7" Type="http://schemas.openxmlformats.org/officeDocument/2006/relationships/package" Target="../embeddings/Microsoft_Word___19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3.vml"/><Relationship Id="rId6" Type="http://schemas.openxmlformats.org/officeDocument/2006/relationships/oleObject" Target="../embeddings/oleObject19.bin"/><Relationship Id="rId5" Type="http://schemas.openxmlformats.org/officeDocument/2006/relationships/image" Target="../media/image20.emf"/><Relationship Id="rId4" Type="http://schemas.openxmlformats.org/officeDocument/2006/relationships/package" Target="../embeddings/Microsoft_Word___18.docx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0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4.vml"/><Relationship Id="rId5" Type="http://schemas.openxmlformats.org/officeDocument/2006/relationships/image" Target="../media/image22.emf"/><Relationship Id="rId4" Type="http://schemas.openxmlformats.org/officeDocument/2006/relationships/package" Target="../embeddings/Microsoft_Word___20.docx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emf"/><Relationship Id="rId3" Type="http://schemas.openxmlformats.org/officeDocument/2006/relationships/oleObject" Target="../embeddings/oleObject21.bin"/><Relationship Id="rId7" Type="http://schemas.openxmlformats.org/officeDocument/2006/relationships/package" Target="../embeddings/Microsoft_Word___22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5.vml"/><Relationship Id="rId6" Type="http://schemas.openxmlformats.org/officeDocument/2006/relationships/oleObject" Target="../embeddings/oleObject22.bin"/><Relationship Id="rId5" Type="http://schemas.openxmlformats.org/officeDocument/2006/relationships/image" Target="../media/image23.emf"/><Relationship Id="rId4" Type="http://schemas.openxmlformats.org/officeDocument/2006/relationships/package" Target="../embeddings/Microsoft_Word___21.docx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6.vml"/><Relationship Id="rId6" Type="http://schemas.openxmlformats.org/officeDocument/2006/relationships/image" Target="../media/image25.emf"/><Relationship Id="rId5" Type="http://schemas.openxmlformats.org/officeDocument/2006/relationships/package" Target="../embeddings/Microsoft_Word___23.docx"/><Relationship Id="rId4" Type="http://schemas.openxmlformats.org/officeDocument/2006/relationships/oleObject" Target="../embeddings/oleObject23.bin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7.vml"/><Relationship Id="rId5" Type="http://schemas.openxmlformats.org/officeDocument/2006/relationships/image" Target="../media/image26.emf"/><Relationship Id="rId4" Type="http://schemas.openxmlformats.org/officeDocument/2006/relationships/package" Target="../embeddings/Microsoft_Word___24.docx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5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8.vml"/><Relationship Id="rId5" Type="http://schemas.openxmlformats.org/officeDocument/2006/relationships/image" Target="../media/image27.emf"/><Relationship Id="rId4" Type="http://schemas.openxmlformats.org/officeDocument/2006/relationships/package" Target="../embeddings/Microsoft_Word___25.docx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6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9.vml"/><Relationship Id="rId5" Type="http://schemas.openxmlformats.org/officeDocument/2006/relationships/image" Target="../media/image28.emf"/><Relationship Id="rId4" Type="http://schemas.openxmlformats.org/officeDocument/2006/relationships/package" Target="../embeddings/Microsoft_Word___26.docx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7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0.vml"/><Relationship Id="rId5" Type="http://schemas.openxmlformats.org/officeDocument/2006/relationships/image" Target="../media/image29.emf"/><Relationship Id="rId4" Type="http://schemas.openxmlformats.org/officeDocument/2006/relationships/package" Target="../embeddings/Microsoft_Word___27.docx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8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1.vml"/><Relationship Id="rId5" Type="http://schemas.openxmlformats.org/officeDocument/2006/relationships/image" Target="../media/image30.emf"/><Relationship Id="rId4" Type="http://schemas.openxmlformats.org/officeDocument/2006/relationships/package" Target="../embeddings/Microsoft_Word___28.docx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9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2.vml"/><Relationship Id="rId5" Type="http://schemas.openxmlformats.org/officeDocument/2006/relationships/image" Target="../media/image31.emf"/><Relationship Id="rId4" Type="http://schemas.openxmlformats.org/officeDocument/2006/relationships/package" Target="../embeddings/Microsoft_Word___29.docx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0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3.vml"/><Relationship Id="rId5" Type="http://schemas.openxmlformats.org/officeDocument/2006/relationships/image" Target="../media/image32.emf"/><Relationship Id="rId4" Type="http://schemas.openxmlformats.org/officeDocument/2006/relationships/package" Target="../embeddings/Microsoft_Word___30.docx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4.vml"/><Relationship Id="rId5" Type="http://schemas.openxmlformats.org/officeDocument/2006/relationships/image" Target="../media/image33.emf"/><Relationship Id="rId4" Type="http://schemas.openxmlformats.org/officeDocument/2006/relationships/package" Target="../embeddings/Microsoft_Word___31.docx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5.vml"/><Relationship Id="rId5" Type="http://schemas.openxmlformats.org/officeDocument/2006/relationships/image" Target="../media/image34.emf"/><Relationship Id="rId4" Type="http://schemas.openxmlformats.org/officeDocument/2006/relationships/package" Target="../embeddings/Microsoft_Word___32.docx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6.vml"/><Relationship Id="rId5" Type="http://schemas.openxmlformats.org/officeDocument/2006/relationships/image" Target="../media/image35.emf"/><Relationship Id="rId4" Type="http://schemas.openxmlformats.org/officeDocument/2006/relationships/package" Target="../embeddings/Microsoft_Word___33.docx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emf"/><Relationship Id="rId3" Type="http://schemas.openxmlformats.org/officeDocument/2006/relationships/oleObject" Target="../embeddings/oleObject34.bin"/><Relationship Id="rId7" Type="http://schemas.openxmlformats.org/officeDocument/2006/relationships/package" Target="../embeddings/Microsoft_Word___35.docx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27.vml"/><Relationship Id="rId6" Type="http://schemas.openxmlformats.org/officeDocument/2006/relationships/oleObject" Target="../embeddings/oleObject35.bin"/><Relationship Id="rId5" Type="http://schemas.openxmlformats.org/officeDocument/2006/relationships/image" Target="../media/image36.emf"/><Relationship Id="rId4" Type="http://schemas.openxmlformats.org/officeDocument/2006/relationships/package" Target="../embeddings/Microsoft_Word___34.docx"/></Relationships>
</file>

<file path=ppt/slides/_rels/slide4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emf"/><Relationship Id="rId3" Type="http://schemas.openxmlformats.org/officeDocument/2006/relationships/oleObject" Target="../embeddings/oleObject36.bin"/><Relationship Id="rId7" Type="http://schemas.openxmlformats.org/officeDocument/2006/relationships/package" Target="../embeddings/Microsoft_Word___37.docx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28.vml"/><Relationship Id="rId6" Type="http://schemas.openxmlformats.org/officeDocument/2006/relationships/oleObject" Target="../embeddings/oleObject37.bin"/><Relationship Id="rId5" Type="http://schemas.openxmlformats.org/officeDocument/2006/relationships/image" Target="../media/image38.emf"/><Relationship Id="rId4" Type="http://schemas.openxmlformats.org/officeDocument/2006/relationships/package" Target="../embeddings/Microsoft_Word___36.docx"/></Relationships>
</file>

<file path=ppt/slides/_rels/slide4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emf"/><Relationship Id="rId3" Type="http://schemas.openxmlformats.org/officeDocument/2006/relationships/oleObject" Target="../embeddings/oleObject38.bin"/><Relationship Id="rId7" Type="http://schemas.openxmlformats.org/officeDocument/2006/relationships/package" Target="../embeddings/Microsoft_Word___39.docx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29.vml"/><Relationship Id="rId6" Type="http://schemas.openxmlformats.org/officeDocument/2006/relationships/oleObject" Target="../embeddings/oleObject39.bin"/><Relationship Id="rId5" Type="http://schemas.openxmlformats.org/officeDocument/2006/relationships/image" Target="../media/image40.emf"/><Relationship Id="rId4" Type="http://schemas.openxmlformats.org/officeDocument/2006/relationships/package" Target="../embeddings/Microsoft_Word___38.docx"/></Relationships>
</file>

<file path=ppt/slides/_rels/slide4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emf"/><Relationship Id="rId3" Type="http://schemas.openxmlformats.org/officeDocument/2006/relationships/oleObject" Target="../embeddings/oleObject40.bin"/><Relationship Id="rId7" Type="http://schemas.openxmlformats.org/officeDocument/2006/relationships/package" Target="../embeddings/Microsoft_Word___41.docx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30.vml"/><Relationship Id="rId6" Type="http://schemas.openxmlformats.org/officeDocument/2006/relationships/oleObject" Target="../embeddings/oleObject41.bin"/><Relationship Id="rId5" Type="http://schemas.openxmlformats.org/officeDocument/2006/relationships/image" Target="../media/image42.emf"/><Relationship Id="rId4" Type="http://schemas.openxmlformats.org/officeDocument/2006/relationships/package" Target="../embeddings/Microsoft_Word___40.docx"/></Relationships>
</file>

<file path=ppt/slides/_rels/slide5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emf"/><Relationship Id="rId3" Type="http://schemas.openxmlformats.org/officeDocument/2006/relationships/oleObject" Target="../embeddings/oleObject42.bin"/><Relationship Id="rId7" Type="http://schemas.openxmlformats.org/officeDocument/2006/relationships/package" Target="../embeddings/Microsoft_Word___43.docx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31.vml"/><Relationship Id="rId6" Type="http://schemas.openxmlformats.org/officeDocument/2006/relationships/oleObject" Target="../embeddings/oleObject43.bin"/><Relationship Id="rId11" Type="http://schemas.openxmlformats.org/officeDocument/2006/relationships/image" Target="../media/image46.emf"/><Relationship Id="rId5" Type="http://schemas.openxmlformats.org/officeDocument/2006/relationships/image" Target="../media/image44.emf"/><Relationship Id="rId10" Type="http://schemas.openxmlformats.org/officeDocument/2006/relationships/package" Target="../embeddings/Microsoft_Word___44.docx"/><Relationship Id="rId4" Type="http://schemas.openxmlformats.org/officeDocument/2006/relationships/package" Target="../embeddings/Microsoft_Word___42.docx"/><Relationship Id="rId9" Type="http://schemas.openxmlformats.org/officeDocument/2006/relationships/oleObject" Target="../embeddings/oleObject44.bin"/></Relationships>
</file>

<file path=ppt/slides/_rels/slide5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emf"/><Relationship Id="rId3" Type="http://schemas.openxmlformats.org/officeDocument/2006/relationships/oleObject" Target="../embeddings/oleObject45.bin"/><Relationship Id="rId7" Type="http://schemas.openxmlformats.org/officeDocument/2006/relationships/package" Target="../embeddings/Microsoft_Word___46.docx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32.vml"/><Relationship Id="rId6" Type="http://schemas.openxmlformats.org/officeDocument/2006/relationships/oleObject" Target="../embeddings/oleObject46.bin"/><Relationship Id="rId5" Type="http://schemas.openxmlformats.org/officeDocument/2006/relationships/image" Target="../media/image47.emf"/><Relationship Id="rId4" Type="http://schemas.openxmlformats.org/officeDocument/2006/relationships/package" Target="../embeddings/Microsoft_Word___45.docx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2300879" y="519978"/>
            <a:ext cx="404790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dist"/>
            <a:r>
              <a:rPr lang="zh-CN" altLang="en-US" sz="2400" b="1" spc="600" dirty="0" smtClean="0">
                <a:solidFill>
                  <a:srgbClr val="757C8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高中同步测控优化设计</a:t>
            </a:r>
            <a:endParaRPr lang="zh-CN" altLang="en-US" sz="2400" b="1" spc="600" dirty="0">
              <a:solidFill>
                <a:srgbClr val="757C82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cxnSp>
        <p:nvCxnSpPr>
          <p:cNvPr id="3" name="直接连接符 2"/>
          <p:cNvCxnSpPr/>
          <p:nvPr/>
        </p:nvCxnSpPr>
        <p:spPr>
          <a:xfrm>
            <a:off x="2282351" y="1003843"/>
            <a:ext cx="4305485" cy="0"/>
          </a:xfrm>
          <a:prstGeom prst="line">
            <a:avLst/>
          </a:prstGeom>
          <a:ln>
            <a:solidFill>
              <a:schemeClr val="tx1"/>
            </a:solidFill>
            <a:prstDash val="lgDashDotDot"/>
            <a:headEnd type="diamond" w="med" len="med"/>
            <a:tailEnd type="diamond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矩形 3"/>
          <p:cNvSpPr/>
          <p:nvPr/>
        </p:nvSpPr>
        <p:spPr>
          <a:xfrm>
            <a:off x="2173232" y="1026313"/>
            <a:ext cx="4414604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1600" b="1" dirty="0" smtClean="0">
                <a:solidFill>
                  <a:srgbClr val="757C8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GAO ZHONG TONG </a:t>
            </a:r>
            <a:r>
              <a:rPr lang="en-US" altLang="zh-CN" sz="1600" b="1" dirty="0">
                <a:solidFill>
                  <a:srgbClr val="757C8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B</a:t>
            </a:r>
            <a:r>
              <a:rPr lang="en-US" altLang="zh-CN" sz="1600" b="1" dirty="0" smtClean="0">
                <a:solidFill>
                  <a:srgbClr val="757C8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U CE KONG YOU HUA SHE JI</a:t>
            </a:r>
          </a:p>
        </p:txBody>
      </p:sp>
      <p:grpSp>
        <p:nvGrpSpPr>
          <p:cNvPr id="5" name="组合 4"/>
          <p:cNvGrpSpPr/>
          <p:nvPr/>
        </p:nvGrpSpPr>
        <p:grpSpPr>
          <a:xfrm>
            <a:off x="635" y="2775585"/>
            <a:ext cx="12191365" cy="1478915"/>
            <a:chOff x="303375" y="3227146"/>
            <a:chExt cx="11560182" cy="1479076"/>
          </a:xfrm>
        </p:grpSpPr>
        <p:sp>
          <p:nvSpPr>
            <p:cNvPr id="6" name="矩形 5"/>
            <p:cNvSpPr/>
            <p:nvPr/>
          </p:nvSpPr>
          <p:spPr>
            <a:xfrm>
              <a:off x="303375" y="3227146"/>
              <a:ext cx="11560182" cy="1479076"/>
            </a:xfrm>
            <a:prstGeom prst="rect">
              <a:avLst/>
            </a:prstGeom>
            <a:solidFill>
              <a:srgbClr val="6B7278"/>
            </a:solidFill>
            <a:ln>
              <a:noFill/>
            </a:ln>
            <a:scene3d>
              <a:camera prst="orthographicFront"/>
              <a:lightRig rig="threePt" dir="t"/>
            </a:scene3d>
            <a:sp3d>
              <a:bevelT w="114300" prst="hardEdg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矩形 6"/>
            <p:cNvSpPr/>
            <p:nvPr/>
          </p:nvSpPr>
          <p:spPr>
            <a:xfrm>
              <a:off x="3665034" y="3614538"/>
              <a:ext cx="8158783" cy="6452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zh-CN" sz="3600" b="1">
                  <a:solidFill>
                    <a:schemeClr val="bg1"/>
                  </a:solidFill>
                  <a:latin typeface="华文细黑" panose="02010600040101010101" charset="-122"/>
                  <a:ea typeface="华文细黑" panose="02010600040101010101" charset="-122"/>
                </a:rPr>
                <a:t>7.4.1</a:t>
              </a:r>
              <a:r>
                <a:rPr lang="zh-CN" altLang="en-US" sz="3600" b="1">
                  <a:solidFill>
                    <a:schemeClr val="bg1"/>
                  </a:solidFill>
                  <a:latin typeface="华文细黑" panose="02010600040101010101" charset="-122"/>
                  <a:ea typeface="华文细黑" panose="02010600040101010101" charset="-122"/>
                </a:rPr>
                <a:t>　二项分布</a:t>
              </a:r>
            </a:p>
          </p:txBody>
        </p:sp>
      </p:grpSp>
      <p:sp>
        <p:nvSpPr>
          <p:cNvPr id="8" name="矩形 7"/>
          <p:cNvSpPr/>
          <p:nvPr/>
        </p:nvSpPr>
        <p:spPr>
          <a:xfrm>
            <a:off x="1109345" y="2277745"/>
            <a:ext cx="2282825" cy="2407920"/>
          </a:xfrm>
          <a:prstGeom prst="rect">
            <a:avLst/>
          </a:prstGeom>
          <a:solidFill>
            <a:srgbClr val="748773"/>
          </a:solidFill>
          <a:ln w="12700" cap="flat" cmpd="sng" algn="ctr">
            <a:noFill/>
            <a:prstDash val="solid"/>
            <a:miter lim="800000"/>
          </a:ln>
          <a:effectLst>
            <a:outerShdw blurRad="317500" dist="127000" dir="2700000" algn="tl" rotWithShape="0">
              <a:prstClr val="black">
                <a:alpha val="25000"/>
              </a:prstClr>
            </a:outerShdw>
          </a:effectLst>
          <a:scene3d>
            <a:camera prst="orthographicFront"/>
            <a:lightRig rig="threePt" dir="t"/>
          </a:scene3d>
          <a:sp3d>
            <a:bevelT w="101600" prst="riblet"/>
          </a:sp3d>
        </p:spPr>
        <p:txBody>
          <a:bodyPr wrap="none" rtlCol="0" anchor="ctr"/>
          <a:lstStyle/>
          <a:p>
            <a:pPr algn="ctr"/>
            <a:r>
              <a:rPr lang="zh-CN" altLang="en-US" sz="3600" b="1" kern="0" smtClean="0">
                <a:solidFill>
                  <a:schemeClr val="bg1"/>
                </a:solidFill>
                <a:latin typeface="华文细黑" panose="02010600040101010101" charset="-122"/>
                <a:ea typeface="华文细黑" panose="02010600040101010101" charset="-122"/>
                <a:cs typeface="Open Sans" panose="020B0606030504020204" pitchFamily="34" charset="0"/>
              </a:rPr>
              <a:t>第七章</a:t>
            </a:r>
            <a:endParaRPr lang="en-US" altLang="zh-CN" sz="3600" b="1" kern="0" dirty="0" smtClean="0">
              <a:solidFill>
                <a:schemeClr val="bg1"/>
              </a:solidFill>
              <a:latin typeface="华文细黑" panose="02010600040101010101" charset="-122"/>
              <a:ea typeface="华文细黑" panose="02010600040101010101" charset="-122"/>
              <a:cs typeface="Open Sans" panose="020B0606030504020204" pitchFamily="34" charset="0"/>
            </a:endParaRPr>
          </a:p>
        </p:txBody>
      </p:sp>
      <p:pic>
        <p:nvPicPr>
          <p:cNvPr id="10" name="图片 9" descr="e37b0ec1d4924ecca897357d279cf883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50000"/>
                    </a14:imgEffect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01370" y="175260"/>
            <a:ext cx="1453515" cy="1453515"/>
          </a:xfrm>
          <a:prstGeom prst="rect">
            <a:avLst/>
          </a:prstGeom>
        </p:spPr>
      </p:pic>
      <p:sp>
        <p:nvSpPr>
          <p:cNvPr id="11" name="矩形 10"/>
          <p:cNvSpPr/>
          <p:nvPr/>
        </p:nvSpPr>
        <p:spPr>
          <a:xfrm>
            <a:off x="1001385" y="587446"/>
            <a:ext cx="1052723" cy="58701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b="1" smtClean="0">
                <a:solidFill>
                  <a:srgbClr val="757C8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2025</a:t>
            </a:r>
            <a:endParaRPr lang="en-US" altLang="zh-CN" sz="2800" b="1" dirty="0" smtClean="0">
              <a:solidFill>
                <a:srgbClr val="757C8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499843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  <p:bldLst>
      <p:bldP spid="2" grpId="0"/>
      <p:bldP spid="4" grpId="0"/>
      <p:bldP spid="8" grpId="0" bldLvl="0" animBg="1"/>
      <p:bldP spid="11" grpId="0" bldLvl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文本框 22"/>
          <p:cNvSpPr txBox="1"/>
          <p:nvPr/>
        </p:nvSpPr>
        <p:spPr>
          <a:xfrm>
            <a:off x="1788494" y="1591871"/>
            <a:ext cx="942982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4800" smtClean="0">
                <a:solidFill>
                  <a:srgbClr val="2C3814"/>
                </a:solidFill>
                <a:cs typeface="+mn-ea"/>
                <a:sym typeface="+mn-lt"/>
              </a:rPr>
              <a:t>内容索引</a:t>
            </a:r>
            <a:endParaRPr kumimoji="1" lang="zh-CN" altLang="en-US" sz="4800" dirty="0">
              <a:solidFill>
                <a:srgbClr val="2C3814"/>
              </a:solidFill>
              <a:cs typeface="+mn-ea"/>
              <a:sym typeface="+mn-lt"/>
            </a:endParaRPr>
          </a:p>
        </p:txBody>
      </p:sp>
      <p:grpSp>
        <p:nvGrpSpPr>
          <p:cNvPr id="25" name="组合 24"/>
          <p:cNvGrpSpPr/>
          <p:nvPr/>
        </p:nvGrpSpPr>
        <p:grpSpPr>
          <a:xfrm>
            <a:off x="1378713" y="856615"/>
            <a:ext cx="1105802" cy="815646"/>
            <a:chOff x="-1604504" y="2147667"/>
            <a:chExt cx="3687215" cy="2719712"/>
          </a:xfrm>
        </p:grpSpPr>
        <p:cxnSp>
          <p:nvCxnSpPr>
            <p:cNvPr id="26" name="直接连接符 25"/>
            <p:cNvCxnSpPr/>
            <p:nvPr/>
          </p:nvCxnSpPr>
          <p:spPr>
            <a:xfrm flipH="1">
              <a:off x="-1604504" y="2687623"/>
              <a:ext cx="2592288" cy="2179756"/>
            </a:xfrm>
            <a:prstGeom prst="line">
              <a:avLst/>
            </a:prstGeom>
            <a:noFill/>
            <a:ln w="76200" cap="flat" cmpd="sng" algn="ctr">
              <a:solidFill>
                <a:schemeClr val="tx2">
                  <a:lumMod val="50000"/>
                </a:schemeClr>
              </a:solidFill>
              <a:prstDash val="solid"/>
            </a:ln>
            <a:effectLst/>
          </p:spPr>
        </p:cxnSp>
        <p:cxnSp>
          <p:nvCxnSpPr>
            <p:cNvPr id="27" name="直接连接符 26"/>
            <p:cNvCxnSpPr/>
            <p:nvPr/>
          </p:nvCxnSpPr>
          <p:spPr>
            <a:xfrm flipH="1">
              <a:off x="-509577" y="2147667"/>
              <a:ext cx="2592288" cy="2179756"/>
            </a:xfrm>
            <a:prstGeom prst="line">
              <a:avLst/>
            </a:prstGeom>
            <a:noFill/>
            <a:ln w="12700" cap="flat" cmpd="sng" algn="ctr">
              <a:solidFill>
                <a:schemeClr val="tx2">
                  <a:lumMod val="50000"/>
                </a:schemeClr>
              </a:solidFill>
              <a:prstDash val="solid"/>
            </a:ln>
            <a:effectLst/>
          </p:spPr>
        </p:cxnSp>
      </p:grpSp>
      <p:grpSp>
        <p:nvGrpSpPr>
          <p:cNvPr id="28" name="组合 27"/>
          <p:cNvGrpSpPr/>
          <p:nvPr/>
        </p:nvGrpSpPr>
        <p:grpSpPr>
          <a:xfrm flipH="1" flipV="1">
            <a:off x="1707083" y="4546456"/>
            <a:ext cx="1105803" cy="815646"/>
            <a:chOff x="-1604504" y="2147667"/>
            <a:chExt cx="3687215" cy="2719712"/>
          </a:xfrm>
        </p:grpSpPr>
        <p:cxnSp>
          <p:nvCxnSpPr>
            <p:cNvPr id="38" name="直接连接符 37"/>
            <p:cNvCxnSpPr/>
            <p:nvPr/>
          </p:nvCxnSpPr>
          <p:spPr>
            <a:xfrm flipH="1">
              <a:off x="-1604504" y="2687623"/>
              <a:ext cx="2592288" cy="2179756"/>
            </a:xfrm>
            <a:prstGeom prst="line">
              <a:avLst/>
            </a:prstGeom>
            <a:noFill/>
            <a:ln w="76200" cap="flat" cmpd="sng" algn="ctr">
              <a:solidFill>
                <a:sysClr val="windowText" lastClr="000000">
                  <a:lumMod val="85000"/>
                  <a:lumOff val="15000"/>
                </a:sysClr>
              </a:solidFill>
              <a:prstDash val="solid"/>
            </a:ln>
            <a:effectLst/>
          </p:spPr>
        </p:cxnSp>
        <p:cxnSp>
          <p:nvCxnSpPr>
            <p:cNvPr id="39" name="直接连接符 38"/>
            <p:cNvCxnSpPr/>
            <p:nvPr/>
          </p:nvCxnSpPr>
          <p:spPr>
            <a:xfrm flipH="1">
              <a:off x="-509577" y="2147667"/>
              <a:ext cx="2592288" cy="2179756"/>
            </a:xfrm>
            <a:prstGeom prst="line">
              <a:avLst/>
            </a:prstGeom>
            <a:noFill/>
            <a:ln w="12700" cap="flat" cmpd="sng" algn="ctr">
              <a:solidFill>
                <a:sysClr val="windowText" lastClr="000000">
                  <a:lumMod val="85000"/>
                  <a:lumOff val="15000"/>
                </a:sysClr>
              </a:solidFill>
              <a:prstDash val="solid"/>
            </a:ln>
            <a:effectLst/>
          </p:spPr>
        </p:cxnSp>
      </p:grpSp>
      <p:grpSp>
        <p:nvGrpSpPr>
          <p:cNvPr id="40" name="组合 39"/>
          <p:cNvGrpSpPr/>
          <p:nvPr/>
        </p:nvGrpSpPr>
        <p:grpSpPr>
          <a:xfrm>
            <a:off x="4764013" y="1194282"/>
            <a:ext cx="804581" cy="804581"/>
            <a:chOff x="3685832" y="623962"/>
            <a:chExt cx="739840" cy="739840"/>
          </a:xfrm>
        </p:grpSpPr>
        <p:sp>
          <p:nvSpPr>
            <p:cNvPr id="44" name="椭圆 43"/>
            <p:cNvSpPr/>
            <p:nvPr/>
          </p:nvSpPr>
          <p:spPr>
            <a:xfrm>
              <a:off x="3685832" y="623962"/>
              <a:ext cx="739840" cy="739840"/>
            </a:xfrm>
            <a:prstGeom prst="ellipse">
              <a:avLst/>
            </a:prstGeom>
            <a:gradFill flip="none" rotWithShape="1">
              <a:gsLst>
                <a:gs pos="0">
                  <a:srgbClr val="FFFFFF">
                    <a:lumMod val="95000"/>
                    <a:lumOff val="5000"/>
                  </a:srgbClr>
                </a:gs>
                <a:gs pos="0">
                  <a:srgbClr val="FFFFFF">
                    <a:lumMod val="75000"/>
                  </a:srgbClr>
                </a:gs>
                <a:gs pos="70000">
                  <a:srgbClr val="FAFAFA"/>
                </a:gs>
              </a:gsLst>
              <a:lin ang="8100000" scaled="1"/>
              <a:tileRect/>
            </a:gradFill>
            <a:ln w="25400" cap="flat" cmpd="sng" algn="ctr">
              <a:solidFill>
                <a:srgbClr val="FFFFFF"/>
              </a:solidFill>
              <a:prstDash val="solid"/>
            </a:ln>
            <a:effectLst>
              <a:outerShdw blurRad="254000" dist="190500" dir="8100000" algn="tr" rotWithShape="0">
                <a:prstClr val="black">
                  <a:alpha val="15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1219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135" b="0" i="0" u="none" strike="noStrike" kern="0" cap="none" spc="0" normalizeH="0" baseline="0" noProof="0" dirty="0" smtClean="0">
                <a:ln>
                  <a:noFill/>
                </a:ln>
                <a:solidFill>
                  <a:srgbClr val="E93F30"/>
                </a:solidFill>
                <a:effectLst/>
                <a:uLnTx/>
                <a:uFillTx/>
                <a:latin typeface="Arial" panose="020B0604020202020204" pitchFamily="34" charset="0"/>
              </a:endParaRPr>
            </a:p>
          </p:txBody>
        </p:sp>
        <p:sp>
          <p:nvSpPr>
            <p:cNvPr id="45" name="TextBox 7"/>
            <p:cNvSpPr txBox="1"/>
            <p:nvPr/>
          </p:nvSpPr>
          <p:spPr>
            <a:xfrm>
              <a:off x="3786929" y="743838"/>
              <a:ext cx="537648" cy="500090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marL="0" marR="0" lvl="0" indent="0" algn="ctr" defTabSz="1219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3735" b="0" i="0" u="none" strike="noStrike" kern="0" cap="none" spc="0" normalizeH="0" baseline="0" noProof="0" dirty="0" smtClean="0">
                  <a:ln>
                    <a:noFill/>
                  </a:ln>
                  <a:solidFill>
                    <a:srgbClr val="000000">
                      <a:lumMod val="65000"/>
                      <a:lumOff val="35000"/>
                    </a:srgbClr>
                  </a:solidFill>
                  <a:effectLst>
                    <a:innerShdw blurRad="63500" dist="50800" dir="18900000">
                      <a:prstClr val="black">
                        <a:alpha val="30000"/>
                      </a:prstClr>
                    </a:innerShdw>
                  </a:effectLst>
                  <a:uLnTx/>
                  <a:uFillTx/>
                  <a:latin typeface="Arial" panose="020B0604020202020204" pitchFamily="34" charset="0"/>
                </a:rPr>
                <a:t>01</a:t>
              </a:r>
              <a:endParaRPr kumimoji="0" lang="zh-CN" altLang="en-US" sz="3735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>
                  <a:innerShdw blurRad="63500" dist="50800" dir="18900000">
                    <a:prstClr val="black">
                      <a:alpha val="30000"/>
                    </a:prstClr>
                  </a:innerShdw>
                </a:effectLst>
                <a:uLnTx/>
                <a:uFillTx/>
                <a:latin typeface="Arial" panose="020B0604020202020204" pitchFamily="34" charset="0"/>
              </a:endParaRPr>
            </a:p>
          </p:txBody>
        </p:sp>
      </p:grpSp>
      <p:grpSp>
        <p:nvGrpSpPr>
          <p:cNvPr id="46" name="组合 45"/>
          <p:cNvGrpSpPr/>
          <p:nvPr/>
        </p:nvGrpSpPr>
        <p:grpSpPr>
          <a:xfrm>
            <a:off x="4764013" y="2760859"/>
            <a:ext cx="804581" cy="804581"/>
            <a:chOff x="3685832" y="1673493"/>
            <a:chExt cx="739840" cy="739840"/>
          </a:xfrm>
        </p:grpSpPr>
        <p:sp>
          <p:nvSpPr>
            <p:cNvPr id="47" name="椭圆 46"/>
            <p:cNvSpPr/>
            <p:nvPr/>
          </p:nvSpPr>
          <p:spPr>
            <a:xfrm>
              <a:off x="3685832" y="1673493"/>
              <a:ext cx="739840" cy="739840"/>
            </a:xfrm>
            <a:prstGeom prst="ellipse">
              <a:avLst/>
            </a:prstGeom>
            <a:gradFill flip="none" rotWithShape="1">
              <a:gsLst>
                <a:gs pos="0">
                  <a:srgbClr val="FFFFFF">
                    <a:lumMod val="95000"/>
                    <a:lumOff val="5000"/>
                  </a:srgbClr>
                </a:gs>
                <a:gs pos="0">
                  <a:srgbClr val="FFFFFF">
                    <a:lumMod val="75000"/>
                  </a:srgbClr>
                </a:gs>
                <a:gs pos="70000">
                  <a:srgbClr val="FAFAFA"/>
                </a:gs>
              </a:gsLst>
              <a:lin ang="8100000" scaled="1"/>
              <a:tileRect/>
            </a:gradFill>
            <a:ln w="25400" cap="flat" cmpd="sng" algn="ctr">
              <a:solidFill>
                <a:srgbClr val="FFFFFF"/>
              </a:solidFill>
              <a:prstDash val="solid"/>
            </a:ln>
            <a:effectLst>
              <a:outerShdw blurRad="254000" dist="190500" dir="8100000" algn="tr" rotWithShape="0">
                <a:prstClr val="black">
                  <a:alpha val="15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1219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135" b="0" i="0" u="none" strike="noStrike" kern="0" cap="none" spc="0" normalizeH="0" baseline="0" noProof="0" dirty="0" smtClean="0">
                <a:ln>
                  <a:noFill/>
                </a:ln>
                <a:solidFill>
                  <a:srgbClr val="3574A0"/>
                </a:solidFill>
                <a:effectLst/>
                <a:uLnTx/>
                <a:uFillTx/>
                <a:latin typeface="Arial" panose="020B0604020202020204" pitchFamily="34" charset="0"/>
              </a:endParaRPr>
            </a:p>
          </p:txBody>
        </p:sp>
        <p:sp>
          <p:nvSpPr>
            <p:cNvPr id="48" name="TextBox 10"/>
            <p:cNvSpPr txBox="1"/>
            <p:nvPr/>
          </p:nvSpPr>
          <p:spPr>
            <a:xfrm>
              <a:off x="3786931" y="1793369"/>
              <a:ext cx="537648" cy="500090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marL="0" marR="0" lvl="0" indent="0" algn="ctr" defTabSz="1219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3735" b="0" i="0" u="none" strike="noStrike" kern="0" cap="none" spc="0" normalizeH="0" baseline="0" noProof="0" dirty="0" smtClean="0">
                  <a:ln>
                    <a:noFill/>
                  </a:ln>
                  <a:solidFill>
                    <a:srgbClr val="000000">
                      <a:lumMod val="65000"/>
                      <a:lumOff val="35000"/>
                    </a:srgbClr>
                  </a:solidFill>
                  <a:effectLst>
                    <a:innerShdw blurRad="63500" dist="50800" dir="18900000">
                      <a:prstClr val="black">
                        <a:alpha val="30000"/>
                      </a:prstClr>
                    </a:innerShdw>
                  </a:effectLst>
                  <a:uLnTx/>
                  <a:uFillTx/>
                  <a:latin typeface="Arial" panose="020B0604020202020204" pitchFamily="34" charset="0"/>
                </a:rPr>
                <a:t>02</a:t>
              </a:r>
              <a:endParaRPr kumimoji="0" lang="zh-CN" altLang="en-US" sz="3735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>
                  <a:innerShdw blurRad="63500" dist="50800" dir="18900000">
                    <a:prstClr val="black">
                      <a:alpha val="30000"/>
                    </a:prstClr>
                  </a:innerShdw>
                </a:effectLst>
                <a:uLnTx/>
                <a:uFillTx/>
                <a:latin typeface="Arial" panose="020B0604020202020204" pitchFamily="34" charset="0"/>
              </a:endParaRPr>
            </a:p>
          </p:txBody>
        </p:sp>
      </p:grpSp>
      <p:grpSp>
        <p:nvGrpSpPr>
          <p:cNvPr id="49" name="组合 48"/>
          <p:cNvGrpSpPr/>
          <p:nvPr/>
        </p:nvGrpSpPr>
        <p:grpSpPr>
          <a:xfrm>
            <a:off x="4764013" y="4327435"/>
            <a:ext cx="804581" cy="804581"/>
            <a:chOff x="3685832" y="2723024"/>
            <a:chExt cx="739840" cy="739840"/>
          </a:xfrm>
        </p:grpSpPr>
        <p:sp>
          <p:nvSpPr>
            <p:cNvPr id="50" name="椭圆 49"/>
            <p:cNvSpPr/>
            <p:nvPr/>
          </p:nvSpPr>
          <p:spPr>
            <a:xfrm>
              <a:off x="3685832" y="2723024"/>
              <a:ext cx="739840" cy="739840"/>
            </a:xfrm>
            <a:prstGeom prst="ellipse">
              <a:avLst/>
            </a:prstGeom>
            <a:gradFill flip="none" rotWithShape="1">
              <a:gsLst>
                <a:gs pos="0">
                  <a:srgbClr val="FFFFFF">
                    <a:lumMod val="95000"/>
                    <a:lumOff val="5000"/>
                  </a:srgbClr>
                </a:gs>
                <a:gs pos="0">
                  <a:srgbClr val="FFFFFF">
                    <a:lumMod val="75000"/>
                  </a:srgbClr>
                </a:gs>
                <a:gs pos="70000">
                  <a:srgbClr val="FAFAFA"/>
                </a:gs>
              </a:gsLst>
              <a:lin ang="8100000" scaled="1"/>
              <a:tileRect/>
            </a:gradFill>
            <a:ln w="19050" cap="flat" cmpd="sng" algn="ctr">
              <a:solidFill>
                <a:srgbClr val="FFFFFF"/>
              </a:solidFill>
              <a:prstDash val="solid"/>
            </a:ln>
            <a:effectLst>
              <a:outerShdw blurRad="254000" dist="190500" dir="8100000" algn="tr" rotWithShape="0">
                <a:prstClr val="black">
                  <a:alpha val="15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1219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135" b="0" i="0" u="none" strike="noStrike" kern="0" cap="none" spc="0" normalizeH="0" baseline="0" noProof="0" dirty="0" smtClean="0">
                <a:ln>
                  <a:noFill/>
                </a:ln>
                <a:solidFill>
                  <a:srgbClr val="3574A0"/>
                </a:solidFill>
                <a:effectLst/>
                <a:uLnTx/>
                <a:uFillTx/>
                <a:latin typeface="Arial" panose="020B0604020202020204" pitchFamily="34" charset="0"/>
              </a:endParaRPr>
            </a:p>
          </p:txBody>
        </p:sp>
        <p:sp>
          <p:nvSpPr>
            <p:cNvPr id="51" name="TextBox 13"/>
            <p:cNvSpPr txBox="1"/>
            <p:nvPr/>
          </p:nvSpPr>
          <p:spPr>
            <a:xfrm>
              <a:off x="3786929" y="2842900"/>
              <a:ext cx="537648" cy="500090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marL="0" marR="0" lvl="0" indent="0" algn="ctr" defTabSz="1219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3735" b="0" i="0" u="none" strike="noStrike" kern="0" cap="none" spc="0" normalizeH="0" baseline="0" noProof="0" dirty="0" smtClean="0">
                  <a:ln>
                    <a:noFill/>
                  </a:ln>
                  <a:solidFill>
                    <a:srgbClr val="000000">
                      <a:lumMod val="65000"/>
                      <a:lumOff val="35000"/>
                    </a:srgbClr>
                  </a:solidFill>
                  <a:effectLst>
                    <a:innerShdw blurRad="63500" dist="50800" dir="18900000">
                      <a:prstClr val="black">
                        <a:alpha val="30000"/>
                      </a:prstClr>
                    </a:innerShdw>
                  </a:effectLst>
                  <a:uLnTx/>
                  <a:uFillTx/>
                  <a:latin typeface="Arial" panose="020B0604020202020204" pitchFamily="34" charset="0"/>
                </a:rPr>
                <a:t>03</a:t>
              </a:r>
              <a:endParaRPr kumimoji="0" lang="zh-CN" altLang="en-US" sz="3735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>
                  <a:innerShdw blurRad="63500" dist="50800" dir="18900000">
                    <a:prstClr val="black">
                      <a:alpha val="30000"/>
                    </a:prstClr>
                  </a:innerShdw>
                </a:effectLst>
                <a:uLnTx/>
                <a:uFillTx/>
                <a:latin typeface="Arial" panose="020B0604020202020204" pitchFamily="34" charset="0"/>
              </a:endParaRPr>
            </a:p>
          </p:txBody>
        </p:sp>
      </p:grpSp>
      <p:sp>
        <p:nvSpPr>
          <p:cNvPr id="52" name="矩形 51">
            <a:hlinkClick r:id="rId2" action="ppaction://hlinksldjump"/>
          </p:cNvPr>
          <p:cNvSpPr/>
          <p:nvPr/>
        </p:nvSpPr>
        <p:spPr>
          <a:xfrm>
            <a:off x="5678538" y="1286748"/>
            <a:ext cx="2997835" cy="50165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1219200"/>
            <a:r>
              <a:rPr lang="zh-CN" altLang="en-US" sz="2665" b="1" dirty="0" smtClean="0">
                <a:solidFill>
                  <a:srgbClr val="4D4D4D"/>
                </a:solidFill>
                <a:latin typeface="方正姚体" panose="02010601030101010101" charset="-122"/>
                <a:ea typeface="方正姚体" panose="02010601030101010101" charset="-122"/>
                <a:cs typeface="方正姚体" panose="02010601030101010101" charset="-122"/>
              </a:rPr>
              <a:t>自主预习 新知导学</a:t>
            </a:r>
            <a:endParaRPr lang="zh-CN" altLang="en-US" sz="2665" b="1" dirty="0">
              <a:solidFill>
                <a:srgbClr val="4D4D4D"/>
              </a:solidFill>
              <a:latin typeface="方正姚体" panose="02010601030101010101" charset="-122"/>
              <a:ea typeface="方正姚体" panose="02010601030101010101" charset="-122"/>
              <a:cs typeface="方正姚体" panose="02010601030101010101" charset="-122"/>
            </a:endParaRPr>
          </a:p>
        </p:txBody>
      </p:sp>
      <p:sp>
        <p:nvSpPr>
          <p:cNvPr id="53" name="矩形 52">
            <a:hlinkClick r:id="rId3" action="ppaction://hlinksldjump"/>
          </p:cNvPr>
          <p:cNvSpPr/>
          <p:nvPr/>
        </p:nvSpPr>
        <p:spPr>
          <a:xfrm>
            <a:off x="5678538" y="2871606"/>
            <a:ext cx="2997835" cy="50165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1219200"/>
            <a:r>
              <a:rPr lang="zh-CN" altLang="en-US" sz="2665" b="1" dirty="0" smtClean="0">
                <a:solidFill>
                  <a:srgbClr val="4D4D4D"/>
                </a:solidFill>
                <a:latin typeface="方正姚体" panose="02010601030101010101" charset="-122"/>
                <a:ea typeface="方正姚体" panose="02010601030101010101" charset="-122"/>
                <a:cs typeface="方正姚体" panose="02010601030101010101" charset="-122"/>
              </a:rPr>
              <a:t>合作探究 释疑解惑</a:t>
            </a:r>
            <a:endParaRPr lang="zh-CN" altLang="en-US" sz="2665" b="1" dirty="0">
              <a:solidFill>
                <a:srgbClr val="4D4D4D"/>
              </a:solidFill>
              <a:latin typeface="方正姚体" panose="02010601030101010101" charset="-122"/>
              <a:ea typeface="方正姚体" panose="02010601030101010101" charset="-122"/>
              <a:cs typeface="方正姚体" panose="02010601030101010101" charset="-122"/>
            </a:endParaRPr>
          </a:p>
        </p:txBody>
      </p:sp>
      <p:sp>
        <p:nvSpPr>
          <p:cNvPr id="54" name="矩形 53">
            <a:hlinkClick r:id="rId4" action="ppaction://hlinksldjump"/>
          </p:cNvPr>
          <p:cNvSpPr/>
          <p:nvPr/>
        </p:nvSpPr>
        <p:spPr>
          <a:xfrm>
            <a:off x="5678538" y="4456463"/>
            <a:ext cx="1556836" cy="50244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1219200"/>
            <a:r>
              <a:rPr lang="zh-CN" altLang="en-US" sz="2665" b="1" dirty="0" smtClean="0">
                <a:solidFill>
                  <a:srgbClr val="4D4D4D"/>
                </a:solidFill>
                <a:latin typeface="方正姚体" panose="02010601030101010101" charset="-122"/>
                <a:ea typeface="方正姚体" panose="02010601030101010101" charset="-122"/>
                <a:cs typeface="方正姚体" panose="02010601030101010101" charset="-122"/>
              </a:rPr>
              <a:t>随堂练习</a:t>
            </a:r>
            <a:endParaRPr lang="zh-CN" altLang="en-US" sz="2665" b="1" dirty="0">
              <a:solidFill>
                <a:srgbClr val="4D4D4D"/>
              </a:solidFill>
              <a:latin typeface="方正姚体" panose="02010601030101010101" charset="-122"/>
              <a:ea typeface="方正姚体" panose="02010601030101010101" charset="-122"/>
              <a:cs typeface="方正姚体" panose="02010601030101010101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317500" y="701716"/>
            <a:ext cx="11557000" cy="5689151"/>
          </a:xfrm>
          <a:prstGeom prst="rect">
            <a:avLst/>
          </a:prstGeom>
          <a:noFill/>
          <a:ln w="19050">
            <a:gradFill>
              <a:gsLst>
                <a:gs pos="100000">
                  <a:schemeClr val="accent1">
                    <a:lumMod val="5000"/>
                    <a:lumOff val="95000"/>
                  </a:schemeClr>
                </a:gs>
                <a:gs pos="57000">
                  <a:schemeClr val="tx1">
                    <a:lumMod val="50000"/>
                    <a:lumOff val="50000"/>
                  </a:schemeClr>
                </a:gs>
                <a:gs pos="29000">
                  <a:schemeClr val="tx1"/>
                </a:gs>
                <a:gs pos="100000">
                  <a:schemeClr val="bg1"/>
                </a:gs>
              </a:gsLst>
              <a:lin ang="5400000" scaled="1"/>
            </a:gra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00"/>
          </a:p>
        </p:txBody>
      </p:sp>
      <p:sp>
        <p:nvSpPr>
          <p:cNvPr id="9" name="文本框 8"/>
          <p:cNvSpPr txBox="1"/>
          <p:nvPr>
            <p:custDataLst>
              <p:tags r:id="rId1"/>
            </p:custDataLst>
          </p:nvPr>
        </p:nvSpPr>
        <p:spPr>
          <a:xfrm>
            <a:off x="4766695" y="446122"/>
            <a:ext cx="3253105" cy="490640"/>
          </a:xfrm>
          <a:prstGeom prst="roundRect">
            <a:avLst>
              <a:gd name="adj" fmla="val 50000"/>
            </a:avLst>
          </a:prstGeom>
          <a:solidFill>
            <a:schemeClr val="bg2">
              <a:lumMod val="50000"/>
            </a:schemeClr>
          </a:solidFill>
        </p:spPr>
        <p:txBody>
          <a:bodyPr wrap="square" lIns="0" tIns="0" rIns="0" bIns="0" rtlCol="0" anchor="ctr" anchorCtr="0">
            <a:noAutofit/>
          </a:bodyPr>
          <a:lstStyle/>
          <a:p>
            <a:pPr lvl="0"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2800" kern="0" dirty="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课标定</a:t>
            </a:r>
            <a:r>
              <a:rPr lang="zh-CN" altLang="en-US" sz="2800" kern="0" dirty="0" smtClean="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位素养</a:t>
            </a:r>
            <a:r>
              <a:rPr lang="zh-CN" altLang="en-US" sz="2800" kern="0" dirty="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阐释</a:t>
            </a:r>
          </a:p>
        </p:txBody>
      </p:sp>
      <p:sp>
        <p:nvSpPr>
          <p:cNvPr id="4" name="矩形 3"/>
          <p:cNvSpPr>
            <a:spLocks noChangeAspect="1"/>
          </p:cNvSpPr>
          <p:nvPr/>
        </p:nvSpPr>
        <p:spPr>
          <a:xfrm>
            <a:off x="381000" y="1942225"/>
            <a:ext cx="11430000" cy="2840842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理解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重伯努利试验的意义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理解二项分布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能利用伯努利试验及二项分布解决一些简单的实际问题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</a:pP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</a:rPr>
              <a:t>4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</a:rPr>
              <a:t>.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充分体会知识的发现过程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并渗透由特殊到一般、由具体到抽象的数学思想方法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培养数学建模能力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</a:rPr>
              <a:t>.</a:t>
            </a:r>
            <a:endParaRPr lang="zh-CN" altLang="en-US" sz="280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/>
        </p:nvGrpSpPr>
        <p:grpSpPr>
          <a:xfrm>
            <a:off x="2180083" y="2636520"/>
            <a:ext cx="1105802" cy="815646"/>
            <a:chOff x="-1604504" y="2147667"/>
            <a:chExt cx="3687215" cy="2719712"/>
          </a:xfrm>
        </p:grpSpPr>
        <p:cxnSp>
          <p:nvCxnSpPr>
            <p:cNvPr id="7" name="直接连接符 6"/>
            <p:cNvCxnSpPr/>
            <p:nvPr/>
          </p:nvCxnSpPr>
          <p:spPr>
            <a:xfrm flipH="1">
              <a:off x="-1604504" y="2687623"/>
              <a:ext cx="2592288" cy="2179756"/>
            </a:xfrm>
            <a:prstGeom prst="line">
              <a:avLst/>
            </a:prstGeom>
            <a:noFill/>
            <a:ln w="76200" cap="flat" cmpd="sng" algn="ctr">
              <a:solidFill>
                <a:schemeClr val="tx2">
                  <a:lumMod val="50000"/>
                </a:schemeClr>
              </a:solidFill>
              <a:prstDash val="solid"/>
            </a:ln>
            <a:effectLst/>
          </p:spPr>
        </p:cxnSp>
        <p:cxnSp>
          <p:nvCxnSpPr>
            <p:cNvPr id="8" name="直接连接符 7"/>
            <p:cNvCxnSpPr/>
            <p:nvPr/>
          </p:nvCxnSpPr>
          <p:spPr>
            <a:xfrm flipH="1">
              <a:off x="-509577" y="2147667"/>
              <a:ext cx="2592288" cy="2179756"/>
            </a:xfrm>
            <a:prstGeom prst="line">
              <a:avLst/>
            </a:prstGeom>
            <a:noFill/>
            <a:ln w="12700" cap="flat" cmpd="sng" algn="ctr">
              <a:solidFill>
                <a:schemeClr val="tx2">
                  <a:lumMod val="50000"/>
                </a:schemeClr>
              </a:solidFill>
              <a:prstDash val="solid"/>
            </a:ln>
            <a:effectLst/>
          </p:spPr>
        </p:cxnSp>
      </p:grpSp>
      <p:grpSp>
        <p:nvGrpSpPr>
          <p:cNvPr id="9" name="组合 8"/>
          <p:cNvGrpSpPr/>
          <p:nvPr/>
        </p:nvGrpSpPr>
        <p:grpSpPr>
          <a:xfrm flipH="1" flipV="1">
            <a:off x="8735898" y="2665586"/>
            <a:ext cx="1105803" cy="815646"/>
            <a:chOff x="-1604504" y="2147667"/>
            <a:chExt cx="3687215" cy="2719712"/>
          </a:xfrm>
        </p:grpSpPr>
        <p:cxnSp>
          <p:nvCxnSpPr>
            <p:cNvPr id="10" name="直接连接符 9"/>
            <p:cNvCxnSpPr/>
            <p:nvPr/>
          </p:nvCxnSpPr>
          <p:spPr>
            <a:xfrm flipH="1">
              <a:off x="-1604504" y="2687623"/>
              <a:ext cx="2592288" cy="2179756"/>
            </a:xfrm>
            <a:prstGeom prst="line">
              <a:avLst/>
            </a:prstGeom>
            <a:noFill/>
            <a:ln w="76200" cap="flat" cmpd="sng" algn="ctr">
              <a:solidFill>
                <a:sysClr val="windowText" lastClr="000000">
                  <a:lumMod val="85000"/>
                  <a:lumOff val="15000"/>
                </a:sysClr>
              </a:solidFill>
              <a:prstDash val="solid"/>
            </a:ln>
            <a:effectLst/>
          </p:spPr>
        </p:cxnSp>
        <p:cxnSp>
          <p:nvCxnSpPr>
            <p:cNvPr id="11" name="直接连接符 10"/>
            <p:cNvCxnSpPr/>
            <p:nvPr/>
          </p:nvCxnSpPr>
          <p:spPr>
            <a:xfrm flipH="1">
              <a:off x="-509577" y="2147667"/>
              <a:ext cx="2592288" cy="2179756"/>
            </a:xfrm>
            <a:prstGeom prst="line">
              <a:avLst/>
            </a:prstGeom>
            <a:noFill/>
            <a:ln w="12700" cap="flat" cmpd="sng" algn="ctr">
              <a:solidFill>
                <a:sysClr val="windowText" lastClr="000000">
                  <a:lumMod val="85000"/>
                  <a:lumOff val="15000"/>
                </a:sysClr>
              </a:solidFill>
              <a:prstDash val="solid"/>
            </a:ln>
            <a:effectLst/>
          </p:spPr>
        </p:cxnSp>
      </p:grpSp>
      <p:sp>
        <p:nvSpPr>
          <p:cNvPr id="12" name="文本框 11"/>
          <p:cNvSpPr txBox="1"/>
          <p:nvPr/>
        </p:nvSpPr>
        <p:spPr>
          <a:xfrm>
            <a:off x="2969260" y="2585720"/>
            <a:ext cx="625284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5400" b="1" dirty="0" smtClean="0">
                <a:solidFill>
                  <a:srgbClr val="4D4D4D"/>
                </a:solidFill>
                <a:latin typeface="方正姚体" panose="02010601030101010101" charset="-122"/>
                <a:ea typeface="方正姚体" panose="02010601030101010101" charset="-122"/>
                <a:cs typeface="方正姚体" panose="02010601030101010101" charset="-122"/>
                <a:sym typeface="+mn-ea"/>
              </a:rPr>
              <a:t>自主预习 新知导学</a:t>
            </a:r>
            <a:endParaRPr lang="zh-CN" altLang="en-US" sz="5400" b="1" dirty="0">
              <a:solidFill>
                <a:srgbClr val="4D4D4D"/>
              </a:solidFill>
              <a:latin typeface="方正姚体" panose="02010601030101010101" charset="-122"/>
              <a:ea typeface="方正姚体" panose="02010601030101010101" charset="-122"/>
              <a:cs typeface="方正姚体" panose="02010601030101010101" charset="-122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smCheck">
          <a:fgClr>
            <a:srgbClr val="E8F4E9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908609"/>
            <a:ext cx="11430000" cy="4573560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>
                <a:solidFill>
                  <a:srgbClr val="000000"/>
                </a:solidFill>
                <a:latin typeface="NEU-BZ-S92"/>
                <a:ea typeface="方正正中黑简体"/>
                <a:cs typeface="Times New Roman" panose="02020603050405020304" pitchFamily="18" charset="0"/>
              </a:rPr>
              <a:t>一、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zh-CN" sz="2800">
                <a:solidFill>
                  <a:srgbClr val="000000"/>
                </a:solidFill>
                <a:latin typeface="NEU-BZ-S92"/>
                <a:ea typeface="方正正中黑简体"/>
                <a:cs typeface="Times New Roman" panose="02020603050405020304" pitchFamily="18" charset="0"/>
              </a:rPr>
              <a:t>重伯努利试验</a:t>
            </a:r>
            <a:endParaRPr lang="zh-CN" altLang="zh-CN" sz="280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b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要研究抛掷硬币的规律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需做大量的掷硬币试验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试想每次试验的前提是什么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endParaRPr lang="zh-CN" altLang="zh-CN" sz="280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(2)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试验结果有哪些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endParaRPr lang="zh-CN" altLang="zh-CN" sz="280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(3)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各次试验的结果有无影响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endParaRPr lang="zh-CN" altLang="zh-CN" sz="280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提示</a:t>
            </a:r>
            <a:r>
              <a:rPr lang="en-US" altLang="zh-CN" sz="280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条件相同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(2)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两个可能结果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正面朝上或反面朝上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(3)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无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即各次试验的结果相互独立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935028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1923010"/>
            <a:ext cx="11430000" cy="3453253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80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1)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我们把只包含</a:t>
            </a:r>
            <a:r>
              <a:rPr lang="zh-CN" altLang="zh-CN" sz="280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两个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可能结果的试验叫做伯努利试验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(2)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我们将一个伯努利试验独立地重复进行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次所组成的随机试验</a:t>
            </a:r>
            <a:r>
              <a:rPr lang="zh-CN" altLang="zh-CN" sz="280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称为</a:t>
            </a:r>
            <a:endParaRPr lang="en-US" altLang="zh-CN" sz="2800" smtClean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i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zh-CN" sz="280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重伯努利试验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(3)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重伯努利试验具有如下共同特征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zh-CN" altLang="zh-CN" sz="280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①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同一个伯努利试验重复做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次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zh-CN" altLang="zh-CN" sz="280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②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各次试验的结果相互</a:t>
            </a:r>
            <a:r>
              <a:rPr lang="zh-CN" altLang="zh-CN" sz="280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独立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3258149" y="1933896"/>
            <a:ext cx="762265" cy="545093"/>
          </a:xfrm>
          <a:prstGeom prst="rect">
            <a:avLst/>
          </a:prstGeom>
          <a:pattFill prst="lgConfetti">
            <a:fgClr>
              <a:srgbClr val="E8F4E9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4" name="直接连接符 3"/>
          <p:cNvCxnSpPr/>
          <p:nvPr/>
        </p:nvCxnSpPr>
        <p:spPr>
          <a:xfrm>
            <a:off x="3258149" y="2485493"/>
            <a:ext cx="76226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矩形 5"/>
          <p:cNvSpPr/>
          <p:nvPr/>
        </p:nvSpPr>
        <p:spPr>
          <a:xfrm>
            <a:off x="359228" y="3055124"/>
            <a:ext cx="2438400" cy="545093"/>
          </a:xfrm>
          <a:prstGeom prst="rect">
            <a:avLst/>
          </a:prstGeom>
          <a:pattFill prst="lgConfetti">
            <a:fgClr>
              <a:srgbClr val="E8F4E9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7" name="直接连接符 6"/>
          <p:cNvCxnSpPr/>
          <p:nvPr/>
        </p:nvCxnSpPr>
        <p:spPr>
          <a:xfrm>
            <a:off x="359228" y="3606721"/>
            <a:ext cx="243840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矩形 8"/>
          <p:cNvSpPr/>
          <p:nvPr/>
        </p:nvSpPr>
        <p:spPr>
          <a:xfrm>
            <a:off x="4020414" y="4698868"/>
            <a:ext cx="732523" cy="545093"/>
          </a:xfrm>
          <a:prstGeom prst="rect">
            <a:avLst/>
          </a:prstGeom>
          <a:pattFill prst="lgConfetti">
            <a:fgClr>
              <a:srgbClr val="E8F4E9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0" name="直接连接符 9"/>
          <p:cNvCxnSpPr/>
          <p:nvPr/>
        </p:nvCxnSpPr>
        <p:spPr>
          <a:xfrm>
            <a:off x="4020414" y="5250465"/>
            <a:ext cx="732523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53398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 animBg="1"/>
      <p:bldP spid="9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>
            <a:spLocks noChangeAspect="1"/>
          </p:cNvSpPr>
          <p:nvPr/>
        </p:nvSpPr>
        <p:spPr>
          <a:xfrm>
            <a:off x="381000" y="535576"/>
            <a:ext cx="11430000" cy="5693866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下列试验中是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重伯努利试验的是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CN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　　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CN" altLang="zh-CN" sz="280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A.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依次抛掷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枚质地不同的硬币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,3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次正面向上</a:t>
            </a:r>
            <a:endParaRPr lang="zh-CN" altLang="zh-CN" sz="280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B.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某射击运动员击中目标的概率是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他连续射击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次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击中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次</a:t>
            </a:r>
            <a:endParaRPr lang="zh-CN" altLang="zh-CN" sz="280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C.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口袋中装有质地、大小相同的</a:t>
            </a:r>
            <a:r>
              <a:rPr lang="en-US" altLang="zh-CN" sz="280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zh-CN" altLang="en-US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个红球和</a:t>
            </a:r>
            <a:r>
              <a:rPr lang="zh-CN" altLang="zh-CN" sz="280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和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个黑球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依次从中抽取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个球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恰好取出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个红球</a:t>
            </a:r>
            <a:endParaRPr lang="zh-CN" altLang="zh-CN" sz="280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D.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甲、乙两个篮球运动员各罚球一次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甲进球而乙没有进球</a:t>
            </a:r>
            <a:endParaRPr lang="zh-CN" altLang="zh-CN" sz="280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解析</a:t>
            </a:r>
            <a:r>
              <a:rPr lang="en-US" altLang="zh-CN" sz="280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对于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项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由于质地不同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所以向上的概率不确定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不是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重伯努利试验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对于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项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依次抽取</a:t>
            </a:r>
            <a:r>
              <a:rPr lang="en-US" altLang="zh-CN" sz="280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en-US" sz="28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各次试验之间相互影响</a:t>
            </a:r>
            <a:r>
              <a:rPr lang="en-US" altLang="zh-CN" sz="280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不是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重伯努利试验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;D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项也不符合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重伯努利试验的条件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只有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项符合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答案</a:t>
            </a:r>
            <a:r>
              <a:rPr lang="en-US" altLang="zh-CN" sz="280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endParaRPr lang="zh-CN" altLang="zh-CN" sz="280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931593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>
            <a:spLocks noChangeAspect="1"/>
          </p:cNvSpPr>
          <p:nvPr/>
        </p:nvSpPr>
        <p:spPr>
          <a:xfrm>
            <a:off x="381000" y="1293612"/>
            <a:ext cx="11430000" cy="3953133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方正正中黑简体"/>
                <a:cs typeface="Times New Roman" panose="02020603050405020304" pitchFamily="18" charset="0"/>
              </a:rPr>
              <a:t>二、二项分布</a:t>
            </a:r>
            <a:endParaRPr lang="zh-CN" altLang="zh-CN" sz="280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在体育课上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某同学做投篮训练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他连续投篮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次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每次投篮的命中率都是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用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i="1" baseline="-25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i=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1,2,3)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表示第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次投篮命中这件事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用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800" baseline="-25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表示仅投中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次这件事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试用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i="1" baseline="-25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表示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800" baseline="-25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(2)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试求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800" baseline="-25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(3)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用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800" i="1" baseline="-25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表示投中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k=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0,1,2,3)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次这件事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试求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800" baseline="-25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和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800" baseline="-25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(4)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由以上问题的结果你能得出什么结论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endParaRPr lang="zh-CN" altLang="zh-CN" sz="280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563354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矩形 1"/>
              <p:cNvSpPr>
                <a:spLocks noChangeAspect="1"/>
              </p:cNvSpPr>
              <p:nvPr/>
            </p:nvSpPr>
            <p:spPr>
              <a:xfrm>
                <a:off x="381000" y="803405"/>
                <a:ext cx="11430000" cy="3676006"/>
              </a:xfrm>
              <a:prstGeom prst="rect">
                <a:avLst/>
              </a:prstGeom>
            </p:spPr>
            <p:txBody>
              <a:bodyPr>
                <a:spAutoFit/>
              </a:bodyPr>
              <a:lstStyle/>
              <a:p>
                <a:pPr>
                  <a:lnSpc>
                    <a:spcPct val="130000"/>
                  </a:lnSpc>
                  <a:spcAft>
                    <a:spcPts val="0"/>
                  </a:spcAft>
                  <a:tabLst>
                    <a:tab pos="1188085" algn="l"/>
                    <a:tab pos="2163445" algn="l"/>
                    <a:tab pos="3142615" algn="l"/>
                    <a:tab pos="4190365" algn="l"/>
                  </a:tabLst>
                </a:pPr>
                <a:r>
                  <a:rPr lang="zh-CN" altLang="zh-CN" sz="2800">
                    <a:solidFill>
                      <a:srgbClr val="FF0000"/>
                    </a:solidFill>
                    <a:latin typeface="Arial" panose="020B0604020202020204" pitchFamily="34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提示</a:t>
                </a:r>
                <a:r>
                  <a:rPr lang="en-US" altLang="zh-CN" sz="2800">
                    <a:solidFill>
                      <a:srgbClr val="FF0000"/>
                    </a:solidFill>
                    <a:effectLst/>
                    <a:latin typeface="Arial" panose="020B0604020202020204" pitchFamily="34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:</a:t>
                </a:r>
                <a:r>
                  <a:rPr lang="en-US" altLang="zh-CN" sz="280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(1)</a:t>
                </a:r>
                <a:r>
                  <a:rPr lang="en-US" altLang="zh-CN" sz="2800" i="1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</a:t>
                </a:r>
                <a:r>
                  <a:rPr lang="en-US" altLang="zh-CN" sz="2800" baseline="-2500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r>
                  <a:rPr lang="en-US" altLang="zh-CN" sz="2800" i="1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</a:t>
                </a:r>
                <a:r>
                  <a:rPr lang="en-US" altLang="zh-CN" sz="280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:r>
                  <a:rPr lang="en-US" altLang="zh-CN" sz="2800" i="1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r>
                  <a:rPr lang="en-US" altLang="zh-CN" sz="2800" baseline="-2500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8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bar>
                          <m:barPr>
                            <m:pos m:val="top"/>
                            <m:ctrlPr>
                              <a:rPr lang="zh-CN" altLang="zh-CN" sz="28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barPr>
                          <m:e>
                            <m:r>
                              <a:rPr lang="en-US" altLang="zh-CN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𝐴</m:t>
                            </m:r>
                          </m:e>
                        </m:bar>
                      </m:e>
                      <m:sub>
                        <m:r>
                          <a:rPr lang="en-US" altLang="zh-CN" sz="28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zh-CN" altLang="zh-CN" sz="28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bar>
                          <m:barPr>
                            <m:pos m:val="top"/>
                            <m:ctrlPr>
                              <a:rPr lang="zh-CN" altLang="zh-CN" sz="28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barPr>
                          <m:e>
                            <m:r>
                              <a:rPr lang="en-US" altLang="zh-CN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𝐴</m:t>
                            </m:r>
                          </m:e>
                        </m:bar>
                      </m:e>
                      <m:sub>
                        <m:r>
                          <a:rPr lang="en-US" altLang="zh-CN" sz="28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altLang="zh-CN" sz="280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  <a:r>
                  <a:rPr lang="zh-CN" altLang="zh-CN" sz="2800">
                    <a:solidFill>
                      <a:srgbClr val="000000"/>
                    </a:solidFill>
                    <a:latin typeface="NEU-BZ-S92"/>
                    <a:cs typeface="宋体" panose="02010600030101010101" pitchFamily="2" charset="-122"/>
                  </a:rPr>
                  <a:t>∪</a:t>
                </a:r>
                <a:r>
                  <a:rPr lang="en-US" altLang="zh-CN" sz="280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8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bar>
                          <m:barPr>
                            <m:pos m:val="top"/>
                            <m:ctrlPr>
                              <a:rPr lang="zh-CN" altLang="zh-CN" sz="28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barPr>
                          <m:e>
                            <m:r>
                              <a:rPr lang="en-US" altLang="zh-CN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𝐴</m:t>
                            </m:r>
                          </m:e>
                        </m:bar>
                      </m:e>
                      <m:sub>
                        <m:r>
                          <a:rPr lang="en-US" altLang="zh-CN" sz="28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CN" sz="2800" i="1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r>
                  <a:rPr lang="en-US" altLang="zh-CN" sz="2800" baseline="-2500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8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bar>
                          <m:barPr>
                            <m:pos m:val="top"/>
                            <m:ctrlPr>
                              <a:rPr lang="zh-CN" altLang="zh-CN" sz="28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barPr>
                          <m:e>
                            <m:r>
                              <a:rPr lang="en-US" altLang="zh-CN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𝐴</m:t>
                            </m:r>
                          </m:e>
                        </m:bar>
                      </m:e>
                      <m:sub>
                        <m:r>
                          <a:rPr lang="en-US" altLang="zh-CN" sz="28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altLang="zh-CN" sz="280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  <a:r>
                  <a:rPr lang="zh-CN" altLang="zh-CN" sz="2800">
                    <a:solidFill>
                      <a:srgbClr val="000000"/>
                    </a:solidFill>
                    <a:latin typeface="NEU-BZ-S92"/>
                    <a:cs typeface="宋体" panose="02010600030101010101" pitchFamily="2" charset="-122"/>
                  </a:rPr>
                  <a:t>∪</a:t>
                </a:r>
                <a:r>
                  <a:rPr lang="en-US" altLang="zh-CN" sz="280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8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bar>
                          <m:barPr>
                            <m:pos m:val="top"/>
                            <m:ctrlPr>
                              <a:rPr lang="zh-CN" altLang="zh-CN" sz="28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barPr>
                          <m:e>
                            <m:r>
                              <a:rPr lang="en-US" altLang="zh-CN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𝐴</m:t>
                            </m:r>
                          </m:e>
                        </m:bar>
                      </m:e>
                      <m:sub>
                        <m:r>
                          <a:rPr lang="en-US" altLang="zh-CN" sz="28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zh-CN" altLang="zh-CN" sz="28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bar>
                          <m:barPr>
                            <m:pos m:val="top"/>
                            <m:ctrlPr>
                              <a:rPr lang="zh-CN" altLang="zh-CN" sz="28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barPr>
                          <m:e>
                            <m:r>
                              <a:rPr lang="en-US" altLang="zh-CN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𝐴</m:t>
                            </m:r>
                          </m:e>
                        </m:bar>
                      </m:e>
                      <m:sub>
                        <m:r>
                          <a:rPr lang="en-US" altLang="zh-CN" sz="28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CN" sz="2800" i="1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r>
                  <a:rPr lang="en-US" altLang="zh-CN" sz="2800" baseline="-2500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</a:t>
                </a:r>
                <a:r>
                  <a:rPr lang="en-US" altLang="zh-CN" sz="280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  <a:r>
                  <a:rPr lang="en-US" altLang="zh-CN" sz="2800" i="1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  <a:endParaRPr lang="zh-CN" altLang="zh-CN" sz="2800">
                  <a:solidFill>
                    <a:srgbClr val="000000"/>
                  </a:solidFill>
                  <a:effectLst/>
                  <a:latin typeface="NEU-BZ-S92"/>
                  <a:ea typeface="方正书宋_GBK" panose="03000509000000000000" pitchFamily="65" charset="-122"/>
                  <a:cs typeface="Times New Roman" panose="02020603050405020304" pitchFamily="18" charset="0"/>
                </a:endParaRPr>
              </a:p>
              <a:p>
                <a:pPr>
                  <a:lnSpc>
                    <a:spcPct val="130000"/>
                  </a:lnSpc>
                  <a:spcAft>
                    <a:spcPts val="0"/>
                  </a:spcAft>
                  <a:tabLst>
                    <a:tab pos="1188085" algn="l"/>
                    <a:tab pos="2163445" algn="l"/>
                    <a:tab pos="3142615" algn="l"/>
                    <a:tab pos="4190365" algn="l"/>
                  </a:tabLst>
                </a:pPr>
                <a:r>
                  <a:rPr lang="en-US" altLang="zh-CN" sz="280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(2)</a:t>
                </a:r>
                <a:r>
                  <a:rPr lang="zh-CN" altLang="zh-CN" sz="280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因为</a:t>
                </a:r>
                <a:r>
                  <a:rPr lang="en-US" altLang="zh-CN" sz="2800" i="1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</a:t>
                </a:r>
                <a:r>
                  <a:rPr lang="en-US" altLang="zh-CN" sz="280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:r>
                  <a:rPr lang="en-US" altLang="zh-CN" sz="2800" i="1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r>
                  <a:rPr lang="en-US" altLang="zh-CN" sz="2800" baseline="-2500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r>
                  <a:rPr lang="en-US" altLang="zh-CN" sz="280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  <a:r>
                  <a:rPr lang="en-US" altLang="zh-CN" sz="2800" i="1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=P</a:t>
                </a:r>
                <a:r>
                  <a:rPr lang="en-US" altLang="zh-CN" sz="280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:r>
                  <a:rPr lang="en-US" altLang="zh-CN" sz="2800" i="1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r>
                  <a:rPr lang="en-US" altLang="zh-CN" sz="2800" baseline="-2500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en-US" altLang="zh-CN" sz="280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  <a:r>
                  <a:rPr lang="en-US" altLang="zh-CN" sz="2800" i="1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=P</a:t>
                </a:r>
                <a:r>
                  <a:rPr lang="en-US" altLang="zh-CN" sz="280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:r>
                  <a:rPr lang="en-US" altLang="zh-CN" sz="2800" i="1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r>
                  <a:rPr lang="en-US" altLang="zh-CN" sz="2800" baseline="-2500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</a:t>
                </a:r>
                <a:r>
                  <a:rPr lang="en-US" altLang="zh-CN" sz="280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  <a:r>
                  <a:rPr lang="en-US" altLang="zh-CN" sz="2800" i="1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</a:t>
                </a:r>
                <a:r>
                  <a:rPr lang="en-US" altLang="zh-CN" sz="280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</a:t>
                </a:r>
                <a:r>
                  <a:rPr lang="en-US" altLang="zh-CN" sz="2800" i="1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  <a:r>
                  <a:rPr lang="en-US" altLang="zh-CN" sz="280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8,</a:t>
                </a:r>
                <a:r>
                  <a:rPr lang="zh-CN" altLang="zh-CN" sz="280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且</a:t>
                </a:r>
                <a:r>
                  <a:rPr lang="en-US" altLang="zh-CN" sz="2800" i="1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r>
                  <a:rPr lang="en-US" altLang="zh-CN" sz="2800" baseline="-2500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8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bar>
                          <m:barPr>
                            <m:pos m:val="top"/>
                            <m:ctrlPr>
                              <a:rPr lang="zh-CN" altLang="zh-CN" sz="28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barPr>
                          <m:e>
                            <m:r>
                              <a:rPr lang="en-US" altLang="zh-CN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𝐴</m:t>
                            </m:r>
                          </m:e>
                        </m:bar>
                      </m:e>
                      <m:sub>
                        <m:r>
                          <a:rPr lang="en-US" altLang="zh-CN" sz="28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280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楷体" panose="02010609060101010101" pitchFamily="49" charset="-122"/>
                        <a:cs typeface="Times New Roman" panose="02020603050405020304" pitchFamily="18" charset="0"/>
                      </a:rPr>
                      <m:t> </m:t>
                    </m:r>
                    <m:sSub>
                      <m:sSubPr>
                        <m:ctrlPr>
                          <a:rPr lang="zh-CN" altLang="zh-CN" sz="28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bar>
                          <m:barPr>
                            <m:pos m:val="top"/>
                            <m:ctrlPr>
                              <a:rPr lang="zh-CN" altLang="zh-CN" sz="28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barPr>
                          <m:e>
                            <m:r>
                              <a:rPr lang="en-US" altLang="zh-CN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𝐴</m:t>
                            </m:r>
                          </m:e>
                        </m:bar>
                      </m:e>
                      <m:sub>
                        <m:r>
                          <a:rPr lang="en-US" altLang="zh-CN" sz="28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3</m:t>
                        </m:r>
                      </m:sub>
                    </m:sSub>
                    <m:r>
                      <a:rPr lang="en-US" altLang="zh-CN" sz="280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sSub>
                      <m:sSubPr>
                        <m:ctrlPr>
                          <a:rPr lang="zh-CN" altLang="zh-CN" sz="28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bar>
                          <m:barPr>
                            <m:pos m:val="top"/>
                            <m:ctrlPr>
                              <a:rPr lang="zh-CN" altLang="zh-CN" sz="28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barPr>
                          <m:e>
                            <m:r>
                              <a:rPr lang="en-US" altLang="zh-CN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𝐴</m:t>
                            </m:r>
                          </m:e>
                        </m:bar>
                      </m:e>
                      <m:sub>
                        <m:r>
                          <a:rPr lang="en-US" altLang="zh-CN" sz="28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CN" sz="2800" i="1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r>
                  <a:rPr lang="en-US" altLang="zh-CN" sz="2800" baseline="-2500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8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bar>
                          <m:barPr>
                            <m:pos m:val="top"/>
                            <m:ctrlPr>
                              <a:rPr lang="zh-CN" altLang="zh-CN" sz="28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barPr>
                          <m:e>
                            <m:r>
                              <a:rPr lang="en-US" altLang="zh-CN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𝐴</m:t>
                            </m:r>
                          </m:e>
                        </m:bar>
                      </m:e>
                      <m:sub>
                        <m:r>
                          <a:rPr lang="en-US" altLang="zh-CN" sz="28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3</m:t>
                        </m:r>
                      </m:sub>
                    </m:sSub>
                    <m:r>
                      <a:rPr lang="en-US" altLang="zh-CN" sz="280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sSub>
                      <m:sSubPr>
                        <m:ctrlPr>
                          <a:rPr lang="zh-CN" altLang="zh-CN" sz="28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bar>
                          <m:barPr>
                            <m:pos m:val="top"/>
                            <m:ctrlPr>
                              <a:rPr lang="zh-CN" altLang="zh-CN" sz="28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barPr>
                          <m:e>
                            <m:r>
                              <a:rPr lang="en-US" altLang="zh-CN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𝐴</m:t>
                            </m:r>
                          </m:e>
                        </m:bar>
                      </m:e>
                      <m:sub>
                        <m:r>
                          <a:rPr lang="en-US" altLang="zh-CN" sz="28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80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楷体" panose="02010609060101010101" pitchFamily="49" charset="-122"/>
                        <a:cs typeface="Times New Roman" panose="02020603050405020304" pitchFamily="18" charset="0"/>
                      </a:rPr>
                      <m:t> </m:t>
                    </m:r>
                    <m:sSub>
                      <m:sSubPr>
                        <m:ctrlPr>
                          <a:rPr lang="zh-CN" altLang="zh-CN" sz="28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bar>
                          <m:barPr>
                            <m:pos m:val="top"/>
                            <m:ctrlPr>
                              <a:rPr lang="zh-CN" altLang="zh-CN" sz="28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barPr>
                          <m:e>
                            <m:r>
                              <a:rPr lang="en-US" altLang="zh-CN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𝐴</m:t>
                            </m:r>
                          </m:e>
                        </m:bar>
                      </m:e>
                      <m:sub>
                        <m:r>
                          <a:rPr lang="en-US" altLang="zh-CN" sz="28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CN" sz="2800" i="1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r>
                  <a:rPr lang="en-US" altLang="zh-CN" sz="2800" baseline="-2500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</a:t>
                </a:r>
                <a:r>
                  <a:rPr lang="zh-CN" altLang="zh-CN" sz="280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两两互斥</a:t>
                </a:r>
                <a:r>
                  <a:rPr lang="en-US" altLang="zh-CN" sz="280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</a:t>
                </a:r>
                <a:endParaRPr lang="zh-CN" altLang="zh-CN" sz="2800">
                  <a:solidFill>
                    <a:srgbClr val="000000"/>
                  </a:solidFill>
                  <a:effectLst/>
                  <a:latin typeface="NEU-BZ-S92"/>
                  <a:ea typeface="方正书宋_GBK" panose="03000509000000000000" pitchFamily="65" charset="-122"/>
                  <a:cs typeface="Times New Roman" panose="02020603050405020304" pitchFamily="18" charset="0"/>
                </a:endParaRPr>
              </a:p>
              <a:p>
                <a:pPr>
                  <a:lnSpc>
                    <a:spcPct val="130000"/>
                  </a:lnSpc>
                  <a:spcAft>
                    <a:spcPts val="0"/>
                  </a:spcAft>
                  <a:tabLst>
                    <a:tab pos="1188085" algn="l"/>
                    <a:tab pos="2163445" algn="l"/>
                    <a:tab pos="3142615" algn="l"/>
                    <a:tab pos="4190365" algn="l"/>
                  </a:tabLst>
                </a:pPr>
                <a:r>
                  <a:rPr lang="zh-CN" altLang="zh-CN" sz="280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所以</a:t>
                </a:r>
                <a:r>
                  <a:rPr lang="en-US" altLang="zh-CN" sz="2800" i="1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</a:t>
                </a:r>
                <a:r>
                  <a:rPr lang="en-US" altLang="zh-CN" sz="280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:r>
                  <a:rPr lang="en-US" altLang="zh-CN" sz="2800" i="1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</a:t>
                </a:r>
                <a:r>
                  <a:rPr lang="en-US" altLang="zh-CN" sz="2800" baseline="-2500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r>
                  <a:rPr lang="en-US" altLang="zh-CN" sz="280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  <a:r>
                  <a:rPr lang="en-US" altLang="zh-CN" sz="2800" i="1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=P</a:t>
                </a:r>
                <a:r>
                  <a:rPr lang="en-US" altLang="zh-CN" sz="280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:r>
                  <a:rPr lang="en-US" altLang="zh-CN" sz="2800" i="1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r>
                  <a:rPr lang="en-US" altLang="zh-CN" sz="2800" baseline="-2500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8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bar>
                          <m:barPr>
                            <m:pos m:val="top"/>
                            <m:ctrlPr>
                              <a:rPr lang="zh-CN" altLang="zh-CN" sz="28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barPr>
                          <m:e>
                            <m:r>
                              <a:rPr lang="en-US" altLang="zh-CN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𝐴</m:t>
                            </m:r>
                          </m:e>
                        </m:bar>
                      </m:e>
                      <m:sub>
                        <m:r>
                          <a:rPr lang="en-US" altLang="zh-CN" sz="28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zh-CN" altLang="zh-CN" sz="28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bar>
                          <m:barPr>
                            <m:pos m:val="top"/>
                            <m:ctrlPr>
                              <a:rPr lang="zh-CN" altLang="zh-CN" sz="28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barPr>
                          <m:e>
                            <m:r>
                              <a:rPr lang="en-US" altLang="zh-CN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𝐴</m:t>
                            </m:r>
                          </m:e>
                        </m:bar>
                      </m:e>
                      <m:sub>
                        <m:r>
                          <a:rPr lang="en-US" altLang="zh-CN" sz="28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altLang="zh-CN" sz="280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  <a:r>
                  <a:rPr lang="en-US" altLang="zh-CN" sz="2800" i="1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+P</a:t>
                </a:r>
                <a:r>
                  <a:rPr lang="en-US" altLang="zh-CN" sz="280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8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bar>
                          <m:barPr>
                            <m:pos m:val="top"/>
                            <m:ctrlPr>
                              <a:rPr lang="zh-CN" altLang="zh-CN" sz="28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barPr>
                          <m:e>
                            <m:r>
                              <a:rPr lang="en-US" altLang="zh-CN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𝐴</m:t>
                            </m:r>
                          </m:e>
                        </m:bar>
                      </m:e>
                      <m:sub>
                        <m:r>
                          <a:rPr lang="en-US" altLang="zh-CN" sz="28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CN" sz="2800" i="1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r>
                  <a:rPr lang="en-US" altLang="zh-CN" sz="2800" baseline="-2500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8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bar>
                          <m:barPr>
                            <m:pos m:val="top"/>
                            <m:ctrlPr>
                              <a:rPr lang="zh-CN" altLang="zh-CN" sz="28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barPr>
                          <m:e>
                            <m:r>
                              <a:rPr lang="en-US" altLang="zh-CN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𝐴</m:t>
                            </m:r>
                          </m:e>
                        </m:bar>
                      </m:e>
                      <m:sub>
                        <m:r>
                          <a:rPr lang="en-US" altLang="zh-CN" sz="28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altLang="zh-CN" sz="280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  <a:r>
                  <a:rPr lang="en-US" altLang="zh-CN" sz="2800" i="1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+P</a:t>
                </a:r>
                <a:r>
                  <a:rPr lang="en-US" altLang="zh-CN" sz="280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8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bar>
                          <m:barPr>
                            <m:pos m:val="top"/>
                            <m:ctrlPr>
                              <a:rPr lang="zh-CN" altLang="zh-CN" sz="28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barPr>
                          <m:e>
                            <m:r>
                              <a:rPr lang="en-US" altLang="zh-CN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𝐴</m:t>
                            </m:r>
                          </m:e>
                        </m:bar>
                      </m:e>
                      <m:sub>
                        <m:r>
                          <a:rPr lang="en-US" altLang="zh-CN" sz="28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80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楷体" panose="02010609060101010101" pitchFamily="49" charset="-122"/>
                        <a:cs typeface="Times New Roman" panose="02020603050405020304" pitchFamily="18" charset="0"/>
                      </a:rPr>
                      <m:t> </m:t>
                    </m:r>
                    <m:sSub>
                      <m:sSubPr>
                        <m:ctrlPr>
                          <a:rPr lang="zh-CN" altLang="zh-CN" sz="28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bar>
                          <m:barPr>
                            <m:pos m:val="top"/>
                            <m:ctrlPr>
                              <a:rPr lang="zh-CN" altLang="zh-CN" sz="28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barPr>
                          <m:e>
                            <m:r>
                              <a:rPr lang="en-US" altLang="zh-CN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𝐴</m:t>
                            </m:r>
                          </m:e>
                        </m:bar>
                      </m:e>
                      <m:sub>
                        <m:r>
                          <a:rPr lang="en-US" altLang="zh-CN" sz="28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CN" sz="2800" i="1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r>
                  <a:rPr lang="en-US" altLang="zh-CN" sz="2800" baseline="-2500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</a:t>
                </a:r>
                <a:r>
                  <a:rPr lang="en-US" altLang="zh-CN" sz="2800" smtClean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  <a:p>
                <a:pPr>
                  <a:lnSpc>
                    <a:spcPct val="130000"/>
                  </a:lnSpc>
                  <a:spcAft>
                    <a:spcPts val="0"/>
                  </a:spcAft>
                  <a:tabLst>
                    <a:tab pos="1188085" algn="l"/>
                    <a:tab pos="2163445" algn="l"/>
                    <a:tab pos="3142615" algn="l"/>
                    <a:tab pos="4190365" algn="l"/>
                  </a:tabLst>
                </a:pPr>
                <a:r>
                  <a:rPr lang="en-US" altLang="zh-CN" sz="2800" i="1" smtClean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</a:t>
                </a:r>
                <a:r>
                  <a:rPr lang="en-US" altLang="zh-CN" sz="280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</a:t>
                </a:r>
                <a:r>
                  <a:rPr lang="en-US" altLang="zh-CN" sz="2800" i="1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  <a:r>
                  <a:rPr lang="en-US" altLang="zh-CN" sz="280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8×0</a:t>
                </a:r>
                <a:r>
                  <a:rPr lang="en-US" altLang="zh-CN" sz="2800" i="1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  <a:r>
                  <a:rPr lang="en-US" altLang="zh-CN" sz="280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en-US" altLang="zh-CN" sz="2800" baseline="3000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en-US" altLang="zh-CN" sz="2800" i="1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+</a:t>
                </a:r>
                <a:r>
                  <a:rPr lang="en-US" altLang="zh-CN" sz="280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</a:t>
                </a:r>
                <a:r>
                  <a:rPr lang="en-US" altLang="zh-CN" sz="2800" i="1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  <a:r>
                  <a:rPr lang="en-US" altLang="zh-CN" sz="280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8×0</a:t>
                </a:r>
                <a:r>
                  <a:rPr lang="en-US" altLang="zh-CN" sz="2800" i="1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  <a:r>
                  <a:rPr lang="en-US" altLang="zh-CN" sz="280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en-US" altLang="zh-CN" sz="2800" baseline="3000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en-US" altLang="zh-CN" sz="2800" i="1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+</a:t>
                </a:r>
                <a:r>
                  <a:rPr lang="en-US" altLang="zh-CN" sz="280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</a:t>
                </a:r>
                <a:r>
                  <a:rPr lang="en-US" altLang="zh-CN" sz="2800" i="1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  <a:r>
                  <a:rPr lang="en-US" altLang="zh-CN" sz="280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8×0</a:t>
                </a:r>
                <a:r>
                  <a:rPr lang="en-US" altLang="zh-CN" sz="2800" i="1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  <a:r>
                  <a:rPr lang="en-US" altLang="zh-CN" sz="280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en-US" altLang="zh-CN" sz="2800" baseline="3000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en-US" altLang="zh-CN" sz="2800" i="1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</a:t>
                </a:r>
                <a:r>
                  <a:rPr lang="en-US" altLang="zh-CN" sz="280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3×0</a:t>
                </a:r>
                <a:r>
                  <a:rPr lang="en-US" altLang="zh-CN" sz="2800" i="1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  <a:r>
                  <a:rPr lang="en-US" altLang="zh-CN" sz="280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8×0</a:t>
                </a:r>
                <a:r>
                  <a:rPr lang="en-US" altLang="zh-CN" sz="2800" i="1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  <a:r>
                  <a:rPr lang="en-US" altLang="zh-CN" sz="280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en-US" altLang="zh-CN" sz="2800" baseline="3000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en-US" altLang="zh-CN" sz="2800" i="1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</a:t>
                </a:r>
                <a:r>
                  <a:rPr lang="en-US" altLang="zh-CN" sz="280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</a:t>
                </a:r>
                <a:r>
                  <a:rPr lang="en-US" altLang="zh-CN" sz="2800" i="1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  <a:r>
                  <a:rPr lang="en-US" altLang="zh-CN" sz="280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096</a:t>
                </a:r>
                <a:r>
                  <a:rPr lang="en-US" altLang="zh-CN" sz="2800" i="1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  <a:endParaRPr lang="zh-CN" altLang="zh-CN" sz="2800">
                  <a:solidFill>
                    <a:srgbClr val="000000"/>
                  </a:solidFill>
                  <a:effectLst/>
                  <a:latin typeface="NEU-BZ-S92"/>
                  <a:ea typeface="方正书宋_GBK" panose="03000509000000000000" pitchFamily="65" charset="-122"/>
                  <a:cs typeface="Times New Roman" panose="02020603050405020304" pitchFamily="18" charset="0"/>
                </a:endParaRPr>
              </a:p>
              <a:p>
                <a:pPr>
                  <a:lnSpc>
                    <a:spcPct val="130000"/>
                  </a:lnSpc>
                  <a:spcAft>
                    <a:spcPts val="0"/>
                  </a:spcAft>
                  <a:tabLst>
                    <a:tab pos="1188085" algn="l"/>
                    <a:tab pos="2163445" algn="l"/>
                    <a:tab pos="3142615" algn="l"/>
                    <a:tab pos="4190365" algn="l"/>
                  </a:tabLst>
                </a:pPr>
                <a:r>
                  <a:rPr lang="en-US" altLang="zh-CN" sz="280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(3)</a:t>
                </a:r>
                <a:r>
                  <a:rPr lang="en-US" altLang="zh-CN" sz="2800" i="1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</a:t>
                </a:r>
                <a:r>
                  <a:rPr lang="en-US" altLang="zh-CN" sz="280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:r>
                  <a:rPr lang="en-US" altLang="zh-CN" sz="2800" i="1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</a:t>
                </a:r>
                <a:r>
                  <a:rPr lang="en-US" altLang="zh-CN" sz="2800" baseline="-2500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en-US" altLang="zh-CN" sz="280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  <a:r>
                  <a:rPr lang="en-US" altLang="zh-CN" sz="2800" i="1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</a:t>
                </a:r>
                <a:r>
                  <a:rPr lang="en-US" altLang="zh-CN" sz="280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3×0</a:t>
                </a:r>
                <a:r>
                  <a:rPr lang="en-US" altLang="zh-CN" sz="2800" i="1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  <a:r>
                  <a:rPr lang="en-US" altLang="zh-CN" sz="280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8</a:t>
                </a:r>
                <a:r>
                  <a:rPr lang="en-US" altLang="zh-CN" sz="2800" baseline="3000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en-US" altLang="zh-CN" sz="280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×0</a:t>
                </a:r>
                <a:r>
                  <a:rPr lang="en-US" altLang="zh-CN" sz="2800" i="1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  <a:r>
                  <a:rPr lang="en-US" altLang="zh-CN" sz="280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en-US" altLang="zh-CN" sz="2800" i="1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</a:t>
                </a:r>
                <a:r>
                  <a:rPr lang="en-US" altLang="zh-CN" sz="280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</a:t>
                </a:r>
                <a:r>
                  <a:rPr lang="en-US" altLang="zh-CN" sz="2800" i="1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  <a:r>
                  <a:rPr lang="en-US" altLang="zh-CN" sz="280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384,</a:t>
                </a:r>
                <a:r>
                  <a:rPr lang="en-US" altLang="zh-CN" sz="2800" i="1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</a:t>
                </a:r>
                <a:r>
                  <a:rPr lang="en-US" altLang="zh-CN" sz="280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:r>
                  <a:rPr lang="en-US" altLang="zh-CN" sz="2800" i="1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</a:t>
                </a:r>
                <a:r>
                  <a:rPr lang="en-US" altLang="zh-CN" sz="2800" baseline="-2500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</a:t>
                </a:r>
                <a:r>
                  <a:rPr lang="en-US" altLang="zh-CN" sz="280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  <a:r>
                  <a:rPr lang="en-US" altLang="zh-CN" sz="2800" i="1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</a:t>
                </a:r>
                <a:r>
                  <a:rPr lang="en-US" altLang="zh-CN" sz="280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</a:t>
                </a:r>
                <a:r>
                  <a:rPr lang="en-US" altLang="zh-CN" sz="2800" i="1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  <a:r>
                  <a:rPr lang="en-US" altLang="zh-CN" sz="280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8</a:t>
                </a:r>
                <a:r>
                  <a:rPr lang="en-US" altLang="zh-CN" sz="2800" baseline="3000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</a:t>
                </a:r>
                <a:r>
                  <a:rPr lang="en-US" altLang="zh-CN" sz="2800" i="1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</a:t>
                </a:r>
                <a:r>
                  <a:rPr lang="en-US" altLang="zh-CN" sz="280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</a:t>
                </a:r>
                <a:r>
                  <a:rPr lang="en-US" altLang="zh-CN" sz="2800" i="1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  <a:r>
                  <a:rPr lang="en-US" altLang="zh-CN" sz="280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512</a:t>
                </a:r>
                <a:r>
                  <a:rPr lang="en-US" altLang="zh-CN" sz="2800" i="1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  <a:endParaRPr lang="zh-CN" altLang="zh-CN" sz="2800">
                  <a:solidFill>
                    <a:srgbClr val="000000"/>
                  </a:solidFill>
                  <a:effectLst/>
                  <a:latin typeface="NEU-BZ-S92"/>
                  <a:ea typeface="方正书宋_GBK" panose="03000509000000000000" pitchFamily="65" charset="-122"/>
                  <a:cs typeface="Times New Roman" panose="02020603050405020304" pitchFamily="18" charset="0"/>
                </a:endParaRPr>
              </a:p>
              <a:p>
                <a:pPr>
                  <a:lnSpc>
                    <a:spcPct val="130000"/>
                  </a:lnSpc>
                  <a:spcAft>
                    <a:spcPts val="0"/>
                  </a:spcAft>
                  <a:tabLst>
                    <a:tab pos="1188085" algn="l"/>
                    <a:tab pos="2163445" algn="l"/>
                    <a:tab pos="3142615" algn="l"/>
                    <a:tab pos="4190365" algn="l"/>
                  </a:tabLst>
                </a:pPr>
                <a:r>
                  <a:rPr lang="en-US" altLang="zh-CN" sz="280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(4)</a:t>
                </a:r>
                <a:r>
                  <a:rPr lang="zh-CN" altLang="zh-CN" sz="280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结论</a:t>
                </a:r>
                <a:r>
                  <a:rPr lang="en-US" altLang="zh-CN" sz="280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  <a:r>
                  <a:rPr lang="en-US" altLang="zh-CN" sz="2800" i="1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</a:t>
                </a:r>
                <a:r>
                  <a:rPr lang="en-US" altLang="zh-CN" sz="280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:r>
                  <a:rPr lang="en-US" altLang="zh-CN" sz="2800" i="1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</a:t>
                </a:r>
                <a:r>
                  <a:rPr lang="en-US" altLang="zh-CN" sz="2800" i="1" baseline="-2500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</a:t>
                </a:r>
                <a:r>
                  <a:rPr lang="en-US" altLang="zh-CN" sz="280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  <a:r>
                  <a:rPr lang="en-US" altLang="zh-CN" sz="2800" i="1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zh-CN" altLang="zh-CN" sz="28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US" altLang="zh-CN" sz="28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C</m:t>
                        </m:r>
                      </m:e>
                      <m:sub>
                        <m:r>
                          <a:rPr lang="en-US" altLang="zh-CN" sz="28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3</m:t>
                        </m:r>
                      </m:sub>
                      <m:sup>
                        <m:r>
                          <a:rPr lang="en-US" altLang="zh-CN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𝑘</m:t>
                        </m:r>
                      </m:sup>
                    </m:sSubSup>
                  </m:oMath>
                </a14:m>
                <a:r>
                  <a:rPr lang="en-US" altLang="zh-CN" sz="280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×0</a:t>
                </a:r>
                <a:r>
                  <a:rPr lang="en-US" altLang="zh-CN" sz="2800" i="1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  <a:r>
                  <a:rPr lang="en-US" altLang="zh-CN" sz="280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8</a:t>
                </a:r>
                <a:r>
                  <a:rPr lang="en-US" altLang="zh-CN" sz="2800" i="1" baseline="3000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</a:t>
                </a:r>
                <a:r>
                  <a:rPr lang="en-US" altLang="zh-CN" sz="280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×0</a:t>
                </a:r>
                <a:r>
                  <a:rPr lang="en-US" altLang="zh-CN" sz="2800" i="1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  <a:r>
                  <a:rPr lang="en-US" altLang="zh-CN" sz="280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en-US" altLang="zh-CN" sz="2800" baseline="3000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</a:t>
                </a:r>
                <a:r>
                  <a:rPr lang="en-US" altLang="zh-CN" sz="2800" i="1" baseline="3000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-k</a:t>
                </a:r>
                <a:r>
                  <a:rPr lang="en-US" altLang="zh-CN" sz="280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</a:t>
                </a:r>
                <a:r>
                  <a:rPr lang="en-US" altLang="zh-CN" sz="2800" i="1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k=</a:t>
                </a:r>
                <a:r>
                  <a:rPr lang="en-US" altLang="zh-CN" sz="280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0,1,2,3</a:t>
                </a:r>
                <a:r>
                  <a:rPr lang="en-US" altLang="zh-CN" sz="2800" i="1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  <a:endParaRPr lang="zh-CN" altLang="zh-CN" sz="2800">
                  <a:solidFill>
                    <a:srgbClr val="000000"/>
                  </a:solidFill>
                  <a:effectLst/>
                  <a:latin typeface="NEU-BZ-S92"/>
                  <a:ea typeface="方正书宋_GBK" panose="03000509000000000000" pitchFamily="65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" name="矩形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000" y="803405"/>
                <a:ext cx="11430000" cy="3676006"/>
              </a:xfrm>
              <a:prstGeom prst="rect">
                <a:avLst/>
              </a:prstGeom>
              <a:blipFill rotWithShape="0">
                <a:blip r:embed="rId2"/>
                <a:stretch>
                  <a:fillRect l="-1120" b="-199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884622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1548139"/>
            <a:ext cx="11430000" cy="3463256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80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1)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一般地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在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重伯努利试验中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设每次试验中事件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发生的概率为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(0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&lt;p&lt;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1),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用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表示事件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发生的次数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则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的分布</a:t>
            </a:r>
            <a:r>
              <a:rPr lang="zh-CN" altLang="zh-CN" sz="280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列为</a:t>
            </a:r>
            <a:endParaRPr lang="en-US" altLang="zh-CN" sz="2800" smtClean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i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280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X=k</a:t>
            </a:r>
            <a:r>
              <a:rPr lang="en-US" altLang="zh-CN" sz="280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     </a:t>
            </a:r>
            <a:r>
              <a:rPr lang="en-US" altLang="zh-CN" sz="2800" i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2800" i="1" baseline="3000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altLang="zh-CN" sz="280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</a:t>
            </a:r>
            <a:r>
              <a:rPr lang="en-US" altLang="zh-CN" sz="2800" i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-p</a:t>
            </a:r>
            <a:r>
              <a:rPr lang="en-US" altLang="zh-CN" sz="280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 baseline="3000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n-k  </a:t>
            </a:r>
            <a:r>
              <a:rPr lang="en-US" altLang="zh-CN" sz="280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k=</a:t>
            </a:r>
            <a:r>
              <a:rPr lang="en-US" altLang="zh-CN" sz="280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0,1,2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>
                <a:solidFill>
                  <a:srgbClr val="000000"/>
                </a:solidFill>
                <a:effectLst/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…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n.</a:t>
            </a:r>
            <a:endParaRPr lang="zh-CN" altLang="zh-CN" sz="280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如果随机变量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的分布列具有上式的形式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则称随机变量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服从二项分布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记</a:t>
            </a:r>
            <a:r>
              <a:rPr lang="zh-CN" altLang="zh-CN" sz="280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作</a:t>
            </a:r>
            <a:r>
              <a:rPr lang="en-US" altLang="zh-CN" sz="280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800" i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X~B</a:t>
            </a:r>
            <a:r>
              <a:rPr lang="en-US" altLang="zh-CN" sz="280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280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 </a:t>
            </a:r>
            <a:r>
              <a:rPr lang="en-US" altLang="zh-CN" sz="2800" i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(2)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一般地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可以证明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如果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X~B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那么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=np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=np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-p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90957634"/>
              </p:ext>
            </p:extLst>
          </p:nvPr>
        </p:nvGraphicFramePr>
        <p:xfrm>
          <a:off x="1609743" y="2718016"/>
          <a:ext cx="804647" cy="5206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74" name="文档" r:id="rId4" imgW="300127" imgH="193346" progId="Word.Document.12">
                  <p:embed/>
                </p:oleObj>
              </mc:Choice>
              <mc:Fallback>
                <p:oleObj name="文档" r:id="rId4" imgW="300127" imgH="193346" progId="Word.Document.12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09743" y="2718016"/>
                        <a:ext cx="804647" cy="520655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矩形 3"/>
          <p:cNvSpPr/>
          <p:nvPr/>
        </p:nvSpPr>
        <p:spPr>
          <a:xfrm>
            <a:off x="1778327" y="2718016"/>
            <a:ext cx="1864806" cy="545093"/>
          </a:xfrm>
          <a:prstGeom prst="rect">
            <a:avLst/>
          </a:prstGeom>
          <a:pattFill prst="lgConfetti">
            <a:fgClr>
              <a:srgbClr val="E8F4E9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5" name="直接连接符 4"/>
          <p:cNvCxnSpPr/>
          <p:nvPr/>
        </p:nvCxnSpPr>
        <p:spPr>
          <a:xfrm>
            <a:off x="1778327" y="3269613"/>
            <a:ext cx="1864806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矩形 6"/>
          <p:cNvSpPr/>
          <p:nvPr/>
        </p:nvSpPr>
        <p:spPr>
          <a:xfrm>
            <a:off x="1201383" y="3826129"/>
            <a:ext cx="1487388" cy="545093"/>
          </a:xfrm>
          <a:prstGeom prst="rect">
            <a:avLst/>
          </a:prstGeom>
          <a:pattFill prst="lgConfetti">
            <a:fgClr>
              <a:srgbClr val="E8F4E9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8" name="直接连接符 7"/>
          <p:cNvCxnSpPr/>
          <p:nvPr/>
        </p:nvCxnSpPr>
        <p:spPr>
          <a:xfrm>
            <a:off x="1201383" y="4377726"/>
            <a:ext cx="1487388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286701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7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389006"/>
            <a:ext cx="11430000" cy="5693866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种植某种树苗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成活率为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若种植这种树苗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棵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则恰好成活</a:t>
            </a:r>
            <a:r>
              <a:rPr lang="en-US" altLang="zh-CN" sz="280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zh-CN" altLang="en-US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棵的概率约是</a:t>
            </a:r>
            <a:r>
              <a:rPr lang="en-US" altLang="zh-CN" sz="280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CN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　　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CN" altLang="zh-CN" sz="280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A.0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33	</a:t>
            </a:r>
            <a:r>
              <a:rPr lang="en-US" altLang="zh-CN" sz="280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B.0</a:t>
            </a:r>
            <a:r>
              <a:rPr lang="en-US" altLang="zh-CN" sz="2800" i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80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07		C.0</a:t>
            </a:r>
            <a:r>
              <a:rPr lang="en-US" altLang="zh-CN" sz="2800" i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80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54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altLang="zh-CN" sz="280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D.0</a:t>
            </a:r>
            <a:r>
              <a:rPr lang="en-US" altLang="zh-CN" sz="2800" i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80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45</a:t>
            </a:r>
            <a:endParaRPr lang="zh-CN" altLang="zh-CN" sz="280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2)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如果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X~B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(20,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当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2800" i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    </a:t>
            </a:r>
            <a:r>
              <a:rPr lang="zh-CN" altLang="zh-CN" sz="280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且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X=k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取得最大值时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k=</a:t>
            </a:r>
            <a:r>
              <a:rPr lang="zh-CN" altLang="zh-CN" sz="2800" i="1" u="sng">
                <a:solidFill>
                  <a:srgbClr val="FF0000"/>
                </a:solidFill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　　　　　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800" i="1">
                <a:solidFill>
                  <a:srgbClr val="000000"/>
                </a:solidFill>
                <a:effectLst/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 </a:t>
            </a:r>
            <a:endParaRPr lang="zh-CN" altLang="zh-CN" sz="280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>
                <a:solidFill>
                  <a:srgbClr val="FF0000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解析</a:t>
            </a:r>
            <a:r>
              <a:rPr lang="en-US" altLang="zh-CN" sz="2800">
                <a:solidFill>
                  <a:srgbClr val="FF0000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  <a:r>
              <a:rPr lang="zh-CN" altLang="zh-CN" sz="280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设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A=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zh-CN" altLang="zh-CN" sz="280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树苗成活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”,</a:t>
            </a:r>
            <a:r>
              <a:rPr lang="zh-CN" altLang="zh-CN" sz="280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则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用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zh-CN" altLang="zh-CN" sz="280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表示事件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zh-CN" altLang="zh-CN" sz="280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发生的次数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则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X~B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(5,0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9)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恰好成活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zh-CN" altLang="zh-CN" sz="280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棵等价于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X=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4,</a:t>
            </a:r>
            <a:r>
              <a:rPr lang="zh-CN" altLang="zh-CN" sz="280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于是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X=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CN" sz="280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    </a:t>
            </a:r>
            <a:r>
              <a:rPr lang="en-US" altLang="zh-CN" sz="280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×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r>
            <a:r>
              <a:rPr lang="en-US" altLang="zh-CN" sz="2800" baseline="30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×0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1≈0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33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endParaRPr lang="en-US" altLang="zh-CN" sz="2800" smtClean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endParaRPr lang="en-US" altLang="zh-CN" sz="2800">
              <a:solidFill>
                <a:srgbClr val="000000"/>
              </a:solidFill>
              <a:effectLst/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故</a:t>
            </a:r>
            <a:r>
              <a:rPr lang="zh-CN" altLang="zh-CN" sz="280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当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k=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r>
              <a:rPr lang="zh-CN" altLang="zh-CN" sz="280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时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X=k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80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取得最大值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>
                <a:solidFill>
                  <a:srgbClr val="FF0000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答案</a:t>
            </a:r>
            <a:r>
              <a:rPr lang="en-US" altLang="zh-CN" sz="2800">
                <a:solidFill>
                  <a:srgbClr val="FF0000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(1)A</a:t>
            </a:r>
            <a:r>
              <a:rPr lang="zh-CN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　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(2)10</a:t>
            </a:r>
            <a:endParaRPr lang="zh-CN" altLang="zh-CN" sz="280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73309579"/>
              </p:ext>
            </p:extLst>
          </p:nvPr>
        </p:nvGraphicFramePr>
        <p:xfrm>
          <a:off x="3718783" y="1970955"/>
          <a:ext cx="773232" cy="77323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42" name="文档" r:id="rId4" imgW="399226" imgH="398969" progId="Word.Document.12">
                  <p:embed/>
                </p:oleObj>
              </mc:Choice>
              <mc:Fallback>
                <p:oleObj name="文档" r:id="rId4" imgW="399226" imgH="398969" progId="Word.Document.12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18783" y="1970955"/>
                        <a:ext cx="773232" cy="773232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38113624"/>
              </p:ext>
            </p:extLst>
          </p:nvPr>
        </p:nvGraphicFramePr>
        <p:xfrm>
          <a:off x="458424" y="3790443"/>
          <a:ext cx="11275153" cy="98919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43" name="文档" r:id="rId7" imgW="4510061" imgH="395677" progId="Word.Document.12">
                  <p:embed/>
                </p:oleObj>
              </mc:Choice>
              <mc:Fallback>
                <p:oleObj name="文档" r:id="rId7" imgW="4510061" imgH="395677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58424" y="3790443"/>
                        <a:ext cx="11275153" cy="98919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48191782"/>
              </p:ext>
            </p:extLst>
          </p:nvPr>
        </p:nvGraphicFramePr>
        <p:xfrm>
          <a:off x="7767044" y="3244275"/>
          <a:ext cx="793750" cy="493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44" name="文档" r:id="rId10" imgW="326921" imgH="198018" progId="Word.Document.12">
                  <p:embed/>
                </p:oleObj>
              </mc:Choice>
              <mc:Fallback>
                <p:oleObj name="文档" r:id="rId10" imgW="326921" imgH="198018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7767044" y="3244275"/>
                        <a:ext cx="793750" cy="4937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6382431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1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2203086"/>
            <a:ext cx="11430000" cy="2832827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【思考辨析】</a:t>
            </a:r>
            <a:r>
              <a:rPr lang="zh-CN" altLang="zh-CN" sz="2800">
                <a:solidFill>
                  <a:srgbClr val="000000"/>
                </a:solidFill>
                <a:latin typeface="NEU-BZ-S92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endParaRPr lang="zh-CN" altLang="zh-CN" sz="280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判断下列说法是否正确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正确的在后面的括号内画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en-US" altLang="zh-CN" sz="2800">
                <a:solidFill>
                  <a:srgbClr val="000000"/>
                </a:solidFill>
                <a:latin typeface="Cambria Math" panose="02040503050406030204" pitchFamily="18" charset="0"/>
                <a:ea typeface="NEU-BZ-S92"/>
                <a:cs typeface="Times New Roman" panose="02020603050405020304" pitchFamily="18" charset="0"/>
              </a:rPr>
              <a:t>√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”,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错误的画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“×”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重伯努利试验每次试验之间是相互独立的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zh-CN" sz="2800">
                <a:solidFill>
                  <a:srgbClr val="FF0000"/>
                </a:solidFill>
                <a:latin typeface="Cambria Math" panose="02040503050406030204" pitchFamily="18" charset="0"/>
                <a:cs typeface="Times New Roman" panose="02020603050405020304" pitchFamily="18" charset="0"/>
              </a:rPr>
              <a:t>√</a:t>
            </a:r>
            <a:r>
              <a:rPr lang="en-US" altLang="zh-CN" sz="280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CN" altLang="zh-CN" sz="280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(2)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重伯努利试验每次试验只有发生与不发生两种结果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zh-CN" sz="2800">
                <a:solidFill>
                  <a:srgbClr val="FF0000"/>
                </a:solidFill>
                <a:latin typeface="Cambria Math" panose="02040503050406030204" pitchFamily="18" charset="0"/>
                <a:cs typeface="Times New Roman" panose="02020603050405020304" pitchFamily="18" charset="0"/>
              </a:rPr>
              <a:t>√</a:t>
            </a:r>
            <a:r>
              <a:rPr lang="en-US" altLang="zh-CN" sz="280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CN" altLang="zh-CN" sz="280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(3)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重伯努利试验各次试验发生的事件是互斥的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×  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CN" altLang="zh-CN" sz="280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7702513" y="3395156"/>
            <a:ext cx="538035" cy="514001"/>
          </a:xfrm>
          <a:prstGeom prst="rect">
            <a:avLst/>
          </a:prstGeom>
          <a:pattFill prst="lgConfetti">
            <a:fgClr>
              <a:srgbClr val="E8F4E9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9139429" y="3952701"/>
            <a:ext cx="538035" cy="514001"/>
          </a:xfrm>
          <a:prstGeom prst="rect">
            <a:avLst/>
          </a:prstGeom>
          <a:pattFill prst="lgConfetti">
            <a:fgClr>
              <a:srgbClr val="E8F4E9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8142576" y="4518840"/>
            <a:ext cx="538035" cy="514001"/>
          </a:xfrm>
          <a:prstGeom prst="rect">
            <a:avLst/>
          </a:prstGeom>
          <a:pattFill prst="lgConfetti">
            <a:fgClr>
              <a:srgbClr val="E8F4E9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451981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/>
        </p:nvGrpSpPr>
        <p:grpSpPr>
          <a:xfrm>
            <a:off x="2180083" y="2636520"/>
            <a:ext cx="1105802" cy="815646"/>
            <a:chOff x="-1604504" y="2147667"/>
            <a:chExt cx="3687215" cy="2719712"/>
          </a:xfrm>
        </p:grpSpPr>
        <p:cxnSp>
          <p:nvCxnSpPr>
            <p:cNvPr id="7" name="直接连接符 6"/>
            <p:cNvCxnSpPr/>
            <p:nvPr/>
          </p:nvCxnSpPr>
          <p:spPr>
            <a:xfrm flipH="1">
              <a:off x="-1604504" y="2687623"/>
              <a:ext cx="2592288" cy="2179756"/>
            </a:xfrm>
            <a:prstGeom prst="line">
              <a:avLst/>
            </a:prstGeom>
            <a:noFill/>
            <a:ln w="76200" cap="flat" cmpd="sng" algn="ctr">
              <a:solidFill>
                <a:schemeClr val="tx2">
                  <a:lumMod val="50000"/>
                </a:schemeClr>
              </a:solidFill>
              <a:prstDash val="solid"/>
            </a:ln>
            <a:effectLst/>
          </p:spPr>
        </p:cxnSp>
        <p:cxnSp>
          <p:nvCxnSpPr>
            <p:cNvPr id="8" name="直接连接符 7"/>
            <p:cNvCxnSpPr/>
            <p:nvPr/>
          </p:nvCxnSpPr>
          <p:spPr>
            <a:xfrm flipH="1">
              <a:off x="-509577" y="2147667"/>
              <a:ext cx="2592288" cy="2179756"/>
            </a:xfrm>
            <a:prstGeom prst="line">
              <a:avLst/>
            </a:prstGeom>
            <a:noFill/>
            <a:ln w="12700" cap="flat" cmpd="sng" algn="ctr">
              <a:solidFill>
                <a:schemeClr val="tx2">
                  <a:lumMod val="50000"/>
                </a:schemeClr>
              </a:solidFill>
              <a:prstDash val="solid"/>
            </a:ln>
            <a:effectLst/>
          </p:spPr>
        </p:cxnSp>
      </p:grpSp>
      <p:grpSp>
        <p:nvGrpSpPr>
          <p:cNvPr id="9" name="组合 8"/>
          <p:cNvGrpSpPr/>
          <p:nvPr/>
        </p:nvGrpSpPr>
        <p:grpSpPr>
          <a:xfrm flipH="1" flipV="1">
            <a:off x="8735898" y="2665586"/>
            <a:ext cx="1105803" cy="815646"/>
            <a:chOff x="-1604504" y="2147667"/>
            <a:chExt cx="3687215" cy="2719712"/>
          </a:xfrm>
        </p:grpSpPr>
        <p:cxnSp>
          <p:nvCxnSpPr>
            <p:cNvPr id="10" name="直接连接符 9"/>
            <p:cNvCxnSpPr/>
            <p:nvPr/>
          </p:nvCxnSpPr>
          <p:spPr>
            <a:xfrm flipH="1">
              <a:off x="-1604504" y="2687623"/>
              <a:ext cx="2592288" cy="2179756"/>
            </a:xfrm>
            <a:prstGeom prst="line">
              <a:avLst/>
            </a:prstGeom>
            <a:noFill/>
            <a:ln w="76200" cap="flat" cmpd="sng" algn="ctr">
              <a:solidFill>
                <a:sysClr val="windowText" lastClr="000000">
                  <a:lumMod val="85000"/>
                  <a:lumOff val="15000"/>
                </a:sysClr>
              </a:solidFill>
              <a:prstDash val="solid"/>
            </a:ln>
            <a:effectLst/>
          </p:spPr>
        </p:cxnSp>
        <p:cxnSp>
          <p:nvCxnSpPr>
            <p:cNvPr id="11" name="直接连接符 10"/>
            <p:cNvCxnSpPr/>
            <p:nvPr/>
          </p:nvCxnSpPr>
          <p:spPr>
            <a:xfrm flipH="1">
              <a:off x="-509577" y="2147667"/>
              <a:ext cx="2592288" cy="2179756"/>
            </a:xfrm>
            <a:prstGeom prst="line">
              <a:avLst/>
            </a:prstGeom>
            <a:noFill/>
            <a:ln w="12700" cap="flat" cmpd="sng" algn="ctr">
              <a:solidFill>
                <a:sysClr val="windowText" lastClr="000000">
                  <a:lumMod val="85000"/>
                  <a:lumOff val="15000"/>
                </a:sysClr>
              </a:solidFill>
              <a:prstDash val="solid"/>
            </a:ln>
            <a:effectLst/>
          </p:spPr>
        </p:cxnSp>
      </p:grpSp>
      <p:sp>
        <p:nvSpPr>
          <p:cNvPr id="12" name="文本框 11"/>
          <p:cNvSpPr txBox="1"/>
          <p:nvPr/>
        </p:nvSpPr>
        <p:spPr>
          <a:xfrm>
            <a:off x="2969260" y="2585720"/>
            <a:ext cx="625284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5400" b="1" dirty="0" smtClean="0">
                <a:solidFill>
                  <a:srgbClr val="4D4D4D"/>
                </a:solidFill>
                <a:latin typeface="方正姚体" panose="02010601030101010101" charset="-122"/>
                <a:ea typeface="方正姚体" panose="02010601030101010101" charset="-122"/>
                <a:cs typeface="方正姚体" panose="02010601030101010101" charset="-122"/>
                <a:sym typeface="+mn-ea"/>
              </a:rPr>
              <a:t>合作探究 释疑解惑</a:t>
            </a:r>
            <a:endParaRPr lang="zh-CN" altLang="en-US" sz="5400" b="1" dirty="0">
              <a:solidFill>
                <a:srgbClr val="4D4D4D"/>
              </a:solidFill>
              <a:latin typeface="方正姚体" panose="02010601030101010101" charset="-122"/>
              <a:ea typeface="方正姚体" panose="02010601030101010101" charset="-122"/>
              <a:cs typeface="方正姚体" panose="02010601030101010101" charset="-122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lgConfetti">
          <a:fgClr>
            <a:srgbClr val="E8F4E9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" name="组合 34"/>
          <p:cNvGrpSpPr/>
          <p:nvPr/>
        </p:nvGrpSpPr>
        <p:grpSpPr>
          <a:xfrm>
            <a:off x="2" y="151371"/>
            <a:ext cx="11336478" cy="433754"/>
            <a:chOff x="381000" y="205656"/>
            <a:chExt cx="11336478" cy="433754"/>
          </a:xfrm>
        </p:grpSpPr>
        <p:sp>
          <p:nvSpPr>
            <p:cNvPr id="36" name="矩形 35"/>
            <p:cNvSpPr/>
            <p:nvPr/>
          </p:nvSpPr>
          <p:spPr>
            <a:xfrm>
              <a:off x="1999940" y="230648"/>
              <a:ext cx="192275" cy="401795"/>
            </a:xfrm>
            <a:prstGeom prst="rect">
              <a:avLst/>
            </a:prstGeom>
            <a:noFill/>
            <a:ln w="19050">
              <a:solidFill>
                <a:schemeClr val="accent4">
                  <a:lumMod val="75000"/>
                </a:schemeClr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/>
            </a:p>
          </p:txBody>
        </p:sp>
        <p:grpSp>
          <p:nvGrpSpPr>
            <p:cNvPr id="37" name="组合 36"/>
            <p:cNvGrpSpPr/>
            <p:nvPr/>
          </p:nvGrpSpPr>
          <p:grpSpPr>
            <a:xfrm>
              <a:off x="381000" y="205656"/>
              <a:ext cx="11336478" cy="433754"/>
              <a:chOff x="3048000" y="2286000"/>
              <a:chExt cx="4813646" cy="457200"/>
            </a:xfrm>
          </p:grpSpPr>
          <p:sp>
            <p:nvSpPr>
              <p:cNvPr id="38" name="矩形 37"/>
              <p:cNvSpPr/>
              <p:nvPr/>
            </p:nvSpPr>
            <p:spPr>
              <a:xfrm>
                <a:off x="3048000" y="2286000"/>
                <a:ext cx="769070" cy="457200"/>
              </a:xfrm>
              <a:prstGeom prst="rect">
                <a:avLst/>
              </a:prstGeom>
              <a:solidFill>
                <a:srgbClr val="74877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2800" b="1" dirty="0" smtClean="0">
                    <a:solidFill>
                      <a:schemeClr val="bg1"/>
                    </a:solidFill>
                  </a:rPr>
                  <a:t>探究一</a:t>
                </a:r>
              </a:p>
            </p:txBody>
          </p:sp>
          <p:sp>
            <p:nvSpPr>
              <p:cNvPr id="39" name="矩形 38"/>
              <p:cNvSpPr/>
              <p:nvPr/>
            </p:nvSpPr>
            <p:spPr>
              <a:xfrm>
                <a:off x="3909004" y="2286000"/>
                <a:ext cx="3952642" cy="457200"/>
              </a:xfrm>
              <a:prstGeom prst="rect">
                <a:avLst/>
              </a:prstGeom>
              <a:gradFill flip="none" rotWithShape="1">
                <a:gsLst>
                  <a:gs pos="0">
                    <a:srgbClr val="DCDCDC">
                      <a:shade val="30000"/>
                      <a:satMod val="115000"/>
                    </a:srgbClr>
                  </a:gs>
                  <a:gs pos="51000">
                    <a:srgbClr val="DCDCDC">
                      <a:shade val="67500"/>
                      <a:satMod val="115000"/>
                    </a:srgbClr>
                  </a:gs>
                  <a:gs pos="73000">
                    <a:srgbClr val="DCDCDC">
                      <a:shade val="100000"/>
                      <a:satMod val="115000"/>
                      <a:alpha val="0"/>
                    </a:srgb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altLang="zh-CN" sz="2800" b="1" i="1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</a:t>
                </a:r>
                <a:r>
                  <a:rPr lang="zh-CN" altLang="en-US" sz="2800" b="1">
                    <a:solidFill>
                      <a:schemeClr val="bg1"/>
                    </a:solidFill>
                  </a:rPr>
                  <a:t>重伯努利试验的概率问题</a:t>
                </a:r>
                <a:endParaRPr lang="zh-CN" altLang="en-US" sz="2800" b="1" dirty="0">
                  <a:solidFill>
                    <a:schemeClr val="bg1"/>
                  </a:solidFill>
                </a:endParaRPr>
              </a:p>
            </p:txBody>
          </p:sp>
        </p:grpSp>
      </p:grpSp>
      <p:sp>
        <p:nvSpPr>
          <p:cNvPr id="2" name="矩形 1"/>
          <p:cNvSpPr>
            <a:spLocks noChangeAspect="1"/>
          </p:cNvSpPr>
          <p:nvPr/>
        </p:nvSpPr>
        <p:spPr>
          <a:xfrm>
            <a:off x="381000" y="2118639"/>
            <a:ext cx="11430000" cy="2332946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【例</a:t>
            </a:r>
            <a:r>
              <a:rPr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zh-CN" sz="2800">
                <a:solidFill>
                  <a:srgbClr val="000000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】</a:t>
            </a:r>
            <a:r>
              <a:rPr lang="zh-CN" altLang="zh-CN" sz="2800">
                <a:solidFill>
                  <a:srgbClr val="000000"/>
                </a:solidFill>
                <a:effectLst/>
                <a:latin typeface="NEU-BZ-S92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甲、乙两射击运动员各射击一次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击中目标的概率分别</a:t>
            </a:r>
            <a:r>
              <a:rPr lang="zh-CN" altLang="zh-CN" sz="280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是</a:t>
            </a:r>
            <a:endParaRPr lang="en-US" altLang="zh-CN" sz="2800" smtClean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假设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每次射击是否击中目标相互之间没有影响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求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zh-CN" altLang="zh-CN" sz="280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甲射击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次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至少有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次未击中目标的概率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zh-CN" altLang="zh-CN" sz="280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(2)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甲、乙各射击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次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甲恰好击中目标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次且乙恰好击中目标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次的概率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55030280"/>
              </p:ext>
            </p:extLst>
          </p:nvPr>
        </p:nvGraphicFramePr>
        <p:xfrm>
          <a:off x="10556696" y="1956032"/>
          <a:ext cx="1143000" cy="9985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21" name="文档" r:id="rId4" imgW="466611" imgH="400348" progId="Word.Document.12">
                  <p:embed/>
                </p:oleObj>
              </mc:Choice>
              <mc:Fallback>
                <p:oleObj name="文档" r:id="rId4" imgW="466611" imgH="400348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0556696" y="1956032"/>
                        <a:ext cx="1143000" cy="9985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lgConfetti">
          <a:fgClr>
            <a:srgbClr val="E8F4E9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02268190"/>
              </p:ext>
            </p:extLst>
          </p:nvPr>
        </p:nvGraphicFramePr>
        <p:xfrm>
          <a:off x="458424" y="1714181"/>
          <a:ext cx="11275153" cy="3683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45" name="文档" r:id="rId4" imgW="4510061" imgH="1473455" progId="Word.Document.12">
                  <p:embed/>
                </p:oleObj>
              </mc:Choice>
              <mc:Fallback>
                <p:oleObj name="文档" r:id="rId4" imgW="4510061" imgH="1473455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58424" y="1714181"/>
                        <a:ext cx="11275153" cy="36836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8499633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lgConfetti">
          <a:fgClr>
            <a:srgbClr val="E8F4E9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>
            <a:spLocks noChangeAspect="1"/>
          </p:cNvSpPr>
          <p:nvPr/>
        </p:nvSpPr>
        <p:spPr>
          <a:xfrm>
            <a:off x="381000" y="1458422"/>
            <a:ext cx="11430000" cy="1712520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(2)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设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甲射击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次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恰有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次击中目标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”,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800" baseline="-25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乙射击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次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恰有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次击中目标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”,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则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甲、乙各射击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次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甲恰好击中目标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次且乙恰好击中目标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次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”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就是事件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800" baseline="-25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62419912"/>
              </p:ext>
            </p:extLst>
          </p:nvPr>
        </p:nvGraphicFramePr>
        <p:xfrm>
          <a:off x="458424" y="3245353"/>
          <a:ext cx="11275153" cy="19774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69" name="文档" r:id="rId4" imgW="4510061" imgH="790994" progId="Word.Document.12">
                  <p:embed/>
                </p:oleObj>
              </mc:Choice>
              <mc:Fallback>
                <p:oleObj name="文档" r:id="rId4" imgW="4510061" imgH="790994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58424" y="3245353"/>
                        <a:ext cx="11275153" cy="197748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5643540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lgConfetti">
          <a:fgClr>
            <a:srgbClr val="E8F4E9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延伸探究H.eps" descr="id:2147515106;FounderCES"/>
          <p:cNvPicPr/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966271" y="792155"/>
            <a:ext cx="2259458" cy="412065"/>
          </a:xfrm>
          <a:prstGeom prst="rect">
            <a:avLst/>
          </a:prstGeom>
        </p:spPr>
      </p:pic>
      <p:sp>
        <p:nvSpPr>
          <p:cNvPr id="3" name="矩形 2"/>
          <p:cNvSpPr>
            <a:spLocks noChangeAspect="1"/>
          </p:cNvSpPr>
          <p:nvPr/>
        </p:nvSpPr>
        <p:spPr>
          <a:xfrm>
            <a:off x="381000" y="1204220"/>
            <a:ext cx="11430000" cy="1152367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例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中条件不变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求甲、乙各射击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次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甲未击中目标、乙击中目标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次</a:t>
            </a:r>
            <a:r>
              <a:rPr lang="zh-CN" altLang="zh-CN" sz="280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</a:t>
            </a:r>
            <a:endParaRPr lang="en-US" altLang="zh-CN" sz="2800" smtClean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概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率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70995008"/>
              </p:ext>
            </p:extLst>
          </p:nvPr>
        </p:nvGraphicFramePr>
        <p:xfrm>
          <a:off x="458424" y="2428206"/>
          <a:ext cx="11275153" cy="36939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93" name="文档" r:id="rId5" imgW="4510061" imgH="1477588" progId="Word.Document.12">
                  <p:embed/>
                </p:oleObj>
              </mc:Choice>
              <mc:Fallback>
                <p:oleObj name="文档" r:id="rId5" imgW="4510061" imgH="1477588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58424" y="2428206"/>
                        <a:ext cx="11275153" cy="369397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393000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72478488"/>
              </p:ext>
            </p:extLst>
          </p:nvPr>
        </p:nvGraphicFramePr>
        <p:xfrm>
          <a:off x="458424" y="1708938"/>
          <a:ext cx="11275153" cy="49414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17" name="文档" r:id="rId4" imgW="4510061" imgH="197659" progId="Word.Document.12">
                  <p:embed/>
                </p:oleObj>
              </mc:Choice>
              <mc:Fallback>
                <p:oleObj name="文档" r:id="rId4" imgW="4510061" imgH="197659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58424" y="1708938"/>
                        <a:ext cx="11275153" cy="49414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矩形 2"/>
          <p:cNvSpPr>
            <a:spLocks noChangeAspect="1"/>
          </p:cNvSpPr>
          <p:nvPr/>
        </p:nvSpPr>
        <p:spPr>
          <a:xfrm>
            <a:off x="381000" y="2203086"/>
            <a:ext cx="11430000" cy="2893100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</a:rPr>
              <a:t>n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重伯努利试验概率求解的三个步骤</a:t>
            </a:r>
            <a:endParaRPr lang="zh-CN" altLang="en-US" sz="2800"/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1)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判断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依据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重伯努利试验的特征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判断所给试验是否为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重伯努利试验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(2)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分拆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判断所求事件是否需要分拆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(3)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计算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就每个事件依据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重伯努利试验的概率公式求解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最后利用互斥事件的概率加法公式计算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185138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1712602"/>
            <a:ext cx="11430000" cy="2332946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【变式训练</a:t>
            </a:r>
            <a:r>
              <a:rPr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zh-CN" sz="280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】</a:t>
            </a:r>
            <a:r>
              <a:rPr lang="zh-CN" altLang="zh-CN" sz="2800">
                <a:solidFill>
                  <a:srgbClr val="000000"/>
                </a:solidFill>
                <a:latin typeface="NEU-BZ-S92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zh-CN" altLang="zh-CN" sz="280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某</a:t>
            </a:r>
            <a:r>
              <a:rPr lang="zh-CN" altLang="en-US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小组有</a:t>
            </a:r>
            <a:r>
              <a:rPr lang="en-US" altLang="zh-CN" sz="280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名工作人员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他们相互独立借助互联网开展工作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已知每人上网的概率都是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求至少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人同时上网的概率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zh-CN" altLang="zh-CN" sz="280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(2)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至少几人同时上网的概率小于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3?</a:t>
            </a:r>
            <a:endParaRPr lang="zh-CN" altLang="zh-CN" sz="280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17951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363026"/>
            <a:ext cx="11430000" cy="5693866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解</a:t>
            </a:r>
            <a:r>
              <a:rPr lang="en-US" altLang="zh-CN" sz="2800">
                <a:solidFill>
                  <a:srgbClr val="FF0000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zh-CN" altLang="zh-CN" sz="280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用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zh-CN" altLang="zh-CN" sz="280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表示同时上网的人数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则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X~B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(6,0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5)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于是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zh-CN" altLang="zh-CN" sz="280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的分布</a:t>
            </a:r>
            <a:r>
              <a:rPr lang="zh-CN" altLang="zh-CN" sz="280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列为</a:t>
            </a:r>
            <a:endParaRPr lang="en-US" altLang="zh-CN" sz="2800" smtClean="0">
              <a:solidFill>
                <a:srgbClr val="000000"/>
              </a:solidFill>
              <a:effectLst/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endParaRPr lang="en-US" altLang="zh-CN" sz="2800" i="1" smtClean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1)</a:t>
            </a:r>
            <a:r>
              <a:rPr lang="zh-CN" altLang="zh-CN" sz="280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至少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zh-CN" altLang="zh-CN" sz="280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人同时上网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这件事包括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zh-CN" altLang="zh-CN" sz="280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人</a:t>
            </a:r>
            <a:r>
              <a:rPr lang="zh-CN" altLang="en-US" sz="280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、</a:t>
            </a:r>
            <a:r>
              <a:rPr lang="en-US" altLang="zh-CN" sz="280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zh-CN" altLang="zh-CN" sz="280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人</a:t>
            </a:r>
            <a:r>
              <a:rPr lang="zh-CN" altLang="en-US" sz="280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、</a:t>
            </a:r>
            <a:r>
              <a:rPr lang="en-US" altLang="zh-CN" sz="280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zh-CN" altLang="zh-CN" sz="280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人或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zh-CN" altLang="zh-CN" sz="280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人同时上网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设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zh-CN" altLang="zh-CN" sz="280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至少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zh-CN" altLang="zh-CN" sz="280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人同时上网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”</a:t>
            </a:r>
            <a:r>
              <a:rPr lang="zh-CN" altLang="zh-CN" sz="280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为事件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则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=P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X=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3)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+P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X=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4)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+P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X=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5)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+P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X=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en-US" altLang="zh-CN" sz="280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endParaRPr lang="en-US" altLang="zh-CN" sz="2800" i="1" smtClean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2)</a:t>
            </a:r>
            <a:r>
              <a:rPr lang="zh-CN" altLang="zh-CN" sz="280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由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  <a:r>
              <a:rPr lang="zh-CN" altLang="zh-CN" sz="280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知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至少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zh-CN" altLang="zh-CN" sz="280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人同时上网的概率大于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3,</a:t>
            </a:r>
            <a:endParaRPr lang="zh-CN" altLang="zh-CN" sz="280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设事件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zh-CN" altLang="zh-CN" sz="280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表示至少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zh-CN" altLang="zh-CN" sz="280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人同时上网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则</a:t>
            </a:r>
            <a:endParaRPr lang="en-US" altLang="zh-CN" sz="2800" i="1" smtClean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endParaRPr lang="en-US" altLang="zh-CN" sz="2800" i="1">
              <a:solidFill>
                <a:srgbClr val="000000"/>
              </a:solidFill>
              <a:effectLst/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endParaRPr lang="en-US" altLang="zh-CN" sz="2800" i="1" smtClean="0">
              <a:solidFill>
                <a:srgbClr val="00000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故</a:t>
            </a:r>
            <a:r>
              <a:rPr lang="zh-CN" altLang="zh-CN" sz="280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至少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zh-CN" altLang="zh-CN" sz="280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人同时上网的概率小于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11266346"/>
              </p:ext>
            </p:extLst>
          </p:nvPr>
        </p:nvGraphicFramePr>
        <p:xfrm>
          <a:off x="458424" y="857215"/>
          <a:ext cx="11275153" cy="56871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87" name="文档" r:id="rId4" imgW="4510061" imgH="227487" progId="Word.Document.12">
                  <p:embed/>
                </p:oleObj>
              </mc:Choice>
              <mc:Fallback>
                <p:oleObj name="文档" r:id="rId4" imgW="4510061" imgH="227487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58424" y="857215"/>
                        <a:ext cx="11275153" cy="56871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4080060"/>
              </p:ext>
            </p:extLst>
          </p:nvPr>
        </p:nvGraphicFramePr>
        <p:xfrm>
          <a:off x="458424" y="2603819"/>
          <a:ext cx="11275153" cy="56871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88" name="文档" r:id="rId7" imgW="4510061" imgH="227487" progId="Word.Document.12">
                  <p:embed/>
                </p:oleObj>
              </mc:Choice>
              <mc:Fallback>
                <p:oleObj name="文档" r:id="rId7" imgW="4510061" imgH="227487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58424" y="2603819"/>
                        <a:ext cx="11275153" cy="56871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31049280"/>
              </p:ext>
            </p:extLst>
          </p:nvPr>
        </p:nvGraphicFramePr>
        <p:xfrm>
          <a:off x="458424" y="4312648"/>
          <a:ext cx="11275153" cy="11374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89" name="文档" r:id="rId10" imgW="4510061" imgH="454974" progId="Word.Document.12">
                  <p:embed/>
                </p:oleObj>
              </mc:Choice>
              <mc:Fallback>
                <p:oleObj name="文档" r:id="rId10" imgW="4510061" imgH="454974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458424" y="4312648"/>
                        <a:ext cx="11275153" cy="113743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7522769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组合 8"/>
          <p:cNvGrpSpPr/>
          <p:nvPr/>
        </p:nvGrpSpPr>
        <p:grpSpPr>
          <a:xfrm>
            <a:off x="2" y="151371"/>
            <a:ext cx="11336478" cy="433754"/>
            <a:chOff x="381000" y="205656"/>
            <a:chExt cx="11336478" cy="433754"/>
          </a:xfrm>
        </p:grpSpPr>
        <p:sp>
          <p:nvSpPr>
            <p:cNvPr id="10" name="矩形 9"/>
            <p:cNvSpPr/>
            <p:nvPr/>
          </p:nvSpPr>
          <p:spPr>
            <a:xfrm>
              <a:off x="1999940" y="230648"/>
              <a:ext cx="192275" cy="401795"/>
            </a:xfrm>
            <a:prstGeom prst="rect">
              <a:avLst/>
            </a:prstGeom>
            <a:noFill/>
            <a:ln w="19050">
              <a:solidFill>
                <a:schemeClr val="accent4">
                  <a:lumMod val="75000"/>
                </a:schemeClr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/>
            </a:p>
          </p:txBody>
        </p:sp>
        <p:grpSp>
          <p:nvGrpSpPr>
            <p:cNvPr id="11" name="组合 10"/>
            <p:cNvGrpSpPr/>
            <p:nvPr/>
          </p:nvGrpSpPr>
          <p:grpSpPr>
            <a:xfrm>
              <a:off x="381000" y="205656"/>
              <a:ext cx="11336478" cy="433754"/>
              <a:chOff x="3048000" y="2286000"/>
              <a:chExt cx="4813646" cy="457200"/>
            </a:xfrm>
          </p:grpSpPr>
          <p:sp>
            <p:nvSpPr>
              <p:cNvPr id="12" name="矩形 11"/>
              <p:cNvSpPr/>
              <p:nvPr/>
            </p:nvSpPr>
            <p:spPr>
              <a:xfrm>
                <a:off x="3048000" y="2286000"/>
                <a:ext cx="769070" cy="457200"/>
              </a:xfrm>
              <a:prstGeom prst="rect">
                <a:avLst/>
              </a:prstGeom>
              <a:solidFill>
                <a:srgbClr val="74877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2800" b="1" dirty="0" smtClean="0">
                    <a:solidFill>
                      <a:schemeClr val="bg1"/>
                    </a:solidFill>
                  </a:rPr>
                  <a:t>探究二</a:t>
                </a:r>
              </a:p>
            </p:txBody>
          </p:sp>
          <p:sp>
            <p:nvSpPr>
              <p:cNvPr id="13" name="矩形 12"/>
              <p:cNvSpPr/>
              <p:nvPr/>
            </p:nvSpPr>
            <p:spPr>
              <a:xfrm>
                <a:off x="3909004" y="2286000"/>
                <a:ext cx="3952642" cy="457200"/>
              </a:xfrm>
              <a:prstGeom prst="rect">
                <a:avLst/>
              </a:prstGeom>
              <a:gradFill flip="none" rotWithShape="1">
                <a:gsLst>
                  <a:gs pos="0">
                    <a:srgbClr val="DCDCDC">
                      <a:shade val="30000"/>
                      <a:satMod val="115000"/>
                    </a:srgbClr>
                  </a:gs>
                  <a:gs pos="51000">
                    <a:srgbClr val="DCDCDC">
                      <a:shade val="67500"/>
                      <a:satMod val="115000"/>
                    </a:srgbClr>
                  </a:gs>
                  <a:gs pos="73000">
                    <a:srgbClr val="DCDCDC">
                      <a:shade val="100000"/>
                      <a:satMod val="115000"/>
                      <a:alpha val="0"/>
                    </a:srgb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zh-CN" altLang="en-US" sz="2800" b="1">
                    <a:solidFill>
                      <a:schemeClr val="bg1"/>
                    </a:solidFill>
                  </a:rPr>
                  <a:t>二项分布及其应用</a:t>
                </a:r>
                <a:endParaRPr lang="zh-CN" altLang="en-US" sz="2800" b="1" dirty="0">
                  <a:solidFill>
                    <a:schemeClr val="bg1"/>
                  </a:solidFill>
                </a:endParaRPr>
              </a:p>
            </p:txBody>
          </p:sp>
        </p:grpSp>
      </p:grpSp>
      <p:sp>
        <p:nvSpPr>
          <p:cNvPr id="2" name="矩形 1"/>
          <p:cNvSpPr>
            <a:spLocks noChangeAspect="1"/>
          </p:cNvSpPr>
          <p:nvPr/>
        </p:nvSpPr>
        <p:spPr>
          <a:xfrm>
            <a:off x="381000" y="1403272"/>
            <a:ext cx="11430000" cy="1772793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【例</a:t>
            </a:r>
            <a:r>
              <a:rPr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zh-CN" sz="2800">
                <a:solidFill>
                  <a:srgbClr val="000000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】</a:t>
            </a:r>
            <a:r>
              <a:rPr lang="zh-CN" altLang="zh-CN" sz="2800">
                <a:solidFill>
                  <a:srgbClr val="000000"/>
                </a:solidFill>
                <a:effectLst/>
                <a:latin typeface="NEU-BZ-S92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一名学生骑自行车上学</a:t>
            </a:r>
            <a:r>
              <a:rPr lang="en-US" altLang="zh-CN" sz="280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en-US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从他家到学校的途中需要经过</a:t>
            </a:r>
            <a:r>
              <a:rPr lang="en-US" altLang="zh-CN" sz="280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个有红绿灯的路口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假设在各个路口遇到红灯的事件是相互独立的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并且概率</a:t>
            </a:r>
            <a:r>
              <a:rPr lang="zh-CN" altLang="zh-CN" sz="280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都是</a:t>
            </a:r>
            <a:r>
              <a:rPr lang="en-US" altLang="zh-CN" sz="280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设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为这名学生在途中遇到的红灯次数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求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的分布列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57340723"/>
              </p:ext>
            </p:extLst>
          </p:nvPr>
        </p:nvGraphicFramePr>
        <p:xfrm>
          <a:off x="752464" y="2573325"/>
          <a:ext cx="450126" cy="6027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65" name="文档" r:id="rId4" imgW="233550" imgH="309203" progId="Word.Document.12">
                  <p:embed/>
                </p:oleObj>
              </mc:Choice>
              <mc:Fallback>
                <p:oleObj name="文档" r:id="rId4" imgW="233550" imgH="309203" progId="Word.Document.12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2464" y="2573325"/>
                        <a:ext cx="450126" cy="60274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35715428"/>
              </p:ext>
            </p:extLst>
          </p:nvPr>
        </p:nvGraphicFramePr>
        <p:xfrm>
          <a:off x="458424" y="329373"/>
          <a:ext cx="11275153" cy="353539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12" name="文档" r:id="rId4" imgW="4510061" imgH="1414157" progId="Word.Document.12">
                  <p:embed/>
                </p:oleObj>
              </mc:Choice>
              <mc:Fallback>
                <p:oleObj name="文档" r:id="rId4" imgW="4510061" imgH="1414157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58424" y="329373"/>
                        <a:ext cx="11275153" cy="353539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10090088"/>
              </p:ext>
            </p:extLst>
          </p:nvPr>
        </p:nvGraphicFramePr>
        <p:xfrm>
          <a:off x="426561" y="3826144"/>
          <a:ext cx="11338878" cy="2641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13" name="文档" r:id="rId7" imgW="4535551" imgH="1056575" progId="Word.Document.12">
                  <p:embed/>
                </p:oleObj>
              </mc:Choice>
              <mc:Fallback>
                <p:oleObj name="文档" r:id="rId7" imgW="4535551" imgH="1056575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26561" y="3826144"/>
                        <a:ext cx="11338878" cy="26414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1611119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77859277"/>
              </p:ext>
            </p:extLst>
          </p:nvPr>
        </p:nvGraphicFramePr>
        <p:xfrm>
          <a:off x="458424" y="545177"/>
          <a:ext cx="11275153" cy="49414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13" name="文档" r:id="rId4" imgW="4510061" imgH="197659" progId="Word.Document.12">
                  <p:embed/>
                </p:oleObj>
              </mc:Choice>
              <mc:Fallback>
                <p:oleObj name="文档" r:id="rId4" imgW="4510061" imgH="197659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58424" y="545177"/>
                        <a:ext cx="11275153" cy="49414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矩形 2"/>
          <p:cNvSpPr>
            <a:spLocks noChangeAspect="1"/>
          </p:cNvSpPr>
          <p:nvPr/>
        </p:nvSpPr>
        <p:spPr>
          <a:xfrm>
            <a:off x="381000" y="1039325"/>
            <a:ext cx="11430000" cy="5073440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一般地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确定一个二项分布模型的步骤如下</a:t>
            </a:r>
            <a:endParaRPr lang="zh-CN" altLang="zh-CN" sz="280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明确伯努利试验及事件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的意义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确定事件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发生的概率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p.</a:t>
            </a:r>
            <a:endParaRPr lang="zh-CN" altLang="zh-CN" sz="280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(2)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确定重复试验的次数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并判断各次试验的独立性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(3)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设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为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次独立重复试验中事件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发生的次数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则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X~B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二项分布实际应用问题的解题思路</a:t>
            </a:r>
            <a:endParaRPr lang="zh-CN" altLang="zh-CN" sz="280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根据题意设出随机变量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(2)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分析出随机变量服从二项分布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(3)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找到参数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试验的次数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和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事件发生的概率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(4)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写出二项分布的分布列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592943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2647279"/>
            <a:ext cx="11430000" cy="1772793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【变式训练</a:t>
            </a:r>
            <a:r>
              <a:rPr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zh-CN" sz="2800">
                <a:solidFill>
                  <a:srgbClr val="000000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】</a:t>
            </a:r>
            <a:r>
              <a:rPr lang="zh-CN" altLang="zh-CN" sz="2800">
                <a:solidFill>
                  <a:srgbClr val="000000"/>
                </a:solidFill>
                <a:effectLst/>
                <a:latin typeface="NEU-BZ-S92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某中学学生心理咨询中心的服务电话接通率</a:t>
            </a:r>
            <a:r>
              <a:rPr lang="zh-CN" altLang="zh-CN" sz="280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为</a:t>
            </a:r>
            <a:r>
              <a:rPr lang="en-US" altLang="zh-CN" sz="280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某班</a:t>
            </a:r>
            <a:r>
              <a:rPr lang="en-US" altLang="zh-CN" sz="280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zh-CN" altLang="en-US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名同学商定某天分别就同一问题询问该服务中心</a:t>
            </a:r>
            <a:r>
              <a:rPr lang="en-US" altLang="zh-CN" sz="280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且每人只拨打一次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求他们中成功咨询的人数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的分布列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86552193"/>
              </p:ext>
            </p:extLst>
          </p:nvPr>
        </p:nvGraphicFramePr>
        <p:xfrm>
          <a:off x="9963262" y="2647279"/>
          <a:ext cx="447512" cy="57133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37" name="文档" r:id="rId4" imgW="254097" imgH="313339" progId="Word.Document.12">
                  <p:embed/>
                </p:oleObj>
              </mc:Choice>
              <mc:Fallback>
                <p:oleObj name="文档" r:id="rId4" imgW="254097" imgH="313339" progId="Word.Document.12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963262" y="2647279"/>
                        <a:ext cx="447512" cy="571333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2029159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1443920"/>
              </p:ext>
            </p:extLst>
          </p:nvPr>
        </p:nvGraphicFramePr>
        <p:xfrm>
          <a:off x="458424" y="411566"/>
          <a:ext cx="11275153" cy="353539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84" name="文档" r:id="rId4" imgW="4510061" imgH="1414157" progId="Word.Document.12">
                  <p:embed/>
                </p:oleObj>
              </mc:Choice>
              <mc:Fallback>
                <p:oleObj name="文档" r:id="rId4" imgW="4510061" imgH="1414157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58424" y="411566"/>
                        <a:ext cx="11275153" cy="353539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66572008"/>
              </p:ext>
            </p:extLst>
          </p:nvPr>
        </p:nvGraphicFramePr>
        <p:xfrm>
          <a:off x="426561" y="3946959"/>
          <a:ext cx="11338878" cy="2641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85" name="文档" r:id="rId7" imgW="4535551" imgH="1056575" progId="Word.Document.12">
                  <p:embed/>
                </p:oleObj>
              </mc:Choice>
              <mc:Fallback>
                <p:oleObj name="文档" r:id="rId7" imgW="4535551" imgH="1056575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26561" y="3946959"/>
                        <a:ext cx="11338878" cy="26414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015480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组合 8"/>
          <p:cNvGrpSpPr/>
          <p:nvPr/>
        </p:nvGrpSpPr>
        <p:grpSpPr>
          <a:xfrm>
            <a:off x="2" y="151371"/>
            <a:ext cx="11336478" cy="433754"/>
            <a:chOff x="381000" y="205656"/>
            <a:chExt cx="11336478" cy="433754"/>
          </a:xfrm>
        </p:grpSpPr>
        <p:sp>
          <p:nvSpPr>
            <p:cNvPr id="10" name="矩形 9"/>
            <p:cNvSpPr/>
            <p:nvPr/>
          </p:nvSpPr>
          <p:spPr>
            <a:xfrm>
              <a:off x="1999940" y="230648"/>
              <a:ext cx="192275" cy="401795"/>
            </a:xfrm>
            <a:prstGeom prst="rect">
              <a:avLst/>
            </a:prstGeom>
            <a:noFill/>
            <a:ln w="19050">
              <a:solidFill>
                <a:schemeClr val="accent4">
                  <a:lumMod val="75000"/>
                </a:schemeClr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/>
            </a:p>
          </p:txBody>
        </p:sp>
        <p:grpSp>
          <p:nvGrpSpPr>
            <p:cNvPr id="11" name="组合 10"/>
            <p:cNvGrpSpPr/>
            <p:nvPr/>
          </p:nvGrpSpPr>
          <p:grpSpPr>
            <a:xfrm>
              <a:off x="381000" y="205656"/>
              <a:ext cx="11336478" cy="433754"/>
              <a:chOff x="3048000" y="2286000"/>
              <a:chExt cx="4813646" cy="457200"/>
            </a:xfrm>
          </p:grpSpPr>
          <p:sp>
            <p:nvSpPr>
              <p:cNvPr id="12" name="矩形 11"/>
              <p:cNvSpPr/>
              <p:nvPr/>
            </p:nvSpPr>
            <p:spPr>
              <a:xfrm>
                <a:off x="3048000" y="2286000"/>
                <a:ext cx="769070" cy="457200"/>
              </a:xfrm>
              <a:prstGeom prst="rect">
                <a:avLst/>
              </a:prstGeom>
              <a:solidFill>
                <a:srgbClr val="74877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2800" b="1" dirty="0" smtClean="0">
                    <a:solidFill>
                      <a:schemeClr val="bg1"/>
                    </a:solidFill>
                  </a:rPr>
                  <a:t>探究三</a:t>
                </a:r>
              </a:p>
            </p:txBody>
          </p:sp>
          <p:sp>
            <p:nvSpPr>
              <p:cNvPr id="13" name="矩形 12"/>
              <p:cNvSpPr/>
              <p:nvPr/>
            </p:nvSpPr>
            <p:spPr>
              <a:xfrm>
                <a:off x="3909004" y="2286000"/>
                <a:ext cx="3952642" cy="457200"/>
              </a:xfrm>
              <a:prstGeom prst="rect">
                <a:avLst/>
              </a:prstGeom>
              <a:gradFill flip="none" rotWithShape="1">
                <a:gsLst>
                  <a:gs pos="0">
                    <a:srgbClr val="DCDCDC">
                      <a:shade val="30000"/>
                      <a:satMod val="115000"/>
                    </a:srgbClr>
                  </a:gs>
                  <a:gs pos="51000">
                    <a:srgbClr val="DCDCDC">
                      <a:shade val="67500"/>
                      <a:satMod val="115000"/>
                    </a:srgbClr>
                  </a:gs>
                  <a:gs pos="73000">
                    <a:srgbClr val="DCDCDC">
                      <a:shade val="100000"/>
                      <a:satMod val="115000"/>
                      <a:alpha val="0"/>
                    </a:srgb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zh-CN" altLang="en-US" sz="2800" b="1">
                    <a:solidFill>
                      <a:schemeClr val="bg1"/>
                    </a:solidFill>
                  </a:rPr>
                  <a:t>二项分布的均值与方差 </a:t>
                </a:r>
                <a:endParaRPr lang="zh-CN" altLang="en-US" sz="2800" b="1" dirty="0">
                  <a:solidFill>
                    <a:schemeClr val="bg1"/>
                  </a:solidFill>
                </a:endParaRPr>
              </a:p>
            </p:txBody>
          </p:sp>
        </p:grpSp>
      </p:grpSp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86221377"/>
              </p:ext>
            </p:extLst>
          </p:nvPr>
        </p:nvGraphicFramePr>
        <p:xfrm>
          <a:off x="458424" y="1737171"/>
          <a:ext cx="11275153" cy="156227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85" name="文档" r:id="rId4" imgW="4510061" imgH="624911" progId="Word.Document.12">
                  <p:embed/>
                </p:oleObj>
              </mc:Choice>
              <mc:Fallback>
                <p:oleObj name="文档" r:id="rId4" imgW="4510061" imgH="624911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58424" y="1737171"/>
                        <a:ext cx="11275153" cy="156227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矩形 6"/>
          <p:cNvSpPr>
            <a:spLocks noChangeAspect="1"/>
          </p:cNvSpPr>
          <p:nvPr/>
        </p:nvSpPr>
        <p:spPr>
          <a:xfrm>
            <a:off x="381000" y="3299449"/>
            <a:ext cx="11430000" cy="1712520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A.10	B.30	C.15	D.5</a:t>
            </a:r>
            <a:endParaRPr lang="zh-CN" altLang="zh-CN" sz="280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(2)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已知随机变量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服从二项分布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若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30,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则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p=</a:t>
            </a:r>
            <a:r>
              <a:rPr lang="zh-CN" altLang="zh-CN" sz="2800" i="1" u="sng">
                <a:solidFill>
                  <a:srgbClr val="FF0000"/>
                </a:solidFill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　　　　　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 </a:t>
            </a:r>
            <a:endParaRPr lang="zh-CN" altLang="zh-CN" sz="280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05441232"/>
              </p:ext>
            </p:extLst>
          </p:nvPr>
        </p:nvGraphicFramePr>
        <p:xfrm>
          <a:off x="458424" y="3934707"/>
          <a:ext cx="11275153" cy="98919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32" name="文档" r:id="rId4" imgW="4510061" imgH="395677" progId="Word.Document.12">
                  <p:embed/>
                </p:oleObj>
              </mc:Choice>
              <mc:Fallback>
                <p:oleObj name="文档" r:id="rId4" imgW="4510061" imgH="395677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58424" y="3934707"/>
                        <a:ext cx="11275153" cy="98919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76281771"/>
              </p:ext>
            </p:extLst>
          </p:nvPr>
        </p:nvGraphicFramePr>
        <p:xfrm>
          <a:off x="458424" y="1381364"/>
          <a:ext cx="11275153" cy="255334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33" name="文档" r:id="rId7" imgW="4510061" imgH="1021337" progId="Word.Document.12">
                  <p:embed/>
                </p:oleObj>
              </mc:Choice>
              <mc:Fallback>
                <p:oleObj name="文档" r:id="rId7" imgW="4510061" imgH="1021337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58424" y="1381364"/>
                        <a:ext cx="11275153" cy="255334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5824488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延伸探究H.eps" descr="id:2147515106;FounderCES"/>
          <p:cNvPicPr/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966271" y="792155"/>
            <a:ext cx="2259458" cy="412065"/>
          </a:xfrm>
          <a:prstGeom prst="rect">
            <a:avLst/>
          </a:prstGeom>
        </p:spPr>
      </p:pic>
      <p:sp>
        <p:nvSpPr>
          <p:cNvPr id="6" name="矩形 5"/>
          <p:cNvSpPr>
            <a:spLocks noChangeAspect="1"/>
          </p:cNvSpPr>
          <p:nvPr/>
        </p:nvSpPr>
        <p:spPr>
          <a:xfrm>
            <a:off x="381000" y="1358831"/>
            <a:ext cx="7404591" cy="6524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本例题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条件不变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则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(3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Y+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2)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zh-CN" altLang="zh-CN" sz="2800" i="1" u="sng">
                <a:solidFill>
                  <a:srgbClr val="FF0000"/>
                </a:solidFill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　　　　　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 </a:t>
            </a:r>
            <a:r>
              <a:rPr lang="en-US" altLang="zh-CN" sz="2800" i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zh-CN" altLang="zh-CN" sz="280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54797886"/>
              </p:ext>
            </p:extLst>
          </p:nvPr>
        </p:nvGraphicFramePr>
        <p:xfrm>
          <a:off x="458424" y="2165928"/>
          <a:ext cx="11275153" cy="255334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33" name="文档" r:id="rId5" imgW="4510061" imgH="1021337" progId="Word.Document.12">
                  <p:embed/>
                </p:oleObj>
              </mc:Choice>
              <mc:Fallback>
                <p:oleObj name="文档" r:id="rId5" imgW="4510061" imgH="1021337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58424" y="2165928"/>
                        <a:ext cx="11275153" cy="255334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矩形 7"/>
          <p:cNvSpPr>
            <a:spLocks noChangeAspect="1"/>
          </p:cNvSpPr>
          <p:nvPr/>
        </p:nvSpPr>
        <p:spPr>
          <a:xfrm>
            <a:off x="381000" y="4730590"/>
            <a:ext cx="1271502" cy="6524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答案</a:t>
            </a:r>
            <a:r>
              <a:rPr lang="en-US" altLang="zh-CN" sz="280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en-US" altLang="zh-CN" sz="280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 </a:t>
            </a:r>
            <a:endParaRPr lang="zh-CN" altLang="zh-CN" sz="280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879975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739231"/>
            <a:ext cx="11430000" cy="1712520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本例题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(2)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改为随机变量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服从二项分布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且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(3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X+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2)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2,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(3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X+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2)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12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96,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则二项分布的参数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的值分别为</a:t>
            </a:r>
            <a:r>
              <a:rPr lang="zh-CN" altLang="zh-CN" sz="2800" i="1" u="sng">
                <a:solidFill>
                  <a:srgbClr val="FF0000"/>
                </a:solidFill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　　　　　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800" i="1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 </a:t>
            </a:r>
            <a:endParaRPr lang="zh-CN" altLang="zh-CN" sz="280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54006963"/>
              </p:ext>
            </p:extLst>
          </p:nvPr>
        </p:nvGraphicFramePr>
        <p:xfrm>
          <a:off x="458424" y="2451751"/>
          <a:ext cx="11275153" cy="254620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57" name="文档" r:id="rId4" imgW="4510061" imgH="1018481" progId="Word.Document.12">
                  <p:embed/>
                </p:oleObj>
              </mc:Choice>
              <mc:Fallback>
                <p:oleObj name="文档" r:id="rId4" imgW="4510061" imgH="1018481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58424" y="2451751"/>
                        <a:ext cx="11275153" cy="254620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矩形 3"/>
          <p:cNvSpPr>
            <a:spLocks noChangeAspect="1"/>
          </p:cNvSpPr>
          <p:nvPr/>
        </p:nvSpPr>
        <p:spPr>
          <a:xfrm>
            <a:off x="381000" y="4997954"/>
            <a:ext cx="1810111" cy="6524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答案</a:t>
            </a:r>
            <a:r>
              <a:rPr lang="en-US" altLang="zh-CN" sz="280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en-US" altLang="zh-CN" sz="280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6,0</a:t>
            </a:r>
            <a:r>
              <a:rPr lang="en-US" altLang="zh-CN" sz="2800" i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80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 </a:t>
            </a:r>
            <a:endParaRPr lang="zh-CN" altLang="zh-CN" sz="280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280695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67032044"/>
              </p:ext>
            </p:extLst>
          </p:nvPr>
        </p:nvGraphicFramePr>
        <p:xfrm>
          <a:off x="458424" y="2363704"/>
          <a:ext cx="11275153" cy="49414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81" name="文档" r:id="rId4" imgW="4510061" imgH="197659" progId="Word.Document.12">
                  <p:embed/>
                </p:oleObj>
              </mc:Choice>
              <mc:Fallback>
                <p:oleObj name="文档" r:id="rId4" imgW="4510061" imgH="197659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58424" y="2363704"/>
                        <a:ext cx="11275153" cy="49414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矩形 2"/>
          <p:cNvSpPr>
            <a:spLocks noChangeAspect="1"/>
          </p:cNvSpPr>
          <p:nvPr/>
        </p:nvSpPr>
        <p:spPr>
          <a:xfrm>
            <a:off x="381000" y="3043317"/>
            <a:ext cx="11430000" cy="1152367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对于二项分布的均值与方差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关键是通过题设确定随机变量服从二项分布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然后直接运用公式计算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570342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1483896"/>
            <a:ext cx="11430000" cy="2832827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【变式训练</a:t>
            </a:r>
            <a:r>
              <a:rPr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zh-CN" altLang="zh-CN" sz="280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】</a:t>
            </a:r>
            <a:r>
              <a:rPr lang="zh-CN" altLang="zh-CN" sz="2800">
                <a:solidFill>
                  <a:srgbClr val="000000"/>
                </a:solidFill>
                <a:latin typeface="NEU-BZ-S92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一批产品的二等品率为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02,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从这批产品中每次随机抽取一件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有放回地抽取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100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次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表示抽到的二等品件数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则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zh-CN" altLang="zh-CN" sz="2800" i="1" u="sng">
                <a:solidFill>
                  <a:srgbClr val="FF0000"/>
                </a:solidFill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　　　　　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800" i="1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 </a:t>
            </a:r>
            <a:endParaRPr lang="zh-CN" altLang="zh-CN" sz="280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解析</a:t>
            </a:r>
            <a:r>
              <a:rPr lang="en-US" altLang="zh-CN" sz="280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因为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X~B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(100,0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02),</a:t>
            </a:r>
            <a:endParaRPr lang="zh-CN" altLang="zh-CN" sz="280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所以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=np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-p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100×0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02×0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98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96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答案</a:t>
            </a:r>
            <a:r>
              <a:rPr lang="en-US" altLang="zh-CN" sz="280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96</a:t>
            </a:r>
            <a:endParaRPr lang="zh-CN" altLang="zh-CN" sz="280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169765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2" y="151371"/>
            <a:ext cx="11336478" cy="433754"/>
            <a:chOff x="381000" y="205656"/>
            <a:chExt cx="11336478" cy="433754"/>
          </a:xfrm>
        </p:grpSpPr>
        <p:sp>
          <p:nvSpPr>
            <p:cNvPr id="3" name="矩形 2"/>
            <p:cNvSpPr/>
            <p:nvPr/>
          </p:nvSpPr>
          <p:spPr>
            <a:xfrm>
              <a:off x="1999940" y="230648"/>
              <a:ext cx="192275" cy="401795"/>
            </a:xfrm>
            <a:prstGeom prst="rect">
              <a:avLst/>
            </a:prstGeom>
            <a:noFill/>
            <a:ln w="19050">
              <a:solidFill>
                <a:schemeClr val="accent4">
                  <a:lumMod val="75000"/>
                </a:schemeClr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/>
            </a:p>
          </p:txBody>
        </p:sp>
        <p:grpSp>
          <p:nvGrpSpPr>
            <p:cNvPr id="4" name="组合 3"/>
            <p:cNvGrpSpPr/>
            <p:nvPr/>
          </p:nvGrpSpPr>
          <p:grpSpPr>
            <a:xfrm>
              <a:off x="381000" y="205656"/>
              <a:ext cx="11336478" cy="433754"/>
              <a:chOff x="3048000" y="2286000"/>
              <a:chExt cx="4813646" cy="457200"/>
            </a:xfrm>
          </p:grpSpPr>
          <p:sp>
            <p:nvSpPr>
              <p:cNvPr id="5" name="矩形 4"/>
              <p:cNvSpPr/>
              <p:nvPr/>
            </p:nvSpPr>
            <p:spPr>
              <a:xfrm>
                <a:off x="3048000" y="2286000"/>
                <a:ext cx="769070" cy="457200"/>
              </a:xfrm>
              <a:prstGeom prst="rect">
                <a:avLst/>
              </a:prstGeom>
              <a:solidFill>
                <a:srgbClr val="74877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2800" b="1" dirty="0" smtClean="0">
                    <a:solidFill>
                      <a:schemeClr val="bg1"/>
                    </a:solidFill>
                  </a:rPr>
                  <a:t>探究四</a:t>
                </a:r>
              </a:p>
            </p:txBody>
          </p:sp>
          <p:sp>
            <p:nvSpPr>
              <p:cNvPr id="6" name="矩形 5"/>
              <p:cNvSpPr/>
              <p:nvPr/>
            </p:nvSpPr>
            <p:spPr>
              <a:xfrm>
                <a:off x="3909004" y="2286000"/>
                <a:ext cx="3952642" cy="457200"/>
              </a:xfrm>
              <a:prstGeom prst="rect">
                <a:avLst/>
              </a:prstGeom>
              <a:gradFill flip="none" rotWithShape="1">
                <a:gsLst>
                  <a:gs pos="0">
                    <a:srgbClr val="DCDCDC">
                      <a:shade val="30000"/>
                      <a:satMod val="115000"/>
                    </a:srgbClr>
                  </a:gs>
                  <a:gs pos="51000">
                    <a:srgbClr val="DCDCDC">
                      <a:shade val="67500"/>
                      <a:satMod val="115000"/>
                    </a:srgbClr>
                  </a:gs>
                  <a:gs pos="73000">
                    <a:srgbClr val="DCDCDC">
                      <a:shade val="100000"/>
                      <a:satMod val="115000"/>
                      <a:alpha val="0"/>
                    </a:srgb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altLang="zh-CN" sz="2800" b="1" i="1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</a:t>
                </a:r>
                <a:r>
                  <a:rPr lang="zh-CN" altLang="en-US" sz="2800" b="1">
                    <a:solidFill>
                      <a:schemeClr val="bg1"/>
                    </a:solidFill>
                  </a:rPr>
                  <a:t>重伯努利试验与二项分布综合应用</a:t>
                </a:r>
                <a:endParaRPr lang="zh-CN" altLang="en-US" sz="2800" b="1" dirty="0">
                  <a:solidFill>
                    <a:schemeClr val="bg1"/>
                  </a:solidFill>
                </a:endParaRPr>
              </a:p>
            </p:txBody>
          </p:sp>
        </p:grpSp>
      </p:grpSp>
      <p:sp>
        <p:nvSpPr>
          <p:cNvPr id="7" name="矩形 6"/>
          <p:cNvSpPr>
            <a:spLocks noChangeAspect="1"/>
          </p:cNvSpPr>
          <p:nvPr/>
        </p:nvSpPr>
        <p:spPr>
          <a:xfrm>
            <a:off x="381000" y="579295"/>
            <a:ext cx="11430000" cy="6040180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50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【例</a:t>
            </a:r>
            <a:r>
              <a:rPr lang="en-US" altLang="zh-CN" sz="2500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zh-CN" altLang="zh-CN" sz="250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】</a:t>
            </a:r>
            <a:r>
              <a:rPr lang="zh-CN" altLang="zh-CN" sz="2500">
                <a:solidFill>
                  <a:srgbClr val="000000"/>
                </a:solidFill>
                <a:latin typeface="NEU-BZ-S92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zh-CN" altLang="zh-CN" sz="25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某工厂生产的某种产品成箱包装</a:t>
            </a:r>
            <a:r>
              <a:rPr lang="en-US" altLang="zh-CN" sz="25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5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每箱</a:t>
            </a:r>
            <a:r>
              <a:rPr lang="en-US" altLang="zh-CN" sz="25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200</a:t>
            </a:r>
            <a:r>
              <a:rPr lang="zh-CN" altLang="zh-CN" sz="25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件</a:t>
            </a:r>
            <a:r>
              <a:rPr lang="en-US" altLang="zh-CN" sz="25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5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每一箱产品在交付用户之前都要对产品做检验</a:t>
            </a:r>
            <a:r>
              <a:rPr lang="en-US" altLang="zh-CN" sz="25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5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若检验出不合格品</a:t>
            </a:r>
            <a:r>
              <a:rPr lang="en-US" altLang="zh-CN" sz="25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5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则更换为合格品</a:t>
            </a:r>
            <a:r>
              <a:rPr lang="en-US" altLang="zh-CN" sz="25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5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检验时</a:t>
            </a:r>
            <a:r>
              <a:rPr lang="en-US" altLang="zh-CN" sz="25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5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先从一箱产品中任取</a:t>
            </a:r>
            <a:r>
              <a:rPr lang="en-US" altLang="zh-CN" sz="25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</a:t>
            </a:r>
            <a:r>
              <a:rPr lang="zh-CN" altLang="zh-CN" sz="25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件做检验</a:t>
            </a:r>
            <a:r>
              <a:rPr lang="en-US" altLang="zh-CN" sz="25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5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再根据此次检验结果决定是否对余下的所有产品做检验</a:t>
            </a:r>
            <a:r>
              <a:rPr lang="en-US" altLang="zh-CN" sz="25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5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设每件产品为不合格品的概率都为</a:t>
            </a:r>
            <a:r>
              <a:rPr lang="en-US" altLang="zh-CN" sz="25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25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(0</a:t>
            </a:r>
            <a:r>
              <a:rPr lang="en-US" altLang="zh-CN" sz="25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&lt;p&lt;</a:t>
            </a:r>
            <a:r>
              <a:rPr lang="en-US" altLang="zh-CN" sz="25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1),</a:t>
            </a:r>
            <a:r>
              <a:rPr lang="zh-CN" altLang="zh-CN" sz="25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且各件产品是否为不合格品相互独立</a:t>
            </a:r>
            <a:r>
              <a:rPr lang="en-US" altLang="zh-CN" sz="25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50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5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  <a:r>
              <a:rPr lang="zh-CN" altLang="zh-CN" sz="25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记</a:t>
            </a:r>
            <a:r>
              <a:rPr lang="en-US" altLang="zh-CN" sz="25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</a:t>
            </a:r>
            <a:r>
              <a:rPr lang="zh-CN" altLang="zh-CN" sz="25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件产品中恰有</a:t>
            </a:r>
            <a:r>
              <a:rPr lang="en-US" altLang="zh-CN" sz="25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zh-CN" sz="25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件不合格品的概率为</a:t>
            </a:r>
            <a:r>
              <a:rPr lang="en-US" altLang="zh-CN" sz="25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5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5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25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),</a:t>
            </a:r>
            <a:r>
              <a:rPr lang="zh-CN" altLang="zh-CN" sz="25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求</a:t>
            </a:r>
            <a:r>
              <a:rPr lang="en-US" altLang="zh-CN" sz="25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5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5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25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5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的最大值点</a:t>
            </a:r>
            <a:r>
              <a:rPr lang="en-US" altLang="zh-CN" sz="25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2500" baseline="-25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zh-CN" sz="25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50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5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(2)</a:t>
            </a:r>
            <a:r>
              <a:rPr lang="zh-CN" altLang="zh-CN" sz="25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现对一箱产品检验了</a:t>
            </a:r>
            <a:r>
              <a:rPr lang="en-US" altLang="zh-CN" sz="25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</a:t>
            </a:r>
            <a:r>
              <a:rPr lang="zh-CN" altLang="zh-CN" sz="25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件</a:t>
            </a:r>
            <a:r>
              <a:rPr lang="en-US" altLang="zh-CN" sz="25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5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结果恰有</a:t>
            </a:r>
            <a:r>
              <a:rPr lang="en-US" altLang="zh-CN" sz="25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zh-CN" sz="25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件不合格品</a:t>
            </a:r>
            <a:r>
              <a:rPr lang="en-US" altLang="zh-CN" sz="25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5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以</a:t>
            </a:r>
            <a:r>
              <a:rPr lang="en-US" altLang="zh-CN" sz="25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  <a:r>
              <a:rPr lang="zh-CN" altLang="zh-CN" sz="25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中确定的</a:t>
            </a:r>
            <a:r>
              <a:rPr lang="en-US" altLang="zh-CN" sz="25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2500" baseline="-25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zh-CN" altLang="zh-CN" sz="25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作为</a:t>
            </a:r>
            <a:r>
              <a:rPr lang="en-US" altLang="zh-CN" sz="25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zh-CN" altLang="zh-CN" sz="25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的值</a:t>
            </a:r>
            <a:r>
              <a:rPr lang="en-US" altLang="zh-CN" sz="25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5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已知每件产品的检验费用为</a:t>
            </a:r>
            <a:r>
              <a:rPr lang="en-US" altLang="zh-CN" sz="25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zh-CN" sz="25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元</a:t>
            </a:r>
            <a:r>
              <a:rPr lang="en-US" altLang="zh-CN" sz="25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5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若有不合格品进入用户手中</a:t>
            </a:r>
            <a:r>
              <a:rPr lang="en-US" altLang="zh-CN" sz="25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5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则工厂要对每件不合格品支付</a:t>
            </a:r>
            <a:r>
              <a:rPr lang="en-US" altLang="zh-CN" sz="25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25</a:t>
            </a:r>
            <a:r>
              <a:rPr lang="zh-CN" altLang="zh-CN" sz="25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元的赔偿费用</a:t>
            </a:r>
            <a:r>
              <a:rPr lang="en-US" altLang="zh-CN" sz="25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50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50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①</a:t>
            </a:r>
            <a:r>
              <a:rPr lang="zh-CN" altLang="zh-CN" sz="25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若不对该箱余下的产品做检验</a:t>
            </a:r>
            <a:r>
              <a:rPr lang="en-US" altLang="zh-CN" sz="25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5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这一箱产品的检验费用与赔偿费用的和记为</a:t>
            </a:r>
            <a:r>
              <a:rPr lang="en-US" altLang="zh-CN" sz="25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5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5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求</a:t>
            </a:r>
            <a:r>
              <a:rPr lang="en-US" altLang="zh-CN" sz="25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zh-CN" sz="25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5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5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  <a:endParaRPr lang="zh-CN" altLang="zh-CN" sz="250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50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②</a:t>
            </a:r>
            <a:r>
              <a:rPr lang="zh-CN" altLang="zh-CN" sz="25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以检验费用与赔偿费用和的均值为决策依据</a:t>
            </a:r>
            <a:r>
              <a:rPr lang="en-US" altLang="zh-CN" sz="25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5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是否该对这箱余下的所有产品做检验</a:t>
            </a:r>
            <a:r>
              <a:rPr lang="en-US" altLang="zh-CN" sz="25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endParaRPr lang="zh-CN" altLang="zh-CN" sz="250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78284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矩形 1"/>
              <p:cNvSpPr>
                <a:spLocks noChangeAspect="1"/>
              </p:cNvSpPr>
              <p:nvPr/>
            </p:nvSpPr>
            <p:spPr>
              <a:xfrm>
                <a:off x="381000" y="742812"/>
                <a:ext cx="11430000" cy="3986219"/>
              </a:xfrm>
              <a:prstGeom prst="rect">
                <a:avLst/>
              </a:prstGeom>
            </p:spPr>
            <p:txBody>
              <a:bodyPr>
                <a:spAutoFit/>
              </a:bodyPr>
              <a:lstStyle/>
              <a:p>
                <a:pPr>
                  <a:lnSpc>
                    <a:spcPct val="130000"/>
                  </a:lnSpc>
                  <a:spcAft>
                    <a:spcPts val="0"/>
                  </a:spcAft>
                  <a:tabLst>
                    <a:tab pos="1188085" algn="l"/>
                    <a:tab pos="2163445" algn="l"/>
                    <a:tab pos="3142615" algn="l"/>
                    <a:tab pos="4190365" algn="l"/>
                  </a:tabLst>
                </a:pPr>
                <a:r>
                  <a:rPr lang="zh-CN" altLang="zh-CN" sz="2800">
                    <a:solidFill>
                      <a:srgbClr val="FF0000"/>
                    </a:solidFill>
                    <a:latin typeface="Arial" panose="020B0604020202020204" pitchFamily="34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解</a:t>
                </a:r>
                <a:r>
                  <a:rPr lang="en-US" altLang="zh-CN" sz="2800">
                    <a:solidFill>
                      <a:srgbClr val="FF0000"/>
                    </a:solidFill>
                    <a:effectLst/>
                    <a:latin typeface="Arial" panose="020B0604020202020204" pitchFamily="34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:</a:t>
                </a:r>
                <a:r>
                  <a:rPr lang="en-US" altLang="zh-CN" sz="280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(1)20</a:t>
                </a:r>
                <a:r>
                  <a:rPr lang="zh-CN" altLang="zh-CN" sz="280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件产品中恰有</a:t>
                </a:r>
                <a:r>
                  <a:rPr lang="en-US" altLang="zh-CN" sz="280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zh-CN" altLang="zh-CN" sz="280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件不合格品的概率为</a:t>
                </a:r>
                <a:r>
                  <a:rPr lang="en-US" altLang="zh-CN" sz="2800" i="1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</a:t>
                </a:r>
                <a:r>
                  <a:rPr lang="en-US" altLang="zh-CN" sz="280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:r>
                  <a:rPr lang="en-US" altLang="zh-CN" sz="2800" i="1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</a:t>
                </a:r>
                <a:r>
                  <a:rPr lang="en-US" altLang="zh-CN" sz="280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  <a:r>
                  <a:rPr lang="en-US" altLang="zh-CN" sz="2800" i="1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zh-CN" altLang="zh-CN" sz="28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US" altLang="zh-CN" sz="28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C</m:t>
                        </m:r>
                      </m:e>
                      <m:sub>
                        <m:r>
                          <a:rPr lang="en-US" altLang="zh-CN" sz="28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20</m:t>
                        </m:r>
                      </m:sub>
                      <m:sup>
                        <m:r>
                          <a:rPr lang="en-US" altLang="zh-CN" sz="28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rPr lang="en-US" altLang="zh-CN" sz="2800" i="1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</a:t>
                </a:r>
                <a:r>
                  <a:rPr lang="en-US" altLang="zh-CN" sz="2800" baseline="3000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en-US" altLang="zh-CN" sz="280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(1</a:t>
                </a:r>
                <a:r>
                  <a:rPr lang="en-US" altLang="zh-CN" sz="2800" i="1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-p</a:t>
                </a:r>
                <a:r>
                  <a:rPr lang="en-US" altLang="zh-CN" sz="280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  <a:r>
                  <a:rPr lang="en-US" altLang="zh-CN" sz="2800" baseline="3000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18</a:t>
                </a:r>
                <a:r>
                  <a:rPr lang="en-US" altLang="zh-CN" sz="280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(0</a:t>
                </a:r>
                <a:r>
                  <a:rPr lang="en-US" altLang="zh-CN" sz="2800" i="1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&lt;p&lt;</a:t>
                </a:r>
                <a:r>
                  <a:rPr lang="en-US" altLang="zh-CN" sz="280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1)</a:t>
                </a:r>
                <a:r>
                  <a:rPr lang="en-US" altLang="zh-CN" sz="2800" i="1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  <a:endParaRPr lang="zh-CN" altLang="zh-CN" sz="2800">
                  <a:solidFill>
                    <a:srgbClr val="000000"/>
                  </a:solidFill>
                  <a:effectLst/>
                  <a:latin typeface="NEU-BZ-S92"/>
                  <a:ea typeface="方正书宋_GBK" panose="03000509000000000000" pitchFamily="65" charset="-122"/>
                  <a:cs typeface="Times New Roman" panose="02020603050405020304" pitchFamily="18" charset="0"/>
                </a:endParaRPr>
              </a:p>
              <a:p>
                <a:pPr>
                  <a:lnSpc>
                    <a:spcPct val="130000"/>
                  </a:lnSpc>
                  <a:spcAft>
                    <a:spcPts val="0"/>
                  </a:spcAft>
                  <a:tabLst>
                    <a:tab pos="1188085" algn="l"/>
                    <a:tab pos="2163445" algn="l"/>
                    <a:tab pos="3142615" algn="l"/>
                    <a:tab pos="4190365" algn="l"/>
                  </a:tabLst>
                </a:pPr>
                <a:r>
                  <a:rPr lang="zh-CN" altLang="zh-CN" sz="280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因此</a:t>
                </a:r>
                <a:r>
                  <a:rPr lang="en-US" altLang="zh-CN" sz="2800" i="1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f'</a:t>
                </a:r>
                <a:r>
                  <a:rPr lang="en-US" altLang="zh-CN" sz="280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:r>
                  <a:rPr lang="en-US" altLang="zh-CN" sz="2800" i="1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</a:t>
                </a:r>
                <a:r>
                  <a:rPr lang="en-US" altLang="zh-CN" sz="280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  <a:r>
                  <a:rPr lang="en-US" altLang="zh-CN" sz="2800" i="1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zh-CN" altLang="zh-CN" sz="28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US" altLang="zh-CN" sz="28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C</m:t>
                        </m:r>
                      </m:e>
                      <m:sub>
                        <m:r>
                          <a:rPr lang="en-US" altLang="zh-CN" sz="28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20</m:t>
                        </m:r>
                      </m:sub>
                      <m:sup>
                        <m:r>
                          <a:rPr lang="en-US" altLang="zh-CN" sz="28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rPr lang="en-US" altLang="zh-CN" sz="280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[2</a:t>
                </a:r>
                <a:r>
                  <a:rPr lang="en-US" altLang="zh-CN" sz="2800" i="1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</a:t>
                </a:r>
                <a:r>
                  <a:rPr lang="en-US" altLang="zh-CN" sz="280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(1</a:t>
                </a:r>
                <a:r>
                  <a:rPr lang="en-US" altLang="zh-CN" sz="2800" i="1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-p</a:t>
                </a:r>
                <a:r>
                  <a:rPr lang="en-US" altLang="zh-CN" sz="280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  <a:r>
                  <a:rPr lang="en-US" altLang="zh-CN" sz="2800" baseline="3000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18</a:t>
                </a:r>
                <a:r>
                  <a:rPr lang="en-US" altLang="zh-CN" sz="2800" i="1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-</a:t>
                </a:r>
                <a:r>
                  <a:rPr lang="en-US" altLang="zh-CN" sz="280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18</a:t>
                </a:r>
                <a:r>
                  <a:rPr lang="en-US" altLang="zh-CN" sz="2800" i="1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</a:t>
                </a:r>
                <a:r>
                  <a:rPr lang="en-US" altLang="zh-CN" sz="2800" baseline="3000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en-US" altLang="zh-CN" sz="280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(1</a:t>
                </a:r>
                <a:r>
                  <a:rPr lang="en-US" altLang="zh-CN" sz="2800" i="1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-p</a:t>
                </a:r>
                <a:r>
                  <a:rPr lang="en-US" altLang="zh-CN" sz="280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  <a:r>
                  <a:rPr lang="en-US" altLang="zh-CN" sz="2800" baseline="3000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17</a:t>
                </a:r>
                <a:r>
                  <a:rPr lang="en-US" altLang="zh-CN" sz="280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]</a:t>
                </a:r>
                <a:endParaRPr lang="zh-CN" altLang="zh-CN" sz="2800">
                  <a:solidFill>
                    <a:srgbClr val="000000"/>
                  </a:solidFill>
                  <a:effectLst/>
                  <a:latin typeface="NEU-BZ-S92"/>
                  <a:ea typeface="方正书宋_GBK" panose="03000509000000000000" pitchFamily="65" charset="-122"/>
                  <a:cs typeface="Times New Roman" panose="02020603050405020304" pitchFamily="18" charset="0"/>
                </a:endParaRPr>
              </a:p>
              <a:p>
                <a:pPr>
                  <a:lnSpc>
                    <a:spcPct val="130000"/>
                  </a:lnSpc>
                  <a:spcAft>
                    <a:spcPts val="0"/>
                  </a:spcAft>
                  <a:tabLst>
                    <a:tab pos="1188085" algn="l"/>
                    <a:tab pos="2163445" algn="l"/>
                    <a:tab pos="3142615" algn="l"/>
                    <a:tab pos="4190365" algn="l"/>
                  </a:tabLst>
                </a:pPr>
                <a:r>
                  <a:rPr lang="en-US" altLang="zh-CN" sz="2800" i="1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</a:t>
                </a:r>
                <a:r>
                  <a:rPr lang="en-US" altLang="zh-CN" sz="280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zh-CN" altLang="zh-CN" sz="28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US" altLang="zh-CN" sz="28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C</m:t>
                        </m:r>
                      </m:e>
                      <m:sub>
                        <m:r>
                          <a:rPr lang="en-US" altLang="zh-CN" sz="28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20</m:t>
                        </m:r>
                      </m:sub>
                      <m:sup>
                        <m:r>
                          <a:rPr lang="en-US" altLang="zh-CN" sz="28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rPr lang="en-US" altLang="zh-CN" sz="2800" i="1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</a:t>
                </a:r>
                <a:r>
                  <a:rPr lang="en-US" altLang="zh-CN" sz="280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(1</a:t>
                </a:r>
                <a:r>
                  <a:rPr lang="en-US" altLang="zh-CN" sz="2800" i="1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-p</a:t>
                </a:r>
                <a:r>
                  <a:rPr lang="en-US" altLang="zh-CN" sz="280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  <a:r>
                  <a:rPr lang="en-US" altLang="zh-CN" sz="2800" baseline="3000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17</a:t>
                </a:r>
                <a:r>
                  <a:rPr lang="en-US" altLang="zh-CN" sz="280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(1</a:t>
                </a:r>
                <a:r>
                  <a:rPr lang="en-US" altLang="zh-CN" sz="2800" i="1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-</a:t>
                </a:r>
                <a:r>
                  <a:rPr lang="en-US" altLang="zh-CN" sz="280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10</a:t>
                </a:r>
                <a:r>
                  <a:rPr lang="en-US" altLang="zh-CN" sz="2800" i="1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</a:t>
                </a:r>
                <a:r>
                  <a:rPr lang="en-US" altLang="zh-CN" sz="280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  <a:r>
                  <a:rPr lang="en-US" altLang="zh-CN" sz="2800" i="1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  <a:endParaRPr lang="zh-CN" altLang="zh-CN" sz="2800">
                  <a:solidFill>
                    <a:srgbClr val="000000"/>
                  </a:solidFill>
                  <a:effectLst/>
                  <a:latin typeface="NEU-BZ-S92"/>
                  <a:ea typeface="方正书宋_GBK" panose="03000509000000000000" pitchFamily="65" charset="-122"/>
                  <a:cs typeface="Times New Roman" panose="02020603050405020304" pitchFamily="18" charset="0"/>
                </a:endParaRPr>
              </a:p>
              <a:p>
                <a:pPr>
                  <a:lnSpc>
                    <a:spcPct val="130000"/>
                  </a:lnSpc>
                  <a:spcAft>
                    <a:spcPts val="0"/>
                  </a:spcAft>
                  <a:tabLst>
                    <a:tab pos="1188085" algn="l"/>
                    <a:tab pos="2163445" algn="l"/>
                    <a:tab pos="3142615" algn="l"/>
                    <a:tab pos="4190365" algn="l"/>
                  </a:tabLst>
                </a:pPr>
                <a:r>
                  <a:rPr lang="zh-CN" altLang="zh-CN" sz="280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令</a:t>
                </a:r>
                <a:r>
                  <a:rPr lang="en-US" altLang="zh-CN" sz="2800" i="1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f'</a:t>
                </a:r>
                <a:r>
                  <a:rPr lang="en-US" altLang="zh-CN" sz="280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:r>
                  <a:rPr lang="en-US" altLang="zh-CN" sz="2800" i="1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</a:t>
                </a:r>
                <a:r>
                  <a:rPr lang="en-US" altLang="zh-CN" sz="280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  <a:r>
                  <a:rPr lang="en-US" altLang="zh-CN" sz="2800" i="1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</a:t>
                </a:r>
                <a:r>
                  <a:rPr lang="en-US" altLang="zh-CN" sz="280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0,</a:t>
                </a:r>
                <a:r>
                  <a:rPr lang="zh-CN" altLang="zh-CN" sz="280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得</a:t>
                </a:r>
                <a:r>
                  <a:rPr lang="en-US" altLang="zh-CN" sz="2800" i="1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p=</a:t>
                </a:r>
                <a:r>
                  <a:rPr lang="en-US" altLang="zh-CN" sz="280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</a:t>
                </a:r>
                <a:r>
                  <a:rPr lang="en-US" altLang="zh-CN" sz="2800" i="1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  <a:r>
                  <a:rPr lang="en-US" altLang="zh-CN" sz="280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r>
                  <a:rPr lang="zh-CN" altLang="zh-CN" sz="280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或</a:t>
                </a:r>
                <a:r>
                  <a:rPr lang="en-US" altLang="zh-CN" sz="2800" i="1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p=</a:t>
                </a:r>
                <a:r>
                  <a:rPr lang="en-US" altLang="zh-CN" sz="280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1(</a:t>
                </a:r>
                <a:r>
                  <a:rPr lang="zh-CN" altLang="zh-CN" sz="280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舍</a:t>
                </a:r>
                <a:r>
                  <a:rPr lang="en-US" altLang="zh-CN" sz="280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  <a:r>
                  <a:rPr lang="zh-CN" altLang="zh-CN" sz="280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或</a:t>
                </a:r>
                <a:r>
                  <a:rPr lang="en-US" altLang="zh-CN" sz="2800" i="1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p=</a:t>
                </a:r>
                <a:r>
                  <a:rPr lang="en-US" altLang="zh-CN" sz="280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0(</a:t>
                </a:r>
                <a:r>
                  <a:rPr lang="zh-CN" altLang="zh-CN" sz="280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舍</a:t>
                </a:r>
                <a:r>
                  <a:rPr lang="en-US" altLang="zh-CN" sz="280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  <a:r>
                  <a:rPr lang="en-US" altLang="zh-CN" sz="2800" i="1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  <a:endParaRPr lang="zh-CN" altLang="zh-CN" sz="2800">
                  <a:solidFill>
                    <a:srgbClr val="000000"/>
                  </a:solidFill>
                  <a:effectLst/>
                  <a:latin typeface="NEU-BZ-S92"/>
                  <a:ea typeface="方正书宋_GBK" panose="03000509000000000000" pitchFamily="65" charset="-122"/>
                  <a:cs typeface="Times New Roman" panose="02020603050405020304" pitchFamily="18" charset="0"/>
                </a:endParaRPr>
              </a:p>
              <a:p>
                <a:pPr>
                  <a:lnSpc>
                    <a:spcPct val="130000"/>
                  </a:lnSpc>
                  <a:spcAft>
                    <a:spcPts val="0"/>
                  </a:spcAft>
                  <a:tabLst>
                    <a:tab pos="1188085" algn="l"/>
                    <a:tab pos="2163445" algn="l"/>
                    <a:tab pos="3142615" algn="l"/>
                    <a:tab pos="4190365" algn="l"/>
                  </a:tabLst>
                </a:pPr>
                <a:r>
                  <a:rPr lang="zh-CN" altLang="zh-CN" sz="280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当</a:t>
                </a:r>
                <a:r>
                  <a:rPr lang="en-US" altLang="zh-CN" sz="2800" i="1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</a:t>
                </a:r>
                <a:r>
                  <a:rPr lang="zh-CN" altLang="zh-CN" sz="2800">
                    <a:solidFill>
                      <a:srgbClr val="000000"/>
                    </a:solidFill>
                    <a:latin typeface="NEU-BZ-S92"/>
                    <a:cs typeface="宋体" panose="02010600030101010101" pitchFamily="2" charset="-122"/>
                  </a:rPr>
                  <a:t>∈</a:t>
                </a:r>
                <a:r>
                  <a:rPr lang="en-US" altLang="zh-CN" sz="280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(0,0</a:t>
                </a:r>
                <a:r>
                  <a:rPr lang="en-US" altLang="zh-CN" sz="2800" i="1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  <a:r>
                  <a:rPr lang="en-US" altLang="zh-CN" sz="280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1)</a:t>
                </a:r>
                <a:r>
                  <a:rPr lang="zh-CN" altLang="zh-CN" sz="280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时</a:t>
                </a:r>
                <a:r>
                  <a:rPr lang="en-US" altLang="zh-CN" sz="280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</a:t>
                </a:r>
                <a:r>
                  <a:rPr lang="en-US" altLang="zh-CN" sz="2800" i="1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f'</a:t>
                </a:r>
                <a:r>
                  <a:rPr lang="en-US" altLang="zh-CN" sz="280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:r>
                  <a:rPr lang="en-US" altLang="zh-CN" sz="2800" i="1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</a:t>
                </a:r>
                <a:r>
                  <a:rPr lang="en-US" altLang="zh-CN" sz="280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  <a:r>
                  <a:rPr lang="en-US" altLang="zh-CN" sz="2800" i="1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&gt;</a:t>
                </a:r>
                <a:r>
                  <a:rPr lang="en-US" altLang="zh-CN" sz="280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0,</a:t>
                </a:r>
                <a:r>
                  <a:rPr lang="en-US" altLang="zh-CN" sz="2800" i="1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</a:t>
                </a:r>
                <a:r>
                  <a:rPr lang="en-US" altLang="zh-CN" sz="280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:r>
                  <a:rPr lang="en-US" altLang="zh-CN" sz="2800" i="1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</a:t>
                </a:r>
                <a:r>
                  <a:rPr lang="en-US" altLang="zh-CN" sz="280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  <a:r>
                  <a:rPr lang="zh-CN" altLang="zh-CN" sz="280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在区间</a:t>
                </a:r>
                <a:r>
                  <a:rPr lang="en-US" altLang="zh-CN" sz="280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(0,0</a:t>
                </a:r>
                <a:r>
                  <a:rPr lang="en-US" altLang="zh-CN" sz="2800" i="1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  <a:r>
                  <a:rPr lang="en-US" altLang="zh-CN" sz="280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1)</a:t>
                </a:r>
                <a:r>
                  <a:rPr lang="zh-CN" altLang="zh-CN" sz="280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内单调递增</a:t>
                </a:r>
                <a:r>
                  <a:rPr lang="en-US" altLang="zh-CN" sz="280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;</a:t>
                </a:r>
                <a:endParaRPr lang="zh-CN" altLang="zh-CN" sz="2800">
                  <a:solidFill>
                    <a:srgbClr val="000000"/>
                  </a:solidFill>
                  <a:effectLst/>
                  <a:latin typeface="NEU-BZ-S92"/>
                  <a:ea typeface="方正书宋_GBK" panose="03000509000000000000" pitchFamily="65" charset="-122"/>
                  <a:cs typeface="Times New Roman" panose="02020603050405020304" pitchFamily="18" charset="0"/>
                </a:endParaRPr>
              </a:p>
              <a:p>
                <a:pPr>
                  <a:lnSpc>
                    <a:spcPct val="130000"/>
                  </a:lnSpc>
                  <a:spcAft>
                    <a:spcPts val="0"/>
                  </a:spcAft>
                  <a:tabLst>
                    <a:tab pos="1188085" algn="l"/>
                    <a:tab pos="2163445" algn="l"/>
                    <a:tab pos="3142615" algn="l"/>
                    <a:tab pos="4190365" algn="l"/>
                  </a:tabLst>
                </a:pPr>
                <a:r>
                  <a:rPr lang="zh-CN" altLang="zh-CN" sz="280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当</a:t>
                </a:r>
                <a:r>
                  <a:rPr lang="en-US" altLang="zh-CN" sz="2800" i="1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</a:t>
                </a:r>
                <a:r>
                  <a:rPr lang="zh-CN" altLang="zh-CN" sz="2800">
                    <a:solidFill>
                      <a:srgbClr val="000000"/>
                    </a:solidFill>
                    <a:latin typeface="NEU-BZ-S92"/>
                    <a:cs typeface="宋体" panose="02010600030101010101" pitchFamily="2" charset="-122"/>
                  </a:rPr>
                  <a:t>∈</a:t>
                </a:r>
                <a:r>
                  <a:rPr lang="en-US" altLang="zh-CN" sz="280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(0</a:t>
                </a:r>
                <a:r>
                  <a:rPr lang="en-US" altLang="zh-CN" sz="2800" i="1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  <a:r>
                  <a:rPr lang="en-US" altLang="zh-CN" sz="280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1,1)</a:t>
                </a:r>
                <a:r>
                  <a:rPr lang="zh-CN" altLang="zh-CN" sz="280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时</a:t>
                </a:r>
                <a:r>
                  <a:rPr lang="en-US" altLang="zh-CN" sz="280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</a:t>
                </a:r>
                <a:r>
                  <a:rPr lang="en-US" altLang="zh-CN" sz="2800" i="1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f'</a:t>
                </a:r>
                <a:r>
                  <a:rPr lang="en-US" altLang="zh-CN" sz="280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:r>
                  <a:rPr lang="en-US" altLang="zh-CN" sz="2800" i="1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</a:t>
                </a:r>
                <a:r>
                  <a:rPr lang="en-US" altLang="zh-CN" sz="280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  <a:r>
                  <a:rPr lang="en-US" altLang="zh-CN" sz="2800" i="1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&lt;</a:t>
                </a:r>
                <a:r>
                  <a:rPr lang="en-US" altLang="zh-CN" sz="280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0,</a:t>
                </a:r>
                <a:r>
                  <a:rPr lang="en-US" altLang="zh-CN" sz="2800" i="1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</a:t>
                </a:r>
                <a:r>
                  <a:rPr lang="en-US" altLang="zh-CN" sz="280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:r>
                  <a:rPr lang="en-US" altLang="zh-CN" sz="2800" i="1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</a:t>
                </a:r>
                <a:r>
                  <a:rPr lang="en-US" altLang="zh-CN" sz="280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  <a:r>
                  <a:rPr lang="zh-CN" altLang="zh-CN" sz="280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在区间</a:t>
                </a:r>
                <a:r>
                  <a:rPr lang="en-US" altLang="zh-CN" sz="280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(0</a:t>
                </a:r>
                <a:r>
                  <a:rPr lang="en-US" altLang="zh-CN" sz="2800" i="1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  <a:r>
                  <a:rPr lang="en-US" altLang="zh-CN" sz="280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1,1)</a:t>
                </a:r>
                <a:r>
                  <a:rPr lang="zh-CN" altLang="zh-CN" sz="280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内单调递减</a:t>
                </a:r>
                <a:r>
                  <a:rPr lang="en-US" altLang="zh-CN" sz="2800" i="1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  <a:endParaRPr lang="zh-CN" altLang="zh-CN" sz="2800">
                  <a:solidFill>
                    <a:srgbClr val="000000"/>
                  </a:solidFill>
                  <a:effectLst/>
                  <a:latin typeface="NEU-BZ-S92"/>
                  <a:ea typeface="方正书宋_GBK" panose="03000509000000000000" pitchFamily="65" charset="-122"/>
                  <a:cs typeface="Times New Roman" panose="02020603050405020304" pitchFamily="18" charset="0"/>
                </a:endParaRPr>
              </a:p>
              <a:p>
                <a:pPr>
                  <a:lnSpc>
                    <a:spcPct val="130000"/>
                  </a:lnSpc>
                  <a:spcAft>
                    <a:spcPts val="0"/>
                  </a:spcAft>
                  <a:tabLst>
                    <a:tab pos="1188085" algn="l"/>
                    <a:tab pos="2163445" algn="l"/>
                    <a:tab pos="3142615" algn="l"/>
                    <a:tab pos="4190365" algn="l"/>
                  </a:tabLst>
                </a:pPr>
                <a:r>
                  <a:rPr lang="zh-CN" altLang="zh-CN" sz="280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所以当</a:t>
                </a:r>
                <a:r>
                  <a:rPr lang="en-US" altLang="zh-CN" sz="2800" i="1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p=p</a:t>
                </a:r>
                <a:r>
                  <a:rPr lang="en-US" altLang="zh-CN" sz="2800" baseline="-2500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</a:t>
                </a:r>
                <a:r>
                  <a:rPr lang="en-US" altLang="zh-CN" sz="2800" i="1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</a:t>
                </a:r>
                <a:r>
                  <a:rPr lang="en-US" altLang="zh-CN" sz="280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</a:t>
                </a:r>
                <a:r>
                  <a:rPr lang="en-US" altLang="zh-CN" sz="2800" i="1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  <a:r>
                  <a:rPr lang="en-US" altLang="zh-CN" sz="280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r>
                  <a:rPr lang="zh-CN" altLang="zh-CN" sz="280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时</a:t>
                </a:r>
                <a:r>
                  <a:rPr lang="en-US" altLang="zh-CN" sz="280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</a:t>
                </a:r>
                <a:r>
                  <a:rPr lang="en-US" altLang="zh-CN" sz="2800" i="1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</a:t>
                </a:r>
                <a:r>
                  <a:rPr lang="en-US" altLang="zh-CN" sz="280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:r>
                  <a:rPr lang="en-US" altLang="zh-CN" sz="2800" i="1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</a:t>
                </a:r>
                <a:r>
                  <a:rPr lang="en-US" altLang="zh-CN" sz="280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  <a:r>
                  <a:rPr lang="zh-CN" altLang="zh-CN" sz="280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取得最大值</a:t>
                </a:r>
                <a:r>
                  <a:rPr lang="en-US" altLang="zh-CN" sz="2800" i="1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  <a:endParaRPr lang="zh-CN" altLang="zh-CN" sz="2800">
                  <a:solidFill>
                    <a:srgbClr val="000000"/>
                  </a:solidFill>
                  <a:effectLst/>
                  <a:latin typeface="NEU-BZ-S92"/>
                  <a:ea typeface="方正书宋_GBK" panose="03000509000000000000" pitchFamily="65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" name="矩形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000" y="742812"/>
                <a:ext cx="11430000" cy="3986219"/>
              </a:xfrm>
              <a:prstGeom prst="rect">
                <a:avLst/>
              </a:prstGeom>
              <a:blipFill rotWithShape="0">
                <a:blip r:embed="rId2"/>
                <a:stretch>
                  <a:fillRect l="-1120" t="-153" b="-351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405055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>
            <a:spLocks noChangeAspect="1"/>
          </p:cNvSpPr>
          <p:nvPr/>
        </p:nvSpPr>
        <p:spPr>
          <a:xfrm>
            <a:off x="381000" y="849149"/>
            <a:ext cx="11430000" cy="4513287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(2)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由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知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p=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①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设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表示该箱余下的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180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件产品中的不合格品件数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依题意知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Y~B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(180,0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1),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X=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20×2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25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endParaRPr lang="zh-CN" altLang="zh-CN" sz="280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即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X=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40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25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Y.</a:t>
            </a:r>
            <a:endParaRPr lang="zh-CN" altLang="zh-CN" sz="280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所以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=E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(40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25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40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25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490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②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如果对这箱余下的产品做检验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那么这一箱产品所需要的检验费为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400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元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由于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400,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故应该对这箱余下的产品做检验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9650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0220895"/>
              </p:ext>
            </p:extLst>
          </p:nvPr>
        </p:nvGraphicFramePr>
        <p:xfrm>
          <a:off x="458424" y="771209"/>
          <a:ext cx="11275153" cy="49414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04" name="文档" r:id="rId4" imgW="4510061" imgH="197659" progId="Word.Document.12">
                  <p:embed/>
                </p:oleObj>
              </mc:Choice>
              <mc:Fallback>
                <p:oleObj name="文档" r:id="rId4" imgW="4510061" imgH="197659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58424" y="771209"/>
                        <a:ext cx="11275153" cy="49414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矩形 2"/>
          <p:cNvSpPr>
            <a:spLocks noChangeAspect="1"/>
          </p:cNvSpPr>
          <p:nvPr/>
        </p:nvSpPr>
        <p:spPr>
          <a:xfrm>
            <a:off x="381000" y="1201144"/>
            <a:ext cx="11430000" cy="4013406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对于概率问题的综合问题求解策略</a:t>
            </a:r>
            <a:endParaRPr lang="zh-CN" altLang="zh-CN" sz="280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首先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要准确地确定事件的性质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把问题化归为古典概型、互斥事件、独立事件、独立重复试验这四类事件中的某一种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zh-CN" altLang="zh-CN" sz="280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其次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要判断事件是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∪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还是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确定事件至少有一个发生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还是同时发生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分别运用相加或相乘事件公式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zh-CN" altLang="zh-CN" sz="280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最后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选用相应的求古典概型、互斥事件、条件概率、独立事件、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重伯努利试验的概率公式求解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525219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>
            <a:spLocks noChangeAspect="1"/>
          </p:cNvSpPr>
          <p:nvPr/>
        </p:nvSpPr>
        <p:spPr>
          <a:xfrm>
            <a:off x="381000" y="538250"/>
            <a:ext cx="11430000" cy="5073440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【变式训练</a:t>
            </a:r>
            <a:r>
              <a:rPr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zh-CN" altLang="zh-CN" sz="280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】</a:t>
            </a:r>
            <a:r>
              <a:rPr lang="zh-CN" altLang="zh-CN" sz="2800">
                <a:solidFill>
                  <a:srgbClr val="000000"/>
                </a:solidFill>
                <a:latin typeface="NEU-BZ-S92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某次英语竞赛有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100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道单项选择题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每题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个选项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选对得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分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否则得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分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学生甲会其中的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道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学生乙会其中的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80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道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不会的均随机选择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求甲、乙在这次英语竞赛中得分的均值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解</a:t>
            </a:r>
            <a:r>
              <a:rPr lang="en-US" altLang="zh-CN" sz="280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设甲和乙不会的题的得分分别为随机变量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和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Y.</a:t>
            </a:r>
            <a:endParaRPr lang="zh-CN" altLang="zh-CN" sz="280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由题意知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X~B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(80,0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25),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Y~B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(20,0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25),</a:t>
            </a:r>
            <a:endParaRPr lang="zh-CN" altLang="zh-CN" sz="280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故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80×0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25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20,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20×0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25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于是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X+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20)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=E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40,</a:t>
            </a:r>
            <a:endParaRPr lang="zh-CN" altLang="zh-CN" sz="280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Y+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80)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=E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80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85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故甲、乙在这次英语竞赛中得分的均值分别为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40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分和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85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分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908138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/>
          <p:cNvGrpSpPr/>
          <p:nvPr/>
        </p:nvGrpSpPr>
        <p:grpSpPr>
          <a:xfrm>
            <a:off x="2" y="151371"/>
            <a:ext cx="11336478" cy="433754"/>
            <a:chOff x="3048000" y="2286000"/>
            <a:chExt cx="4813646" cy="457200"/>
          </a:xfrm>
        </p:grpSpPr>
        <p:sp>
          <p:nvSpPr>
            <p:cNvPr id="6" name="矩形 5"/>
            <p:cNvSpPr/>
            <p:nvPr/>
          </p:nvSpPr>
          <p:spPr>
            <a:xfrm>
              <a:off x="3048000" y="2286000"/>
              <a:ext cx="209403" cy="457200"/>
            </a:xfrm>
            <a:prstGeom prst="rect">
              <a:avLst/>
            </a:prstGeom>
            <a:solidFill>
              <a:srgbClr val="74877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2800" b="1" smtClean="0">
                  <a:solidFill>
                    <a:schemeClr val="bg1"/>
                  </a:solidFill>
                </a:rPr>
                <a:t> </a:t>
              </a:r>
              <a:endParaRPr lang="zh-CN" altLang="en-US" sz="2800" b="1" dirty="0" smtClean="0">
                <a:solidFill>
                  <a:schemeClr val="bg1"/>
                </a:solidFill>
              </a:endParaRPr>
            </a:p>
          </p:txBody>
        </p:sp>
        <p:sp>
          <p:nvSpPr>
            <p:cNvPr id="8" name="矩形 7"/>
            <p:cNvSpPr/>
            <p:nvPr/>
          </p:nvSpPr>
          <p:spPr>
            <a:xfrm>
              <a:off x="3345506" y="2286000"/>
              <a:ext cx="4516140" cy="457200"/>
            </a:xfrm>
            <a:prstGeom prst="rect">
              <a:avLst/>
            </a:prstGeom>
            <a:gradFill flip="none" rotWithShape="1">
              <a:gsLst>
                <a:gs pos="0">
                  <a:srgbClr val="DCDCDC">
                    <a:shade val="30000"/>
                    <a:satMod val="115000"/>
                  </a:srgbClr>
                </a:gs>
                <a:gs pos="51000">
                  <a:srgbClr val="DCDCDC">
                    <a:shade val="67500"/>
                    <a:satMod val="115000"/>
                  </a:srgbClr>
                </a:gs>
                <a:gs pos="73000">
                  <a:srgbClr val="DCDCDC">
                    <a:shade val="100000"/>
                    <a:satMod val="115000"/>
                    <a:alpha val="0"/>
                  </a:srgbClr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zh-CN" altLang="en-US" sz="2800" b="1">
                  <a:solidFill>
                    <a:schemeClr val="bg1"/>
                  </a:solidFill>
                </a:rPr>
                <a:t>易错辨析</a:t>
              </a:r>
              <a:endParaRPr lang="zh-CN" altLang="en-US" sz="2800" b="1" dirty="0">
                <a:solidFill>
                  <a:schemeClr val="bg1"/>
                </a:solidFill>
              </a:endParaRPr>
            </a:p>
          </p:txBody>
        </p:sp>
      </p:grpSp>
      <p:sp>
        <p:nvSpPr>
          <p:cNvPr id="2" name="矩形 1"/>
          <p:cNvSpPr>
            <a:spLocks noChangeAspect="1"/>
          </p:cNvSpPr>
          <p:nvPr/>
        </p:nvSpPr>
        <p:spPr>
          <a:xfrm>
            <a:off x="381000" y="1525818"/>
            <a:ext cx="11430000" cy="4013406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事件关系判断不准确致错</a:t>
            </a:r>
            <a:endParaRPr lang="zh-CN" altLang="zh-CN" sz="280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>
                <a:solidFill>
                  <a:srgbClr val="000000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【典例】</a:t>
            </a:r>
            <a:r>
              <a:rPr lang="zh-CN" altLang="zh-CN" sz="2800">
                <a:solidFill>
                  <a:srgbClr val="000000"/>
                </a:solidFill>
                <a:effectLst/>
                <a:latin typeface="NEU-BZ-S92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为拉动经济增长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某市决定新建一批重点工程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分别为基础设施工程、民生工程和产业建设工程三类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这三类工程所含项目的个数分别占总数</a:t>
            </a:r>
            <a:r>
              <a:rPr lang="zh-CN" altLang="zh-CN" sz="280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</a:t>
            </a:r>
            <a:r>
              <a:rPr lang="en-US" altLang="zh-CN" sz="280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</a:t>
            </a:r>
            <a:r>
              <a:rPr lang="en-US" altLang="zh-CN" sz="2800" i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现在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名工人独立地从中任选一个项目参与建设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求他们选择的项目所属类别互不相同的概率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zh-CN" altLang="zh-CN" sz="280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(2)</a:t>
            </a:r>
            <a:r>
              <a:rPr lang="zh-CN" altLang="zh-CN" sz="280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记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ea typeface="Microsoft Yi Baiti" panose="03000500000000000000" pitchFamily="66" charset="0"/>
                <a:cs typeface="Times New Roman" panose="02020603050405020304" pitchFamily="18" charset="0"/>
              </a:rPr>
              <a:t>X</a:t>
            </a:r>
            <a:r>
              <a:rPr lang="zh-CN" altLang="zh-CN" sz="280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为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人中选择的项目属于基础设施工程或产业建设工程的人数</a:t>
            </a:r>
            <a:r>
              <a:rPr lang="en-US" altLang="zh-CN" sz="280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求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ea typeface="Microsoft Yi Baiti" panose="03000500000000000000" pitchFamily="66" charset="0"/>
                <a:cs typeface="Times New Roman" panose="02020603050405020304" pitchFamily="18" charset="0"/>
              </a:rPr>
              <a:t>X</a:t>
            </a:r>
            <a:r>
              <a:rPr lang="zh-CN" altLang="zh-CN" sz="280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分布列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05748979"/>
              </p:ext>
            </p:extLst>
          </p:nvPr>
        </p:nvGraphicFramePr>
        <p:xfrm>
          <a:off x="1013297" y="3070668"/>
          <a:ext cx="1969287" cy="825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28" name="文档" r:id="rId4" imgW="962386" imgH="400348" progId="Word.Document.12">
                  <p:embed/>
                </p:oleObj>
              </mc:Choice>
              <mc:Fallback>
                <p:oleObj name="文档" r:id="rId4" imgW="962386" imgH="400348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013297" y="3070668"/>
                        <a:ext cx="1969287" cy="8252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2495460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950980"/>
            <a:ext cx="11430000" cy="1720536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错解</a:t>
            </a:r>
            <a:r>
              <a:rPr lang="en-US" altLang="zh-CN" sz="280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设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第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名工人选择的项目属于基础设施工程、民生工程和产业建设工程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”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分别为事件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i="1" baseline="-25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800" i="1" baseline="-25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CN" sz="2800" i="1" baseline="-25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i=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1,2,3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</a:pP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由题意知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</a:rPr>
              <a:t>A</a:t>
            </a:r>
            <a:r>
              <a:rPr lang="en-US" altLang="zh-CN" sz="2800" baseline="-25000">
                <a:solidFill>
                  <a:srgbClr val="000000"/>
                </a:solidFill>
                <a:latin typeface="Times New Roman" panose="02020603050405020304" pitchFamily="18" charset="0"/>
              </a:rPr>
              <a:t>1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</a:rPr>
              <a:t>,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</a:rPr>
              <a:t>A</a:t>
            </a:r>
            <a:r>
              <a:rPr lang="en-US" altLang="zh-CN" sz="2800" baseline="-25000">
                <a:solidFill>
                  <a:srgbClr val="000000"/>
                </a:solidFill>
                <a:latin typeface="Times New Roman" panose="02020603050405020304" pitchFamily="18" charset="0"/>
              </a:rPr>
              <a:t>2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</a:rPr>
              <a:t>,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</a:rPr>
              <a:t>A</a:t>
            </a:r>
            <a:r>
              <a:rPr lang="en-US" altLang="zh-CN" sz="2800" baseline="-25000">
                <a:solidFill>
                  <a:srgbClr val="000000"/>
                </a:solidFill>
                <a:latin typeface="Times New Roman" panose="02020603050405020304" pitchFamily="18" charset="0"/>
              </a:rPr>
              <a:t>3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相互独立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</a:rPr>
              <a:t>,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</a:rPr>
              <a:t>B</a:t>
            </a:r>
            <a:r>
              <a:rPr lang="en-US" altLang="zh-CN" sz="2800" baseline="-25000">
                <a:solidFill>
                  <a:srgbClr val="000000"/>
                </a:solidFill>
                <a:latin typeface="Times New Roman" panose="02020603050405020304" pitchFamily="18" charset="0"/>
              </a:rPr>
              <a:t>1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</a:rPr>
              <a:t>,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</a:rPr>
              <a:t>B</a:t>
            </a:r>
            <a:r>
              <a:rPr lang="en-US" altLang="zh-CN" sz="2800" baseline="-25000">
                <a:solidFill>
                  <a:srgbClr val="000000"/>
                </a:solidFill>
                <a:latin typeface="Times New Roman" panose="02020603050405020304" pitchFamily="18" charset="0"/>
              </a:rPr>
              <a:t>2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</a:rPr>
              <a:t>,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</a:rPr>
              <a:t>B</a:t>
            </a:r>
            <a:r>
              <a:rPr lang="en-US" altLang="zh-CN" sz="2800" baseline="-25000">
                <a:solidFill>
                  <a:srgbClr val="000000"/>
                </a:solidFill>
                <a:latin typeface="Times New Roman" panose="02020603050405020304" pitchFamily="18" charset="0"/>
              </a:rPr>
              <a:t>3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相互独立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</a:rPr>
              <a:t>,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</a:rPr>
              <a:t>C</a:t>
            </a:r>
            <a:r>
              <a:rPr lang="en-US" altLang="zh-CN" sz="2800" baseline="-25000">
                <a:solidFill>
                  <a:srgbClr val="000000"/>
                </a:solidFill>
                <a:latin typeface="Times New Roman" panose="02020603050405020304" pitchFamily="18" charset="0"/>
              </a:rPr>
              <a:t>1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</a:rPr>
              <a:t>,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</a:rPr>
              <a:t>C</a:t>
            </a:r>
            <a:r>
              <a:rPr lang="en-US" altLang="zh-CN" sz="2800" baseline="-25000">
                <a:solidFill>
                  <a:srgbClr val="000000"/>
                </a:solidFill>
                <a:latin typeface="Times New Roman" panose="02020603050405020304" pitchFamily="18" charset="0"/>
              </a:rPr>
              <a:t>2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</a:rPr>
              <a:t>,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</a:rPr>
              <a:t>C</a:t>
            </a:r>
            <a:r>
              <a:rPr lang="en-US" altLang="zh-CN" sz="2800" baseline="-25000">
                <a:solidFill>
                  <a:srgbClr val="000000"/>
                </a:solidFill>
                <a:latin typeface="Times New Roman" panose="02020603050405020304" pitchFamily="18" charset="0"/>
              </a:rPr>
              <a:t>3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相互独立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</a:rPr>
              <a:t>,</a:t>
            </a:r>
            <a:endParaRPr lang="zh-CN" altLang="en-US" sz="2800"/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61340826"/>
              </p:ext>
            </p:extLst>
          </p:nvPr>
        </p:nvGraphicFramePr>
        <p:xfrm>
          <a:off x="458424" y="2671516"/>
          <a:ext cx="11275153" cy="254620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51" name="文档" r:id="rId4" imgW="4510061" imgH="1018481" progId="Word.Document.12">
                  <p:embed/>
                </p:oleObj>
              </mc:Choice>
              <mc:Fallback>
                <p:oleObj name="文档" r:id="rId4" imgW="4510061" imgH="1018481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58424" y="2671516"/>
                        <a:ext cx="11275153" cy="254620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6920220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37112307"/>
              </p:ext>
            </p:extLst>
          </p:nvPr>
        </p:nvGraphicFramePr>
        <p:xfrm>
          <a:off x="434639" y="532730"/>
          <a:ext cx="11322723" cy="61698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75" name="文档" r:id="rId4" imgW="4529089" imgH="2467932" progId="Word.Document.12">
                  <p:embed/>
                </p:oleObj>
              </mc:Choice>
              <mc:Fallback>
                <p:oleObj name="文档" r:id="rId4" imgW="4529089" imgH="2467932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34639" y="532730"/>
                        <a:ext cx="11322723" cy="616983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5536430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1636361"/>
            <a:ext cx="11430000" cy="4013406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以上解答过程中都有哪些错误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出错的原因是什么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你如何改正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你如何防范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endParaRPr lang="zh-CN" altLang="zh-CN" sz="280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>
                <a:solidFill>
                  <a:srgbClr val="FF0000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提示</a:t>
            </a:r>
            <a:r>
              <a:rPr lang="en-US" altLang="zh-CN" sz="2800">
                <a:solidFill>
                  <a:srgbClr val="FF0000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  <a:r>
              <a:rPr lang="zh-CN" altLang="zh-CN" sz="280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对事件关系判断不明确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,3</a:t>
            </a:r>
            <a:r>
              <a:rPr lang="zh-CN" altLang="zh-CN" sz="280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人选择项目所属类别互不相同的事件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i="1" baseline="-25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800" i="1" baseline="-25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CN" sz="2800" i="1" baseline="-25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zh-CN" altLang="zh-CN" sz="280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互不相同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80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共有</a:t>
            </a:r>
            <a:r>
              <a:rPr lang="en-US" altLang="zh-CN" sz="280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   </a:t>
            </a:r>
            <a:r>
              <a:rPr lang="en-US" altLang="zh-CN" sz="2800" i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zh-CN" altLang="zh-CN" sz="280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种情形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误认为只有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800" baseline="-25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CN" sz="2800" baseline="-25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zh-CN" altLang="zh-CN" sz="280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发生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导致计数错误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2)</a:t>
            </a:r>
            <a:r>
              <a:rPr lang="zh-CN" altLang="zh-CN" sz="2800" smtClean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正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确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在第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(2)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问中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将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对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转化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找到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X=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-Y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的关系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利用二项分布间接求得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的分布列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避免了直接求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X=k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)(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k=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0,1,2,3)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的繁杂计算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36385407"/>
              </p:ext>
            </p:extLst>
          </p:nvPr>
        </p:nvGraphicFramePr>
        <p:xfrm>
          <a:off x="4109444" y="3374435"/>
          <a:ext cx="793750" cy="493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862" name="文档" r:id="rId4" imgW="326921" imgH="198018" progId="Word.Document.12">
                  <p:embed/>
                </p:oleObj>
              </mc:Choice>
              <mc:Fallback>
                <p:oleObj name="文档" r:id="rId4" imgW="326921" imgH="198018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109444" y="3374435"/>
                        <a:ext cx="793750" cy="4937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8128557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80706190"/>
              </p:ext>
            </p:extLst>
          </p:nvPr>
        </p:nvGraphicFramePr>
        <p:xfrm>
          <a:off x="458424" y="1924419"/>
          <a:ext cx="11275153" cy="3263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599" name="文档" r:id="rId4" imgW="4510061" imgH="1305265" progId="Word.Document.12">
                  <p:embed/>
                </p:oleObj>
              </mc:Choice>
              <mc:Fallback>
                <p:oleObj name="文档" r:id="rId4" imgW="4510061" imgH="1305265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58424" y="1924419"/>
                        <a:ext cx="11275153" cy="32631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8171020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2157065"/>
            <a:ext cx="11430000" cy="1712520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准确理解事件特征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理清事件间的关系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强化事件关系判断的训练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努力减少此类错误的发生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针对第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(2)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问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要注意合理分类与转化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利用二项分布简化事件概率的计算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14004683"/>
              </p:ext>
            </p:extLst>
          </p:nvPr>
        </p:nvGraphicFramePr>
        <p:xfrm>
          <a:off x="458424" y="1552045"/>
          <a:ext cx="11275153" cy="49414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23" name="文档" r:id="rId4" imgW="4510061" imgH="197659" progId="Word.Document.12">
                  <p:embed/>
                </p:oleObj>
              </mc:Choice>
              <mc:Fallback>
                <p:oleObj name="文档" r:id="rId4" imgW="4510061" imgH="197659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58424" y="1552045"/>
                        <a:ext cx="11275153" cy="49414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4340794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1579724"/>
            <a:ext cx="11430000" cy="2332946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【变式训练】</a:t>
            </a:r>
            <a:r>
              <a:rPr lang="zh-CN" altLang="zh-CN" sz="2800">
                <a:solidFill>
                  <a:srgbClr val="000000"/>
                </a:solidFill>
                <a:effectLst/>
                <a:latin typeface="NEU-BZ-S92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在未来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天中</a:t>
            </a:r>
            <a:r>
              <a:rPr lang="en-US" altLang="zh-CN" sz="280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en-US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某气象台预报某地每天天气的准确率为</a:t>
            </a:r>
            <a:r>
              <a:rPr lang="en-US" altLang="zh-CN" sz="280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zh-CN" sz="2800" i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80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则在未来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天中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endParaRPr lang="zh-CN" altLang="zh-CN" sz="280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至少有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天预报准确的概率是多少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endParaRPr lang="zh-CN" altLang="zh-CN" sz="280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(2)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至少有一个连续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天预报都准确的概率是多少</a:t>
            </a:r>
            <a:r>
              <a:rPr lang="en-US" altLang="zh-CN" sz="280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endParaRPr lang="zh-CN" altLang="zh-CN" sz="280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659308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87473131"/>
              </p:ext>
            </p:extLst>
          </p:nvPr>
        </p:nvGraphicFramePr>
        <p:xfrm>
          <a:off x="458424" y="569965"/>
          <a:ext cx="11275153" cy="519123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647" name="文档" r:id="rId4" imgW="4510061" imgH="2076493" progId="Word.Document.12">
                  <p:embed/>
                </p:oleObj>
              </mc:Choice>
              <mc:Fallback>
                <p:oleObj name="文档" r:id="rId4" imgW="4510061" imgH="2076493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58424" y="569965"/>
                        <a:ext cx="11275153" cy="519123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5519544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/>
        </p:nvGrpSpPr>
        <p:grpSpPr>
          <a:xfrm>
            <a:off x="2617835" y="2558415"/>
            <a:ext cx="1105802" cy="815646"/>
            <a:chOff x="-1604504" y="2147667"/>
            <a:chExt cx="3687215" cy="2719712"/>
          </a:xfrm>
        </p:grpSpPr>
        <p:cxnSp>
          <p:nvCxnSpPr>
            <p:cNvPr id="7" name="直接连接符 6"/>
            <p:cNvCxnSpPr/>
            <p:nvPr/>
          </p:nvCxnSpPr>
          <p:spPr>
            <a:xfrm flipH="1">
              <a:off x="-1604504" y="2687623"/>
              <a:ext cx="2592288" cy="2179756"/>
            </a:xfrm>
            <a:prstGeom prst="line">
              <a:avLst/>
            </a:prstGeom>
            <a:noFill/>
            <a:ln w="76200" cap="flat" cmpd="sng" algn="ctr">
              <a:solidFill>
                <a:schemeClr val="tx2">
                  <a:lumMod val="50000"/>
                </a:schemeClr>
              </a:solidFill>
              <a:prstDash val="solid"/>
            </a:ln>
            <a:effectLst/>
          </p:spPr>
        </p:cxnSp>
        <p:cxnSp>
          <p:nvCxnSpPr>
            <p:cNvPr id="8" name="直接连接符 7"/>
            <p:cNvCxnSpPr/>
            <p:nvPr/>
          </p:nvCxnSpPr>
          <p:spPr>
            <a:xfrm flipH="1">
              <a:off x="-509577" y="2147667"/>
              <a:ext cx="2592288" cy="2179756"/>
            </a:xfrm>
            <a:prstGeom prst="line">
              <a:avLst/>
            </a:prstGeom>
            <a:noFill/>
            <a:ln w="12700" cap="flat" cmpd="sng" algn="ctr">
              <a:solidFill>
                <a:schemeClr val="tx2">
                  <a:lumMod val="50000"/>
                </a:schemeClr>
              </a:solidFill>
              <a:prstDash val="solid"/>
            </a:ln>
            <a:effectLst/>
          </p:spPr>
        </p:cxnSp>
      </p:grpSp>
      <p:grpSp>
        <p:nvGrpSpPr>
          <p:cNvPr id="9" name="组合 8"/>
          <p:cNvGrpSpPr/>
          <p:nvPr/>
        </p:nvGrpSpPr>
        <p:grpSpPr>
          <a:xfrm flipH="1" flipV="1">
            <a:off x="8334801" y="2587481"/>
            <a:ext cx="1105803" cy="815646"/>
            <a:chOff x="-1604504" y="2147667"/>
            <a:chExt cx="3687215" cy="2719712"/>
          </a:xfrm>
        </p:grpSpPr>
        <p:cxnSp>
          <p:nvCxnSpPr>
            <p:cNvPr id="10" name="直接连接符 9"/>
            <p:cNvCxnSpPr/>
            <p:nvPr/>
          </p:nvCxnSpPr>
          <p:spPr>
            <a:xfrm flipH="1">
              <a:off x="-1604504" y="2687623"/>
              <a:ext cx="2592288" cy="2179756"/>
            </a:xfrm>
            <a:prstGeom prst="line">
              <a:avLst/>
            </a:prstGeom>
            <a:noFill/>
            <a:ln w="76200" cap="flat" cmpd="sng" algn="ctr">
              <a:solidFill>
                <a:sysClr val="windowText" lastClr="000000">
                  <a:lumMod val="85000"/>
                  <a:lumOff val="15000"/>
                </a:sysClr>
              </a:solidFill>
              <a:prstDash val="solid"/>
            </a:ln>
            <a:effectLst/>
          </p:spPr>
        </p:cxnSp>
        <p:cxnSp>
          <p:nvCxnSpPr>
            <p:cNvPr id="11" name="直接连接符 10"/>
            <p:cNvCxnSpPr/>
            <p:nvPr/>
          </p:nvCxnSpPr>
          <p:spPr>
            <a:xfrm flipH="1">
              <a:off x="-509577" y="2147667"/>
              <a:ext cx="2592288" cy="2179756"/>
            </a:xfrm>
            <a:prstGeom prst="line">
              <a:avLst/>
            </a:prstGeom>
            <a:noFill/>
            <a:ln w="12700" cap="flat" cmpd="sng" algn="ctr">
              <a:solidFill>
                <a:sysClr val="windowText" lastClr="000000">
                  <a:lumMod val="85000"/>
                  <a:lumOff val="15000"/>
                </a:sysClr>
              </a:solidFill>
              <a:prstDash val="solid"/>
            </a:ln>
            <a:effectLst/>
          </p:spPr>
        </p:cxnSp>
      </p:grpSp>
      <p:sp>
        <p:nvSpPr>
          <p:cNvPr id="12" name="文本框 11"/>
          <p:cNvSpPr txBox="1"/>
          <p:nvPr/>
        </p:nvSpPr>
        <p:spPr>
          <a:xfrm>
            <a:off x="3612492" y="2507615"/>
            <a:ext cx="458787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5400" b="1" dirty="0" smtClean="0">
                <a:solidFill>
                  <a:srgbClr val="4D4D4D"/>
                </a:solidFill>
                <a:latin typeface="方正姚体" panose="02010601030101010101" charset="-122"/>
                <a:ea typeface="方正姚体" panose="02010601030101010101" charset="-122"/>
                <a:cs typeface="隶书" panose="02010509060101010101" pitchFamily="49" charset="-122"/>
                <a:sym typeface="+mn-ea"/>
              </a:rPr>
              <a:t>随堂练习</a:t>
            </a:r>
            <a:endParaRPr lang="zh-CN" altLang="en-US" sz="5400" b="1" dirty="0">
              <a:solidFill>
                <a:srgbClr val="4D4D4D"/>
              </a:solidFill>
              <a:latin typeface="方正姚体" panose="02010601030101010101" charset="-122"/>
              <a:ea typeface="方正姚体" panose="02010601030101010101" charset="-122"/>
              <a:cs typeface="隶书" panose="02010509060101010101" pitchFamily="49" charset="-122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1114450"/>
            <a:ext cx="11430000" cy="592213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任意抛掷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枚质地均匀的硬币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恰有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枚正面朝上的概率为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CN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　　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CN" altLang="zh-CN" sz="280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26456417"/>
              </p:ext>
            </p:extLst>
          </p:nvPr>
        </p:nvGraphicFramePr>
        <p:xfrm>
          <a:off x="458424" y="1766936"/>
          <a:ext cx="11275153" cy="98919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692" name="文档" r:id="rId4" imgW="4510061" imgH="395677" progId="Word.Document.12">
                  <p:embed/>
                </p:oleObj>
              </mc:Choice>
              <mc:Fallback>
                <p:oleObj name="文档" r:id="rId4" imgW="4510061" imgH="395677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58424" y="1766936"/>
                        <a:ext cx="11275153" cy="98919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矩形 4"/>
          <p:cNvSpPr>
            <a:spLocks noChangeAspect="1"/>
          </p:cNvSpPr>
          <p:nvPr/>
        </p:nvSpPr>
        <p:spPr>
          <a:xfrm>
            <a:off x="381000" y="4733614"/>
            <a:ext cx="1330814" cy="6524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答案</a:t>
            </a:r>
            <a:r>
              <a:rPr lang="en-US" altLang="zh-CN" sz="280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en-US" altLang="zh-CN" sz="280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 </a:t>
            </a:r>
            <a:endParaRPr lang="zh-CN" altLang="zh-CN" sz="280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26173761"/>
              </p:ext>
            </p:extLst>
          </p:nvPr>
        </p:nvGraphicFramePr>
        <p:xfrm>
          <a:off x="458424" y="2753357"/>
          <a:ext cx="11275153" cy="19830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693" name="文档" r:id="rId7" imgW="4510061" imgH="793212" progId="Word.Document.12">
                  <p:embed/>
                </p:oleObj>
              </mc:Choice>
              <mc:Fallback>
                <p:oleObj name="文档" r:id="rId7" imgW="4510061" imgH="793212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58424" y="2753357"/>
                        <a:ext cx="11275153" cy="198303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16737693"/>
              </p:ext>
            </p:extLst>
          </p:nvPr>
        </p:nvGraphicFramePr>
        <p:xfrm>
          <a:off x="458424" y="772598"/>
          <a:ext cx="11275153" cy="254620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716" name="文档" r:id="rId4" imgW="4510061" imgH="1018481" progId="Word.Document.12">
                  <p:embed/>
                </p:oleObj>
              </mc:Choice>
              <mc:Fallback>
                <p:oleObj name="文档" r:id="rId4" imgW="4510061" imgH="1018481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58424" y="772598"/>
                        <a:ext cx="11275153" cy="254620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31559321"/>
              </p:ext>
            </p:extLst>
          </p:nvPr>
        </p:nvGraphicFramePr>
        <p:xfrm>
          <a:off x="458424" y="3173433"/>
          <a:ext cx="11275153" cy="19774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717" name="文档" r:id="rId7" imgW="4510061" imgH="790994" progId="Word.Document.12">
                  <p:embed/>
                </p:oleObj>
              </mc:Choice>
              <mc:Fallback>
                <p:oleObj name="文档" r:id="rId7" imgW="4510061" imgH="790994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58424" y="3173433"/>
                        <a:ext cx="11275153" cy="197748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矩形 3"/>
          <p:cNvSpPr>
            <a:spLocks noChangeAspect="1"/>
          </p:cNvSpPr>
          <p:nvPr/>
        </p:nvSpPr>
        <p:spPr>
          <a:xfrm>
            <a:off x="381000" y="5067150"/>
            <a:ext cx="1331839" cy="6524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答案</a:t>
            </a:r>
            <a:r>
              <a:rPr lang="en-US" altLang="zh-CN" sz="280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en-US" altLang="zh-CN" sz="280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endParaRPr lang="zh-CN" altLang="zh-CN" sz="280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118457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916567"/>
            <a:ext cx="11430000" cy="1152367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同时抛掷两枚质地均匀的硬币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次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设两枚硬币同时出现反面的次数为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ea typeface="Microsoft Yi Baiti" panose="03000500000000000000" pitchFamily="66" charset="0"/>
                <a:cs typeface="Times New Roman" panose="02020603050405020304" pitchFamily="18" charset="0"/>
              </a:rPr>
              <a:t>ξ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则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ea typeface="Microsoft Yi Baiti" panose="03000500000000000000" pitchFamily="66" charset="0"/>
                <a:cs typeface="Times New Roman" panose="02020603050405020304" pitchFamily="18" charset="0"/>
              </a:rPr>
              <a:t>ξ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CN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　　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CN" altLang="zh-CN" sz="280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16638527"/>
              </p:ext>
            </p:extLst>
          </p:nvPr>
        </p:nvGraphicFramePr>
        <p:xfrm>
          <a:off x="458424" y="2229197"/>
          <a:ext cx="11275153" cy="98919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740" name="文档" r:id="rId4" imgW="4510061" imgH="395677" progId="Word.Document.12">
                  <p:embed/>
                </p:oleObj>
              </mc:Choice>
              <mc:Fallback>
                <p:oleObj name="文档" r:id="rId4" imgW="4510061" imgH="395677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58424" y="2229197"/>
                        <a:ext cx="11275153" cy="98919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43675643"/>
              </p:ext>
            </p:extLst>
          </p:nvPr>
        </p:nvGraphicFramePr>
        <p:xfrm>
          <a:off x="458424" y="3131724"/>
          <a:ext cx="11275153" cy="19774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741" name="文档" r:id="rId7" imgW="4510061" imgH="790994" progId="Word.Document.12">
                  <p:embed/>
                </p:oleObj>
              </mc:Choice>
              <mc:Fallback>
                <p:oleObj name="文档" r:id="rId7" imgW="4510061" imgH="790994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58424" y="3131724"/>
                        <a:ext cx="11275153" cy="197748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矩形 4"/>
          <p:cNvSpPr>
            <a:spLocks noChangeAspect="1"/>
          </p:cNvSpPr>
          <p:nvPr/>
        </p:nvSpPr>
        <p:spPr>
          <a:xfrm>
            <a:off x="381000" y="5109209"/>
            <a:ext cx="1331839" cy="6524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答案</a:t>
            </a:r>
            <a:r>
              <a:rPr lang="en-US" altLang="zh-CN" sz="280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en-US" altLang="zh-CN" sz="280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endParaRPr lang="zh-CN" altLang="zh-CN" sz="280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889337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>
            <a:spLocks noChangeAspect="1"/>
          </p:cNvSpPr>
          <p:nvPr/>
        </p:nvSpPr>
        <p:spPr>
          <a:xfrm>
            <a:off x="381000" y="893343"/>
            <a:ext cx="11430000" cy="1712520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某人参加一次考试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共有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道试题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至少答对其中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道试题才能合格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若他答每道题的正确率均为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并且答每道题之间相互独立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则他能合格的概率为</a:t>
            </a:r>
            <a:r>
              <a:rPr lang="zh-CN" altLang="zh-CN" sz="2800" i="1" u="sng">
                <a:solidFill>
                  <a:srgbClr val="FF0000"/>
                </a:solidFill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　　　　</a:t>
            </a:r>
            <a:r>
              <a:rPr lang="en-US" altLang="zh-CN" sz="2800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 </a:t>
            </a:r>
            <a:endParaRPr lang="zh-CN" altLang="zh-CN" sz="280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18662378"/>
              </p:ext>
            </p:extLst>
          </p:nvPr>
        </p:nvGraphicFramePr>
        <p:xfrm>
          <a:off x="458424" y="2605863"/>
          <a:ext cx="11275153" cy="19830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914" name="文档" r:id="rId4" imgW="4510061" imgH="794654" progId="Word.Document.12">
                  <p:embed/>
                </p:oleObj>
              </mc:Choice>
              <mc:Fallback>
                <p:oleObj name="文档" r:id="rId4" imgW="4510061" imgH="794654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58424" y="2605863"/>
                        <a:ext cx="11275153" cy="198303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90471129"/>
              </p:ext>
            </p:extLst>
          </p:nvPr>
        </p:nvGraphicFramePr>
        <p:xfrm>
          <a:off x="458424" y="4588893"/>
          <a:ext cx="11275153" cy="9919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915" name="文档" r:id="rId7" imgW="4510061" imgH="396786" progId="Word.Document.12">
                  <p:embed/>
                </p:oleObj>
              </mc:Choice>
              <mc:Fallback>
                <p:oleObj name="文档" r:id="rId7" imgW="4510061" imgH="396786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58424" y="4588893"/>
                        <a:ext cx="11275153" cy="99196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8499434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9796968"/>
              </p:ext>
            </p:extLst>
          </p:nvPr>
        </p:nvGraphicFramePr>
        <p:xfrm>
          <a:off x="458424" y="1079360"/>
          <a:ext cx="11275153" cy="9919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809" name="文档" r:id="rId4" imgW="4510061" imgH="396786" progId="Word.Document.12">
                  <p:embed/>
                </p:oleObj>
              </mc:Choice>
              <mc:Fallback>
                <p:oleObj name="文档" r:id="rId4" imgW="4510061" imgH="396786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58424" y="1079360"/>
                        <a:ext cx="11275153" cy="99196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61449331"/>
              </p:ext>
            </p:extLst>
          </p:nvPr>
        </p:nvGraphicFramePr>
        <p:xfrm>
          <a:off x="458424" y="2071325"/>
          <a:ext cx="11275153" cy="19830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810" name="文档" r:id="rId7" imgW="4510061" imgH="793212" progId="Word.Document.12">
                  <p:embed/>
                </p:oleObj>
              </mc:Choice>
              <mc:Fallback>
                <p:oleObj name="文档" r:id="rId7" imgW="4510061" imgH="793212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58424" y="2071325"/>
                        <a:ext cx="11275153" cy="198303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58452599"/>
              </p:ext>
            </p:extLst>
          </p:nvPr>
        </p:nvGraphicFramePr>
        <p:xfrm>
          <a:off x="458424" y="4021851"/>
          <a:ext cx="11275153" cy="9919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811" name="文档" r:id="rId10" imgW="4510061" imgH="396786" progId="Word.Document.12">
                  <p:embed/>
                </p:oleObj>
              </mc:Choice>
              <mc:Fallback>
                <p:oleObj name="文档" r:id="rId10" imgW="4510061" imgH="396786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458424" y="4021851"/>
                        <a:ext cx="11275153" cy="99196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905261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18712880"/>
              </p:ext>
            </p:extLst>
          </p:nvPr>
        </p:nvGraphicFramePr>
        <p:xfrm>
          <a:off x="458424" y="516730"/>
          <a:ext cx="11275153" cy="15579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812" name="文档" r:id="rId4" imgW="4510061" imgH="623164" progId="Word.Document.12">
                  <p:embed/>
                </p:oleObj>
              </mc:Choice>
              <mc:Fallback>
                <p:oleObj name="文档" r:id="rId4" imgW="4510061" imgH="623164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58424" y="516730"/>
                        <a:ext cx="11275153" cy="155791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06874471"/>
              </p:ext>
            </p:extLst>
          </p:nvPr>
        </p:nvGraphicFramePr>
        <p:xfrm>
          <a:off x="426561" y="2074640"/>
          <a:ext cx="11338878" cy="461892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813" name="文档" r:id="rId7" imgW="4535551" imgH="1847569" progId="Word.Document.12">
                  <p:embed/>
                </p:oleObj>
              </mc:Choice>
              <mc:Fallback>
                <p:oleObj name="文档" r:id="rId7" imgW="4535551" imgH="1847569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26561" y="2074640"/>
                        <a:ext cx="11338878" cy="461892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3443932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 descr="阴影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5712" y="1511279"/>
            <a:ext cx="7280625" cy="3396125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1809976" y="4908623"/>
            <a:ext cx="8572049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auto">
              <a:lnSpc>
                <a:spcPct val="150000"/>
              </a:lnSpc>
            </a:pPr>
            <a:r>
              <a:rPr lang="zh-CN" altLang="en-US" sz="2400" smtClean="0">
                <a:solidFill>
                  <a:srgbClr val="55463D"/>
                </a:solidFill>
              </a:rPr>
              <a:t>更多精彩内容请登录</a:t>
            </a:r>
            <a:r>
              <a:rPr lang="zh-CN" altLang="en-US" sz="2800" b="1" smtClean="0">
                <a:solidFill>
                  <a:srgbClr val="55463D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志鸿优化网</a:t>
            </a:r>
            <a:endParaRPr lang="en-US" altLang="zh-CN" sz="2400" b="1" smtClean="0">
              <a:solidFill>
                <a:srgbClr val="55463D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algn="ctr" fontAlgn="auto">
              <a:lnSpc>
                <a:spcPct val="150000"/>
              </a:lnSpc>
            </a:pPr>
            <a:r>
              <a:rPr lang="en-US" altLang="zh-CN" sz="2400" smtClean="0">
                <a:solidFill>
                  <a:srgbClr val="55463D"/>
                </a:solidFill>
              </a:rPr>
              <a:t>http</a:t>
            </a:r>
            <a:r>
              <a:rPr lang="en-US" altLang="zh-CN" sz="2400">
                <a:solidFill>
                  <a:srgbClr val="55463D"/>
                </a:solidFill>
              </a:rPr>
              <a:t>://www.zhyh.org</a:t>
            </a:r>
            <a:r>
              <a:rPr lang="en-US" altLang="zh-CN" sz="2400" smtClean="0">
                <a:solidFill>
                  <a:srgbClr val="55463D"/>
                </a:solidFill>
              </a:rPr>
              <a:t>/</a:t>
            </a:r>
            <a:endParaRPr lang="zh-CN" altLang="en-US" sz="2400">
              <a:solidFill>
                <a:srgbClr val="55463D"/>
              </a:solidFill>
            </a:endParaRP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3">
            <a:clrChange>
              <a:clrFrom>
                <a:srgbClr val="ECECEE"/>
              </a:clrFrom>
              <a:clrTo>
                <a:srgbClr val="ECECEE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23290" y="4517181"/>
            <a:ext cx="2325712" cy="2253486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2624485" y="2222090"/>
            <a:ext cx="664806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6000" b="1">
                <a:solidFill>
                  <a:srgbClr val="55463D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本  课  结  束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5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vertical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800" decel="100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80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80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80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22204519"/>
  <p:tag name="MH_LIBRARY" val="GRAPHIC"/>
  <p:tag name="MH_ORDER" val="TextBox 3"/>
</p:tagLst>
</file>

<file path=ppt/theme/theme1.xml><?xml version="1.0" encoding="utf-8"?>
<a:theme xmlns:a="http://schemas.openxmlformats.org/drawingml/2006/main" name="1_Office 主题">
  <a:themeElements>
    <a:clrScheme name="模块">
      <a:dk1>
        <a:sysClr val="windowText" lastClr="000000"/>
      </a:dk1>
      <a:lt1>
        <a:sysClr val="window" lastClr="FFFFFF"/>
      </a:lt1>
      <a:dk2>
        <a:srgbClr val="5A6378"/>
      </a:dk2>
      <a:lt2>
        <a:srgbClr val="D4D4D6"/>
      </a:lt2>
      <a:accent1>
        <a:srgbClr val="F0AD00"/>
      </a:accent1>
      <a:accent2>
        <a:srgbClr val="60B5CC"/>
      </a:accent2>
      <a:accent3>
        <a:srgbClr val="E66C7D"/>
      </a:accent3>
      <a:accent4>
        <a:srgbClr val="6BB76D"/>
      </a:accent4>
      <a:accent5>
        <a:srgbClr val="E88651"/>
      </a:accent5>
      <a:accent6>
        <a:srgbClr val="C64847"/>
      </a:accent6>
      <a:hlink>
        <a:srgbClr val="168BBA"/>
      </a:hlink>
      <a:folHlink>
        <a:srgbClr val="68000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演示文稿1" id="{721B1EAD-A6C0-47A7-B782-D5918D0D228F}" vid="{2963E896-880A-42B6-99FF-93DBD5586BD1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理科模板</Template>
  <TotalTime>115</TotalTime>
  <Words>3521</Words>
  <Application>Microsoft Office PowerPoint</Application>
  <PresentationFormat>宽屏</PresentationFormat>
  <Paragraphs>178</Paragraphs>
  <Slides>52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19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52</vt:i4>
      </vt:variant>
    </vt:vector>
  </HeadingPairs>
  <TitlesOfParts>
    <vt:vector size="73" baseType="lpstr">
      <vt:lpstr>NEU-BZ-S92</vt:lpstr>
      <vt:lpstr>Open Sans</vt:lpstr>
      <vt:lpstr>方正书宋_GBK</vt:lpstr>
      <vt:lpstr>方正姚体</vt:lpstr>
      <vt:lpstr>方正正中黑简体</vt:lpstr>
      <vt:lpstr>仿宋</vt:lpstr>
      <vt:lpstr>黑体</vt:lpstr>
      <vt:lpstr>华文细黑</vt:lpstr>
      <vt:lpstr>华文新魏</vt:lpstr>
      <vt:lpstr>楷体</vt:lpstr>
      <vt:lpstr>隶书</vt:lpstr>
      <vt:lpstr>思源黑体 CN Medium</vt:lpstr>
      <vt:lpstr>宋体</vt:lpstr>
      <vt:lpstr>微软雅黑</vt:lpstr>
      <vt:lpstr>Arial</vt:lpstr>
      <vt:lpstr>Calibri</vt:lpstr>
      <vt:lpstr>Cambria Math</vt:lpstr>
      <vt:lpstr>Microsoft Yi Baiti</vt:lpstr>
      <vt:lpstr>Times New Roman</vt:lpstr>
      <vt:lpstr>1_Office 主题</vt:lpstr>
      <vt:lpstr>文档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ITSK.com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SkyUser</dc:creator>
  <cp:lastModifiedBy>Windows User</cp:lastModifiedBy>
  <cp:revision>48</cp:revision>
  <dcterms:created xsi:type="dcterms:W3CDTF">2021-08-30T08:30:26Z</dcterms:created>
  <dcterms:modified xsi:type="dcterms:W3CDTF">2025-08-20T01:06:57Z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2052-11.1.0.10000</vt:lpwstr>
  </property>
</Properties>
</file>