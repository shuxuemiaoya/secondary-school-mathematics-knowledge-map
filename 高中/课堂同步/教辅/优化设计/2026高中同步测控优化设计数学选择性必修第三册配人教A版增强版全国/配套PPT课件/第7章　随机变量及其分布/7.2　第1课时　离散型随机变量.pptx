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677" r:id="rId2"/>
    <p:sldId id="488" r:id="rId3"/>
    <p:sldId id="494" r:id="rId4"/>
    <p:sldId id="392" r:id="rId5"/>
    <p:sldId id="686" r:id="rId6"/>
    <p:sldId id="756" r:id="rId7"/>
    <p:sldId id="757" r:id="rId8"/>
    <p:sldId id="758" r:id="rId9"/>
    <p:sldId id="759" r:id="rId10"/>
    <p:sldId id="407" r:id="rId11"/>
    <p:sldId id="394" r:id="rId12"/>
    <p:sldId id="699" r:id="rId13"/>
    <p:sldId id="700" r:id="rId14"/>
    <p:sldId id="701" r:id="rId15"/>
    <p:sldId id="402" r:id="rId16"/>
    <p:sldId id="720" r:id="rId17"/>
    <p:sldId id="721" r:id="rId18"/>
    <p:sldId id="767" r:id="rId19"/>
    <p:sldId id="498" r:id="rId20"/>
    <p:sldId id="730" r:id="rId21"/>
    <p:sldId id="760" r:id="rId22"/>
    <p:sldId id="761" r:id="rId23"/>
    <p:sldId id="733" r:id="rId24"/>
    <p:sldId id="743" r:id="rId25"/>
    <p:sldId id="744" r:id="rId26"/>
    <p:sldId id="766" r:id="rId27"/>
    <p:sldId id="741" r:id="rId28"/>
    <p:sldId id="738" r:id="rId29"/>
    <p:sldId id="751" r:id="rId30"/>
    <p:sldId id="752" r:id="rId31"/>
    <p:sldId id="398" r:id="rId32"/>
    <p:sldId id="395" r:id="rId33"/>
    <p:sldId id="763" r:id="rId34"/>
    <p:sldId id="764" r:id="rId35"/>
    <p:sldId id="765" r:id="rId36"/>
    <p:sldId id="490"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1.xml"/><Relationship Id="rId1" Type="http://schemas.openxmlformats.org/officeDocument/2006/relationships/slideMaster" Target="../slideMasters/slideMaster1.xml"/><Relationship Id="rId5" Type="http://schemas.openxmlformats.org/officeDocument/2006/relationships/slide" Target="../slides/slide27.xml"/><Relationship Id="rId4" Type="http://schemas.openxmlformats.org/officeDocument/2006/relationships/slide" Target="../slides/slide1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规范解答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package" Target="../embeddings/Microsoft_Word___2.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1</a:t>
              </a:r>
              <a:r>
                <a:rPr lang="zh-CN" altLang="en-US" sz="3600" b="1">
                  <a:solidFill>
                    <a:schemeClr val="bg1"/>
                  </a:solidFill>
                  <a:latin typeface="华文细黑" panose="02010600040101010101" charset="-122"/>
                  <a:ea typeface="华文细黑" panose="02010600040101010101" charset="-122"/>
                </a:rPr>
                <a:t>课时　离散型随机变量</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第七章</a:t>
            </a:r>
            <a:endPar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rPr>
              <a:t>7.2</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4" name="矩形 3"/>
          <p:cNvSpPr>
            <a:spLocks noChangeAspect="1"/>
          </p:cNvSpPr>
          <p:nvPr/>
        </p:nvSpPr>
        <p:spPr>
          <a:xfrm>
            <a:off x="381000" y="2078463"/>
            <a:ext cx="11430000" cy="228068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理解随机变量及离散型随机变量的含义</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会用离散型随机变量描述随机现象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能够确定离散型随机变量所有可能的取值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3</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提升数学抽象、数学建模等核心素养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离散型随机变量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抛掷一枚质地均匀的硬币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正面朝上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反面朝上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两种可能结果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可以将试验结果用数值来表示吗</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在一块地里种</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棵树苗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设成活的树苗棵数为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可取什么数值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可将试验结果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正面朝上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反面朝上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6285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对于随机试验样本空间</a:t>
            </a:r>
            <a:r>
              <a:rPr lang="en-US" altLang="zh-CN" sz="2800" i="1">
                <a:solidFill>
                  <a:srgbClr val="000000"/>
                </a:solidFill>
                <a:latin typeface="Times New Roman" panose="02020603050405020304" pitchFamily="18" charset="0"/>
                <a:cs typeface="Times New Roman" panose="02020603050405020304" pitchFamily="18" charset="0"/>
              </a:rPr>
              <a:t>Ω</a:t>
            </a:r>
            <a:r>
              <a:rPr lang="zh-CN" altLang="zh-CN" sz="2800">
                <a:solidFill>
                  <a:srgbClr val="000000"/>
                </a:solidFill>
                <a:latin typeface="Times New Roman" panose="02020603050405020304" pitchFamily="18" charset="0"/>
                <a:cs typeface="Times New Roman" panose="02020603050405020304" pitchFamily="18" charset="0"/>
              </a:rPr>
              <a:t>中的每个样本点</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都有唯一的实数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与之对应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随机变量</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可能取值为有限个或</a:t>
            </a:r>
            <a:r>
              <a:rPr lang="zh-CN" altLang="zh-CN" sz="2800" smtClean="0">
                <a:solidFill>
                  <a:srgbClr val="000000"/>
                </a:solidFill>
                <a:latin typeface="Times New Roman" panose="02020603050405020304" pitchFamily="18" charset="0"/>
                <a:cs typeface="Times New Roman" panose="02020603050405020304" pitchFamily="18" charset="0"/>
              </a:rPr>
              <a:t>可以</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一一列举</a:t>
            </a:r>
            <a:r>
              <a:rPr lang="en-US" altLang="zh-CN" sz="2800" smtClean="0">
                <a:solidFill>
                  <a:srgbClr val="FF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我们称之为离散型随机变量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通常用大写英文字母表示随机变量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例如</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X</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Y</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Z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用小写英文字母表示随机变量的取值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例如</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x</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y</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z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有如下共同点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取值依赖于样本点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所有可能取值是明确的</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336122" y="1918521"/>
            <a:ext cx="156698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336122" y="2470118"/>
            <a:ext cx="15669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827080" y="2506843"/>
            <a:ext cx="156698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4827080" y="3058440"/>
            <a:ext cx="15669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766223" y="3036668"/>
            <a:ext cx="102943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7766223" y="3588265"/>
            <a:ext cx="10294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478737" y="3610037"/>
            <a:ext cx="83349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478737" y="4161634"/>
            <a:ext cx="833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344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371190"/>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将一枚质地均匀的骰子连续抛掷两次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可以作为随机变量的是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第一次出现的点数</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第二次出现的点数</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两次出现的点数之和</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两次出现相同点的种数</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下列随机变量中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不是离散型随机变量的是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某人射击一次中靶的环数</a:t>
            </a:r>
            <a:r>
              <a:rPr lang="en-US" altLang="zh-CN" sz="2800" i="1">
                <a:solidFill>
                  <a:srgbClr val="000000"/>
                </a:solidFill>
                <a:latin typeface="Times New Roman" panose="02020603050405020304" pitchFamily="18" charset="0"/>
                <a:cs typeface="Times New Roman" panose="02020603050405020304" pitchFamily="18" charset="0"/>
              </a:rPr>
              <a:t>X</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某水位监测站所测水位在区间</a:t>
            </a:r>
            <a:r>
              <a:rPr lang="en-US" altLang="zh-CN" sz="2800">
                <a:solidFill>
                  <a:srgbClr val="000000"/>
                </a:solidFill>
                <a:latin typeface="Times New Roman" panose="02020603050405020304" pitchFamily="18" charset="0"/>
                <a:cs typeface="Times New Roman" panose="02020603050405020304" pitchFamily="18" charset="0"/>
              </a:rPr>
              <a:t>(0,18]</a:t>
            </a:r>
            <a:r>
              <a:rPr lang="zh-CN" altLang="zh-CN" sz="2800">
                <a:solidFill>
                  <a:srgbClr val="000000"/>
                </a:solidFill>
                <a:latin typeface="Times New Roman" panose="02020603050405020304" pitchFamily="18" charset="0"/>
                <a:cs typeface="Times New Roman" panose="02020603050405020304" pitchFamily="18" charset="0"/>
              </a:rPr>
              <a:t>上变化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该水位监测站所测水位</a:t>
            </a:r>
            <a:r>
              <a:rPr lang="en-US" altLang="zh-CN" sz="2800" i="1">
                <a:solidFill>
                  <a:srgbClr val="000000"/>
                </a:solidFill>
                <a:latin typeface="Times New Roman" panose="02020603050405020304" pitchFamily="18" charset="0"/>
                <a:cs typeface="Times New Roman" panose="02020603050405020304" pitchFamily="18" charset="0"/>
              </a:rPr>
              <a:t>H</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从装有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红、</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黄共</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个球的口袋中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其中黄球的个数</a:t>
            </a:r>
            <a:r>
              <a:rPr lang="en-US" altLang="zh-CN" sz="2800" i="1">
                <a:solidFill>
                  <a:srgbClr val="000000"/>
                </a:solidFill>
                <a:latin typeface="Times New Roman" panose="02020603050405020304" pitchFamily="18" charset="0"/>
                <a:cs typeface="Times New Roman" panose="02020603050405020304" pitchFamily="18" charset="0"/>
              </a:rPr>
              <a:t>Y</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将一个骰子连续抛掷</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次</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次出现的点数和</a:t>
            </a:r>
            <a:r>
              <a:rPr lang="en-US" altLang="zh-CN" sz="2800" i="1">
                <a:solidFill>
                  <a:srgbClr val="000000"/>
                </a:solidFill>
                <a:latin typeface="Times New Roman" panose="02020603050405020304" pitchFamily="18" charset="0"/>
                <a:cs typeface="Times New Roman" panose="02020603050405020304" pitchFamily="18" charset="0"/>
              </a:rPr>
              <a:t>X</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74197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中出现的点数虽然是随机的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但是其取值所反映的结果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都不能整体反映本试验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整体反映两次抛掷的结果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可以预见两次出现的点数的和是</a:t>
            </a:r>
            <a:r>
              <a:rPr lang="en-US" altLang="zh-CN" sz="2800">
                <a:solidFill>
                  <a:srgbClr val="000000"/>
                </a:solidFill>
                <a:latin typeface="Times New Roman" panose="02020603050405020304" pitchFamily="18" charset="0"/>
                <a:cs typeface="Times New Roman" panose="02020603050405020304" pitchFamily="18" charset="0"/>
              </a:rPr>
              <a:t>2,3,4,5,6,7,8,9,10,11,12,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a:t>
            </a:r>
            <a:r>
              <a:rPr lang="en-US" altLang="zh-CN" sz="2800">
                <a:solidFill>
                  <a:srgbClr val="000000"/>
                </a:solidFill>
                <a:latin typeface="Times New Roman" panose="02020603050405020304" pitchFamily="18" charset="0"/>
                <a:cs typeface="Times New Roman" panose="02020603050405020304" pitchFamily="18" charset="0"/>
              </a:rPr>
              <a:t>11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种结果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但每次试验之前无法确定是</a:t>
            </a:r>
            <a:r>
              <a:rPr lang="en-US" altLang="zh-CN" sz="2800">
                <a:solidFill>
                  <a:srgbClr val="000000"/>
                </a:solidFill>
                <a:latin typeface="Times New Roman" panose="02020603050405020304" pitchFamily="18" charset="0"/>
                <a:cs typeface="Times New Roman" panose="02020603050405020304" pitchFamily="18" charset="0"/>
              </a:rPr>
              <a:t>11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种结果中的哪一个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因此是随机变量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中两次出现相同点的种数为</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是定值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水位在区间</a:t>
            </a:r>
            <a:r>
              <a:rPr lang="en-US" altLang="zh-CN" sz="2800">
                <a:solidFill>
                  <a:srgbClr val="000000"/>
                </a:solidFill>
                <a:latin typeface="Times New Roman" panose="02020603050405020304" pitchFamily="18" charset="0"/>
                <a:cs typeface="Times New Roman" panose="02020603050405020304" pitchFamily="18" charset="0"/>
              </a:rPr>
              <a:t>(0,18</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变</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不能一一举出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(1)C</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24304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923010"/>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随机变量的取值可以是有限个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也可以是无限个</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在抛掷一枚质地均匀的硬币试验中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出现正面的次数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试验之前可以判断离散型随机变量的所有值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8431855" y="3127271"/>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1120627" y="3652158"/>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886122" y="422780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599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随机变量的概念</a:t>
                </a:r>
                <a:endParaRPr lang="zh-CN" altLang="en-US" sz="2800" b="1" dirty="0">
                  <a:solidFill>
                    <a:schemeClr val="bg1"/>
                  </a:solidFill>
                </a:endParaRPr>
              </a:p>
            </p:txBody>
          </p:sp>
        </p:grpSp>
      </p:grpSp>
      <p:sp>
        <p:nvSpPr>
          <p:cNvPr id="2" name="矩形 1"/>
          <p:cNvSpPr>
            <a:spLocks noChangeAspect="1"/>
          </p:cNvSpPr>
          <p:nvPr/>
        </p:nvSpPr>
        <p:spPr>
          <a:xfrm>
            <a:off x="381000" y="1529493"/>
            <a:ext cx="11430000" cy="279307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700" b="1">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700">
                <a:solidFill>
                  <a:srgbClr val="000000"/>
                </a:solidFill>
                <a:latin typeface="NEU-BZ-S92"/>
                <a:ea typeface="Arial" panose="020B0604020202020204" pitchFamily="34" charset="0"/>
                <a:cs typeface="Times New Roman" panose="02020603050405020304" pitchFamily="18" charset="0"/>
              </a:rPr>
              <a:t> </a:t>
            </a:r>
            <a:r>
              <a:rPr lang="zh-CN" altLang="zh-CN" sz="2700">
                <a:solidFill>
                  <a:srgbClr val="000000"/>
                </a:solidFill>
                <a:latin typeface="Times New Roman" panose="02020603050405020304" pitchFamily="18" charset="0"/>
                <a:cs typeface="Times New Roman" panose="02020603050405020304" pitchFamily="18" charset="0"/>
              </a:rPr>
              <a:t>判断下列各个量是不是随机变量</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并说明理由</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从</a:t>
            </a:r>
            <a:r>
              <a:rPr lang="en-US" altLang="zh-CN" sz="2700">
                <a:solidFill>
                  <a:srgbClr val="000000"/>
                </a:solidFill>
                <a:latin typeface="Times New Roman" panose="02020603050405020304" pitchFamily="18" charset="0"/>
                <a:cs typeface="Times New Roman" panose="02020603050405020304" pitchFamily="18" charset="0"/>
              </a:rPr>
              <a:t>10</a:t>
            </a:r>
            <a:r>
              <a:rPr lang="zh-CN" altLang="zh-CN" sz="2700">
                <a:solidFill>
                  <a:srgbClr val="000000"/>
                </a:solidFill>
                <a:latin typeface="Times New Roman" panose="02020603050405020304" pitchFamily="18" charset="0"/>
                <a:cs typeface="Times New Roman" panose="02020603050405020304" pitchFamily="18" charset="0"/>
              </a:rPr>
              <a:t>张已编好号码的卡片</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从</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号到</a:t>
            </a:r>
            <a:r>
              <a:rPr lang="en-US" altLang="zh-CN" sz="2700">
                <a:solidFill>
                  <a:srgbClr val="000000"/>
                </a:solidFill>
                <a:latin typeface="Times New Roman" panose="02020603050405020304" pitchFamily="18" charset="0"/>
                <a:cs typeface="Times New Roman" panose="02020603050405020304" pitchFamily="18" charset="0"/>
              </a:rPr>
              <a:t>10</a:t>
            </a:r>
            <a:r>
              <a:rPr lang="zh-CN" altLang="zh-CN" sz="2700">
                <a:solidFill>
                  <a:srgbClr val="000000"/>
                </a:solidFill>
                <a:latin typeface="Times New Roman" panose="02020603050405020304" pitchFamily="18" charset="0"/>
                <a:cs typeface="Times New Roman" panose="02020603050405020304" pitchFamily="18" charset="0"/>
              </a:rPr>
              <a:t>号</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中随机抽</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张</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被抽出卡片的号数</a:t>
            </a:r>
            <a:r>
              <a:rPr lang="en-US" altLang="zh-CN" sz="2700">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smtClean="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cs typeface="Times New Roman" panose="02020603050405020304" pitchFamily="18" charset="0"/>
              </a:rPr>
              <a:t>体积为</a:t>
            </a:r>
            <a:r>
              <a:rPr lang="en-US" altLang="zh-CN" sz="2700">
                <a:solidFill>
                  <a:srgbClr val="000000"/>
                </a:solidFill>
                <a:latin typeface="Times New Roman" panose="02020603050405020304" pitchFamily="18" charset="0"/>
                <a:cs typeface="Times New Roman" panose="02020603050405020304" pitchFamily="18" charset="0"/>
              </a:rPr>
              <a:t>8 cm</a:t>
            </a:r>
            <a:r>
              <a:rPr lang="en-US" altLang="zh-CN" sz="2700" baseline="30000">
                <a:solidFill>
                  <a:srgbClr val="000000"/>
                </a:solidFill>
                <a:latin typeface="Times New Roman" panose="02020603050405020304" pitchFamily="18" charset="0"/>
                <a:cs typeface="Times New Roman" panose="02020603050405020304" pitchFamily="18" charset="0"/>
              </a:rPr>
              <a:t>3</a:t>
            </a:r>
            <a:r>
              <a:rPr lang="zh-CN" altLang="zh-CN" sz="2700">
                <a:solidFill>
                  <a:srgbClr val="000000"/>
                </a:solidFill>
                <a:latin typeface="Times New Roman" panose="02020603050405020304" pitchFamily="18" charset="0"/>
                <a:cs typeface="Times New Roman" panose="02020603050405020304" pitchFamily="18" charset="0"/>
              </a:rPr>
              <a:t>的正方体的棱长</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7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被抽出卡片的号数可能是</a:t>
            </a:r>
            <a:r>
              <a:rPr lang="en-US" altLang="zh-CN" sz="2700">
                <a:solidFill>
                  <a:srgbClr val="000000"/>
                </a:solidFill>
                <a:latin typeface="Times New Roman" panose="02020603050405020304" pitchFamily="18" charset="0"/>
                <a:cs typeface="Times New Roman" panose="02020603050405020304" pitchFamily="18" charset="0"/>
              </a:rPr>
              <a:t>1,2,</a:t>
            </a:r>
            <a:r>
              <a:rPr lang="en-US" altLang="zh-CN" sz="27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,10,</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出现哪种结果是随机的</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是随机变量</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smtClean="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正方体的棱长为定值</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不是随机变量</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3176290"/>
              </p:ext>
            </p:extLst>
          </p:nvPr>
        </p:nvGraphicFramePr>
        <p:xfrm>
          <a:off x="458424" y="843128"/>
          <a:ext cx="11275153" cy="494148"/>
        </p:xfrm>
        <a:graphic>
          <a:graphicData uri="http://schemas.openxmlformats.org/presentationml/2006/ole">
            <mc:AlternateContent xmlns:mc="http://schemas.openxmlformats.org/markup-compatibility/2006">
              <mc:Choice xmlns:v="urn:schemas-microsoft-com:vml" Requires="v">
                <p:oleObj spid="_x0000_s2086"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843128"/>
                        <a:ext cx="11275153" cy="494148"/>
                      </a:xfrm>
                      <a:prstGeom prst="rect">
                        <a:avLst/>
                      </a:prstGeom>
                    </p:spPr>
                  </p:pic>
                </p:oleObj>
              </mc:Fallback>
            </mc:AlternateContent>
          </a:graphicData>
        </a:graphic>
      </p:graphicFrame>
      <p:sp>
        <p:nvSpPr>
          <p:cNvPr id="3" name="矩形 2"/>
          <p:cNvSpPr>
            <a:spLocks noChangeAspect="1"/>
          </p:cNvSpPr>
          <p:nvPr/>
        </p:nvSpPr>
        <p:spPr>
          <a:xfrm>
            <a:off x="381000" y="1362857"/>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判断一个试验是不是随机试验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依据是这个试验是否满足随机试验的三个条件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试验在相同条件下可重复进行</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试验的所有可能的结果是明确可知的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并且试验的结果不止一个</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每次试验总是恰好出现这些可能结果中的一个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但在一次试验之前不能确定出现哪一个结果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对于随机试验样本空间</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中的每个样本点</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都有唯一的实数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与之对应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944290"/>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判断下列各个量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哪些是随机变量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哪些不是随机变量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并说明理由</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某天当中甲公司客服接到咨询电话的个数</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在标准大气压下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水沸腾的温度</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在一次绘画作品评比中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设一、二、三等奖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所有参赛作品都会获得奖次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小明的一件参赛作品获得的奖次</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半径为</a:t>
            </a:r>
            <a:r>
              <a:rPr lang="en-US" altLang="zh-CN" sz="2800">
                <a:solidFill>
                  <a:srgbClr val="000000"/>
                </a:solidFill>
                <a:latin typeface="Times New Roman" panose="02020603050405020304" pitchFamily="18" charset="0"/>
                <a:cs typeface="Times New Roman" panose="02020603050405020304" pitchFamily="18" charset="0"/>
              </a:rPr>
              <a:t>2 cm</a:t>
            </a:r>
            <a:r>
              <a:rPr lang="zh-CN" altLang="zh-CN" sz="2800">
                <a:solidFill>
                  <a:srgbClr val="000000"/>
                </a:solidFill>
                <a:latin typeface="Times New Roman" panose="02020603050405020304" pitchFamily="18" charset="0"/>
                <a:cs typeface="Times New Roman" panose="02020603050405020304" pitchFamily="18" charset="0"/>
              </a:rPr>
              <a:t>的圆的面积</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7841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接到咨询电话的个数可能是</a:t>
            </a:r>
            <a:r>
              <a:rPr lang="en-US" altLang="zh-CN" sz="2800">
                <a:solidFill>
                  <a:srgbClr val="000000"/>
                </a:solidFill>
                <a:latin typeface="Times New Roman" panose="02020603050405020304" pitchFamily="18" charset="0"/>
                <a:cs typeface="Times New Roman" panose="02020603050405020304" pitchFamily="18" charset="0"/>
              </a:rPr>
              <a:t>0,1,2,</a:t>
            </a:r>
            <a:r>
              <a:rPr lang="en-US" altLang="zh-CN" sz="2800">
                <a:solidFill>
                  <a:srgbClr val="000000"/>
                </a:solidFill>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出现哪一个结果都是随机的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在标准大气压下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水沸腾的温度是</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是定值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因此不是随机变量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获得的奖次可能是一</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二</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出现哪一个结果都是随机的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cm</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的圆的面积为定值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因此不是随机变量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离散型随机变量的判定</a:t>
                </a:r>
                <a:endParaRPr lang="zh-CN" altLang="en-US" sz="2800" b="1" dirty="0">
                  <a:solidFill>
                    <a:schemeClr val="bg1"/>
                  </a:solidFill>
                </a:endParaRPr>
              </a:p>
            </p:txBody>
          </p:sp>
        </p:grpSp>
      </p:grpSp>
      <p:sp>
        <p:nvSpPr>
          <p:cNvPr id="3" name="矩形 2"/>
          <p:cNvSpPr>
            <a:spLocks noChangeAspect="1"/>
          </p:cNvSpPr>
          <p:nvPr/>
        </p:nvSpPr>
        <p:spPr>
          <a:xfrm>
            <a:off x="381000" y="603150"/>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指出下列随机变量是不是离散型随机变量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并说明理由</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某座大桥一天经过的车辆数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连续不断地射击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首次命中目标需要的射击次数</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某加工厂加工的一批某种钢管的外径与规定的外径尺寸之差</a:t>
            </a:r>
            <a:r>
              <a:rPr lang="en-US" altLang="zh-CN" sz="2800" i="1">
                <a:solidFill>
                  <a:srgbClr val="000000"/>
                </a:solidFill>
                <a:latin typeface="Times New Roman" panose="02020603050405020304" pitchFamily="18" charset="0"/>
                <a:cs typeface="Times New Roman" panose="02020603050405020304" pitchFamily="18" charset="0"/>
              </a:rPr>
              <a:t>Z.</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车辆数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的可能取值可以一一列出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命中时需要的射击次数</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实际测量值与规定值之间的差值的可能取值是在某个区间内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无法一一列出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0" dur="500"/>
                                        <p:tgtEl>
                                          <p:spTgt spid="3">
                                            <p:txEl>
                                              <p:pRg st="5" end="5"/>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19314722"/>
              </p:ext>
            </p:extLst>
          </p:nvPr>
        </p:nvGraphicFramePr>
        <p:xfrm>
          <a:off x="458424" y="1490399"/>
          <a:ext cx="11275153" cy="494148"/>
        </p:xfrm>
        <a:graphic>
          <a:graphicData uri="http://schemas.openxmlformats.org/presentationml/2006/ole">
            <mc:AlternateContent xmlns:mc="http://schemas.openxmlformats.org/markup-compatibility/2006">
              <mc:Choice xmlns:v="urn:schemas-microsoft-com:vml" Requires="v">
                <p:oleObj spid="_x0000_s3103"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90399"/>
                        <a:ext cx="11275153" cy="494148"/>
                      </a:xfrm>
                      <a:prstGeom prst="rect">
                        <a:avLst/>
                      </a:prstGeom>
                    </p:spPr>
                  </p:pic>
                </p:oleObj>
              </mc:Fallback>
            </mc:AlternateContent>
          </a:graphicData>
        </a:graphic>
      </p:graphicFrame>
      <p:sp>
        <p:nvSpPr>
          <p:cNvPr id="3" name="矩形 2"/>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判断一个随机变量是不是离散型随机变量的具体方法</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明确随机试验的所有可能结果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将随机试验的各个试验结果数量化</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确定试验结果所对应的实数是否可按一定次序一一列出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如果能一一列出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那么该随机变量是离散型随机变量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否则不是</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32208"/>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指出下列随机变量是不是离散型随机变量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并说明理由</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一个沿数轴进行随机运动的质点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它在数轴上的位置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一个袋中装有大小、质地相同的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个白球和</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个黑球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从中任取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其中所含白球的个数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某林场树木最高达</a:t>
            </a:r>
            <a:r>
              <a:rPr lang="en-US" altLang="zh-CN" sz="2800">
                <a:solidFill>
                  <a:srgbClr val="000000"/>
                </a:solidFill>
                <a:latin typeface="Times New Roman" panose="02020603050405020304" pitchFamily="18" charset="0"/>
                <a:cs typeface="Times New Roman" panose="02020603050405020304" pitchFamily="18" charset="0"/>
              </a:rPr>
              <a:t>30 m,</a:t>
            </a:r>
            <a:r>
              <a:rPr lang="zh-CN" altLang="zh-CN" sz="2800">
                <a:solidFill>
                  <a:srgbClr val="000000"/>
                </a:solidFill>
                <a:latin typeface="Times New Roman" panose="02020603050405020304" pitchFamily="18" charset="0"/>
                <a:cs typeface="Times New Roman" panose="02020603050405020304" pitchFamily="18" charset="0"/>
              </a:rPr>
              <a:t>则此林场中树木的高度</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77854"/>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一个沿数轴进行随机运动的质点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它在数轴上的位置是连续变化的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因此不是一个离散型随机变量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因为从</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个球中任取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可能的结果有以下几种</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个白球和</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个黑球</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个白球和</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个黑球</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个黑球</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所以所含白球的个数可以一一列出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符合离散型随机变量的定义</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虽然林场树木的高度是一个随机变量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但它可以取区间</a:t>
            </a:r>
            <a:r>
              <a:rPr lang="en-US" altLang="zh-CN" sz="2800">
                <a:solidFill>
                  <a:srgbClr val="000000"/>
                </a:solidFill>
                <a:latin typeface="Times New Roman" panose="02020603050405020304" pitchFamily="18" charset="0"/>
                <a:cs typeface="Times New Roman" panose="02020603050405020304" pitchFamily="18" charset="0"/>
              </a:rPr>
              <a:t>(0,30]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上的一切值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无法一一列举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07955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随机变量的可能取值及试验结果</a:t>
                </a:r>
                <a:endParaRPr lang="zh-CN" altLang="en-US" sz="2800" b="1" dirty="0">
                  <a:solidFill>
                    <a:schemeClr val="bg1"/>
                  </a:solidFill>
                </a:endParaRPr>
              </a:p>
            </p:txBody>
          </p:sp>
        </p:grpSp>
      </p:grpSp>
      <p:sp>
        <p:nvSpPr>
          <p:cNvPr id="3" name="矩形 2"/>
          <p:cNvSpPr>
            <a:spLocks noChangeAspect="1"/>
          </p:cNvSpPr>
          <p:nvPr/>
        </p:nvSpPr>
        <p:spPr>
          <a:xfrm>
            <a:off x="381000" y="1296286"/>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写出下列随机变量的所有可能的取值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并说明随机变量的每个取值表示的随机试验的结果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一个袋中装有除颜色外其他完全相同的</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从中任取</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其中所含白球的个数</a:t>
            </a:r>
            <a:r>
              <a:rPr lang="en-US" altLang="zh-CN" sz="2800" i="1">
                <a:solidFill>
                  <a:srgbClr val="000000"/>
                </a:solidFill>
                <a:latin typeface="Times New Roman" panose="02020603050405020304" pitchFamily="18" charset="0"/>
                <a:cs typeface="Times New Roman" panose="02020603050405020304" pitchFamily="18" charset="0"/>
              </a:rPr>
              <a:t>X.</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一个袋中装有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个大小、质地相同的黑球</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编号依次为</a:t>
            </a:r>
            <a:r>
              <a:rPr lang="en-US" altLang="zh-CN" sz="2800" smtClean="0">
                <a:solidFill>
                  <a:srgbClr val="000000"/>
                </a:solidFill>
                <a:latin typeface="Times New Roman" panose="02020603050405020304" pitchFamily="18" charset="0"/>
                <a:cs typeface="Times New Roman" panose="02020603050405020304" pitchFamily="18" charset="0"/>
              </a:rPr>
              <a:t>1,2,3,4,5</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从中任取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取出的球的最大号码</a:t>
            </a:r>
            <a:r>
              <a:rPr lang="en-US" altLang="zh-CN" sz="2800" i="1">
                <a:solidFill>
                  <a:srgbClr val="000000"/>
                </a:solidFill>
                <a:latin typeface="Times New Roman" panose="02020603050405020304" pitchFamily="18" charset="0"/>
                <a:cs typeface="Times New Roman" panose="02020603050405020304" pitchFamily="18" charset="0"/>
              </a:rPr>
              <a:t>Y.</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91738"/>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个球全是红球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1,2,4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2,3,4”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1,2,5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1,3,5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1,4,5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2,3,5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2,4,5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2">
            <a:clrChange>
              <a:clrFrom>
                <a:srgbClr val="FFFFFF"/>
              </a:clrFrom>
              <a:clrTo>
                <a:srgbClr val="FFFFFF">
                  <a:alpha val="0"/>
                </a:srgbClr>
              </a:clrTo>
            </a:clrChange>
          </a:blip>
          <a:stretch>
            <a:fillRect/>
          </a:stretch>
        </p:blipFill>
        <p:spPr>
          <a:xfrm>
            <a:off x="4966271" y="1305863"/>
            <a:ext cx="2259458" cy="412065"/>
          </a:xfrm>
          <a:prstGeom prst="rect">
            <a:avLst/>
          </a:prstGeom>
        </p:spPr>
      </p:pic>
      <p:sp>
        <p:nvSpPr>
          <p:cNvPr id="3" name="矩形 2"/>
          <p:cNvSpPr>
            <a:spLocks noChangeAspect="1"/>
          </p:cNvSpPr>
          <p:nvPr/>
        </p:nvSpPr>
        <p:spPr>
          <a:xfrm>
            <a:off x="381000" y="1717928"/>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在本例</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条件下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规定每取出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个红球赢</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而每取出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个白球输</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Z</a:t>
            </a:r>
            <a:r>
              <a:rPr lang="zh-CN" altLang="zh-CN" sz="2800">
                <a:solidFill>
                  <a:srgbClr val="000000"/>
                </a:solidFill>
                <a:latin typeface="Times New Roman" panose="02020603050405020304" pitchFamily="18" charset="0"/>
                <a:cs typeface="Times New Roman" panose="02020603050405020304" pitchFamily="18" charset="0"/>
              </a:rPr>
              <a:t>表示赢得的钱数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结果如何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个球全是红球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0776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288686"/>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本例</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最大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改为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最小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其他条件不变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应如何解答</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81000" y="2007877"/>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3,4,5”;</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2,3,4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2,3,5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2,4,5”;</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个球的编号为</a:t>
            </a:r>
            <a:r>
              <a:rPr lang="en-US" altLang="zh-CN" sz="2800">
                <a:solidFill>
                  <a:srgbClr val="000000"/>
                </a:solidFill>
                <a:latin typeface="Times New Roman" panose="02020603050405020304" pitchFamily="18" charset="0"/>
                <a:cs typeface="Times New Roman" panose="02020603050405020304" pitchFamily="18" charset="0"/>
              </a:rPr>
              <a:t>1,2,5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1,3,5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1,4,5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7516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777590505"/>
              </p:ext>
            </p:extLst>
          </p:nvPr>
        </p:nvGraphicFramePr>
        <p:xfrm>
          <a:off x="458424" y="1901366"/>
          <a:ext cx="11275153" cy="494148"/>
        </p:xfrm>
        <a:graphic>
          <a:graphicData uri="http://schemas.openxmlformats.org/presentationml/2006/ole">
            <mc:AlternateContent xmlns:mc="http://schemas.openxmlformats.org/markup-compatibility/2006">
              <mc:Choice xmlns:v="urn:schemas-microsoft-com:vml" Requires="v">
                <p:oleObj spid="_x0000_s4125"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901366"/>
                        <a:ext cx="11275153" cy="494148"/>
                      </a:xfrm>
                      <a:prstGeom prst="rect">
                        <a:avLst/>
                      </a:prstGeom>
                    </p:spPr>
                  </p:pic>
                </p:oleObj>
              </mc:Fallback>
            </mc:AlternateContent>
          </a:graphicData>
        </a:graphic>
      </p:graphicFrame>
      <p:sp>
        <p:nvSpPr>
          <p:cNvPr id="4" name="矩形 3"/>
          <p:cNvSpPr>
            <a:spLocks noChangeAspect="1"/>
          </p:cNvSpPr>
          <p:nvPr/>
        </p:nvSpPr>
        <p:spPr>
          <a:xfrm>
            <a:off x="381000" y="2483164"/>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用随机变量表示随机试验的结果问题的关键点和注意点</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关键点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明确随机变量的所有可能取值以及取每一个值对应的意义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即一个随机变量的取值对应一个或多个随机试验的结果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解答过程中不要漏掉某些试验结果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1627733"/>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写出下列随机变量的可能取值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并说明随机变量所取的值表示的随机试验的结果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某足球队队员在</a:t>
            </a:r>
            <a:r>
              <a:rPr lang="en-US" altLang="zh-CN" sz="2800" smtClean="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次点球中射进的球数</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已知一辆汽车在开往目的地的道路上需通过</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盏信号灯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汽车首次停下时已通过的信号灯的盏数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57306"/>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Z</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次点球中射进</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次点球中射进</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次点球中射进</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次点球中射进</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次点球中射进</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次点球全部射进</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11419"/>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盏信号灯前就停下了</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通过了</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盏信号灯前停下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通过了</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盏信号灯前停下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通过了</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盏信号灯前停下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通过了</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盏信号灯前停下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在途中没有停下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直达目的地</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50091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rPr>
                <a:t>规范解答</a:t>
              </a:r>
              <a:endParaRPr lang="zh-CN" altLang="en-US" sz="2800" b="1" dirty="0">
                <a:solidFill>
                  <a:schemeClr val="bg1"/>
                </a:solidFill>
              </a:endParaRPr>
            </a:p>
          </p:txBody>
        </p:sp>
      </p:grpSp>
      <p:sp>
        <p:nvSpPr>
          <p:cNvPr id="3" name="矩形 2"/>
          <p:cNvSpPr>
            <a:spLocks noChangeAspect="1"/>
          </p:cNvSpPr>
          <p:nvPr/>
        </p:nvSpPr>
        <p:spPr>
          <a:xfrm>
            <a:off x="381000" y="1396354"/>
            <a:ext cx="11430000" cy="3953133"/>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随机变量与函数的关系</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【典例】</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抛掷两枚质地均匀的骰子各一次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记第一枚骰子掷出的点数与第二枚骰子掷出的点数之差为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的值域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表示的试验结果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规范展示</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设第一枚骰子掷出的点数为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第二枚骰子掷出的点数为</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1,2,3,4,5,6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依题意得</a:t>
            </a:r>
            <a:r>
              <a:rPr lang="en-US" altLang="zh-CN" sz="2800" i="1">
                <a:solidFill>
                  <a:srgbClr val="000000"/>
                </a:solidFill>
                <a:latin typeface="Times New Roman" panose="02020603050405020304" pitchFamily="18" charset="0"/>
                <a:cs typeface="Times New Roman" panose="02020603050405020304" pitchFamily="18" charset="0"/>
              </a:rPr>
              <a:t>X=x-y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即</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的值域为</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1,0,1,2,3,4,5}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a:solidFill>
                  <a:srgbClr val="000000"/>
                </a:solidFill>
                <a:latin typeface="Cambria Math" panose="02040503050406030204" pitchFamily="18" charset="0"/>
                <a:ea typeface="NEU-BZ-S92"/>
                <a:cs typeface="Cambria Math" panose="020405030504060302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表示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即第一枚骰子掷出</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第二枚骰子掷出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点</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0" dur="500"/>
                                        <p:tgtEl>
                                          <p:spTgt spid="3">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98940895"/>
              </p:ext>
            </p:extLst>
          </p:nvPr>
        </p:nvGraphicFramePr>
        <p:xfrm>
          <a:off x="458424" y="1449303"/>
          <a:ext cx="11275153" cy="494148"/>
        </p:xfrm>
        <a:graphic>
          <a:graphicData uri="http://schemas.openxmlformats.org/presentationml/2006/ole">
            <mc:AlternateContent xmlns:mc="http://schemas.openxmlformats.org/markup-compatibility/2006">
              <mc:Choice xmlns:v="urn:schemas-microsoft-com:vml" Requires="v">
                <p:oleObj spid="_x0000_s6172"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49303"/>
                        <a:ext cx="11275153" cy="494148"/>
                      </a:xfrm>
                      <a:prstGeom prst="rect">
                        <a:avLst/>
                      </a:prstGeom>
                    </p:spPr>
                  </p:pic>
                </p:oleObj>
              </mc:Fallback>
            </mc:AlternateContent>
          </a:graphicData>
        </a:graphic>
      </p:graphicFrame>
      <p:sp>
        <p:nvSpPr>
          <p:cNvPr id="3" name="矩形 2"/>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随机变</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函数</a:t>
            </a:r>
            <a:r>
              <a:rPr lang="en-US" altLang="zh-CN" sz="2800" i="1">
                <a:solidFill>
                  <a:srgbClr val="000000"/>
                </a:solidFill>
                <a:latin typeface="Times New Roman" panose="02020603050405020304" pitchFamily="18" charset="0"/>
                <a:cs typeface="Times New Roman" panose="02020603050405020304" pitchFamily="18" charset="0"/>
              </a:rPr>
              <a:t>f</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的区别</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函数是研究确定性现象的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它定义在实轴上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有确定的因果关系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随机变量从本质上讲就是以随机试验的每一个可能结果为自变量的一个函数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即随机变量的取值实质上是试验结果所对应的数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但这些数是预先知道的所有可能的值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这便是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随机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的本源</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8115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一个袋中装有大小、质地相同的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个白球和</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个黑球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从中任取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其中所含白球的个数</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列表说明可能出现的结果与对应</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若规定抽取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个球中</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每抽到</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en-US" sz="2800">
                <a:solidFill>
                  <a:srgbClr val="000000"/>
                </a:solidFill>
                <a:latin typeface="Times New Roman" panose="02020603050405020304" pitchFamily="18" charset="0"/>
                <a:cs typeface="Times New Roman" panose="02020603050405020304" pitchFamily="18" charset="0"/>
              </a:rPr>
              <a:t>个白球加</a:t>
            </a:r>
            <a:r>
              <a:rPr lang="en-US" altLang="zh-CN" sz="2800" smtClean="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抽到黑球不加分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且最后不管结果如何都加上</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求最终得</a:t>
            </a:r>
            <a:r>
              <a:rPr lang="zh-CN" altLang="zh-CN" sz="2800" smtClean="0">
                <a:solidFill>
                  <a:srgbClr val="000000"/>
                </a:solidFill>
                <a:latin typeface="Times New Roman" panose="02020603050405020304" pitchFamily="18" charset="0"/>
                <a:cs typeface="Times New Roman" panose="02020603050405020304" pitchFamily="18" charset="0"/>
              </a:rPr>
              <a:t>分</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可能取值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并判</a:t>
            </a:r>
            <a:r>
              <a:rPr lang="zh-CN" altLang="zh-CN" sz="2800" smtClean="0">
                <a:solidFill>
                  <a:srgbClr val="000000"/>
                </a:solidFill>
                <a:latin typeface="Times New Roman" panose="02020603050405020304" pitchFamily="18" charset="0"/>
                <a:cs typeface="Times New Roman" panose="02020603050405020304" pitchFamily="18" charset="0"/>
              </a:rPr>
              <a:t>定</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随机变量类型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95524"/>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Y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5</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X</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可能取值为</a:t>
            </a:r>
            <a:r>
              <a:rPr lang="en-US" altLang="zh-CN" sz="2800">
                <a:solidFill>
                  <a:srgbClr val="000000"/>
                </a:solidFill>
                <a:latin typeface="Times New Roman" panose="02020603050405020304" pitchFamily="18" charset="0"/>
                <a:cs typeface="Times New Roman" panose="02020603050405020304" pitchFamily="18" charset="0"/>
              </a:rPr>
              <a:t>0,1,2,3,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η</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对应的各值是</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6,5×1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6,5×2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6,5×3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η</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6,11,16,21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显然</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η</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543142577"/>
              </p:ext>
            </p:extLst>
          </p:nvPr>
        </p:nvGraphicFramePr>
        <p:xfrm>
          <a:off x="381000" y="1501520"/>
          <a:ext cx="11430000" cy="1472184"/>
        </p:xfrm>
        <a:graphic>
          <a:graphicData uri="http://schemas.openxmlformats.org/drawingml/2006/table">
            <a:tbl>
              <a:tblPr firstRow="1" firstCol="1" bandRow="1"/>
              <a:tblGrid>
                <a:gridCol w="1581364"/>
                <a:gridCol w="2208944"/>
                <a:gridCol w="2794571"/>
                <a:gridCol w="2559121"/>
                <a:gridCol w="2286000"/>
              </a:tblGrid>
              <a:tr h="0">
                <a:tc>
                  <a:txBody>
                    <a:bodyPr/>
                    <a:lstStyle/>
                    <a:p>
                      <a:pPr algn="ctr">
                        <a:lnSpc>
                          <a:spcPct val="115000"/>
                        </a:lnSpc>
                        <a:spcAft>
                          <a:spcPts val="0"/>
                        </a:spcAft>
                        <a:tabLst>
                          <a:tab pos="1188085" algn="l"/>
                          <a:tab pos="2163445" algn="l"/>
                          <a:tab pos="3142615" algn="l"/>
                          <a:tab pos="4190365" algn="l"/>
                        </a:tabLst>
                      </a:pPr>
                      <a:r>
                        <a:rPr lang="en-US" sz="2800" i="1" smtClean="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80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可能结果</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取得</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个黑球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取得</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个白球</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lnSpc>
                          <a:spcPct val="115000"/>
                        </a:lnSpc>
                        <a:spcAft>
                          <a:spcPts val="0"/>
                        </a:spcAft>
                        <a:tabLst>
                          <a:tab pos="1188085" algn="l"/>
                          <a:tab pos="2163445" algn="l"/>
                          <a:tab pos="3142615" algn="l"/>
                          <a:tab pos="4190365" algn="l"/>
                        </a:tabLst>
                      </a:pP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个黑球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取得</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个白球</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lnSpc>
                          <a:spcPct val="115000"/>
                        </a:lnSpc>
                        <a:spcAft>
                          <a:spcPts val="0"/>
                        </a:spcAft>
                        <a:tabLst>
                          <a:tab pos="1188085" algn="l"/>
                          <a:tab pos="2163445" algn="l"/>
                          <a:tab pos="3142615" algn="l"/>
                          <a:tab pos="4190365" algn="l"/>
                        </a:tabLst>
                      </a:pP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个黑球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取得</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个白球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49773"/>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下列不是随机变量的是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从编号为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号的大小、质地相同的小球中随机取一个小球的编号</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从早晨</a:t>
            </a:r>
            <a:r>
              <a:rPr lang="en-US" altLang="zh-CN" sz="2800">
                <a:solidFill>
                  <a:srgbClr val="000000"/>
                </a:solidFill>
                <a:latin typeface="Times New Roman" panose="02020603050405020304" pitchFamily="18" charset="0"/>
                <a:cs typeface="Times New Roman" panose="02020603050405020304" pitchFamily="18" charset="0"/>
              </a:rPr>
              <a:t>7:00</a:t>
            </a:r>
            <a:r>
              <a:rPr lang="zh-CN" altLang="zh-CN" sz="2800">
                <a:solidFill>
                  <a:srgbClr val="000000"/>
                </a:solidFill>
                <a:latin typeface="Times New Roman" panose="02020603050405020304" pitchFamily="18" charset="0"/>
                <a:cs typeface="Times New Roman" panose="02020603050405020304" pitchFamily="18" charset="0"/>
              </a:rPr>
              <a:t>到中午</a:t>
            </a:r>
            <a:r>
              <a:rPr lang="en-US" altLang="zh-CN" sz="2800">
                <a:solidFill>
                  <a:srgbClr val="000000"/>
                </a:solidFill>
                <a:latin typeface="Times New Roman" panose="02020603050405020304" pitchFamily="18" charset="0"/>
                <a:cs typeface="Times New Roman" panose="02020603050405020304" pitchFamily="18" charset="0"/>
              </a:rPr>
              <a:t>12:00</a:t>
            </a:r>
            <a:r>
              <a:rPr lang="zh-CN" altLang="zh-CN" sz="2800">
                <a:solidFill>
                  <a:srgbClr val="000000"/>
                </a:solidFill>
                <a:latin typeface="Times New Roman" panose="02020603050405020304" pitchFamily="18" charset="0"/>
                <a:cs typeface="Times New Roman" panose="02020603050405020304" pitchFamily="18" charset="0"/>
              </a:rPr>
              <a:t>某人上班的时间</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C.A,B</a:t>
            </a:r>
            <a:r>
              <a:rPr lang="zh-CN" altLang="zh-CN" sz="2800">
                <a:solidFill>
                  <a:srgbClr val="000000"/>
                </a:solidFill>
                <a:latin typeface="Times New Roman" panose="02020603050405020304" pitchFamily="18" charset="0"/>
                <a:cs typeface="Times New Roman" panose="02020603050405020304" pitchFamily="18" charset="0"/>
              </a:rPr>
              <a:t>两地相距</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 km,</a:t>
            </a:r>
            <a:r>
              <a:rPr lang="zh-CN" altLang="zh-CN" sz="2800">
                <a:solidFill>
                  <a:srgbClr val="000000"/>
                </a:solidFill>
                <a:latin typeface="Times New Roman" panose="02020603050405020304" pitchFamily="18" charset="0"/>
                <a:cs typeface="Times New Roman" panose="02020603050405020304" pitchFamily="18" charset="0"/>
              </a:rPr>
              <a:t>以</a:t>
            </a:r>
            <a:r>
              <a:rPr lang="en-US" altLang="zh-CN" sz="2800" i="1">
                <a:solidFill>
                  <a:srgbClr val="000000"/>
                </a:solidFill>
                <a:latin typeface="Times New Roman" panose="02020603050405020304" pitchFamily="18" charset="0"/>
                <a:cs typeface="Times New Roman" panose="02020603050405020304" pitchFamily="18" charset="0"/>
              </a:rPr>
              <a:t>v</a:t>
            </a:r>
            <a:r>
              <a:rPr lang="en-US" altLang="zh-CN" sz="2800">
                <a:solidFill>
                  <a:srgbClr val="000000"/>
                </a:solidFill>
                <a:latin typeface="Times New Roman" panose="02020603050405020304" pitchFamily="18" charset="0"/>
                <a:cs typeface="Times New Roman" panose="02020603050405020304" pitchFamily="18" charset="0"/>
              </a:rPr>
              <a:t> km/h</a:t>
            </a:r>
            <a:r>
              <a:rPr lang="zh-CN" altLang="zh-CN" sz="2800">
                <a:solidFill>
                  <a:srgbClr val="000000"/>
                </a:solidFill>
                <a:latin typeface="Times New Roman" panose="02020603050405020304" pitchFamily="18" charset="0"/>
                <a:cs typeface="Times New Roman" panose="02020603050405020304" pitchFamily="18" charset="0"/>
              </a:rPr>
              <a:t>的速度从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到达</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的时间</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某网站一天的浏览量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为确定的值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故不是随机变量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38250"/>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下列随机变量中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不是离散型随机变量的是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某机场候机室中一天的旅客数量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连续抛掷一枚质地均匀的硬币</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正面朝上的次数</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某篮球下降过程中离地面的距离</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某道路斑马线一天经过的人数</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ABD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中的随机变量的可能取值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我们都可以按一定次序一一列出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它们都是离散型随机变量</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中的随机变量可以取某一区间内的一切值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无法按一定次序一一列出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中的随机变量不是离散型随机变量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23370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94169"/>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已知一批产品共</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件次品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每次从中任</a:t>
            </a:r>
            <a:r>
              <a:rPr lang="zh-CN" altLang="zh-CN" sz="2800" smtClean="0">
                <a:solidFill>
                  <a:srgbClr val="000000"/>
                </a:solidFill>
                <a:latin typeface="Times New Roman" panose="02020603050405020304" pitchFamily="18" charset="0"/>
                <a:cs typeface="Times New Roman" panose="02020603050405020304" pitchFamily="18" charset="0"/>
              </a:rPr>
              <a:t>取</a:t>
            </a:r>
            <a:r>
              <a:rPr lang="en-US" altLang="zh-CN" sz="2800" smtClean="0">
                <a:solidFill>
                  <a:srgbClr val="000000"/>
                </a:solidFill>
                <a:latin typeface="Times New Roman" panose="02020603050405020304" pitchFamily="18" charset="0"/>
                <a:cs typeface="Times New Roman" panose="02020603050405020304" pitchFamily="18" charset="0"/>
              </a:rPr>
              <a:t>1</a:t>
            </a:r>
            <a:r>
              <a:rPr lang="zh-CN" altLang="zh-CN" sz="2800" smtClean="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在取得合格品之前取出的次品数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的所有可能取值是</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可能第一次就取得合格品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也可能取完次品后才取得合格品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0,1,2,3</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20571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68870"/>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写出下列各随机变量的可能取值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并说明随机变量所取的值表示的随机试验的结果</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盒中装有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支白粉笔和</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支红粉笔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从中任意取出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其中所含白粉笔的支数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所含红粉笔的支数</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在含有</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件次品的</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件产品中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任意抽取</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所含有次品的件数</a:t>
            </a:r>
            <a:r>
              <a:rPr lang="en-US" altLang="zh-CN" sz="2800" i="1">
                <a:solidFill>
                  <a:srgbClr val="000000"/>
                </a:solidFill>
                <a:latin typeface="Times New Roman" panose="02020603050405020304" pitchFamily="18" charset="0"/>
                <a:cs typeface="Times New Roman" panose="02020603050405020304" pitchFamily="18" charset="0"/>
              </a:rPr>
              <a:t>X.</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81000" y="3069504"/>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X=i</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i="1">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支白粉笔</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支红粉笔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Y=j</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a:t>
            </a:r>
            <a:r>
              <a:rPr lang="en-US" altLang="zh-CN" sz="2800" i="1">
                <a:solidFill>
                  <a:srgbClr val="000000"/>
                </a:solidFill>
                <a:latin typeface="Times New Roman" panose="02020603050405020304" pitchFamily="18" charset="0"/>
                <a:cs typeface="Times New Roman" panose="02020603050405020304" pitchFamily="18" charset="0"/>
              </a:rPr>
              <a:t>j</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支红粉笔</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-j</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支白粉笔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j=</a:t>
            </a:r>
            <a:r>
              <a:rPr lang="en-US" altLang="zh-CN" sz="2800">
                <a:solidFill>
                  <a:srgbClr val="000000"/>
                </a:solidFill>
                <a:latin typeface="Times New Roman" panose="02020603050405020304" pitchFamily="18" charset="0"/>
                <a:cs typeface="Times New Roman" panose="02020603050405020304" pitchFamily="18" charset="0"/>
              </a:rPr>
              <a:t>0,1,2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的可能取值为</a:t>
            </a:r>
            <a:r>
              <a:rPr lang="en-US" altLang="zh-CN" sz="2800">
                <a:solidFill>
                  <a:srgbClr val="000000"/>
                </a:solidFill>
                <a:latin typeface="Times New Roman" panose="02020603050405020304" pitchFamily="18" charset="0"/>
                <a:cs typeface="Times New Roman" panose="02020603050405020304" pitchFamily="18" charset="0"/>
              </a:rPr>
              <a:t>0,1,2,3,4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X=i</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取出的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件产品中有</a:t>
            </a:r>
            <a:r>
              <a:rPr lang="en-US" altLang="zh-CN" sz="2800" i="1">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件次品</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0,1,2,3,4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88728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111</TotalTime>
  <Words>4048</Words>
  <Application>Microsoft Office PowerPoint</Application>
  <PresentationFormat>宽屏</PresentationFormat>
  <Paragraphs>194</Paragraphs>
  <Slides>36</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7"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52</cp:revision>
  <dcterms:created xsi:type="dcterms:W3CDTF">2021-08-30T08:30:26Z</dcterms:created>
  <dcterms:modified xsi:type="dcterms:W3CDTF">2025-08-20T01:06:20Z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