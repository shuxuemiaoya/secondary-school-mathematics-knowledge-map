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677" r:id="rId2"/>
    <p:sldId id="488" r:id="rId3"/>
    <p:sldId id="494" r:id="rId4"/>
    <p:sldId id="407" r:id="rId5"/>
    <p:sldId id="394" r:id="rId6"/>
    <p:sldId id="699" r:id="rId7"/>
    <p:sldId id="701" r:id="rId8"/>
    <p:sldId id="756" r:id="rId9"/>
    <p:sldId id="757" r:id="rId10"/>
    <p:sldId id="402" r:id="rId11"/>
    <p:sldId id="720" r:id="rId12"/>
    <p:sldId id="721" r:id="rId13"/>
    <p:sldId id="726" r:id="rId14"/>
    <p:sldId id="753" r:id="rId15"/>
    <p:sldId id="758" r:id="rId16"/>
    <p:sldId id="759" r:id="rId17"/>
    <p:sldId id="760" r:id="rId18"/>
    <p:sldId id="398" r:id="rId19"/>
    <p:sldId id="762" r:id="rId20"/>
    <p:sldId id="763" r:id="rId21"/>
    <p:sldId id="774" r:id="rId22"/>
    <p:sldId id="775" r:id="rId23"/>
    <p:sldId id="776" r:id="rId24"/>
    <p:sldId id="769" r:id="rId25"/>
    <p:sldId id="770" r:id="rId26"/>
    <p:sldId id="771" r:id="rId27"/>
    <p:sldId id="772" r:id="rId28"/>
    <p:sldId id="773" r:id="rId29"/>
    <p:sldId id="490"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slide" Target="../slides/slide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4.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jpeg"/><Relationship Id="rId5" Type="http://schemas.openxmlformats.org/officeDocument/2006/relationships/image" Target="../media/image2.emf"/><Relationship Id="rId4" Type="http://schemas.openxmlformats.org/officeDocument/2006/relationships/package" Target="../embeddings/Microsoft_Word___1.docx"/></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package" Target="../embeddings/Microsoft_Word___3.docx"/></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package" Target="../embeddings/Microsoft_Word___5.docx"/></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0.emf"/><Relationship Id="rId4" Type="http://schemas.openxmlformats.org/officeDocument/2006/relationships/package" Target="../embeddings/Microsoft_Word___7.docx"/></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1.emf"/><Relationship Id="rId4" Type="http://schemas.openxmlformats.org/officeDocument/2006/relationships/package" Target="../embeddings/Microsoft_Word___8.docx"/></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2.emf"/><Relationship Id="rId5" Type="http://schemas.openxmlformats.org/officeDocument/2006/relationships/package" Target="../embeddings/Microsoft_Word___9.docx"/><Relationship Id="rId4" Type="http://schemas.openxmlformats.org/officeDocument/2006/relationships/oleObject" Target="../embeddings/oleObject9.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4.emf"/><Relationship Id="rId4" Type="http://schemas.openxmlformats.org/officeDocument/2006/relationships/package" Target="../embeddings/Microsoft_Word___10.docx"/></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11.vml"/><Relationship Id="rId5" Type="http://schemas.openxmlformats.org/officeDocument/2006/relationships/image" Target="../media/image15.emf"/><Relationship Id="rId4" Type="http://schemas.openxmlformats.org/officeDocument/2006/relationships/package" Target="../embeddings/Microsoft_Word___11.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12.vml"/><Relationship Id="rId5" Type="http://schemas.openxmlformats.org/officeDocument/2006/relationships/image" Target="../media/image16.emf"/><Relationship Id="rId4" Type="http://schemas.openxmlformats.org/officeDocument/2006/relationships/package" Target="../embeddings/Microsoft_Word___12.docx"/></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3.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package" Target="../embeddings/Microsoft_Word___13.docx"/></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vmlDrawing" Target="../drawings/vmlDrawing14.vml"/><Relationship Id="rId5" Type="http://schemas.openxmlformats.org/officeDocument/2006/relationships/image" Target="../media/image18.emf"/><Relationship Id="rId4" Type="http://schemas.openxmlformats.org/officeDocument/2006/relationships/package" Target="../embeddings/Microsoft_Word___14.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vmlDrawing" Target="../drawings/vmlDrawing15.vml"/><Relationship Id="rId5" Type="http://schemas.openxmlformats.org/officeDocument/2006/relationships/image" Target="../media/image19.emf"/><Relationship Id="rId4" Type="http://schemas.openxmlformats.org/officeDocument/2006/relationships/package" Target="../embeddings/Microsoft_Word___15.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3.xml"/><Relationship Id="rId1" Type="http://schemas.openxmlformats.org/officeDocument/2006/relationships/vmlDrawing" Target="../drawings/vmlDrawing16.vml"/><Relationship Id="rId5" Type="http://schemas.openxmlformats.org/officeDocument/2006/relationships/image" Target="../media/image20.emf"/><Relationship Id="rId4" Type="http://schemas.openxmlformats.org/officeDocument/2006/relationships/package" Target="../embeddings/Microsoft_Word___16.docx"/></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xml"/><Relationship Id="rId1" Type="http://schemas.openxmlformats.org/officeDocument/2006/relationships/vmlDrawing" Target="../drawings/vmlDrawing17.vml"/><Relationship Id="rId5" Type="http://schemas.openxmlformats.org/officeDocument/2006/relationships/image" Target="../media/image21.emf"/><Relationship Id="rId4" Type="http://schemas.openxmlformats.org/officeDocument/2006/relationships/package" Target="../embeddings/Microsoft_Word___17.docx"/></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3.xml"/><Relationship Id="rId1" Type="http://schemas.openxmlformats.org/officeDocument/2006/relationships/vmlDrawing" Target="../drawings/vmlDrawing18.vml"/><Relationship Id="rId5" Type="http://schemas.openxmlformats.org/officeDocument/2006/relationships/image" Target="../media/image22.emf"/><Relationship Id="rId4" Type="http://schemas.openxmlformats.org/officeDocument/2006/relationships/package" Target="../embeddings/Microsoft_Word___18.docx"/></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a:solidFill>
                    <a:schemeClr val="bg1"/>
                  </a:solidFill>
                  <a:latin typeface="华文细黑" panose="02010600040101010101" charset="-122"/>
                  <a:ea typeface="华文细黑" panose="02010600040101010101" charset="-122"/>
                </a:rPr>
                <a:t>建立统计模型进行预测</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a:solidFill>
                  <a:schemeClr val="bg1"/>
                </a:solidFill>
                <a:latin typeface="华文细黑" panose="02010600040101010101" charset="-122"/>
                <a:ea typeface="华文细黑" panose="02010600040101010101" charset="-122"/>
                <a:cs typeface="Open Sans" panose="020B0606030504020204" pitchFamily="34" charset="0"/>
              </a:rPr>
              <a:t>数学建模</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6" name="组合 45"/>
          <p:cNvGrpSpPr/>
          <p:nvPr/>
        </p:nvGrpSpPr>
        <p:grpSpPr>
          <a:xfrm>
            <a:off x="4764013" y="1672261"/>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26165" y="1736701"/>
              <a:ext cx="659181"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3238837"/>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26163" y="2786232"/>
              <a:ext cx="659181" cy="613427"/>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3" name="矩形 52">
            <a:hlinkClick r:id="rId2" action="ppaction://hlinksldjump"/>
          </p:cNvPr>
          <p:cNvSpPr/>
          <p:nvPr/>
        </p:nvSpPr>
        <p:spPr>
          <a:xfrm>
            <a:off x="5678538" y="178300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3" action="ppaction://hlinksldjump"/>
          </p:cNvPr>
          <p:cNvSpPr/>
          <p:nvPr/>
        </p:nvSpPr>
        <p:spPr>
          <a:xfrm>
            <a:off x="5678538" y="3367865"/>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2253944"/>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了解建立统计模型进行预测的一般流程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会用数学建模思想解决一些简单问题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3</a:t>
            </a:r>
            <a:r>
              <a:rPr lang="en-US" altLang="zh-CN" sz="2800" i="1" smtClean="0">
                <a:solidFill>
                  <a:srgbClr val="000000"/>
                </a:solidFill>
                <a:latin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提升数学建模</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数学运算和数据分析的核心素养</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利用数学建模求经验回归方程</a:t>
                </a:r>
                <a:endParaRPr lang="zh-CN" altLang="en-US" sz="2800" b="1" dirty="0">
                  <a:solidFill>
                    <a:schemeClr val="bg1"/>
                  </a:solidFill>
                </a:endParaRPr>
              </a:p>
            </p:txBody>
          </p:sp>
        </p:grpSp>
      </p:grpSp>
      <p:sp>
        <p:nvSpPr>
          <p:cNvPr id="2" name="矩形 1"/>
          <p:cNvSpPr>
            <a:spLocks noChangeAspect="1"/>
          </p:cNvSpPr>
          <p:nvPr/>
        </p:nvSpPr>
        <p:spPr>
          <a:xfrm>
            <a:off x="381000" y="582411"/>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下面给出了根据某地</a:t>
            </a:r>
            <a:r>
              <a:rPr lang="en-US" altLang="zh-CN" sz="2800">
                <a:solidFill>
                  <a:srgbClr val="000000"/>
                </a:solidFill>
                <a:latin typeface="Times New Roman" panose="02020603050405020304" pitchFamily="18" charset="0"/>
                <a:cs typeface="Times New Roman" panose="02020603050405020304" pitchFamily="18" charset="0"/>
              </a:rPr>
              <a:t>2018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latin typeface="Times New Roman" panose="02020603050405020304" pitchFamily="18" charset="0"/>
                <a:cs typeface="Times New Roman" panose="02020603050405020304" pitchFamily="18" charset="0"/>
              </a:rPr>
              <a:t>年水果人均消费量</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:kg)</a:t>
            </a:r>
            <a:r>
              <a:rPr lang="zh-CN" altLang="zh-CN" sz="2800">
                <a:solidFill>
                  <a:srgbClr val="000000"/>
                </a:solidFill>
                <a:latin typeface="Times New Roman" panose="02020603050405020304" pitchFamily="18" charset="0"/>
                <a:cs typeface="Times New Roman" panose="02020603050405020304" pitchFamily="18" charset="0"/>
              </a:rPr>
              <a:t>和年份代码</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绘制的散点图</a:t>
            </a:r>
            <a:r>
              <a:rPr lang="en-US" altLang="zh-CN" sz="2800">
                <a:solidFill>
                  <a:srgbClr val="000000"/>
                </a:solidFill>
                <a:latin typeface="Times New Roman" panose="02020603050405020304" pitchFamily="18" charset="0"/>
                <a:cs typeface="Times New Roman" panose="02020603050405020304" pitchFamily="18" charset="0"/>
              </a:rPr>
              <a:t>(2018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latin typeface="Times New Roman" panose="02020603050405020304" pitchFamily="18" charset="0"/>
                <a:cs typeface="Times New Roman" panose="02020603050405020304" pitchFamily="18" charset="0"/>
              </a:rPr>
              <a:t>年的年份代码</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分别为</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gn="ct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某地</a:t>
            </a:r>
            <a:r>
              <a:rPr lang="en-US" altLang="zh-CN" sz="2800">
                <a:solidFill>
                  <a:srgbClr val="000000"/>
                </a:solidFill>
                <a:latin typeface="Times New Roman" panose="02020603050405020304" pitchFamily="18" charset="0"/>
                <a:cs typeface="Times New Roman" panose="02020603050405020304" pitchFamily="18" charset="0"/>
              </a:rPr>
              <a:t>2018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年水果人均消费量散点图</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480234682"/>
              </p:ext>
            </p:extLst>
          </p:nvPr>
        </p:nvGraphicFramePr>
        <p:xfrm>
          <a:off x="458424" y="4570565"/>
          <a:ext cx="11275153" cy="2131690"/>
        </p:xfrm>
        <a:graphic>
          <a:graphicData uri="http://schemas.openxmlformats.org/presentationml/2006/ole">
            <mc:AlternateContent xmlns:mc="http://schemas.openxmlformats.org/markup-compatibility/2006">
              <mc:Choice xmlns:v="urn:schemas-microsoft-com:vml" Requires="v">
                <p:oleObj spid="_x0000_s26643" name="文档" r:id="rId4" imgW="4510061" imgH="852676" progId="Word.Document.12">
                  <p:embed/>
                </p:oleObj>
              </mc:Choice>
              <mc:Fallback>
                <p:oleObj name="文档" r:id="rId4" imgW="4510061" imgH="852676" progId="Word.Document.12">
                  <p:embed/>
                  <p:pic>
                    <p:nvPicPr>
                      <p:cNvPr id="0" name=""/>
                      <p:cNvPicPr/>
                      <p:nvPr/>
                    </p:nvPicPr>
                    <p:blipFill>
                      <a:blip r:embed="rId5"/>
                      <a:stretch>
                        <a:fillRect/>
                      </a:stretch>
                    </p:blipFill>
                    <p:spPr>
                      <a:xfrm>
                        <a:off x="458424" y="4570565"/>
                        <a:ext cx="11275153" cy="2131690"/>
                      </a:xfrm>
                      <a:prstGeom prst="rect">
                        <a:avLst/>
                      </a:prstGeom>
                    </p:spPr>
                  </p:pic>
                </p:oleObj>
              </mc:Fallback>
            </mc:AlternateContent>
          </a:graphicData>
        </a:graphic>
      </p:graphicFrame>
      <p:pic>
        <p:nvPicPr>
          <p:cNvPr id="13" name="QMX3TRAX39.eps" descr="id:2147516228;FounderCES"/>
          <p:cNvPicPr/>
          <p:nvPr/>
        </p:nvPicPr>
        <p:blipFill>
          <a:blip r:embed="rId6">
            <a:clrChange>
              <a:clrFrom>
                <a:srgbClr val="FFFFFF"/>
              </a:clrFrom>
              <a:clrTo>
                <a:srgbClr val="FFFFFF">
                  <a:alpha val="0"/>
                </a:srgbClr>
              </a:clrTo>
            </a:clrChange>
          </a:blip>
          <a:stretch>
            <a:fillRect/>
          </a:stretch>
        </p:blipFill>
        <p:spPr>
          <a:xfrm>
            <a:off x="2935825" y="2204450"/>
            <a:ext cx="7019241" cy="237127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5" name="矩形 4"/>
          <p:cNvSpPr>
            <a:spLocks noChangeAspect="1"/>
          </p:cNvSpPr>
          <p:nvPr/>
        </p:nvSpPr>
        <p:spPr>
          <a:xfrm>
            <a:off x="381000" y="146005"/>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据</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题中散点图可知</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散点均匀地分布在一条直线附近</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且随着</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的增大</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增大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成线性相关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且为正相关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699574755"/>
              </p:ext>
            </p:extLst>
          </p:nvPr>
        </p:nvGraphicFramePr>
        <p:xfrm>
          <a:off x="458424" y="1136995"/>
          <a:ext cx="11275153" cy="5454460"/>
        </p:xfrm>
        <a:graphic>
          <a:graphicData uri="http://schemas.openxmlformats.org/presentationml/2006/ole">
            <mc:AlternateContent xmlns:mc="http://schemas.openxmlformats.org/markup-compatibility/2006">
              <mc:Choice xmlns:v="urn:schemas-microsoft-com:vml" Requires="v">
                <p:oleObj spid="_x0000_s1053" name="文档" r:id="rId4" imgW="4510061" imgH="2181784" progId="Word.Document.12">
                  <p:embed/>
                </p:oleObj>
              </mc:Choice>
              <mc:Fallback>
                <p:oleObj name="文档" r:id="rId4" imgW="4510061" imgH="2181784" progId="Word.Document.12">
                  <p:embed/>
                  <p:pic>
                    <p:nvPicPr>
                      <p:cNvPr id="0" name=""/>
                      <p:cNvPicPr/>
                      <p:nvPr/>
                    </p:nvPicPr>
                    <p:blipFill>
                      <a:blip r:embed="rId5"/>
                      <a:stretch>
                        <a:fillRect/>
                      </a:stretch>
                    </p:blipFill>
                    <p:spPr>
                      <a:xfrm>
                        <a:off x="458424" y="1136995"/>
                        <a:ext cx="11275153" cy="5454460"/>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pic>
        <p:nvPicPr>
          <p:cNvPr id="4" name="反思感悟H.eps" descr="id:2147520073;FounderCES"/>
          <p:cNvPicPr/>
          <p:nvPr/>
        </p:nvPicPr>
        <p:blipFill>
          <a:blip r:embed="rId2">
            <a:clrChange>
              <a:clrFrom>
                <a:srgbClr val="FFFFFF"/>
              </a:clrFrom>
              <a:clrTo>
                <a:srgbClr val="FFFFFF">
                  <a:alpha val="0"/>
                </a:srgbClr>
              </a:clrTo>
            </a:clrChange>
          </a:blip>
          <a:stretch>
            <a:fillRect/>
          </a:stretch>
        </p:blipFill>
        <p:spPr>
          <a:xfrm>
            <a:off x="498640" y="1686831"/>
            <a:ext cx="2194560" cy="516255"/>
          </a:xfrm>
          <a:prstGeom prst="rect">
            <a:avLst/>
          </a:prstGeom>
        </p:spPr>
      </p:pic>
      <p:sp>
        <p:nvSpPr>
          <p:cNvPr id="2" name="矩形 1"/>
          <p:cNvSpPr>
            <a:spLocks noChangeAspect="1"/>
          </p:cNvSpPr>
          <p:nvPr/>
        </p:nvSpPr>
        <p:spPr>
          <a:xfrm>
            <a:off x="381000" y="2203086"/>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求经验回归方程的三个步骤</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画散点图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由样本点是否呈条状分布来判断两个量是否具有线性相</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关</a:t>
            </a:r>
            <a:endParaRPr lang="en-US"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关</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求回归系数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若存在线性相关关系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则求回归系数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写出经验回归方程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81000" y="0"/>
            <a:ext cx="8812028"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下表是某家庭连续</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个月的水费、电费</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表格 6"/>
          <p:cNvGraphicFramePr>
            <a:graphicFrameLocks noGrp="1" noChangeAspect="1"/>
          </p:cNvGraphicFramePr>
          <p:nvPr>
            <p:extLst>
              <p:ext uri="{D42A27DB-BD31-4B8C-83A1-F6EECF244321}">
                <p14:modId xmlns:p14="http://schemas.microsoft.com/office/powerpoint/2010/main" val="4154234112"/>
              </p:ext>
            </p:extLst>
          </p:nvPr>
        </p:nvGraphicFramePr>
        <p:xfrm>
          <a:off x="381000" y="652486"/>
          <a:ext cx="11430000" cy="1485138"/>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月份</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水费</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电费</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8" name="矩形 7"/>
              <p:cNvSpPr>
                <a:spLocks noChangeAspect="1"/>
              </p:cNvSpPr>
              <p:nvPr/>
            </p:nvSpPr>
            <p:spPr>
              <a:xfrm>
                <a:off x="381000" y="2179797"/>
                <a:ext cx="11430000" cy="4050661"/>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求该家庭</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个月水费的平均数和电费的方差</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一般来说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家庭的电费与水费有较强的线性相关性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根据上表提供的数据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求两个变量</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的经验回归方程</a:t>
                </a:r>
                <a14:m>
                  <m:oMath xmlns:m="http://schemas.openxmlformats.org/officeDocument/2006/math">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r>
                          <a:rPr lang="en-US" altLang="zh-CN" sz="2800" i="1">
                            <a:solidFill>
                              <a:srgbClr val="000000"/>
                            </a:solidFill>
                            <a:latin typeface="Cambria Math" panose="02040503050406030204" pitchFamily="18" charset="0"/>
                            <a:cs typeface="Times New Roman" panose="02020603050405020304" pitchFamily="18" charset="0"/>
                          </a:rPr>
                          <m:t>𝑦</m:t>
                        </m:r>
                      </m:e>
                      <m:lim>
                        <m:r>
                          <m:rPr>
                            <m:nor/>
                          </m:rPr>
                          <a:rPr lang="en-US" altLang="zh-CN" sz="2800">
                            <a:solidFill>
                              <a:srgbClr val="000000"/>
                            </a:solidFill>
                            <a:latin typeface="Times New Roman" panose="02020603050405020304" pitchFamily="18" charset="0"/>
                            <a:cs typeface="Times New Roman" panose="02020603050405020304" pitchFamily="18" charset="0"/>
                          </a:rPr>
                          <m:t>^</m:t>
                        </m:r>
                      </m:lim>
                    </m:limUpp>
                    <m:r>
                      <a:rPr lang="en-US" altLang="zh-CN" sz="2800" i="1">
                        <a:solidFill>
                          <a:srgbClr val="000000"/>
                        </a:solidFill>
                        <a:latin typeface="Cambria Math" panose="02040503050406030204" pitchFamily="18" charset="0"/>
                        <a:cs typeface="Times New Roman" panose="02020603050405020304" pitchFamily="18" charset="0"/>
                      </a:rPr>
                      <m:t>=</m:t>
                    </m:r>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r>
                          <m:rPr>
                            <m:sty m:val="p"/>
                          </m:rPr>
                          <a:rPr lang="en-US" altLang="zh-CN" sz="2800">
                            <a:solidFill>
                              <a:srgbClr val="000000"/>
                            </a:solidFill>
                            <a:latin typeface="Cambria Math" panose="02040503050406030204" pitchFamily="18" charset="0"/>
                            <a:cs typeface="Times New Roman" panose="02020603050405020304" pitchFamily="18" charset="0"/>
                          </a:rPr>
                          <m:t>b</m:t>
                        </m:r>
                      </m:e>
                      <m:lim>
                        <m:r>
                          <m:rPr>
                            <m:nor/>
                          </m:rPr>
                          <a:rPr lang="en-US" altLang="zh-CN" sz="2800">
                            <a:solidFill>
                              <a:srgbClr val="000000"/>
                            </a:solidFill>
                            <a:latin typeface="Times New Roman" panose="02020603050405020304" pitchFamily="18" charset="0"/>
                            <a:cs typeface="Times New Roman" panose="02020603050405020304" pitchFamily="18" charset="0"/>
                          </a:rPr>
                          <m:t>^</m:t>
                        </m:r>
                      </m:lim>
                    </m:limUpp>
                  </m:oMath>
                </a14:m>
                <a:r>
                  <a:rPr lang="en-US" altLang="zh-CN" sz="2800" i="1">
                    <a:solidFill>
                      <a:srgbClr val="000000"/>
                    </a:solidFill>
                    <a:latin typeface="Times New Roman" panose="02020603050405020304" pitchFamily="18" charset="0"/>
                    <a:cs typeface="Times New Roman" panose="02020603050405020304" pitchFamily="18" charset="0"/>
                  </a:rPr>
                  <a:t>x+</a:t>
                </a:r>
                <a14:m>
                  <m:oMath xmlns:m="http://schemas.openxmlformats.org/officeDocument/2006/math">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r>
                          <a:rPr lang="en-US" altLang="zh-CN" sz="2800" i="1">
                            <a:solidFill>
                              <a:srgbClr val="000000"/>
                            </a:solidFill>
                            <a:latin typeface="Cambria Math" panose="02040503050406030204" pitchFamily="18" charset="0"/>
                            <a:cs typeface="Times New Roman" panose="02020603050405020304" pitchFamily="18" charset="0"/>
                          </a:rPr>
                          <m:t>𝑎</m:t>
                        </m:r>
                      </m:e>
                      <m:lim>
                        <m:r>
                          <m:rPr>
                            <m:nor/>
                          </m:rPr>
                          <a:rPr lang="en-US" altLang="zh-CN" sz="2800">
                            <a:solidFill>
                              <a:srgbClr val="000000"/>
                            </a:solidFill>
                            <a:latin typeface="Times New Roman" panose="02020603050405020304" pitchFamily="18" charset="0"/>
                            <a:cs typeface="Times New Roman" panose="02020603050405020304" pitchFamily="18" charset="0"/>
                          </a:rPr>
                          <m:t>^</m:t>
                        </m:r>
                      </m:lim>
                    </m:limUpp>
                  </m:oMath>
                </a14:m>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附</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r>
                          <a:rPr lang="en-US" altLang="zh-CN" sz="2800" i="1">
                            <a:solidFill>
                              <a:srgbClr val="000000"/>
                            </a:solidFill>
                            <a:latin typeface="Cambria Math" panose="02040503050406030204" pitchFamily="18" charset="0"/>
                            <a:cs typeface="Times New Roman" panose="02020603050405020304" pitchFamily="18" charset="0"/>
                          </a:rPr>
                          <m:t>𝑏</m:t>
                        </m:r>
                      </m:e>
                      <m:lim>
                        <m:r>
                          <m:rPr>
                            <m:nor/>
                          </m:rPr>
                          <a:rPr lang="en-US" altLang="zh-CN" sz="2800">
                            <a:solidFill>
                              <a:srgbClr val="000000"/>
                            </a:solidFill>
                            <a:latin typeface="Times New Roman" panose="02020603050405020304" pitchFamily="18" charset="0"/>
                            <a:cs typeface="Times New Roman" panose="02020603050405020304" pitchFamily="18" charset="0"/>
                          </a:rPr>
                          <m:t>^</m:t>
                        </m:r>
                      </m:lim>
                    </m:limUpp>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limLow>
                              <m:limLow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LowPr>
                              <m:e>
                                <m:r>
                                  <m:rPr>
                                    <m:nor/>
                                  </m:rPr>
                                  <a:rPr lang="en-US" altLang="zh-CN" sz="2800">
                                    <a:solidFill>
                                      <a:srgbClr val="000000"/>
                                    </a:solidFill>
                                    <a:latin typeface="Cambria Math" panose="02040503050406030204" pitchFamily="18" charset="0"/>
                                    <a:cs typeface="Times New Roman" panose="02020603050405020304" pitchFamily="18" charset="0"/>
                                  </a:rPr>
                                  <m:t>∑</m:t>
                                </m:r>
                              </m:e>
                              <m:lim>
                                <m:r>
                                  <a:rPr lang="en-US" altLang="zh-CN" sz="2800" i="1">
                                    <a:solidFill>
                                      <a:srgbClr val="000000"/>
                                    </a:solidFill>
                                    <a:latin typeface="Cambria Math" panose="02040503050406030204" pitchFamily="18" charset="0"/>
                                    <a:cs typeface="Times New Roman" panose="02020603050405020304" pitchFamily="18" charset="0"/>
                                  </a:rPr>
                                  <m:t>𝑖</m:t>
                                </m:r>
                                <m:r>
                                  <a:rPr lang="en-US" altLang="zh-CN" sz="2800">
                                    <a:solidFill>
                                      <a:srgbClr val="000000"/>
                                    </a:solidFill>
                                    <a:latin typeface="Cambria Math" panose="02040503050406030204" pitchFamily="18" charset="0"/>
                                    <a:cs typeface="Times New Roman" panose="02020603050405020304" pitchFamily="18" charset="0"/>
                                  </a:rPr>
                                  <m:t>=1</m:t>
                                </m:r>
                              </m:lim>
                            </m:limLow>
                          </m:e>
                          <m:lim>
                            <m:r>
                              <a:rPr lang="en-US" altLang="zh-CN" sz="2800" i="1">
                                <a:solidFill>
                                  <a:srgbClr val="000000"/>
                                </a:solidFill>
                                <a:latin typeface="Cambria Math" panose="02040503050406030204" pitchFamily="18" charset="0"/>
                                <a:cs typeface="Times New Roman" panose="02020603050405020304" pitchFamily="18" charset="0"/>
                              </a:rPr>
                              <m:t>𝑛</m:t>
                            </m:r>
                          </m:lim>
                        </m:limUpp>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𝑥</m:t>
                            </m:r>
                          </m:e>
                          <m:sub>
                            <m:r>
                              <a:rPr lang="en-US" altLang="zh-CN" sz="2800" i="1">
                                <a:solidFill>
                                  <a:srgbClr val="000000"/>
                                </a:solidFill>
                                <a:latin typeface="Cambria Math" panose="02040503050406030204" pitchFamily="18" charset="0"/>
                                <a:cs typeface="Times New Roman" panose="02020603050405020304" pitchFamily="18" charset="0"/>
                              </a:rPr>
                              <m:t>𝑖</m:t>
                            </m:r>
                          </m:sub>
                        </m:sSub>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𝑦</m:t>
                            </m:r>
                          </m:e>
                          <m:sub>
                            <m:r>
                              <a:rPr lang="en-US" altLang="zh-CN" sz="2800" i="1">
                                <a:solidFill>
                                  <a:srgbClr val="000000"/>
                                </a:solidFill>
                                <a:latin typeface="Cambria Math" panose="02040503050406030204" pitchFamily="18" charset="0"/>
                                <a:cs typeface="Times New Roman" panose="02020603050405020304" pitchFamily="18" charset="0"/>
                              </a:rPr>
                              <m:t>𝑖</m:t>
                            </m:r>
                          </m:sub>
                        </m:sSub>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𝑛</m:t>
                        </m:r>
                        <m:bar>
                          <m:barPr>
                            <m:pos m:val="top"/>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sz="2800" i="1">
                                <a:solidFill>
                                  <a:srgbClr val="000000"/>
                                </a:solidFill>
                                <a:latin typeface="Cambria Math" panose="02040503050406030204" pitchFamily="18" charset="0"/>
                                <a:cs typeface="Times New Roman" panose="02020603050405020304" pitchFamily="18" charset="0"/>
                              </a:rPr>
                              <m:t>𝑥</m:t>
                            </m:r>
                          </m:e>
                        </m:bar>
                        <m:r>
                          <m:rPr>
                            <m:nor/>
                          </m:rPr>
                          <a:rPr lang="en-US" altLang="zh-CN" sz="2800">
                            <a:solidFill>
                              <a:srgbClr val="000000"/>
                            </a:solidFill>
                            <a:latin typeface="Times New Roman" panose="02020603050405020304" pitchFamily="18" charset="0"/>
                            <a:cs typeface="Times New Roman" panose="02020603050405020304" pitchFamily="18" charset="0"/>
                          </a:rPr>
                          <m:t> </m:t>
                        </m:r>
                        <m:bar>
                          <m:barPr>
                            <m:pos m:val="top"/>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sz="2800" i="1">
                                <a:solidFill>
                                  <a:srgbClr val="000000"/>
                                </a:solidFill>
                                <a:latin typeface="Cambria Math" panose="02040503050406030204" pitchFamily="18" charset="0"/>
                                <a:cs typeface="Times New Roman" panose="02020603050405020304" pitchFamily="18" charset="0"/>
                              </a:rPr>
                              <m:t>𝑦</m:t>
                            </m:r>
                          </m:e>
                        </m:bar>
                      </m:num>
                      <m:den>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limLow>
                              <m:limLow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LowPr>
                              <m:e>
                                <m:r>
                                  <m:rPr>
                                    <m:nor/>
                                  </m:rPr>
                                  <a:rPr lang="en-US" altLang="zh-CN" sz="2800">
                                    <a:solidFill>
                                      <a:srgbClr val="000000"/>
                                    </a:solidFill>
                                    <a:latin typeface="Cambria Math" panose="02040503050406030204" pitchFamily="18" charset="0"/>
                                    <a:cs typeface="Times New Roman" panose="02020603050405020304" pitchFamily="18" charset="0"/>
                                  </a:rPr>
                                  <m:t>∑</m:t>
                                </m:r>
                              </m:e>
                              <m:lim>
                                <m:r>
                                  <a:rPr lang="en-US" altLang="zh-CN" sz="2800" i="1">
                                    <a:solidFill>
                                      <a:srgbClr val="000000"/>
                                    </a:solidFill>
                                    <a:latin typeface="Cambria Math" panose="02040503050406030204" pitchFamily="18" charset="0"/>
                                    <a:cs typeface="Times New Roman" panose="02020603050405020304" pitchFamily="18" charset="0"/>
                                  </a:rPr>
                                  <m:t>𝑖</m:t>
                                </m:r>
                                <m:r>
                                  <a:rPr lang="en-US" altLang="zh-CN" sz="2800">
                                    <a:solidFill>
                                      <a:srgbClr val="000000"/>
                                    </a:solidFill>
                                    <a:latin typeface="Cambria Math" panose="02040503050406030204" pitchFamily="18" charset="0"/>
                                    <a:cs typeface="Times New Roman" panose="02020603050405020304" pitchFamily="18" charset="0"/>
                                  </a:rPr>
                                  <m:t>=1</m:t>
                                </m:r>
                              </m:lim>
                            </m:limLow>
                          </m:e>
                          <m:lim>
                            <m:r>
                              <a:rPr lang="en-US" altLang="zh-CN" sz="2800" i="1">
                                <a:solidFill>
                                  <a:srgbClr val="000000"/>
                                </a:solidFill>
                                <a:latin typeface="Cambria Math" panose="02040503050406030204" pitchFamily="18" charset="0"/>
                                <a:cs typeface="Times New Roman" panose="02020603050405020304" pitchFamily="18" charset="0"/>
                              </a:rPr>
                              <m:t>𝑛</m:t>
                            </m:r>
                          </m:lim>
                        </m:limUpp>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solidFill>
                                  <a:srgbClr val="000000"/>
                                </a:solidFill>
                                <a:latin typeface="Cambria Math" panose="02040503050406030204" pitchFamily="18" charset="0"/>
                                <a:cs typeface="Times New Roman" panose="02020603050405020304" pitchFamily="18" charset="0"/>
                              </a:rPr>
                              <m:t>𝑥</m:t>
                            </m:r>
                          </m:e>
                          <m:sub>
                            <m:r>
                              <a:rPr lang="en-US" altLang="zh-CN" sz="2800" i="1">
                                <a:solidFill>
                                  <a:srgbClr val="000000"/>
                                </a:solidFill>
                                <a:latin typeface="Cambria Math" panose="02040503050406030204" pitchFamily="18" charset="0"/>
                                <a:cs typeface="Times New Roman" panose="02020603050405020304" pitchFamily="18" charset="0"/>
                              </a:rPr>
                              <m:t>𝑖</m:t>
                            </m:r>
                          </m:sub>
                          <m:sup>
                            <m:r>
                              <a:rPr lang="en-US" altLang="zh-CN" sz="2800">
                                <a:solidFill>
                                  <a:srgbClr val="000000"/>
                                </a:solidFill>
                                <a:latin typeface="Cambria Math" panose="02040503050406030204" pitchFamily="18" charset="0"/>
                                <a:cs typeface="Times New Roman" panose="02020603050405020304" pitchFamily="18" charset="0"/>
                              </a:rPr>
                              <m:t>2</m:t>
                            </m:r>
                          </m:sup>
                        </m:sSubSup>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𝑛</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bar>
                              <m:barPr>
                                <m:pos m:val="top"/>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sz="2800" i="1">
                                    <a:solidFill>
                                      <a:srgbClr val="000000"/>
                                    </a:solidFill>
                                    <a:latin typeface="Cambria Math" panose="02040503050406030204" pitchFamily="18" charset="0"/>
                                    <a:cs typeface="Times New Roman" panose="02020603050405020304" pitchFamily="18" charset="0"/>
                                  </a:rPr>
                                  <m:t>𝑥</m:t>
                                </m:r>
                              </m:e>
                            </m:bar>
                          </m:e>
                          <m:sup>
                            <m:r>
                              <a:rPr lang="en-US" altLang="zh-CN" sz="2800">
                                <a:solidFill>
                                  <a:srgbClr val="000000"/>
                                </a:solidFill>
                                <a:latin typeface="Cambria Math" panose="02040503050406030204" pitchFamily="18" charset="0"/>
                                <a:cs typeface="Times New Roman" panose="02020603050405020304" pitchFamily="18" charset="0"/>
                              </a:rPr>
                              <m:t>2</m:t>
                            </m:r>
                          </m:sup>
                        </m:sSup>
                      </m:den>
                    </m:f>
                    <m:r>
                      <a:rPr lang="en-US" altLang="zh-CN" sz="2800">
                        <a:solidFill>
                          <a:srgbClr val="000000"/>
                        </a:solidFill>
                        <a:latin typeface="Cambria Math" panose="02040503050406030204" pitchFamily="18" charset="0"/>
                        <a:cs typeface="Times New Roman" panose="02020603050405020304" pitchFamily="18" charset="0"/>
                      </a:rPr>
                      <m:t>,</m:t>
                    </m:r>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r>
                          <a:rPr lang="en-US" altLang="zh-CN" sz="2800" i="1">
                            <a:solidFill>
                              <a:srgbClr val="000000"/>
                            </a:solidFill>
                            <a:latin typeface="Cambria Math" panose="02040503050406030204" pitchFamily="18" charset="0"/>
                            <a:cs typeface="Times New Roman" panose="02020603050405020304" pitchFamily="18" charset="0"/>
                          </a:rPr>
                          <m:t>𝑎</m:t>
                        </m:r>
                      </m:e>
                      <m:lim>
                        <m:r>
                          <m:rPr>
                            <m:nor/>
                          </m:rPr>
                          <a:rPr lang="en-US" altLang="zh-CN" sz="2800">
                            <a:solidFill>
                              <a:srgbClr val="000000"/>
                            </a:solidFill>
                            <a:latin typeface="Times New Roman" panose="02020603050405020304" pitchFamily="18" charset="0"/>
                            <a:cs typeface="Times New Roman" panose="02020603050405020304" pitchFamily="18" charset="0"/>
                          </a:rPr>
                          <m:t>^</m:t>
                        </m:r>
                      </m:lim>
                    </m:limUpp>
                    <m:r>
                      <a:rPr lang="en-US" altLang="zh-CN" sz="2800" i="1">
                        <a:solidFill>
                          <a:srgbClr val="000000"/>
                        </a:solidFill>
                        <a:latin typeface="Cambria Math" panose="02040503050406030204" pitchFamily="18" charset="0"/>
                        <a:cs typeface="Times New Roman" panose="02020603050405020304" pitchFamily="18" charset="0"/>
                      </a:rPr>
                      <m:t>=</m:t>
                    </m:r>
                    <m:bar>
                      <m:barPr>
                        <m:pos m:val="top"/>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sz="2800" i="1">
                            <a:solidFill>
                              <a:srgbClr val="000000"/>
                            </a:solidFill>
                            <a:latin typeface="Cambria Math" panose="02040503050406030204" pitchFamily="18" charset="0"/>
                            <a:cs typeface="Times New Roman" panose="02020603050405020304" pitchFamily="18" charset="0"/>
                          </a:rPr>
                          <m:t>𝑦</m:t>
                        </m:r>
                      </m:e>
                    </m:bar>
                    <m:r>
                      <a:rPr lang="en-US" altLang="zh-CN" sz="2800" i="1">
                        <a:solidFill>
                          <a:srgbClr val="000000"/>
                        </a:solidFill>
                        <a:latin typeface="Cambria Math" panose="02040503050406030204" pitchFamily="18" charset="0"/>
                        <a:cs typeface="Times New Roman" panose="02020603050405020304" pitchFamily="18" charset="0"/>
                      </a:rPr>
                      <m:t>−</m:t>
                    </m:r>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r>
                          <a:rPr lang="en-US" altLang="zh-CN" sz="2800" i="1">
                            <a:solidFill>
                              <a:srgbClr val="000000"/>
                            </a:solidFill>
                            <a:latin typeface="Cambria Math" panose="02040503050406030204" pitchFamily="18" charset="0"/>
                            <a:cs typeface="Times New Roman" panose="02020603050405020304" pitchFamily="18" charset="0"/>
                          </a:rPr>
                          <m:t>𝑏</m:t>
                        </m:r>
                      </m:e>
                      <m:lim>
                        <m:r>
                          <m:rPr>
                            <m:nor/>
                          </m:rPr>
                          <a:rPr lang="en-US" altLang="zh-CN" sz="2800">
                            <a:solidFill>
                              <a:srgbClr val="000000"/>
                            </a:solidFill>
                            <a:latin typeface="Times New Roman" panose="02020603050405020304" pitchFamily="18" charset="0"/>
                            <a:cs typeface="Times New Roman" panose="02020603050405020304" pitchFamily="18" charset="0"/>
                          </a:rPr>
                          <m:t>^</m:t>
                        </m:r>
                      </m:lim>
                    </m:limUpp>
                    <m:bar>
                      <m:barPr>
                        <m:pos m:val="top"/>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sz="2800" i="1">
                            <a:solidFill>
                              <a:srgbClr val="000000"/>
                            </a:solidFill>
                            <a:latin typeface="Cambria Math" panose="02040503050406030204" pitchFamily="18" charset="0"/>
                            <a:cs typeface="Times New Roman" panose="02020603050405020304" pitchFamily="18" charset="0"/>
                          </a:rPr>
                          <m:t>𝑥</m:t>
                        </m:r>
                      </m:e>
                    </m:bar>
                    <m:r>
                      <a:rPr lang="en-US" altLang="zh-CN" sz="2800">
                        <a:solidFill>
                          <a:srgbClr val="000000"/>
                        </a:solidFill>
                        <a:latin typeface="Cambria Math" panose="02040503050406030204" pitchFamily="18" charset="0"/>
                        <a:cs typeface="Times New Roman" panose="02020603050405020304" pitchFamily="18" charset="0"/>
                      </a:rPr>
                      <m:t>,</m:t>
                    </m:r>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limLow>
                          <m:limLow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LowPr>
                          <m:e>
                            <m:r>
                              <m:rPr>
                                <m:nor/>
                              </m:rPr>
                              <a:rPr lang="en-US" altLang="zh-CN" sz="2800">
                                <a:solidFill>
                                  <a:srgbClr val="000000"/>
                                </a:solidFill>
                                <a:latin typeface="Cambria Math" panose="02040503050406030204" pitchFamily="18" charset="0"/>
                                <a:cs typeface="Times New Roman" panose="02020603050405020304" pitchFamily="18" charset="0"/>
                              </a:rPr>
                              <m:t>∑</m:t>
                            </m:r>
                          </m:e>
                          <m:lim>
                            <m:r>
                              <a:rPr lang="en-US" altLang="zh-CN" sz="2800" i="1">
                                <a:solidFill>
                                  <a:srgbClr val="000000"/>
                                </a:solidFill>
                                <a:latin typeface="Cambria Math" panose="02040503050406030204" pitchFamily="18" charset="0"/>
                                <a:cs typeface="Times New Roman" panose="02020603050405020304" pitchFamily="18" charset="0"/>
                              </a:rPr>
                              <m:t>𝑖</m:t>
                            </m:r>
                            <m:r>
                              <a:rPr lang="en-US" altLang="zh-CN" sz="2800">
                                <a:solidFill>
                                  <a:srgbClr val="000000"/>
                                </a:solidFill>
                                <a:latin typeface="Cambria Math" panose="02040503050406030204" pitchFamily="18" charset="0"/>
                                <a:cs typeface="Times New Roman" panose="02020603050405020304" pitchFamily="18" charset="0"/>
                              </a:rPr>
                              <m:t>=1</m:t>
                            </m:r>
                          </m:lim>
                        </m:limLow>
                      </m:e>
                      <m:lim>
                        <m:r>
                          <a:rPr lang="en-US" altLang="zh-CN" sz="2800" i="1">
                            <a:solidFill>
                              <a:srgbClr val="000000"/>
                            </a:solidFill>
                            <a:latin typeface="Cambria Math" panose="02040503050406030204" pitchFamily="18" charset="0"/>
                            <a:cs typeface="Times New Roman" panose="02020603050405020304" pitchFamily="18" charset="0"/>
                          </a:rPr>
                          <m:t>𝑛</m:t>
                        </m:r>
                      </m:lim>
                    </m:limUpp>
                  </m:oMath>
                </a14:m>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33 230,</a:t>
                </a:r>
                <a14:m>
                  <m:oMath xmlns:m="http://schemas.openxmlformats.org/officeDocument/2006/math">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limLow>
                          <m:limLow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LowPr>
                          <m:e>
                            <m:r>
                              <m:rPr>
                                <m:nor/>
                              </m:rPr>
                              <a:rPr lang="en-US" altLang="zh-CN" sz="2800">
                                <a:solidFill>
                                  <a:srgbClr val="000000"/>
                                </a:solidFill>
                                <a:latin typeface="Cambria Math" panose="02040503050406030204" pitchFamily="18" charset="0"/>
                                <a:cs typeface="Times New Roman" panose="02020603050405020304" pitchFamily="18" charset="0"/>
                              </a:rPr>
                              <m:t>∑</m:t>
                            </m:r>
                          </m:e>
                          <m:lim>
                            <m:r>
                              <a:rPr lang="en-US" altLang="zh-CN" sz="2800" i="1">
                                <a:solidFill>
                                  <a:srgbClr val="000000"/>
                                </a:solidFill>
                                <a:latin typeface="Cambria Math" panose="02040503050406030204" pitchFamily="18" charset="0"/>
                                <a:cs typeface="Times New Roman" panose="02020603050405020304" pitchFamily="18" charset="0"/>
                              </a:rPr>
                              <m:t>𝑖</m:t>
                            </m:r>
                            <m:r>
                              <a:rPr lang="en-US" altLang="zh-CN" sz="2800">
                                <a:solidFill>
                                  <a:srgbClr val="000000"/>
                                </a:solidFill>
                                <a:latin typeface="Cambria Math" panose="02040503050406030204" pitchFamily="18" charset="0"/>
                                <a:cs typeface="Times New Roman" panose="02020603050405020304" pitchFamily="18" charset="0"/>
                              </a:rPr>
                              <m:t>=1</m:t>
                            </m:r>
                          </m:lim>
                        </m:limLow>
                      </m:e>
                      <m:lim>
                        <m:r>
                          <a:rPr lang="en-US" altLang="zh-CN" sz="2800" i="1">
                            <a:solidFill>
                              <a:srgbClr val="000000"/>
                            </a:solidFill>
                            <a:latin typeface="Cambria Math" panose="02040503050406030204" pitchFamily="18" charset="0"/>
                            <a:cs typeface="Times New Roman" panose="02020603050405020304" pitchFamily="18" charset="0"/>
                          </a:rPr>
                          <m:t>𝑛</m:t>
                        </m:r>
                      </m:lim>
                    </m:limUpp>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solidFill>
                              <a:srgbClr val="000000"/>
                            </a:solidFill>
                            <a:latin typeface="Cambria Math" panose="02040503050406030204" pitchFamily="18" charset="0"/>
                            <a:cs typeface="Times New Roman" panose="02020603050405020304" pitchFamily="18" charset="0"/>
                          </a:rPr>
                          <m:t>𝑥</m:t>
                        </m:r>
                      </m:e>
                      <m:sub>
                        <m:r>
                          <a:rPr lang="en-US" altLang="zh-CN" sz="2800" i="1">
                            <a:solidFill>
                              <a:srgbClr val="000000"/>
                            </a:solidFill>
                            <a:latin typeface="Cambria Math" panose="02040503050406030204" pitchFamily="18" charset="0"/>
                            <a:cs typeface="Times New Roman" panose="02020603050405020304" pitchFamily="18" charset="0"/>
                          </a:rPr>
                          <m:t>𝑖</m:t>
                        </m:r>
                      </m:sub>
                      <m:sup>
                        <m:r>
                          <a:rPr lang="en-US" altLang="zh-CN" sz="2800">
                            <a:solidFill>
                              <a:srgbClr val="000000"/>
                            </a:solidFill>
                            <a:latin typeface="Cambria Math" panose="02040503050406030204" pitchFamily="18" charset="0"/>
                            <a:cs typeface="Times New Roman" panose="02020603050405020304" pitchFamily="18" charset="0"/>
                          </a:rPr>
                          <m:t>2</m:t>
                        </m:r>
                      </m:sup>
                    </m:sSubSup>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34 485)</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381000" y="2179797"/>
                <a:ext cx="11430000" cy="4050661"/>
              </a:xfrm>
              <a:prstGeom prst="rect">
                <a:avLst/>
              </a:prstGeom>
              <a:blipFill rotWithShape="0">
                <a:blip r:embed="rId2"/>
                <a:stretch>
                  <a:fillRect l="-1120" t="-4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89422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18562711"/>
              </p:ext>
            </p:extLst>
          </p:nvPr>
        </p:nvGraphicFramePr>
        <p:xfrm>
          <a:off x="458424" y="147042"/>
          <a:ext cx="11275153" cy="6427498"/>
        </p:xfrm>
        <a:graphic>
          <a:graphicData uri="http://schemas.openxmlformats.org/presentationml/2006/ole">
            <mc:AlternateContent xmlns:mc="http://schemas.openxmlformats.org/markup-compatibility/2006">
              <mc:Choice xmlns:v="urn:schemas-microsoft-com:vml" Requires="v">
                <p:oleObj spid="_x0000_s8217" name="文档" r:id="rId4" imgW="4521949" imgH="2574860" progId="Word.Document.12">
                  <p:embed/>
                </p:oleObj>
              </mc:Choice>
              <mc:Fallback>
                <p:oleObj name="文档" r:id="rId4" imgW="4521949" imgH="2574860" progId="Word.Document.12">
                  <p:embed/>
                  <p:pic>
                    <p:nvPicPr>
                      <p:cNvPr id="0" name=""/>
                      <p:cNvPicPr/>
                      <p:nvPr/>
                    </p:nvPicPr>
                    <p:blipFill>
                      <a:blip r:embed="rId5"/>
                      <a:stretch>
                        <a:fillRect/>
                      </a:stretch>
                    </p:blipFill>
                    <p:spPr>
                      <a:xfrm>
                        <a:off x="458424" y="147042"/>
                        <a:ext cx="11275153" cy="6427498"/>
                      </a:xfrm>
                      <a:prstGeom prst="rect">
                        <a:avLst/>
                      </a:prstGeom>
                    </p:spPr>
                  </p:pic>
                </p:oleObj>
              </mc:Fallback>
            </mc:AlternateContent>
          </a:graphicData>
        </a:graphic>
      </p:graphicFrame>
    </p:spTree>
    <p:extLst>
      <p:ext uri="{BB962C8B-B14F-4D97-AF65-F5344CB8AC3E}">
        <p14:creationId xmlns:p14="http://schemas.microsoft.com/office/powerpoint/2010/main" val="18290647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通过数学建模对实际问题进行预测</a:t>
                </a:r>
                <a:endParaRPr lang="zh-CN" altLang="en-US" sz="2800" b="1" dirty="0">
                  <a:solidFill>
                    <a:schemeClr val="bg1"/>
                  </a:solidFill>
                </a:endParaRPr>
              </a:p>
            </p:txBody>
          </p:sp>
        </p:grpSp>
      </p:grpSp>
      <p:sp>
        <p:nvSpPr>
          <p:cNvPr id="2" name="矩形 1"/>
          <p:cNvSpPr>
            <a:spLocks noChangeAspect="1"/>
          </p:cNvSpPr>
          <p:nvPr/>
        </p:nvSpPr>
        <p:spPr>
          <a:xfrm>
            <a:off x="381000" y="610117"/>
            <a:ext cx="11430000" cy="211699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6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600" b="1">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600">
                <a:solidFill>
                  <a:srgbClr val="000000"/>
                </a:solidFill>
                <a:latin typeface="NEU-BZ-S92"/>
                <a:ea typeface="Arial" panose="020B0604020202020204" pitchFamily="34" charset="0"/>
                <a:cs typeface="Times New Roman" panose="02020603050405020304" pitchFamily="18" charset="0"/>
              </a:rPr>
              <a:t> </a:t>
            </a:r>
            <a:r>
              <a:rPr lang="zh-CN" altLang="zh-CN" sz="2600">
                <a:solidFill>
                  <a:srgbClr val="000000"/>
                </a:solidFill>
                <a:latin typeface="Times New Roman" panose="02020603050405020304" pitchFamily="18" charset="0"/>
                <a:cs typeface="Times New Roman" panose="02020603050405020304" pitchFamily="18" charset="0"/>
              </a:rPr>
              <a:t>某公司为确定下一年度投入某种产品的宣传费</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需了解年宣传费对年销售量</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单位</a:t>
            </a:r>
            <a:r>
              <a:rPr lang="en-US" altLang="zh-CN" sz="2600">
                <a:solidFill>
                  <a:srgbClr val="000000"/>
                </a:solidFill>
                <a:latin typeface="Times New Roman" panose="02020603050405020304" pitchFamily="18" charset="0"/>
                <a:cs typeface="Times New Roman" panose="02020603050405020304" pitchFamily="18" charset="0"/>
              </a:rPr>
              <a:t>:t)</a:t>
            </a:r>
            <a:r>
              <a:rPr lang="zh-CN" altLang="zh-CN" sz="2600">
                <a:solidFill>
                  <a:srgbClr val="000000"/>
                </a:solidFill>
                <a:latin typeface="Times New Roman" panose="02020603050405020304" pitchFamily="18" charset="0"/>
                <a:cs typeface="Times New Roman" panose="02020603050405020304" pitchFamily="18" charset="0"/>
              </a:rPr>
              <a:t>的影响</a:t>
            </a:r>
            <a:r>
              <a:rPr lang="en-US" altLang="zh-CN" sz="2600" i="1">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该公司对近</a:t>
            </a:r>
            <a:r>
              <a:rPr lang="en-US" altLang="zh-CN" sz="2600">
                <a:solidFill>
                  <a:srgbClr val="000000"/>
                </a:solidFill>
                <a:latin typeface="Times New Roman" panose="02020603050405020304" pitchFamily="18" charset="0"/>
                <a:cs typeface="Times New Roman" panose="02020603050405020304" pitchFamily="18" charset="0"/>
              </a:rPr>
              <a:t>5</a:t>
            </a:r>
            <a:r>
              <a:rPr lang="zh-CN" altLang="zh-CN" sz="2600">
                <a:solidFill>
                  <a:srgbClr val="000000"/>
                </a:solidFill>
                <a:latin typeface="Times New Roman" panose="02020603050405020304" pitchFamily="18" charset="0"/>
                <a:cs typeface="Times New Roman" panose="02020603050405020304" pitchFamily="18" charset="0"/>
              </a:rPr>
              <a:t>年的年宣传费和年销售量数据进行了研究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发现年宣传费</a:t>
            </a:r>
            <a:r>
              <a:rPr lang="en-US" altLang="zh-CN" sz="2600" i="1">
                <a:solidFill>
                  <a:srgbClr val="000000"/>
                </a:solidFill>
                <a:latin typeface="Times New Roman" panose="02020603050405020304" pitchFamily="18" charset="0"/>
                <a:cs typeface="Times New Roman" panose="02020603050405020304" pitchFamily="18" charset="0"/>
              </a:rPr>
              <a:t>x</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单位</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万元</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和年销售量</a:t>
            </a:r>
            <a:r>
              <a:rPr lang="en-US" altLang="zh-CN" sz="2600" i="1">
                <a:solidFill>
                  <a:srgbClr val="000000"/>
                </a:solidFill>
                <a:latin typeface="Times New Roman" panose="02020603050405020304" pitchFamily="18" charset="0"/>
                <a:cs typeface="Times New Roman" panose="02020603050405020304" pitchFamily="18" charset="0"/>
              </a:rPr>
              <a:t>y</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单位</a:t>
            </a:r>
            <a:r>
              <a:rPr lang="en-US" altLang="zh-CN" sz="2600">
                <a:solidFill>
                  <a:srgbClr val="000000"/>
                </a:solidFill>
                <a:latin typeface="Times New Roman" panose="02020603050405020304" pitchFamily="18" charset="0"/>
                <a:cs typeface="Times New Roman" panose="02020603050405020304" pitchFamily="18" charset="0"/>
              </a:rPr>
              <a:t>:t)</a:t>
            </a:r>
            <a:r>
              <a:rPr lang="zh-CN" altLang="zh-CN" sz="2600">
                <a:solidFill>
                  <a:srgbClr val="000000"/>
                </a:solidFill>
                <a:latin typeface="Times New Roman" panose="02020603050405020304" pitchFamily="18" charset="0"/>
                <a:cs typeface="Times New Roman" panose="02020603050405020304" pitchFamily="18" charset="0"/>
              </a:rPr>
              <a:t>具有线性相关关系</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并对数据作了初步处理</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得到下面的一些统计量的值</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993582989"/>
              </p:ext>
            </p:extLst>
          </p:nvPr>
        </p:nvGraphicFramePr>
        <p:xfrm>
          <a:off x="381000" y="2729817"/>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万元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597700"/>
            <a:ext cx="11430000" cy="269304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latin typeface="Times New Roman" panose="02020603050405020304" pitchFamily="18" charset="0"/>
                <a:cs typeface="Times New Roman" panose="02020603050405020304" pitchFamily="18" charset="0"/>
              </a:rPr>
              <a:t>根据表中数据建立年销售量</a:t>
            </a:r>
            <a:r>
              <a:rPr lang="en-US" altLang="zh-CN" sz="2600" i="1">
                <a:solidFill>
                  <a:srgbClr val="000000"/>
                </a:solidFill>
                <a:latin typeface="Times New Roman" panose="02020603050405020304" pitchFamily="18" charset="0"/>
                <a:cs typeface="Times New Roman" panose="02020603050405020304" pitchFamily="18" charset="0"/>
              </a:rPr>
              <a:t>y</a:t>
            </a:r>
            <a:r>
              <a:rPr lang="zh-CN" altLang="zh-CN" sz="2600">
                <a:solidFill>
                  <a:srgbClr val="000000"/>
                </a:solidFill>
                <a:latin typeface="Times New Roman" panose="02020603050405020304" pitchFamily="18" charset="0"/>
                <a:cs typeface="Times New Roman" panose="02020603050405020304" pitchFamily="18" charset="0"/>
              </a:rPr>
              <a:t>关于年宣传费</a:t>
            </a:r>
            <a:r>
              <a:rPr lang="en-US" altLang="zh-CN" sz="2600" i="1">
                <a:solidFill>
                  <a:srgbClr val="000000"/>
                </a:solidFill>
                <a:latin typeface="Times New Roman" panose="02020603050405020304" pitchFamily="18" charset="0"/>
                <a:cs typeface="Times New Roman" panose="02020603050405020304" pitchFamily="18" charset="0"/>
              </a:rPr>
              <a:t>x</a:t>
            </a:r>
            <a:r>
              <a:rPr lang="zh-CN" altLang="zh-CN" sz="2600">
                <a:solidFill>
                  <a:srgbClr val="000000"/>
                </a:solidFill>
                <a:latin typeface="Times New Roman" panose="02020603050405020304" pitchFamily="18" charset="0"/>
                <a:cs typeface="Times New Roman" panose="02020603050405020304" pitchFamily="18" charset="0"/>
              </a:rPr>
              <a:t>的经验回归方程</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已知这种产品的年利润</a:t>
            </a:r>
            <a:r>
              <a:rPr lang="en-US" altLang="zh-CN" sz="2600" i="1">
                <a:solidFill>
                  <a:srgbClr val="000000"/>
                </a:solidFill>
                <a:latin typeface="Times New Roman" panose="02020603050405020304" pitchFamily="18" charset="0"/>
                <a:cs typeface="Times New Roman" panose="02020603050405020304" pitchFamily="18" charset="0"/>
              </a:rPr>
              <a:t>z</a:t>
            </a:r>
            <a:r>
              <a:rPr lang="zh-CN" altLang="zh-CN" sz="2600">
                <a:solidFill>
                  <a:srgbClr val="000000"/>
                </a:solidFill>
                <a:latin typeface="Times New Roman" panose="02020603050405020304" pitchFamily="18" charset="0"/>
                <a:cs typeface="Times New Roman" panose="02020603050405020304" pitchFamily="18" charset="0"/>
              </a:rPr>
              <a:t>与</a:t>
            </a:r>
            <a:r>
              <a:rPr lang="en-US" altLang="zh-CN" sz="2600" i="1">
                <a:solidFill>
                  <a:srgbClr val="000000"/>
                </a:solidFill>
                <a:latin typeface="Times New Roman" panose="02020603050405020304" pitchFamily="18" charset="0"/>
                <a:cs typeface="Times New Roman" panose="02020603050405020304" pitchFamily="18" charset="0"/>
              </a:rPr>
              <a:t>x</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y</a:t>
            </a:r>
            <a:r>
              <a:rPr lang="zh-CN" altLang="zh-CN" sz="2600">
                <a:solidFill>
                  <a:srgbClr val="000000"/>
                </a:solidFill>
                <a:latin typeface="Times New Roman" panose="02020603050405020304" pitchFamily="18" charset="0"/>
                <a:cs typeface="Times New Roman" panose="02020603050405020304" pitchFamily="18" charset="0"/>
              </a:rPr>
              <a:t>的关系为</a:t>
            </a:r>
            <a:r>
              <a:rPr lang="en-US" altLang="zh-CN" sz="2600" i="1">
                <a:solidFill>
                  <a:srgbClr val="000000"/>
                </a:solidFill>
                <a:latin typeface="Times New Roman" panose="02020603050405020304" pitchFamily="18" charset="0"/>
                <a:cs typeface="Times New Roman" panose="02020603050405020304" pitchFamily="18" charset="0"/>
              </a:rPr>
              <a:t>z=y-</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05</a:t>
            </a:r>
            <a:r>
              <a:rPr lang="en-US" altLang="zh-CN" sz="2600" i="1">
                <a:solidFill>
                  <a:srgbClr val="000000"/>
                </a:solidFill>
                <a:latin typeface="Times New Roman" panose="02020603050405020304" pitchFamily="18" charset="0"/>
                <a:cs typeface="Times New Roman" panose="02020603050405020304" pitchFamily="18" charset="0"/>
              </a:rPr>
              <a:t>x</a:t>
            </a:r>
            <a:r>
              <a:rPr lang="en-US" altLang="zh-CN" sz="2600" baseline="30000">
                <a:solidFill>
                  <a:srgbClr val="000000"/>
                </a:solidFill>
                <a:latin typeface="Times New Roman" panose="02020603050405020304" pitchFamily="18" charset="0"/>
                <a:cs typeface="Times New Roman" panose="02020603050405020304" pitchFamily="18" charset="0"/>
              </a:rPr>
              <a:t>2</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85,</a:t>
            </a:r>
            <a:r>
              <a:rPr lang="zh-CN" altLang="zh-CN" sz="2600">
                <a:solidFill>
                  <a:srgbClr val="000000"/>
                </a:solidFill>
                <a:latin typeface="Times New Roman" panose="02020603050405020304" pitchFamily="18" charset="0"/>
                <a:cs typeface="Times New Roman" panose="02020603050405020304" pitchFamily="18" charset="0"/>
              </a:rPr>
              <a:t>根据</a:t>
            </a:r>
            <a:r>
              <a:rPr lang="en-US" altLang="zh-CN" sz="2600">
                <a:solidFill>
                  <a:srgbClr val="000000"/>
                </a:solidFill>
                <a:latin typeface="Times New Roman" panose="02020603050405020304" pitchFamily="18" charset="0"/>
                <a:cs typeface="Times New Roman" panose="02020603050405020304" pitchFamily="18" charset="0"/>
              </a:rPr>
              <a:t>(1</a:t>
            </a:r>
            <a:r>
              <a:rPr lang="en-US" altLang="zh-CN" sz="2600" smtClean="0">
                <a:solidFill>
                  <a:srgbClr val="000000"/>
                </a:solidFill>
                <a:latin typeface="Times New Roman" panose="02020603050405020304" pitchFamily="18" charset="0"/>
                <a:cs typeface="Times New Roman" panose="02020603050405020304" pitchFamily="18" charset="0"/>
              </a:rPr>
              <a:t>)</a:t>
            </a:r>
            <a:r>
              <a:rPr lang="zh-CN" altLang="en-US" sz="2600">
                <a:solidFill>
                  <a:srgbClr val="000000"/>
                </a:solidFill>
                <a:latin typeface="Times New Roman" panose="02020603050405020304" pitchFamily="18" charset="0"/>
                <a:cs typeface="Times New Roman" panose="02020603050405020304" pitchFamily="18" charset="0"/>
              </a:rPr>
              <a:t>中的结果回答问题</a:t>
            </a:r>
            <a:r>
              <a:rPr lang="en-US" altLang="zh-CN" sz="2600" smtClean="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a:solidFill>
                  <a:srgbClr val="000000"/>
                </a:solidFill>
                <a:latin typeface="NEU-BZ-S92"/>
                <a:cs typeface="宋体" panose="02010600030101010101" pitchFamily="2" charset="-122"/>
              </a:rPr>
              <a:t>①</a:t>
            </a:r>
            <a:r>
              <a:rPr lang="zh-CN" altLang="zh-CN" sz="2600">
                <a:solidFill>
                  <a:srgbClr val="000000"/>
                </a:solidFill>
                <a:latin typeface="Times New Roman" panose="02020603050405020304" pitchFamily="18" charset="0"/>
                <a:cs typeface="Times New Roman" panose="02020603050405020304" pitchFamily="18" charset="0"/>
              </a:rPr>
              <a:t>当年宣传费为</a:t>
            </a:r>
            <a:r>
              <a:rPr lang="en-US" altLang="zh-CN" sz="2600">
                <a:solidFill>
                  <a:srgbClr val="000000"/>
                </a:solidFill>
                <a:latin typeface="Times New Roman" panose="02020603050405020304" pitchFamily="18" charset="0"/>
                <a:cs typeface="Times New Roman" panose="02020603050405020304" pitchFamily="18" charset="0"/>
              </a:rPr>
              <a:t>10</a:t>
            </a:r>
            <a:r>
              <a:rPr lang="zh-CN" altLang="zh-CN" sz="2600">
                <a:solidFill>
                  <a:srgbClr val="000000"/>
                </a:solidFill>
                <a:latin typeface="Times New Roman" panose="02020603050405020304" pitchFamily="18" charset="0"/>
                <a:cs typeface="Times New Roman" panose="02020603050405020304" pitchFamily="18" charset="0"/>
              </a:rPr>
              <a:t>万元时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年销售量及年利润的预测值是多少</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a:solidFill>
                  <a:srgbClr val="000000"/>
                </a:solidFill>
                <a:latin typeface="NEU-BZ-S92"/>
                <a:cs typeface="宋体" panose="02010600030101010101" pitchFamily="2" charset="-122"/>
              </a:rPr>
              <a:t>②</a:t>
            </a:r>
            <a:r>
              <a:rPr lang="zh-CN" altLang="zh-CN" sz="2600">
                <a:solidFill>
                  <a:srgbClr val="000000"/>
                </a:solidFill>
                <a:latin typeface="Times New Roman" panose="02020603050405020304" pitchFamily="18" charset="0"/>
                <a:cs typeface="Times New Roman" panose="02020603050405020304" pitchFamily="18" charset="0"/>
              </a:rPr>
              <a:t>估算该公司应该投入多少宣传费</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才能使得年利润与年宣传费的比值最大</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91094350"/>
              </p:ext>
            </p:extLst>
          </p:nvPr>
        </p:nvGraphicFramePr>
        <p:xfrm>
          <a:off x="458424" y="1825589"/>
          <a:ext cx="11275153" cy="3460823"/>
        </p:xfrm>
        <a:graphic>
          <a:graphicData uri="http://schemas.openxmlformats.org/presentationml/2006/ole">
            <mc:AlternateContent xmlns:mc="http://schemas.openxmlformats.org/markup-compatibility/2006">
              <mc:Choice xmlns:v="urn:schemas-microsoft-com:vml" Requires="v">
                <p:oleObj spid="_x0000_s9241" name="文档" r:id="rId4" imgW="4510061" imgH="1384329" progId="Word.Document.12">
                  <p:embed/>
                </p:oleObj>
              </mc:Choice>
              <mc:Fallback>
                <p:oleObj name="文档" r:id="rId4" imgW="4510061" imgH="1384329" progId="Word.Document.12">
                  <p:embed/>
                  <p:pic>
                    <p:nvPicPr>
                      <p:cNvPr id="0" name=""/>
                      <p:cNvPicPr/>
                      <p:nvPr/>
                    </p:nvPicPr>
                    <p:blipFill>
                      <a:blip r:embed="rId5"/>
                      <a:stretch>
                        <a:fillRect/>
                      </a:stretch>
                    </p:blipFill>
                    <p:spPr>
                      <a:xfrm>
                        <a:off x="458424" y="1825589"/>
                        <a:ext cx="11275153" cy="3460823"/>
                      </a:xfrm>
                      <a:prstGeom prst="rect">
                        <a:avLst/>
                      </a:prstGeom>
                    </p:spPr>
                  </p:pic>
                </p:oleObj>
              </mc:Fallback>
            </mc:AlternateContent>
          </a:graphicData>
        </a:graphic>
      </p:graphicFrame>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47160293"/>
              </p:ext>
            </p:extLst>
          </p:nvPr>
        </p:nvGraphicFramePr>
        <p:xfrm>
          <a:off x="458424" y="1578066"/>
          <a:ext cx="11275153" cy="3955868"/>
        </p:xfrm>
        <a:graphic>
          <a:graphicData uri="http://schemas.openxmlformats.org/presentationml/2006/ole">
            <mc:AlternateContent xmlns:mc="http://schemas.openxmlformats.org/markup-compatibility/2006">
              <mc:Choice xmlns:v="urn:schemas-microsoft-com:vml" Requires="v">
                <p:oleObj spid="_x0000_s10265" name="文档" r:id="rId4" imgW="4510061" imgH="1582347" progId="Word.Document.12">
                  <p:embed/>
                </p:oleObj>
              </mc:Choice>
              <mc:Fallback>
                <p:oleObj name="文档" r:id="rId4" imgW="4510061" imgH="1582347" progId="Word.Document.12">
                  <p:embed/>
                  <p:pic>
                    <p:nvPicPr>
                      <p:cNvPr id="0" name=""/>
                      <p:cNvPicPr/>
                      <p:nvPr/>
                    </p:nvPicPr>
                    <p:blipFill>
                      <a:blip r:embed="rId5"/>
                      <a:stretch>
                        <a:fillRect/>
                      </a:stretch>
                    </p:blipFill>
                    <p:spPr>
                      <a:xfrm>
                        <a:off x="458424" y="1578066"/>
                        <a:ext cx="11275153" cy="3955868"/>
                      </a:xfrm>
                      <a:prstGeom prst="rect">
                        <a:avLst/>
                      </a:prstGeom>
                    </p:spPr>
                  </p:pic>
                </p:oleObj>
              </mc:Fallback>
            </mc:AlternateContent>
          </a:graphicData>
        </a:graphic>
      </p:graphicFrame>
    </p:spTree>
    <p:extLst>
      <p:ext uri="{BB962C8B-B14F-4D97-AF65-F5344CB8AC3E}">
        <p14:creationId xmlns:p14="http://schemas.microsoft.com/office/powerpoint/2010/main" val="1959294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22819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由</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年销售量</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的预测值</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85×10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年利润</a:t>
            </a:r>
            <a:r>
              <a:rPr lang="en-US" altLang="zh-CN" sz="2800" i="1">
                <a:solidFill>
                  <a:srgbClr val="000000"/>
                </a:solidFill>
                <a:latin typeface="Times New Roman" panose="02020603050405020304" pitchFamily="18" charset="0"/>
                <a:cs typeface="Times New Roman" panose="02020603050405020304" pitchFamily="18" charset="0"/>
              </a:rPr>
              <a:t>z</a:t>
            </a:r>
            <a:r>
              <a:rPr lang="zh-CN" altLang="zh-CN" sz="2800">
                <a:solidFill>
                  <a:srgbClr val="000000"/>
                </a:solidFill>
                <a:latin typeface="Times New Roman" panose="02020603050405020304" pitchFamily="18" charset="0"/>
                <a:cs typeface="Times New Roman" panose="02020603050405020304" pitchFamily="18" charset="0"/>
              </a:rPr>
              <a:t>的预测值</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05×100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61147607"/>
              </p:ext>
            </p:extLst>
          </p:nvPr>
        </p:nvGraphicFramePr>
        <p:xfrm>
          <a:off x="515299" y="1318921"/>
          <a:ext cx="11275153" cy="5092405"/>
        </p:xfrm>
        <a:graphic>
          <a:graphicData uri="http://schemas.openxmlformats.org/presentationml/2006/ole">
            <mc:AlternateContent xmlns:mc="http://schemas.openxmlformats.org/markup-compatibility/2006">
              <mc:Choice xmlns:v="urn:schemas-microsoft-com:vml" Requires="v">
                <p:oleObj spid="_x0000_s11289" name="文档" r:id="rId4" imgW="4510061" imgH="2036962" progId="Word.Document.12">
                  <p:embed/>
                </p:oleObj>
              </mc:Choice>
              <mc:Fallback>
                <p:oleObj name="文档" r:id="rId4" imgW="4510061" imgH="2036962" progId="Word.Document.12">
                  <p:embed/>
                  <p:pic>
                    <p:nvPicPr>
                      <p:cNvPr id="0" name=""/>
                      <p:cNvPicPr/>
                      <p:nvPr/>
                    </p:nvPicPr>
                    <p:blipFill>
                      <a:blip r:embed="rId5"/>
                      <a:stretch>
                        <a:fillRect/>
                      </a:stretch>
                    </p:blipFill>
                    <p:spPr>
                      <a:xfrm>
                        <a:off x="515299" y="1318921"/>
                        <a:ext cx="11275153" cy="5092405"/>
                      </a:xfrm>
                      <a:prstGeom prst="rect">
                        <a:avLst/>
                      </a:prstGeom>
                    </p:spPr>
                  </p:pic>
                </p:oleObj>
              </mc:Fallback>
            </mc:AlternateContent>
          </a:graphicData>
        </a:graphic>
      </p:graphicFrame>
    </p:spTree>
    <p:extLst>
      <p:ext uri="{BB962C8B-B14F-4D97-AF65-F5344CB8AC3E}">
        <p14:creationId xmlns:p14="http://schemas.microsoft.com/office/powerpoint/2010/main" val="3202915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44019"/>
            <a:ext cx="11430000" cy="159684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6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600" b="1">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600">
                <a:solidFill>
                  <a:srgbClr val="000000"/>
                </a:solidFill>
                <a:latin typeface="NEU-BZ-S92"/>
                <a:ea typeface="Arial" panose="020B0604020202020204" pitchFamily="34" charset="0"/>
                <a:cs typeface="Times New Roman" panose="02020603050405020304" pitchFamily="18" charset="0"/>
              </a:rPr>
              <a:t> </a:t>
            </a:r>
            <a:r>
              <a:rPr lang="zh-CN" altLang="zh-CN" sz="2600">
                <a:solidFill>
                  <a:srgbClr val="000000"/>
                </a:solidFill>
                <a:latin typeface="Times New Roman" panose="02020603050405020304" pitchFamily="18" charset="0"/>
                <a:cs typeface="Times New Roman" panose="02020603050405020304" pitchFamily="18" charset="0"/>
              </a:rPr>
              <a:t>随着网络的发展</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网上购物越来越受到人们的喜爱</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各大购物网站为增加收入</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促销策略越来越多样化</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促销费用也不断增加</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下表是某购物网站</a:t>
            </a:r>
            <a:r>
              <a:rPr lang="en-US" altLang="zh-CN" sz="2600" smtClean="0">
                <a:solidFill>
                  <a:srgbClr val="000000"/>
                </a:solidFill>
                <a:latin typeface="Times New Roman" panose="02020603050405020304" pitchFamily="18" charset="0"/>
                <a:cs typeface="Times New Roman" panose="02020603050405020304" pitchFamily="18" charset="0"/>
              </a:rPr>
              <a:t>1</a:t>
            </a:r>
            <a:r>
              <a:rPr lang="en-US" altLang="zh-CN" sz="2600" i="1" smtClean="0">
                <a:solidFill>
                  <a:srgbClr val="000000"/>
                </a:solidFill>
                <a:latin typeface="Times New Roman" panose="02020603050405020304" pitchFamily="18" charset="0"/>
                <a:cs typeface="Times New Roman" panose="02020603050405020304" pitchFamily="18" charset="0"/>
              </a:rPr>
              <a:t>~</a:t>
            </a:r>
            <a:r>
              <a:rPr lang="en-US" altLang="zh-CN" sz="2600" smtClean="0">
                <a:solidFill>
                  <a:srgbClr val="000000"/>
                </a:solidFill>
                <a:latin typeface="Times New Roman" panose="02020603050405020304" pitchFamily="18" charset="0"/>
                <a:cs typeface="Times New Roman" panose="02020603050405020304" pitchFamily="18" charset="0"/>
              </a:rPr>
              <a:t>8</a:t>
            </a:r>
            <a:r>
              <a:rPr lang="zh-CN" altLang="en-US" sz="2600">
                <a:solidFill>
                  <a:srgbClr val="000000"/>
                </a:solidFill>
                <a:latin typeface="Times New Roman" panose="02020603050405020304" pitchFamily="18" charset="0"/>
                <a:cs typeface="Times New Roman" panose="02020603050405020304" pitchFamily="18" charset="0"/>
              </a:rPr>
              <a:t>月某类产品促销费用</a:t>
            </a:r>
            <a:r>
              <a:rPr lang="en-US" altLang="zh-CN" sz="2600" smtClean="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单位</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万元</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和产品销量</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单位</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万件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的具体数据</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605728224"/>
              </p:ext>
            </p:extLst>
          </p:nvPr>
        </p:nvGraphicFramePr>
        <p:xfrm>
          <a:off x="381000" y="2159068"/>
          <a:ext cx="11430000" cy="1367028"/>
        </p:xfrm>
        <a:graphic>
          <a:graphicData uri="http://schemas.openxmlformats.org/drawingml/2006/table">
            <a:tbl>
              <a:tblPr firstRow="1" firstCol="1" bandRow="1"/>
              <a:tblGrid>
                <a:gridCol w="1817670"/>
                <a:gridCol w="976045"/>
                <a:gridCol w="1016285"/>
                <a:gridCol w="1270000"/>
                <a:gridCol w="1270000"/>
                <a:gridCol w="1270000"/>
                <a:gridCol w="1270000"/>
                <a:gridCol w="1270000"/>
                <a:gridCol w="1270000"/>
              </a:tblGrid>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月份</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促销费用</a:t>
                      </a: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21</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6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产品销量</a:t>
                      </a: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6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346456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根据数据绘制出散点图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根据散点图能够看出可用线性回归模型拟合</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的关系吗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请用样本相关系数</a:t>
            </a:r>
            <a:r>
              <a:rPr lang="en-US" altLang="zh-CN" sz="2800" i="1">
                <a:solidFill>
                  <a:srgbClr val="000000"/>
                </a:solidFill>
                <a:latin typeface="Times New Roman" panose="02020603050405020304" pitchFamily="18" charset="0"/>
                <a:cs typeface="Times New Roman" panose="02020603050405020304" pitchFamily="18" charset="0"/>
              </a:rPr>
              <a:t>r</a:t>
            </a:r>
            <a:r>
              <a:rPr lang="zh-CN" altLang="zh-CN" sz="2800">
                <a:solidFill>
                  <a:srgbClr val="000000"/>
                </a:solidFill>
                <a:latin typeface="Times New Roman" panose="02020603050405020304" pitchFamily="18" charset="0"/>
                <a:cs typeface="Times New Roman" panose="02020603050405020304" pitchFamily="18" charset="0"/>
              </a:rPr>
              <a:t>加以说明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系数精确到</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a:spLocks noChangeAspect="1"/>
          </p:cNvSpPr>
          <p:nvPr/>
        </p:nvSpPr>
        <p:spPr>
          <a:xfrm>
            <a:off x="381000" y="4582739"/>
            <a:ext cx="11430000" cy="16527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建立</a:t>
            </a:r>
            <a:r>
              <a:rPr lang="en-US" altLang="zh-CN" sz="2600" i="1">
                <a:solidFill>
                  <a:srgbClr val="000000"/>
                </a:solidFill>
                <a:latin typeface="Times New Roman" panose="02020603050405020304" pitchFamily="18" charset="0"/>
                <a:cs typeface="Times New Roman" panose="02020603050405020304" pitchFamily="18" charset="0"/>
              </a:rPr>
              <a:t>y</a:t>
            </a:r>
            <a:r>
              <a:rPr lang="zh-CN" altLang="zh-CN" sz="2600">
                <a:solidFill>
                  <a:srgbClr val="000000"/>
                </a:solidFill>
                <a:latin typeface="Times New Roman" panose="02020603050405020304" pitchFamily="18" charset="0"/>
                <a:cs typeface="Times New Roman" panose="02020603050405020304" pitchFamily="18" charset="0"/>
              </a:rPr>
              <a:t>关于</a:t>
            </a:r>
            <a:r>
              <a:rPr lang="en-US" altLang="zh-CN" sz="2600" i="1">
                <a:solidFill>
                  <a:srgbClr val="000000"/>
                </a:solidFill>
                <a:latin typeface="Times New Roman" panose="02020603050405020304" pitchFamily="18" charset="0"/>
                <a:cs typeface="Times New Roman" panose="02020603050405020304" pitchFamily="18" charset="0"/>
              </a:rPr>
              <a:t>x</a:t>
            </a:r>
            <a:r>
              <a:rPr lang="zh-CN" altLang="zh-CN" sz="2600">
                <a:solidFill>
                  <a:srgbClr val="000000"/>
                </a:solidFill>
                <a:latin typeface="Times New Roman" panose="02020603050405020304" pitchFamily="18" charset="0"/>
                <a:cs typeface="Times New Roman" panose="02020603050405020304" pitchFamily="18" charset="0"/>
              </a:rPr>
              <a:t>的经验</a:t>
            </a:r>
            <a:r>
              <a:rPr lang="zh-CN" altLang="zh-CN" sz="2600" smtClean="0">
                <a:solidFill>
                  <a:srgbClr val="000000"/>
                </a:solidFill>
                <a:latin typeface="Times New Roman" panose="02020603050405020304" pitchFamily="18" charset="0"/>
                <a:cs typeface="Times New Roman" panose="02020603050405020304" pitchFamily="18" charset="0"/>
              </a:rPr>
              <a:t>回归方程</a:t>
            </a:r>
            <a:r>
              <a:rPr lang="en-US" altLang="zh-CN" sz="2600" smtClean="0">
                <a:solidFill>
                  <a:srgbClr val="000000"/>
                </a:solidFill>
                <a:latin typeface="Times New Roman" panose="02020603050405020304" pitchFamily="18" charset="0"/>
                <a:cs typeface="Times New Roman" panose="02020603050405020304" pitchFamily="18" charset="0"/>
              </a:rPr>
              <a:t>                    (</a:t>
            </a:r>
            <a:r>
              <a:rPr lang="zh-CN" altLang="zh-CN" sz="2600">
                <a:solidFill>
                  <a:srgbClr val="000000"/>
                </a:solidFill>
                <a:latin typeface="Times New Roman" panose="02020603050405020304" pitchFamily="18" charset="0"/>
                <a:cs typeface="Times New Roman" panose="02020603050405020304" pitchFamily="18" charset="0"/>
              </a:rPr>
              <a:t>系数精确到</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01</a:t>
            </a:r>
            <a:r>
              <a:rPr lang="en-US" altLang="zh-CN" sz="2600" smtClean="0">
                <a:solidFill>
                  <a:srgbClr val="000000"/>
                </a:solidFill>
                <a:latin typeface="Times New Roman" panose="02020603050405020304" pitchFamily="18" charset="0"/>
                <a:cs typeface="Times New Roman" panose="02020603050405020304" pitchFamily="18" charset="0"/>
              </a:rPr>
              <a:t>);</a:t>
            </a:r>
            <a:r>
              <a:rPr lang="zh-CN" altLang="en-US" sz="2600">
                <a:solidFill>
                  <a:srgbClr val="000000"/>
                </a:solidFill>
                <a:latin typeface="Times New Roman" panose="02020603050405020304" pitchFamily="18" charset="0"/>
                <a:cs typeface="Times New Roman" panose="02020603050405020304" pitchFamily="18" charset="0"/>
              </a:rPr>
              <a:t>如果该网站计划在</a:t>
            </a:r>
            <a:r>
              <a:rPr lang="en-US" altLang="zh-CN" sz="2600">
                <a:solidFill>
                  <a:srgbClr val="000000"/>
                </a:solidFill>
                <a:latin typeface="Times New Roman" panose="02020603050405020304" pitchFamily="18" charset="0"/>
                <a:cs typeface="Times New Roman" panose="02020603050405020304" pitchFamily="18" charset="0"/>
              </a:rPr>
              <a:t>9</a:t>
            </a:r>
            <a:r>
              <a:rPr lang="zh-CN" altLang="en-US" sz="2600">
                <a:solidFill>
                  <a:srgbClr val="000000"/>
                </a:solidFill>
                <a:latin typeface="Times New Roman" panose="02020603050405020304" pitchFamily="18" charset="0"/>
                <a:cs typeface="Times New Roman" panose="02020603050405020304" pitchFamily="18" charset="0"/>
              </a:rPr>
              <a:t>月份实现该类产品销量不低于</a:t>
            </a:r>
            <a:r>
              <a:rPr lang="en-US" altLang="zh-CN" sz="2600" smtClean="0">
                <a:solidFill>
                  <a:srgbClr val="000000"/>
                </a:solidFill>
                <a:latin typeface="Times New Roman" panose="02020603050405020304" pitchFamily="18" charset="0"/>
                <a:cs typeface="Times New Roman" panose="02020603050405020304" pitchFamily="18" charset="0"/>
              </a:rPr>
              <a:t>6</a:t>
            </a:r>
            <a:r>
              <a:rPr lang="zh-CN" altLang="zh-CN" sz="2600">
                <a:solidFill>
                  <a:srgbClr val="000000"/>
                </a:solidFill>
                <a:latin typeface="Times New Roman" panose="02020603050405020304" pitchFamily="18" charset="0"/>
                <a:cs typeface="Times New Roman" panose="02020603050405020304" pitchFamily="18" charset="0"/>
              </a:rPr>
              <a:t>万件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预测至少需要投入促销费用多少万元</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结果精确到</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01)</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251531221"/>
              </p:ext>
            </p:extLst>
          </p:nvPr>
        </p:nvGraphicFramePr>
        <p:xfrm>
          <a:off x="4885362" y="4351803"/>
          <a:ext cx="1804988" cy="998537"/>
        </p:xfrm>
        <a:graphic>
          <a:graphicData uri="http://schemas.openxmlformats.org/presentationml/2006/ole">
            <mc:AlternateContent xmlns:mc="http://schemas.openxmlformats.org/markup-compatibility/2006">
              <mc:Choice xmlns:v="urn:schemas-microsoft-com:vml" Requires="v">
                <p:oleObj spid="_x0000_s5144" name="文档" r:id="rId4" imgW="736361" imgH="400348" progId="Word.Document.12">
                  <p:embed/>
                </p:oleObj>
              </mc:Choice>
              <mc:Fallback>
                <p:oleObj name="文档" r:id="rId4" imgW="736361" imgH="400348" progId="Word.Document.12">
                  <p:embed/>
                  <p:pic>
                    <p:nvPicPr>
                      <p:cNvPr id="0" name=""/>
                      <p:cNvPicPr/>
                      <p:nvPr/>
                    </p:nvPicPr>
                    <p:blipFill>
                      <a:blip r:embed="rId5"/>
                      <a:stretch>
                        <a:fillRect/>
                      </a:stretch>
                    </p:blipFill>
                    <p:spPr>
                      <a:xfrm>
                        <a:off x="4885362" y="4351803"/>
                        <a:ext cx="1804988" cy="998537"/>
                      </a:xfrm>
                      <a:prstGeom prst="rect">
                        <a:avLst/>
                      </a:prstGeom>
                    </p:spPr>
                  </p:pic>
                </p:oleObj>
              </mc:Fallback>
            </mc:AlternateContent>
          </a:graphicData>
        </a:graphic>
      </p:graphicFrame>
    </p:spTree>
    <p:extLst>
      <p:ext uri="{BB962C8B-B14F-4D97-AF65-F5344CB8AC3E}">
        <p14:creationId xmlns:p14="http://schemas.microsoft.com/office/powerpoint/2010/main" val="101548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034526375"/>
              </p:ext>
            </p:extLst>
          </p:nvPr>
        </p:nvGraphicFramePr>
        <p:xfrm>
          <a:off x="457200" y="150992"/>
          <a:ext cx="11249025" cy="6545262"/>
        </p:xfrm>
        <a:graphic>
          <a:graphicData uri="http://schemas.openxmlformats.org/presentationml/2006/ole">
            <mc:AlternateContent xmlns:mc="http://schemas.openxmlformats.org/markup-compatibility/2006">
              <mc:Choice xmlns:v="urn:schemas-microsoft-com:vml" Requires="v">
                <p:oleObj spid="_x0000_s12313" name="文档" r:id="rId4" imgW="4510061" imgH="2630297" progId="Word.Document.12">
                  <p:embed/>
                </p:oleObj>
              </mc:Choice>
              <mc:Fallback>
                <p:oleObj name="文档" r:id="rId4" imgW="4510061" imgH="2630297" progId="Word.Document.12">
                  <p:embed/>
                  <p:pic>
                    <p:nvPicPr>
                      <p:cNvPr id="0" name=""/>
                      <p:cNvPicPr/>
                      <p:nvPr/>
                    </p:nvPicPr>
                    <p:blipFill>
                      <a:blip r:embed="rId5"/>
                      <a:stretch>
                        <a:fillRect/>
                      </a:stretch>
                    </p:blipFill>
                    <p:spPr>
                      <a:xfrm>
                        <a:off x="457200" y="150992"/>
                        <a:ext cx="11249025" cy="6545262"/>
                      </a:xfrm>
                      <a:prstGeom prst="rect">
                        <a:avLst/>
                      </a:prstGeom>
                    </p:spPr>
                  </p:pic>
                </p:oleObj>
              </mc:Fallback>
            </mc:AlternateContent>
          </a:graphicData>
        </a:graphic>
      </p:graphicFrame>
    </p:spTree>
    <p:extLst>
      <p:ext uri="{BB962C8B-B14F-4D97-AF65-F5344CB8AC3E}">
        <p14:creationId xmlns:p14="http://schemas.microsoft.com/office/powerpoint/2010/main" val="331459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13021"/>
            <a:ext cx="5833648" cy="612475"/>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6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6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(1</a:t>
            </a:r>
            <a:r>
              <a:rPr lang="en-US" altLang="zh-CN" sz="2600" smtClean="0">
                <a:solidFill>
                  <a:srgbClr val="000000"/>
                </a:solidFill>
                <a:latin typeface="Times New Roman" panose="02020603050405020304" pitchFamily="18" charset="0"/>
                <a:cs typeface="Times New Roman" panose="02020603050405020304" pitchFamily="18" charset="0"/>
              </a:rPr>
              <a:t>)</a:t>
            </a:r>
            <a:r>
              <a:rPr lang="zh-CN" altLang="en-US"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根据数据绘制的散点图如图所示</a:t>
            </a:r>
            <a:r>
              <a:rPr lang="en-US" altLang="zh-CN" sz="2600" smtClean="0">
                <a:solidFill>
                  <a:srgbClr val="000000"/>
                </a:solidFill>
                <a:latin typeface="Times New Roman" panose="02020603050405020304" pitchFamily="18" charset="0"/>
                <a:cs typeface="Times New Roman" panose="02020603050405020304" pitchFamily="18" charset="0"/>
              </a:rPr>
              <a:t>, </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VMX3TRAX34.eps" descr="id:2147520111;FounderCES"/>
          <p:cNvPicPr/>
          <p:nvPr/>
        </p:nvPicPr>
        <p:blipFill>
          <a:blip r:embed="rId3">
            <a:clrChange>
              <a:clrFrom>
                <a:srgbClr val="FFFFFF"/>
              </a:clrFrom>
              <a:clrTo>
                <a:srgbClr val="FFFFFF">
                  <a:alpha val="0"/>
                </a:srgbClr>
              </a:clrTo>
            </a:clrChange>
          </a:blip>
          <a:stretch>
            <a:fillRect/>
          </a:stretch>
        </p:blipFill>
        <p:spPr>
          <a:xfrm>
            <a:off x="7171360" y="663111"/>
            <a:ext cx="4222679" cy="3023120"/>
          </a:xfrm>
          <a:prstGeom prst="rect">
            <a:avLst/>
          </a:prstGeom>
        </p:spPr>
      </p:pic>
      <p:sp>
        <p:nvSpPr>
          <p:cNvPr id="5" name="矩形 4"/>
          <p:cNvSpPr>
            <a:spLocks noChangeAspect="1"/>
          </p:cNvSpPr>
          <p:nvPr/>
        </p:nvSpPr>
        <p:spPr>
          <a:xfrm>
            <a:off x="380999" y="680575"/>
            <a:ext cx="6348573" cy="1596847"/>
          </a:xfrm>
          <a:prstGeom prst="rect">
            <a:avLst/>
          </a:prstGeom>
        </p:spPr>
        <p:txBody>
          <a:bodyPr wrap="square">
            <a:spAutoFit/>
          </a:bodyPr>
          <a:lstStyle/>
          <a:p>
            <a:pPr>
              <a:lnSpc>
                <a:spcPct val="130000"/>
              </a:lnSpc>
              <a:spcAft>
                <a:spcPts val="0"/>
              </a:spcAft>
              <a:tabLst>
                <a:tab pos="1188085" algn="l"/>
                <a:tab pos="2163445" algn="l"/>
                <a:tab pos="3142615" algn="l"/>
                <a:tab pos="4190365" algn="l"/>
              </a:tabLst>
            </a:pP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从散点图可以看出这些点大致分布在一条直线附近</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并且在逐步上升</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所以可用线性回归模型拟合</a:t>
            </a:r>
            <a:r>
              <a:rPr lang="en-US" altLang="zh-CN" sz="2600" i="1">
                <a:solidFill>
                  <a:srgbClr val="000000"/>
                </a:solidFill>
                <a:latin typeface="Times New Roman" panose="02020603050405020304" pitchFamily="18" charset="0"/>
                <a:cs typeface="Times New Roman" panose="02020603050405020304" pitchFamily="18" charset="0"/>
              </a:rPr>
              <a:t>y</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600" i="1">
                <a:solidFill>
                  <a:srgbClr val="000000"/>
                </a:solidFill>
                <a:latin typeface="Times New Roman" panose="02020603050405020304" pitchFamily="18" charset="0"/>
                <a:cs typeface="Times New Roman" panose="02020603050405020304" pitchFamily="18" charset="0"/>
              </a:rPr>
              <a:t>x</a:t>
            </a:r>
            <a:r>
              <a:rPr lang="zh-CN" altLang="zh-CN" sz="2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的关系</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084237525"/>
              </p:ext>
            </p:extLst>
          </p:nvPr>
        </p:nvGraphicFramePr>
        <p:xfrm>
          <a:off x="457200" y="2040051"/>
          <a:ext cx="11249025" cy="4498975"/>
        </p:xfrm>
        <a:graphic>
          <a:graphicData uri="http://schemas.openxmlformats.org/presentationml/2006/ole">
            <mc:AlternateContent xmlns:mc="http://schemas.openxmlformats.org/markup-compatibility/2006">
              <mc:Choice xmlns:v="urn:schemas-microsoft-com:vml" Requires="v">
                <p:oleObj spid="_x0000_s13337" name="文档" r:id="rId5" imgW="4510061" imgH="1806599" progId="Word.Document.12">
                  <p:embed/>
                </p:oleObj>
              </mc:Choice>
              <mc:Fallback>
                <p:oleObj name="文档" r:id="rId5" imgW="4510061" imgH="1806599" progId="Word.Document.12">
                  <p:embed/>
                  <p:pic>
                    <p:nvPicPr>
                      <p:cNvPr id="0" name=""/>
                      <p:cNvPicPr/>
                      <p:nvPr/>
                    </p:nvPicPr>
                    <p:blipFill>
                      <a:blip r:embed="rId6"/>
                      <a:stretch>
                        <a:fillRect/>
                      </a:stretch>
                    </p:blipFill>
                    <p:spPr>
                      <a:xfrm>
                        <a:off x="457200" y="2040051"/>
                        <a:ext cx="11249025" cy="4498975"/>
                      </a:xfrm>
                      <a:prstGeom prst="rect">
                        <a:avLst/>
                      </a:prstGeom>
                    </p:spPr>
                  </p:pic>
                </p:oleObj>
              </mc:Fallback>
            </mc:AlternateContent>
          </a:graphicData>
        </a:graphic>
      </p:graphicFrame>
    </p:spTree>
    <p:extLst>
      <p:ext uri="{BB962C8B-B14F-4D97-AF65-F5344CB8AC3E}">
        <p14:creationId xmlns:p14="http://schemas.microsoft.com/office/powerpoint/2010/main" val="3906208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204820577"/>
              </p:ext>
            </p:extLst>
          </p:nvPr>
        </p:nvGraphicFramePr>
        <p:xfrm>
          <a:off x="458424" y="443777"/>
          <a:ext cx="11275153" cy="5587448"/>
        </p:xfrm>
        <a:graphic>
          <a:graphicData uri="http://schemas.openxmlformats.org/presentationml/2006/ole">
            <mc:AlternateContent xmlns:mc="http://schemas.openxmlformats.org/markup-compatibility/2006">
              <mc:Choice xmlns:v="urn:schemas-microsoft-com:vml" Requires="v">
                <p:oleObj spid="_x0000_s14361" name="文档" r:id="rId4" imgW="4510061" imgH="2234979" progId="Word.Document.12">
                  <p:embed/>
                </p:oleObj>
              </mc:Choice>
              <mc:Fallback>
                <p:oleObj name="文档" r:id="rId4" imgW="4510061" imgH="2234979" progId="Word.Document.12">
                  <p:embed/>
                  <p:pic>
                    <p:nvPicPr>
                      <p:cNvPr id="0" name=""/>
                      <p:cNvPicPr/>
                      <p:nvPr/>
                    </p:nvPicPr>
                    <p:blipFill>
                      <a:blip r:embed="rId5"/>
                      <a:stretch>
                        <a:fillRect/>
                      </a:stretch>
                    </p:blipFill>
                    <p:spPr>
                      <a:xfrm>
                        <a:off x="458424" y="443777"/>
                        <a:ext cx="11275153" cy="5587448"/>
                      </a:xfrm>
                      <a:prstGeom prst="rect">
                        <a:avLst/>
                      </a:prstGeom>
                    </p:spPr>
                  </p:pic>
                </p:oleObj>
              </mc:Fallback>
            </mc:AlternateContent>
          </a:graphicData>
        </a:graphic>
      </p:graphicFrame>
    </p:spTree>
    <p:extLst>
      <p:ext uri="{BB962C8B-B14F-4D97-AF65-F5344CB8AC3E}">
        <p14:creationId xmlns:p14="http://schemas.microsoft.com/office/powerpoint/2010/main" val="3960500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49083"/>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某食品研究部门为了解一种酒品的储藏年份与芳香度之间的相关关系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在市场上收集了一部分不同年份的该酒品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并测定了其芳香度如表</a:t>
            </a:r>
            <a:r>
              <a:rPr lang="en-US" altLang="zh-CN" sz="2800" i="1"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i="1">
              <a:solidFill>
                <a:srgbClr val="000000"/>
              </a:solidFill>
              <a:effectLst/>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由最小二乘法得到经验</a:t>
            </a:r>
            <a:r>
              <a:rPr lang="zh-CN" altLang="zh-CN" sz="2800" smtClean="0">
                <a:solidFill>
                  <a:srgbClr val="000000"/>
                </a:solidFill>
                <a:latin typeface="Times New Roman" panose="02020603050405020304" pitchFamily="18" charset="0"/>
                <a:cs typeface="Times New Roman" panose="02020603050405020304" pitchFamily="18" charset="0"/>
              </a:rPr>
              <a:t>回归方程</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03</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13,</a:t>
            </a:r>
            <a:r>
              <a:rPr lang="zh-CN" altLang="zh-CN" sz="2800">
                <a:solidFill>
                  <a:srgbClr val="000000"/>
                </a:solidFill>
                <a:latin typeface="Times New Roman" panose="02020603050405020304" pitchFamily="18" charset="0"/>
                <a:cs typeface="Times New Roman" panose="02020603050405020304" pitchFamily="18" charset="0"/>
              </a:rPr>
              <a:t>但不小心在检测后滴到表格上一滴检测液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污损了一个数据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请你推测该数据为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	B.6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	D.6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6830313"/>
              </p:ext>
            </p:extLst>
          </p:nvPr>
        </p:nvGraphicFramePr>
        <p:xfrm>
          <a:off x="381000" y="2204090"/>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年份</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芳香度</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Cambria Math" panose="02040503050406030204" pitchFamily="18" charset="0"/>
                          <a:ea typeface="NEU-BZ-S9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67011390"/>
              </p:ext>
            </p:extLst>
          </p:nvPr>
        </p:nvGraphicFramePr>
        <p:xfrm>
          <a:off x="5355417" y="3235863"/>
          <a:ext cx="605029" cy="862268"/>
        </p:xfrm>
        <a:graphic>
          <a:graphicData uri="http://schemas.openxmlformats.org/presentationml/2006/ole">
            <mc:AlternateContent xmlns:mc="http://schemas.openxmlformats.org/markup-compatibility/2006">
              <mc:Choice xmlns:v="urn:schemas-microsoft-com:vml" Requires="v">
                <p:oleObj spid="_x0000_s7192" name="文档" r:id="rId4" imgW="229161" imgH="317391" progId="Word.Document.12">
                  <p:embed/>
                </p:oleObj>
              </mc:Choice>
              <mc:Fallback>
                <p:oleObj name="文档" r:id="rId4" imgW="229161" imgH="317391" progId="Word.Document.12">
                  <p:embed/>
                  <p:pic>
                    <p:nvPicPr>
                      <p:cNvPr id="0" name=""/>
                      <p:cNvPicPr>
                        <a:picLocks noChangeAspect="1" noChangeArrowheads="1"/>
                      </p:cNvPicPr>
                      <p:nvPr/>
                    </p:nvPicPr>
                    <p:blipFill>
                      <a:blip r:embed="rId5"/>
                      <a:srcRect/>
                      <a:stretch>
                        <a:fillRect/>
                      </a:stretch>
                    </p:blipFill>
                    <p:spPr bwMode="auto">
                      <a:xfrm>
                        <a:off x="5355417" y="3235863"/>
                        <a:ext cx="605029" cy="862268"/>
                      </a:xfrm>
                      <a:prstGeom prst="rect">
                        <a:avLst/>
                      </a:prstGeom>
                      <a:noFill/>
                    </p:spPr>
                  </p:pic>
                </p:oleObj>
              </mc:Fallback>
            </mc:AlternateContent>
          </a:graphicData>
        </a:graphic>
      </p:graphicFrame>
    </p:spTree>
    <p:extLst>
      <p:ext uri="{BB962C8B-B14F-4D97-AF65-F5344CB8AC3E}">
        <p14:creationId xmlns:p14="http://schemas.microsoft.com/office/powerpoint/2010/main" val="3554114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39966568"/>
              </p:ext>
            </p:extLst>
          </p:nvPr>
        </p:nvGraphicFramePr>
        <p:xfrm>
          <a:off x="457200" y="506639"/>
          <a:ext cx="11249025" cy="5294313"/>
        </p:xfrm>
        <a:graphic>
          <a:graphicData uri="http://schemas.openxmlformats.org/presentationml/2006/ole">
            <mc:AlternateContent xmlns:mc="http://schemas.openxmlformats.org/markup-compatibility/2006">
              <mc:Choice xmlns:v="urn:schemas-microsoft-com:vml" Requires="v">
                <p:oleObj spid="_x0000_s16409" name="文档" r:id="rId4" imgW="4510061" imgH="2123572" progId="Word.Document.12">
                  <p:embed/>
                </p:oleObj>
              </mc:Choice>
              <mc:Fallback>
                <p:oleObj name="文档" r:id="rId4" imgW="4510061" imgH="2123572" progId="Word.Document.12">
                  <p:embed/>
                  <p:pic>
                    <p:nvPicPr>
                      <p:cNvPr id="0" name=""/>
                      <p:cNvPicPr/>
                      <p:nvPr/>
                    </p:nvPicPr>
                    <p:blipFill>
                      <a:blip r:embed="rId5"/>
                      <a:stretch>
                        <a:fillRect/>
                      </a:stretch>
                    </p:blipFill>
                    <p:spPr>
                      <a:xfrm>
                        <a:off x="457200" y="506639"/>
                        <a:ext cx="11249025" cy="5294313"/>
                      </a:xfrm>
                      <a:prstGeom prst="rect">
                        <a:avLst/>
                      </a:prstGeom>
                    </p:spPr>
                  </p:pic>
                </p:oleObj>
              </mc:Fallback>
            </mc:AlternateContent>
          </a:graphicData>
        </a:graphic>
      </p:graphicFrame>
      <p:sp>
        <p:nvSpPr>
          <p:cNvPr id="3" name="矩形 2"/>
          <p:cNvSpPr>
            <a:spLocks noChangeAspect="1"/>
          </p:cNvSpPr>
          <p:nvPr/>
        </p:nvSpPr>
        <p:spPr>
          <a:xfrm>
            <a:off x="381000" y="5584931"/>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B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5364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19373"/>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恩格尔系数</a:t>
            </a:r>
            <a:r>
              <a:rPr lang="en-US" altLang="zh-CN" sz="2800">
                <a:solidFill>
                  <a:srgbClr val="000000"/>
                </a:solidFill>
                <a:latin typeface="Times New Roman" panose="02020603050405020304" pitchFamily="18" charset="0"/>
                <a:cs typeface="Times New Roman" panose="02020603050405020304" pitchFamily="18" charset="0"/>
              </a:rPr>
              <a:t>(Engel’s Coefficient)</a:t>
            </a:r>
            <a:r>
              <a:rPr lang="zh-CN" altLang="zh-CN" sz="2800">
                <a:solidFill>
                  <a:srgbClr val="000000"/>
                </a:solidFill>
                <a:latin typeface="Times New Roman" panose="02020603050405020304" pitchFamily="18" charset="0"/>
                <a:cs typeface="Times New Roman" panose="02020603050405020304" pitchFamily="18" charset="0"/>
              </a:rPr>
              <a:t>是食品支出总额占个人消费支出总额的比重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恩格尔系数越小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消费结构越完整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生活水平越高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某学校社会调查小组得到如下数据</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418394251"/>
              </p:ext>
            </p:extLst>
          </p:nvPr>
        </p:nvGraphicFramePr>
        <p:xfrm>
          <a:off x="381000" y="2831893"/>
          <a:ext cx="11430001" cy="1280160"/>
        </p:xfrm>
        <a:graphic>
          <a:graphicData uri="http://schemas.openxmlformats.org/drawingml/2006/table">
            <a:tbl>
              <a:tblPr firstRow="1" firstCol="1" bandRow="1"/>
              <a:tblGrid>
                <a:gridCol w="4318421"/>
                <a:gridCol w="1422316"/>
                <a:gridCol w="1422316"/>
                <a:gridCol w="1422316"/>
                <a:gridCol w="1422316"/>
                <a:gridCol w="1422316"/>
              </a:tblGrid>
              <a:tr h="36830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年个人消费支</a:t>
                      </a:r>
                      <a:r>
                        <a:rPr lang="zh-CN" sz="2800" smtClean="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出总</a:t>
                      </a: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额</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万元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恩格尔系数</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4029635"/>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之间有线性相关关系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某人年个人消费支出总额为</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万元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据此估计其恩格尔系数为</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601177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440544106"/>
              </p:ext>
            </p:extLst>
          </p:nvPr>
        </p:nvGraphicFramePr>
        <p:xfrm>
          <a:off x="458424" y="1195630"/>
          <a:ext cx="11275153" cy="3470530"/>
        </p:xfrm>
        <a:graphic>
          <a:graphicData uri="http://schemas.openxmlformats.org/presentationml/2006/ole">
            <mc:AlternateContent xmlns:mc="http://schemas.openxmlformats.org/markup-compatibility/2006">
              <mc:Choice xmlns:v="urn:schemas-microsoft-com:vml" Requires="v">
                <p:oleObj spid="_x0000_s28688" name="文档" r:id="rId4" imgW="4510061" imgH="1388212" progId="Word.Document.12">
                  <p:embed/>
                </p:oleObj>
              </mc:Choice>
              <mc:Fallback>
                <p:oleObj name="文档" r:id="rId4" imgW="4510061" imgH="1388212" progId="Word.Document.12">
                  <p:embed/>
                  <p:pic>
                    <p:nvPicPr>
                      <p:cNvPr id="0" name=""/>
                      <p:cNvPicPr/>
                      <p:nvPr/>
                    </p:nvPicPr>
                    <p:blipFill>
                      <a:blip r:embed="rId5"/>
                      <a:stretch>
                        <a:fillRect/>
                      </a:stretch>
                    </p:blipFill>
                    <p:spPr>
                      <a:xfrm>
                        <a:off x="458424" y="1195630"/>
                        <a:ext cx="11275153" cy="3470530"/>
                      </a:xfrm>
                      <a:prstGeom prst="rect">
                        <a:avLst/>
                      </a:prstGeom>
                    </p:spPr>
                  </p:pic>
                </p:oleObj>
              </mc:Fallback>
            </mc:AlternateContent>
          </a:graphicData>
        </a:graphic>
      </p:graphicFrame>
    </p:spTree>
    <p:extLst>
      <p:ext uri="{BB962C8B-B14F-4D97-AF65-F5344CB8AC3E}">
        <p14:creationId xmlns:p14="http://schemas.microsoft.com/office/powerpoint/2010/main" val="2900052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016116830"/>
              </p:ext>
            </p:extLst>
          </p:nvPr>
        </p:nvGraphicFramePr>
        <p:xfrm>
          <a:off x="458424" y="388618"/>
          <a:ext cx="11275153" cy="4958028"/>
        </p:xfrm>
        <a:graphic>
          <a:graphicData uri="http://schemas.openxmlformats.org/presentationml/2006/ole">
            <mc:AlternateContent xmlns:mc="http://schemas.openxmlformats.org/markup-compatibility/2006">
              <mc:Choice xmlns:v="urn:schemas-microsoft-com:vml" Requires="v">
                <p:oleObj spid="_x0000_s29712" name="文档" r:id="rId4" imgW="4510061" imgH="1983211" progId="Word.Document.12">
                  <p:embed/>
                </p:oleObj>
              </mc:Choice>
              <mc:Fallback>
                <p:oleObj name="文档" r:id="rId4" imgW="4510061" imgH="1983211" progId="Word.Document.12">
                  <p:embed/>
                  <p:pic>
                    <p:nvPicPr>
                      <p:cNvPr id="0" name=""/>
                      <p:cNvPicPr/>
                      <p:nvPr/>
                    </p:nvPicPr>
                    <p:blipFill>
                      <a:blip r:embed="rId5"/>
                      <a:stretch>
                        <a:fillRect/>
                      </a:stretch>
                    </p:blipFill>
                    <p:spPr>
                      <a:xfrm>
                        <a:off x="458424" y="388618"/>
                        <a:ext cx="11275153" cy="4958028"/>
                      </a:xfrm>
                      <a:prstGeom prst="rect">
                        <a:avLst/>
                      </a:prstGeom>
                    </p:spPr>
                  </p:pic>
                </p:oleObj>
              </mc:Fallback>
            </mc:AlternateContent>
          </a:graphicData>
        </a:graphic>
      </p:graphicFrame>
      <p:sp>
        <p:nvSpPr>
          <p:cNvPr id="4" name="矩形 3"/>
          <p:cNvSpPr>
            <a:spLocks noChangeAspect="1"/>
          </p:cNvSpPr>
          <p:nvPr/>
        </p:nvSpPr>
        <p:spPr>
          <a:xfrm>
            <a:off x="381000" y="5346646"/>
            <a:ext cx="1720343"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0</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26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01261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91228"/>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某出版社为了研究印刷单册书籍的成本</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与印刷册数</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千册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之间的关系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在印制某种书籍时进行了统计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相关数据见下表</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545522227"/>
              </p:ext>
            </p:extLst>
          </p:nvPr>
        </p:nvGraphicFramePr>
        <p:xfrm>
          <a:off x="381000" y="2337654"/>
          <a:ext cx="11430000" cy="981456"/>
        </p:xfrm>
        <a:graphic>
          <a:graphicData uri="http://schemas.openxmlformats.org/drawingml/2006/table">
            <a:tbl>
              <a:tblPr firstRow="1" firstCol="1" bandRow="1"/>
              <a:tblGrid>
                <a:gridCol w="2968375"/>
                <a:gridCol w="1674688"/>
                <a:gridCol w="1684962"/>
                <a:gridCol w="1291975"/>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印刷册数</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千册</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单册成本</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587098707"/>
              </p:ext>
            </p:extLst>
          </p:nvPr>
        </p:nvGraphicFramePr>
        <p:xfrm>
          <a:off x="458424" y="3485962"/>
          <a:ext cx="11275153" cy="1557910"/>
        </p:xfrm>
        <a:graphic>
          <a:graphicData uri="http://schemas.openxmlformats.org/presentationml/2006/ole">
            <mc:AlternateContent xmlns:mc="http://schemas.openxmlformats.org/markup-compatibility/2006">
              <mc:Choice xmlns:v="urn:schemas-microsoft-com:vml" Requires="v">
                <p:oleObj spid="_x0000_s18454" name="文档" r:id="rId4" imgW="4510061" imgH="623164" progId="Word.Document.12">
                  <p:embed/>
                </p:oleObj>
              </mc:Choice>
              <mc:Fallback>
                <p:oleObj name="文档" r:id="rId4" imgW="4510061" imgH="623164" progId="Word.Document.12">
                  <p:embed/>
                  <p:pic>
                    <p:nvPicPr>
                      <p:cNvPr id="0" name=""/>
                      <p:cNvPicPr/>
                      <p:nvPr/>
                    </p:nvPicPr>
                    <p:blipFill>
                      <a:blip r:embed="rId5"/>
                      <a:stretch>
                        <a:fillRect/>
                      </a:stretch>
                    </p:blipFill>
                    <p:spPr>
                      <a:xfrm>
                        <a:off x="458424" y="3485962"/>
                        <a:ext cx="11275153" cy="1557910"/>
                      </a:xfrm>
                      <a:prstGeom prst="rect">
                        <a:avLst/>
                      </a:prstGeom>
                    </p:spPr>
                  </p:pic>
                </p:oleObj>
              </mc:Fallback>
            </mc:AlternateContent>
          </a:graphicData>
        </a:graphic>
      </p:graphicFrame>
    </p:spTree>
    <p:extLst>
      <p:ext uri="{BB962C8B-B14F-4D97-AF65-F5344CB8AC3E}">
        <p14:creationId xmlns:p14="http://schemas.microsoft.com/office/powerpoint/2010/main" val="30206151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5456"/>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为了评价两种模型的拟合效果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完成以下任务</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完成下表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计算结果精确到</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089097008"/>
              </p:ext>
            </p:extLst>
          </p:nvPr>
        </p:nvGraphicFramePr>
        <p:xfrm>
          <a:off x="444500" y="1279757"/>
          <a:ext cx="11310938" cy="4884737"/>
        </p:xfrm>
        <a:graphic>
          <a:graphicData uri="http://schemas.openxmlformats.org/presentationml/2006/ole">
            <mc:AlternateContent xmlns:mc="http://schemas.openxmlformats.org/markup-compatibility/2006">
              <mc:Choice xmlns:v="urn:schemas-microsoft-com:vml" Requires="v">
                <p:oleObj spid="_x0000_s19478" name="文档" r:id="rId4" imgW="4510061" imgH="1973711" progId="Word.Document.12">
                  <p:embed/>
                </p:oleObj>
              </mc:Choice>
              <mc:Fallback>
                <p:oleObj name="文档" r:id="rId4" imgW="4510061" imgH="1973711" progId="Word.Document.12">
                  <p:embed/>
                  <p:pic>
                    <p:nvPicPr>
                      <p:cNvPr id="0" name=""/>
                      <p:cNvPicPr/>
                      <p:nvPr/>
                    </p:nvPicPr>
                    <p:blipFill>
                      <a:blip r:embed="rId5"/>
                      <a:stretch>
                        <a:fillRect/>
                      </a:stretch>
                    </p:blipFill>
                    <p:spPr>
                      <a:xfrm>
                        <a:off x="444500" y="1279757"/>
                        <a:ext cx="11310938" cy="4884737"/>
                      </a:xfrm>
                      <a:prstGeom prst="rect">
                        <a:avLst/>
                      </a:prstGeom>
                    </p:spPr>
                  </p:pic>
                </p:oleObj>
              </mc:Fallback>
            </mc:AlternateContent>
          </a:graphicData>
        </a:graphic>
      </p:graphicFrame>
      <p:sp>
        <p:nvSpPr>
          <p:cNvPr id="3" name="矩形 2"/>
          <p:cNvSpPr>
            <a:spLocks noChangeAspect="1"/>
          </p:cNvSpPr>
          <p:nvPr/>
        </p:nvSpPr>
        <p:spPr>
          <a:xfrm>
            <a:off x="381000" y="510842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分别计算模型甲与模型乙的残差平方和</a:t>
            </a:r>
            <a:r>
              <a:rPr lang="en-US" altLang="zh-CN" sz="2800" i="1">
                <a:solidFill>
                  <a:srgbClr val="000000"/>
                </a:solidFill>
                <a:latin typeface="Times New Roman" panose="02020603050405020304" pitchFamily="18" charset="0"/>
                <a:cs typeface="Times New Roman" panose="02020603050405020304" pitchFamily="18" charset="0"/>
              </a:rPr>
              <a:t>Q</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及</a:t>
            </a:r>
            <a:r>
              <a:rPr lang="en-US" altLang="zh-CN" sz="2800" i="1">
                <a:solidFill>
                  <a:srgbClr val="000000"/>
                </a:solidFill>
                <a:latin typeface="Times New Roman" panose="02020603050405020304" pitchFamily="18" charset="0"/>
                <a:cs typeface="Times New Roman" panose="02020603050405020304" pitchFamily="18" charset="0"/>
              </a:rPr>
              <a:t>Q</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并比较</a:t>
            </a:r>
            <a:r>
              <a:rPr lang="en-US" altLang="zh-CN" sz="2800" i="1">
                <a:solidFill>
                  <a:srgbClr val="000000"/>
                </a:solidFill>
                <a:latin typeface="Times New Roman" panose="02020603050405020304" pitchFamily="18" charset="0"/>
                <a:cs typeface="Times New Roman" panose="02020603050405020304" pitchFamily="18" charset="0"/>
              </a:rPr>
              <a:t>Q</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Q</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的大小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判断哪个模型拟合效果更好</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181667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08677"/>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该书上市之后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受到广大读者热烈欢迎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不久便售罄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于是该出版社决定进行二次印刷</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根据市场调查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新需求量为</a:t>
            </a:r>
            <a:r>
              <a:rPr lang="en-US" altLang="zh-CN" sz="2800">
                <a:solidFill>
                  <a:srgbClr val="000000"/>
                </a:solidFill>
                <a:latin typeface="Times New Roman" panose="02020603050405020304" pitchFamily="18" charset="0"/>
                <a:cs typeface="Times New Roman" panose="02020603050405020304" pitchFamily="18" charset="0"/>
              </a:rPr>
              <a:t>8 000</a:t>
            </a:r>
            <a:r>
              <a:rPr lang="zh-CN" altLang="zh-CN" sz="2800">
                <a:solidFill>
                  <a:srgbClr val="000000"/>
                </a:solidFill>
                <a:latin typeface="Times New Roman" panose="02020603050405020304" pitchFamily="18" charset="0"/>
                <a:cs typeface="Times New Roman" panose="02020603050405020304" pitchFamily="18" charset="0"/>
              </a:rPr>
              <a:t>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概率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16 000</a:t>
            </a:r>
            <a:r>
              <a:rPr lang="zh-CN" altLang="zh-CN" sz="2800">
                <a:solidFill>
                  <a:srgbClr val="000000"/>
                </a:solidFill>
                <a:latin typeface="Times New Roman" panose="02020603050405020304" pitchFamily="18" charset="0"/>
                <a:cs typeface="Times New Roman" panose="02020603050405020304" pitchFamily="18" charset="0"/>
              </a:rPr>
              <a:t>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概率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若该出版社以每册</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元的价格将书籍出售给订货商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估计该出版社二次印刷</a:t>
            </a:r>
            <a:r>
              <a:rPr lang="en-US" altLang="zh-CN" sz="2800">
                <a:solidFill>
                  <a:srgbClr val="000000"/>
                </a:solidFill>
                <a:latin typeface="Times New Roman" panose="02020603050405020304" pitchFamily="18" charset="0"/>
                <a:cs typeface="Times New Roman" panose="02020603050405020304" pitchFamily="18" charset="0"/>
              </a:rPr>
              <a:t>8 000</a:t>
            </a:r>
            <a:r>
              <a:rPr lang="zh-CN" altLang="zh-CN" sz="2800">
                <a:solidFill>
                  <a:srgbClr val="000000"/>
                </a:solidFill>
                <a:latin typeface="Times New Roman" panose="02020603050405020304" pitchFamily="18" charset="0"/>
                <a:cs typeface="Times New Roman" panose="02020603050405020304" pitchFamily="18" charset="0"/>
              </a:rPr>
              <a:t>册还是</a:t>
            </a:r>
            <a:r>
              <a:rPr lang="en-US" altLang="zh-CN" sz="2800">
                <a:solidFill>
                  <a:srgbClr val="000000"/>
                </a:solidFill>
                <a:latin typeface="Times New Roman" panose="02020603050405020304" pitchFamily="18" charset="0"/>
                <a:cs typeface="Times New Roman" panose="02020603050405020304" pitchFamily="18" charset="0"/>
              </a:rPr>
              <a:t>16 000</a:t>
            </a:r>
            <a:r>
              <a:rPr lang="zh-CN" altLang="zh-CN" sz="2800">
                <a:solidFill>
                  <a:srgbClr val="000000"/>
                </a:solidFill>
                <a:latin typeface="Times New Roman" panose="02020603050405020304" pitchFamily="18" charset="0"/>
                <a:cs typeface="Times New Roman" panose="02020603050405020304" pitchFamily="18" charset="0"/>
              </a:rPr>
              <a:t>册能获得更多利润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中拟合效果较好的模型计算印刷单册书的成本</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98469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84559"/>
            <a:ext cx="4214615"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经计算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可得下表</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131179065"/>
              </p:ext>
            </p:extLst>
          </p:nvPr>
        </p:nvGraphicFramePr>
        <p:xfrm>
          <a:off x="442268" y="1037045"/>
          <a:ext cx="11307463" cy="6192105"/>
        </p:xfrm>
        <a:graphic>
          <a:graphicData uri="http://schemas.openxmlformats.org/presentationml/2006/ole">
            <mc:AlternateContent xmlns:mc="http://schemas.openxmlformats.org/markup-compatibility/2006">
              <mc:Choice xmlns:v="urn:schemas-microsoft-com:vml" Requires="v">
                <p:oleObj spid="_x0000_s24597" name="文档" r:id="rId4" imgW="4522985" imgH="2476842" progId="Word.Document.12">
                  <p:embed/>
                </p:oleObj>
              </mc:Choice>
              <mc:Fallback>
                <p:oleObj name="文档" r:id="rId4" imgW="4522985" imgH="2476842" progId="Word.Document.12">
                  <p:embed/>
                  <p:pic>
                    <p:nvPicPr>
                      <p:cNvPr id="0" name=""/>
                      <p:cNvPicPr/>
                      <p:nvPr/>
                    </p:nvPicPr>
                    <p:blipFill>
                      <a:blip r:embed="rId5"/>
                      <a:stretch>
                        <a:fillRect/>
                      </a:stretch>
                    </p:blipFill>
                    <p:spPr>
                      <a:xfrm>
                        <a:off x="442268" y="1037045"/>
                        <a:ext cx="11307463" cy="6192105"/>
                      </a:xfrm>
                      <a:prstGeom prst="rect">
                        <a:avLst/>
                      </a:prstGeom>
                    </p:spPr>
                  </p:pic>
                </p:oleObj>
              </mc:Fallback>
            </mc:AlternateContent>
          </a:graphicData>
        </a:graphic>
      </p:graphicFrame>
    </p:spTree>
    <p:extLst>
      <p:ext uri="{BB962C8B-B14F-4D97-AF65-F5344CB8AC3E}">
        <p14:creationId xmlns:p14="http://schemas.microsoft.com/office/powerpoint/2010/main" val="341067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87617"/>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模型甲的残差平方和为</a:t>
            </a:r>
            <a:r>
              <a:rPr lang="en-US" altLang="zh-CN" sz="2800" i="1">
                <a:solidFill>
                  <a:srgbClr val="000000"/>
                </a:solidFill>
                <a:latin typeface="Times New Roman" panose="02020603050405020304" pitchFamily="18" charset="0"/>
                <a:cs typeface="Times New Roman" panose="02020603050405020304" pitchFamily="18" charset="0"/>
              </a:rPr>
              <a:t>Q</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03,</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模型乙的残差平方和为</a:t>
            </a:r>
            <a:r>
              <a:rPr lang="en-US" altLang="zh-CN" sz="2800" i="1">
                <a:solidFill>
                  <a:srgbClr val="000000"/>
                </a:solidFill>
                <a:latin typeface="Times New Roman" panose="02020603050405020304" pitchFamily="18" charset="0"/>
                <a:cs typeface="Times New Roman" panose="02020603050405020304" pitchFamily="18" charset="0"/>
              </a:rPr>
              <a:t>Q</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Q</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&gt;Q</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模型乙的拟合效果更好</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若二次印刷</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000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则估计出版社获利</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endParaRPr lang="en-US"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7)×8</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000×0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18</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480(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若二次印刷</a:t>
            </a:r>
            <a:r>
              <a:rPr lang="en-US" altLang="zh-CN" sz="2800">
                <a:solidFill>
                  <a:srgbClr val="000000"/>
                </a:solidFill>
                <a:latin typeface="Times New Roman" panose="02020603050405020304" pitchFamily="18" charset="0"/>
                <a:cs typeface="Times New Roman" panose="02020603050405020304" pitchFamily="18" charset="0"/>
              </a:rPr>
              <a:t>16</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000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单册书印刷成本</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625(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则估计出版社获利为</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625)×16</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000×0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16</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a:solidFill>
                  <a:srgbClr val="000000"/>
                </a:solidFill>
                <a:latin typeface="Times New Roman" panose="02020603050405020304" pitchFamily="18" charset="0"/>
                <a:cs typeface="Times New Roman" panose="02020603050405020304" pitchFamily="18" charset="0"/>
              </a:rPr>
              <a:t>18</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480</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16</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故出版社印刷</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000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册能获得更多利润</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35461870"/>
              </p:ext>
            </p:extLst>
          </p:nvPr>
        </p:nvGraphicFramePr>
        <p:xfrm>
          <a:off x="7939626" y="3273980"/>
          <a:ext cx="773232" cy="773232"/>
        </p:xfrm>
        <a:graphic>
          <a:graphicData uri="http://schemas.openxmlformats.org/presentationml/2006/ole">
            <mc:AlternateContent xmlns:mc="http://schemas.openxmlformats.org/markup-compatibility/2006">
              <mc:Choice xmlns:v="urn:schemas-microsoft-com:vml" Requires="v">
                <p:oleObj spid="_x0000_s25622" name="文档" r:id="rId4" imgW="399226" imgH="398969" progId="Word.Document.12">
                  <p:embed/>
                </p:oleObj>
              </mc:Choice>
              <mc:Fallback>
                <p:oleObj name="文档" r:id="rId4" imgW="399226" imgH="398969" progId="Word.Document.12">
                  <p:embed/>
                  <p:pic>
                    <p:nvPicPr>
                      <p:cNvPr id="0" name=""/>
                      <p:cNvPicPr>
                        <a:picLocks noChangeAspect="1" noChangeArrowheads="1"/>
                      </p:cNvPicPr>
                      <p:nvPr/>
                    </p:nvPicPr>
                    <p:blipFill>
                      <a:blip r:embed="rId5"/>
                      <a:srcRect/>
                      <a:stretch>
                        <a:fillRect/>
                      </a:stretch>
                    </p:blipFill>
                    <p:spPr bwMode="auto">
                      <a:xfrm>
                        <a:off x="7939626" y="3273980"/>
                        <a:ext cx="773232" cy="773232"/>
                      </a:xfrm>
                      <a:prstGeom prst="rect">
                        <a:avLst/>
                      </a:prstGeom>
                      <a:noFill/>
                    </p:spPr>
                  </p:pic>
                </p:oleObj>
              </mc:Fallback>
            </mc:AlternateContent>
          </a:graphicData>
        </a:graphic>
      </p:graphicFrame>
    </p:spTree>
    <p:extLst>
      <p:ext uri="{BB962C8B-B14F-4D97-AF65-F5344CB8AC3E}">
        <p14:creationId xmlns:p14="http://schemas.microsoft.com/office/powerpoint/2010/main" val="4278481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104</TotalTime>
  <Words>1938</Words>
  <Application>Microsoft Office PowerPoint</Application>
  <PresentationFormat>宽屏</PresentationFormat>
  <Paragraphs>165</Paragraphs>
  <Slides>29</Slides>
  <Notes>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48" baseType="lpstr">
      <vt:lpstr>NEU-BZ-S92</vt:lpstr>
      <vt:lpstr>Open Sans</vt:lpstr>
      <vt:lpstr>方正书宋_GBK</vt:lpstr>
      <vt:lpstr>方正姚体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48</cp:revision>
  <dcterms:created xsi:type="dcterms:W3CDTF">2021-08-30T08:30:26Z</dcterms:created>
  <dcterms:modified xsi:type="dcterms:W3CDTF">2025-08-20T01:10:09Z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