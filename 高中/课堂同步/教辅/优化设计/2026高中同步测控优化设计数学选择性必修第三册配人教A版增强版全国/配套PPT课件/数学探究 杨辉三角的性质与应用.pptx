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677" r:id="rId2"/>
    <p:sldId id="488" r:id="rId3"/>
    <p:sldId id="494" r:id="rId4"/>
    <p:sldId id="407" r:id="rId5"/>
    <p:sldId id="394" r:id="rId6"/>
    <p:sldId id="699" r:id="rId7"/>
    <p:sldId id="700" r:id="rId8"/>
    <p:sldId id="701" r:id="rId9"/>
    <p:sldId id="756" r:id="rId10"/>
    <p:sldId id="757" r:id="rId11"/>
    <p:sldId id="758" r:id="rId12"/>
    <p:sldId id="402" r:id="rId13"/>
    <p:sldId id="759" r:id="rId14"/>
    <p:sldId id="760" r:id="rId15"/>
    <p:sldId id="720" r:id="rId16"/>
    <p:sldId id="721" r:id="rId17"/>
    <p:sldId id="398" r:id="rId18"/>
    <p:sldId id="395" r:id="rId19"/>
    <p:sldId id="761" r:id="rId20"/>
    <p:sldId id="762" r:id="rId21"/>
    <p:sldId id="765" r:id="rId22"/>
    <p:sldId id="766" r:id="rId23"/>
    <p:sldId id="767" r:id="rId24"/>
    <p:sldId id="490"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 Target="../slides/slide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4.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package" Target="../embeddings/Microsoft_Word___2.docx"/><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jpeg"/><Relationship Id="rId5" Type="http://schemas.openxmlformats.org/officeDocument/2006/relationships/image" Target="../media/image7.emf"/><Relationship Id="rId4" Type="http://schemas.openxmlformats.org/officeDocument/2006/relationships/package" Target="../embeddings/Microsoft_Word___3.docx"/></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0.emf"/><Relationship Id="rId4" Type="http://schemas.openxmlformats.org/officeDocument/2006/relationships/package" Target="../embeddings/Microsoft_Word___4.docx"/></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2.emf"/><Relationship Id="rId4" Type="http://schemas.openxmlformats.org/officeDocument/2006/relationships/package" Target="../embeddings/Microsoft_Word___5.docx"/></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3.emf"/><Relationship Id="rId4" Type="http://schemas.openxmlformats.org/officeDocument/2006/relationships/package" Target="../embeddings/Microsoft_Word___6.docx"/></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5.emf"/><Relationship Id="rId4" Type="http://schemas.openxmlformats.org/officeDocument/2006/relationships/package" Target="../embeddings/Microsoft_Word___7.docx"/></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3.xml"/><Relationship Id="rId1" Type="http://schemas.openxmlformats.org/officeDocument/2006/relationships/vmlDrawing" Target="../drawings/vmlDrawing8.vml"/><Relationship Id="rId6" Type="http://schemas.openxmlformats.org/officeDocument/2006/relationships/image" Target="../media/image19.emf"/><Relationship Id="rId5" Type="http://schemas.openxmlformats.org/officeDocument/2006/relationships/package" Target="../embeddings/Microsoft_Word___8.docx"/><Relationship Id="rId4"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3.xml"/><Relationship Id="rId1" Type="http://schemas.openxmlformats.org/officeDocument/2006/relationships/vmlDrawing" Target="../drawings/vmlDrawing9.vml"/><Relationship Id="rId6" Type="http://schemas.openxmlformats.org/officeDocument/2006/relationships/image" Target="../media/image21.emf"/><Relationship Id="rId5" Type="http://schemas.openxmlformats.org/officeDocument/2006/relationships/package" Target="../embeddings/Microsoft_Word___9.docx"/><Relationship Id="rId4" Type="http://schemas.openxmlformats.org/officeDocument/2006/relationships/oleObject" Target="../embeddings/oleObject9.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xml"/><Relationship Id="rId1" Type="http://schemas.openxmlformats.org/officeDocument/2006/relationships/vmlDrawing" Target="../drawings/vmlDrawing10.vml"/><Relationship Id="rId5" Type="http://schemas.openxmlformats.org/officeDocument/2006/relationships/image" Target="../media/image23.emf"/><Relationship Id="rId4" Type="http://schemas.openxmlformats.org/officeDocument/2006/relationships/package" Target="../embeddings/Microsoft_Word___10.docx"/></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a:solidFill>
                    <a:schemeClr val="bg1"/>
                  </a:solidFill>
                  <a:latin typeface="华文细黑" panose="02010600040101010101" charset="-122"/>
                  <a:ea typeface="华文细黑" panose="02010600040101010101" charset="-122"/>
                </a:rPr>
                <a:t>杨辉三角的性质与应用</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a:solidFill>
                  <a:schemeClr val="bg1"/>
                </a:solidFill>
                <a:latin typeface="华文细黑" panose="02010600040101010101" charset="-122"/>
                <a:ea typeface="华文细黑" panose="02010600040101010101" charset="-122"/>
                <a:cs typeface="Open Sans" panose="020B0606030504020204" pitchFamily="34" charset="0"/>
              </a:rPr>
              <a:t>数学探究</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6" name="组合 45"/>
          <p:cNvGrpSpPr/>
          <p:nvPr/>
        </p:nvGrpSpPr>
        <p:grpSpPr>
          <a:xfrm>
            <a:off x="4764013" y="1591871"/>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26165" y="1736701"/>
              <a:ext cx="659181"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3158447"/>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26163" y="2786232"/>
              <a:ext cx="659181"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3" name="矩形 52">
            <a:hlinkClick r:id="rId2" action="ppaction://hlinksldjump"/>
          </p:cNvPr>
          <p:cNvSpPr/>
          <p:nvPr/>
        </p:nvSpPr>
        <p:spPr>
          <a:xfrm>
            <a:off x="5678538" y="170261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3" action="ppaction://hlinksldjump"/>
          </p:cNvPr>
          <p:cNvSpPr/>
          <p:nvPr/>
        </p:nvSpPr>
        <p:spPr>
          <a:xfrm>
            <a:off x="5678538" y="3287475"/>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2173605"/>
            <a:ext cx="11430000" cy="172053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探索并理解杨辉三角的性质</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体会杨辉三角的应用</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3</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提升直观想象、数据分析、逻辑推理以及数学运算的核心素养</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杨辉三角的简单应用</a:t>
                </a:r>
                <a:endParaRPr lang="zh-CN" altLang="en-US" sz="2800" b="1" dirty="0">
                  <a:solidFill>
                    <a:schemeClr val="bg1"/>
                  </a:solidFill>
                </a:endParaRPr>
              </a:p>
            </p:txBody>
          </p:sp>
        </p:grpSp>
      </p:grpSp>
      <p:sp>
        <p:nvSpPr>
          <p:cNvPr id="2" name="矩形 1"/>
          <p:cNvSpPr>
            <a:spLocks noChangeAspect="1"/>
          </p:cNvSpPr>
          <p:nvPr/>
        </p:nvSpPr>
        <p:spPr>
          <a:xfrm>
            <a:off x="381000" y="749505"/>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如图</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杨辉三角中的第</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行除去两端数字</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以外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均能被</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整除</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则具有类似性质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行能被</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整除</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的行是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行</a:t>
            </a:r>
            <a:r>
              <a:rPr lang="en-US" altLang="zh-CN" sz="2800">
                <a:solidFill>
                  <a:srgbClr val="000000"/>
                </a:solidFill>
                <a:latin typeface="Times New Roman" panose="02020603050405020304" pitchFamily="18" charset="0"/>
                <a:cs typeface="Times New Roman" panose="02020603050405020304" pitchFamily="18" charset="0"/>
              </a:rPr>
              <a:t>	B.</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行</a:t>
            </a:r>
            <a:r>
              <a:rPr lang="en-US" altLang="zh-CN" sz="2800">
                <a:solidFill>
                  <a:srgbClr val="000000"/>
                </a:solidFill>
                <a:latin typeface="Times New Roman" panose="02020603050405020304" pitchFamily="18" charset="0"/>
                <a:cs typeface="Times New Roman" panose="02020603050405020304" pitchFamily="18" charset="0"/>
              </a:rPr>
              <a:t>	C.</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cs typeface="Times New Roman" panose="02020603050405020304" pitchFamily="18" charset="0"/>
              </a:rPr>
              <a:t>行</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D</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9</a:t>
            </a:r>
            <a:r>
              <a:rPr lang="zh-CN" altLang="zh-CN" sz="2800">
                <a:solidFill>
                  <a:srgbClr val="000000"/>
                </a:solidFill>
                <a:latin typeface="Times New Roman" panose="02020603050405020304" pitchFamily="18" charset="0"/>
                <a:cs typeface="Times New Roman" panose="02020603050405020304" pitchFamily="18" charset="0"/>
              </a:rPr>
              <a:t>行</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8" name="ZMX3TRAX39.eps" descr="id:2147516282;FounderCES"/>
          <p:cNvPicPr/>
          <p:nvPr/>
        </p:nvPicPr>
        <p:blipFill>
          <a:blip r:embed="rId2">
            <a:clrChange>
              <a:clrFrom>
                <a:srgbClr val="FFFFFF"/>
              </a:clrFrom>
              <a:clrTo>
                <a:srgbClr val="FFFFFF">
                  <a:alpha val="0"/>
                </a:srgbClr>
              </a:clrTo>
            </a:clrChange>
          </a:blip>
          <a:stretch>
            <a:fillRect/>
          </a:stretch>
        </p:blipFill>
        <p:spPr>
          <a:xfrm>
            <a:off x="3515753" y="1918054"/>
            <a:ext cx="5145362" cy="313599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39231"/>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如图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在杨辉三角中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斜线</a:t>
            </a:r>
            <a:r>
              <a:rPr lang="en-US" altLang="zh-CN" sz="2800" i="1">
                <a:solidFill>
                  <a:srgbClr val="000000"/>
                </a:solidFill>
                <a:latin typeface="Times New Roman" panose="02020603050405020304" pitchFamily="18" charset="0"/>
                <a:cs typeface="Times New Roman" panose="02020603050405020304" pitchFamily="18" charset="0"/>
              </a:rPr>
              <a:t>AB</a:t>
            </a:r>
            <a:r>
              <a:rPr lang="zh-CN" altLang="zh-CN" sz="2800">
                <a:solidFill>
                  <a:srgbClr val="000000"/>
                </a:solidFill>
                <a:latin typeface="Times New Roman" panose="02020603050405020304" pitchFamily="18" charset="0"/>
                <a:cs typeface="Times New Roman" panose="02020603050405020304" pitchFamily="18" charset="0"/>
              </a:rPr>
              <a:t>上方箭头所示的数组成一个锯齿形的数列</a:t>
            </a:r>
            <a:r>
              <a:rPr lang="en-US" altLang="zh-CN" sz="2800">
                <a:solidFill>
                  <a:srgbClr val="000000"/>
                </a:solidFill>
                <a:latin typeface="Times New Roman" panose="02020603050405020304" pitchFamily="18" charset="0"/>
                <a:cs typeface="Times New Roman" panose="02020603050405020304" pitchFamily="18" charset="0"/>
              </a:rPr>
              <a:t>:1,2,3,3,6,4,10,</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记这个数列的前</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项和为</a:t>
            </a:r>
            <a:r>
              <a:rPr lang="en-US" altLang="zh-CN" sz="2800" i="1">
                <a:solidFill>
                  <a:srgbClr val="000000"/>
                </a:solidFill>
                <a:latin typeface="Times New Roman" panose="02020603050405020304" pitchFamily="18" charset="0"/>
                <a:cs typeface="Times New Roman" panose="02020603050405020304" pitchFamily="18" charset="0"/>
              </a:rPr>
              <a:t>S</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S</a:t>
            </a:r>
            <a:r>
              <a:rPr lang="en-US" altLang="zh-CN" sz="2800">
                <a:solidFill>
                  <a:srgbClr val="000000"/>
                </a:solidFill>
                <a:latin typeface="Times New Roman" panose="02020603050405020304" pitchFamily="18" charset="0"/>
                <a:cs typeface="Times New Roman" panose="02020603050405020304" pitchFamily="18" charset="0"/>
              </a:rPr>
              <a:t>(16)</a:t>
            </a:r>
            <a:r>
              <a:rPr lang="zh-CN" altLang="zh-CN" sz="2800">
                <a:solidFill>
                  <a:srgbClr val="000000"/>
                </a:solidFill>
                <a:latin typeface="Times New Roman" panose="02020603050405020304" pitchFamily="18" charset="0"/>
                <a:cs typeface="Times New Roman" panose="02020603050405020304" pitchFamily="18" charset="0"/>
              </a:rPr>
              <a:t>等于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A.144	</a:t>
            </a:r>
            <a:r>
              <a:rPr lang="en-US" altLang="zh-CN" sz="2800" smtClean="0">
                <a:solidFill>
                  <a:srgbClr val="000000"/>
                </a:solidFill>
                <a:latin typeface="Times New Roman" panose="02020603050405020304" pitchFamily="18" charset="0"/>
                <a:cs typeface="Times New Roman" panose="02020603050405020304" pitchFamily="18" charset="0"/>
              </a:rPr>
              <a:t>	B.146</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C.164</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D.461</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40.eps" descr="id:2147516289;FounderCES"/>
          <p:cNvPicPr/>
          <p:nvPr/>
        </p:nvPicPr>
        <p:blipFill>
          <a:blip r:embed="rId2">
            <a:clrChange>
              <a:clrFrom>
                <a:srgbClr val="FFFFFF"/>
              </a:clrFrom>
              <a:clrTo>
                <a:srgbClr val="FFFFFF">
                  <a:alpha val="0"/>
                </a:srgbClr>
              </a:clrTo>
            </a:clrChange>
          </a:blip>
          <a:stretch>
            <a:fillRect/>
          </a:stretch>
        </p:blipFill>
        <p:spPr>
          <a:xfrm>
            <a:off x="3921414" y="1883983"/>
            <a:ext cx="3650640" cy="3318211"/>
          </a:xfrm>
          <a:prstGeom prst="rect">
            <a:avLst/>
          </a:prstGeom>
        </p:spPr>
      </p:pic>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644983"/>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由题意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行为</a:t>
            </a:r>
            <a:r>
              <a:rPr lang="en-US" altLang="zh-CN" sz="2800">
                <a:solidFill>
                  <a:srgbClr val="000000"/>
                </a:solidFill>
                <a:latin typeface="Times New Roman" panose="02020603050405020304" pitchFamily="18" charset="0"/>
                <a:cs typeface="Times New Roman" panose="02020603050405020304" pitchFamily="18" charset="0"/>
              </a:rPr>
              <a:t>1,6,15,20,15,6,1,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行为</a:t>
            </a:r>
            <a:r>
              <a:rPr lang="en-US" altLang="zh-CN" sz="2800">
                <a:solidFill>
                  <a:srgbClr val="000000"/>
                </a:solidFill>
                <a:latin typeface="Times New Roman" panose="02020603050405020304" pitchFamily="18" charset="0"/>
                <a:cs typeface="Times New Roman" panose="02020603050405020304" pitchFamily="18" charset="0"/>
              </a:rPr>
              <a:t>1,7,21,35,35,21,7,1,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故第</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行除去两端数字</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以外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均能被</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整除</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(1)B</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66701650"/>
              </p:ext>
            </p:extLst>
          </p:nvPr>
        </p:nvGraphicFramePr>
        <p:xfrm>
          <a:off x="458424" y="1750875"/>
          <a:ext cx="11275153" cy="3980125"/>
        </p:xfrm>
        <a:graphic>
          <a:graphicData uri="http://schemas.openxmlformats.org/presentationml/2006/ole">
            <mc:AlternateContent xmlns:mc="http://schemas.openxmlformats.org/markup-compatibility/2006">
              <mc:Choice xmlns:v="urn:schemas-microsoft-com:vml" Requires="v">
                <p:oleObj spid="_x0000_s1039" name="文档" r:id="rId4" imgW="4510061" imgH="1592050" progId="Word.Document.12">
                  <p:embed/>
                </p:oleObj>
              </mc:Choice>
              <mc:Fallback>
                <p:oleObj name="文档" r:id="rId4" imgW="4510061" imgH="1592050" progId="Word.Document.12">
                  <p:embed/>
                  <p:pic>
                    <p:nvPicPr>
                      <p:cNvPr id="0" name=""/>
                      <p:cNvPicPr/>
                      <p:nvPr/>
                    </p:nvPicPr>
                    <p:blipFill>
                      <a:blip r:embed="rId5"/>
                      <a:stretch>
                        <a:fillRect/>
                      </a:stretch>
                    </p:blipFill>
                    <p:spPr>
                      <a:xfrm>
                        <a:off x="458424" y="1750875"/>
                        <a:ext cx="11275153" cy="3980125"/>
                      </a:xfrm>
                      <a:prstGeom prst="rect">
                        <a:avLst/>
                      </a:prstGeom>
                    </p:spPr>
                  </p:pic>
                </p:oleObj>
              </mc:Fallback>
            </mc:AlternateContent>
          </a:graphicData>
        </a:graphic>
      </p:graphicFrame>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Effect transition="in" filter="randombar(horizontal)">
                                      <p:cBhvr>
                                        <p:cTn id="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pic>
        <p:nvPicPr>
          <p:cNvPr id="2" name="延伸探究H.eps" descr="id:2147515106;FounderCES"/>
          <p:cNvPicPr/>
          <p:nvPr/>
        </p:nvPicPr>
        <p:blipFill>
          <a:blip r:embed="rId3">
            <a:clrChange>
              <a:clrFrom>
                <a:srgbClr val="FFFFFF"/>
              </a:clrFrom>
              <a:clrTo>
                <a:srgbClr val="FFFFFF">
                  <a:alpha val="0"/>
                </a:srgbClr>
              </a:clrTo>
            </a:clrChange>
          </a:blip>
          <a:stretch>
            <a:fillRect/>
          </a:stretch>
        </p:blipFill>
        <p:spPr>
          <a:xfrm>
            <a:off x="4966271" y="792155"/>
            <a:ext cx="2259458" cy="412065"/>
          </a:xfrm>
          <a:prstGeom prst="rect">
            <a:avLst/>
          </a:prstGeom>
        </p:spPr>
      </p:pic>
      <p:sp>
        <p:nvSpPr>
          <p:cNvPr id="3" name="矩形 2"/>
          <p:cNvSpPr>
            <a:spLocks noChangeAspect="1"/>
          </p:cNvSpPr>
          <p:nvPr/>
        </p:nvSpPr>
        <p:spPr>
          <a:xfrm>
            <a:off x="381000" y="1289311"/>
            <a:ext cx="371768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将本例</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改为求</a:t>
            </a:r>
            <a:r>
              <a:rPr lang="en-US" altLang="zh-CN" sz="2800" i="1">
                <a:solidFill>
                  <a:srgbClr val="000000"/>
                </a:solidFill>
                <a:latin typeface="Times New Roman" panose="02020603050405020304" pitchFamily="18" charset="0"/>
                <a:cs typeface="Times New Roman" panose="02020603050405020304" pitchFamily="18" charset="0"/>
              </a:rPr>
              <a:t>S</a:t>
            </a:r>
            <a:r>
              <a:rPr lang="en-US" altLang="zh-CN" sz="2800">
                <a:solidFill>
                  <a:srgbClr val="000000"/>
                </a:solidFill>
                <a:latin typeface="Times New Roman" panose="02020603050405020304" pitchFamily="18" charset="0"/>
                <a:cs typeface="Times New Roman" panose="02020603050405020304" pitchFamily="18" charset="0"/>
              </a:rPr>
              <a:t>(19</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803865563"/>
              </p:ext>
            </p:extLst>
          </p:nvPr>
        </p:nvGraphicFramePr>
        <p:xfrm>
          <a:off x="458424" y="1941797"/>
          <a:ext cx="11275153" cy="3966963"/>
        </p:xfrm>
        <a:graphic>
          <a:graphicData uri="http://schemas.openxmlformats.org/presentationml/2006/ole">
            <mc:AlternateContent xmlns:mc="http://schemas.openxmlformats.org/markup-compatibility/2006">
              <mc:Choice xmlns:v="urn:schemas-microsoft-com:vml" Requires="v">
                <p:oleObj spid="_x0000_s2063" name="文档" r:id="rId5" imgW="4510061" imgH="1586785" progId="Word.Document.12">
                  <p:embed/>
                </p:oleObj>
              </mc:Choice>
              <mc:Fallback>
                <p:oleObj name="文档" r:id="rId5" imgW="4510061" imgH="1586785" progId="Word.Document.12">
                  <p:embed/>
                  <p:pic>
                    <p:nvPicPr>
                      <p:cNvPr id="0" name=""/>
                      <p:cNvPicPr/>
                      <p:nvPr/>
                    </p:nvPicPr>
                    <p:blipFill>
                      <a:blip r:embed="rId6"/>
                      <a:stretch>
                        <a:fillRect/>
                      </a:stretch>
                    </p:blipFill>
                    <p:spPr>
                      <a:xfrm>
                        <a:off x="458424" y="1941797"/>
                        <a:ext cx="11275153" cy="3966963"/>
                      </a:xfrm>
                      <a:prstGeom prst="rect">
                        <a:avLst/>
                      </a:prstGeom>
                    </p:spPr>
                  </p:pic>
                </p:oleObj>
              </mc:Fallback>
            </mc:AlternateContent>
          </a:graphicData>
        </a:graphic>
      </p:graphicFrame>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11041814"/>
              </p:ext>
            </p:extLst>
          </p:nvPr>
        </p:nvGraphicFramePr>
        <p:xfrm>
          <a:off x="458424" y="319147"/>
          <a:ext cx="11275153" cy="494148"/>
        </p:xfrm>
        <a:graphic>
          <a:graphicData uri="http://schemas.openxmlformats.org/presentationml/2006/ole">
            <mc:AlternateContent xmlns:mc="http://schemas.openxmlformats.org/markup-compatibility/2006">
              <mc:Choice xmlns:v="urn:schemas-microsoft-com:vml" Requires="v">
                <p:oleObj spid="_x0000_s3087"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319147"/>
                        <a:ext cx="11275153" cy="494148"/>
                      </a:xfrm>
                      <a:prstGeom prst="rect">
                        <a:avLst/>
                      </a:prstGeom>
                    </p:spPr>
                  </p:pic>
                </p:oleObj>
              </mc:Fallback>
            </mc:AlternateContent>
          </a:graphicData>
        </a:graphic>
      </p:graphicFrame>
      <p:sp>
        <p:nvSpPr>
          <p:cNvPr id="3" name="矩形 2"/>
          <p:cNvSpPr>
            <a:spLocks noChangeAspect="1"/>
          </p:cNvSpPr>
          <p:nvPr/>
        </p:nvSpPr>
        <p:spPr>
          <a:xfrm>
            <a:off x="381000" y="834374"/>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杨辉三角</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问题解决的一般方法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观察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析</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试</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猜</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想</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结</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证明</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表</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ZMX3TRAX41.eps" descr="id:2147516310;FounderCES"/>
          <p:cNvPicPr/>
          <p:nvPr/>
        </p:nvPicPr>
        <p:blipFill>
          <a:blip r:embed="rId6">
            <a:clrChange>
              <a:clrFrom>
                <a:srgbClr val="FFFFFF"/>
              </a:clrFrom>
              <a:clrTo>
                <a:srgbClr val="FFFFFF">
                  <a:alpha val="0"/>
                </a:srgbClr>
              </a:clrTo>
            </a:clrChange>
          </a:blip>
          <a:stretch>
            <a:fillRect/>
          </a:stretch>
        </p:blipFill>
        <p:spPr>
          <a:xfrm>
            <a:off x="2900338" y="1524459"/>
            <a:ext cx="6747095" cy="4841472"/>
          </a:xfrm>
          <a:prstGeom prst="rect">
            <a:avLst/>
          </a:prstGeom>
        </p:spPr>
      </p:pic>
    </p:spTree>
    <p:extLst>
      <p:ext uri="{BB962C8B-B14F-4D97-AF65-F5344CB8AC3E}">
        <p14:creationId xmlns:p14="http://schemas.microsoft.com/office/powerpoint/2010/main" val="5483512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98068"/>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如图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在</a:t>
            </a:r>
            <a:r>
              <a:rPr lang="zh-CN" altLang="en-US" sz="2800" smtClean="0">
                <a:solidFill>
                  <a:srgbClr val="000000"/>
                </a:solidFill>
                <a:latin typeface="Times New Roman" panose="02020603050405020304" pitchFamily="18" charset="0"/>
                <a:cs typeface="Times New Roman" panose="02020603050405020304" pitchFamily="18" charset="0"/>
              </a:rPr>
              <a:t>由</a:t>
            </a:r>
            <a:r>
              <a:rPr lang="zh-CN" altLang="en-US" sz="2800">
                <a:solidFill>
                  <a:srgbClr val="000000"/>
                </a:solidFill>
                <a:latin typeface="Times New Roman" panose="02020603050405020304" pitchFamily="18" charset="0"/>
                <a:cs typeface="Times New Roman" panose="02020603050405020304" pitchFamily="18" charset="0"/>
              </a:rPr>
              <a:t>二项式系数所构成的杨辉三角中</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行中从左至右第</a:t>
            </a:r>
            <a:r>
              <a:rPr lang="en-US" altLang="zh-CN" sz="2800">
                <a:solidFill>
                  <a:srgbClr val="000000"/>
                </a:solidFill>
                <a:latin typeface="Times New Roman" panose="02020603050405020304" pitchFamily="18" charset="0"/>
                <a:cs typeface="Times New Roman" panose="02020603050405020304" pitchFamily="18" charset="0"/>
              </a:rPr>
              <a:t>14</a:t>
            </a:r>
            <a:r>
              <a:rPr lang="zh-CN" altLang="zh-CN" sz="2800">
                <a:solidFill>
                  <a:srgbClr val="000000"/>
                </a:solidFill>
                <a:latin typeface="Times New Roman" panose="02020603050405020304" pitchFamily="18" charset="0"/>
                <a:cs typeface="Times New Roman" panose="02020603050405020304" pitchFamily="18" charset="0"/>
              </a:rPr>
              <a:t>与第</a:t>
            </a:r>
            <a:r>
              <a:rPr lang="en-US" altLang="zh-CN" sz="2800">
                <a:solidFill>
                  <a:srgbClr val="000000"/>
                </a:solidFill>
                <a:latin typeface="Times New Roman" panose="02020603050405020304" pitchFamily="18" charset="0"/>
                <a:cs typeface="Times New Roman" panose="02020603050405020304" pitchFamily="18" charset="0"/>
              </a:rPr>
              <a:t>15</a:t>
            </a:r>
            <a:r>
              <a:rPr lang="zh-CN" altLang="zh-CN" sz="2800">
                <a:solidFill>
                  <a:srgbClr val="000000"/>
                </a:solidFill>
                <a:latin typeface="Times New Roman" panose="02020603050405020304" pitchFamily="18" charset="0"/>
                <a:cs typeface="Times New Roman" panose="02020603050405020304" pitchFamily="18" charset="0"/>
              </a:rPr>
              <a:t>个数的比为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42.eps" descr="id:2147516317;FounderCES"/>
          <p:cNvPicPr/>
          <p:nvPr/>
        </p:nvPicPr>
        <p:blipFill>
          <a:blip r:embed="rId2">
            <a:clrChange>
              <a:clrFrom>
                <a:srgbClr val="FFFFFF"/>
              </a:clrFrom>
              <a:clrTo>
                <a:srgbClr val="FFFFFF">
                  <a:alpha val="0"/>
                </a:srgbClr>
              </a:clrTo>
            </a:clrChange>
          </a:blip>
          <a:stretch>
            <a:fillRect/>
          </a:stretch>
        </p:blipFill>
        <p:spPr>
          <a:xfrm>
            <a:off x="2611627" y="1878172"/>
            <a:ext cx="6193326" cy="3770053"/>
          </a:xfrm>
          <a:prstGeom prst="rect">
            <a:avLst/>
          </a:prstGeom>
        </p:spPr>
      </p:pic>
    </p:spTree>
    <p:extLst>
      <p:ext uri="{BB962C8B-B14F-4D97-AF65-F5344CB8AC3E}">
        <p14:creationId xmlns:p14="http://schemas.microsoft.com/office/powerpoint/2010/main" val="1720081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54459836"/>
              </p:ext>
            </p:extLst>
          </p:nvPr>
        </p:nvGraphicFramePr>
        <p:xfrm>
          <a:off x="458424" y="1259642"/>
          <a:ext cx="11275153" cy="2546203"/>
        </p:xfrm>
        <a:graphic>
          <a:graphicData uri="http://schemas.openxmlformats.org/presentationml/2006/ole">
            <mc:AlternateContent xmlns:mc="http://schemas.openxmlformats.org/markup-compatibility/2006">
              <mc:Choice xmlns:v="urn:schemas-microsoft-com:vml" Requires="v">
                <p:oleObj spid="_x0000_s4111" name="文档" r:id="rId4" imgW="4510061" imgH="1018481" progId="Word.Document.12">
                  <p:embed/>
                </p:oleObj>
              </mc:Choice>
              <mc:Fallback>
                <p:oleObj name="文档" r:id="rId4" imgW="4510061" imgH="1018481" progId="Word.Document.12">
                  <p:embed/>
                  <p:pic>
                    <p:nvPicPr>
                      <p:cNvPr id="0" name=""/>
                      <p:cNvPicPr/>
                      <p:nvPr/>
                    </p:nvPicPr>
                    <p:blipFill>
                      <a:blip r:embed="rId5"/>
                      <a:stretch>
                        <a:fillRect/>
                      </a:stretch>
                    </p:blipFill>
                    <p:spPr>
                      <a:xfrm>
                        <a:off x="458424" y="1259642"/>
                        <a:ext cx="11275153" cy="2546203"/>
                      </a:xfrm>
                      <a:prstGeom prst="rect">
                        <a:avLst/>
                      </a:prstGeom>
                    </p:spPr>
                  </p:pic>
                </p:oleObj>
              </mc:Fallback>
            </mc:AlternateContent>
          </a:graphicData>
        </a:graphic>
      </p:graphicFrame>
      <p:sp>
        <p:nvSpPr>
          <p:cNvPr id="3" name="矩形 2"/>
          <p:cNvSpPr>
            <a:spLocks noChangeAspect="1"/>
          </p:cNvSpPr>
          <p:nvPr/>
        </p:nvSpPr>
        <p:spPr>
          <a:xfrm>
            <a:off x="381000" y="3805845"/>
            <a:ext cx="1451038"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34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645649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杨辉三角在数列中的应用</a:t>
                </a:r>
                <a:endParaRPr lang="zh-CN" altLang="en-US" sz="2800" b="1" dirty="0">
                  <a:solidFill>
                    <a:schemeClr val="bg1"/>
                  </a:solidFill>
                </a:endParaRPr>
              </a:p>
            </p:txBody>
          </p:sp>
        </p:grpSp>
      </p:grpSp>
      <p:sp>
        <p:nvSpPr>
          <p:cNvPr id="2" name="矩形 1"/>
          <p:cNvSpPr>
            <a:spLocks noChangeAspect="1"/>
          </p:cNvSpPr>
          <p:nvPr/>
        </p:nvSpPr>
        <p:spPr>
          <a:xfrm>
            <a:off x="381000" y="741482"/>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设数列</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是</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baseline="30000">
                <a:solidFill>
                  <a:srgbClr val="000000"/>
                </a:solidFill>
                <a:latin typeface="Times New Roman" panose="02020603050405020304" pitchFamily="18" charset="0"/>
                <a:cs typeface="Times New Roman" panose="02020603050405020304" pitchFamily="18" charset="0"/>
              </a:rPr>
              <a:t>s</a:t>
            </a:r>
            <a:r>
              <a:rPr lang="en-US" altLang="zh-CN" sz="2800" i="1">
                <a:solidFill>
                  <a:srgbClr val="000000"/>
                </a:solidFill>
                <a:latin typeface="Times New Roman" panose="02020603050405020304" pitchFamily="18" charset="0"/>
                <a:cs typeface="Times New Roman" panose="02020603050405020304" pitchFamily="18" charset="0"/>
              </a:rPr>
              <a:t>|s</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集合中的所有的数从小到大排列成的数列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将数列</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的各项按照上小下大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左小右大的原则排成类似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杨辉三角</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的图</a:t>
            </a:r>
            <a:r>
              <a:rPr lang="zh-CN" altLang="zh-CN" sz="2800" smtClean="0">
                <a:solidFill>
                  <a:srgbClr val="000000"/>
                </a:solidFill>
                <a:latin typeface="Times New Roman" panose="02020603050405020304" pitchFamily="18" charset="0"/>
                <a:cs typeface="Times New Roman" panose="02020603050405020304" pitchFamily="18" charset="0"/>
              </a:rPr>
              <a:t>形</a:t>
            </a:r>
            <a:r>
              <a:rPr lang="zh-CN" altLang="en-US" sz="2800">
                <a:solidFill>
                  <a:srgbClr val="000000"/>
                </a:solidFill>
                <a:latin typeface="Times New Roman" panose="02020603050405020304" pitchFamily="18" charset="0"/>
                <a:cs typeface="Times New Roman" panose="02020603050405020304" pitchFamily="18" charset="0"/>
              </a:rPr>
              <a:t>如图所示</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按图中箭头方向数字</a:t>
            </a:r>
            <a:r>
              <a:rPr lang="en-US" altLang="zh-CN" sz="2800">
                <a:solidFill>
                  <a:srgbClr val="000000"/>
                </a:solidFill>
                <a:latin typeface="Times New Roman" panose="02020603050405020304" pitchFamily="18" charset="0"/>
                <a:cs typeface="Times New Roman" panose="02020603050405020304" pitchFamily="18" charset="0"/>
              </a:rPr>
              <a:t>1,2,8,64,</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组成一个数列</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求数列</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的通项公式</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(2)2</a:t>
            </a:r>
            <a:r>
              <a:rPr lang="en-US" altLang="zh-CN" sz="2800" baseline="30000">
                <a:solidFill>
                  <a:srgbClr val="000000"/>
                </a:solidFill>
                <a:latin typeface="Times New Roman" panose="02020603050405020304" pitchFamily="18" charset="0"/>
                <a:cs typeface="Times New Roman" panose="02020603050405020304" pitchFamily="18" charset="0"/>
              </a:rPr>
              <a:t>2 005</a:t>
            </a:r>
            <a:r>
              <a:rPr lang="zh-CN" altLang="zh-CN" sz="2800">
                <a:solidFill>
                  <a:srgbClr val="000000"/>
                </a:solidFill>
                <a:latin typeface="Times New Roman" panose="02020603050405020304" pitchFamily="18" charset="0"/>
                <a:cs typeface="Times New Roman" panose="02020603050405020304" pitchFamily="18" charset="0"/>
              </a:rPr>
              <a:t>是第几行的第几个数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8" name="ZMX3TRAX43.eps" descr="id:2147516331;FounderCES"/>
          <p:cNvPicPr/>
          <p:nvPr/>
        </p:nvPicPr>
        <p:blipFill>
          <a:blip r:embed="rId2">
            <a:clrChange>
              <a:clrFrom>
                <a:srgbClr val="FFFFFF"/>
              </a:clrFrom>
              <a:clrTo>
                <a:srgbClr val="FFFFFF">
                  <a:alpha val="0"/>
                </a:srgbClr>
              </a:clrTo>
            </a:clrChange>
          </a:blip>
          <a:stretch>
            <a:fillRect/>
          </a:stretch>
        </p:blipFill>
        <p:spPr>
          <a:xfrm>
            <a:off x="4065223" y="3654736"/>
            <a:ext cx="4206347" cy="248212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7145084"/>
              </p:ext>
            </p:extLst>
          </p:nvPr>
        </p:nvGraphicFramePr>
        <p:xfrm>
          <a:off x="458424" y="962732"/>
          <a:ext cx="11275153" cy="4672828"/>
        </p:xfrm>
        <a:graphic>
          <a:graphicData uri="http://schemas.openxmlformats.org/presentationml/2006/ole">
            <mc:AlternateContent xmlns:mc="http://schemas.openxmlformats.org/markup-compatibility/2006">
              <mc:Choice xmlns:v="urn:schemas-microsoft-com:vml" Requires="v">
                <p:oleObj spid="_x0000_s5133" name="文档" r:id="rId4" imgW="4510061" imgH="1869131" progId="Word.Document.12">
                  <p:embed/>
                </p:oleObj>
              </mc:Choice>
              <mc:Fallback>
                <p:oleObj name="文档" r:id="rId4" imgW="4510061" imgH="1869131" progId="Word.Document.12">
                  <p:embed/>
                  <p:pic>
                    <p:nvPicPr>
                      <p:cNvPr id="0" name=""/>
                      <p:cNvPicPr/>
                      <p:nvPr/>
                    </p:nvPicPr>
                    <p:blipFill>
                      <a:blip r:embed="rId5"/>
                      <a:stretch>
                        <a:fillRect/>
                      </a:stretch>
                    </p:blipFill>
                    <p:spPr>
                      <a:xfrm>
                        <a:off x="458424" y="962732"/>
                        <a:ext cx="11275153" cy="4672828"/>
                      </a:xfrm>
                      <a:prstGeom prst="rect">
                        <a:avLst/>
                      </a:prstGeom>
                    </p:spPr>
                  </p:pic>
                </p:oleObj>
              </mc:Fallback>
            </mc:AlternateContent>
          </a:graphicData>
        </a:graphic>
      </p:graphicFrame>
    </p:spTree>
    <p:extLst>
      <p:ext uri="{BB962C8B-B14F-4D97-AF65-F5344CB8AC3E}">
        <p14:creationId xmlns:p14="http://schemas.microsoft.com/office/powerpoint/2010/main" val="2660689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52924834"/>
              </p:ext>
            </p:extLst>
          </p:nvPr>
        </p:nvGraphicFramePr>
        <p:xfrm>
          <a:off x="458424" y="1989016"/>
          <a:ext cx="11275153" cy="494148"/>
        </p:xfrm>
        <a:graphic>
          <a:graphicData uri="http://schemas.openxmlformats.org/presentationml/2006/ole">
            <mc:AlternateContent xmlns:mc="http://schemas.openxmlformats.org/markup-compatibility/2006">
              <mc:Choice xmlns:v="urn:schemas-microsoft-com:vml" Requires="v">
                <p:oleObj spid="_x0000_s6157"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989016"/>
                        <a:ext cx="11275153" cy="494148"/>
                      </a:xfrm>
                      <a:prstGeom prst="rect">
                        <a:avLst/>
                      </a:prstGeom>
                    </p:spPr>
                  </p:pic>
                </p:oleObj>
              </mc:Fallback>
            </mc:AlternateContent>
          </a:graphicData>
        </a:graphic>
      </p:graphicFrame>
      <p:sp>
        <p:nvSpPr>
          <p:cNvPr id="3" name="矩形 2"/>
          <p:cNvSpPr>
            <a:spLocks noChangeAspect="1"/>
          </p:cNvSpPr>
          <p:nvPr/>
        </p:nvSpPr>
        <p:spPr>
          <a:xfrm>
            <a:off x="381000" y="2483164"/>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将一等差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等比</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数列重新排列成类似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杨辉三角</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的图形</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考查相关数列问题是杨辉三角型数列创新题的常见形式之一</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这类问题主要考查重排后指定某数位置的确定或者特定行的通项公式的求法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求解关键是如何探求数列的排列规律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737299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48880"/>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一个类似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杨辉三角</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的图形如图所示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行共有</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个数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且该行的第一个数和最后一个数都是</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中间任意一个数都等于第</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行与之相邻的两个数的和</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baseline="-25000">
                <a:solidFill>
                  <a:srgbClr val="000000"/>
                </a:solidFill>
                <a:latin typeface="Times New Roman" panose="02020603050405020304" pitchFamily="18" charset="0"/>
                <a:cs typeface="Times New Roman" panose="02020603050405020304" pitchFamily="18" charset="0"/>
              </a:rPr>
              <a:t>,</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1,2,3,</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分别表示第</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行的第一个数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第二个数</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个数</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的通项公式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44.eps" descr="id:2147516345;FounderCES"/>
          <p:cNvPicPr/>
          <p:nvPr/>
        </p:nvPicPr>
        <p:blipFill>
          <a:blip r:embed="rId2">
            <a:clrChange>
              <a:clrFrom>
                <a:srgbClr val="FFFFFF"/>
              </a:clrFrom>
              <a:clrTo>
                <a:srgbClr val="FFFFFF">
                  <a:alpha val="0"/>
                </a:srgbClr>
              </a:clrTo>
            </a:clrChange>
          </a:blip>
          <a:stretch>
            <a:fillRect/>
          </a:stretch>
        </p:blipFill>
        <p:spPr>
          <a:xfrm>
            <a:off x="4354531" y="2721553"/>
            <a:ext cx="3125056" cy="2862464"/>
          </a:xfrm>
          <a:prstGeom prst="rect">
            <a:avLst/>
          </a:prstGeom>
        </p:spPr>
      </p:pic>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51130"/>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由题图易知</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4,2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5,2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11,</a:t>
            </a:r>
            <a:r>
              <a:rPr lang="en-US" altLang="zh-CN" sz="280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从而有</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4,2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5,2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4,2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baseline="-25000">
                <a:solidFill>
                  <a:srgbClr val="000000"/>
                </a:solidFill>
                <a:latin typeface="Times New Roman" panose="02020603050405020304" pitchFamily="18" charset="0"/>
                <a:cs typeface="Times New Roman" panose="02020603050405020304" pitchFamily="18" charset="0"/>
              </a:rPr>
              <a:t>1),2</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以上</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个式子相加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即可得到</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82221767"/>
              </p:ext>
            </p:extLst>
          </p:nvPr>
        </p:nvGraphicFramePr>
        <p:xfrm>
          <a:off x="458424" y="4269995"/>
          <a:ext cx="11275153" cy="1983030"/>
        </p:xfrm>
        <a:graphic>
          <a:graphicData uri="http://schemas.openxmlformats.org/presentationml/2006/ole">
            <mc:AlternateContent xmlns:mc="http://schemas.openxmlformats.org/markup-compatibility/2006">
              <mc:Choice xmlns:v="urn:schemas-microsoft-com:vml" Requires="v">
                <p:oleObj spid="_x0000_s7181" name="文档" r:id="rId4" imgW="4510061" imgH="793212" progId="Word.Document.12">
                  <p:embed/>
                </p:oleObj>
              </mc:Choice>
              <mc:Fallback>
                <p:oleObj name="文档" r:id="rId4" imgW="4510061" imgH="793212" progId="Word.Document.12">
                  <p:embed/>
                  <p:pic>
                    <p:nvPicPr>
                      <p:cNvPr id="0" name=""/>
                      <p:cNvPicPr/>
                      <p:nvPr/>
                    </p:nvPicPr>
                    <p:blipFill>
                      <a:blip r:embed="rId5"/>
                      <a:stretch>
                        <a:fillRect/>
                      </a:stretch>
                    </p:blipFill>
                    <p:spPr>
                      <a:xfrm>
                        <a:off x="458424" y="4269995"/>
                        <a:ext cx="11275153" cy="1983030"/>
                      </a:xfrm>
                      <a:prstGeom prst="rect">
                        <a:avLst/>
                      </a:prstGeom>
                    </p:spPr>
                  </p:pic>
                </p:oleObj>
              </mc:Fallback>
            </mc:AlternateContent>
          </a:graphicData>
        </a:graphic>
      </p:graphicFrame>
    </p:spTree>
    <p:extLst>
      <p:ext uri="{BB962C8B-B14F-4D97-AF65-F5344CB8AC3E}">
        <p14:creationId xmlns:p14="http://schemas.microsoft.com/office/powerpoint/2010/main" val="1959294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31204"/>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如图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根据</a:t>
            </a:r>
            <a:r>
              <a:rPr lang="zh-CN" altLang="zh-CN" sz="2800">
                <a:solidFill>
                  <a:srgbClr val="000000"/>
                </a:solidFill>
                <a:latin typeface="Times New Roman" panose="02020603050405020304" pitchFamily="18" charset="0"/>
                <a:cs typeface="Times New Roman" panose="02020603050405020304" pitchFamily="18" charset="0"/>
              </a:rPr>
              <a:t>图中的数所成的规律</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所表示的数是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A.2	</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B.4</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C.6	</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D.8</a:t>
            </a: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根据题图可知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每一行的第一个数和最后一个数都是</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除</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以外的每个数都等于它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肩上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两个数的和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45.eps" descr="id:2147516359;FounderCES"/>
          <p:cNvPicPr/>
          <p:nvPr/>
        </p:nvPicPr>
        <p:blipFill>
          <a:blip r:embed="rId2">
            <a:clrChange>
              <a:clrFrom>
                <a:srgbClr val="FFFFFF"/>
              </a:clrFrom>
              <a:clrTo>
                <a:srgbClr val="FFFFFF">
                  <a:alpha val="0"/>
                </a:srgbClr>
              </a:clrTo>
            </a:clrChange>
          </a:blip>
          <a:stretch>
            <a:fillRect/>
          </a:stretch>
        </p:blipFill>
        <p:spPr>
          <a:xfrm>
            <a:off x="4349639" y="1420645"/>
            <a:ext cx="3808042" cy="24787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7" dur="500"/>
                                        <p:tgtEl>
                                          <p:spTgt spid="2">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92161"/>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与杨辉三角有类似性质的三角形数垒如图所示</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是某行的前两个数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等于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A.20	</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B.21</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C.22	</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D.23</a:t>
            </a: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可知</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左肩上的数为</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右肩上的数</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smtClean="0">
                <a:solidFill>
                  <a:srgbClr val="000000"/>
                </a:solidFill>
                <a:latin typeface="Times New Roman" panose="02020603050405020304" pitchFamily="18" charset="0"/>
                <a:cs typeface="Times New Roman" panose="02020603050405020304" pitchFamily="18" charset="0"/>
              </a:rPr>
              <a:t>16</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23KX02.eps" descr="id:2147512658;FounderCES"/>
          <p:cNvPicPr/>
          <p:nvPr/>
        </p:nvPicPr>
        <p:blipFill>
          <a:blip r:embed="rId2">
            <a:clrChange>
              <a:clrFrom>
                <a:srgbClr val="FFFFFF"/>
              </a:clrFrom>
              <a:clrTo>
                <a:srgbClr val="FFFFFF">
                  <a:alpha val="0"/>
                </a:srgbClr>
              </a:clrTo>
            </a:clrChange>
          </a:blip>
          <a:stretch>
            <a:fillRect/>
          </a:stretch>
        </p:blipFill>
        <p:spPr>
          <a:xfrm>
            <a:off x="4193418" y="1101547"/>
            <a:ext cx="3820425" cy="3572455"/>
          </a:xfrm>
          <a:prstGeom prst="rect">
            <a:avLst/>
          </a:prstGeom>
        </p:spPr>
      </p:pic>
    </p:spTree>
    <p:extLst>
      <p:ext uri="{BB962C8B-B14F-4D97-AF65-F5344CB8AC3E}">
        <p14:creationId xmlns:p14="http://schemas.microsoft.com/office/powerpoint/2010/main" val="274910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randombar(horizontal)">
                                      <p:cBhvr>
                                        <p:cTn id="7" dur="500"/>
                                        <p:tgtEl>
                                          <p:spTgt spid="2">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8" end="8"/>
                                            </p:txEl>
                                          </p:spTgt>
                                        </p:tgtEl>
                                        <p:attrNameLst>
                                          <p:attrName>style.visibility</p:attrName>
                                        </p:attrNameLst>
                                      </p:cBhvr>
                                      <p:to>
                                        <p:strVal val="visible"/>
                                      </p:to>
                                    </p:set>
                                    <p:animEffect transition="in" filter="randombar(horizontal)">
                                      <p:cBhvr>
                                        <p:cTn id="1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42040"/>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一个与杨辉三角有类似性质的递推式如图所示</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则第</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N</a:t>
            </a:r>
            <a:r>
              <a:rPr lang="en-US" altLang="zh-CN" sz="2800" i="1" baseline="300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行的首尾两个数均为</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en-US" altLang="zh-CN" sz="2800" i="1"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a:solidFill>
                  <a:srgbClr val="000000"/>
                </a:solidFill>
                <a:latin typeface="Times New Roman" panose="02020603050405020304" pitchFamily="18" charset="0"/>
                <a:cs typeface="Times New Roman" panose="02020603050405020304" pitchFamily="18" charset="0"/>
              </a:rPr>
              <a:t>1,3,5,7,9,</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可知它们成等差数列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故第</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行的首尾两个数均为</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答</a:t>
            </a: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1</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47.eps" descr="id:2147516373;FounderCES"/>
          <p:cNvPicPr/>
          <p:nvPr/>
        </p:nvPicPr>
        <p:blipFill>
          <a:blip r:embed="rId2">
            <a:clrChange>
              <a:clrFrom>
                <a:srgbClr val="FFFFFF"/>
              </a:clrFrom>
              <a:clrTo>
                <a:srgbClr val="FFFFFF">
                  <a:alpha val="0"/>
                </a:srgbClr>
              </a:clrTo>
            </a:clrChange>
          </a:blip>
          <a:stretch>
            <a:fillRect/>
          </a:stretch>
        </p:blipFill>
        <p:spPr>
          <a:xfrm>
            <a:off x="4456338" y="1654862"/>
            <a:ext cx="3279323" cy="3009605"/>
          </a:xfrm>
          <a:prstGeom prst="rect">
            <a:avLst/>
          </a:prstGeom>
        </p:spPr>
      </p:pic>
    </p:spTree>
    <p:extLst>
      <p:ext uri="{BB962C8B-B14F-4D97-AF65-F5344CB8AC3E}">
        <p14:creationId xmlns:p14="http://schemas.microsoft.com/office/powerpoint/2010/main" val="9591379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7" dur="500"/>
                                        <p:tgtEl>
                                          <p:spTgt spid="2">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87793"/>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在杨辉三角中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从上往下数共有</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N</a:t>
            </a:r>
            <a:r>
              <a:rPr lang="en-US" altLang="zh-CN" sz="2800" i="1" baseline="300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在这些数中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非</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的数之和为</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49.eps" descr="id:2147516387;FounderCES"/>
          <p:cNvPicPr/>
          <p:nvPr/>
        </p:nvPicPr>
        <p:blipFill>
          <a:blip r:embed="rId3">
            <a:clrChange>
              <a:clrFrom>
                <a:srgbClr val="FFFFFF"/>
              </a:clrFrom>
              <a:clrTo>
                <a:srgbClr val="FFFFFF">
                  <a:alpha val="0"/>
                </a:srgbClr>
              </a:clrTo>
            </a:clrChange>
          </a:blip>
          <a:stretch>
            <a:fillRect/>
          </a:stretch>
        </p:blipFill>
        <p:spPr>
          <a:xfrm>
            <a:off x="4620802" y="1304951"/>
            <a:ext cx="2950396" cy="2659454"/>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2775496195"/>
              </p:ext>
            </p:extLst>
          </p:nvPr>
        </p:nvGraphicFramePr>
        <p:xfrm>
          <a:off x="458424" y="3964405"/>
          <a:ext cx="11275153" cy="989193"/>
        </p:xfrm>
        <a:graphic>
          <a:graphicData uri="http://schemas.openxmlformats.org/presentationml/2006/ole">
            <mc:AlternateContent xmlns:mc="http://schemas.openxmlformats.org/markup-compatibility/2006">
              <mc:Choice xmlns:v="urn:schemas-microsoft-com:vml" Requires="v">
                <p:oleObj spid="_x0000_s9229" name="文档" r:id="rId5" imgW="4510061" imgH="395677" progId="Word.Document.12">
                  <p:embed/>
                </p:oleObj>
              </mc:Choice>
              <mc:Fallback>
                <p:oleObj name="文档" r:id="rId5" imgW="4510061" imgH="395677" progId="Word.Document.12">
                  <p:embed/>
                  <p:pic>
                    <p:nvPicPr>
                      <p:cNvPr id="0" name=""/>
                      <p:cNvPicPr/>
                      <p:nvPr/>
                    </p:nvPicPr>
                    <p:blipFill>
                      <a:blip r:embed="rId6"/>
                      <a:stretch>
                        <a:fillRect/>
                      </a:stretch>
                    </p:blipFill>
                    <p:spPr>
                      <a:xfrm>
                        <a:off x="458424" y="3964405"/>
                        <a:ext cx="11275153" cy="989193"/>
                      </a:xfrm>
                      <a:prstGeom prst="rect">
                        <a:avLst/>
                      </a:prstGeom>
                    </p:spPr>
                  </p:pic>
                </p:oleObj>
              </mc:Fallback>
            </mc:AlternateContent>
          </a:graphicData>
        </a:graphic>
      </p:graphicFrame>
      <p:sp>
        <p:nvSpPr>
          <p:cNvPr id="5" name="矩形 4"/>
          <p:cNvSpPr>
            <a:spLocks noChangeAspect="1"/>
          </p:cNvSpPr>
          <p:nvPr/>
        </p:nvSpPr>
        <p:spPr>
          <a:xfrm>
            <a:off x="381000" y="4832509"/>
            <a:ext cx="1871025"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i="1" baseline="30000" smtClean="0">
                <a:solidFill>
                  <a:srgbClr val="000000"/>
                </a:solidFill>
                <a:latin typeface="Times New Roman" panose="02020603050405020304" pitchFamily="18" charset="0"/>
                <a:cs typeface="Times New Roman" panose="02020603050405020304" pitchFamily="18" charset="0"/>
              </a:rPr>
              <a:t>n</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n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118015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34506"/>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5</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观察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莱布尼茨三角</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不难看出它与杨辉三角有类似的一条性质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即莱布尼茨三角中的每一个数都等于它左右脚下的两数之和</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如图箭</a:t>
            </a:r>
            <a:r>
              <a:rPr lang="zh-CN" altLang="zh-CN" sz="2800" smtClean="0">
                <a:solidFill>
                  <a:srgbClr val="000000"/>
                </a:solidFill>
                <a:latin typeface="Times New Roman" panose="02020603050405020304" pitchFamily="18" charset="0"/>
                <a:cs typeface="Times New Roman" panose="02020603050405020304" pitchFamily="18" charset="0"/>
              </a:rPr>
              <a:t>头</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从第三行起将每行的第三</a:t>
            </a:r>
            <a:r>
              <a:rPr lang="zh-CN" altLang="zh-CN" sz="2800" smtClean="0">
                <a:solidFill>
                  <a:srgbClr val="000000"/>
                </a:solidFill>
                <a:latin typeface="Times New Roman" panose="02020603050405020304" pitchFamily="18" charset="0"/>
                <a:cs typeface="Times New Roman" panose="02020603050405020304" pitchFamily="18" charset="0"/>
              </a:rPr>
              <a:t>个数</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按由大到小的顺序组成数列</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求数列</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的通项公式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50.eps" descr="id:2147516394;FounderCES"/>
          <p:cNvPicPr/>
          <p:nvPr/>
        </p:nvPicPr>
        <p:blipFill>
          <a:blip r:embed="rId3">
            <a:clrChange>
              <a:clrFrom>
                <a:srgbClr val="FFFFFF"/>
              </a:clrFrom>
              <a:clrTo>
                <a:srgbClr val="FFFFFF">
                  <a:alpha val="0"/>
                </a:srgbClr>
              </a:clrTo>
            </a:clrChange>
          </a:blip>
          <a:stretch>
            <a:fillRect/>
          </a:stretch>
        </p:blipFill>
        <p:spPr>
          <a:xfrm>
            <a:off x="4278077" y="2479172"/>
            <a:ext cx="3365896" cy="3543165"/>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1075352983"/>
              </p:ext>
            </p:extLst>
          </p:nvPr>
        </p:nvGraphicFramePr>
        <p:xfrm>
          <a:off x="3053161" y="1484864"/>
          <a:ext cx="2449831" cy="750215"/>
        </p:xfrm>
        <a:graphic>
          <a:graphicData uri="http://schemas.openxmlformats.org/presentationml/2006/ole">
            <mc:AlternateContent xmlns:mc="http://schemas.openxmlformats.org/markup-compatibility/2006">
              <mc:Choice xmlns:v="urn:schemas-microsoft-com:vml" Requires="v">
                <p:oleObj spid="_x0000_s10253" name="文档" r:id="rId5" imgW="1312225" imgH="400348" progId="Word.Document.12">
                  <p:embed/>
                </p:oleObj>
              </mc:Choice>
              <mc:Fallback>
                <p:oleObj name="文档" r:id="rId5" imgW="1312225" imgH="400348" progId="Word.Document.12">
                  <p:embed/>
                  <p:pic>
                    <p:nvPicPr>
                      <p:cNvPr id="0" name=""/>
                      <p:cNvPicPr/>
                      <p:nvPr/>
                    </p:nvPicPr>
                    <p:blipFill>
                      <a:blip r:embed="rId6"/>
                      <a:stretch>
                        <a:fillRect/>
                      </a:stretch>
                    </p:blipFill>
                    <p:spPr>
                      <a:xfrm>
                        <a:off x="3053161" y="1484864"/>
                        <a:ext cx="2449831" cy="750215"/>
                      </a:xfrm>
                      <a:prstGeom prst="rect">
                        <a:avLst/>
                      </a:prstGeom>
                    </p:spPr>
                  </p:pic>
                </p:oleObj>
              </mc:Fallback>
            </mc:AlternateContent>
          </a:graphicData>
        </a:graphic>
      </p:graphicFrame>
    </p:spTree>
    <p:extLst>
      <p:ext uri="{BB962C8B-B14F-4D97-AF65-F5344CB8AC3E}">
        <p14:creationId xmlns:p14="http://schemas.microsoft.com/office/powerpoint/2010/main" val="3838786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446958587"/>
              </p:ext>
            </p:extLst>
          </p:nvPr>
        </p:nvGraphicFramePr>
        <p:xfrm>
          <a:off x="458424" y="342745"/>
          <a:ext cx="11275153" cy="5933350"/>
        </p:xfrm>
        <a:graphic>
          <a:graphicData uri="http://schemas.openxmlformats.org/presentationml/2006/ole">
            <mc:AlternateContent xmlns:mc="http://schemas.openxmlformats.org/markup-compatibility/2006">
              <mc:Choice xmlns:v="urn:schemas-microsoft-com:vml" Requires="v">
                <p:oleObj spid="_x0000_s11277" name="文档" r:id="rId4" imgW="4510061" imgH="2373340" progId="Word.Document.12">
                  <p:embed/>
                </p:oleObj>
              </mc:Choice>
              <mc:Fallback>
                <p:oleObj name="文档" r:id="rId4" imgW="4510061" imgH="2373340" progId="Word.Document.12">
                  <p:embed/>
                  <p:pic>
                    <p:nvPicPr>
                      <p:cNvPr id="0" name=""/>
                      <p:cNvPicPr/>
                      <p:nvPr/>
                    </p:nvPicPr>
                    <p:blipFill>
                      <a:blip r:embed="rId5"/>
                      <a:stretch>
                        <a:fillRect/>
                      </a:stretch>
                    </p:blipFill>
                    <p:spPr>
                      <a:xfrm>
                        <a:off x="458424" y="342745"/>
                        <a:ext cx="11275153" cy="5933350"/>
                      </a:xfrm>
                      <a:prstGeom prst="rect">
                        <a:avLst/>
                      </a:prstGeom>
                    </p:spPr>
                  </p:pic>
                </p:oleObj>
              </mc:Fallback>
            </mc:AlternateContent>
          </a:graphicData>
        </a:graphic>
      </p:graphicFrame>
    </p:spTree>
    <p:extLst>
      <p:ext uri="{BB962C8B-B14F-4D97-AF65-F5344CB8AC3E}">
        <p14:creationId xmlns:p14="http://schemas.microsoft.com/office/powerpoint/2010/main" val="3099785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89</TotalTime>
  <Words>1055</Words>
  <Application>Microsoft Office PowerPoint</Application>
  <PresentationFormat>宽屏</PresentationFormat>
  <Paragraphs>93</Paragraphs>
  <Slides>24</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42" baseType="lpstr">
      <vt:lpstr>NEU-BZ-S92</vt:lpstr>
      <vt:lpstr>Open Sans</vt:lpstr>
      <vt:lpstr>方正书宋_GBK</vt:lpstr>
      <vt:lpstr>方正姚体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35</cp:revision>
  <dcterms:created xsi:type="dcterms:W3CDTF">2021-08-30T08:30:26Z</dcterms:created>
  <dcterms:modified xsi:type="dcterms:W3CDTF">2025-08-20T01:10:15Z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