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407" r:id="rId9"/>
    <p:sldId id="394" r:id="rId10"/>
    <p:sldId id="699" r:id="rId11"/>
    <p:sldId id="700" r:id="rId12"/>
    <p:sldId id="701" r:id="rId13"/>
    <p:sldId id="702" r:id="rId14"/>
    <p:sldId id="706" r:id="rId15"/>
    <p:sldId id="707" r:id="rId16"/>
    <p:sldId id="708" r:id="rId17"/>
    <p:sldId id="402" r:id="rId18"/>
    <p:sldId id="712" r:id="rId19"/>
    <p:sldId id="713" r:id="rId20"/>
    <p:sldId id="714" r:id="rId21"/>
    <p:sldId id="715" r:id="rId22"/>
    <p:sldId id="498" r:id="rId23"/>
    <p:sldId id="730" r:id="rId24"/>
    <p:sldId id="733" r:id="rId25"/>
    <p:sldId id="743" r:id="rId26"/>
    <p:sldId id="741" r:id="rId27"/>
    <p:sldId id="738" r:id="rId28"/>
    <p:sldId id="765" r:id="rId29"/>
    <p:sldId id="751" r:id="rId30"/>
    <p:sldId id="398" r:id="rId31"/>
    <p:sldId id="395" r:id="rId32"/>
    <p:sldId id="756" r:id="rId33"/>
    <p:sldId id="757" r:id="rId34"/>
    <p:sldId id="758" r:id="rId35"/>
    <p:sldId id="4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userDrawn="1">
          <p15:clr>
            <a:srgbClr val="A4A3A4"/>
          </p15:clr>
        </p15:guide>
        <p15:guide id="8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99"/>
        <p:guide orient="horz" pos="28"/>
        <p:guide pos="279"/>
        <p:guide orient="horz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9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6.xml"/><Relationship Id="rId4" Type="http://schemas.openxmlformats.org/officeDocument/2006/relationships/slide" Target="../slides/slide2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92684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9319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5953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12587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规范解答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package" Target="../embeddings/Microsoft_Word___1.docx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package" Target="../embeddings/Microsoft_Word___4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package" Target="../embeddings/Microsoft_Word___8.docx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5.docx"/><Relationship Id="rId4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19.docx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4.docx"/><Relationship Id="rId4" Type="http://schemas.openxmlformats.org/officeDocument/2006/relationships/image" Target="../media/image26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26.docx"/><Relationship Id="rId4" Type="http://schemas.openxmlformats.org/officeDocument/2006/relationships/image" Target="../media/image28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package" Target="../embeddings/Microsoft_Word___28.docx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29.docx"/><Relationship Id="rId4" Type="http://schemas.openxmlformats.org/officeDocument/2006/relationships/image" Target="../media/image3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等比数列</a:t>
              </a:r>
              <a:r>
                <a:rPr lang="zh-CN" altLang="en-US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前</a:t>
              </a:r>
              <a:r>
                <a:rPr lang="en-US" altLang="zh-CN" sz="36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华文细黑" panose="02010600040101010101" charset="-122"/>
                  <a:cs typeface="Times New Roman" panose="02020603050405020304" pitchFamily="18" charset="0"/>
                </a:rPr>
                <a:t>n</a:t>
              </a:r>
              <a:r>
                <a:rPr lang="zh-CN" altLang="en-US" sz="3600" b="1" dirty="0" smtClean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项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和的应用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4.3.2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能运用等比数列的前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项和公式解决一些简单的实际问题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掌握等差数列与等比数列的综合应用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提升逻辑推理和数据分析素养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提高数学运算的能力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1000" y="426183"/>
            <a:ext cx="11430000" cy="1945148"/>
            <a:chOff x="381000" y="696349"/>
            <a:chExt cx="11430000" cy="194514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696349"/>
              <a:ext cx="11430000" cy="194514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等比数列的前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方正正中黑简体"/>
                  <a:cs typeface="Times New Roman" panose="02020603050405020304" pitchFamily="18" charset="0"/>
                </a:rPr>
                <a:t>的关系与函数的关系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80670">
                <a:lnSpc>
                  <a:spcPct val="15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等比数列前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项和公式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是否可以写成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的形式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若可以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等于什么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5107278"/>
                </p:ext>
              </p:extLst>
            </p:nvPr>
          </p:nvGraphicFramePr>
          <p:xfrm>
            <a:off x="4807145" y="1270618"/>
            <a:ext cx="1435310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" name="文档" r:id="rId3" imgW="695644" imgH="397544" progId="Word.Document.12">
                    <p:embed/>
                  </p:oleObj>
                </mc:Choice>
                <mc:Fallback>
                  <p:oleObj name="文档" r:id="rId3" imgW="695644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07145" y="1270618"/>
                          <a:ext cx="1435310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831402"/>
              </p:ext>
            </p:extLst>
          </p:nvPr>
        </p:nvGraphicFramePr>
        <p:xfrm>
          <a:off x="41190" y="224498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文档" r:id="rId5" imgW="4520786" imgH="396823" progId="Word.Document.12">
                  <p:embed/>
                </p:oleObj>
              </mc:Choice>
              <mc:Fallback>
                <p:oleObj name="文档" r:id="rId5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90" y="224498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81000" y="3142937"/>
            <a:ext cx="11430000" cy="1254204"/>
            <a:chOff x="381000" y="3724833"/>
            <a:chExt cx="11430000" cy="1254204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766397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等比数列前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项和公式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是否可以写成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的形式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7989056"/>
                </p:ext>
              </p:extLst>
            </p:nvPr>
          </p:nvGraphicFramePr>
          <p:xfrm>
            <a:off x="4605100" y="3724833"/>
            <a:ext cx="1637355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" name="文档" r:id="rId7" imgW="792811" imgH="397544" progId="Word.Document.12">
                    <p:embed/>
                  </p:oleObj>
                </mc:Choice>
                <mc:Fallback>
                  <p:oleObj name="文档" r:id="rId7" imgW="792811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05100" y="3724833"/>
                          <a:ext cx="1637355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44365"/>
              </p:ext>
            </p:extLst>
          </p:nvPr>
        </p:nvGraphicFramePr>
        <p:xfrm>
          <a:off x="41190" y="4274587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文档" r:id="rId9" imgW="4520786" imgH="396823" progId="Word.Document.12">
                  <p:embed/>
                </p:oleObj>
              </mc:Choice>
              <mc:Fallback>
                <p:oleObj name="文档" r:id="rId9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90" y="4274587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268153"/>
              </p:ext>
            </p:extLst>
          </p:nvPr>
        </p:nvGraphicFramePr>
        <p:xfrm>
          <a:off x="459389" y="6532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3" imgW="4510061" imgH="794654" progId="Word.Document.12">
                  <p:embed/>
                </p:oleObj>
              </mc:Choice>
              <mc:Fallback>
                <p:oleObj name="文档" r:id="rId3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389" y="6532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922981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是由关于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的一个指数式与一个常数的和构成的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而指数式的系数与常数项互为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相反数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的图象是函数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y=-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</a:t>
            </a:r>
            <a:r>
              <a:rPr lang="en-US" altLang="zh-CN" sz="2800" i="1" baseline="30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图象上的一些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孤立的点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根据等比数列前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项和公式的特点可知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3·3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41764" y="2541687"/>
            <a:ext cx="104456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053425" y="2989038"/>
            <a:ext cx="104017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899764" y="3092405"/>
            <a:ext cx="72766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0911425" y="3529365"/>
            <a:ext cx="7246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56167" y="3652793"/>
            <a:ext cx="71332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67798" y="4089753"/>
            <a:ext cx="710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2170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的首项为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·3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8778862" y="2763774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8586626" y="3336113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等比数列前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项和公式在增长率问题中的应用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9469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某地区计划退耕还林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6 370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,2019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年年底已退耕还林的土地面积为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以后每年退耕还林的面积按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12%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递增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试问从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年年底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到哪一年年底该地区才能完成退耕还林计划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476,1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精确到年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非国际通用单位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5009" y="594591"/>
            <a:ext cx="11775991" cy="4269130"/>
            <a:chOff x="35009" y="1023233"/>
            <a:chExt cx="11775991" cy="426913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23233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2019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年年底起以后每年的退耕还林的土地数量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依次为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515(1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12%),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515(1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12%)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515(1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12%)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……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935719"/>
                </p:ext>
              </p:extLst>
            </p:nvPr>
          </p:nvGraphicFramePr>
          <p:xfrm>
            <a:off x="35009" y="271103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09" y="271103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579843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370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515,515×1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12×(1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855×0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≈2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≈7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年年底该地区才能完成退耕还林计划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8987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解数列应用题的具体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认真审题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理解题意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达到如下要求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明确问题属于哪类应用问题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即明确是等差数列问题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还是等比数列问题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还是递推数列问题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还是求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特别要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注意弄清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项数为多少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弄清题目中主要的已知事项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抓住数量关系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联想所学的数学知识和数学方法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恰当地引入参数变量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并将文字语言翻译成数学语言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将数量关系用数学式子表达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将实际问题抽象为数学问题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将已知与所求的量联系起来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并根据题意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列出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关系式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价格升降、细胞繁殖、利率、税率、增长率等问题常归结为等比数列模型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即从实际背景中抽象出数学事实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归纳转化为数列问题去解决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1043719"/>
            <a:ext cx="11430000" cy="2774794"/>
            <a:chOff x="381000" y="1702652"/>
            <a:chExt cx="11430000" cy="277479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119786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某地投入资金进行生态环境建设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并以此发展旅游产业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据规划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本年度投入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800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万元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以后每年的投入将比上一年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减少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本年度当地旅游业收入估计为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万元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由于该项建设对旅游业的促进作用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预计今后的旅游业收入每年会比上一年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增长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年内的总投入与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年内旅游业的总收入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pic>
          <p:nvPicPr>
            <p:cNvPr id="3" name="延伸探究H.eps" descr="id:2147494559;FounderCES"/>
            <p:cNvPicPr/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57688" y="1702652"/>
              <a:ext cx="2016224" cy="367706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8134012"/>
                </p:ext>
              </p:extLst>
            </p:nvPr>
          </p:nvGraphicFramePr>
          <p:xfrm>
            <a:off x="3556754" y="3723651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2" name="文档" r:id="rId4" imgW="285035" imgH="397130" progId="Word.Document.12">
                    <p:embed/>
                  </p:oleObj>
                </mc:Choice>
                <mc:Fallback>
                  <p:oleObj name="文档" r:id="rId4" imgW="285035" imgH="3971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56754" y="3723651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1930313"/>
                </p:ext>
              </p:extLst>
            </p:nvPr>
          </p:nvGraphicFramePr>
          <p:xfrm>
            <a:off x="7024885" y="2619780"/>
            <a:ext cx="527178" cy="7537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3" name="文档" r:id="rId6" imgW="285743" imgH="397183" progId="Word.Document.12">
                    <p:embed/>
                  </p:oleObj>
                </mc:Choice>
                <mc:Fallback>
                  <p:oleObj name="文档" r:id="rId6" imgW="285743" imgH="3971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024885" y="2619780"/>
                          <a:ext cx="527178" cy="7537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751986"/>
              </p:ext>
            </p:extLst>
          </p:nvPr>
        </p:nvGraphicFramePr>
        <p:xfrm>
          <a:off x="33338" y="164379"/>
          <a:ext cx="11401425" cy="619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文档" r:id="rId3" imgW="4510061" imgH="2459283" progId="Word.Document.12">
                  <p:embed/>
                </p:oleObj>
              </mc:Choice>
              <mc:Fallback>
                <p:oleObj name="文档" r:id="rId3" imgW="4510061" imgH="2459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164379"/>
                        <a:ext cx="11401425" cy="619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189" y="371665"/>
            <a:ext cx="11769811" cy="5078919"/>
            <a:chOff x="41189" y="575553"/>
            <a:chExt cx="11769811" cy="507891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0302751"/>
                </p:ext>
              </p:extLst>
            </p:nvPr>
          </p:nvGraphicFramePr>
          <p:xfrm>
            <a:off x="41189" y="575553"/>
            <a:ext cx="11430000" cy="3209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" name="文档" r:id="rId3" imgW="4520786" imgH="1269401" progId="Word.Document.12">
                    <p:embed/>
                  </p:oleObj>
                </mc:Choice>
                <mc:Fallback>
                  <p:oleObj name="文档" r:id="rId3" imgW="4520786" imgH="126940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89" y="575553"/>
                          <a:ext cx="11430000" cy="32094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5401995"/>
                </p:ext>
              </p:extLst>
            </p:nvPr>
          </p:nvGraphicFramePr>
          <p:xfrm>
            <a:off x="381000" y="3648792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1" name="文档" r:id="rId5" imgW="4520786" imgH="793285" progId="Word.Document.12">
                    <p:embed/>
                  </p:oleObj>
                </mc:Choice>
                <mc:Fallback>
                  <p:oleObj name="文档" r:id="rId5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3648792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861111"/>
                <a:ext cx="11430000" cy="362657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【变式训练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某市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年共有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万辆燃油型公交车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有关部门于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2022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年投入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辆电力型公交车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随后电力型公交车每年的投入比上一年增加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50%,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试问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该市在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2025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年应该投入多少辆电力型公交车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到哪一年底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电力型公交车的数量开始超过该市公交车总量的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?(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lg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657≈2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82,lg 2≈0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30,lg 3≈0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48)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61111"/>
                <a:ext cx="11430000" cy="3626570"/>
              </a:xfrm>
              <a:prstGeom prst="rect">
                <a:avLst/>
              </a:prstGeom>
              <a:blipFill rotWithShape="0">
                <a:blip r:embed="rId2"/>
                <a:stretch>
                  <a:fillRect l="-1120" t="-336" r="-1707" b="-3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69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268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该市逐年投入的电力型公交车的数量组成等比数列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应该投入的电力型公交车为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128×1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432(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651446"/>
              </p:ext>
            </p:extLst>
          </p:nvPr>
        </p:nvGraphicFramePr>
        <p:xfrm>
          <a:off x="51486" y="1682828"/>
          <a:ext cx="11430000" cy="501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文档" r:id="rId3" imgW="4510061" imgH="1988256" progId="Word.Document.12">
                  <p:embed/>
                </p:oleObj>
              </mc:Choice>
              <mc:Fallback>
                <p:oleObj name="文档" r:id="rId3" imgW="4510061" imgH="19882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6" y="1682828"/>
                        <a:ext cx="11430000" cy="501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5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等比数列前</a:t>
                </a:r>
                <a:r>
                  <a:rPr lang="en-US" altLang="zh-CN" sz="2800" b="1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项和公式在决策问题中的应用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79536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在一次人才招聘会上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,A,B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两家公司分别开出了工资标准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3715795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大学生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两家公司同时录取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选择一家连续工作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经过一番思考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他选择了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公司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你知道为什么吗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参考数据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831050812"/>
              </p:ext>
            </p:extLst>
          </p:nvPr>
        </p:nvGraphicFramePr>
        <p:xfrm>
          <a:off x="381000" y="2014407"/>
          <a:ext cx="11430000" cy="1536192"/>
        </p:xfrm>
        <a:graphic>
          <a:graphicData uri="http://schemas.openxmlformats.org/drawingml/2006/table">
            <a:tbl>
              <a:tblPr firstRow="1" firstCol="1" bandRow="1"/>
              <a:tblGrid>
                <a:gridCol w="5853545"/>
                <a:gridCol w="557645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公司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公司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第一年月工资为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3 000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以后每一年月工资比上一年月工资增加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  <a:tabLst>
                          <a:tab pos="1029335" algn="l"/>
                          <a:tab pos="1850390" algn="l"/>
                          <a:tab pos="2538095" algn="l"/>
                          <a:tab pos="3221990" algn="l"/>
                        </a:tabLst>
                      </a:pP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第一年月工资为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4 000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以后每一年月工资比上一年月工资增加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5%</a:t>
                      </a:r>
                      <a:endParaRPr lang="zh-CN" sz="2800" dirty="0">
                        <a:solidFill>
                          <a:srgbClr val="000000"/>
                        </a:solidFill>
                        <a:effectLst/>
                        <a:latin typeface="NEU-BZ-S92"/>
                        <a:ea typeface="方正书宋_GBK" panose="03000509000000000000" pitchFamily="65" charset="-122"/>
                        <a:cs typeface="Times New Roman" panose="02020603050405020304" pitchFamily="18" charset="0"/>
                      </a:endParaRPr>
                    </a:p>
                  </a:txBody>
                  <a:tcPr marL="57150" marR="571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7583"/>
            <a:ext cx="1024639" cy="5903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68434"/>
              </p:ext>
            </p:extLst>
          </p:nvPr>
        </p:nvGraphicFramePr>
        <p:xfrm>
          <a:off x="381000" y="670954"/>
          <a:ext cx="11430000" cy="5416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文档" r:id="rId3" imgW="4620033" imgH="2184666" progId="Word.Document.12">
                  <p:embed/>
                </p:oleObj>
              </mc:Choice>
              <mc:Fallback>
                <p:oleObj name="文档" r:id="rId3" imgW="4620033" imgH="21846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670954"/>
                        <a:ext cx="11430000" cy="5416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5570872"/>
            <a:ext cx="3868367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公司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1788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利用数列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实际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首先要认真审题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深刻理解问题的实际背景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弄清蕴含在问题中的数学关系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把应用问题转化为数学中的等差数列、等比数列问题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分别利用相关知识求解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做出比较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进行决策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5684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某企业进行技术改造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有两种方案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甲方案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一次性贷款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第一年便可获利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以后每年比前一年增加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的利润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乙方案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每年贷款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第一年可获利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以后每年比前一年增加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5 000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两种方案的使用期都是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到期一次性归还本息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若银行两种形式的贷款都按年息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的复利计算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试比较两种方案中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哪种获利更多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参考数据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010" y="52688"/>
            <a:ext cx="11775990" cy="6641669"/>
            <a:chOff x="35010" y="52688"/>
            <a:chExt cx="11775990" cy="664166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2688"/>
              <a:ext cx="894828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甲种方案获利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30%)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30%)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30%)</a:t>
              </a:r>
              <a:r>
                <a:rPr lang="en-US" altLang="zh-CN" sz="2800" baseline="30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9026201"/>
                </p:ext>
              </p:extLst>
            </p:nvPr>
          </p:nvGraphicFramePr>
          <p:xfrm>
            <a:off x="35010" y="560465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8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10" y="560465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422651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银行贷款本息和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:10×(1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5%)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≈16(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故甲种方案获利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:42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乙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种方案获利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2×0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楷体" panose="02010609060101010101" pitchFamily="49" charset="-122"/>
                  <a:ea typeface="方正书宋_GBK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9×0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5252814"/>
                </p:ext>
              </p:extLst>
            </p:nvPr>
          </p:nvGraphicFramePr>
          <p:xfrm>
            <a:off x="35010" y="3003810"/>
            <a:ext cx="11430000" cy="2608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9" name="文档" r:id="rId5" imgW="4520786" imgH="1031523" progId="Word.Document.12">
                    <p:embed/>
                  </p:oleObj>
                </mc:Choice>
                <mc:Fallback>
                  <p:oleObj name="文档" r:id="rId5" imgW="4520786" imgH="10315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010" y="3003810"/>
                          <a:ext cx="11430000" cy="26080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5481717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故乙种方案获利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:32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甲方案获利更多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等差数列、等比数列的综合应用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107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中不大于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的项的个数记为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010" y="3407271"/>
            <a:ext cx="11775990" cy="2531358"/>
            <a:chOff x="35010" y="3396880"/>
            <a:chExt cx="11775990" cy="2531358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528700"/>
                </p:ext>
              </p:extLst>
            </p:nvPr>
          </p:nvGraphicFramePr>
          <p:xfrm>
            <a:off x="35010" y="3396880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文档" r:id="rId3" imgW="4520786" imgH="595054" progId="Word.Document.12">
                    <p:embed/>
                  </p:oleObj>
                </mc:Choice>
                <mc:Fallback>
                  <p:oleObj name="文档" r:id="rId3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010" y="3396880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715598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8881" y="454562"/>
            <a:ext cx="11752119" cy="4783841"/>
            <a:chOff x="58881" y="454562"/>
            <a:chExt cx="11752119" cy="4783841"/>
          </a:xfrm>
        </p:grpSpPr>
        <p:grpSp>
          <p:nvGrpSpPr>
            <p:cNvPr id="6" name="组合 5"/>
            <p:cNvGrpSpPr/>
            <p:nvPr/>
          </p:nvGrpSpPr>
          <p:grpSpPr>
            <a:xfrm>
              <a:off x="381000" y="454562"/>
              <a:ext cx="11430000" cy="4783841"/>
              <a:chOff x="381000" y="766292"/>
              <a:chExt cx="11430000" cy="4783841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766292"/>
                <a:ext cx="11430000" cy="17125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i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m-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是首项为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公比为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49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的等比数列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矩形 4"/>
              <p:cNvSpPr>
                <a:spLocks noChangeAspect="1"/>
              </p:cNvSpPr>
              <p:nvPr/>
            </p:nvSpPr>
            <p:spPr>
              <a:xfrm>
                <a:off x="381000" y="3277460"/>
                <a:ext cx="11430000" cy="22726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反思感悟 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等差数列和等比数列的综合问题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一般不能直接套用公式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要先对已知条件转化变形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使之符合等差数列或等比数列的形式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再利用公式求解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同时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要注意在题设条件下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寻求等差数列和等比数列之间的内在联系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以便它们之间的相互转化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7215853"/>
                </p:ext>
              </p:extLst>
            </p:nvPr>
          </p:nvGraphicFramePr>
          <p:xfrm>
            <a:off x="58881" y="2205589"/>
            <a:ext cx="11430000" cy="815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5" name="文档" r:id="rId3" imgW="4510061" imgH="321644" progId="Word.Document.12">
                    <p:embed/>
                  </p:oleObj>
                </mc:Choice>
                <mc:Fallback>
                  <p:oleObj name="文档" r:id="rId3" imgW="4510061" imgH="3216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81" y="2205589"/>
                          <a:ext cx="11430000" cy="8151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2952" y="256024"/>
            <a:ext cx="11778048" cy="2060537"/>
            <a:chOff x="32952" y="256024"/>
            <a:chExt cx="11778048" cy="206053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5602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求证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572411"/>
                </p:ext>
              </p:extLst>
            </p:nvPr>
          </p:nvGraphicFramePr>
          <p:xfrm>
            <a:off x="32952" y="131326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2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2" y="131326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32952" y="2169750"/>
            <a:ext cx="11778048" cy="3661235"/>
            <a:chOff x="32952" y="2211314"/>
            <a:chExt cx="11778048" cy="366123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211314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7299661"/>
                </p:ext>
              </p:extLst>
            </p:nvPr>
          </p:nvGraphicFramePr>
          <p:xfrm>
            <a:off x="32952" y="437689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3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952" y="437689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5220063"/>
              <a:ext cx="712727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是首项为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公比为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的等比数列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145469"/>
              </p:ext>
            </p:extLst>
          </p:nvPr>
        </p:nvGraphicFramePr>
        <p:xfrm>
          <a:off x="41564" y="844570"/>
          <a:ext cx="11430000" cy="394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3" imgW="4510061" imgH="1557550" progId="Word.Document.12">
                  <p:embed/>
                </p:oleObj>
              </mc:Choice>
              <mc:Fallback>
                <p:oleObj name="文档" r:id="rId3" imgW="4510061" imgH="15575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844570"/>
                        <a:ext cx="11430000" cy="3947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规范解答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952" y="793063"/>
            <a:ext cx="11778048" cy="3219808"/>
            <a:chOff x="32952" y="1021665"/>
            <a:chExt cx="11778048" cy="321980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21665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数列的通项与求和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【典例】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的前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项和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的通项公式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878986"/>
                </p:ext>
              </p:extLst>
            </p:nvPr>
          </p:nvGraphicFramePr>
          <p:xfrm>
            <a:off x="32952" y="323817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7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52" y="323817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394158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审题策略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先求出数列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先求出数列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再利用错位相减法求数列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3248" y="1047864"/>
            <a:ext cx="11767752" cy="3351827"/>
            <a:chOff x="43248" y="1563477"/>
            <a:chExt cx="11767752" cy="335182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63477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规范展示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由题意知当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-S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=S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999019"/>
                </p:ext>
              </p:extLst>
            </p:nvPr>
          </p:nvGraphicFramePr>
          <p:xfrm>
            <a:off x="43248" y="326775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8" y="326775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262818"/>
              <a:ext cx="5266185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3248" y="823954"/>
            <a:ext cx="11767752" cy="4052650"/>
            <a:chOff x="43248" y="856906"/>
            <a:chExt cx="11767752" cy="405265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0125734"/>
                </p:ext>
              </p:extLst>
            </p:nvPr>
          </p:nvGraphicFramePr>
          <p:xfrm>
            <a:off x="43248" y="856906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6" name="文档" r:id="rId3" imgW="4520786" imgH="396823" progId="Word.Document.12">
                    <p:embed/>
                  </p:oleObj>
                </mc:Choice>
                <mc:Fallback>
                  <p:oleObj name="文档" r:id="rId3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248" y="856906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171527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3×[2×2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3×[2×2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两式作差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3×[2×2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925269"/>
                </p:ext>
              </p:extLst>
            </p:nvPr>
          </p:nvGraphicFramePr>
          <p:xfrm>
            <a:off x="43248" y="343818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8" y="343818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81000" y="4317343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·2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700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6043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答题模</a:t>
            </a: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版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zh-CN" altLang="zh-CN" sz="2800" dirty="0">
              <a:solidFill>
                <a:srgbClr val="FF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的关系求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的递推关系求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的通项公式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用错位相减法求出数列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失误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警示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造成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失分的原因如下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时漏掉当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情况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不会利用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的公差和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首项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错位相减法求数列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项和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时不知道错位对齐相减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弄错正负号失分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92387"/>
              </p:ext>
            </p:extLst>
          </p:nvPr>
        </p:nvGraphicFramePr>
        <p:xfrm>
          <a:off x="479854" y="270226"/>
          <a:ext cx="11430000" cy="2608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文档" r:id="rId3" imgW="4520786" imgH="1031523" progId="Word.Document.12">
                  <p:embed/>
                </p:oleObj>
              </mc:Choice>
              <mc:Fallback>
                <p:oleObj name="文档" r:id="rId3" imgW="4520786" imgH="10315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854" y="270226"/>
                        <a:ext cx="11430000" cy="2608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3146"/>
              </p:ext>
            </p:extLst>
          </p:nvPr>
        </p:nvGraphicFramePr>
        <p:xfrm>
          <a:off x="469463" y="2940594"/>
          <a:ext cx="11430000" cy="1917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文档" r:id="rId5" imgW="4510061" imgH="756493" progId="Word.Document.12">
                  <p:embed/>
                </p:oleObj>
              </mc:Choice>
              <mc:Fallback>
                <p:oleObj name="文档" r:id="rId5" imgW="4510061" imgH="756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463" y="2940594"/>
                        <a:ext cx="11430000" cy="1917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4715807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7039"/>
            <a:ext cx="11430000" cy="6814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项的和为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A.324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B.480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C.108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D.156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由等比数列的前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项和及其性质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12)×(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10)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2 046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某住宅小区计划植树不少于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若第一天植树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以后每天植树的棵数是前一天的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则需要的最少天数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每天植树的棵数构成以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为首项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为公比的等比数列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318032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64,2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725511"/>
              </p:ext>
            </p:extLst>
          </p:nvPr>
        </p:nvGraphicFramePr>
        <p:xfrm>
          <a:off x="474518" y="2425452"/>
          <a:ext cx="11430000" cy="8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文档" r:id="rId3" imgW="4510061" imgH="325238" progId="Word.Document.12">
                  <p:embed/>
                </p:oleObj>
              </mc:Choice>
              <mc:Fallback>
                <p:oleObj name="文档" r:id="rId3" imgW="4510061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18" y="2425452"/>
                        <a:ext cx="11430000" cy="82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203495"/>
            <a:ext cx="11533103" cy="1729083"/>
            <a:chOff x="381000" y="47723"/>
            <a:chExt cx="11533103" cy="172908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772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的通项公式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8167699"/>
                </p:ext>
              </p:extLst>
            </p:nvPr>
          </p:nvGraphicFramePr>
          <p:xfrm>
            <a:off x="484103" y="1175376"/>
            <a:ext cx="11430000" cy="601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3" name="文档" r:id="rId3" imgW="4520786" imgH="237877" progId="Word.Document.12">
                    <p:embed/>
                  </p:oleObj>
                </mc:Choice>
                <mc:Fallback>
                  <p:oleObj name="文档" r:id="rId3" imgW="4520786" imgH="2378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103" y="1175376"/>
                          <a:ext cx="11430000" cy="6014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81000" y="1891388"/>
            <a:ext cx="11533103" cy="4230642"/>
            <a:chOff x="381000" y="1974516"/>
            <a:chExt cx="11533103" cy="423064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1974516"/>
              <a:ext cx="5389617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的公差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2333877"/>
                </p:ext>
              </p:extLst>
            </p:nvPr>
          </p:nvGraphicFramePr>
          <p:xfrm>
            <a:off x="484103" y="2581237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4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4103" y="2581237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81000" y="3535106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的通项公式为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是首项为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公比为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的等比数列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0575998"/>
                </p:ext>
              </p:extLst>
            </p:nvPr>
          </p:nvGraphicFramePr>
          <p:xfrm>
            <a:off x="484103" y="5201861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5" name="文档" r:id="rId7" imgW="4510061" imgH="397147" progId="Word.Document.12">
                    <p:embed/>
                  </p:oleObj>
                </mc:Choice>
                <mc:Fallback>
                  <p:oleObj name="文档" r:id="rId7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4103" y="5201861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466</TotalTime>
  <Words>1924</Words>
  <Application>Microsoft Office PowerPoint</Application>
  <PresentationFormat>宽屏</PresentationFormat>
  <Paragraphs>146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37</cp:revision>
  <dcterms:created xsi:type="dcterms:W3CDTF">2021-08-30T08:30:26Z</dcterms:created>
  <dcterms:modified xsi:type="dcterms:W3CDTF">2025-08-01T06:09:05Z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