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677" r:id="rId2"/>
    <p:sldId id="488" r:id="rId3"/>
    <p:sldId id="494" r:id="rId4"/>
    <p:sldId id="392" r:id="rId5"/>
    <p:sldId id="686" r:id="rId6"/>
    <p:sldId id="687" r:id="rId7"/>
    <p:sldId id="688" r:id="rId8"/>
    <p:sldId id="689" r:id="rId9"/>
    <p:sldId id="759" r:id="rId10"/>
    <p:sldId id="690" r:id="rId11"/>
    <p:sldId id="691" r:id="rId12"/>
    <p:sldId id="692" r:id="rId13"/>
    <p:sldId id="693" r:id="rId14"/>
    <p:sldId id="694" r:id="rId15"/>
    <p:sldId id="695" r:id="rId16"/>
    <p:sldId id="407" r:id="rId17"/>
    <p:sldId id="394" r:id="rId18"/>
    <p:sldId id="699" r:id="rId19"/>
    <p:sldId id="700" r:id="rId20"/>
    <p:sldId id="701" r:id="rId21"/>
    <p:sldId id="702" r:id="rId22"/>
    <p:sldId id="402" r:id="rId23"/>
    <p:sldId id="712" r:id="rId24"/>
    <p:sldId id="713" r:id="rId25"/>
    <p:sldId id="714" r:id="rId26"/>
    <p:sldId id="715" r:id="rId27"/>
    <p:sldId id="719" r:id="rId28"/>
    <p:sldId id="720" r:id="rId29"/>
    <p:sldId id="498" r:id="rId30"/>
    <p:sldId id="730" r:id="rId31"/>
    <p:sldId id="733" r:id="rId32"/>
    <p:sldId id="743" r:id="rId33"/>
    <p:sldId id="744" r:id="rId34"/>
    <p:sldId id="741" r:id="rId35"/>
    <p:sldId id="738" r:id="rId36"/>
    <p:sldId id="751" r:id="rId37"/>
    <p:sldId id="398" r:id="rId38"/>
    <p:sldId id="395" r:id="rId39"/>
    <p:sldId id="756" r:id="rId40"/>
    <p:sldId id="757" r:id="rId41"/>
    <p:sldId id="490"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79" userDrawn="1">
          <p15:clr>
            <a:srgbClr val="A4A3A4"/>
          </p15:clr>
        </p15:guide>
        <p15:guide id="3" orient="horz" pos="414" userDrawn="1">
          <p15:clr>
            <a:srgbClr val="A4A3A4"/>
          </p15:clr>
        </p15:guide>
        <p15:guide id="4" orient="horz" pos="777" userDrawn="1">
          <p15:clr>
            <a:srgbClr val="A4A3A4"/>
          </p15:clr>
        </p15:guide>
        <p15:guide id="5" orient="horz" pos="28" userDrawn="1">
          <p15:clr>
            <a:srgbClr val="A4A3A4"/>
          </p15:clr>
        </p15:guide>
        <p15:guide id="6"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79"/>
        <p:guide orient="horz" pos="414"/>
        <p:guide orient="horz" pos="777"/>
        <p:guide orient="horz" pos="28"/>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7.xml"/><Relationship Id="rId1" Type="http://schemas.openxmlformats.org/officeDocument/2006/relationships/slideMaster" Target="../slideMasters/slideMaster1.xml"/><Relationship Id="rId5" Type="http://schemas.openxmlformats.org/officeDocument/2006/relationships/slide" Target="../slides/slide34.xml"/><Relationship Id="rId4" Type="http://schemas.openxmlformats.org/officeDocument/2006/relationships/slide" Target="../slides/slide2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9268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931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595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1258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package" Target="../embeddings/Microsoft_Word___6.docx"/><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2.emf"/><Relationship Id="rId5" Type="http://schemas.openxmlformats.org/officeDocument/2006/relationships/package" Target="../embeddings/Microsoft_Word___10.docx"/><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15.docx"/><Relationship Id="rId7"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package" Target="../embeddings/Microsoft_Word___16.docx"/><Relationship Id="rId5" Type="http://schemas.openxmlformats.org/officeDocument/2006/relationships/image" Target="../media/image19.jpeg"/><Relationship Id="rId4" Type="http://schemas.openxmlformats.org/officeDocument/2006/relationships/image" Target="../media/image17.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17.docx"/><Relationship Id="rId7"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2.emf"/><Relationship Id="rId5" Type="http://schemas.openxmlformats.org/officeDocument/2006/relationships/package" Target="../embeddings/Microsoft_Word___18.docx"/><Relationship Id="rId4" Type="http://schemas.openxmlformats.org/officeDocument/2006/relationships/image" Target="../media/image21.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25.emf"/><Relationship Id="rId5" Type="http://schemas.openxmlformats.org/officeDocument/2006/relationships/package" Target="../embeddings/Microsoft_Word___20.docx"/><Relationship Id="rId4" Type="http://schemas.openxmlformats.org/officeDocument/2006/relationships/image" Target="../media/image24.emf"/></Relationships>
</file>

<file path=ppt/slides/_rels/slide39.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package" Target="../embeddings/Microsoft_Word___21.docx"/><Relationship Id="rId7" Type="http://schemas.openxmlformats.org/officeDocument/2006/relationships/package" Target="../embeddings/Microsoft_Word___23.docx"/><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27.emf"/><Relationship Id="rId5" Type="http://schemas.openxmlformats.org/officeDocument/2006/relationships/package" Target="../embeddings/Microsoft_Word___22.docx"/><Relationship Id="rId4" Type="http://schemas.openxmlformats.org/officeDocument/2006/relationships/image" Target="../media/image26.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30.emf"/><Relationship Id="rId5" Type="http://schemas.openxmlformats.org/officeDocument/2006/relationships/package" Target="../embeddings/Microsoft_Word___25.docx"/><Relationship Id="rId4" Type="http://schemas.openxmlformats.org/officeDocument/2006/relationships/image" Target="../media/image29.emf"/></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1</a:t>
              </a:r>
              <a:r>
                <a:rPr lang="zh-CN" altLang="en-US" sz="3600" b="1" dirty="0">
                  <a:solidFill>
                    <a:schemeClr val="bg1"/>
                  </a:solidFill>
                  <a:latin typeface="华文细黑" panose="02010600040101010101" charset="-122"/>
                  <a:ea typeface="华文细黑" panose="02010600040101010101" charset="-122"/>
                </a:rPr>
                <a:t>课时　数列的概念与通项公式</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第四章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4.1</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4" name="矩形 3"/>
          <p:cNvSpPr>
            <a:spLocks noChangeAspect="1"/>
          </p:cNvSpPr>
          <p:nvPr/>
        </p:nvSpPr>
        <p:spPr>
          <a:xfrm>
            <a:off x="381000" y="1241726"/>
            <a:ext cx="11430000" cy="172053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掌握数列的概念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了解数列的分类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掌握数列的通项公式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理解数列与函数之间的关系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提升数学抽象能力与数学建模的能力</a:t>
            </a:r>
            <a:r>
              <a:rPr lang="en-US" altLang="zh-CN" sz="2800"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32952" y="292175"/>
            <a:ext cx="11778048" cy="5461483"/>
            <a:chOff x="32952" y="697424"/>
            <a:chExt cx="11778048" cy="5461483"/>
          </a:xfrm>
        </p:grpSpPr>
        <p:sp>
          <p:nvSpPr>
            <p:cNvPr id="2" name="矩形 1"/>
            <p:cNvSpPr>
              <a:spLocks noChangeAspect="1"/>
            </p:cNvSpPr>
            <p:nvPr/>
          </p:nvSpPr>
          <p:spPr>
            <a:xfrm>
              <a:off x="381000" y="697424"/>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一、数列及其有关概念</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观察下面的数字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cs typeface="Times New Roman" panose="02020603050405020304" pitchFamily="18" charset="0"/>
                </a:rPr>
                <a:t>正偶数</a:t>
              </a:r>
              <a:r>
                <a:rPr lang="en-US" altLang="zh-CN" sz="2800" dirty="0">
                  <a:solidFill>
                    <a:srgbClr val="000000"/>
                  </a:solidFill>
                  <a:latin typeface="Times New Roman" panose="02020603050405020304" pitchFamily="18" charset="0"/>
                  <a:cs typeface="Times New Roman" panose="02020603050405020304" pitchFamily="18" charset="0"/>
                </a:rPr>
                <a:t>:2,4,6,8,</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53757744"/>
                </p:ext>
              </p:extLst>
            </p:nvPr>
          </p:nvGraphicFramePr>
          <p:xfrm>
            <a:off x="32952" y="2387089"/>
            <a:ext cx="11430000" cy="1003297"/>
          </p:xfrm>
          <a:graphic>
            <a:graphicData uri="http://schemas.openxmlformats.org/presentationml/2006/ole">
              <mc:AlternateContent xmlns:mc="http://schemas.openxmlformats.org/markup-compatibility/2006">
                <mc:Choice xmlns:v="urn:schemas-microsoft-com:vml" Requires="v">
                  <p:oleObj spid="_x0000_s3099"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2952" y="2387089"/>
                          <a:ext cx="11430000" cy="1003297"/>
                        </a:xfrm>
                        <a:prstGeom prst="rect">
                          <a:avLst/>
                        </a:prstGeom>
                      </p:spPr>
                    </p:pic>
                  </p:oleObj>
                </mc:Fallback>
              </mc:AlternateContent>
            </a:graphicData>
          </a:graphic>
        </p:graphicFrame>
        <p:sp>
          <p:nvSpPr>
            <p:cNvPr id="4" name="矩形 3"/>
            <p:cNvSpPr>
              <a:spLocks noChangeAspect="1"/>
            </p:cNvSpPr>
            <p:nvPr/>
          </p:nvSpPr>
          <p:spPr>
            <a:xfrm>
              <a:off x="381000" y="3265807"/>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cs typeface="Times New Roman" panose="02020603050405020304" pitchFamily="18" charset="0"/>
                </a:rPr>
                <a:t>人们在</a:t>
              </a:r>
              <a:r>
                <a:rPr lang="en-US" altLang="zh-CN" sz="2800" dirty="0">
                  <a:solidFill>
                    <a:srgbClr val="000000"/>
                  </a:solidFill>
                  <a:latin typeface="Times New Roman" panose="02020603050405020304" pitchFamily="18" charset="0"/>
                  <a:cs typeface="Times New Roman" panose="02020603050405020304" pitchFamily="18" charset="0"/>
                </a:rPr>
                <a:t>1740</a:t>
              </a:r>
              <a:r>
                <a:rPr lang="zh-CN" altLang="zh-CN" sz="2800" dirty="0">
                  <a:solidFill>
                    <a:srgbClr val="000000"/>
                  </a:solidFill>
                  <a:latin typeface="Times New Roman" panose="02020603050405020304" pitchFamily="18" charset="0"/>
                  <a:cs typeface="Times New Roman" panose="02020603050405020304" pitchFamily="18" charset="0"/>
                </a:rPr>
                <a:t>年发现了一颗彗星</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并推算出这颗彗星每隔</a:t>
              </a:r>
              <a:r>
                <a:rPr lang="en-US" altLang="zh-CN" sz="2800" dirty="0">
                  <a:solidFill>
                    <a:srgbClr val="000000"/>
                  </a:solidFill>
                  <a:latin typeface="Times New Roman" panose="02020603050405020304" pitchFamily="18" charset="0"/>
                  <a:cs typeface="Times New Roman" panose="02020603050405020304" pitchFamily="18" charset="0"/>
                </a:rPr>
                <a:t>83</a:t>
              </a:r>
              <a:r>
                <a:rPr lang="zh-CN" altLang="zh-CN" sz="2800" dirty="0">
                  <a:solidFill>
                    <a:srgbClr val="000000"/>
                  </a:solidFill>
                  <a:latin typeface="Times New Roman" panose="02020603050405020304" pitchFamily="18" charset="0"/>
                  <a:cs typeface="Times New Roman" panose="02020603050405020304" pitchFamily="18" charset="0"/>
                </a:rPr>
                <a:t>年出现一次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从发现那次算起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这颗彗星出现的年份为</a:t>
              </a:r>
              <a:r>
                <a:rPr lang="en-US" altLang="zh-CN" sz="2800" dirty="0">
                  <a:solidFill>
                    <a:srgbClr val="000000"/>
                  </a:solidFill>
                  <a:latin typeface="Times New Roman" panose="02020603050405020304" pitchFamily="18" charset="0"/>
                  <a:cs typeface="Times New Roman" panose="02020603050405020304" pitchFamily="18" charset="0"/>
                </a:rPr>
                <a:t>:1740</a:t>
              </a:r>
              <a:r>
                <a:rPr lang="zh-CN" altLang="zh-CN" sz="2800" dirty="0">
                  <a:solidFill>
                    <a:srgbClr val="000000"/>
                  </a:solidFill>
                  <a:latin typeface="Times New Roman" panose="02020603050405020304" pitchFamily="18" charset="0"/>
                  <a:cs typeface="Times New Roman" panose="02020603050405020304" pitchFamily="18" charset="0"/>
                </a:rPr>
                <a:t>年</a:t>
              </a:r>
              <a:r>
                <a:rPr lang="en-US" altLang="zh-CN" sz="2800" dirty="0">
                  <a:solidFill>
                    <a:srgbClr val="000000"/>
                  </a:solidFill>
                  <a:latin typeface="Times New Roman" panose="02020603050405020304" pitchFamily="18" charset="0"/>
                  <a:cs typeface="Times New Roman" panose="02020603050405020304" pitchFamily="18" charset="0"/>
                </a:rPr>
                <a:t>,1823</a:t>
              </a:r>
              <a:r>
                <a:rPr lang="zh-CN" altLang="zh-CN" sz="2800" dirty="0">
                  <a:solidFill>
                    <a:srgbClr val="000000"/>
                  </a:solidFill>
                  <a:latin typeface="Times New Roman" panose="02020603050405020304" pitchFamily="18" charset="0"/>
                  <a:cs typeface="Times New Roman" panose="02020603050405020304" pitchFamily="18" charset="0"/>
                </a:rPr>
                <a:t>年</a:t>
              </a:r>
              <a:r>
                <a:rPr lang="en-US" altLang="zh-CN" sz="2800" dirty="0">
                  <a:solidFill>
                    <a:srgbClr val="000000"/>
                  </a:solidFill>
                  <a:latin typeface="Times New Roman" panose="02020603050405020304" pitchFamily="18" charset="0"/>
                  <a:cs typeface="Times New Roman" panose="02020603050405020304" pitchFamily="18" charset="0"/>
                </a:rPr>
                <a:t>,1906</a:t>
              </a:r>
              <a:r>
                <a:rPr lang="zh-CN" altLang="zh-CN" sz="2800" dirty="0">
                  <a:solidFill>
                    <a:srgbClr val="000000"/>
                  </a:solidFill>
                  <a:latin typeface="Times New Roman" panose="02020603050405020304" pitchFamily="18" charset="0"/>
                  <a:cs typeface="Times New Roman" panose="02020603050405020304" pitchFamily="18" charset="0"/>
                </a:rPr>
                <a:t>年</a:t>
              </a:r>
              <a:r>
                <a:rPr lang="en-US" altLang="zh-CN" sz="2800" dirty="0">
                  <a:solidFill>
                    <a:srgbClr val="000000"/>
                  </a:solidFill>
                  <a:latin typeface="Times New Roman" panose="02020603050405020304" pitchFamily="18" charset="0"/>
                  <a:cs typeface="Times New Roman" panose="02020603050405020304" pitchFamily="18" charset="0"/>
                </a:rPr>
                <a:t>,1989</a:t>
              </a:r>
              <a:r>
                <a:rPr lang="zh-CN" altLang="zh-CN" sz="2800" dirty="0">
                  <a:solidFill>
                    <a:srgbClr val="000000"/>
                  </a:solidFill>
                  <a:latin typeface="Times New Roman" panose="02020603050405020304" pitchFamily="18" charset="0"/>
                  <a:cs typeface="Times New Roman" panose="02020603050405020304" pitchFamily="18" charset="0"/>
                </a:rPr>
                <a:t>年</a:t>
              </a:r>
              <a:r>
                <a:rPr lang="en-US" altLang="zh-CN" sz="2800" dirty="0">
                  <a:solidFill>
                    <a:srgbClr val="000000"/>
                  </a:solidFill>
                  <a:latin typeface="Times New Roman" panose="02020603050405020304" pitchFamily="18" charset="0"/>
                  <a:cs typeface="Times New Roman" panose="02020603050405020304" pitchFamily="18" charset="0"/>
                </a:rPr>
                <a:t>,2072</a:t>
              </a:r>
              <a:r>
                <a:rPr lang="zh-CN" altLang="zh-CN" sz="2800" dirty="0">
                  <a:solidFill>
                    <a:srgbClr val="000000"/>
                  </a:solidFill>
                  <a:latin typeface="Times New Roman" panose="02020603050405020304" pitchFamily="18" charset="0"/>
                  <a:cs typeface="Times New Roman" panose="02020603050405020304" pitchFamily="18" charset="0"/>
                </a:rPr>
                <a:t>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④</a:t>
              </a:r>
              <a:r>
                <a:rPr lang="zh-CN" altLang="zh-CN" sz="2800" dirty="0">
                  <a:solidFill>
                    <a:srgbClr val="000000"/>
                  </a:solidFill>
                  <a:latin typeface="Times New Roman" panose="02020603050405020304" pitchFamily="18" charset="0"/>
                  <a:cs typeface="Times New Roman" panose="02020603050405020304" pitchFamily="18" charset="0"/>
                </a:rPr>
                <a:t>从</a:t>
              </a:r>
              <a:r>
                <a:rPr lang="en-US" altLang="zh-CN" sz="2800" dirty="0">
                  <a:solidFill>
                    <a:srgbClr val="000000"/>
                  </a:solidFill>
                  <a:latin typeface="Times New Roman" panose="02020603050405020304" pitchFamily="18" charset="0"/>
                  <a:cs typeface="Times New Roman" panose="02020603050405020304" pitchFamily="18" charset="0"/>
                </a:rPr>
                <a:t>1984</a:t>
              </a:r>
              <a:r>
                <a:rPr lang="zh-CN" altLang="zh-CN" sz="2800" dirty="0">
                  <a:solidFill>
                    <a:srgbClr val="000000"/>
                  </a:solidFill>
                  <a:latin typeface="Times New Roman" panose="02020603050405020304" pitchFamily="18" charset="0"/>
                  <a:cs typeface="Times New Roman" panose="02020603050405020304" pitchFamily="18" charset="0"/>
                </a:rPr>
                <a:t>年到</a:t>
              </a:r>
              <a:r>
                <a:rPr lang="en-US" altLang="zh-CN" sz="2800" dirty="0">
                  <a:solidFill>
                    <a:srgbClr val="000000"/>
                  </a:solidFill>
                  <a:latin typeface="Times New Roman" panose="02020603050405020304" pitchFamily="18" charset="0"/>
                  <a:cs typeface="Times New Roman" panose="02020603050405020304" pitchFamily="18" charset="0"/>
                </a:rPr>
                <a:t>2022</a:t>
              </a:r>
              <a:r>
                <a:rPr lang="zh-CN" altLang="zh-CN" sz="2800" dirty="0">
                  <a:solidFill>
                    <a:srgbClr val="000000"/>
                  </a:solidFill>
                  <a:latin typeface="Times New Roman" panose="02020603050405020304" pitchFamily="18" charset="0"/>
                  <a:cs typeface="Times New Roman" panose="02020603050405020304" pitchFamily="18" charset="0"/>
                </a:rPr>
                <a:t>年我国共参加了</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次夏季奥林匹克运动会</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各次参赛获得的金牌总数依次为</a:t>
              </a:r>
              <a:r>
                <a:rPr lang="en-US" altLang="zh-CN" sz="2800" dirty="0">
                  <a:solidFill>
                    <a:srgbClr val="000000"/>
                  </a:solidFill>
                  <a:latin typeface="Times New Roman" panose="02020603050405020304" pitchFamily="18" charset="0"/>
                  <a:cs typeface="Times New Roman" panose="02020603050405020304" pitchFamily="18" charset="0"/>
                </a:rPr>
                <a:t>:15,5,16,16,28,32,48,38,26,38</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719636"/>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它们</a:t>
            </a:r>
            <a:r>
              <a:rPr lang="zh-CN" altLang="zh-CN" sz="2800" dirty="0">
                <a:solidFill>
                  <a:srgbClr val="000000"/>
                </a:solidFill>
                <a:latin typeface="Times New Roman" panose="02020603050405020304" pitchFamily="18" charset="0"/>
                <a:cs typeface="Times New Roman" panose="02020603050405020304" pitchFamily="18" charset="0"/>
              </a:rPr>
              <a:t>有什么共同特点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它们都是按一定顺序排列着的一列数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上述各组数字能交换次序排列吗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667616"/>
            <a:ext cx="11430000" cy="401340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数列</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一般地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我们把按照确定的</a:t>
            </a:r>
            <a:r>
              <a:rPr lang="zh-CN" altLang="zh-CN" sz="2800" dirty="0">
                <a:solidFill>
                  <a:srgbClr val="FF0000"/>
                </a:solidFill>
                <a:latin typeface="Times New Roman" panose="02020603050405020304" pitchFamily="18" charset="0"/>
                <a:cs typeface="Times New Roman" panose="02020603050405020304" pitchFamily="18" charset="0"/>
              </a:rPr>
              <a:t>顺序</a:t>
            </a:r>
            <a:r>
              <a:rPr lang="zh-CN" altLang="zh-CN" sz="2800" dirty="0">
                <a:solidFill>
                  <a:srgbClr val="000000"/>
                </a:solidFill>
                <a:latin typeface="Times New Roman" panose="02020603050405020304" pitchFamily="18" charset="0"/>
                <a:cs typeface="Times New Roman" panose="02020603050405020304" pitchFamily="18" charset="0"/>
              </a:rPr>
              <a:t>排列的一列数称为数列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数列的项</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数列中的</a:t>
            </a:r>
            <a:r>
              <a:rPr lang="zh-CN" altLang="zh-CN" sz="2800" dirty="0">
                <a:solidFill>
                  <a:srgbClr val="FF0000"/>
                </a:solidFill>
                <a:latin typeface="Times New Roman" panose="02020603050405020304" pitchFamily="18" charset="0"/>
                <a:cs typeface="Times New Roman" panose="02020603050405020304" pitchFamily="18" charset="0"/>
              </a:rPr>
              <a:t>每一个数</a:t>
            </a:r>
            <a:r>
              <a:rPr lang="zh-CN" altLang="zh-CN" sz="2800" dirty="0">
                <a:solidFill>
                  <a:srgbClr val="000000"/>
                </a:solidFill>
                <a:latin typeface="Times New Roman" panose="02020603050405020304" pitchFamily="18" charset="0"/>
                <a:cs typeface="Times New Roman" panose="02020603050405020304" pitchFamily="18" charset="0"/>
              </a:rPr>
              <a:t>叫做这个数列的项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数列的第一个位置上的数叫做这个数列的第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常用</a:t>
            </a:r>
            <a:r>
              <a:rPr lang="zh-CN" altLang="zh-CN" sz="2800" dirty="0" smtClean="0">
                <a:solidFill>
                  <a:srgbClr val="000000"/>
                </a:solidFill>
                <a:latin typeface="Times New Roman" panose="02020603050405020304" pitchFamily="18" charset="0"/>
                <a:cs typeface="Times New Roman" panose="02020603050405020304" pitchFamily="18" charset="0"/>
              </a:rPr>
              <a:t>符号</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a</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1 </a:t>
            </a:r>
            <a:r>
              <a:rPr lang="zh-CN" altLang="zh-CN" sz="2800" dirty="0" smtClean="0">
                <a:solidFill>
                  <a:srgbClr val="000000"/>
                </a:solidFill>
                <a:latin typeface="Times New Roman" panose="02020603050405020304" pitchFamily="18" charset="0"/>
                <a:cs typeface="Times New Roman" panose="02020603050405020304" pitchFamily="18" charset="0"/>
              </a:rPr>
              <a:t>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第二个位置上的数叫做这个数列的第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用</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a</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2 </a:t>
            </a:r>
            <a:r>
              <a:rPr lang="zh-CN" altLang="zh-CN" sz="2800" dirty="0" smtClean="0">
                <a:solidFill>
                  <a:srgbClr val="000000"/>
                </a:solidFill>
                <a:latin typeface="Times New Roman" panose="02020603050405020304" pitchFamily="18" charset="0"/>
                <a:cs typeface="Times New Roman" panose="02020603050405020304" pitchFamily="18" charset="0"/>
              </a:rPr>
              <a:t>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个位置上的数叫做这个数列的第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用</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表示</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其中第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项也叫做</a:t>
            </a:r>
            <a:r>
              <a:rPr lang="zh-CN" altLang="zh-CN" sz="2800" dirty="0">
                <a:solidFill>
                  <a:srgbClr val="FF0000"/>
                </a:solidFill>
                <a:latin typeface="Times New Roman" panose="02020603050405020304" pitchFamily="18" charset="0"/>
                <a:cs typeface="Times New Roman" panose="02020603050405020304" pitchFamily="18" charset="0"/>
              </a:rPr>
              <a:t>首项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4732735" y="1295834"/>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744375" y="1732794"/>
            <a:ext cx="706769"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2172913" y="2418053"/>
            <a:ext cx="142600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184612" y="2855013"/>
            <a:ext cx="1420008"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4313440" y="3004447"/>
            <a:ext cx="41929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4325139" y="3451798"/>
            <a:ext cx="417533"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1279294" y="3544774"/>
            <a:ext cx="41929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1290993" y="3992125"/>
            <a:ext cx="417533"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2415562" y="4070207"/>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2427202" y="4517558"/>
            <a:ext cx="70676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1"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2688"/>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数列的一般形式是</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简记为</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a</a:t>
            </a:r>
            <a:r>
              <a:rPr lang="en-US" altLang="zh-CN" sz="2800" i="1" baseline="-25000" dirty="0">
                <a:solidFill>
                  <a:srgbClr val="FF0000"/>
                </a:solidFill>
                <a:latin typeface="Times New Roman" panose="02020603050405020304" pitchFamily="18" charset="0"/>
                <a:cs typeface="Times New Roman" panose="02020603050405020304" pitchFamily="18" charset="0"/>
              </a:rPr>
              <a:t>n</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中的每一项</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n</a:t>
            </a:r>
            <a:r>
              <a:rPr lang="zh-CN" altLang="en-US" sz="2800" dirty="0">
                <a:solidFill>
                  <a:srgbClr val="000000"/>
                </a:solidFill>
                <a:latin typeface="Times New Roman" panose="02020603050405020304" pitchFamily="18" charset="0"/>
                <a:cs typeface="Times New Roman" panose="02020603050405020304" pitchFamily="18" charset="0"/>
              </a:rPr>
              <a:t>与</a:t>
            </a:r>
            <a:r>
              <a:rPr lang="zh-CN" altLang="zh-CN" sz="2800" dirty="0" smtClean="0">
                <a:solidFill>
                  <a:srgbClr val="000000"/>
                </a:solidFill>
                <a:latin typeface="Times New Roman" panose="02020603050405020304" pitchFamily="18" charset="0"/>
                <a:cs typeface="Times New Roman" panose="02020603050405020304" pitchFamily="18" charset="0"/>
              </a:rPr>
              <a:t>它</a:t>
            </a:r>
            <a:r>
              <a:rPr lang="zh-CN" altLang="zh-CN" sz="2800" dirty="0">
                <a:solidFill>
                  <a:srgbClr val="000000"/>
                </a:solidFill>
                <a:latin typeface="Times New Roman" panose="02020603050405020304" pitchFamily="18" charset="0"/>
                <a:cs typeface="Times New Roman" panose="02020603050405020304" pitchFamily="18" charset="0"/>
              </a:rPr>
              <a:t>的序号</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有下面的对应关系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a:spLocks noChangeAspect="1"/>
          </p:cNvSpPr>
          <p:nvPr/>
        </p:nvSpPr>
        <p:spPr>
          <a:xfrm>
            <a:off x="381000" y="3290492"/>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是从正整数</a:t>
            </a:r>
            <a:r>
              <a:rPr lang="zh-CN" altLang="zh-CN" sz="2800" dirty="0" smtClean="0">
                <a:solidFill>
                  <a:srgbClr val="000000"/>
                </a:solidFill>
                <a:latin typeface="Times New Roman" panose="02020603050405020304" pitchFamily="18" charset="0"/>
                <a:cs typeface="Times New Roman" panose="02020603050405020304" pitchFamily="18" charset="0"/>
              </a:rPr>
              <a:t>集</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b="1" dirty="0" smtClean="0">
                <a:solidFill>
                  <a:srgbClr val="FF0000"/>
                </a:solidFill>
                <a:latin typeface="Times New Roman" panose="02020603050405020304" pitchFamily="18" charset="0"/>
                <a:cs typeface="Times New Roman" panose="02020603050405020304" pitchFamily="18" charset="0"/>
              </a:rPr>
              <a:t>N</a:t>
            </a:r>
            <a:r>
              <a:rPr lang="en-US" altLang="zh-CN" sz="2800" i="1" baseline="30000" dirty="0" smtClean="0">
                <a:solidFill>
                  <a:srgbClr val="FF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或它的有限子集</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到实数集</a:t>
            </a:r>
            <a:r>
              <a:rPr lang="en-US" altLang="zh-CN" sz="2800" b="1" dirty="0">
                <a:solidFill>
                  <a:srgbClr val="000000"/>
                </a:solidFill>
                <a:latin typeface="Times New Roman" panose="02020603050405020304" pitchFamily="18" charset="0"/>
                <a:cs typeface="Times New Roman" panose="02020603050405020304" pitchFamily="18" charset="0"/>
              </a:rPr>
              <a:t>R</a:t>
            </a:r>
            <a:r>
              <a:rPr lang="zh-CN" altLang="zh-CN" sz="2800" dirty="0">
                <a:solidFill>
                  <a:srgbClr val="000000"/>
                </a:solidFill>
                <a:latin typeface="Times New Roman" panose="02020603050405020304" pitchFamily="18" charset="0"/>
                <a:cs typeface="Times New Roman" panose="02020603050405020304" pitchFamily="18" charset="0"/>
              </a:rPr>
              <a:t>的函数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其自变量是</a:t>
            </a:r>
            <a:r>
              <a:rPr lang="zh-CN" altLang="zh-CN" sz="2800" dirty="0" smtClean="0">
                <a:solidFill>
                  <a:srgbClr val="000000"/>
                </a:solidFill>
                <a:latin typeface="Times New Roman" panose="02020603050405020304" pitchFamily="18" charset="0"/>
                <a:cs typeface="Times New Roman" panose="02020603050405020304" pitchFamily="18" charset="0"/>
              </a:rPr>
              <a:t>序号</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n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对应的函数值是数列的第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记为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也就是说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当自变量从</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开始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按照从小到大的顺序依次取值时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对应的一列函数值</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就是数列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另一方面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对于函数</a:t>
            </a:r>
            <a:r>
              <a:rPr lang="en-US" altLang="zh-CN" sz="2800" i="1" dirty="0">
                <a:solidFill>
                  <a:srgbClr val="000000"/>
                </a:solidFill>
                <a:latin typeface="Times New Roman" panose="02020603050405020304" pitchFamily="18" charset="0"/>
                <a:cs typeface="Times New Roman" panose="02020603050405020304" pitchFamily="18" charset="0"/>
              </a:rPr>
              <a:t>y=f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有意义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构成了一个数列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与其他函数一样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数列也可以用</a:t>
            </a:r>
            <a:r>
              <a:rPr lang="zh-CN" altLang="zh-CN" sz="2800" dirty="0">
                <a:solidFill>
                  <a:srgbClr val="FF0000"/>
                </a:solidFill>
                <a:latin typeface="Times New Roman" panose="02020603050405020304" pitchFamily="18" charset="0"/>
                <a:cs typeface="Times New Roman" panose="02020603050405020304" pitchFamily="18" charset="0"/>
              </a:rPr>
              <a:t>表格</a:t>
            </a:r>
            <a:r>
              <a:rPr lang="zh-CN" altLang="zh-CN" sz="2800" dirty="0">
                <a:solidFill>
                  <a:srgbClr val="000000"/>
                </a:solidFill>
                <a:latin typeface="Times New Roman" panose="02020603050405020304" pitchFamily="18" charset="0"/>
                <a:cs typeface="Times New Roman" panose="02020603050405020304" pitchFamily="18" charset="0"/>
              </a:rPr>
              <a:t>和</a:t>
            </a:r>
            <a:r>
              <a:rPr lang="zh-CN" altLang="zh-CN" sz="2800" dirty="0">
                <a:solidFill>
                  <a:srgbClr val="FF0000"/>
                </a:solidFill>
                <a:latin typeface="Times New Roman" panose="02020603050405020304" pitchFamily="18" charset="0"/>
                <a:cs typeface="Times New Roman" panose="02020603050405020304" pitchFamily="18" charset="0"/>
              </a:rPr>
              <a:t>图象</a:t>
            </a:r>
            <a:r>
              <a:rPr lang="zh-CN" altLang="zh-CN" sz="2800" dirty="0">
                <a:solidFill>
                  <a:srgbClr val="000000"/>
                </a:solidFill>
                <a:latin typeface="Times New Roman" panose="02020603050405020304" pitchFamily="18" charset="0"/>
                <a:cs typeface="Times New Roman" panose="02020603050405020304" pitchFamily="18" charset="0"/>
              </a:rPr>
              <a:t>来表示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4" name="矩形 3"/>
          <p:cNvSpPr/>
          <p:nvPr/>
        </p:nvSpPr>
        <p:spPr>
          <a:xfrm>
            <a:off x="7517500" y="163547"/>
            <a:ext cx="608192"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7529139" y="600507"/>
            <a:ext cx="605637"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4992509" y="3374337"/>
            <a:ext cx="44193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4993757" y="3800906"/>
            <a:ext cx="440081"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140455" y="3914664"/>
            <a:ext cx="31724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152094" y="4351624"/>
            <a:ext cx="315912"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5454620" y="6146176"/>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5466260" y="6583136"/>
            <a:ext cx="706769" cy="0"/>
          </a:xfrm>
          <a:prstGeom prst="line">
            <a:avLst/>
          </a:prstGeom>
        </p:spPr>
        <p:style>
          <a:lnRef idx="2">
            <a:schemeClr val="dk1"/>
          </a:lnRef>
          <a:fillRef idx="0">
            <a:schemeClr val="dk1"/>
          </a:fillRef>
          <a:effectRef idx="1">
            <a:schemeClr val="dk1"/>
          </a:effectRef>
          <a:fontRef idx="minor">
            <a:schemeClr val="tx1"/>
          </a:fontRef>
        </p:style>
      </p:cxnSp>
      <p:pic>
        <p:nvPicPr>
          <p:cNvPr id="16" name="图片 15"/>
          <p:cNvPicPr>
            <a:picLocks noChangeAspect="1"/>
          </p:cNvPicPr>
          <p:nvPr/>
        </p:nvPicPr>
        <p:blipFill>
          <a:blip r:embed="rId2">
            <a:clrChange>
              <a:clrFrom>
                <a:srgbClr val="FFFFFF"/>
              </a:clrFrom>
              <a:clrTo>
                <a:srgbClr val="FFFFFF">
                  <a:alpha val="0"/>
                </a:srgbClr>
              </a:clrTo>
            </a:clrChange>
          </a:blip>
          <a:stretch>
            <a:fillRect/>
          </a:stretch>
        </p:blipFill>
        <p:spPr>
          <a:xfrm>
            <a:off x="2114120" y="1341855"/>
            <a:ext cx="7963761" cy="1850166"/>
          </a:xfrm>
          <a:prstGeom prst="rect">
            <a:avLst/>
          </a:prstGeom>
        </p:spPr>
      </p:pic>
      <p:sp>
        <p:nvSpPr>
          <p:cNvPr id="18" name="矩形 17"/>
          <p:cNvSpPr/>
          <p:nvPr/>
        </p:nvSpPr>
        <p:spPr>
          <a:xfrm>
            <a:off x="6524884" y="6146176"/>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6536524" y="6583136"/>
            <a:ext cx="70676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4"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17" name="矩形 16"/>
          <p:cNvSpPr>
            <a:spLocks noChangeAspect="1"/>
          </p:cNvSpPr>
          <p:nvPr/>
        </p:nvSpPr>
        <p:spPr>
          <a:xfrm>
            <a:off x="381000" y="1641991"/>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数列的单调性</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cs typeface="Times New Roman" panose="02020603050405020304" pitchFamily="18" charset="0"/>
              </a:rPr>
              <a:t>递增数列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从第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项起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每一项都</a:t>
            </a:r>
            <a:r>
              <a:rPr lang="zh-CN" altLang="zh-CN" sz="2800" dirty="0">
                <a:solidFill>
                  <a:srgbClr val="FF0000"/>
                </a:solidFill>
                <a:latin typeface="Times New Roman" panose="02020603050405020304" pitchFamily="18" charset="0"/>
                <a:cs typeface="Times New Roman" panose="02020603050405020304" pitchFamily="18" charset="0"/>
              </a:rPr>
              <a:t>大于</a:t>
            </a:r>
            <a:r>
              <a:rPr lang="zh-CN" altLang="zh-CN" sz="2800" dirty="0">
                <a:solidFill>
                  <a:srgbClr val="000000"/>
                </a:solidFill>
                <a:latin typeface="Times New Roman" panose="02020603050405020304" pitchFamily="18" charset="0"/>
                <a:cs typeface="Times New Roman" panose="02020603050405020304" pitchFamily="18" charset="0"/>
              </a:rPr>
              <a:t>它的前一项的数列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递减数列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从第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项起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每一项都</a:t>
            </a:r>
            <a:r>
              <a:rPr lang="zh-CN" altLang="zh-CN" sz="2800" dirty="0">
                <a:solidFill>
                  <a:srgbClr val="FF0000"/>
                </a:solidFill>
                <a:latin typeface="Times New Roman" panose="02020603050405020304" pitchFamily="18" charset="0"/>
                <a:cs typeface="Times New Roman" panose="02020603050405020304" pitchFamily="18" charset="0"/>
              </a:rPr>
              <a:t>小于</a:t>
            </a:r>
            <a:r>
              <a:rPr lang="zh-CN" altLang="zh-CN" sz="2800" dirty="0">
                <a:solidFill>
                  <a:srgbClr val="000000"/>
                </a:solidFill>
                <a:latin typeface="Times New Roman" panose="02020603050405020304" pitchFamily="18" charset="0"/>
                <a:cs typeface="Times New Roman" panose="02020603050405020304" pitchFamily="18" charset="0"/>
              </a:rPr>
              <a:t>它的前一项的数列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cs typeface="Times New Roman" panose="02020603050405020304" pitchFamily="18" charset="0"/>
              </a:rPr>
              <a:t>常数列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各项都</a:t>
            </a:r>
            <a:r>
              <a:rPr lang="zh-CN" altLang="zh-CN" sz="2800" dirty="0">
                <a:solidFill>
                  <a:srgbClr val="FF0000"/>
                </a:solidFill>
                <a:latin typeface="Times New Roman" panose="02020603050405020304" pitchFamily="18" charset="0"/>
                <a:cs typeface="Times New Roman" panose="02020603050405020304" pitchFamily="18" charset="0"/>
              </a:rPr>
              <a:t>相等</a:t>
            </a:r>
            <a:r>
              <a:rPr lang="zh-CN" altLang="zh-CN" sz="2800" dirty="0">
                <a:solidFill>
                  <a:srgbClr val="000000"/>
                </a:solidFill>
                <a:latin typeface="Times New Roman" panose="02020603050405020304" pitchFamily="18" charset="0"/>
                <a:cs typeface="Times New Roman" panose="02020603050405020304" pitchFamily="18" charset="0"/>
              </a:rPr>
              <a:t>的数列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20" name="矩形 19"/>
          <p:cNvSpPr/>
          <p:nvPr/>
        </p:nvSpPr>
        <p:spPr>
          <a:xfrm>
            <a:off x="5738926" y="2283291"/>
            <a:ext cx="69477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5740312" y="2699469"/>
            <a:ext cx="691857"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5738926" y="2834009"/>
            <a:ext cx="69477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5750703" y="3250187"/>
            <a:ext cx="691857"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3349017" y="3374337"/>
            <a:ext cx="69477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3360794" y="3811297"/>
            <a:ext cx="69185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603879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2"/>
                                        </p:tgtEl>
                                      </p:cBhvr>
                                    </p:animEffect>
                                    <p:set>
                                      <p:cBhvr>
                                        <p:cTn id="12" dur="1" fill="hold">
                                          <p:stCondLst>
                                            <p:cond delay="499"/>
                                          </p:stCondLst>
                                        </p:cTn>
                                        <p:tgtEl>
                                          <p:spTgt spid="2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24"/>
                                        </p:tgtEl>
                                      </p:cBhvr>
                                    </p:animEffect>
                                    <p:set>
                                      <p:cBhvr>
                                        <p:cTn id="17"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1241726"/>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二、数列的分类</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如果组成两个数列的数相同但排列顺序不同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那么它们是否为同一数列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不是同一数列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有没有各项都为同一个数的数列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arn(inVertic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133195"/>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数列的分类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按项数分类</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26551631"/>
              </p:ext>
            </p:extLst>
          </p:nvPr>
        </p:nvGraphicFramePr>
        <p:xfrm>
          <a:off x="381000" y="2438223"/>
          <a:ext cx="11430000" cy="3017177"/>
        </p:xfrm>
        <a:graphic>
          <a:graphicData uri="http://schemas.openxmlformats.org/presentationml/2006/ole">
            <mc:AlternateContent xmlns:mc="http://schemas.openxmlformats.org/markup-compatibility/2006">
              <mc:Choice xmlns:v="urn:schemas-microsoft-com:vml" Requires="v">
                <p:oleObj spid="_x0000_s4149" name="文档" r:id="rId3" imgW="4520786" imgH="1193352" progId="Word.Document.12">
                  <p:embed/>
                </p:oleObj>
              </mc:Choice>
              <mc:Fallback>
                <p:oleObj name="文档" r:id="rId3" imgW="4520786" imgH="1193352" progId="Word.Document.12">
                  <p:embed/>
                  <p:pic>
                    <p:nvPicPr>
                      <p:cNvPr id="0" name=""/>
                      <p:cNvPicPr/>
                      <p:nvPr/>
                    </p:nvPicPr>
                    <p:blipFill>
                      <a:blip r:embed="rId4"/>
                      <a:stretch>
                        <a:fillRect/>
                      </a:stretch>
                    </p:blipFill>
                    <p:spPr>
                      <a:xfrm>
                        <a:off x="381000" y="2438223"/>
                        <a:ext cx="11430000" cy="3017177"/>
                      </a:xfrm>
                      <a:prstGeom prst="rect">
                        <a:avLst/>
                      </a:prstGeom>
                    </p:spPr>
                  </p:pic>
                </p:oleObj>
              </mc:Fallback>
            </mc:AlternateContent>
          </a:graphicData>
        </a:graphic>
      </p:graphicFrame>
      <p:sp>
        <p:nvSpPr>
          <p:cNvPr id="6" name="矩形 5"/>
          <p:cNvSpPr/>
          <p:nvPr/>
        </p:nvSpPr>
        <p:spPr>
          <a:xfrm>
            <a:off x="5593780" y="3210849"/>
            <a:ext cx="69177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604171" y="3852944"/>
            <a:ext cx="69177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21718"/>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下列叙述不正确的是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1,3,5,7</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Times New Roman" panose="02020603050405020304" pitchFamily="18" charset="0"/>
                <a:cs typeface="Times New Roman" panose="02020603050405020304" pitchFamily="18" charset="0"/>
              </a:rPr>
              <a:t>7,5,3,1</a:t>
            </a:r>
            <a:r>
              <a:rPr lang="zh-CN" altLang="zh-CN" sz="2800" dirty="0">
                <a:solidFill>
                  <a:srgbClr val="000000"/>
                </a:solidFill>
                <a:latin typeface="Times New Roman" panose="02020603050405020304" pitchFamily="18" charset="0"/>
                <a:cs typeface="Times New Roman" panose="02020603050405020304" pitchFamily="18" charset="0"/>
              </a:rPr>
              <a:t>是相同的数列</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0,1,2,3,</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可以表示为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0,1,0,1,</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是常数列</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68577424"/>
              </p:ext>
            </p:extLst>
          </p:nvPr>
        </p:nvGraphicFramePr>
        <p:xfrm>
          <a:off x="43248" y="2374572"/>
          <a:ext cx="11430000" cy="1003297"/>
        </p:xfrm>
        <a:graphic>
          <a:graphicData uri="http://schemas.openxmlformats.org/presentationml/2006/ole">
            <mc:AlternateContent xmlns:mc="http://schemas.openxmlformats.org/markup-compatibility/2006">
              <mc:Choice xmlns:v="urn:schemas-microsoft-com:vml" Requires="v">
                <p:oleObj spid="_x0000_s5149"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248" y="2374572"/>
                        <a:ext cx="11430000" cy="1003297"/>
                      </a:xfrm>
                      <a:prstGeom prst="rect">
                        <a:avLst/>
                      </a:prstGeom>
                    </p:spPr>
                  </p:pic>
                </p:oleObj>
              </mc:Fallback>
            </mc:AlternateContent>
          </a:graphicData>
        </a:graphic>
      </p:graphicFrame>
      <p:sp>
        <p:nvSpPr>
          <p:cNvPr id="4" name="矩形 3"/>
          <p:cNvSpPr>
            <a:spLocks noChangeAspect="1"/>
          </p:cNvSpPr>
          <p:nvPr/>
        </p:nvSpPr>
        <p:spPr>
          <a:xfrm>
            <a:off x="381000" y="3249254"/>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数列中的项是有顺序的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中数列应为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各项都相等的数列为常数列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中数列不是常数列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ABC</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ABC</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51754"/>
            <a:ext cx="11430000" cy="5848139"/>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三、数列的通项公式</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【问题思考】</a:t>
            </a:r>
            <a:endParaRPr lang="zh-CN" altLang="zh-CN" sz="2800" dirty="0">
              <a:solidFill>
                <a:srgbClr val="000000"/>
              </a:solidFill>
              <a:effectLst/>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观察第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一、数列及其有关概念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NEU-BZ-S92"/>
                <a:cs typeface="宋体" panose="02010600030101010101" pitchFamily="2" charset="-122"/>
              </a:rPr>
              <a:t>①②③④</a:t>
            </a:r>
            <a:r>
              <a:rPr lang="zh-CN" altLang="zh-CN" sz="2800" dirty="0">
                <a:solidFill>
                  <a:srgbClr val="000000"/>
                </a:solidFill>
                <a:latin typeface="Times New Roman" panose="02020603050405020304" pitchFamily="18" charset="0"/>
                <a:cs typeface="Times New Roman" panose="02020603050405020304" pitchFamily="18" charset="0"/>
              </a:rPr>
              <a:t>中的数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每组中的数与这个数的序号之间的对应关系是函数关系吗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如何表示这种对应关系呢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因为每个数与这个数的序号之间是一一对应关系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符合函数的定义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所以这种对应关系是函数关系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①</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中函数关系可表示为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中函数关系可表示为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中函数关系可表示为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83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657(</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④</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中函数关系可表示为</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81970843"/>
              </p:ext>
            </p:extLst>
          </p:nvPr>
        </p:nvGraphicFramePr>
        <p:xfrm>
          <a:off x="4603483" y="3887917"/>
          <a:ext cx="651711" cy="762537"/>
        </p:xfrm>
        <a:graphic>
          <a:graphicData uri="http://schemas.openxmlformats.org/presentationml/2006/ole">
            <mc:AlternateContent xmlns:mc="http://schemas.openxmlformats.org/markup-compatibility/2006">
              <mc:Choice xmlns:v="urn:schemas-microsoft-com:vml" Requires="v">
                <p:oleObj spid="_x0000_s2075" name="文档" r:id="rId3" imgW="348002" imgH="397544" progId="Word.Document.12">
                  <p:embed/>
                </p:oleObj>
              </mc:Choice>
              <mc:Fallback>
                <p:oleObj name="文档" r:id="rId3" imgW="348002" imgH="397544" progId="Word.Document.12">
                  <p:embed/>
                  <p:pic>
                    <p:nvPicPr>
                      <p:cNvPr id="0" name=""/>
                      <p:cNvPicPr/>
                      <p:nvPr/>
                    </p:nvPicPr>
                    <p:blipFill>
                      <a:blip r:embed="rId4"/>
                      <a:stretch>
                        <a:fillRect/>
                      </a:stretch>
                    </p:blipFill>
                    <p:spPr>
                      <a:xfrm>
                        <a:off x="4603483" y="3887917"/>
                        <a:ext cx="651711" cy="762537"/>
                      </a:xfrm>
                      <a:prstGeom prst="rect">
                        <a:avLst/>
                      </a:prstGeom>
                    </p:spPr>
                  </p:pic>
                </p:oleObj>
              </mc:Fallback>
            </mc:AlternateContent>
          </a:graphicData>
        </a:graphic>
      </p:graphicFrame>
      <p:graphicFrame>
        <p:nvGraphicFramePr>
          <p:cNvPr id="5" name="表格 4"/>
          <p:cNvGraphicFramePr>
            <a:graphicFrameLocks noGrp="1" noChangeAspect="1"/>
          </p:cNvGraphicFramePr>
          <p:nvPr>
            <p:extLst>
              <p:ext uri="{D42A27DB-BD31-4B8C-83A1-F6EECF244321}">
                <p14:modId xmlns:p14="http://schemas.microsoft.com/office/powerpoint/2010/main" val="4081567303"/>
              </p:ext>
            </p:extLst>
          </p:nvPr>
        </p:nvGraphicFramePr>
        <p:xfrm>
          <a:off x="381000" y="5671172"/>
          <a:ext cx="11430001" cy="853440"/>
        </p:xfrm>
        <a:graphic>
          <a:graphicData uri="http://schemas.openxmlformats.org/drawingml/2006/table">
            <a:tbl>
              <a:tblPr firstRow="1" firstCol="1" bandRow="1"/>
              <a:tblGrid>
                <a:gridCol w="1039091"/>
                <a:gridCol w="1039091"/>
                <a:gridCol w="1039091"/>
                <a:gridCol w="1039091"/>
                <a:gridCol w="1039091"/>
                <a:gridCol w="1039091"/>
                <a:gridCol w="1039091"/>
                <a:gridCol w="1146463"/>
                <a:gridCol w="1049482"/>
                <a:gridCol w="921328"/>
                <a:gridCol w="1039091"/>
              </a:tblGrid>
              <a:tr h="0">
                <a:tc>
                  <a:txBody>
                    <a:bodyPr/>
                    <a:lstStyle/>
                    <a:p>
                      <a:pPr>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sz="2800" dirty="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spcAft>
                          <a:spcPts val="0"/>
                        </a:spcAft>
                        <a:tabLst>
                          <a:tab pos="1188085" algn="l"/>
                          <a:tab pos="2163445" algn="l"/>
                          <a:tab pos="3142615" algn="l"/>
                          <a:tab pos="4190365" algn="l"/>
                        </a:tabLst>
                      </a:pPr>
                      <a:r>
                        <a:rPr lang="en-US" sz="2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a:t>
                      </a:r>
                      <a:endParaRPr lang="zh-CN" sz="2800" dirty="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arn(inVertical)">
                                      <p:cBhvr>
                                        <p:cTn id="19" dur="500"/>
                                        <p:tgtEl>
                                          <p:spTgt spid="3">
                                            <p:txEl>
                                              <p:pRg st="7" end="7"/>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par>
                                <p:cTn id="23" presetID="16" presetClass="entr" presetSubtype="21"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666439"/>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如果</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与它</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FF0000"/>
                </a:solidFill>
                <a:latin typeface="Times New Roman" panose="02020603050405020304" pitchFamily="18" charset="0"/>
                <a:cs typeface="Times New Roman" panose="02020603050405020304" pitchFamily="18" charset="0"/>
              </a:rPr>
              <a:t>序号</a:t>
            </a:r>
            <a:r>
              <a:rPr lang="en-US" altLang="zh-CN" sz="2800" i="1" dirty="0" smtClean="0">
                <a:solidFill>
                  <a:srgbClr val="FF0000"/>
                </a:solidFill>
                <a:latin typeface="Times New Roman" panose="02020603050405020304" pitchFamily="18" charset="0"/>
                <a:cs typeface="Times New Roman" panose="02020603050405020304" pitchFamily="18" charset="0"/>
              </a:rPr>
              <a:t>n </a:t>
            </a:r>
            <a:r>
              <a:rPr lang="zh-CN" altLang="zh-CN" sz="2800" dirty="0" smtClean="0">
                <a:solidFill>
                  <a:srgbClr val="000000"/>
                </a:solidFill>
                <a:latin typeface="Times New Roman" panose="02020603050405020304" pitchFamily="18" charset="0"/>
                <a:cs typeface="Times New Roman" panose="02020603050405020304" pitchFamily="18" charset="0"/>
              </a:rPr>
              <a:t>之间</a:t>
            </a:r>
            <a:r>
              <a:rPr lang="zh-CN" altLang="zh-CN" sz="2800" dirty="0">
                <a:solidFill>
                  <a:srgbClr val="000000"/>
                </a:solidFill>
                <a:latin typeface="Times New Roman" panose="02020603050405020304" pitchFamily="18" charset="0"/>
                <a:cs typeface="Times New Roman" panose="02020603050405020304" pitchFamily="18" charset="0"/>
              </a:rPr>
              <a:t>的对应关系可以用一个式子来表示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那么这个式子叫做这个数列的</a:t>
            </a:r>
            <a:r>
              <a:rPr lang="zh-CN" altLang="zh-CN" sz="2800" dirty="0">
                <a:solidFill>
                  <a:srgbClr val="FF0000"/>
                </a:solidFill>
                <a:latin typeface="Times New Roman" panose="02020603050405020304" pitchFamily="18" charset="0"/>
                <a:cs typeface="Times New Roman" panose="02020603050405020304" pitchFamily="18" charset="0"/>
              </a:rPr>
              <a:t>通项公式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观察</a:t>
            </a:r>
            <a:r>
              <a:rPr lang="zh-CN" altLang="zh-CN" sz="2800" dirty="0">
                <a:solidFill>
                  <a:srgbClr val="000000"/>
                </a:solidFill>
                <a:latin typeface="Times New Roman" panose="02020603050405020304" pitchFamily="18" charset="0"/>
                <a:cs typeface="Times New Roman" panose="02020603050405020304" pitchFamily="18" charset="0"/>
              </a:rPr>
              <a:t>下列数列的特点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用适当的一个数填空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64789996"/>
              </p:ext>
            </p:extLst>
          </p:nvPr>
        </p:nvGraphicFramePr>
        <p:xfrm>
          <a:off x="51486" y="2428841"/>
          <a:ext cx="11430000" cy="601430"/>
        </p:xfrm>
        <a:graphic>
          <a:graphicData uri="http://schemas.openxmlformats.org/presentationml/2006/ole">
            <mc:AlternateContent xmlns:mc="http://schemas.openxmlformats.org/markup-compatibility/2006">
              <mc:Choice xmlns:v="urn:schemas-microsoft-com:vml" Requires="v">
                <p:oleObj spid="_x0000_s6198" name="文档" r:id="rId3" imgW="4520786" imgH="237877" progId="Word.Document.12">
                  <p:embed/>
                </p:oleObj>
              </mc:Choice>
              <mc:Fallback>
                <p:oleObj name="文档" r:id="rId3" imgW="4520786" imgH="237877" progId="Word.Document.12">
                  <p:embed/>
                  <p:pic>
                    <p:nvPicPr>
                      <p:cNvPr id="0" name=""/>
                      <p:cNvPicPr/>
                      <p:nvPr/>
                    </p:nvPicPr>
                    <p:blipFill>
                      <a:blip r:embed="rId4"/>
                      <a:stretch>
                        <a:fillRect/>
                      </a:stretch>
                    </p:blipFill>
                    <p:spPr>
                      <a:xfrm>
                        <a:off x="51486" y="2428841"/>
                        <a:ext cx="11430000" cy="60143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00311195"/>
              </p:ext>
            </p:extLst>
          </p:nvPr>
        </p:nvGraphicFramePr>
        <p:xfrm>
          <a:off x="51486" y="3030271"/>
          <a:ext cx="11430000" cy="601430"/>
        </p:xfrm>
        <a:graphic>
          <a:graphicData uri="http://schemas.openxmlformats.org/presentationml/2006/ole">
            <mc:AlternateContent xmlns:mc="http://schemas.openxmlformats.org/markup-compatibility/2006">
              <mc:Choice xmlns:v="urn:schemas-microsoft-com:vml" Requires="v">
                <p:oleObj spid="_x0000_s6199" name="文档" r:id="rId5" imgW="4520786" imgH="237877" progId="Word.Document.12">
                  <p:embed/>
                </p:oleObj>
              </mc:Choice>
              <mc:Fallback>
                <p:oleObj name="文档" r:id="rId5" imgW="4520786" imgH="237877" progId="Word.Document.12">
                  <p:embed/>
                  <p:pic>
                    <p:nvPicPr>
                      <p:cNvPr id="0" name=""/>
                      <p:cNvPicPr/>
                      <p:nvPr/>
                    </p:nvPicPr>
                    <p:blipFill>
                      <a:blip r:embed="rId6"/>
                      <a:stretch>
                        <a:fillRect/>
                      </a:stretch>
                    </p:blipFill>
                    <p:spPr>
                      <a:xfrm>
                        <a:off x="51486" y="3030271"/>
                        <a:ext cx="11430000" cy="601430"/>
                      </a:xfrm>
                      <a:prstGeom prst="rect">
                        <a:avLst/>
                      </a:prstGeom>
                    </p:spPr>
                  </p:pic>
                </p:oleObj>
              </mc:Fallback>
            </mc:AlternateContent>
          </a:graphicData>
        </a:graphic>
      </p:graphicFrame>
      <p:sp>
        <p:nvSpPr>
          <p:cNvPr id="5" name="矩形 4"/>
          <p:cNvSpPr>
            <a:spLocks noChangeAspect="1"/>
          </p:cNvSpPr>
          <p:nvPr/>
        </p:nvSpPr>
        <p:spPr>
          <a:xfrm>
            <a:off x="381000" y="359857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6" name="矩形 5"/>
          <p:cNvSpPr/>
          <p:nvPr/>
        </p:nvSpPr>
        <p:spPr>
          <a:xfrm>
            <a:off x="5678307" y="742604"/>
            <a:ext cx="96148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5689947" y="1189955"/>
            <a:ext cx="957443"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6253209" y="1296043"/>
            <a:ext cx="1411880"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6264879" y="1733003"/>
            <a:ext cx="140594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barn(inVertical)">
                                      <p:cBhvr>
                                        <p:cTn id="20" dur="500"/>
                                        <p:tgtEl>
                                          <p:spTgt spid="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barn(inVertical)">
                                      <p:cBhvr>
                                        <p:cTn id="25"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51223"/>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正确的在后面的括号里画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(1)1,7,0,11,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1 000</a:t>
            </a:r>
            <a:r>
              <a:rPr lang="zh-CN" altLang="zh-CN" sz="2800" dirty="0">
                <a:solidFill>
                  <a:srgbClr val="000000"/>
                </a:solidFill>
                <a:latin typeface="Times New Roman" panose="02020603050405020304" pitchFamily="18" charset="0"/>
                <a:cs typeface="Times New Roman" panose="02020603050405020304" pitchFamily="18" charset="0"/>
              </a:rPr>
              <a:t>不构成数列</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是一样的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都表示数列</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(3)1,2,2</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3</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63</a:t>
            </a:r>
            <a:r>
              <a:rPr lang="zh-CN" altLang="zh-CN" sz="2800" dirty="0">
                <a:solidFill>
                  <a:srgbClr val="000000"/>
                </a:solidFill>
                <a:latin typeface="Times New Roman" panose="02020603050405020304" pitchFamily="18" charset="0"/>
                <a:cs typeface="Times New Roman" panose="02020603050405020304" pitchFamily="18" charset="0"/>
              </a:rPr>
              <a:t>是递增数列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也是无穷数列</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a:spLocks noChangeAspect="1"/>
          </p:cNvSpPr>
          <p:nvPr/>
        </p:nvSpPr>
        <p:spPr>
          <a:xfrm>
            <a:off x="6295768" y="2405150"/>
            <a:ext cx="543739" cy="600229"/>
          </a:xfrm>
          <a:prstGeom prst="rect">
            <a:avLst/>
          </a:prstGeom>
        </p:spPr>
        <p:txBody>
          <a:bodyPr wrap="none">
            <a:spAutoFit/>
          </a:bodyPr>
          <a:lstStyle/>
          <a:p>
            <a:pPr>
              <a:lnSpc>
                <a:spcPct val="130000"/>
              </a:lnSpc>
            </a:pPr>
            <a:r>
              <a:rPr lang="en-US" altLang="zh-CN" sz="2800" smtClean="0">
                <a:solidFill>
                  <a:srgbClr val="FF0000"/>
                </a:solidFill>
                <a:latin typeface="Times New Roman" panose="02020603050405020304" pitchFamily="18" charset="0"/>
              </a:rPr>
              <a:t>×</a:t>
            </a:r>
            <a:endParaRPr lang="zh-CN" altLang="en-US" sz="2800" dirty="0"/>
          </a:p>
        </p:txBody>
      </p:sp>
      <p:sp>
        <p:nvSpPr>
          <p:cNvPr id="5" name="矩形 4"/>
          <p:cNvSpPr>
            <a:spLocks noChangeAspect="1"/>
          </p:cNvSpPr>
          <p:nvPr/>
        </p:nvSpPr>
        <p:spPr>
          <a:xfrm>
            <a:off x="6135089" y="2955326"/>
            <a:ext cx="543739" cy="600229"/>
          </a:xfrm>
          <a:prstGeom prst="rect">
            <a:avLst/>
          </a:prstGeom>
        </p:spPr>
        <p:txBody>
          <a:bodyPr wrap="none">
            <a:spAutoFit/>
          </a:bodyPr>
          <a:lstStyle/>
          <a:p>
            <a:pPr>
              <a:lnSpc>
                <a:spcPct val="130000"/>
              </a:lnSpc>
            </a:pPr>
            <a:r>
              <a:rPr lang="en-US" altLang="zh-CN" sz="2800" smtClean="0">
                <a:solidFill>
                  <a:srgbClr val="FF0000"/>
                </a:solidFill>
                <a:latin typeface="Times New Roman" panose="02020603050405020304" pitchFamily="18" charset="0"/>
              </a:rPr>
              <a:t>×</a:t>
            </a:r>
            <a:endParaRPr lang="zh-CN" altLang="en-US" sz="2800" dirty="0"/>
          </a:p>
        </p:txBody>
      </p:sp>
      <p:sp>
        <p:nvSpPr>
          <p:cNvPr id="6" name="矩形 5"/>
          <p:cNvSpPr>
            <a:spLocks noChangeAspect="1"/>
          </p:cNvSpPr>
          <p:nvPr/>
        </p:nvSpPr>
        <p:spPr>
          <a:xfrm>
            <a:off x="7733229" y="3522603"/>
            <a:ext cx="543739" cy="600229"/>
          </a:xfrm>
          <a:prstGeom prst="rect">
            <a:avLst/>
          </a:prstGeom>
        </p:spPr>
        <p:txBody>
          <a:bodyPr wrap="none">
            <a:spAutoFit/>
          </a:bodyPr>
          <a:lstStyle/>
          <a:p>
            <a:pPr>
              <a:lnSpc>
                <a:spcPct val="130000"/>
              </a:lnSpc>
            </a:pPr>
            <a:r>
              <a:rPr lang="en-US" altLang="zh-CN" sz="2800" smtClean="0">
                <a:solidFill>
                  <a:srgbClr val="FF0000"/>
                </a:solidFill>
                <a:latin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数列的概念</a:t>
                </a:r>
              </a:p>
            </p:txBody>
          </p:sp>
        </p:grpSp>
      </p:grpSp>
      <p:grpSp>
        <p:nvGrpSpPr>
          <p:cNvPr id="5" name="组合 4"/>
          <p:cNvGrpSpPr/>
          <p:nvPr/>
        </p:nvGrpSpPr>
        <p:grpSpPr>
          <a:xfrm>
            <a:off x="35010" y="753176"/>
            <a:ext cx="11775990" cy="5082701"/>
            <a:chOff x="35010" y="846695"/>
            <a:chExt cx="11775990" cy="5082701"/>
          </a:xfrm>
        </p:grpSpPr>
        <p:sp>
          <p:nvSpPr>
            <p:cNvPr id="2" name="矩形 1"/>
            <p:cNvSpPr>
              <a:spLocks noChangeAspect="1"/>
            </p:cNvSpPr>
            <p:nvPr/>
          </p:nvSpPr>
          <p:spPr>
            <a:xfrm>
              <a:off x="381000" y="846695"/>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已知下列数列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en-US" altLang="zh-CN" sz="2800" dirty="0">
                  <a:solidFill>
                    <a:srgbClr val="000000"/>
                  </a:solidFill>
                  <a:latin typeface="Times New Roman" panose="02020603050405020304" pitchFamily="18" charset="0"/>
                  <a:cs typeface="Times New Roman" panose="02020603050405020304" pitchFamily="18" charset="0"/>
                </a:rPr>
                <a:t>4 012,4 016,4 020,4 024;</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22032511"/>
                </p:ext>
              </p:extLst>
            </p:nvPr>
          </p:nvGraphicFramePr>
          <p:xfrm>
            <a:off x="35010" y="1944420"/>
            <a:ext cx="11430000" cy="3008976"/>
          </p:xfrm>
          <a:graphic>
            <a:graphicData uri="http://schemas.openxmlformats.org/presentationml/2006/ole">
              <mc:AlternateContent xmlns:mc="http://schemas.openxmlformats.org/markup-compatibility/2006">
                <mc:Choice xmlns:v="urn:schemas-microsoft-com:vml" Requires="v">
                  <p:oleObj spid="_x0000_s7194"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35010" y="1944420"/>
                          <a:ext cx="11430000" cy="3008976"/>
                        </a:xfrm>
                        <a:prstGeom prst="rect">
                          <a:avLst/>
                        </a:prstGeom>
                      </p:spPr>
                    </p:pic>
                  </p:oleObj>
                </mc:Fallback>
              </mc:AlternateContent>
            </a:graphicData>
          </a:graphic>
        </p:graphicFrame>
        <p:sp>
          <p:nvSpPr>
            <p:cNvPr id="4" name="矩形 3"/>
            <p:cNvSpPr>
              <a:spLocks noChangeAspect="1"/>
            </p:cNvSpPr>
            <p:nvPr/>
          </p:nvSpPr>
          <p:spPr>
            <a:xfrm>
              <a:off x="381000" y="477702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其中有穷数列是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无穷数列是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递增数列是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递减数列是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填序号</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8915"/>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下列说法正确的有</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个</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2,4,6,8</a:t>
            </a:r>
            <a:r>
              <a:rPr lang="zh-CN" altLang="zh-CN" sz="2800" dirty="0">
                <a:solidFill>
                  <a:srgbClr val="000000"/>
                </a:solidFill>
                <a:latin typeface="Times New Roman" panose="02020603050405020304" pitchFamily="18" charset="0"/>
                <a:cs typeface="Times New Roman" panose="02020603050405020304" pitchFamily="18" charset="0"/>
              </a:rPr>
              <a:t>可以表示为</a:t>
            </a:r>
            <a:r>
              <a:rPr lang="en-US" altLang="zh-CN" sz="2800" dirty="0">
                <a:solidFill>
                  <a:srgbClr val="000000"/>
                </a:solidFill>
                <a:latin typeface="Times New Roman" panose="02020603050405020304" pitchFamily="18" charset="0"/>
                <a:cs typeface="Times New Roman" panose="02020603050405020304" pitchFamily="18" charset="0"/>
              </a:rPr>
              <a:t>{2,4,6,8};</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1,2,3,5</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dirty="0">
                <a:solidFill>
                  <a:srgbClr val="000000"/>
                </a:solidFill>
                <a:latin typeface="Times New Roman" panose="02020603050405020304" pitchFamily="18" charset="0"/>
                <a:cs typeface="Times New Roman" panose="02020603050405020304" pitchFamily="18" charset="0"/>
              </a:rPr>
              <a:t>5,3,2,1</a:t>
            </a:r>
            <a:r>
              <a:rPr lang="zh-CN" altLang="zh-CN" sz="2800" dirty="0">
                <a:solidFill>
                  <a:srgbClr val="000000"/>
                </a:solidFill>
                <a:latin typeface="Times New Roman" panose="02020603050405020304" pitchFamily="18" charset="0"/>
                <a:cs typeface="Times New Roman" panose="02020603050405020304" pitchFamily="18" charset="0"/>
              </a:rPr>
              <a:t>是相同的数列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是常数列</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是有穷递增数列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是无穷递减数列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③④</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是无穷数列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数列不能写成集合的形式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数列中的数是有顺序的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数相同但顺序不同的数列不相同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各项都相等的数列为常数列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不是常数列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①</a:t>
            </a:r>
            <a:r>
              <a:rPr lang="zh-CN" altLang="zh-CN" sz="2800" i="1" dirty="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NEU-BZ-S92"/>
                <a:cs typeface="宋体" panose="02010600030101010101" pitchFamily="2" charset="-122"/>
              </a:rPr>
              <a:t>②③④</a:t>
            </a:r>
            <a:r>
              <a:rPr lang="zh-CN" altLang="zh-CN" sz="2800" i="1" dirty="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NEU-BZ-S92"/>
                <a:cs typeface="宋体" panose="02010600030101010101" pitchFamily="2" charset="-122"/>
              </a:rPr>
              <a:t>①</a:t>
            </a:r>
            <a:r>
              <a:rPr lang="zh-CN" altLang="zh-CN" sz="2800" i="1" dirty="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NEU-BZ-S92"/>
                <a:cs typeface="宋体" panose="02010600030101010101" pitchFamily="2" charset="-122"/>
              </a:rPr>
              <a:t>②</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2)0</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arn(inVertical)">
                                      <p:cBhvr>
                                        <p:cTn id="7" dur="500"/>
                                        <p:tgtEl>
                                          <p:spTgt spid="2">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arn(inVertical)">
                                      <p:cBhvr>
                                        <p:cTn id="10" dur="500"/>
                                        <p:tgtEl>
                                          <p:spTgt spid="2">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barn(inVertical)">
                                      <p:cBhvr>
                                        <p:cTn id="13" dur="500"/>
                                        <p:tgtEl>
                                          <p:spTgt spid="2">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barn(inVertical)">
                                      <p:cBhvr>
                                        <p:cTn id="16" dur="500"/>
                                        <p:tgtEl>
                                          <p:spTgt spid="2">
                                            <p:txEl>
                                              <p:pRg st="7" end="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Effect transition="in" filter="barn(inVertical)">
                                      <p:cBhvr>
                                        <p:cTn id="19" dur="500"/>
                                        <p:tgtEl>
                                          <p:spTgt spid="2">
                                            <p:txEl>
                                              <p:pRg st="8" end="8"/>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barn(inVertical)">
                                      <p:cBhvr>
                                        <p:cTn id="22" dur="500"/>
                                        <p:tgtEl>
                                          <p:spTgt spid="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animEffect transition="in" filter="barn(inVertical)">
                                      <p:cBhvr>
                                        <p:cTn id="2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33662"/>
            <a:ext cx="11430000" cy="513371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数列中的项的特点与集合中元素的性质的比较</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一个数是或不是某一数列中的项是确定的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集合中的元素也具有确定性</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可重复性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数列中的数可以重复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而集合中的元素不能重复出现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即互异性</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有序性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一个数列不仅与构成数列的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有关</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而且与这些数的排列顺序有关</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而集合中的元素没有顺序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即无序性</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数列中的每一项都是数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而集合中的元素还可以是除数字外的其他事物</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840791"/>
            <a:ext cx="11430000" cy="171252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判断数列是哪一种类型的数列时要紧扣不同类型的数列的概念及数列中的项的特点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对于递增数列、递减数列、常数列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要从项的变化趋势来分析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而是有穷数列还是无穷数列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则看项的个数是有限的还是无限的</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63571"/>
            <a:ext cx="11430000" cy="51337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下列说法哪些是正确的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哪些是错误的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并说明理由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(1){0,1,2,3,4}</a:t>
            </a:r>
            <a:r>
              <a:rPr lang="zh-CN" altLang="zh-CN" sz="2800" dirty="0">
                <a:solidFill>
                  <a:srgbClr val="000000"/>
                </a:solidFill>
                <a:latin typeface="Times New Roman" panose="02020603050405020304" pitchFamily="18" charset="0"/>
                <a:cs typeface="Times New Roman" panose="02020603050405020304" pitchFamily="18" charset="0"/>
              </a:rPr>
              <a:t>是有穷数列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所有自然数能构成数列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3,5,7,1,11</a:t>
            </a:r>
            <a:r>
              <a:rPr lang="zh-CN" altLang="zh-CN" sz="2800" dirty="0">
                <a:solidFill>
                  <a:srgbClr val="000000"/>
                </a:solidFill>
                <a:latin typeface="Times New Roman" panose="02020603050405020304" pitchFamily="18" charset="0"/>
                <a:cs typeface="Times New Roman" panose="02020603050405020304" pitchFamily="18" charset="0"/>
              </a:rPr>
              <a:t>是一个项数为</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的数列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1,2,3,4,</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是无穷数列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{0,1,2,3,4}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是集合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如将所有自然数按从小到大的顺序排列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同一个数在数列中可以重复出现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此数列共有</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1,2,3,4,</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是有穷数列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arn(inVertical)">
                                      <p:cBhvr>
                                        <p:cTn id="7" dur="500"/>
                                        <p:tgtEl>
                                          <p:spTgt spid="2">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barn(inVertical)">
                                      <p:cBhvr>
                                        <p:cTn id="10" dur="500"/>
                                        <p:tgtEl>
                                          <p:spTgt spid="2">
                                            <p:txEl>
                                              <p:pRg st="6" end="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animEffect transition="in" filter="barn(inVertical)">
                                      <p:cBhvr>
                                        <p:cTn id="13" dur="500"/>
                                        <p:tgtEl>
                                          <p:spTgt spid="2">
                                            <p:txEl>
                                              <p:pRg st="8" end="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barn(inVertical)">
                                      <p:cBhvr>
                                        <p:cTn id="16"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数列的通项公式</a:t>
                </a:r>
              </a:p>
            </p:txBody>
          </p:sp>
        </p:grpSp>
      </p:grpSp>
      <p:grpSp>
        <p:nvGrpSpPr>
          <p:cNvPr id="5" name="组合 4"/>
          <p:cNvGrpSpPr/>
          <p:nvPr/>
        </p:nvGrpSpPr>
        <p:grpSpPr>
          <a:xfrm>
            <a:off x="51486" y="837413"/>
            <a:ext cx="11759514" cy="4701758"/>
            <a:chOff x="51486" y="962105"/>
            <a:chExt cx="11759514" cy="4701758"/>
          </a:xfrm>
        </p:grpSpPr>
        <p:sp>
          <p:nvSpPr>
            <p:cNvPr id="2" name="矩形 1"/>
            <p:cNvSpPr>
              <a:spLocks noChangeAspect="1"/>
            </p:cNvSpPr>
            <p:nvPr/>
          </p:nvSpPr>
          <p:spPr>
            <a:xfrm>
              <a:off x="381000" y="962105"/>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根据下列数列的前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写出数列的一个通项公式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1)1,3,5,7,</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70296623"/>
                </p:ext>
              </p:extLst>
            </p:nvPr>
          </p:nvGraphicFramePr>
          <p:xfrm>
            <a:off x="51486" y="2046044"/>
            <a:ext cx="11430000" cy="2608022"/>
          </p:xfrm>
          <a:graphic>
            <a:graphicData uri="http://schemas.openxmlformats.org/presentationml/2006/ole">
              <mc:AlternateContent xmlns:mc="http://schemas.openxmlformats.org/markup-compatibility/2006">
                <mc:Choice xmlns:v="urn:schemas-microsoft-com:vml" Requires="v">
                  <p:oleObj spid="_x0000_s8215" name="文档" r:id="rId3" imgW="4520786" imgH="1031523" progId="Word.Document.12">
                    <p:embed/>
                  </p:oleObj>
                </mc:Choice>
                <mc:Fallback>
                  <p:oleObj name="文档" r:id="rId3" imgW="4520786" imgH="1031523" progId="Word.Document.12">
                    <p:embed/>
                    <p:pic>
                      <p:nvPicPr>
                        <p:cNvPr id="0" name=""/>
                        <p:cNvPicPr/>
                        <p:nvPr/>
                      </p:nvPicPr>
                      <p:blipFill>
                        <a:blip r:embed="rId4"/>
                        <a:stretch>
                          <a:fillRect/>
                        </a:stretch>
                      </p:blipFill>
                      <p:spPr>
                        <a:xfrm>
                          <a:off x="51486" y="2046044"/>
                          <a:ext cx="11430000" cy="2608022"/>
                        </a:xfrm>
                        <a:prstGeom prst="rect">
                          <a:avLst/>
                        </a:prstGeom>
                      </p:spPr>
                    </p:pic>
                  </p:oleObj>
                </mc:Fallback>
              </mc:AlternateContent>
            </a:graphicData>
          </a:graphic>
        </p:graphicFrame>
        <p:sp>
          <p:nvSpPr>
            <p:cNvPr id="4" name="矩形 3"/>
            <p:cNvSpPr>
              <a:spLocks noChangeAspect="1"/>
            </p:cNvSpPr>
            <p:nvPr/>
          </p:nvSpPr>
          <p:spPr>
            <a:xfrm>
              <a:off x="381000" y="451149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(5)3,33,333,3 333,</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3248" y="251803"/>
            <a:ext cx="11767752" cy="5718432"/>
            <a:chOff x="43248" y="299826"/>
            <a:chExt cx="11767752" cy="5718432"/>
          </a:xfrm>
        </p:grpSpPr>
        <p:sp>
          <p:nvSpPr>
            <p:cNvPr id="2" name="矩形 1"/>
            <p:cNvSpPr>
              <a:spLocks noChangeAspect="1"/>
            </p:cNvSpPr>
            <p:nvPr/>
          </p:nvSpPr>
          <p:spPr>
            <a:xfrm>
              <a:off x="381000" y="299826"/>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这个数列的前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1,3,5,7</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都是序号的</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倍减去</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因此它的一个通项公式是</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分别观察这个数列前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项的分子和分母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分子分别为偶数</a:t>
              </a:r>
              <a:r>
                <a:rPr lang="en-US" altLang="zh-CN" sz="2800" dirty="0">
                  <a:solidFill>
                    <a:srgbClr val="000000"/>
                  </a:solidFill>
                  <a:latin typeface="Times New Roman" panose="02020603050405020304" pitchFamily="18" charset="0"/>
                  <a:cs typeface="Times New Roman" panose="02020603050405020304" pitchFamily="18" charset="0"/>
                </a:rPr>
                <a:t>:2,4,6,8;</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分母分别为</a:t>
              </a:r>
              <a:r>
                <a:rPr lang="en-US" altLang="zh-CN" sz="2800" dirty="0">
                  <a:solidFill>
                    <a:srgbClr val="000000"/>
                  </a:solidFill>
                  <a:latin typeface="Times New Roman" panose="02020603050405020304" pitchFamily="18" charset="0"/>
                  <a:cs typeface="Times New Roman" panose="02020603050405020304" pitchFamily="18" charset="0"/>
                </a:rPr>
                <a:t>1×3,3×5,5×7,7×9;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每一项的符号均为负</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16274491"/>
                </p:ext>
              </p:extLst>
            </p:nvPr>
          </p:nvGraphicFramePr>
          <p:xfrm>
            <a:off x="43248" y="2485630"/>
            <a:ext cx="11430000" cy="1003297"/>
          </p:xfrm>
          <a:graphic>
            <a:graphicData uri="http://schemas.openxmlformats.org/presentationml/2006/ole">
              <mc:AlternateContent xmlns:mc="http://schemas.openxmlformats.org/markup-compatibility/2006">
                <mc:Choice xmlns:v="urn:schemas-microsoft-com:vml" Requires="v">
                  <p:oleObj spid="_x0000_s926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248" y="2485630"/>
                          <a:ext cx="11430000" cy="1003297"/>
                        </a:xfrm>
                        <a:prstGeom prst="rect">
                          <a:avLst/>
                        </a:prstGeom>
                      </p:spPr>
                    </p:pic>
                  </p:oleObj>
                </mc:Fallback>
              </mc:AlternateContent>
            </a:graphicData>
          </a:graphic>
        </p:graphicFrame>
        <p:sp>
          <p:nvSpPr>
            <p:cNvPr id="5" name="矩形 4"/>
            <p:cNvSpPr>
              <a:spLocks noChangeAspect="1"/>
            </p:cNvSpPr>
            <p:nvPr/>
          </p:nvSpPr>
          <p:spPr>
            <a:xfrm>
              <a:off x="381000" y="333989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观察这个数列的前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若各项分别减</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则变为</a:t>
              </a:r>
              <a:r>
                <a:rPr lang="en-US" altLang="zh-CN" sz="2800" dirty="0">
                  <a:solidFill>
                    <a:srgbClr val="000000"/>
                  </a:solidFill>
                  <a:latin typeface="Times New Roman" panose="02020603050405020304" pitchFamily="18" charset="0"/>
                  <a:cs typeface="Times New Roman" panose="02020603050405020304" pitchFamily="18" charset="0"/>
                </a:rPr>
                <a:t>1,4,9,16,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因此它的一个通项公式为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项的分母分别为</a:t>
              </a:r>
              <a:r>
                <a:rPr lang="en-US" altLang="zh-CN" sz="2800" dirty="0">
                  <a:solidFill>
                    <a:srgbClr val="000000"/>
                  </a:solidFill>
                  <a:latin typeface="Times New Roman" panose="02020603050405020304" pitchFamily="18" charset="0"/>
                  <a:cs typeface="Times New Roman" panose="02020603050405020304" pitchFamily="18" charset="0"/>
                </a:rPr>
                <a:t>2,3,4,5,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其分子为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符号正负相间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82418161"/>
                </p:ext>
              </p:extLst>
            </p:nvPr>
          </p:nvGraphicFramePr>
          <p:xfrm>
            <a:off x="43248" y="5014961"/>
            <a:ext cx="11430000" cy="1003297"/>
          </p:xfrm>
          <a:graphic>
            <a:graphicData uri="http://schemas.openxmlformats.org/presentationml/2006/ole">
              <mc:AlternateContent xmlns:mc="http://schemas.openxmlformats.org/markup-compatibility/2006">
                <mc:Choice xmlns:v="urn:schemas-microsoft-com:vml" Requires="v">
                  <p:oleObj spid="_x0000_s9263"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3248" y="5014961"/>
                          <a:ext cx="11430000" cy="1003297"/>
                        </a:xfrm>
                        <a:prstGeom prst="rect">
                          <a:avLst/>
                        </a:prstGeom>
                      </p:spPr>
                    </p:pic>
                  </p:oleObj>
                </mc:Fallback>
              </mc:AlternateContent>
            </a:graphicData>
          </a:graphic>
        </p:graphicFrame>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5010" y="282959"/>
            <a:ext cx="11430000" cy="5717953"/>
            <a:chOff x="35010" y="355696"/>
            <a:chExt cx="11430000" cy="5717953"/>
          </a:xfrm>
        </p:grpSpPr>
        <p:sp>
          <p:nvSpPr>
            <p:cNvPr id="2" name="矩形 1"/>
            <p:cNvSpPr>
              <a:spLocks noChangeAspect="1"/>
            </p:cNvSpPr>
            <p:nvPr/>
          </p:nvSpPr>
          <p:spPr>
            <a:xfrm>
              <a:off x="381000" y="355696"/>
              <a:ext cx="840165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联想特殊数列</a:t>
              </a:r>
              <a:r>
                <a:rPr lang="en-US" altLang="zh-CN" sz="2800" dirty="0">
                  <a:solidFill>
                    <a:srgbClr val="000000"/>
                  </a:solidFill>
                  <a:latin typeface="Times New Roman" panose="02020603050405020304" pitchFamily="18" charset="0"/>
                  <a:cs typeface="Times New Roman" panose="02020603050405020304" pitchFamily="18" charset="0"/>
                </a:rPr>
                <a:t>9,99,999,</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65300707"/>
                </p:ext>
              </p:extLst>
            </p:nvPr>
          </p:nvGraphicFramePr>
          <p:xfrm>
            <a:off x="35010" y="958754"/>
            <a:ext cx="11430000" cy="5114895"/>
          </p:xfrm>
          <a:graphic>
            <a:graphicData uri="http://schemas.openxmlformats.org/presentationml/2006/ole">
              <mc:AlternateContent xmlns:mc="http://schemas.openxmlformats.org/markup-compatibility/2006">
                <mc:Choice xmlns:v="urn:schemas-microsoft-com:vml" Requires="v">
                  <p:oleObj spid="_x0000_s10265" name="文档" r:id="rId3" imgW="4510061" imgH="2026097" progId="Word.Document.12">
                    <p:embed/>
                  </p:oleObj>
                </mc:Choice>
                <mc:Fallback>
                  <p:oleObj name="文档" r:id="rId3" imgW="4510061" imgH="2026097" progId="Word.Document.12">
                    <p:embed/>
                    <p:pic>
                      <p:nvPicPr>
                        <p:cNvPr id="0" name=""/>
                        <p:cNvPicPr/>
                        <p:nvPr/>
                      </p:nvPicPr>
                      <p:blipFill>
                        <a:blip r:embed="rId4"/>
                        <a:stretch>
                          <a:fillRect/>
                        </a:stretch>
                      </p:blipFill>
                      <p:spPr>
                        <a:xfrm>
                          <a:off x="35010" y="958754"/>
                          <a:ext cx="11430000" cy="5114895"/>
                        </a:xfrm>
                        <a:prstGeom prst="rect">
                          <a:avLst/>
                        </a:prstGeom>
                      </p:spPr>
                    </p:pic>
                  </p:oleObj>
                </mc:Fallback>
              </mc:AlternateContent>
            </a:graphicData>
          </a:graphic>
        </p:graphicFrame>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4618"/>
            <a:ext cx="11430000" cy="513371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数列的前几项写通项公式时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要注意观察项与项数的关系和相邻项间的关系</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具体可参考以下几个思路</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统一项的结构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如都化成分数、根式等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分析这一结构中变化的部分与不变的部分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探索变化部分的规律与对应序号间的关系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对于正、负号交替出现的情况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可先观察其绝对值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再用</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处理符号</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对于呈周期性出现的数列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可考虑拆成几个简单数列和的形式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或者利用周期函数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如三角函数等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1564" y="1006950"/>
            <a:ext cx="11769436" cy="3016982"/>
            <a:chOff x="41564" y="1006950"/>
            <a:chExt cx="11769436" cy="3016982"/>
          </a:xfrm>
        </p:grpSpPr>
        <p:grpSp>
          <p:nvGrpSpPr>
            <p:cNvPr id="6" name="组合 5"/>
            <p:cNvGrpSpPr/>
            <p:nvPr/>
          </p:nvGrpSpPr>
          <p:grpSpPr>
            <a:xfrm>
              <a:off x="381000" y="1006950"/>
              <a:ext cx="11430000" cy="3016982"/>
              <a:chOff x="381000" y="1712784"/>
              <a:chExt cx="11430000" cy="3016982"/>
            </a:xfrm>
          </p:grpSpPr>
          <p:sp>
            <p:nvSpPr>
              <p:cNvPr id="2" name="矩形 1"/>
              <p:cNvSpPr>
                <a:spLocks noChangeAspect="1"/>
              </p:cNvSpPr>
              <p:nvPr/>
            </p:nvSpPr>
            <p:spPr>
              <a:xfrm>
                <a:off x="381000" y="1712784"/>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根据下列数列的前</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写出数列的一个通项公式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81000" y="3577399"/>
                <a:ext cx="11430000" cy="115236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99,0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999,0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999 9,</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(4)3,5,3,5,</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graphicFrame>
          <p:nvGraphicFramePr>
            <p:cNvPr id="8" name="对象 7"/>
            <p:cNvGraphicFramePr>
              <a:graphicFrameLocks noChangeAspect="1"/>
            </p:cNvGraphicFramePr>
            <p:nvPr>
              <p:extLst>
                <p:ext uri="{D42A27DB-BD31-4B8C-83A1-F6EECF244321}">
                  <p14:modId xmlns:p14="http://schemas.microsoft.com/office/powerpoint/2010/main" val="1400239032"/>
                </p:ext>
              </p:extLst>
            </p:nvPr>
          </p:nvGraphicFramePr>
          <p:xfrm>
            <a:off x="41564" y="1671082"/>
            <a:ext cx="11430000" cy="1276012"/>
          </p:xfrm>
          <a:graphic>
            <a:graphicData uri="http://schemas.openxmlformats.org/presentationml/2006/ole">
              <mc:AlternateContent xmlns:mc="http://schemas.openxmlformats.org/markup-compatibility/2006">
                <mc:Choice xmlns:v="urn:schemas-microsoft-com:vml" Requires="v">
                  <p:oleObj spid="_x0000_s11287" name="文档" r:id="rId3" imgW="4510061" imgH="503490" progId="Word.Document.12">
                    <p:embed/>
                  </p:oleObj>
                </mc:Choice>
                <mc:Fallback>
                  <p:oleObj name="文档" r:id="rId3" imgW="4510061" imgH="503490" progId="Word.Document.12">
                    <p:embed/>
                    <p:pic>
                      <p:nvPicPr>
                        <p:cNvPr id="0" name=""/>
                        <p:cNvPicPr/>
                        <p:nvPr/>
                      </p:nvPicPr>
                      <p:blipFill>
                        <a:blip r:embed="rId4"/>
                        <a:stretch>
                          <a:fillRect/>
                        </a:stretch>
                      </p:blipFill>
                      <p:spPr>
                        <a:xfrm>
                          <a:off x="41564" y="1671082"/>
                          <a:ext cx="11430000" cy="1276012"/>
                        </a:xfrm>
                        <a:prstGeom prst="rect">
                          <a:avLst/>
                        </a:prstGeom>
                      </p:spPr>
                    </p:pic>
                  </p:oleObj>
                </mc:Fallback>
              </mc:AlternateContent>
            </a:graphicData>
          </a:graphic>
        </p:graphicFrame>
      </p:gr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813548814"/>
              </p:ext>
            </p:extLst>
          </p:nvPr>
        </p:nvGraphicFramePr>
        <p:xfrm>
          <a:off x="385763" y="285750"/>
          <a:ext cx="11403012" cy="5795963"/>
        </p:xfrm>
        <a:graphic>
          <a:graphicData uri="http://schemas.openxmlformats.org/presentationml/2006/ole">
            <mc:AlternateContent xmlns:mc="http://schemas.openxmlformats.org/markup-compatibility/2006">
              <mc:Choice xmlns:v="urn:schemas-microsoft-com:vml" Requires="v">
                <p:oleObj spid="_x0000_s12312" name="文档" r:id="rId3" imgW="4510061" imgH="2302875" progId="Word.Document.12">
                  <p:embed/>
                </p:oleObj>
              </mc:Choice>
              <mc:Fallback>
                <p:oleObj name="文档" r:id="rId3" imgW="4510061" imgH="2302875" progId="Word.Document.12">
                  <p:embed/>
                  <p:pic>
                    <p:nvPicPr>
                      <p:cNvPr id="0" name=""/>
                      <p:cNvPicPr/>
                      <p:nvPr/>
                    </p:nvPicPr>
                    <p:blipFill>
                      <a:blip r:embed="rId4"/>
                      <a:stretch>
                        <a:fillRect/>
                      </a:stretch>
                    </p:blipFill>
                    <p:spPr>
                      <a:xfrm>
                        <a:off x="385763" y="285750"/>
                        <a:ext cx="11403012" cy="5795963"/>
                      </a:xfrm>
                      <a:prstGeom prst="rect">
                        <a:avLst/>
                      </a:prstGeom>
                    </p:spPr>
                  </p:pic>
                </p:oleObj>
              </mc:Fallback>
            </mc:AlternateContent>
          </a:graphicData>
        </a:graphic>
      </p:graphicFrame>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47288606"/>
              </p:ext>
            </p:extLst>
          </p:nvPr>
        </p:nvGraphicFramePr>
        <p:xfrm>
          <a:off x="381000" y="1147653"/>
          <a:ext cx="11430000" cy="3109216"/>
        </p:xfrm>
        <a:graphic>
          <a:graphicData uri="http://schemas.openxmlformats.org/presentationml/2006/ole">
            <mc:AlternateContent xmlns:mc="http://schemas.openxmlformats.org/markup-compatibility/2006">
              <mc:Choice xmlns:v="urn:schemas-microsoft-com:vml" Requires="v">
                <p:oleObj spid="_x0000_s13336" name="文档" r:id="rId3" imgW="4510061" imgH="1231804" progId="Word.Document.12">
                  <p:embed/>
                </p:oleObj>
              </mc:Choice>
              <mc:Fallback>
                <p:oleObj name="文档" r:id="rId3" imgW="4510061" imgH="1231804" progId="Word.Document.12">
                  <p:embed/>
                  <p:pic>
                    <p:nvPicPr>
                      <p:cNvPr id="0" name=""/>
                      <p:cNvPicPr/>
                      <p:nvPr/>
                    </p:nvPicPr>
                    <p:blipFill>
                      <a:blip r:embed="rId4"/>
                      <a:stretch>
                        <a:fillRect/>
                      </a:stretch>
                    </p:blipFill>
                    <p:spPr>
                      <a:xfrm>
                        <a:off x="381000" y="1147653"/>
                        <a:ext cx="11430000" cy="3109216"/>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数列的通项公式与函数</a:t>
                </a:r>
              </a:p>
            </p:txBody>
          </p:sp>
        </p:grpSp>
      </p:grpSp>
      <p:sp>
        <p:nvSpPr>
          <p:cNvPr id="2" name="矩形 1"/>
          <p:cNvSpPr>
            <a:spLocks noChangeAspect="1"/>
          </p:cNvSpPr>
          <p:nvPr/>
        </p:nvSpPr>
        <p:spPr>
          <a:xfrm>
            <a:off x="381000" y="1631817"/>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画出它在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轴上方的图象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并根据图象求出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的最大值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在同一坐标系中画出函数</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的图象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根据图象求出</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的最大值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的最大值比较</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若用函数的性质来求</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的最大值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应如何处理</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954" y="-59550"/>
            <a:ext cx="11778046" cy="6466104"/>
            <a:chOff x="32954" y="-59550"/>
            <a:chExt cx="11778046" cy="6466104"/>
          </a:xfrm>
        </p:grpSpPr>
        <p:grpSp>
          <p:nvGrpSpPr>
            <p:cNvPr id="7" name="组合 6"/>
            <p:cNvGrpSpPr/>
            <p:nvPr/>
          </p:nvGrpSpPr>
          <p:grpSpPr>
            <a:xfrm>
              <a:off x="32954" y="-59550"/>
              <a:ext cx="11778046" cy="4450914"/>
              <a:chOff x="32954" y="-59550"/>
              <a:chExt cx="11778046" cy="4450914"/>
            </a:xfrm>
          </p:grpSpPr>
          <p:graphicFrame>
            <p:nvGraphicFramePr>
              <p:cNvPr id="2" name="对象 1"/>
              <p:cNvGraphicFramePr>
                <a:graphicFrameLocks noChangeAspect="1"/>
              </p:cNvGraphicFramePr>
              <p:nvPr>
                <p:extLst>
                  <p:ext uri="{D42A27DB-BD31-4B8C-83A1-F6EECF244321}">
                    <p14:modId xmlns:p14="http://schemas.microsoft.com/office/powerpoint/2010/main" val="1656927676"/>
                  </p:ext>
                </p:extLst>
              </p:nvPr>
            </p:nvGraphicFramePr>
            <p:xfrm>
              <a:off x="32954" y="-59550"/>
              <a:ext cx="11430000" cy="1003297"/>
            </p:xfrm>
            <a:graphic>
              <a:graphicData uri="http://schemas.openxmlformats.org/presentationml/2006/ole">
                <mc:AlternateContent xmlns:mc="http://schemas.openxmlformats.org/markup-compatibility/2006">
                  <mc:Choice xmlns:v="urn:schemas-microsoft-com:vml" Requires="v">
                    <p:oleObj spid="_x0000_s1438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2954" y="-59550"/>
                            <a:ext cx="11430000" cy="1003297"/>
                          </a:xfrm>
                          <a:prstGeom prst="rect">
                            <a:avLst/>
                          </a:prstGeom>
                        </p:spPr>
                      </p:pic>
                    </p:oleObj>
                  </mc:Fallback>
                </mc:AlternateContent>
              </a:graphicData>
            </a:graphic>
          </p:graphicFrame>
          <p:sp>
            <p:nvSpPr>
              <p:cNvPr id="3" name="矩形 2"/>
              <p:cNvSpPr>
                <a:spLocks noChangeAspect="1"/>
              </p:cNvSpPr>
              <p:nvPr/>
            </p:nvSpPr>
            <p:spPr>
              <a:xfrm>
                <a:off x="381000" y="713086"/>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1,2,3,4,5,6,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分别代入通项公式</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画出数列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轴上方的图象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6" name="YMX2TRAX01.eps" descr="id:2147503266;FounderCES"/>
              <p:cNvPicPr/>
              <p:nvPr/>
            </p:nvPicPr>
            <p:blipFill>
              <a:blip r:embed="rId5">
                <a:clrChange>
                  <a:clrFrom>
                    <a:srgbClr val="FFFFFF"/>
                  </a:clrFrom>
                  <a:clrTo>
                    <a:srgbClr val="FFFFFF">
                      <a:alpha val="0"/>
                    </a:srgbClr>
                  </a:clrTo>
                </a:clrChange>
              </a:blip>
              <a:stretch>
                <a:fillRect/>
              </a:stretch>
            </p:blipFill>
            <p:spPr>
              <a:xfrm>
                <a:off x="8562110" y="1498857"/>
                <a:ext cx="2952799" cy="2892507"/>
              </a:xfrm>
              <a:prstGeom prst="rect">
                <a:avLst/>
              </a:prstGeom>
            </p:spPr>
          </p:pic>
        </p:grpSp>
        <p:graphicFrame>
          <p:nvGraphicFramePr>
            <p:cNvPr id="10" name="对象 9"/>
            <p:cNvGraphicFramePr>
              <a:graphicFrameLocks noChangeAspect="1"/>
            </p:cNvGraphicFramePr>
            <p:nvPr>
              <p:extLst>
                <p:ext uri="{D42A27DB-BD31-4B8C-83A1-F6EECF244321}">
                  <p14:modId xmlns:p14="http://schemas.microsoft.com/office/powerpoint/2010/main" val="2800840846"/>
                </p:ext>
              </p:extLst>
            </p:nvPr>
          </p:nvGraphicFramePr>
          <p:xfrm>
            <a:off x="43345" y="2968332"/>
            <a:ext cx="11430000" cy="3438222"/>
          </p:xfrm>
          <a:graphic>
            <a:graphicData uri="http://schemas.openxmlformats.org/presentationml/2006/ole">
              <mc:AlternateContent xmlns:mc="http://schemas.openxmlformats.org/markup-compatibility/2006">
                <mc:Choice xmlns:v="urn:schemas-microsoft-com:vml" Requires="v">
                  <p:oleObj spid="_x0000_s14383" name="文档" r:id="rId6" imgW="4510061" imgH="1356657" progId="Word.Document.12">
                    <p:embed/>
                  </p:oleObj>
                </mc:Choice>
                <mc:Fallback>
                  <p:oleObj name="文档" r:id="rId6" imgW="4510061" imgH="1356657" progId="Word.Document.12">
                    <p:embed/>
                    <p:pic>
                      <p:nvPicPr>
                        <p:cNvPr id="0" name=""/>
                        <p:cNvPicPr/>
                        <p:nvPr/>
                      </p:nvPicPr>
                      <p:blipFill>
                        <a:blip r:embed="rId7"/>
                        <a:stretch>
                          <a:fillRect/>
                        </a:stretch>
                      </p:blipFill>
                      <p:spPr>
                        <a:xfrm>
                          <a:off x="43345" y="2968332"/>
                          <a:ext cx="11430000" cy="3438222"/>
                        </a:xfrm>
                        <a:prstGeom prst="rect">
                          <a:avLst/>
                        </a:prstGeom>
                      </p:spPr>
                    </p:pic>
                  </p:oleObj>
                </mc:Fallback>
              </mc:AlternateContent>
            </a:graphicData>
          </a:graphic>
        </p:graphicFrame>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09666"/>
            <a:ext cx="11430000" cy="233294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数列的通项公式给出了第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与它的位置序号</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之间的关系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只要用序号代替公式中的</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就可以求出数列的相应项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数列是一种特殊的函数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因此研究数列的最值问题可借助于函数的方法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但应注意自变量</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为正整数这一条件</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68589"/>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已知数列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写出它的前三项</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判断数列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的单调性</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数列的前三项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是递增数列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2">
            <a:clrChange>
              <a:clrFrom>
                <a:srgbClr val="FFFFFF"/>
              </a:clrFrom>
              <a:clrTo>
                <a:srgbClr val="FFFFFF">
                  <a:alpha val="0"/>
                </a:srgbClr>
              </a:clrTo>
            </a:clrChange>
          </a:blip>
          <a:stretch>
            <a:fillRect/>
          </a:stretch>
        </p:blipFill>
        <p:spPr>
          <a:xfrm>
            <a:off x="4757688" y="174759"/>
            <a:ext cx="2016224" cy="367706"/>
          </a:xfrm>
          <a:prstGeom prst="rect">
            <a:avLst/>
          </a:prstGeom>
        </p:spPr>
      </p:pic>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arn(inVertical)">
                                      <p:cBhvr>
                                        <p:cTn id="13" dur="500"/>
                                        <p:tgtEl>
                                          <p:spTgt spid="2">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barn(inVertical)">
                                      <p:cBhvr>
                                        <p:cTn id="16" dur="500"/>
                                        <p:tgtEl>
                                          <p:spTgt spid="2">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barn(inVertical)">
                                      <p:cBhvr>
                                        <p:cTn id="19" dur="500"/>
                                        <p:tgtEl>
                                          <p:spTgt spid="2">
                                            <p:txEl>
                                              <p:pRg st="7" end="7"/>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barn(inVertical)">
                                      <p:cBhvr>
                                        <p:cTn id="22" dur="500"/>
                                        <p:tgtEl>
                                          <p:spTgt spid="2">
                                            <p:txEl>
                                              <p:pRg st="8" end="8"/>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barn(inVertical)">
                                      <p:cBhvr>
                                        <p:cTn id="25" dur="500"/>
                                        <p:tgtEl>
                                          <p:spTgt spid="2">
                                            <p:txEl>
                                              <p:pRg st="9" end="9"/>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barn(inVertical)">
                                      <p:cBhvr>
                                        <p:cTn id="28"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1000" y="395180"/>
            <a:ext cx="11430000" cy="1300937"/>
            <a:chOff x="381000" y="172754"/>
            <a:chExt cx="11430000" cy="1300937"/>
          </a:xfrm>
        </p:grpSpPr>
        <p:sp>
          <p:nvSpPr>
            <p:cNvPr id="2" name="矩形 1"/>
            <p:cNvSpPr>
              <a:spLocks noChangeAspect="1"/>
            </p:cNvSpPr>
            <p:nvPr/>
          </p:nvSpPr>
          <p:spPr>
            <a:xfrm>
              <a:off x="381000" y="261051"/>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中的最大项与最小项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19771278"/>
                </p:ext>
              </p:extLst>
            </p:nvPr>
          </p:nvGraphicFramePr>
          <p:xfrm>
            <a:off x="7668100" y="172754"/>
            <a:ext cx="1301487" cy="830486"/>
          </p:xfrm>
          <a:graphic>
            <a:graphicData uri="http://schemas.openxmlformats.org/presentationml/2006/ole">
              <mc:AlternateContent xmlns:mc="http://schemas.openxmlformats.org/markup-compatibility/2006">
                <mc:Choice xmlns:v="urn:schemas-microsoft-com:vml" Requires="v">
                  <p:oleObj spid="_x0000_s15402" name="文档" r:id="rId3" imgW="631586" imgH="397544" progId="Word.Document.12">
                    <p:embed/>
                  </p:oleObj>
                </mc:Choice>
                <mc:Fallback>
                  <p:oleObj name="文档" r:id="rId3" imgW="631586" imgH="397544" progId="Word.Document.12">
                    <p:embed/>
                    <p:pic>
                      <p:nvPicPr>
                        <p:cNvPr id="0" name=""/>
                        <p:cNvPicPr/>
                        <p:nvPr/>
                      </p:nvPicPr>
                      <p:blipFill>
                        <a:blip r:embed="rId4"/>
                        <a:stretch>
                          <a:fillRect/>
                        </a:stretch>
                      </p:blipFill>
                      <p:spPr>
                        <a:xfrm>
                          <a:off x="7668100" y="172754"/>
                          <a:ext cx="1301487" cy="830486"/>
                        </a:xfrm>
                        <a:prstGeom prst="rect">
                          <a:avLst/>
                        </a:prstGeom>
                      </p:spPr>
                    </p:pic>
                  </p:oleObj>
                </mc:Fallback>
              </mc:AlternateContent>
            </a:graphicData>
          </a:graphic>
        </p:graphicFrame>
      </p:grpSp>
      <p:grpSp>
        <p:nvGrpSpPr>
          <p:cNvPr id="8" name="组合 7"/>
          <p:cNvGrpSpPr/>
          <p:nvPr/>
        </p:nvGrpSpPr>
        <p:grpSpPr>
          <a:xfrm>
            <a:off x="385763" y="1445755"/>
            <a:ext cx="11403012" cy="4128537"/>
            <a:chOff x="385763" y="1414582"/>
            <a:chExt cx="11403012" cy="4128537"/>
          </a:xfrm>
        </p:grpSpPr>
        <p:graphicFrame>
          <p:nvGraphicFramePr>
            <p:cNvPr id="5" name="对象 4"/>
            <p:cNvGraphicFramePr>
              <a:graphicFrameLocks noChangeAspect="1"/>
            </p:cNvGraphicFramePr>
            <p:nvPr>
              <p:extLst>
                <p:ext uri="{D42A27DB-BD31-4B8C-83A1-F6EECF244321}">
                  <p14:modId xmlns:p14="http://schemas.microsoft.com/office/powerpoint/2010/main" val="4011042960"/>
                </p:ext>
              </p:extLst>
            </p:nvPr>
          </p:nvGraphicFramePr>
          <p:xfrm>
            <a:off x="385763" y="1698194"/>
            <a:ext cx="11403012" cy="3844925"/>
          </p:xfrm>
          <a:graphic>
            <a:graphicData uri="http://schemas.openxmlformats.org/presentationml/2006/ole">
              <mc:AlternateContent xmlns:mc="http://schemas.openxmlformats.org/markup-compatibility/2006">
                <mc:Choice xmlns:v="urn:schemas-microsoft-com:vml" Requires="v">
                  <p:oleObj spid="_x0000_s15403" name="文档" r:id="rId5" imgW="4510061" imgH="1526240" progId="Word.Document.12">
                    <p:embed/>
                  </p:oleObj>
                </mc:Choice>
                <mc:Fallback>
                  <p:oleObj name="文档" r:id="rId5" imgW="4510061" imgH="1526240" progId="Word.Document.12">
                    <p:embed/>
                    <p:pic>
                      <p:nvPicPr>
                        <p:cNvPr id="0" name=""/>
                        <p:cNvPicPr/>
                        <p:nvPr/>
                      </p:nvPicPr>
                      <p:blipFill>
                        <a:blip r:embed="rId6"/>
                        <a:stretch>
                          <a:fillRect/>
                        </a:stretch>
                      </p:blipFill>
                      <p:spPr>
                        <a:xfrm>
                          <a:off x="385763" y="1698194"/>
                          <a:ext cx="11403012" cy="3844925"/>
                        </a:xfrm>
                        <a:prstGeom prst="rect">
                          <a:avLst/>
                        </a:prstGeom>
                      </p:spPr>
                    </p:pic>
                  </p:oleObj>
                </mc:Fallback>
              </mc:AlternateContent>
            </a:graphicData>
          </a:graphic>
        </p:graphicFrame>
        <p:pic>
          <p:nvPicPr>
            <p:cNvPr id="7" name="YMX2TRAX02.eps" descr="id:2147503287;FounderCES"/>
            <p:cNvPicPr/>
            <p:nvPr/>
          </p:nvPicPr>
          <p:blipFill>
            <a:blip r:embed="rId7">
              <a:clrChange>
                <a:clrFrom>
                  <a:srgbClr val="FFFFFF"/>
                </a:clrFrom>
                <a:clrTo>
                  <a:srgbClr val="FFFFFF">
                    <a:alpha val="0"/>
                  </a:srgbClr>
                </a:clrTo>
              </a:clrChange>
            </a:blip>
            <a:stretch>
              <a:fillRect/>
            </a:stretch>
          </p:blipFill>
          <p:spPr>
            <a:xfrm>
              <a:off x="7764675" y="1414582"/>
              <a:ext cx="3080355" cy="2292446"/>
            </a:xfrm>
            <a:prstGeom prst="rect">
              <a:avLst/>
            </a:prstGeom>
          </p:spPr>
        </p:pic>
      </p:gr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381000" y="591321"/>
            <a:ext cx="11430000" cy="6193747"/>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忽视数列的有序性致错</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判断下面两个</a:t>
            </a:r>
            <a:r>
              <a:rPr lang="zh-CN" altLang="zh-CN" sz="2800" dirty="0" smtClean="0">
                <a:solidFill>
                  <a:srgbClr val="000000"/>
                </a:solidFill>
                <a:latin typeface="Times New Roman" panose="02020603050405020304" pitchFamily="18" charset="0"/>
                <a:cs typeface="Times New Roman" panose="02020603050405020304" pitchFamily="18" charset="0"/>
              </a:rPr>
              <a:t>数列</a:t>
            </a:r>
            <a:r>
              <a:rPr lang="zh-CN" altLang="en-US" sz="2800" dirty="0">
                <a:solidFill>
                  <a:srgbClr val="000000"/>
                </a:solidFill>
                <a:latin typeface="Times New Roman" panose="02020603050405020304" pitchFamily="18" charset="0"/>
                <a:cs typeface="Times New Roman" panose="02020603050405020304" pitchFamily="18" charset="0"/>
              </a:rPr>
              <a:t>是不是</a:t>
            </a:r>
            <a:r>
              <a:rPr lang="zh-CN" altLang="zh-CN" sz="2800" dirty="0" smtClean="0">
                <a:solidFill>
                  <a:srgbClr val="000000"/>
                </a:solidFill>
                <a:latin typeface="Times New Roman" panose="02020603050405020304" pitchFamily="18" charset="0"/>
                <a:cs typeface="Times New Roman" panose="02020603050405020304" pitchFamily="18" charset="0"/>
              </a:rPr>
              <a:t>同</a:t>
            </a:r>
            <a:r>
              <a:rPr lang="zh-CN" altLang="zh-CN" sz="2800" dirty="0">
                <a:solidFill>
                  <a:srgbClr val="000000"/>
                </a:solidFill>
                <a:latin typeface="Times New Roman" panose="02020603050405020304" pitchFamily="18" charset="0"/>
                <a:cs typeface="Times New Roman" panose="02020603050405020304" pitchFamily="18" charset="0"/>
              </a:rPr>
              <a:t>一个数列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是同一个数列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将数列与集合混为一谈致错</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不能准确利用数列的概念致错</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因为数列</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与数列</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中的数的排列顺序不同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所以它们不是同一个数列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barn(inVertical)">
                                      <p:cBhvr>
                                        <p:cTn id="7" dur="500"/>
                                        <p:tgtEl>
                                          <p:spTgt spid="2">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barn(inVertical)">
                                      <p:cBhvr>
                                        <p:cTn id="10" dur="500"/>
                                        <p:tgtEl>
                                          <p:spTgt spid="2">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barn(inVertical)">
                                      <p:cBhvr>
                                        <p:cTn id="1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76486"/>
            <a:ext cx="11430000" cy="59221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中的项是有顺序的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不同的顺序对应着不同的数列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392593"/>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写出由集合</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中的所有元素构成的数列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要求首项为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且集合中的每个元素在数列中只出现一次</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集合可表示为</a:t>
            </a:r>
            <a:r>
              <a:rPr lang="en-US" altLang="zh-CN" sz="2800" dirty="0">
                <a:solidFill>
                  <a:srgbClr val="000000"/>
                </a:solidFill>
                <a:latin typeface="Times New Roman" panose="02020603050405020304" pitchFamily="18" charset="0"/>
                <a:cs typeface="Times New Roman" panose="02020603050405020304" pitchFamily="18" charset="0"/>
              </a:rPr>
              <a:t>{1,2,3,4},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由集合中的元素组成的数列要求首项为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且集合中的每个元素在数列中只出现一次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故所求数列有</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dirty="0">
                <a:solidFill>
                  <a:srgbClr val="000000"/>
                </a:solidFill>
                <a:latin typeface="Times New Roman" panose="02020603050405020304" pitchFamily="18" charset="0"/>
                <a:cs typeface="Times New Roman" panose="02020603050405020304" pitchFamily="18" charset="0"/>
              </a:rPr>
              <a:t>:1,2,3,4;1,2,4,3</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1,3,2,4;1,3,4,2;1,4,2,3;1,4,3,2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929"/>
            <a:ext cx="8414483"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下列数列中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既是递增数列又是无穷数列的是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24048435"/>
              </p:ext>
            </p:extLst>
          </p:nvPr>
        </p:nvGraphicFramePr>
        <p:xfrm>
          <a:off x="479854" y="617152"/>
          <a:ext cx="11430000" cy="3209454"/>
        </p:xfrm>
        <a:graphic>
          <a:graphicData uri="http://schemas.openxmlformats.org/presentationml/2006/ole">
            <mc:AlternateContent xmlns:mc="http://schemas.openxmlformats.org/markup-compatibility/2006">
              <mc:Choice xmlns:v="urn:schemas-microsoft-com:vml" Requires="v">
                <p:oleObj spid="_x0000_s16422" name="文档" r:id="rId3" imgW="4520786" imgH="1269401" progId="Word.Document.12">
                  <p:embed/>
                </p:oleObj>
              </mc:Choice>
              <mc:Fallback>
                <p:oleObj name="文档" r:id="rId3" imgW="4520786" imgH="1269401" progId="Word.Document.12">
                  <p:embed/>
                  <p:pic>
                    <p:nvPicPr>
                      <p:cNvPr id="0" name=""/>
                      <p:cNvPicPr/>
                      <p:nvPr/>
                    </p:nvPicPr>
                    <p:blipFill>
                      <a:blip r:embed="rId4"/>
                      <a:stretch>
                        <a:fillRect/>
                      </a:stretch>
                    </p:blipFill>
                    <p:spPr>
                      <a:xfrm>
                        <a:off x="479854" y="617152"/>
                        <a:ext cx="11430000" cy="320945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18910169"/>
              </p:ext>
            </p:extLst>
          </p:nvPr>
        </p:nvGraphicFramePr>
        <p:xfrm>
          <a:off x="479854" y="3785416"/>
          <a:ext cx="11430000" cy="2005680"/>
        </p:xfrm>
        <a:graphic>
          <a:graphicData uri="http://schemas.openxmlformats.org/presentationml/2006/ole">
            <mc:AlternateContent xmlns:mc="http://schemas.openxmlformats.org/markup-compatibility/2006">
              <mc:Choice xmlns:v="urn:schemas-microsoft-com:vml" Requires="v">
                <p:oleObj spid="_x0000_s16423" name="文档" r:id="rId5" imgW="4520786" imgH="793285" progId="Word.Document.12">
                  <p:embed/>
                </p:oleObj>
              </mc:Choice>
              <mc:Fallback>
                <p:oleObj name="文档" r:id="rId5" imgW="4520786" imgH="793285" progId="Word.Document.12">
                  <p:embed/>
                  <p:pic>
                    <p:nvPicPr>
                      <p:cNvPr id="0" name=""/>
                      <p:cNvPicPr/>
                      <p:nvPr/>
                    </p:nvPicPr>
                    <p:blipFill>
                      <a:blip r:embed="rId6"/>
                      <a:stretch>
                        <a:fillRect/>
                      </a:stretch>
                    </p:blipFill>
                    <p:spPr>
                      <a:xfrm>
                        <a:off x="479854" y="3785416"/>
                        <a:ext cx="11430000" cy="2005680"/>
                      </a:xfrm>
                      <a:prstGeom prst="rect">
                        <a:avLst/>
                      </a:prstGeom>
                    </p:spPr>
                  </p:pic>
                </p:oleObj>
              </mc:Fallback>
            </mc:AlternateContent>
          </a:graphicData>
        </a:graphic>
      </p:graphicFrame>
      <p:sp>
        <p:nvSpPr>
          <p:cNvPr id="6" name="矩形 5"/>
          <p:cNvSpPr>
            <a:spLocks noChangeAspect="1"/>
          </p:cNvSpPr>
          <p:nvPr/>
        </p:nvSpPr>
        <p:spPr>
          <a:xfrm>
            <a:off x="381000" y="5766382"/>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66727754"/>
              </p:ext>
            </p:extLst>
          </p:nvPr>
        </p:nvGraphicFramePr>
        <p:xfrm>
          <a:off x="484103" y="853632"/>
          <a:ext cx="11430000" cy="1003297"/>
        </p:xfrm>
        <a:graphic>
          <a:graphicData uri="http://schemas.openxmlformats.org/presentationml/2006/ole">
            <mc:AlternateContent xmlns:mc="http://schemas.openxmlformats.org/markup-compatibility/2006">
              <mc:Choice xmlns:v="urn:schemas-microsoft-com:vml" Requires="v">
                <p:oleObj spid="_x0000_s17464" name="文档" r:id="rId3" imgW="4510061" imgH="397147" progId="Word.Document.12">
                  <p:embed/>
                </p:oleObj>
              </mc:Choice>
              <mc:Fallback>
                <p:oleObj name="文档" r:id="rId3" imgW="4510061" imgH="397147" progId="Word.Document.12">
                  <p:embed/>
                  <p:pic>
                    <p:nvPicPr>
                      <p:cNvPr id="0" name=""/>
                      <p:cNvPicPr/>
                      <p:nvPr/>
                    </p:nvPicPr>
                    <p:blipFill>
                      <a:blip r:embed="rId4"/>
                      <a:stretch>
                        <a:fillRect/>
                      </a:stretch>
                    </p:blipFill>
                    <p:spPr>
                      <a:xfrm>
                        <a:off x="484103" y="853632"/>
                        <a:ext cx="11430000" cy="100329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987542797"/>
              </p:ext>
            </p:extLst>
          </p:nvPr>
        </p:nvGraphicFramePr>
        <p:xfrm>
          <a:off x="484103" y="1652700"/>
          <a:ext cx="11430000" cy="1003297"/>
        </p:xfrm>
        <a:graphic>
          <a:graphicData uri="http://schemas.openxmlformats.org/presentationml/2006/ole">
            <mc:AlternateContent xmlns:mc="http://schemas.openxmlformats.org/markup-compatibility/2006">
              <mc:Choice xmlns:v="urn:schemas-microsoft-com:vml" Requires="v">
                <p:oleObj spid="_x0000_s1746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4103" y="1652700"/>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64089316"/>
              </p:ext>
            </p:extLst>
          </p:nvPr>
        </p:nvGraphicFramePr>
        <p:xfrm>
          <a:off x="484103" y="2509434"/>
          <a:ext cx="11430000" cy="1003297"/>
        </p:xfrm>
        <a:graphic>
          <a:graphicData uri="http://schemas.openxmlformats.org/presentationml/2006/ole">
            <mc:AlternateContent xmlns:mc="http://schemas.openxmlformats.org/markup-compatibility/2006">
              <mc:Choice xmlns:v="urn:schemas-microsoft-com:vml" Requires="v">
                <p:oleObj spid="_x0000_s17466"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484103" y="2509434"/>
                        <a:ext cx="11430000" cy="1003297"/>
                      </a:xfrm>
                      <a:prstGeom prst="rect">
                        <a:avLst/>
                      </a:prstGeom>
                    </p:spPr>
                  </p:pic>
                </p:oleObj>
              </mc:Fallback>
            </mc:AlternateContent>
          </a:graphicData>
        </a:graphic>
      </p:graphicFrame>
      <p:sp>
        <p:nvSpPr>
          <p:cNvPr id="5" name="矩形 4"/>
          <p:cNvSpPr>
            <a:spLocks noChangeAspect="1"/>
          </p:cNvSpPr>
          <p:nvPr/>
        </p:nvSpPr>
        <p:spPr>
          <a:xfrm>
            <a:off x="381000" y="3422113"/>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27,64,</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en-US" sz="2800" dirty="0">
                <a:solidFill>
                  <a:srgbClr val="000000"/>
                </a:solidFill>
                <a:latin typeface="Times New Roman" panose="02020603050405020304" pitchFamily="18" charset="0"/>
                <a:cs typeface="Times New Roman" panose="02020603050405020304" pitchFamily="18" charset="0"/>
              </a:rPr>
              <a:t>一个</a:t>
            </a:r>
            <a:r>
              <a:rPr lang="zh-CN" altLang="zh-CN" sz="2800" dirty="0" smtClean="0">
                <a:solidFill>
                  <a:srgbClr val="000000"/>
                </a:solidFill>
                <a:latin typeface="Times New Roman" panose="02020603050405020304" pitchFamily="18" charset="0"/>
                <a:cs typeface="Times New Roman" panose="02020603050405020304" pitchFamily="18" charset="0"/>
              </a:rPr>
              <a:t>通项</a:t>
            </a:r>
            <a:r>
              <a:rPr lang="zh-CN" altLang="zh-CN" sz="2800" dirty="0">
                <a:solidFill>
                  <a:srgbClr val="000000"/>
                </a:solidFill>
                <a:latin typeface="Times New Roman" panose="02020603050405020304" pitchFamily="18" charset="0"/>
                <a:cs typeface="Times New Roman" panose="02020603050405020304" pitchFamily="18" charset="0"/>
              </a:rPr>
              <a:t>公式为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arn(inVertical)">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853823552"/>
              </p:ext>
            </p:extLst>
          </p:nvPr>
        </p:nvGraphicFramePr>
        <p:xfrm>
          <a:off x="484103" y="1219987"/>
          <a:ext cx="11430000" cy="4212750"/>
        </p:xfrm>
        <a:graphic>
          <a:graphicData uri="http://schemas.openxmlformats.org/presentationml/2006/ole">
            <mc:AlternateContent xmlns:mc="http://schemas.openxmlformats.org/markup-compatibility/2006">
              <mc:Choice xmlns:v="urn:schemas-microsoft-com:vml" Requires="v">
                <p:oleObj spid="_x0000_s18470" name="文档" r:id="rId3" imgW="4520786" imgH="1666224" progId="Word.Document.12">
                  <p:embed/>
                </p:oleObj>
              </mc:Choice>
              <mc:Fallback>
                <p:oleObj name="文档" r:id="rId3" imgW="4520786" imgH="1666224" progId="Word.Document.12">
                  <p:embed/>
                  <p:pic>
                    <p:nvPicPr>
                      <p:cNvPr id="0" name=""/>
                      <p:cNvPicPr/>
                      <p:nvPr/>
                    </p:nvPicPr>
                    <p:blipFill>
                      <a:blip r:embed="rId4"/>
                      <a:stretch>
                        <a:fillRect/>
                      </a:stretch>
                    </p:blipFill>
                    <p:spPr>
                      <a:xfrm>
                        <a:off x="484103" y="1219987"/>
                        <a:ext cx="11430000" cy="42127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493913098"/>
              </p:ext>
            </p:extLst>
          </p:nvPr>
        </p:nvGraphicFramePr>
        <p:xfrm>
          <a:off x="479206" y="368772"/>
          <a:ext cx="11275153" cy="991965"/>
        </p:xfrm>
        <a:graphic>
          <a:graphicData uri="http://schemas.openxmlformats.org/presentationml/2006/ole">
            <mc:AlternateContent xmlns:mc="http://schemas.openxmlformats.org/markup-compatibility/2006">
              <mc:Choice xmlns:v="urn:schemas-microsoft-com:vml" Requires="v">
                <p:oleObj spid="_x0000_s18471" name="文档" r:id="rId5" imgW="4510061" imgH="396786" progId="Word.Document.12">
                  <p:embed/>
                </p:oleObj>
              </mc:Choice>
              <mc:Fallback>
                <p:oleObj name="文档" r:id="rId5" imgW="4510061" imgH="396786" progId="Word.Document.12">
                  <p:embed/>
                  <p:pic>
                    <p:nvPicPr>
                      <p:cNvPr id="0" name=""/>
                      <p:cNvPicPr/>
                      <p:nvPr/>
                    </p:nvPicPr>
                    <p:blipFill>
                      <a:blip r:embed="rId6"/>
                      <a:stretch>
                        <a:fillRect/>
                      </a:stretch>
                    </p:blipFill>
                    <p:spPr>
                      <a:xfrm>
                        <a:off x="479206" y="368772"/>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197</TotalTime>
  <Words>2284</Words>
  <Application>Microsoft Office PowerPoint</Application>
  <PresentationFormat>宽屏</PresentationFormat>
  <Paragraphs>188</Paragraphs>
  <Slides>41</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61"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51</cp:revision>
  <dcterms:created xsi:type="dcterms:W3CDTF">2021-08-30T08:30:26Z</dcterms:created>
  <dcterms:modified xsi:type="dcterms:W3CDTF">2025-08-01T05:28:13Z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