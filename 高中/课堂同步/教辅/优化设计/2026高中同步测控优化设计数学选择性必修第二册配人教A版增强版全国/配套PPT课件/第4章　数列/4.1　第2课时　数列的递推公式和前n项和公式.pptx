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407" r:id="rId11"/>
    <p:sldId id="394" r:id="rId12"/>
    <p:sldId id="699" r:id="rId13"/>
    <p:sldId id="700" r:id="rId14"/>
    <p:sldId id="402" r:id="rId15"/>
    <p:sldId id="712" r:id="rId16"/>
    <p:sldId id="713" r:id="rId17"/>
    <p:sldId id="714" r:id="rId18"/>
    <p:sldId id="741" r:id="rId19"/>
    <p:sldId id="738" r:id="rId20"/>
    <p:sldId id="398" r:id="rId21"/>
    <p:sldId id="395" r:id="rId22"/>
    <p:sldId id="756" r:id="rId23"/>
    <p:sldId id="757" r:id="rId24"/>
    <p:sldId id="758" r:id="rId25"/>
    <p:sldId id="49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79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slide" Target="../slides/slide11.xml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8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89931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100595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4" action="ppaction://hlinksldjump"/>
          </p:cNvPr>
          <p:cNvSpPr/>
          <p:nvPr userDrawn="1"/>
        </p:nvSpPr>
        <p:spPr>
          <a:xfrm>
            <a:off x="111258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package" Target="../embeddings/Microsoft_Word___4.docx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Word___9.docx"/><Relationship Id="rId4" Type="http://schemas.openxmlformats.org/officeDocument/2006/relationships/image" Target="../media/image1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5.emf"/><Relationship Id="rId5" Type="http://schemas.openxmlformats.org/officeDocument/2006/relationships/package" Target="../embeddings/Microsoft_Word___11.docx"/><Relationship Id="rId4" Type="http://schemas.openxmlformats.org/officeDocument/2006/relationships/image" Target="../media/image1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__13.docx"/><Relationship Id="rId4" Type="http://schemas.openxmlformats.org/officeDocument/2006/relationships/image" Target="../media/image1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2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数列的递推公式和前</a:t>
              </a:r>
              <a:r>
                <a:rPr lang="en-US" altLang="zh-CN" sz="3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华文细黑" panose="02010600040101010101" charset="-122"/>
                  <a:cs typeface="Times New Roman" panose="02020603050405020304" pitchFamily="18" charset="0"/>
                </a:rPr>
                <a:t>n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项和公式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第四章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4.1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726"/>
            <a:ext cx="11430000" cy="22806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理解递推公式的含义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掌握数列的前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项和公式及其应用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掌握递推公式的应用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体会数学抽象的过程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提升逻辑推理与数学运算能力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8790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一、递推公式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某会议室有若干排座位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每一排的座位数构成的数列设为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从第二排起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后一排都比前一排多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个座位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排与第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排座位数有什么关系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若第一排有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个座位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是怎样的一列数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7,9,11,13,15,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4" name="23R01.eps" descr="id:2147502557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12383" y="2007813"/>
            <a:ext cx="2860959" cy="24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的递推公式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如果一个数列的相邻两项或多项之间的关系可以用一个式子来表示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那么这个式子叫做这个数列的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两个条件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已知数列的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或前几项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从第二项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或某一项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开始的任一项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与它的前一项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或前几项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间的关系可以用一个公式来表示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886125" y="1879189"/>
            <a:ext cx="70975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5897765" y="2326540"/>
            <a:ext cx="7067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883152" y="3011799"/>
            <a:ext cx="255129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2894792" y="3448759"/>
            <a:ext cx="254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82779"/>
            <a:ext cx="6822380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1,3,6,10,15,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的递推公式是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395427"/>
              </p:ext>
            </p:extLst>
          </p:nvPr>
        </p:nvGraphicFramePr>
        <p:xfrm>
          <a:off x="33338" y="914400"/>
          <a:ext cx="11401425" cy="399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文档" r:id="rId3" imgW="4510061" imgH="1589308" progId="Word.Document.12">
                  <p:embed/>
                </p:oleObj>
              </mc:Choice>
              <mc:Fallback>
                <p:oleObj name="文档" r:id="rId3" imgW="4510061" imgH="15893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338" y="914400"/>
                        <a:ext cx="11401425" cy="3998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939299"/>
            <a:ext cx="161294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05962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项和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我们把数列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从第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项起到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止的各项之和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称为数列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记作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99051"/>
              </p:ext>
            </p:extLst>
          </p:nvPr>
        </p:nvGraphicFramePr>
        <p:xfrm>
          <a:off x="355745" y="2013558"/>
          <a:ext cx="11401425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文档" r:id="rId3" imgW="4510061" imgH="494091" progId="Word.Document.12">
                  <p:embed/>
                </p:oleObj>
              </mc:Choice>
              <mc:Fallback>
                <p:oleObj name="文档" r:id="rId3" imgW="4510061" imgH="4940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5745" y="2013558"/>
                        <a:ext cx="11401425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12472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A.15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B.16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C.49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D.64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556083" y="827448"/>
            <a:ext cx="17177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4567723" y="1264408"/>
            <a:ext cx="1710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197846" y="827448"/>
            <a:ext cx="28607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209486" y="1264408"/>
            <a:ext cx="2848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257216" y="1433410"/>
            <a:ext cx="261363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3268857" y="1870370"/>
            <a:ext cx="26026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996171" y="1958946"/>
            <a:ext cx="126840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986672" y="2503167"/>
            <a:ext cx="201888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93975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则可以求出数列的任一项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则可以求出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成立的条件是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9960743" y="2158293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9311853" y="2715179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8597552" y="3255023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10683679" y="3818229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递推公式的应用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594912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写出它的前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并归纳出数列的一个通项公式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520624"/>
              </p:ext>
            </p:extLst>
          </p:nvPr>
        </p:nvGraphicFramePr>
        <p:xfrm>
          <a:off x="6541748" y="619348"/>
          <a:ext cx="1008915" cy="830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文档" r:id="rId3" imgW="491233" imgH="397544" progId="Word.Document.12">
                  <p:embed/>
                </p:oleObj>
              </mc:Choice>
              <mc:Fallback>
                <p:oleObj name="文档" r:id="rId3" imgW="491233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41748" y="619348"/>
                        <a:ext cx="1008915" cy="830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5615957"/>
              </p:ext>
            </p:extLst>
          </p:nvPr>
        </p:nvGraphicFramePr>
        <p:xfrm>
          <a:off x="32954" y="1724173"/>
          <a:ext cx="11430000" cy="5014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文档" r:id="rId5" imgW="4520786" imgH="1983394" progId="Word.Document.12">
                  <p:embed/>
                </p:oleObj>
              </mc:Choice>
              <mc:Fallback>
                <p:oleObj name="文档" r:id="rId5" imgW="4520786" imgH="19833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954" y="1724173"/>
                        <a:ext cx="11430000" cy="50146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在递推公式中令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1,2,3,4,5,</a:t>
            </a:r>
            <a:r>
              <a:rPr lang="en-US" altLang="zh-CN" sz="2800" dirty="0">
                <a:solidFill>
                  <a:srgbClr val="000000"/>
                </a:solidFill>
                <a:latin typeface="仿宋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结合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的值即可以求出数列的前几项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解答本题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归纳出通项公式是难点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在写出数列的前几项时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一般不对其化简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目的是利于观察规律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进而写出通项公式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6456"/>
            <a:ext cx="11430000" cy="619374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写出数列的前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项并归纳出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2×15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2×31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2×63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127,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可以看出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给每一项均加上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就变成了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可猜想出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由</a:t>
                </a:r>
                <a:r>
                  <a:rPr lang="en-US" altLang="zh-CN" sz="2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求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805651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满足下列条件时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2×1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4×1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依然成立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1173" y="831822"/>
            <a:ext cx="11430000" cy="3624219"/>
            <a:chOff x="31173" y="831822"/>
            <a:chExt cx="11430000" cy="362421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831822"/>
              <a:ext cx="4589718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6146870"/>
                </p:ext>
              </p:extLst>
            </p:nvPr>
          </p:nvGraphicFramePr>
          <p:xfrm>
            <a:off x="31173" y="1505090"/>
            <a:ext cx="11430000" cy="29509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3" name="文档" r:id="rId3" imgW="4510061" imgH="1164389" progId="Word.Document.12">
                    <p:embed/>
                  </p:oleObj>
                </mc:Choice>
                <mc:Fallback>
                  <p:oleObj name="文档" r:id="rId3" imgW="4510061" imgH="116438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173" y="1505090"/>
                          <a:ext cx="11430000" cy="29509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594591"/>
                <a:ext cx="11430000" cy="470276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en-US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反思感悟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已知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的前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项和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求数列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的通项公式的步骤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=S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根据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写出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化简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=S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-S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如果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也满足当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时的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=S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-S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那么数列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的通项公式为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=S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-S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如本例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(1)];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如果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不满足当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时的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=S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-S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那么数列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的通项公式可分段表示为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zh-CN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CN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≥2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如本例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(2)]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4591"/>
                <a:ext cx="11430000" cy="4702762"/>
              </a:xfrm>
              <a:prstGeom prst="rect">
                <a:avLst/>
              </a:prstGeom>
              <a:blipFill rotWithShape="0">
                <a:blip r:embed="rId2"/>
                <a:stretch>
                  <a:fillRect l="-1120" t="-389" r="-6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>
                <a:spLocks noChangeAspect="1"/>
              </p:cNvSpPr>
              <p:nvPr/>
            </p:nvSpPr>
            <p:spPr>
              <a:xfrm>
                <a:off x="381000" y="594591"/>
                <a:ext cx="11430000" cy="433285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【变式训练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NEU-BZ-S92"/>
                    <a:ea typeface="Arial" panose="020B06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已知数列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的前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项和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求数列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的通项公式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=S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×1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=S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-S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=-n+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∵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也适合上式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的通项公式为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=-n+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4591"/>
                <a:ext cx="11430000" cy="4332853"/>
              </a:xfrm>
              <a:prstGeom prst="rect">
                <a:avLst/>
              </a:prstGeom>
              <a:blipFill rotWithShape="0">
                <a:blip r:embed="rId2"/>
                <a:stretch>
                  <a:fillRect l="-1120" r="-160" b="-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81000" y="594591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忽视数列中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的取值范围致错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的最小项为第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126330"/>
              </p:ext>
            </p:extLst>
          </p:nvPr>
        </p:nvGraphicFramePr>
        <p:xfrm>
          <a:off x="43248" y="2158453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8" y="2158453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035713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时取最小值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忽视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这一条件致错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忽视二次函数图象的对称性只得到一个解致错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827166"/>
              </p:ext>
            </p:extLst>
          </p:nvPr>
        </p:nvGraphicFramePr>
        <p:xfrm>
          <a:off x="41190" y="301545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0" y="301545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1201913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的项最小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数列是特殊的函数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只是自变量的取值范围是正整数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在解题时应特别注意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如本例中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的项最小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若一个数列是递增数列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则其首项是这个数列的最小项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若一个数列是递减数列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则其首项是这个数列的最大项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此外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判断数列的单调性有时需要结合函数的有关性质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02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A.6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C.12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D.20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329894"/>
              </p:ext>
            </p:extLst>
          </p:nvPr>
        </p:nvGraphicFramePr>
        <p:xfrm>
          <a:off x="484103" y="258845"/>
          <a:ext cx="11430000" cy="300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文档" r:id="rId3" imgW="4520786" imgH="1190108" progId="Word.Document.12">
                  <p:embed/>
                </p:oleObj>
              </mc:Choice>
              <mc:Fallback>
                <p:oleObj name="文档" r:id="rId3" imgW="4520786" imgH="11901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103" y="258845"/>
                        <a:ext cx="11430000" cy="300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364624"/>
              </p:ext>
            </p:extLst>
          </p:nvPr>
        </p:nvGraphicFramePr>
        <p:xfrm>
          <a:off x="484103" y="3165942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文档" r:id="rId5" imgW="4520786" imgH="793285" progId="Word.Document.12">
                  <p:embed/>
                </p:oleObj>
              </mc:Choice>
              <mc:Fallback>
                <p:oleObj name="文档" r:id="rId5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4103" y="3165942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055057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2874"/>
            <a:ext cx="11430000" cy="45132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3 030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3 029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由已知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3 029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且满足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i="1" u="sng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489586"/>
              </p:ext>
            </p:extLst>
          </p:nvPr>
        </p:nvGraphicFramePr>
        <p:xfrm>
          <a:off x="479854" y="4577973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854" y="4577973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450091"/>
              </p:ext>
            </p:extLst>
          </p:nvPr>
        </p:nvGraphicFramePr>
        <p:xfrm>
          <a:off x="479854" y="5418237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9854" y="5418237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266027"/>
              </p:ext>
            </p:extLst>
          </p:nvPr>
        </p:nvGraphicFramePr>
        <p:xfrm>
          <a:off x="488091" y="1117150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0" name="文档" r:id="rId3" imgW="4510061" imgH="397147" progId="Word.Document.12">
                  <p:embed/>
                </p:oleObj>
              </mc:Choice>
              <mc:Fallback>
                <p:oleObj name="文档" r:id="rId3" imgW="4510061" imgH="3971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8091" y="1117150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1717409"/>
              </p:ext>
            </p:extLst>
          </p:nvPr>
        </p:nvGraphicFramePr>
        <p:xfrm>
          <a:off x="488091" y="2003471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name="文档" r:id="rId5" imgW="4520786" imgH="793285" progId="Word.Document.12">
                  <p:embed/>
                </p:oleObj>
              </mc:Choice>
              <mc:Fallback>
                <p:oleObj name="文档" r:id="rId5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8091" y="2003471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223</TotalTime>
  <Words>1185</Words>
  <Application>Microsoft Office PowerPoint</Application>
  <PresentationFormat>宽屏</PresentationFormat>
  <Paragraphs>116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46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Microsoft Word 文档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35</cp:revision>
  <dcterms:created xsi:type="dcterms:W3CDTF">2021-08-30T08:30:26Z</dcterms:created>
  <dcterms:modified xsi:type="dcterms:W3CDTF">2025-08-01T05:33:06Z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