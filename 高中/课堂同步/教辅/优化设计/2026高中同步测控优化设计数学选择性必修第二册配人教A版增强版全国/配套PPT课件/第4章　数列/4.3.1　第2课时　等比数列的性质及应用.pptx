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677" r:id="rId2"/>
    <p:sldId id="488" r:id="rId3"/>
    <p:sldId id="494" r:id="rId4"/>
    <p:sldId id="392" r:id="rId5"/>
    <p:sldId id="686" r:id="rId6"/>
    <p:sldId id="687" r:id="rId7"/>
    <p:sldId id="688" r:id="rId8"/>
    <p:sldId id="689" r:id="rId9"/>
    <p:sldId id="690" r:id="rId10"/>
    <p:sldId id="407" r:id="rId11"/>
    <p:sldId id="394" r:id="rId12"/>
    <p:sldId id="699" r:id="rId13"/>
    <p:sldId id="700" r:id="rId14"/>
    <p:sldId id="701" r:id="rId15"/>
    <p:sldId id="402" r:id="rId16"/>
    <p:sldId id="712" r:id="rId17"/>
    <p:sldId id="713" r:id="rId18"/>
    <p:sldId id="498" r:id="rId19"/>
    <p:sldId id="730" r:id="rId20"/>
    <p:sldId id="733" r:id="rId21"/>
    <p:sldId id="741" r:id="rId22"/>
    <p:sldId id="738" r:id="rId23"/>
    <p:sldId id="398" r:id="rId24"/>
    <p:sldId id="395" r:id="rId25"/>
    <p:sldId id="756" r:id="rId26"/>
    <p:sldId id="757" r:id="rId27"/>
    <p:sldId id="765" r:id="rId28"/>
    <p:sldId id="758" r:id="rId29"/>
    <p:sldId id="490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8">
          <p15:clr>
            <a:srgbClr val="A4A3A4"/>
          </p15:clr>
        </p15:guide>
        <p15:guide id="2" pos="211" userDrawn="1">
          <p15:clr>
            <a:srgbClr val="A4A3A4"/>
          </p15:clr>
        </p15:guide>
        <p15:guide id="3" orient="horz" pos="436" userDrawn="1">
          <p15:clr>
            <a:srgbClr val="A4A3A4"/>
          </p15:clr>
        </p15:guide>
        <p15:guide id="4" orient="horz" pos="777" userDrawn="1">
          <p15:clr>
            <a:srgbClr val="A4A3A4"/>
          </p15:clr>
        </p15:guide>
        <p15:guide id="5" orient="horz" pos="28" userDrawn="1">
          <p15:clr>
            <a:srgbClr val="A4A3A4"/>
          </p15:clr>
        </p15:guide>
        <p15:guide id="6" pos="279" userDrawn="1">
          <p15:clr>
            <a:srgbClr val="A4A3A4"/>
          </p15:clr>
        </p15:guide>
        <p15:guide id="7" orient="horz" pos="7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5B3E"/>
    <a:srgbClr val="7088DB"/>
    <a:srgbClr val="CF5B1B"/>
    <a:srgbClr val="38425D"/>
    <a:srgbClr val="4472C4"/>
    <a:srgbClr val="DFF0F5"/>
    <a:srgbClr val="4040C8"/>
    <a:srgbClr val="159470"/>
    <a:srgbClr val="157392"/>
    <a:srgbClr val="1593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84"/>
      </p:cViewPr>
      <p:guideLst>
        <p:guide orient="horz" pos="368"/>
        <p:guide pos="211"/>
        <p:guide orient="horz" pos="436"/>
        <p:guide orient="horz" pos="777"/>
        <p:guide orient="horz" pos="28"/>
        <p:guide pos="279"/>
        <p:guide orient="horz" pos="7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9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image" Target="../media/image5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image" Target="../media/image19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B3386-1164-4DE5-87D6-99DD641BC976}" type="datetimeFigureOut">
              <a:rPr lang="zh-CN" altLang="en-US" smtClean="0"/>
              <a:t>2024-07-17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DB411-4171-48A7-B819-B87F89F6C7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488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5.xml"/><Relationship Id="rId2" Type="http://schemas.openxmlformats.org/officeDocument/2006/relationships/slide" Target="../slides/slide11.xml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21.xml"/><Relationship Id="rId4" Type="http://schemas.openxmlformats.org/officeDocument/2006/relationships/slide" Target="../slides/slide18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>
            <a:hlinkClick r:id="rId2" action="ppaction://hlinksldjump"/>
          </p:cNvPr>
          <p:cNvSpPr/>
          <p:nvPr userDrawn="1"/>
        </p:nvSpPr>
        <p:spPr>
          <a:xfrm>
            <a:off x="7926847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探究一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圆角矩形 7">
            <a:hlinkClick r:id="rId3" action="ppaction://hlinksldjump"/>
          </p:cNvPr>
          <p:cNvSpPr/>
          <p:nvPr userDrawn="1"/>
        </p:nvSpPr>
        <p:spPr>
          <a:xfrm>
            <a:off x="8993191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探究二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圆角矩形 8">
            <a:hlinkClick r:id="rId4" action="ppaction://hlinksldjump"/>
          </p:cNvPr>
          <p:cNvSpPr/>
          <p:nvPr userDrawn="1"/>
        </p:nvSpPr>
        <p:spPr>
          <a:xfrm>
            <a:off x="10059535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探究三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圆角矩形 5">
            <a:hlinkClick r:id="rId5" action="ppaction://hlinksldjump"/>
          </p:cNvPr>
          <p:cNvSpPr/>
          <p:nvPr userDrawn="1"/>
        </p:nvSpPr>
        <p:spPr>
          <a:xfrm>
            <a:off x="11125879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思想方法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slide" Target="slide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4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package" Target="../embeddings/Microsoft_Word___4.docx"/><Relationship Id="rId7" Type="http://schemas.openxmlformats.org/officeDocument/2006/relationships/package" Target="../embeddings/Microsoft_Word___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6.emf"/><Relationship Id="rId5" Type="http://schemas.openxmlformats.org/officeDocument/2006/relationships/package" Target="../embeddings/Microsoft_Word___5.docx"/><Relationship Id="rId4" Type="http://schemas.openxmlformats.org/officeDocument/2006/relationships/image" Target="../media/image5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8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9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0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1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2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13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14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4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6.emf"/><Relationship Id="rId5" Type="http://schemas.openxmlformats.org/officeDocument/2006/relationships/package" Target="../embeddings/Microsoft_Word___15.docx"/><Relationship Id="rId4" Type="http://schemas.openxmlformats.org/officeDocument/2006/relationships/image" Target="../media/image15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17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18.e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8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20.emf"/><Relationship Id="rId5" Type="http://schemas.openxmlformats.org/officeDocument/2006/relationships/package" Target="../embeddings/Microsoft_Word___19.docx"/><Relationship Id="rId4" Type="http://schemas.openxmlformats.org/officeDocument/2006/relationships/image" Target="../media/image19.e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0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21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1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22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2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23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300879" y="519978"/>
            <a:ext cx="40479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2400" b="1" spc="600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高中同步测控优化设计</a:t>
            </a:r>
            <a:endParaRPr lang="zh-CN" altLang="en-US" sz="2400" b="1" spc="600" dirty="0">
              <a:solidFill>
                <a:srgbClr val="757C8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2282351" y="1003843"/>
            <a:ext cx="4305485" cy="0"/>
          </a:xfrm>
          <a:prstGeom prst="line">
            <a:avLst/>
          </a:prstGeom>
          <a:ln>
            <a:solidFill>
              <a:schemeClr val="tx1"/>
            </a:solidFill>
            <a:prstDash val="lgDashDotDot"/>
            <a:headEnd type="diamond" w="med" len="med"/>
            <a:tailEnd type="diamond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173232" y="1026313"/>
            <a:ext cx="44146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GAO ZHONG TONG </a:t>
            </a:r>
            <a:r>
              <a:rPr lang="en-US" altLang="zh-CN" sz="1600" b="1" dirty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 CE KONG YOU HUA SHE JI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635" y="2775585"/>
            <a:ext cx="12191365" cy="1478915"/>
            <a:chOff x="303375" y="3227146"/>
            <a:chExt cx="11560182" cy="1479076"/>
          </a:xfrm>
        </p:grpSpPr>
        <p:sp>
          <p:nvSpPr>
            <p:cNvPr id="6" name="矩形 5"/>
            <p:cNvSpPr/>
            <p:nvPr/>
          </p:nvSpPr>
          <p:spPr>
            <a:xfrm>
              <a:off x="303375" y="3227146"/>
              <a:ext cx="11560182" cy="1479076"/>
            </a:xfrm>
            <a:prstGeom prst="rect">
              <a:avLst/>
            </a:prstGeom>
            <a:solidFill>
              <a:srgbClr val="6B7278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3665034" y="3614538"/>
              <a:ext cx="8158783" cy="6452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第</a:t>
              </a:r>
              <a:r>
                <a:rPr lang="en-US" altLang="zh-CN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2</a:t>
              </a:r>
              <a:r>
                <a:rPr lang="zh-CN" altLang="en-US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课时　等比数列的性质及应用</a:t>
              </a:r>
            </a:p>
          </p:txBody>
        </p:sp>
      </p:grpSp>
      <p:sp>
        <p:nvSpPr>
          <p:cNvPr id="8" name="矩形 7"/>
          <p:cNvSpPr/>
          <p:nvPr/>
        </p:nvSpPr>
        <p:spPr>
          <a:xfrm>
            <a:off x="1109345" y="2277745"/>
            <a:ext cx="2282825" cy="2407920"/>
          </a:xfrm>
          <a:prstGeom prst="rect">
            <a:avLst/>
          </a:prstGeom>
          <a:solidFill>
            <a:srgbClr val="748773"/>
          </a:solidFill>
          <a:ln w="12700" cap="flat" cmpd="sng" algn="ctr">
            <a:noFill/>
            <a:prstDash val="solid"/>
            <a:miter lim="800000"/>
          </a:ln>
          <a:effectLst>
            <a:outerShdw blurRad="317500" dist="127000" dir="2700000" algn="tl" rotWithShape="0">
              <a:prstClr val="black">
                <a:alpha val="25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none" rtlCol="0" anchor="ctr"/>
          <a:lstStyle/>
          <a:p>
            <a:pPr algn="ctr"/>
            <a:r>
              <a:rPr lang="zh-CN" altLang="en-US" sz="3600" b="1" kern="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第四章</a:t>
            </a:r>
            <a:endParaRPr lang="en-US" altLang="zh-CN" sz="3600" b="1" kern="0" dirty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cs typeface="Open Sans" panose="020B0606030504020204" pitchFamily="34" charset="0"/>
            </a:endParaRPr>
          </a:p>
          <a:p>
            <a:pPr algn="ctr"/>
            <a:r>
              <a:rPr lang="en-US" altLang="zh-CN" sz="3600" b="1" kern="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4.3.1</a:t>
            </a:r>
          </a:p>
        </p:txBody>
      </p:sp>
      <p:pic>
        <p:nvPicPr>
          <p:cNvPr id="10" name="图片 9" descr="e37b0ec1d4924ecca897357d279cf88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1370" y="175260"/>
            <a:ext cx="1453515" cy="145351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001385" y="587446"/>
            <a:ext cx="1052723" cy="587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rgbClr val="757C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  <a:endParaRPr lang="en-US" altLang="zh-CN" sz="2800" b="1" dirty="0" smtClean="0">
              <a:solidFill>
                <a:srgbClr val="757C8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984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  <p:bldLst>
      <p:bldP spid="2" grpId="0"/>
      <p:bldP spid="4" grpId="0"/>
      <p:bldP spid="8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/>
        </p:nvSpPr>
        <p:spPr>
          <a:xfrm>
            <a:off x="1788494" y="1591871"/>
            <a:ext cx="9429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800" smtClean="0">
                <a:solidFill>
                  <a:srgbClr val="2C3814"/>
                </a:solidFill>
                <a:cs typeface="+mn-ea"/>
                <a:sym typeface="+mn-lt"/>
              </a:rPr>
              <a:t>内容索引</a:t>
            </a:r>
            <a:endParaRPr kumimoji="1" lang="zh-CN" altLang="en-US" sz="4800" dirty="0">
              <a:solidFill>
                <a:srgbClr val="2C3814"/>
              </a:solidFill>
              <a:cs typeface="+mn-ea"/>
              <a:sym typeface="+mn-lt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378713" y="856615"/>
            <a:ext cx="1105802" cy="815646"/>
            <a:chOff x="-1604504" y="2147667"/>
            <a:chExt cx="3687215" cy="2719712"/>
          </a:xfrm>
        </p:grpSpPr>
        <p:cxnSp>
          <p:nvCxnSpPr>
            <p:cNvPr id="26" name="直接连接符 25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27" name="直接连接符 26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28" name="组合 27"/>
          <p:cNvGrpSpPr/>
          <p:nvPr/>
        </p:nvGrpSpPr>
        <p:grpSpPr>
          <a:xfrm flipH="1" flipV="1">
            <a:off x="1707083" y="4546456"/>
            <a:ext cx="1105803" cy="815646"/>
            <a:chOff x="-1604504" y="2147667"/>
            <a:chExt cx="3687215" cy="2719712"/>
          </a:xfrm>
        </p:grpSpPr>
        <p:cxnSp>
          <p:nvCxnSpPr>
            <p:cNvPr id="38" name="直接连接符 37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39" name="直接连接符 38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grpSp>
        <p:nvGrpSpPr>
          <p:cNvPr id="40" name="组合 39"/>
          <p:cNvGrpSpPr/>
          <p:nvPr/>
        </p:nvGrpSpPr>
        <p:grpSpPr>
          <a:xfrm>
            <a:off x="4764013" y="1194282"/>
            <a:ext cx="804581" cy="804581"/>
            <a:chOff x="3685832" y="623962"/>
            <a:chExt cx="739840" cy="739840"/>
          </a:xfrm>
        </p:grpSpPr>
        <p:sp>
          <p:nvSpPr>
            <p:cNvPr id="44" name="椭圆 43"/>
            <p:cNvSpPr/>
            <p:nvPr/>
          </p:nvSpPr>
          <p:spPr>
            <a:xfrm>
              <a:off x="3685832" y="623962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E93F3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5" name="TextBox 7"/>
            <p:cNvSpPr txBox="1"/>
            <p:nvPr/>
          </p:nvSpPr>
          <p:spPr>
            <a:xfrm>
              <a:off x="3786929" y="743838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01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4764013" y="2760859"/>
            <a:ext cx="804581" cy="804581"/>
            <a:chOff x="3685832" y="1673493"/>
            <a:chExt cx="739840" cy="739840"/>
          </a:xfrm>
        </p:grpSpPr>
        <p:sp>
          <p:nvSpPr>
            <p:cNvPr id="47" name="椭圆 46"/>
            <p:cNvSpPr/>
            <p:nvPr/>
          </p:nvSpPr>
          <p:spPr>
            <a:xfrm>
              <a:off x="3685832" y="1673493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8" name="TextBox 10"/>
            <p:cNvSpPr txBox="1"/>
            <p:nvPr/>
          </p:nvSpPr>
          <p:spPr>
            <a:xfrm>
              <a:off x="3786931" y="1793369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02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4764013" y="4327435"/>
            <a:ext cx="804581" cy="804581"/>
            <a:chOff x="3685832" y="2723024"/>
            <a:chExt cx="739840" cy="739840"/>
          </a:xfrm>
        </p:grpSpPr>
        <p:sp>
          <p:nvSpPr>
            <p:cNvPr id="50" name="椭圆 49"/>
            <p:cNvSpPr/>
            <p:nvPr/>
          </p:nvSpPr>
          <p:spPr>
            <a:xfrm>
              <a:off x="3685832" y="2723024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1905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51" name="TextBox 13"/>
            <p:cNvSpPr txBox="1"/>
            <p:nvPr/>
          </p:nvSpPr>
          <p:spPr>
            <a:xfrm>
              <a:off x="3786929" y="2842900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03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sp>
        <p:nvSpPr>
          <p:cNvPr id="52" name="矩形 51">
            <a:hlinkClick r:id="rId2" action="ppaction://hlinksldjump"/>
          </p:cNvPr>
          <p:cNvSpPr/>
          <p:nvPr/>
        </p:nvSpPr>
        <p:spPr>
          <a:xfrm>
            <a:off x="5678538" y="1286748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自主预习 新知导学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3" name="矩形 52">
            <a:hlinkClick r:id="rId3" action="ppaction://hlinksldjump"/>
          </p:cNvPr>
          <p:cNvSpPr/>
          <p:nvPr/>
        </p:nvSpPr>
        <p:spPr>
          <a:xfrm>
            <a:off x="5678538" y="2871606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合作探究 释疑解惑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4" name="矩形 53">
            <a:hlinkClick r:id="rId4" action="ppaction://hlinksldjump"/>
          </p:cNvPr>
          <p:cNvSpPr/>
          <p:nvPr/>
        </p:nvSpPr>
        <p:spPr>
          <a:xfrm>
            <a:off x="5678538" y="4456463"/>
            <a:ext cx="1556836" cy="5024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随堂练习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17500" y="701716"/>
            <a:ext cx="11557000" cy="5689151"/>
          </a:xfrm>
          <a:prstGeom prst="rect">
            <a:avLst/>
          </a:prstGeom>
          <a:noFill/>
          <a:ln w="19050"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57000">
                  <a:schemeClr val="tx1">
                    <a:lumMod val="50000"/>
                    <a:lumOff val="50000"/>
                  </a:schemeClr>
                </a:gs>
                <a:gs pos="29000">
                  <a:schemeClr val="tx1"/>
                </a:gs>
                <a:gs pos="100000">
                  <a:schemeClr val="bg1"/>
                </a:gs>
              </a:gsLst>
              <a:lin ang="5400000" scaled="1"/>
            </a:gra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4766695" y="446122"/>
            <a:ext cx="3253105" cy="49064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课标定</a:t>
            </a:r>
            <a:r>
              <a:rPr lang="zh-CN" altLang="en-US" sz="2800" kern="0" dirty="0" smtClea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位素养</a:t>
            </a: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阐释</a:t>
            </a:r>
          </a:p>
        </p:txBody>
      </p:sp>
      <p:sp>
        <p:nvSpPr>
          <p:cNvPr id="3" name="矩形 2"/>
          <p:cNvSpPr>
            <a:spLocks noChangeAspect="1"/>
          </p:cNvSpPr>
          <p:nvPr/>
        </p:nvSpPr>
        <p:spPr>
          <a:xfrm>
            <a:off x="381000" y="1241726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掌握等比数列的性质及其应用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熟练掌握等比数列与等差数列的综合应用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培养逻辑推理能力和数学建模的能力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提升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数据分析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的素养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zh-CN" altLang="en-US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自主预习 新知导学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942726"/>
            <a:ext cx="11430000" cy="401340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子数列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的性质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取出等比数列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中的所有奇数项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组成一个新的数列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这个数列是等比数列吗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它的首项与公比分别是多少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首项为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公比为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对于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无穷等比数列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若将其前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项去掉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剩余各项仍为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首项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k+</a:t>
            </a:r>
            <a:r>
              <a:rPr lang="en-US" altLang="zh-CN" sz="2800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公比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若取出所有的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的倍数项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组成的数列为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首项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i="1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公比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i="1" baseline="300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i="1" baseline="30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464051" y="3235107"/>
            <a:ext cx="1401386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9475720" y="3682458"/>
            <a:ext cx="139549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829205" y="3827389"/>
            <a:ext cx="677476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840874" y="4274740"/>
            <a:ext cx="67463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2692447" y="3827389"/>
            <a:ext cx="331501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2704072" y="4264349"/>
            <a:ext cx="33011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9089978" y="3802132"/>
            <a:ext cx="1401386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>
            <a:off x="9101647" y="4239092"/>
            <a:ext cx="139549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437542" y="4390005"/>
            <a:ext cx="368966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连接符 16"/>
          <p:cNvCxnSpPr/>
          <p:nvPr/>
        </p:nvCxnSpPr>
        <p:spPr>
          <a:xfrm>
            <a:off x="449241" y="4826965"/>
            <a:ext cx="36741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1985786" y="4390005"/>
            <a:ext cx="368966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连接符 19"/>
          <p:cNvCxnSpPr/>
          <p:nvPr/>
        </p:nvCxnSpPr>
        <p:spPr>
          <a:xfrm>
            <a:off x="1997485" y="4826965"/>
            <a:ext cx="36741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350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1" grpId="0" animBg="1"/>
      <p:bldP spid="14" grpId="0" animBg="1"/>
      <p:bldP spid="16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22128"/>
            <a:ext cx="11430000" cy="513371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下标和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zh-CN" sz="2800" dirty="0" smtClean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性质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给出以下两个等比数列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}: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1,2,4,8,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…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3,9,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27,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…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在上述每一个数列中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请你计算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看它们有什么关系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若计算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呢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在上述每一个数列中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的值与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的值有什么关系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的值呢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1886153"/>
              </p:ext>
            </p:extLst>
          </p:nvPr>
        </p:nvGraphicFramePr>
        <p:xfrm>
          <a:off x="35013" y="5305377"/>
          <a:ext cx="11430000" cy="601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" name="文档" r:id="rId3" imgW="4520786" imgH="237877" progId="Word.Document.12">
                  <p:embed/>
                </p:oleObj>
              </mc:Choice>
              <mc:Fallback>
                <p:oleObj name="文档" r:id="rId3" imgW="4520786" imgH="2378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013" y="5305377"/>
                        <a:ext cx="11430000" cy="6014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06176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879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公比为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m+n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p+s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8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m+n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5366550"/>
              </p:ext>
            </p:extLst>
          </p:nvPr>
        </p:nvGraphicFramePr>
        <p:xfrm>
          <a:off x="51486" y="3516552"/>
          <a:ext cx="11430000" cy="601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" name="文档" r:id="rId3" imgW="4520786" imgH="237877" progId="Word.Document.12">
                  <p:embed/>
                </p:oleObj>
              </mc:Choice>
              <mc:Fallback>
                <p:oleObj name="文档" r:id="rId3" imgW="4520786" imgH="2378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486" y="3516552"/>
                        <a:ext cx="11430000" cy="6014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/>
          <p:nvPr/>
        </p:nvSpPr>
        <p:spPr>
          <a:xfrm>
            <a:off x="1126038" y="2464079"/>
            <a:ext cx="753416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1137770" y="2911430"/>
            <a:ext cx="75025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2168556" y="2505643"/>
            <a:ext cx="677400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2180371" y="2942603"/>
            <a:ext cx="67455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1126038" y="3606940"/>
            <a:ext cx="1295044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/>
        </p:nvCxnSpPr>
        <p:spPr>
          <a:xfrm>
            <a:off x="1137853" y="4043900"/>
            <a:ext cx="128960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4933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80708"/>
            <a:ext cx="11430000" cy="569386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A.3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C.9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A.4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B.8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C.16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D.32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    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(1)C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(2)C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8927764"/>
              </p:ext>
            </p:extLst>
          </p:nvPr>
        </p:nvGraphicFramePr>
        <p:xfrm>
          <a:off x="1773195" y="4812790"/>
          <a:ext cx="814388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文档" r:id="rId3" imgW="330008" imgH="198231" progId="Word.Document.12">
                  <p:embed/>
                </p:oleObj>
              </mc:Choice>
              <mc:Fallback>
                <p:oleObj name="文档" r:id="rId3" imgW="330008" imgH="19823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73195" y="4812790"/>
                        <a:ext cx="814388" cy="496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8103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1726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【思考辨析】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正确的在后面的括号里画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错误的画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“×”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则数列的各项均为负数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 smtClean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         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m+n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p+q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        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是各项均为正数的等比数列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为等差数列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 smtClean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         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9808592" y="2373098"/>
            <a:ext cx="420308" cy="6043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endParaRPr lang="zh-CN" altLang="en-US" sz="2800" dirty="0"/>
          </a:p>
        </p:txBody>
      </p:sp>
      <p:sp>
        <p:nvSpPr>
          <p:cNvPr id="5" name="矩形 4"/>
          <p:cNvSpPr>
            <a:spLocks noChangeAspect="1"/>
          </p:cNvSpPr>
          <p:nvPr/>
        </p:nvSpPr>
        <p:spPr>
          <a:xfrm>
            <a:off x="8452871" y="2961018"/>
            <a:ext cx="543739" cy="6002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×</a:t>
            </a:r>
            <a:endParaRPr lang="zh-CN" altLang="en-US" sz="2800" dirty="0"/>
          </a:p>
        </p:txBody>
      </p:sp>
      <p:sp>
        <p:nvSpPr>
          <p:cNvPr id="7" name="矩形 6"/>
          <p:cNvSpPr>
            <a:spLocks noChangeAspect="1"/>
          </p:cNvSpPr>
          <p:nvPr/>
        </p:nvSpPr>
        <p:spPr>
          <a:xfrm>
            <a:off x="2273931" y="4069801"/>
            <a:ext cx="420308" cy="6043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058719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合作探究 释疑解惑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36" name="矩形 35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探究一</a:t>
                </a: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等比数列性质的应用</a:t>
                </a:r>
                <a:endParaRPr lang="zh-CN" altLang="en-US" sz="2800" b="1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4" name="组合 3"/>
          <p:cNvGrpSpPr/>
          <p:nvPr/>
        </p:nvGrpSpPr>
        <p:grpSpPr>
          <a:xfrm>
            <a:off x="35010" y="700387"/>
            <a:ext cx="11775990" cy="5058068"/>
            <a:chOff x="35010" y="848671"/>
            <a:chExt cx="11775990" cy="5058068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848671"/>
              <a:ext cx="11430000" cy="289310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【例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】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在等比数列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中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60,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则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等于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　　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A.110	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	B.160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	</a:t>
              </a:r>
              <a:endPara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C.360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	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	D.2 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160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已知数列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是各项均为正数的等比数列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若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是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和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的等比中项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则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的值是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　　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71628146"/>
                </p:ext>
              </p:extLst>
            </p:nvPr>
          </p:nvGraphicFramePr>
          <p:xfrm>
            <a:off x="7894769" y="2623815"/>
            <a:ext cx="606425" cy="5064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52" name="文档" r:id="rId3" imgW="248316" imgH="201835" progId="Word.Document.12">
                    <p:embed/>
                  </p:oleObj>
                </mc:Choice>
                <mc:Fallback>
                  <p:oleObj name="文档" r:id="rId3" imgW="248316" imgH="20183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894769" y="2623815"/>
                          <a:ext cx="606425" cy="5064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18123875"/>
                </p:ext>
              </p:extLst>
            </p:nvPr>
          </p:nvGraphicFramePr>
          <p:xfrm>
            <a:off x="35010" y="3700581"/>
            <a:ext cx="11430000" cy="22061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53" name="文档" r:id="rId5" imgW="4520786" imgH="872578" progId="Word.Document.12">
                    <p:embed/>
                  </p:oleObj>
                </mc:Choice>
                <mc:Fallback>
                  <p:oleObj name="文档" r:id="rId5" imgW="4520786" imgH="87257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5010" y="3700581"/>
                          <a:ext cx="11430000" cy="220615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1032752"/>
              </p:ext>
            </p:extLst>
          </p:nvPr>
        </p:nvGraphicFramePr>
        <p:xfrm>
          <a:off x="35010" y="5508004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4" name="文档" r:id="rId7" imgW="4520786" imgH="396823" progId="Word.Document.12">
                  <p:embed/>
                </p:oleObj>
              </mc:Choice>
              <mc:Fallback>
                <p:oleObj name="文档" r:id="rId7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010" y="5508004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47723"/>
            <a:ext cx="11430000" cy="227267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的公比为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=q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10×6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0581281"/>
              </p:ext>
            </p:extLst>
          </p:nvPr>
        </p:nvGraphicFramePr>
        <p:xfrm>
          <a:off x="98425" y="2372351"/>
          <a:ext cx="7678738" cy="437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1" name="文档" r:id="rId3" imgW="3059508" imgH="1748599" progId="Word.Document.12">
                  <p:embed/>
                </p:oleObj>
              </mc:Choice>
              <mc:Fallback>
                <p:oleObj name="文档" r:id="rId3" imgW="3059508" imgH="174859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8425" y="2372351"/>
                        <a:ext cx="7678738" cy="4373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49963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81000" y="596679"/>
            <a:ext cx="11458961" cy="4785253"/>
            <a:chOff x="381000" y="596679"/>
            <a:chExt cx="11458961" cy="4785253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596679"/>
              <a:ext cx="11430000" cy="121264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en-US" sz="28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反思感悟 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等比数列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的常用性质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设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为等比数列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∈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若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m+n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p+q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·a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·a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若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m+n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81000" y="4229565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(5)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在等比数列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中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每隔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项取出一项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按原来的顺序排列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所得数列仍为等比数列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且公比为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altLang="zh-CN" sz="2800" i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k+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55816967"/>
                </p:ext>
              </p:extLst>
            </p:nvPr>
          </p:nvGraphicFramePr>
          <p:xfrm>
            <a:off x="409961" y="1743415"/>
            <a:ext cx="11430000" cy="26080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80" name="文档" r:id="rId3" imgW="4520786" imgH="1031523" progId="Word.Document.12">
                    <p:embed/>
                  </p:oleObj>
                </mc:Choice>
                <mc:Fallback>
                  <p:oleObj name="文档" r:id="rId3" imgW="4520786" imgH="10315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09961" y="1743415"/>
                          <a:ext cx="11430000" cy="260802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564354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319215"/>
            <a:ext cx="11430000" cy="401340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公比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的两根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=q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的两根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0642779"/>
              </p:ext>
            </p:extLst>
          </p:nvPr>
        </p:nvGraphicFramePr>
        <p:xfrm>
          <a:off x="32952" y="4162809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6" name="文档" r:id="rId3" imgW="4520786" imgH="396823" progId="Word.Document.12">
                  <p:embed/>
                </p:oleObj>
              </mc:Choice>
              <mc:Fallback>
                <p:oleObj name="文档" r:id="rId3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952" y="4162809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4979806"/>
            <a:ext cx="3950120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(1)2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128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9300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探究二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等比数列的实际应用</a:t>
                </a: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593294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某工厂今年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月的生产总值为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万元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计划从今年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月起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每月的生产总值比上一个月增长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那么到明年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月底该厂的月生产总值为多少万元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分析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该问题可以转化为等比数列模型吗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?(2)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分别是多少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要求哪一个量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设从今年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月开始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第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个月该厂的生产总值是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万元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32954" y="3879180"/>
            <a:ext cx="11778046" cy="2568039"/>
            <a:chOff x="32954" y="3879180"/>
            <a:chExt cx="11778046" cy="2568039"/>
          </a:xfrm>
        </p:grpSpPr>
        <p:graphicFrame>
          <p:nvGraphicFramePr>
            <p:cNvPr id="15" name="对象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99281076"/>
                </p:ext>
              </p:extLst>
            </p:nvPr>
          </p:nvGraphicFramePr>
          <p:xfrm>
            <a:off x="32954" y="3879180"/>
            <a:ext cx="11430000" cy="1003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30" name="文档" r:id="rId3" imgW="4520786" imgH="396823" progId="Word.Document.12">
                    <p:embed/>
                  </p:oleObj>
                </mc:Choice>
                <mc:Fallback>
                  <p:oleObj name="文档" r:id="rId3" imgW="4520786" imgH="3968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2954" y="3879180"/>
                          <a:ext cx="11430000" cy="10032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矩形 15"/>
            <p:cNvSpPr>
              <a:spLocks noChangeAspect="1"/>
            </p:cNvSpPr>
            <p:nvPr/>
          </p:nvSpPr>
          <p:spPr>
            <a:xfrm>
              <a:off x="381000" y="4674426"/>
              <a:ext cx="11430000" cy="177279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则数列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是首项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公比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+m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%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的等比数列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+m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%)</a:t>
              </a:r>
              <a:r>
                <a:rPr lang="en-US" altLang="zh-CN" sz="2800" i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n-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 smtClean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故到明年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月底该厂的月生产总值为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+m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%)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</a:t>
              </a:r>
              <a:r>
                <a:rPr lang="en-US" altLang="zh-CN" sz="2800" i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+m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%)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19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万元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114" end="1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charRg st="114" end="1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925321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反思感悟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利用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数列解决实际问题的关键是建立恰当的数学模型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本例的数学模型是每月的生产总值组成一个等比数列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明年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月底的月生产总值是该数列中的第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这一点容易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混淆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7313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49428"/>
            <a:ext cx="11430000" cy="401340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某厂生产电脑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原计划第一季度每月增加的台数相同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在生产过程中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实际上二月份比原计划多生产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1 000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三月份比原计划多生产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2 500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这样三个月的月产量成等比数列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而第三个月的产量是原计划第一季度总产量的一半少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1 000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则该厂第一季度实际生产了多少台电脑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根据已知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可设该厂第一季度原计划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个月生产电脑的台数分别为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x-d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实际上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个月生产电脑的台数分别为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x+d+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500,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20782" y="3948765"/>
            <a:ext cx="11790218" cy="2781823"/>
            <a:chOff x="20782" y="3948765"/>
            <a:chExt cx="11790218" cy="2781823"/>
          </a:xfrm>
        </p:grpSpPr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4266631"/>
                </p:ext>
              </p:extLst>
            </p:nvPr>
          </p:nvGraphicFramePr>
          <p:xfrm>
            <a:off x="20782" y="3948765"/>
            <a:ext cx="11430000" cy="12095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4" name="文档" r:id="rId3" imgW="4510061" imgH="477256" progId="Word.Document.12">
                    <p:embed/>
                  </p:oleObj>
                </mc:Choice>
                <mc:Fallback>
                  <p:oleObj name="文档" r:id="rId3" imgW="4510061" imgH="47725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0782" y="3948765"/>
                          <a:ext cx="11430000" cy="120952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381000" y="5018068"/>
              <a:ext cx="11430000" cy="171252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解得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000,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000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故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x-d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000)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x+d+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500)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500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3×9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000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500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30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500(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台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即该厂第一季度实际生产了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30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500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台电脑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4524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探究三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等差数列、等比数列的综合应用</a:t>
                </a: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932305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各项均为正数的等比数列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的通项公式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3log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并求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的最大值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的公比为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16,2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5535593"/>
              </p:ext>
            </p:extLst>
          </p:nvPr>
        </p:nvGraphicFramePr>
        <p:xfrm>
          <a:off x="43249" y="3200087"/>
          <a:ext cx="11430000" cy="2005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7" name="文档" r:id="rId3" imgW="4520786" imgH="793285" progId="Word.Document.12">
                  <p:embed/>
                </p:oleObj>
              </mc:Choice>
              <mc:Fallback>
                <p:oleObj name="文档" r:id="rId3" imgW="4520786" imgH="7932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249" y="3200087"/>
                        <a:ext cx="11430000" cy="2005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43247" y="784932"/>
            <a:ext cx="11767753" cy="4277096"/>
            <a:chOff x="43247" y="1066237"/>
            <a:chExt cx="11767753" cy="4277096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066237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得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3(5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)log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15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/>
                  <a:cs typeface="Times New Roman" panose="02020603050405020304" pitchFamily="18" charset="0"/>
                </a:rPr>
                <a:t>≥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-b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n-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故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是首项为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公差为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的递减的等差数列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84690346"/>
                </p:ext>
              </p:extLst>
            </p:nvPr>
          </p:nvGraphicFramePr>
          <p:xfrm>
            <a:off x="43247" y="2193890"/>
            <a:ext cx="11430000" cy="1003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01" name="文档" r:id="rId3" imgW="4520786" imgH="396823" progId="Word.Document.12">
                    <p:embed/>
                  </p:oleObj>
                </mc:Choice>
                <mc:Fallback>
                  <p:oleObj name="文档" r:id="rId3" imgW="4520786" imgH="3968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3247" y="2193890"/>
                          <a:ext cx="11430000" cy="10032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3010387"/>
              <a:ext cx="11430000" cy="233294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又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所以数列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的前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项为正数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所以当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或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取得最大值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且最大值为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=S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en-US" sz="28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反思感悟 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解决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等差数列、等比数列综合问题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要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弄清等差数列中的某些项与等比数列中的某些项之间的关系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利用两种数列的性质求解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82448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2688"/>
            <a:ext cx="11430000" cy="569386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的公差不为零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成等比数列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的通项公式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…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的公差为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由题意</a:t>
            </a:r>
            <a:r>
              <a:rPr lang="zh-CN" altLang="zh-CN" sz="28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sz="28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于是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舍去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令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方正书宋_GBK"/>
                <a:cs typeface="Times New Roman" panose="02020603050405020304" pitchFamily="18" charset="0"/>
              </a:rPr>
              <a:t>…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是首项为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公差为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的等差数列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8334516"/>
              </p:ext>
            </p:extLst>
          </p:nvPr>
        </p:nvGraphicFramePr>
        <p:xfrm>
          <a:off x="5760309" y="2349586"/>
          <a:ext cx="542925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4" name="文档" r:id="rId3" imgW="222764" imgH="198231" progId="Word.Document.12">
                  <p:embed/>
                </p:oleObj>
              </mc:Choice>
              <mc:Fallback>
                <p:oleObj name="文档" r:id="rId3" imgW="222764" imgH="19823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760309" y="2349586"/>
                        <a:ext cx="542925" cy="496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6708712"/>
              </p:ext>
            </p:extLst>
          </p:nvPr>
        </p:nvGraphicFramePr>
        <p:xfrm>
          <a:off x="45309" y="5601030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5" name="文档" r:id="rId5" imgW="4520786" imgH="396823" progId="Word.Document.12">
                  <p:embed/>
                </p:oleObj>
              </mc:Choice>
              <mc:Fallback>
                <p:oleObj name="文档" r:id="rId5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309" y="5601030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87997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381000" y="50021"/>
            <a:ext cx="2362200" cy="6406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【</a:t>
            </a:r>
            <a:r>
              <a:rPr lang="zh-CN" altLang="en-US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思想方法</a:t>
            </a: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】</a:t>
            </a:r>
            <a:r>
              <a:rPr lang="en-US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 </a:t>
            </a:r>
            <a:endParaRPr lang="zh-CN" altLang="zh-CN" sz="3200" b="1" dirty="0">
              <a:solidFill>
                <a:srgbClr val="E88651">
                  <a:lumMod val="75000"/>
                </a:srgbClr>
              </a:solidFill>
              <a:latin typeface="黑体" panose="02010609060101010101" pitchFamily="49" charset="-122"/>
              <a:ea typeface="方正姚体" panose="02010601030101010101"/>
              <a:cs typeface="方正姚体" panose="02010601030101010101" charset="-122"/>
            </a:endParaRP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81000" y="710779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方程思想在等比数列中的应用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【典例】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是递增数列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求公比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分析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分别表示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解方程组求出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注意所求值是否需要舍去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54491"/>
              </p:ext>
            </p:extLst>
          </p:nvPr>
        </p:nvGraphicFramePr>
        <p:xfrm>
          <a:off x="44450" y="2311545"/>
          <a:ext cx="11401425" cy="409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9" name="文档" r:id="rId3" imgW="4510061" imgH="1630392" progId="Word.Document.12">
                  <p:embed/>
                </p:oleObj>
              </mc:Choice>
              <mc:Fallback>
                <p:oleObj name="文档" r:id="rId3" imgW="4510061" imgH="163039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450" y="2311545"/>
                        <a:ext cx="11401425" cy="4098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49546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81000" y="393635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在各项均为正数的等比数列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3165220"/>
              </p:ext>
            </p:extLst>
          </p:nvPr>
        </p:nvGraphicFramePr>
        <p:xfrm>
          <a:off x="105133" y="1629130"/>
          <a:ext cx="11275153" cy="37678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4" name="文档" r:id="rId3" imgW="4510061" imgH="1507139" progId="Word.Document.12">
                  <p:embed/>
                </p:oleObj>
              </mc:Choice>
              <mc:Fallback>
                <p:oleObj name="文档" r:id="rId3" imgW="4510061" imgH="150713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5133" y="1629130"/>
                        <a:ext cx="11275153" cy="37678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12855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617835" y="2558415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334801" y="2587481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3612492" y="2507615"/>
            <a:ext cx="45878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隶书" panose="02010509060101010101" pitchFamily="49" charset="-122"/>
                <a:sym typeface="+mn-ea"/>
              </a:rPr>
              <a:t>随堂练习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隶书" panose="02010509060101010101" pitchFamily="49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4858597"/>
              </p:ext>
            </p:extLst>
          </p:nvPr>
        </p:nvGraphicFramePr>
        <p:xfrm>
          <a:off x="492341" y="722721"/>
          <a:ext cx="11430000" cy="24075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6" name="文档" r:id="rId3" imgW="4520786" imgH="952231" progId="Word.Document.12">
                  <p:embed/>
                </p:oleObj>
              </mc:Choice>
              <mc:Fallback>
                <p:oleObj name="文档" r:id="rId3" imgW="4520786" imgH="95223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2341" y="722721"/>
                        <a:ext cx="11430000" cy="24075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/>
          <p:cNvGrpSpPr/>
          <p:nvPr/>
        </p:nvGrpSpPr>
        <p:grpSpPr>
          <a:xfrm>
            <a:off x="381000" y="3122030"/>
            <a:ext cx="11541341" cy="1229202"/>
            <a:chOff x="381000" y="3631188"/>
            <a:chExt cx="11541341" cy="1229202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81000" y="3631188"/>
              <a:ext cx="3982180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解析</a:t>
              </a:r>
              <a:r>
                <a:rPr lang="en-US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: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∵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为等比数列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46862097"/>
                </p:ext>
              </p:extLst>
            </p:nvPr>
          </p:nvGraphicFramePr>
          <p:xfrm>
            <a:off x="492341" y="4258960"/>
            <a:ext cx="11430000" cy="6014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07" name="文档" r:id="rId5" imgW="4520786" imgH="237877" progId="Word.Document.12">
                    <p:embed/>
                  </p:oleObj>
                </mc:Choice>
                <mc:Fallback>
                  <p:oleObj name="文档" r:id="rId5" imgW="4520786" imgH="23787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92341" y="4258960"/>
                          <a:ext cx="11430000" cy="60143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" name="矩形 4"/>
          <p:cNvSpPr>
            <a:spLocks noChangeAspect="1"/>
          </p:cNvSpPr>
          <p:nvPr/>
        </p:nvSpPr>
        <p:spPr>
          <a:xfrm>
            <a:off x="381000" y="4334756"/>
            <a:ext cx="1330814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94591"/>
            <a:ext cx="11430000" cy="451328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满足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成等差数列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的公比等于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A.1	B.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	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	D.2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的公比为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成等差数列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4×3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4×3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25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2541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是首项为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公差不为零的等差数列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是其前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成等比数列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的公差为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的公差为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≠0),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9302142"/>
              </p:ext>
            </p:extLst>
          </p:nvPr>
        </p:nvGraphicFramePr>
        <p:xfrm>
          <a:off x="479853" y="2415061"/>
          <a:ext cx="11430000" cy="16047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9" name="文档" r:id="rId3" imgW="4520786" imgH="634700" progId="Word.Document.12">
                  <p:embed/>
                </p:oleObj>
              </mc:Choice>
              <mc:Fallback>
                <p:oleObj name="文档" r:id="rId3" imgW="4520786" imgH="6347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9853" y="2415061"/>
                        <a:ext cx="11430000" cy="16047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81000" y="3865871"/>
            <a:ext cx="11430000" cy="59221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1115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81000" y="963322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之间插入三个数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使这五个数成等比数列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则中间三个数的积等于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5622792"/>
              </p:ext>
            </p:extLst>
          </p:nvPr>
        </p:nvGraphicFramePr>
        <p:xfrm>
          <a:off x="479206" y="2105298"/>
          <a:ext cx="11275153" cy="1586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4" name="文档" r:id="rId3" imgW="4510061" imgH="634642" progId="Word.Document.12">
                  <p:embed/>
                </p:oleObj>
              </mc:Choice>
              <mc:Fallback>
                <p:oleObj name="文档" r:id="rId3" imgW="4510061" imgH="63464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9206" y="2105298"/>
                        <a:ext cx="11275153" cy="15866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>
            <a:spLocks noChangeAspect="1"/>
          </p:cNvSpPr>
          <p:nvPr/>
        </p:nvSpPr>
        <p:spPr>
          <a:xfrm>
            <a:off x="381000" y="3767770"/>
            <a:ext cx="1451038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64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9337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879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   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4,{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2×4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8410379"/>
              </p:ext>
            </p:extLst>
          </p:nvPr>
        </p:nvGraphicFramePr>
        <p:xfrm>
          <a:off x="5332482" y="2462714"/>
          <a:ext cx="677863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7" name="文档" r:id="rId3" imgW="276746" imgH="198231" progId="Word.Document.12">
                  <p:embed/>
                </p:oleObj>
              </mc:Choice>
              <mc:Fallback>
                <p:oleObj name="文档" r:id="rId3" imgW="276746" imgH="19823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32482" y="2462714"/>
                        <a:ext cx="677863" cy="496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25670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阴影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712" y="1511279"/>
            <a:ext cx="7280625" cy="33961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809976" y="4908623"/>
            <a:ext cx="857204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zh-CN" altLang="en-US" sz="2400" smtClean="0">
                <a:solidFill>
                  <a:srgbClr val="55463D"/>
                </a:solidFill>
              </a:rPr>
              <a:t>更多精彩内容请登录</a:t>
            </a:r>
            <a:r>
              <a:rPr lang="zh-CN" altLang="en-US" sz="2800" b="1" smtClean="0">
                <a:solidFill>
                  <a:srgbClr val="55463D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志鸿优化网</a:t>
            </a:r>
            <a:endParaRPr lang="en-US" altLang="zh-CN" sz="2400" b="1" smtClean="0">
              <a:solidFill>
                <a:srgbClr val="55463D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fontAlgn="auto">
              <a:lnSpc>
                <a:spcPct val="150000"/>
              </a:lnSpc>
            </a:pPr>
            <a:r>
              <a:rPr lang="en-US" altLang="zh-CN" sz="2400" smtClean="0">
                <a:solidFill>
                  <a:srgbClr val="55463D"/>
                </a:solidFill>
              </a:rPr>
              <a:t>http</a:t>
            </a:r>
            <a:r>
              <a:rPr lang="en-US" altLang="zh-CN" sz="2400">
                <a:solidFill>
                  <a:srgbClr val="55463D"/>
                </a:solidFill>
              </a:rPr>
              <a:t>://www.zhyh.org</a:t>
            </a:r>
            <a:r>
              <a:rPr lang="en-US" altLang="zh-CN" sz="2400" smtClean="0">
                <a:solidFill>
                  <a:srgbClr val="55463D"/>
                </a:solidFill>
              </a:rPr>
              <a:t>/</a:t>
            </a:r>
            <a:endParaRPr lang="zh-CN" altLang="en-US" sz="2400">
              <a:solidFill>
                <a:srgbClr val="55463D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clrChange>
              <a:clrFrom>
                <a:srgbClr val="ECECEE"/>
              </a:clrFrom>
              <a:clrTo>
                <a:srgbClr val="ECECE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3290" y="4517181"/>
            <a:ext cx="2325712" cy="225348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451123" y="2222090"/>
            <a:ext cx="49947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>
                <a:solidFill>
                  <a:srgbClr val="55463D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本  课  结  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519"/>
  <p:tag name="MH_LIBRARY" val="GRAPHIC"/>
  <p:tag name="MH_ORDER" val="TextBox 3"/>
</p:tagLst>
</file>

<file path=ppt/theme/theme1.xml><?xml version="1.0" encoding="utf-8"?>
<a:theme xmlns:a="http://schemas.openxmlformats.org/drawingml/2006/main" name="1_Office 主题">
  <a:themeElements>
    <a:clrScheme name="模块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721B1EAD-A6C0-47A7-B782-D5918D0D228F}" vid="{2963E896-880A-42B6-99FF-93DBD5586BD1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理科模板</Template>
  <TotalTime>362</TotalTime>
  <Words>1488</Words>
  <Application>Microsoft Office PowerPoint</Application>
  <PresentationFormat>宽屏</PresentationFormat>
  <Paragraphs>134</Paragraphs>
  <Slides>29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29</vt:i4>
      </vt:variant>
    </vt:vector>
  </HeadingPairs>
  <TitlesOfParts>
    <vt:vector size="50" baseType="lpstr">
      <vt:lpstr>NEU-BZ-S92</vt:lpstr>
      <vt:lpstr>Open Sans</vt:lpstr>
      <vt:lpstr>方正书宋_GBK</vt:lpstr>
      <vt:lpstr>方正姚体</vt:lpstr>
      <vt:lpstr>方正正中黑简体</vt:lpstr>
      <vt:lpstr>仿宋</vt:lpstr>
      <vt:lpstr>黑体</vt:lpstr>
      <vt:lpstr>华文细黑</vt:lpstr>
      <vt:lpstr>华文新魏</vt:lpstr>
      <vt:lpstr>楷体</vt:lpstr>
      <vt:lpstr>隶书</vt:lpstr>
      <vt:lpstr>思源黑体 CN Medium</vt:lpstr>
      <vt:lpstr>宋体</vt:lpstr>
      <vt:lpstr>微软雅黑</vt:lpstr>
      <vt:lpstr>Arial</vt:lpstr>
      <vt:lpstr>Calibri</vt:lpstr>
      <vt:lpstr>Cambria Math</vt:lpstr>
      <vt:lpstr>Times New Roman</vt:lpstr>
      <vt:lpstr>1_Office 主题</vt:lpstr>
      <vt:lpstr>文档</vt:lpstr>
      <vt:lpstr>Microsoft Word 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ITSK.com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SkyUser</dc:creator>
  <cp:lastModifiedBy>SkyUser</cp:lastModifiedBy>
  <cp:revision>38</cp:revision>
  <dcterms:created xsi:type="dcterms:W3CDTF">2021-08-30T08:30:26Z</dcterms:created>
  <dcterms:modified xsi:type="dcterms:W3CDTF">2024-07-17T07:23:27Z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2052-11.1.0.10000</vt:lpwstr>
  </property>
</Properties>
</file>