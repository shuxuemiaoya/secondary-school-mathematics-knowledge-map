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docx" ContentType="application/vnd.openxmlformats-officedocument.wordprocessingml.document"/>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2"/>
  </p:notesMasterIdLst>
  <p:sldIdLst>
    <p:sldId id="677" r:id="rId2"/>
    <p:sldId id="488" r:id="rId3"/>
    <p:sldId id="494" r:id="rId4"/>
    <p:sldId id="392" r:id="rId5"/>
    <p:sldId id="686" r:id="rId6"/>
    <p:sldId id="687" r:id="rId7"/>
    <p:sldId id="688" r:id="rId8"/>
    <p:sldId id="689" r:id="rId9"/>
    <p:sldId id="690" r:id="rId10"/>
    <p:sldId id="691" r:id="rId11"/>
    <p:sldId id="692" r:id="rId12"/>
    <p:sldId id="407" r:id="rId13"/>
    <p:sldId id="394" r:id="rId14"/>
    <p:sldId id="699" r:id="rId15"/>
    <p:sldId id="700" r:id="rId16"/>
    <p:sldId id="701" r:id="rId17"/>
    <p:sldId id="702" r:id="rId18"/>
    <p:sldId id="706" r:id="rId19"/>
    <p:sldId id="402" r:id="rId20"/>
    <p:sldId id="712" r:id="rId21"/>
    <p:sldId id="713" r:id="rId22"/>
    <p:sldId id="714" r:id="rId23"/>
    <p:sldId id="715" r:id="rId24"/>
    <p:sldId id="719" r:id="rId25"/>
    <p:sldId id="720" r:id="rId26"/>
    <p:sldId id="498" r:id="rId27"/>
    <p:sldId id="730" r:id="rId28"/>
    <p:sldId id="733" r:id="rId29"/>
    <p:sldId id="743" r:id="rId30"/>
    <p:sldId id="744" r:id="rId31"/>
    <p:sldId id="741" r:id="rId32"/>
    <p:sldId id="738" r:id="rId33"/>
    <p:sldId id="751" r:id="rId34"/>
    <p:sldId id="398" r:id="rId35"/>
    <p:sldId id="395" r:id="rId36"/>
    <p:sldId id="756" r:id="rId37"/>
    <p:sldId id="757" r:id="rId38"/>
    <p:sldId id="758" r:id="rId39"/>
    <p:sldId id="759" r:id="rId40"/>
    <p:sldId id="490" r:id="rId4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8">
          <p15:clr>
            <a:srgbClr val="A4A3A4"/>
          </p15:clr>
        </p15:guide>
        <p15:guide id="2" pos="211" userDrawn="1">
          <p15:clr>
            <a:srgbClr val="A4A3A4"/>
          </p15:clr>
        </p15:guide>
        <p15:guide id="3" orient="horz" pos="436" userDrawn="1">
          <p15:clr>
            <a:srgbClr val="A4A3A4"/>
          </p15:clr>
        </p15:guide>
        <p15:guide id="4" orient="horz" pos="777" userDrawn="1">
          <p15:clr>
            <a:srgbClr val="A4A3A4"/>
          </p15:clr>
        </p15:guide>
        <p15:guide id="5" orient="horz" pos="28" userDrawn="1">
          <p15:clr>
            <a:srgbClr val="A4A3A4"/>
          </p15:clr>
        </p15:guide>
        <p15:guide id="6" pos="279" userDrawn="1">
          <p15:clr>
            <a:srgbClr val="A4A3A4"/>
          </p15:clr>
        </p15:guide>
        <p15:guide id="7" orient="horz" pos="7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5B3E"/>
    <a:srgbClr val="7088DB"/>
    <a:srgbClr val="CF5B1B"/>
    <a:srgbClr val="38425D"/>
    <a:srgbClr val="4472C4"/>
    <a:srgbClr val="DFF0F5"/>
    <a:srgbClr val="4040C8"/>
    <a:srgbClr val="159470"/>
    <a:srgbClr val="157392"/>
    <a:srgbClr val="1593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92" d="100"/>
          <a:sy n="92" d="100"/>
        </p:scale>
        <p:origin x="498" y="84"/>
      </p:cViewPr>
      <p:guideLst>
        <p:guide orient="horz" pos="368"/>
        <p:guide pos="211"/>
        <p:guide orient="horz" pos="436"/>
        <p:guide orient="horz" pos="777"/>
        <p:guide orient="horz" pos="28"/>
        <p:guide pos="279"/>
        <p:guide orient="horz" pos="73"/>
      </p:guideLst>
    </p:cSldViewPr>
  </p:slideViewPr>
  <p:notesTextViewPr>
    <p:cViewPr>
      <p:scale>
        <a:sx n="1" d="1"/>
        <a:sy n="1" d="1"/>
      </p:scale>
      <p:origin x="0" y="0"/>
    </p:cViewPr>
  </p:notesTextViewPr>
  <p:sorterViewPr>
    <p:cViewPr>
      <p:scale>
        <a:sx n="100" d="100"/>
        <a:sy n="100" d="100"/>
      </p:scale>
      <p:origin x="0" y="-991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image" Target="../media/image14.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image" Target="../media/image26.e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image" Target="../media/image29.e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image" Target="../media/image31.e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4.emf"/><Relationship Id="rId1" Type="http://schemas.openxmlformats.org/officeDocument/2006/relationships/image" Target="../media/image33.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36.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3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4B3386-1164-4DE5-87D6-99DD641BC976}" type="datetimeFigureOut">
              <a:rPr lang="zh-CN" altLang="en-US" smtClean="0"/>
              <a:t>2025-08-01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DB411-4171-48A7-B819-B87F89F6C7EE}" type="slidenum">
              <a:rPr lang="zh-CN" altLang="en-US" smtClean="0"/>
              <a:t>‹#›</a:t>
            </a:fld>
            <a:endParaRPr lang="zh-CN" altLang="en-US"/>
          </a:p>
        </p:txBody>
      </p:sp>
    </p:spTree>
    <p:extLst>
      <p:ext uri="{BB962C8B-B14F-4D97-AF65-F5344CB8AC3E}">
        <p14:creationId xmlns:p14="http://schemas.microsoft.com/office/powerpoint/2010/main" val="1254488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slide" Target="../slides/slide13.xml"/><Relationship Id="rId1" Type="http://schemas.openxmlformats.org/officeDocument/2006/relationships/slideMaster" Target="../slideMasters/slideMaster1.xml"/><Relationship Id="rId5" Type="http://schemas.openxmlformats.org/officeDocument/2006/relationships/slide" Target="../slides/slide31.xml"/><Relationship Id="rId4" Type="http://schemas.openxmlformats.org/officeDocument/2006/relationships/slide" Target="../slides/slide26.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6_标题幻灯片">
    <p:spTree>
      <p:nvGrpSpPr>
        <p:cNvPr id="1" name=""/>
        <p:cNvGrpSpPr/>
        <p:nvPr/>
      </p:nvGrpSpPr>
      <p:grpSpPr>
        <a:xfrm>
          <a:off x="0" y="0"/>
          <a:ext cx="0" cy="0"/>
          <a:chOff x="0" y="0"/>
          <a:chExt cx="0" cy="0"/>
        </a:xfrm>
      </p:grpSpPr>
      <p:sp>
        <p:nvSpPr>
          <p:cNvPr id="7" name="圆角矩形 6">
            <a:hlinkClick r:id="rId2" action="ppaction://hlinksldjump"/>
          </p:cNvPr>
          <p:cNvSpPr/>
          <p:nvPr userDrawn="1"/>
        </p:nvSpPr>
        <p:spPr>
          <a:xfrm>
            <a:off x="7926847"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ln>
                  <a:solidFill>
                    <a:schemeClr val="bg1"/>
                  </a:solidFill>
                </a:ln>
                <a:solidFill>
                  <a:schemeClr val="bg1"/>
                </a:solidFill>
              </a:rPr>
              <a:t>探究一</a:t>
            </a:r>
            <a:endParaRPr lang="zh-CN" altLang="en-US" sz="1400" dirty="0">
              <a:ln>
                <a:solidFill>
                  <a:schemeClr val="bg1"/>
                </a:solidFill>
              </a:ln>
              <a:solidFill>
                <a:schemeClr val="bg1"/>
              </a:solidFill>
            </a:endParaRPr>
          </a:p>
        </p:txBody>
      </p:sp>
      <p:sp>
        <p:nvSpPr>
          <p:cNvPr id="8" name="圆角矩形 7">
            <a:hlinkClick r:id="rId3" action="ppaction://hlinksldjump"/>
          </p:cNvPr>
          <p:cNvSpPr/>
          <p:nvPr userDrawn="1"/>
        </p:nvSpPr>
        <p:spPr>
          <a:xfrm>
            <a:off x="8993191"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探究二</a:t>
            </a:r>
            <a:endParaRPr lang="zh-CN" altLang="en-US" sz="1400" dirty="0">
              <a:ln>
                <a:solidFill>
                  <a:schemeClr val="bg1"/>
                </a:solidFill>
              </a:ln>
              <a:solidFill>
                <a:schemeClr val="bg1"/>
              </a:solidFill>
            </a:endParaRPr>
          </a:p>
        </p:txBody>
      </p:sp>
      <p:sp>
        <p:nvSpPr>
          <p:cNvPr id="9" name="圆角矩形 8">
            <a:hlinkClick r:id="rId4" action="ppaction://hlinksldjump"/>
          </p:cNvPr>
          <p:cNvSpPr/>
          <p:nvPr userDrawn="1"/>
        </p:nvSpPr>
        <p:spPr>
          <a:xfrm>
            <a:off x="10059535"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探究三</a:t>
            </a:r>
            <a:endParaRPr lang="zh-CN" altLang="en-US" sz="1400" dirty="0">
              <a:ln>
                <a:solidFill>
                  <a:schemeClr val="bg1"/>
                </a:solidFill>
              </a:ln>
              <a:solidFill>
                <a:schemeClr val="bg1"/>
              </a:solidFill>
            </a:endParaRPr>
          </a:p>
        </p:txBody>
      </p:sp>
      <p:sp>
        <p:nvSpPr>
          <p:cNvPr id="6" name="圆角矩形 5">
            <a:hlinkClick r:id="rId5" action="ppaction://hlinksldjump"/>
          </p:cNvPr>
          <p:cNvSpPr/>
          <p:nvPr userDrawn="1"/>
        </p:nvSpPr>
        <p:spPr>
          <a:xfrm>
            <a:off x="11125879"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易错辨析</a:t>
            </a:r>
            <a:endParaRPr lang="zh-CN" altLang="en-US" sz="1400" dirty="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Lst>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slide" Target="slide4.xml"/><Relationship Id="rId1" Type="http://schemas.openxmlformats.org/officeDocument/2006/relationships/slideLayout" Target="../slideLayouts/slideLayout1.xml"/><Relationship Id="rId4" Type="http://schemas.openxmlformats.org/officeDocument/2006/relationships/slide" Target="slide34.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package" Target="../embeddings/Microsoft_Word___1.docx"/><Relationship Id="rId2" Type="http://schemas.openxmlformats.org/officeDocument/2006/relationships/slideLayout" Target="../slideLayouts/slideLayout3.xml"/><Relationship Id="rId1" Type="http://schemas.openxmlformats.org/officeDocument/2006/relationships/vmlDrawing" Target="../drawings/vmlDrawing1.vml"/><Relationship Id="rId4" Type="http://schemas.openxmlformats.org/officeDocument/2006/relationships/image" Target="../media/image2.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package" Target="../embeddings/Microsoft_Word___2.docx"/><Relationship Id="rId7" Type="http://schemas.openxmlformats.org/officeDocument/2006/relationships/package" Target="../embeddings/Microsoft_Word___4.docx"/><Relationship Id="rId2" Type="http://schemas.openxmlformats.org/officeDocument/2006/relationships/slideLayout" Target="../slideLayouts/slideLayout3.xml"/><Relationship Id="rId1" Type="http://schemas.openxmlformats.org/officeDocument/2006/relationships/vmlDrawing" Target="../drawings/vmlDrawing2.vml"/><Relationship Id="rId6" Type="http://schemas.openxmlformats.org/officeDocument/2006/relationships/image" Target="../media/image4.emf"/><Relationship Id="rId5" Type="http://schemas.openxmlformats.org/officeDocument/2006/relationships/package" Target="../embeddings/Microsoft_Word___3.docx"/><Relationship Id="rId4" Type="http://schemas.openxmlformats.org/officeDocument/2006/relationships/image" Target="../media/image3.emf"/></Relationships>
</file>

<file path=ppt/slides/_rels/slide9.xml.rels><?xml version="1.0" encoding="UTF-8" standalone="yes"?>
<Relationships xmlns="http://schemas.openxmlformats.org/package/2006/relationships"><Relationship Id="rId3" Type="http://schemas.openxmlformats.org/officeDocument/2006/relationships/package" Target="../embeddings/Microsoft_Word___5.docx"/><Relationship Id="rId2" Type="http://schemas.openxmlformats.org/officeDocument/2006/relationships/slideLayout" Target="../slideLayouts/slideLayout3.xml"/><Relationship Id="rId1" Type="http://schemas.openxmlformats.org/officeDocument/2006/relationships/vmlDrawing" Target="../drawings/vmlDrawing3.vml"/><Relationship Id="rId6" Type="http://schemas.openxmlformats.org/officeDocument/2006/relationships/image" Target="../media/image7.emf"/><Relationship Id="rId5" Type="http://schemas.openxmlformats.org/officeDocument/2006/relationships/package" Target="../embeddings/Microsoft_Word___6.docx"/><Relationship Id="rId4" Type="http://schemas.openxmlformats.org/officeDocument/2006/relationships/image" Target="../media/image6.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package" Target="../embeddings/Microsoft_Word___7.docx"/><Relationship Id="rId2" Type="http://schemas.openxmlformats.org/officeDocument/2006/relationships/slideLayout" Target="../slideLayouts/slideLayout3.xml"/><Relationship Id="rId1" Type="http://schemas.openxmlformats.org/officeDocument/2006/relationships/vmlDrawing" Target="../drawings/vmlDrawing4.vml"/><Relationship Id="rId4" Type="http://schemas.openxmlformats.org/officeDocument/2006/relationships/image" Target="../media/image8.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package" Target="../embeddings/Microsoft_Word___8.docx"/><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9.emf"/></Relationships>
</file>

<file path=ppt/slides/_rels/slide15.xml.rels><?xml version="1.0" encoding="UTF-8" standalone="yes"?>
<Relationships xmlns="http://schemas.openxmlformats.org/package/2006/relationships"><Relationship Id="rId3" Type="http://schemas.openxmlformats.org/officeDocument/2006/relationships/package" Target="../embeddings/Microsoft_Word___9.docx"/><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10.emf"/></Relationships>
</file>

<file path=ppt/slides/_rels/slide16.xml.rels><?xml version="1.0" encoding="UTF-8" standalone="yes"?>
<Relationships xmlns="http://schemas.openxmlformats.org/package/2006/relationships"><Relationship Id="rId3" Type="http://schemas.openxmlformats.org/officeDocument/2006/relationships/package" Target="../embeddings/Microsoft_Word___10.docx"/><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11.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package" Target="../embeddings/Microsoft_Word___11.docx"/><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12.emf"/></Relationships>
</file>

<file path=ppt/slides/_rels/slide19.xml.rels><?xml version="1.0" encoding="UTF-8" standalone="yes"?>
<Relationships xmlns="http://schemas.openxmlformats.org/package/2006/relationships"><Relationship Id="rId3" Type="http://schemas.openxmlformats.org/officeDocument/2006/relationships/package" Target="../embeddings/Microsoft_Word___12.docx"/><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13.emf"/></Relationships>
</file>

<file path=ppt/slides/_rels/slide20.xml.rels><?xml version="1.0" encoding="UTF-8" standalone="yes"?>
<Relationships xmlns="http://schemas.openxmlformats.org/package/2006/relationships"><Relationship Id="rId3" Type="http://schemas.openxmlformats.org/officeDocument/2006/relationships/image" Target="../media/image16.jpeg"/><Relationship Id="rId7" Type="http://schemas.openxmlformats.org/officeDocument/2006/relationships/image" Target="../media/image15.emf"/><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package" Target="../embeddings/Microsoft_Word___14.docx"/><Relationship Id="rId5" Type="http://schemas.openxmlformats.org/officeDocument/2006/relationships/image" Target="../media/image14.emf"/><Relationship Id="rId4" Type="http://schemas.openxmlformats.org/officeDocument/2006/relationships/package" Target="../embeddings/Microsoft_Word___13.docx"/></Relationships>
</file>

<file path=ppt/slides/_rels/slide21.xml.rels><?xml version="1.0" encoding="UTF-8" standalone="yes"?>
<Relationships xmlns="http://schemas.openxmlformats.org/package/2006/relationships"><Relationship Id="rId3" Type="http://schemas.openxmlformats.org/officeDocument/2006/relationships/package" Target="../embeddings/Microsoft_Word___15.docx"/><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17.emf"/></Relationships>
</file>

<file path=ppt/slides/_rels/slide22.xml.rels><?xml version="1.0" encoding="UTF-8" standalone="yes"?>
<Relationships xmlns="http://schemas.openxmlformats.org/package/2006/relationships"><Relationship Id="rId3" Type="http://schemas.openxmlformats.org/officeDocument/2006/relationships/package" Target="../embeddings/Microsoft_Word___16.docx"/><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18.emf"/></Relationships>
</file>

<file path=ppt/slides/_rels/slide2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slideLayout" Target="../slideLayouts/slideLayout2.xml"/><Relationship Id="rId1" Type="http://schemas.openxmlformats.org/officeDocument/2006/relationships/vmlDrawing" Target="../drawings/vmlDrawing13.vml"/><Relationship Id="rId5" Type="http://schemas.openxmlformats.org/officeDocument/2006/relationships/image" Target="../media/image19.emf"/><Relationship Id="rId4" Type="http://schemas.openxmlformats.org/officeDocument/2006/relationships/package" Target="../embeddings/Microsoft_Word___17.docx"/></Relationships>
</file>

<file path=ppt/slides/_rels/slide24.xml.rels><?xml version="1.0" encoding="UTF-8" standalone="yes"?>
<Relationships xmlns="http://schemas.openxmlformats.org/package/2006/relationships"><Relationship Id="rId3" Type="http://schemas.openxmlformats.org/officeDocument/2006/relationships/package" Target="../embeddings/Microsoft_Word___18.docx"/><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21.emf"/></Relationships>
</file>

<file path=ppt/slides/_rels/slide25.xml.rels><?xml version="1.0" encoding="UTF-8" standalone="yes"?>
<Relationships xmlns="http://schemas.openxmlformats.org/package/2006/relationships"><Relationship Id="rId3" Type="http://schemas.openxmlformats.org/officeDocument/2006/relationships/package" Target="../embeddings/Microsoft_Word___19.docx"/><Relationship Id="rId2" Type="http://schemas.openxmlformats.org/officeDocument/2006/relationships/slideLayout" Target="../slideLayouts/slideLayout2.xml"/><Relationship Id="rId1" Type="http://schemas.openxmlformats.org/officeDocument/2006/relationships/vmlDrawing" Target="../drawings/vmlDrawing15.vml"/><Relationship Id="rId4" Type="http://schemas.openxmlformats.org/officeDocument/2006/relationships/image" Target="../media/image22.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package" Target="../embeddings/Microsoft_Word___20.docx"/><Relationship Id="rId2" Type="http://schemas.openxmlformats.org/officeDocument/2006/relationships/slideLayout" Target="../slideLayouts/slideLayout2.xml"/><Relationship Id="rId1" Type="http://schemas.openxmlformats.org/officeDocument/2006/relationships/vmlDrawing" Target="../drawings/vmlDrawing16.vml"/><Relationship Id="rId4" Type="http://schemas.openxmlformats.org/officeDocument/2006/relationships/image" Target="../media/image23.e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package" Target="../embeddings/Microsoft_Word___21.docx"/><Relationship Id="rId2" Type="http://schemas.openxmlformats.org/officeDocument/2006/relationships/slideLayout" Target="../slideLayouts/slideLayout2.xml"/><Relationship Id="rId1" Type="http://schemas.openxmlformats.org/officeDocument/2006/relationships/vmlDrawing" Target="../drawings/vmlDrawing17.vml"/><Relationship Id="rId4" Type="http://schemas.openxmlformats.org/officeDocument/2006/relationships/image" Target="../media/image24.emf"/></Relationships>
</file>

<file path=ppt/slides/_rels/slide31.xml.rels><?xml version="1.0" encoding="UTF-8" standalone="yes"?>
<Relationships xmlns="http://schemas.openxmlformats.org/package/2006/relationships"><Relationship Id="rId3" Type="http://schemas.openxmlformats.org/officeDocument/2006/relationships/package" Target="../embeddings/Microsoft_Word___22.docx"/><Relationship Id="rId2" Type="http://schemas.openxmlformats.org/officeDocument/2006/relationships/slideLayout" Target="../slideLayouts/slideLayout2.xml"/><Relationship Id="rId1" Type="http://schemas.openxmlformats.org/officeDocument/2006/relationships/vmlDrawing" Target="../drawings/vmlDrawing18.vml"/><Relationship Id="rId4" Type="http://schemas.openxmlformats.org/officeDocument/2006/relationships/image" Target="../media/image25.emf"/></Relationships>
</file>

<file path=ppt/slides/_rels/slide32.xml.rels><?xml version="1.0" encoding="UTF-8" standalone="yes"?>
<Relationships xmlns="http://schemas.openxmlformats.org/package/2006/relationships"><Relationship Id="rId8" Type="http://schemas.openxmlformats.org/officeDocument/2006/relationships/image" Target="../media/image28.emf"/><Relationship Id="rId3" Type="http://schemas.openxmlformats.org/officeDocument/2006/relationships/package" Target="../embeddings/Microsoft_Word___23.docx"/><Relationship Id="rId7" Type="http://schemas.openxmlformats.org/officeDocument/2006/relationships/package" Target="../embeddings/Microsoft_Word___25.docx"/><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image" Target="../media/image27.emf"/><Relationship Id="rId5" Type="http://schemas.openxmlformats.org/officeDocument/2006/relationships/package" Target="../embeddings/Microsoft_Word___24.docx"/><Relationship Id="rId4" Type="http://schemas.openxmlformats.org/officeDocument/2006/relationships/image" Target="../media/image26.emf"/></Relationships>
</file>

<file path=ppt/slides/_rels/slide33.xml.rels><?xml version="1.0" encoding="UTF-8" standalone="yes"?>
<Relationships xmlns="http://schemas.openxmlformats.org/package/2006/relationships"><Relationship Id="rId3" Type="http://schemas.openxmlformats.org/officeDocument/2006/relationships/package" Target="../embeddings/Microsoft_Word___26.docx"/><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image" Target="../media/image30.emf"/><Relationship Id="rId5" Type="http://schemas.openxmlformats.org/officeDocument/2006/relationships/package" Target="../embeddings/Microsoft_Word___27.docx"/><Relationship Id="rId4" Type="http://schemas.openxmlformats.org/officeDocument/2006/relationships/image" Target="../media/image29.e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package" Target="../embeddings/Microsoft_Word___28.docx"/><Relationship Id="rId2" Type="http://schemas.openxmlformats.org/officeDocument/2006/relationships/slideLayout" Target="../slideLayouts/slideLayout1.xml"/><Relationship Id="rId1" Type="http://schemas.openxmlformats.org/officeDocument/2006/relationships/vmlDrawing" Target="../drawings/vmlDrawing21.vml"/><Relationship Id="rId6" Type="http://schemas.openxmlformats.org/officeDocument/2006/relationships/image" Target="../media/image32.emf"/><Relationship Id="rId5" Type="http://schemas.openxmlformats.org/officeDocument/2006/relationships/package" Target="../embeddings/Microsoft_Word___29.docx"/><Relationship Id="rId4" Type="http://schemas.openxmlformats.org/officeDocument/2006/relationships/image" Target="../media/image31.emf"/></Relationships>
</file>

<file path=ppt/slides/_rels/slide37.xml.rels><?xml version="1.0" encoding="UTF-8" standalone="yes"?>
<Relationships xmlns="http://schemas.openxmlformats.org/package/2006/relationships"><Relationship Id="rId8" Type="http://schemas.openxmlformats.org/officeDocument/2006/relationships/image" Target="../media/image35.emf"/><Relationship Id="rId3" Type="http://schemas.openxmlformats.org/officeDocument/2006/relationships/package" Target="../embeddings/Microsoft_Word___30.docx"/><Relationship Id="rId7" Type="http://schemas.openxmlformats.org/officeDocument/2006/relationships/package" Target="../embeddings/Microsoft_Word___32.docx"/><Relationship Id="rId2" Type="http://schemas.openxmlformats.org/officeDocument/2006/relationships/slideLayout" Target="../slideLayouts/slideLayout1.xml"/><Relationship Id="rId1" Type="http://schemas.openxmlformats.org/officeDocument/2006/relationships/vmlDrawing" Target="../drawings/vmlDrawing22.vml"/><Relationship Id="rId6" Type="http://schemas.openxmlformats.org/officeDocument/2006/relationships/image" Target="../media/image34.emf"/><Relationship Id="rId5" Type="http://schemas.openxmlformats.org/officeDocument/2006/relationships/package" Target="../embeddings/Microsoft_Word___31.docx"/><Relationship Id="rId4" Type="http://schemas.openxmlformats.org/officeDocument/2006/relationships/image" Target="../media/image33.emf"/></Relationships>
</file>

<file path=ppt/slides/_rels/slide38.xml.rels><?xml version="1.0" encoding="UTF-8" standalone="yes"?>
<Relationships xmlns="http://schemas.openxmlformats.org/package/2006/relationships"><Relationship Id="rId3" Type="http://schemas.openxmlformats.org/officeDocument/2006/relationships/package" Target="../embeddings/Microsoft_Word___33.docx"/><Relationship Id="rId2" Type="http://schemas.openxmlformats.org/officeDocument/2006/relationships/slideLayout" Target="../slideLayouts/slideLayout1.xml"/><Relationship Id="rId1" Type="http://schemas.openxmlformats.org/officeDocument/2006/relationships/vmlDrawing" Target="../drawings/vmlDrawing23.vml"/><Relationship Id="rId4" Type="http://schemas.openxmlformats.org/officeDocument/2006/relationships/image" Target="../media/image36.emf"/></Relationships>
</file>

<file path=ppt/slides/_rels/slide39.xml.rels><?xml version="1.0" encoding="UTF-8" standalone="yes"?>
<Relationships xmlns="http://schemas.openxmlformats.org/package/2006/relationships"><Relationship Id="rId3" Type="http://schemas.openxmlformats.org/officeDocument/2006/relationships/package" Target="../embeddings/Microsoft_Word___34.docx"/><Relationship Id="rId2" Type="http://schemas.openxmlformats.org/officeDocument/2006/relationships/slideLayout" Target="../slideLayouts/slideLayout1.xml"/><Relationship Id="rId1" Type="http://schemas.openxmlformats.org/officeDocument/2006/relationships/vmlDrawing" Target="../drawings/vmlDrawing24.vml"/><Relationship Id="rId4" Type="http://schemas.openxmlformats.org/officeDocument/2006/relationships/image" Target="../media/image37.emf"/></Relationships>
</file>

<file path=ppt/slides/_rels/slide4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300879" y="519978"/>
            <a:ext cx="4047903" cy="461665"/>
          </a:xfrm>
          <a:prstGeom prst="rect">
            <a:avLst/>
          </a:prstGeom>
        </p:spPr>
        <p:txBody>
          <a:bodyPr wrap="none">
            <a:spAutoFit/>
          </a:bodyPr>
          <a:lstStyle/>
          <a:p>
            <a:pPr algn="dist"/>
            <a:r>
              <a:rPr lang="zh-CN" altLang="en-US" sz="2400" b="1" spc="600" dirty="0" smtClean="0">
                <a:solidFill>
                  <a:srgbClr val="757C82"/>
                </a:solidFill>
                <a:latin typeface="黑体" panose="02010609060101010101" pitchFamily="49" charset="-122"/>
                <a:ea typeface="黑体" panose="02010609060101010101" pitchFamily="49" charset="-122"/>
              </a:rPr>
              <a:t>高中同步测控优化设计</a:t>
            </a:r>
            <a:endParaRPr lang="zh-CN" altLang="en-US" sz="2400" b="1" spc="600" dirty="0">
              <a:solidFill>
                <a:srgbClr val="757C82"/>
              </a:solidFill>
              <a:latin typeface="黑体" panose="02010609060101010101" pitchFamily="49" charset="-122"/>
              <a:ea typeface="黑体" panose="02010609060101010101" pitchFamily="49" charset="-122"/>
            </a:endParaRPr>
          </a:p>
        </p:txBody>
      </p:sp>
      <p:cxnSp>
        <p:nvCxnSpPr>
          <p:cNvPr id="3" name="直接连接符 2"/>
          <p:cNvCxnSpPr/>
          <p:nvPr/>
        </p:nvCxnSpPr>
        <p:spPr>
          <a:xfrm>
            <a:off x="2282351" y="1003843"/>
            <a:ext cx="4305485" cy="0"/>
          </a:xfrm>
          <a:prstGeom prst="line">
            <a:avLst/>
          </a:prstGeom>
          <a:ln>
            <a:solidFill>
              <a:schemeClr val="tx1"/>
            </a:solidFill>
            <a:prstDash val="lgDashDotDot"/>
            <a:headEnd type="diamond" w="med" len="med"/>
            <a:tailEnd type="diamond" w="med" len="med"/>
          </a:ln>
          <a:effectLst/>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2173232" y="1026313"/>
            <a:ext cx="4414604" cy="338554"/>
          </a:xfrm>
          <a:prstGeom prst="rect">
            <a:avLst/>
          </a:prstGeom>
        </p:spPr>
        <p:txBody>
          <a:bodyPr wrap="square">
            <a:spAutoFit/>
          </a:bodyPr>
          <a:lstStyle/>
          <a:p>
            <a:pPr algn="ctr"/>
            <a:r>
              <a:rPr lang="en-US" altLang="zh-CN" sz="1600" b="1" dirty="0" smtClean="0">
                <a:solidFill>
                  <a:srgbClr val="757C82"/>
                </a:solidFill>
                <a:latin typeface="黑体" panose="02010609060101010101" pitchFamily="49" charset="-122"/>
                <a:ea typeface="黑体" panose="02010609060101010101" pitchFamily="49" charset="-122"/>
              </a:rPr>
              <a:t>GAO ZHONG TONG </a:t>
            </a:r>
            <a:r>
              <a:rPr lang="en-US" altLang="zh-CN" sz="1600" b="1" dirty="0">
                <a:solidFill>
                  <a:srgbClr val="757C82"/>
                </a:solidFill>
                <a:latin typeface="黑体" panose="02010609060101010101" pitchFamily="49" charset="-122"/>
                <a:ea typeface="黑体" panose="02010609060101010101" pitchFamily="49" charset="-122"/>
              </a:rPr>
              <a:t>B</a:t>
            </a:r>
            <a:r>
              <a:rPr lang="en-US" altLang="zh-CN" sz="1600" b="1" dirty="0" smtClean="0">
                <a:solidFill>
                  <a:srgbClr val="757C82"/>
                </a:solidFill>
                <a:latin typeface="黑体" panose="02010609060101010101" pitchFamily="49" charset="-122"/>
                <a:ea typeface="黑体" panose="02010609060101010101" pitchFamily="49" charset="-122"/>
              </a:rPr>
              <a:t>U CE KONG YOU HUA SHE JI</a:t>
            </a:r>
          </a:p>
        </p:txBody>
      </p:sp>
      <p:grpSp>
        <p:nvGrpSpPr>
          <p:cNvPr id="5" name="组合 4"/>
          <p:cNvGrpSpPr/>
          <p:nvPr/>
        </p:nvGrpSpPr>
        <p:grpSpPr>
          <a:xfrm>
            <a:off x="635" y="2775585"/>
            <a:ext cx="12191365" cy="1478915"/>
            <a:chOff x="303375" y="3227146"/>
            <a:chExt cx="11560182" cy="1479076"/>
          </a:xfrm>
        </p:grpSpPr>
        <p:sp>
          <p:nvSpPr>
            <p:cNvPr id="6" name="矩形 5"/>
            <p:cNvSpPr/>
            <p:nvPr/>
          </p:nvSpPr>
          <p:spPr>
            <a:xfrm>
              <a:off x="303375" y="3227146"/>
              <a:ext cx="11560182" cy="1479076"/>
            </a:xfrm>
            <a:prstGeom prst="rect">
              <a:avLst/>
            </a:prstGeom>
            <a:solidFill>
              <a:srgbClr val="6B7278"/>
            </a:solidFill>
            <a:ln>
              <a:no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665034" y="3614538"/>
              <a:ext cx="8158783" cy="645230"/>
            </a:xfrm>
            <a:prstGeom prst="rect">
              <a:avLst/>
            </a:prstGeom>
          </p:spPr>
          <p:txBody>
            <a:bodyPr wrap="square">
              <a:spAutoFit/>
            </a:bodyPr>
            <a:lstStyle/>
            <a:p>
              <a:r>
                <a:rPr lang="zh-CN" altLang="en-US" sz="3600" b="1" dirty="0">
                  <a:solidFill>
                    <a:schemeClr val="bg1"/>
                  </a:solidFill>
                  <a:latin typeface="华文细黑" panose="02010600040101010101" charset="-122"/>
                  <a:ea typeface="华文细黑" panose="02010600040101010101" charset="-122"/>
                </a:rPr>
                <a:t>第</a:t>
              </a:r>
              <a:r>
                <a:rPr lang="en-US" altLang="zh-CN" sz="3600" b="1" dirty="0">
                  <a:solidFill>
                    <a:schemeClr val="bg1"/>
                  </a:solidFill>
                  <a:latin typeface="华文细黑" panose="02010600040101010101" charset="-122"/>
                  <a:ea typeface="华文细黑" panose="02010600040101010101" charset="-122"/>
                </a:rPr>
                <a:t>2</a:t>
              </a:r>
              <a:r>
                <a:rPr lang="zh-CN" altLang="en-US" sz="3600" b="1" dirty="0">
                  <a:solidFill>
                    <a:schemeClr val="bg1"/>
                  </a:solidFill>
                  <a:latin typeface="华文细黑" panose="02010600040101010101" charset="-122"/>
                  <a:ea typeface="华文细黑" panose="02010600040101010101" charset="-122"/>
                </a:rPr>
                <a:t>课时　等差数列前</a:t>
              </a:r>
              <a:r>
                <a:rPr lang="en-US" altLang="zh-CN" sz="3600" b="1" i="1" dirty="0">
                  <a:solidFill>
                    <a:schemeClr val="bg1"/>
                  </a:solidFill>
                  <a:latin typeface="Times New Roman" panose="02020603050405020304" pitchFamily="18" charset="0"/>
                  <a:ea typeface="华文细黑" panose="02010600040101010101" charset="-122"/>
                  <a:cs typeface="Times New Roman" panose="02020603050405020304" pitchFamily="18" charset="0"/>
                </a:rPr>
                <a:t>n</a:t>
              </a:r>
              <a:r>
                <a:rPr lang="zh-CN" altLang="en-US" sz="3600" b="1" dirty="0">
                  <a:solidFill>
                    <a:schemeClr val="bg1"/>
                  </a:solidFill>
                  <a:latin typeface="华文细黑" panose="02010600040101010101" charset="-122"/>
                  <a:ea typeface="华文细黑" panose="02010600040101010101" charset="-122"/>
                </a:rPr>
                <a:t>项和的性质及应用</a:t>
              </a:r>
            </a:p>
          </p:txBody>
        </p:sp>
      </p:grpSp>
      <p:sp>
        <p:nvSpPr>
          <p:cNvPr id="8" name="矩形 7"/>
          <p:cNvSpPr/>
          <p:nvPr/>
        </p:nvSpPr>
        <p:spPr>
          <a:xfrm>
            <a:off x="1109345" y="2277745"/>
            <a:ext cx="2282825" cy="2407920"/>
          </a:xfrm>
          <a:prstGeom prst="rect">
            <a:avLst/>
          </a:prstGeom>
          <a:solidFill>
            <a:srgbClr val="748773"/>
          </a:solidFill>
          <a:ln w="12700" cap="flat" cmpd="sng" algn="ctr">
            <a:noFill/>
            <a:prstDash val="solid"/>
            <a:miter lim="800000"/>
          </a:ln>
          <a:effectLst>
            <a:outerShdw blurRad="317500" dist="127000" dir="2700000" algn="tl" rotWithShape="0">
              <a:prstClr val="black">
                <a:alpha val="25000"/>
              </a:prstClr>
            </a:outerShdw>
          </a:effectLst>
          <a:scene3d>
            <a:camera prst="orthographicFront"/>
            <a:lightRig rig="threePt" dir="t"/>
          </a:scene3d>
          <a:sp3d>
            <a:bevelT w="101600" prst="riblet"/>
          </a:sp3d>
        </p:spPr>
        <p:txBody>
          <a:bodyPr wrap="none" rtlCol="0" anchor="ctr"/>
          <a:lstStyle/>
          <a:p>
            <a:pPr algn="ctr"/>
            <a:r>
              <a:rPr lang="zh-CN" altLang="en-US" sz="3600" b="1" kern="0" dirty="0" smtClean="0">
                <a:solidFill>
                  <a:schemeClr val="bg1"/>
                </a:solidFill>
                <a:latin typeface="华文细黑" panose="02010600040101010101" charset="-122"/>
                <a:ea typeface="华文细黑" panose="02010600040101010101" charset="-122"/>
                <a:cs typeface="Open Sans" panose="020B0606030504020204" pitchFamily="34" charset="0"/>
              </a:rPr>
              <a:t>第四章</a:t>
            </a:r>
            <a:endParaRPr lang="en-US" altLang="zh-CN" sz="3600" b="1" kern="0" dirty="0" smtClean="0">
              <a:solidFill>
                <a:schemeClr val="bg1"/>
              </a:solidFill>
              <a:latin typeface="华文细黑" panose="02010600040101010101" charset="-122"/>
              <a:ea typeface="华文细黑" panose="02010600040101010101" charset="-122"/>
              <a:cs typeface="Open Sans" panose="020B0606030504020204" pitchFamily="34" charset="0"/>
            </a:endParaRPr>
          </a:p>
          <a:p>
            <a:pPr algn="ctr"/>
            <a:r>
              <a:rPr lang="en-US" altLang="zh-CN" sz="3600" b="1" kern="0" smtClean="0">
                <a:solidFill>
                  <a:schemeClr val="bg1"/>
                </a:solidFill>
                <a:latin typeface="华文细黑" panose="02010600040101010101" charset="-122"/>
                <a:ea typeface="华文细黑" panose="02010600040101010101" charset="-122"/>
                <a:cs typeface="Open Sans" panose="020B0606030504020204" pitchFamily="34" charset="0"/>
              </a:rPr>
              <a:t>4.2.2</a:t>
            </a:r>
            <a:endParaRPr lang="en-US" altLang="zh-CN" sz="3600" b="1" kern="0" dirty="0" smtClean="0">
              <a:solidFill>
                <a:schemeClr val="bg1"/>
              </a:solidFill>
              <a:latin typeface="华文细黑" panose="02010600040101010101" charset="-122"/>
              <a:ea typeface="华文细黑" panose="02010600040101010101" charset="-122"/>
              <a:cs typeface="Open Sans" panose="020B0606030504020204" pitchFamily="34" charset="0"/>
            </a:endParaRPr>
          </a:p>
        </p:txBody>
      </p:sp>
      <p:pic>
        <p:nvPicPr>
          <p:cNvPr id="10" name="图片 9" descr="e37b0ec1d4924ecca897357d279cf88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saturation sat="0"/>
                    </a14:imgEffect>
                  </a14:imgLayer>
                </a14:imgProps>
              </a:ext>
            </a:extLst>
          </a:blip>
          <a:stretch>
            <a:fillRect/>
          </a:stretch>
        </p:blipFill>
        <p:spPr>
          <a:xfrm>
            <a:off x="801370" y="175260"/>
            <a:ext cx="1453515" cy="1453515"/>
          </a:xfrm>
          <a:prstGeom prst="rect">
            <a:avLst/>
          </a:prstGeom>
        </p:spPr>
      </p:pic>
      <p:sp>
        <p:nvSpPr>
          <p:cNvPr id="11" name="矩形 10"/>
          <p:cNvSpPr/>
          <p:nvPr/>
        </p:nvSpPr>
        <p:spPr>
          <a:xfrm>
            <a:off x="1001385" y="587446"/>
            <a:ext cx="1052723" cy="5870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smtClean="0">
                <a:solidFill>
                  <a:srgbClr val="757C82"/>
                </a:solidFill>
                <a:latin typeface="Times New Roman" panose="02020603050405020304" pitchFamily="18" charset="0"/>
                <a:cs typeface="Times New Roman" panose="02020603050405020304" pitchFamily="18" charset="0"/>
              </a:rPr>
              <a:t>2025</a:t>
            </a:r>
          </a:p>
        </p:txBody>
      </p:sp>
    </p:spTree>
    <p:extLst>
      <p:ext uri="{BB962C8B-B14F-4D97-AF65-F5344CB8AC3E}">
        <p14:creationId xmlns:p14="http://schemas.microsoft.com/office/powerpoint/2010/main" val="39499843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bldLst>
      <p:bldP spid="2" grpId="0"/>
      <p:bldP spid="4" grpId="0"/>
      <p:bldP spid="8" grpId="0" bldLvl="0" animBg="1"/>
      <p:bldP spid="11"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nvSpPr>
        <p:spPr>
          <a:xfrm>
            <a:off x="1788494" y="1591871"/>
            <a:ext cx="942982" cy="3046988"/>
          </a:xfrm>
          <a:prstGeom prst="rect">
            <a:avLst/>
          </a:prstGeom>
          <a:noFill/>
        </p:spPr>
        <p:txBody>
          <a:bodyPr wrap="square" rtlCol="0">
            <a:spAutoFit/>
          </a:bodyPr>
          <a:lstStyle/>
          <a:p>
            <a:r>
              <a:rPr kumimoji="1" lang="zh-CN" altLang="en-US" sz="4800" smtClean="0">
                <a:solidFill>
                  <a:srgbClr val="2C3814"/>
                </a:solidFill>
                <a:cs typeface="+mn-ea"/>
                <a:sym typeface="+mn-lt"/>
              </a:rPr>
              <a:t>内容索引</a:t>
            </a:r>
            <a:endParaRPr kumimoji="1" lang="zh-CN" altLang="en-US" sz="4800" dirty="0">
              <a:solidFill>
                <a:srgbClr val="2C3814"/>
              </a:solidFill>
              <a:cs typeface="+mn-ea"/>
              <a:sym typeface="+mn-lt"/>
            </a:endParaRPr>
          </a:p>
        </p:txBody>
      </p:sp>
      <p:grpSp>
        <p:nvGrpSpPr>
          <p:cNvPr id="25" name="组合 24"/>
          <p:cNvGrpSpPr/>
          <p:nvPr/>
        </p:nvGrpSpPr>
        <p:grpSpPr>
          <a:xfrm>
            <a:off x="1378713" y="856615"/>
            <a:ext cx="1105802" cy="815646"/>
            <a:chOff x="-1604504" y="2147667"/>
            <a:chExt cx="3687215" cy="2719712"/>
          </a:xfrm>
        </p:grpSpPr>
        <p:cxnSp>
          <p:nvCxnSpPr>
            <p:cNvPr id="26" name="直接连接符 25"/>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27" name="直接连接符 26"/>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28" name="组合 27"/>
          <p:cNvGrpSpPr/>
          <p:nvPr/>
        </p:nvGrpSpPr>
        <p:grpSpPr>
          <a:xfrm flipH="1" flipV="1">
            <a:off x="1707083" y="4546456"/>
            <a:ext cx="1105803" cy="815646"/>
            <a:chOff x="-1604504" y="2147667"/>
            <a:chExt cx="3687215" cy="2719712"/>
          </a:xfrm>
        </p:grpSpPr>
        <p:cxnSp>
          <p:nvCxnSpPr>
            <p:cNvPr id="38" name="直接连接符 37"/>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39" name="直接连接符 38"/>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grpSp>
        <p:nvGrpSpPr>
          <p:cNvPr id="40" name="组合 39"/>
          <p:cNvGrpSpPr/>
          <p:nvPr/>
        </p:nvGrpSpPr>
        <p:grpSpPr>
          <a:xfrm>
            <a:off x="4764013" y="1194282"/>
            <a:ext cx="804581" cy="804581"/>
            <a:chOff x="3685832" y="623962"/>
            <a:chExt cx="739840" cy="739840"/>
          </a:xfrm>
        </p:grpSpPr>
        <p:sp>
          <p:nvSpPr>
            <p:cNvPr id="44" name="椭圆 43"/>
            <p:cNvSpPr/>
            <p:nvPr/>
          </p:nvSpPr>
          <p:spPr>
            <a:xfrm>
              <a:off x="3685832" y="623962"/>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E93F30"/>
                </a:solidFill>
                <a:effectLst/>
                <a:uLnTx/>
                <a:uFillTx/>
                <a:latin typeface="Arial" panose="020B0604020202020204" pitchFamily="34" charset="0"/>
              </a:endParaRPr>
            </a:p>
          </p:txBody>
        </p:sp>
        <p:sp>
          <p:nvSpPr>
            <p:cNvPr id="45" name="TextBox 7"/>
            <p:cNvSpPr txBox="1"/>
            <p:nvPr/>
          </p:nvSpPr>
          <p:spPr>
            <a:xfrm>
              <a:off x="3786929" y="743838"/>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01</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6" name="组合 45"/>
          <p:cNvGrpSpPr/>
          <p:nvPr/>
        </p:nvGrpSpPr>
        <p:grpSpPr>
          <a:xfrm>
            <a:off x="4764013" y="2760859"/>
            <a:ext cx="804581" cy="804581"/>
            <a:chOff x="3685832" y="1673493"/>
            <a:chExt cx="739840" cy="739840"/>
          </a:xfrm>
        </p:grpSpPr>
        <p:sp>
          <p:nvSpPr>
            <p:cNvPr id="47" name="椭圆 46"/>
            <p:cNvSpPr/>
            <p:nvPr/>
          </p:nvSpPr>
          <p:spPr>
            <a:xfrm>
              <a:off x="3685832" y="1673493"/>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48" name="TextBox 10"/>
            <p:cNvSpPr txBox="1"/>
            <p:nvPr/>
          </p:nvSpPr>
          <p:spPr>
            <a:xfrm>
              <a:off x="3786931" y="1793369"/>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02</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9" name="组合 48"/>
          <p:cNvGrpSpPr/>
          <p:nvPr/>
        </p:nvGrpSpPr>
        <p:grpSpPr>
          <a:xfrm>
            <a:off x="4764013" y="4327435"/>
            <a:ext cx="804581" cy="804581"/>
            <a:chOff x="3685832" y="2723024"/>
            <a:chExt cx="739840" cy="739840"/>
          </a:xfrm>
        </p:grpSpPr>
        <p:sp>
          <p:nvSpPr>
            <p:cNvPr id="50" name="椭圆 49"/>
            <p:cNvSpPr/>
            <p:nvPr/>
          </p:nvSpPr>
          <p:spPr>
            <a:xfrm>
              <a:off x="3685832" y="2723024"/>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1905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51" name="TextBox 13"/>
            <p:cNvSpPr txBox="1"/>
            <p:nvPr/>
          </p:nvSpPr>
          <p:spPr>
            <a:xfrm>
              <a:off x="3786929" y="2842900"/>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03</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sp>
        <p:nvSpPr>
          <p:cNvPr id="52" name="矩形 51">
            <a:hlinkClick r:id="rId2" action="ppaction://hlinksldjump"/>
          </p:cNvPr>
          <p:cNvSpPr/>
          <p:nvPr/>
        </p:nvSpPr>
        <p:spPr>
          <a:xfrm>
            <a:off x="5678538" y="1286748"/>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自主预习 新知导学</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3" name="矩形 52">
            <a:hlinkClick r:id="rId3" action="ppaction://hlinksldjump"/>
          </p:cNvPr>
          <p:cNvSpPr/>
          <p:nvPr/>
        </p:nvSpPr>
        <p:spPr>
          <a:xfrm>
            <a:off x="5678538" y="2871606"/>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合作探究 释疑解惑</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4" name="矩形 53">
            <a:hlinkClick r:id="rId4" action="ppaction://hlinksldjump"/>
          </p:cNvPr>
          <p:cNvSpPr/>
          <p:nvPr/>
        </p:nvSpPr>
        <p:spPr>
          <a:xfrm>
            <a:off x="5678538" y="4456463"/>
            <a:ext cx="1556836" cy="502445"/>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随堂练习</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17500" y="701716"/>
            <a:ext cx="11557000" cy="5689151"/>
          </a:xfrm>
          <a:prstGeom prst="rect">
            <a:avLst/>
          </a:prstGeom>
          <a:noFill/>
          <a:ln w="19050">
            <a:gradFill>
              <a:gsLst>
                <a:gs pos="100000">
                  <a:schemeClr val="accent1">
                    <a:lumMod val="5000"/>
                    <a:lumOff val="95000"/>
                  </a:schemeClr>
                </a:gs>
                <a:gs pos="57000">
                  <a:schemeClr val="tx1">
                    <a:lumMod val="50000"/>
                    <a:lumOff val="50000"/>
                  </a:schemeClr>
                </a:gs>
                <a:gs pos="29000">
                  <a:schemeClr val="tx1"/>
                </a:gs>
                <a:gs pos="100000">
                  <a:schemeClr val="bg1"/>
                </a:gs>
              </a:gsLst>
              <a:lin ang="5400000" scaled="1"/>
            </a:gra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9" name="文本框 8"/>
          <p:cNvSpPr txBox="1"/>
          <p:nvPr>
            <p:custDataLst>
              <p:tags r:id="rId1"/>
            </p:custDataLst>
          </p:nvPr>
        </p:nvSpPr>
        <p:spPr>
          <a:xfrm>
            <a:off x="4766695" y="446122"/>
            <a:ext cx="3253105" cy="490640"/>
          </a:xfrm>
          <a:prstGeom prst="roundRect">
            <a:avLst>
              <a:gd name="adj" fmla="val 50000"/>
            </a:avLst>
          </a:prstGeom>
          <a:solidFill>
            <a:schemeClr val="bg2">
              <a:lumMod val="50000"/>
            </a:schemeClr>
          </a:solidFill>
        </p:spPr>
        <p:txBody>
          <a:bodyPr wrap="square" lIns="0" tIns="0" rIns="0" bIns="0" rtlCol="0" anchor="ctr" anchorCtr="0">
            <a:noAutofit/>
          </a:bodyPr>
          <a:lstStyle/>
          <a:p>
            <a:pPr lvl="0" algn="ctr" fontAlgn="base">
              <a:spcBef>
                <a:spcPct val="0"/>
              </a:spcBef>
              <a:spcAft>
                <a:spcPct val="0"/>
              </a:spcAft>
              <a:defRPr/>
            </a:pP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课标定</a:t>
            </a:r>
            <a:r>
              <a:rPr lang="zh-CN" altLang="en-US" sz="2800" kern="0" dirty="0" smtClean="0">
                <a:solidFill>
                  <a:srgbClr val="FFFFFF"/>
                </a:solidFill>
                <a:latin typeface="Arial" panose="020B0604020202020204" pitchFamily="34" charset="0"/>
                <a:ea typeface="微软雅黑" panose="020B0503020204020204" pitchFamily="34" charset="-122"/>
                <a:sym typeface="Arial" panose="020B0604020202020204" pitchFamily="34" charset="0"/>
              </a:rPr>
              <a:t>位素养</a:t>
            </a: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阐释</a:t>
            </a:r>
          </a:p>
        </p:txBody>
      </p:sp>
      <p:sp>
        <p:nvSpPr>
          <p:cNvPr id="3" name="矩形 2"/>
          <p:cNvSpPr>
            <a:spLocks noChangeAspect="1"/>
          </p:cNvSpPr>
          <p:nvPr/>
        </p:nvSpPr>
        <p:spPr>
          <a:xfrm>
            <a:off x="381000" y="1241726"/>
            <a:ext cx="11430000" cy="233294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掌握等差数列前</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项和的性质及应用</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会求等差数列前</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项和的最值</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能利用等差数列的前</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项和公式解决实际问题</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pPr>
            <a:r>
              <a:rPr lang="en-US" altLang="zh-CN" sz="2800" dirty="0">
                <a:solidFill>
                  <a:srgbClr val="000000"/>
                </a:solidFill>
                <a:latin typeface="Times New Roman" panose="02020603050405020304" pitchFamily="18" charset="0"/>
              </a:rPr>
              <a:t>4</a:t>
            </a:r>
            <a:r>
              <a:rPr lang="en-US" altLang="zh-CN" sz="2800" i="1" dirty="0">
                <a:solidFill>
                  <a:srgbClr val="000000"/>
                </a:solidFill>
                <a:latin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提升数学运算和数据分析素养</a:t>
            </a:r>
            <a:r>
              <a:rPr lang="en-US" altLang="zh-CN" sz="2800" i="1" dirty="0">
                <a:solidFill>
                  <a:srgbClr val="000000"/>
                </a:solidFill>
                <a:latin typeface="Times New Roman" panose="02020603050405020304" pitchFamily="18" charset="0"/>
              </a:rPr>
              <a:t>.</a:t>
            </a:r>
            <a:endParaRPr lang="zh-CN" altLang="en-US" sz="28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自主预习 新知导学</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125425"/>
            <a:ext cx="11430000" cy="625402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ea typeface="方正正中黑简体"/>
                <a:cs typeface="Times New Roman" panose="02020603050405020304" pitchFamily="18" charset="0"/>
              </a:rPr>
              <a:t>一、等差数列前</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NEU-BZ-S92"/>
                <a:ea typeface="方正正中黑简体"/>
                <a:cs typeface="Times New Roman" panose="02020603050405020304" pitchFamily="18" charset="0"/>
              </a:rPr>
              <a:t>项和的性质</a:t>
            </a:r>
            <a:endParaRPr lang="zh-CN" altLang="zh-CN" sz="2800" dirty="0">
              <a:solidFill>
                <a:srgbClr val="000000"/>
              </a:solidFill>
              <a:latin typeface="NEU-BZ-S92"/>
              <a:ea typeface="方正书宋_GBK"/>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已知公差为</a:t>
            </a:r>
            <a:r>
              <a:rPr lang="en-US" altLang="zh-CN" sz="2800" i="1" dirty="0">
                <a:solidFill>
                  <a:srgbClr val="000000"/>
                </a:solidFill>
                <a:latin typeface="Times New Roman" panose="02020603050405020304" pitchFamily="18" charset="0"/>
                <a:cs typeface="Times New Roman" panose="02020603050405020304" pitchFamily="18" charset="0"/>
              </a:rPr>
              <a:t>d</a:t>
            </a:r>
            <a:r>
              <a:rPr lang="zh-CN" altLang="zh-CN" sz="2800" dirty="0">
                <a:solidFill>
                  <a:srgbClr val="000000"/>
                </a:solidFill>
                <a:latin typeface="Times New Roman" panose="02020603050405020304" pitchFamily="18" charset="0"/>
                <a:cs typeface="Times New Roman" panose="02020603050405020304" pitchFamily="18" charset="0"/>
              </a:rPr>
              <a:t>的等差数列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其前</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项和为</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4</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6</a:t>
            </a:r>
            <a:r>
              <a:rPr lang="zh-CN" altLang="zh-CN" sz="2800" dirty="0">
                <a:solidFill>
                  <a:srgbClr val="000000"/>
                </a:solidFill>
                <a:latin typeface="Times New Roman" panose="02020603050405020304" pitchFamily="18" charset="0"/>
                <a:cs typeface="Times New Roman" panose="02020603050405020304" pitchFamily="18" charset="0"/>
              </a:rPr>
              <a:t>能构成等差数列吗</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smtClean="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6</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4</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6</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4</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4</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4</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6</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构成等差数列</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我们知道</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6</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6</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4</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则上述关系可以描述为一个怎样的结论</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如果</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是等差数列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那么</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6</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也成等差数列</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cs typeface="Times New Roman" panose="02020603050405020304" pitchFamily="18" charset="0"/>
              </a:rPr>
              <a:t>这种结论可以推广吗</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可以推广</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3093502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barn(inVertical)">
                                      <p:cBhvr>
                                        <p:cTn id="7" dur="500"/>
                                        <p:tgtEl>
                                          <p:spTgt spid="2">
                                            <p:txEl>
                                              <p:pRg st="3" end="3"/>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2">
                                            <p:txEl>
                                              <p:pRg st="4" end="4"/>
                                            </p:txEl>
                                          </p:spTgt>
                                        </p:tgtEl>
                                        <p:attrNameLst>
                                          <p:attrName>style.visibility</p:attrName>
                                        </p:attrNameLst>
                                      </p:cBhvr>
                                      <p:to>
                                        <p:strVal val="visible"/>
                                      </p:to>
                                    </p:set>
                                    <p:animEffect transition="in" filter="barn(inVertical)">
                                      <p:cBhvr>
                                        <p:cTn id="10" dur="500"/>
                                        <p:tgtEl>
                                          <p:spTgt spid="2">
                                            <p:txEl>
                                              <p:pRg st="4" end="4"/>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2">
                                            <p:txEl>
                                              <p:pRg st="5" end="5"/>
                                            </p:txEl>
                                          </p:spTgt>
                                        </p:tgtEl>
                                        <p:attrNameLst>
                                          <p:attrName>style.visibility</p:attrName>
                                        </p:attrNameLst>
                                      </p:cBhvr>
                                      <p:to>
                                        <p:strVal val="visible"/>
                                      </p:to>
                                    </p:set>
                                    <p:animEffect transition="in" filter="barn(inVertical)">
                                      <p:cBhvr>
                                        <p:cTn id="13" dur="500"/>
                                        <p:tgtEl>
                                          <p:spTgt spid="2">
                                            <p:txEl>
                                              <p:pRg st="5" end="5"/>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2">
                                            <p:txEl>
                                              <p:pRg st="7" end="7"/>
                                            </p:txEl>
                                          </p:spTgt>
                                        </p:tgtEl>
                                        <p:attrNameLst>
                                          <p:attrName>style.visibility</p:attrName>
                                        </p:attrNameLst>
                                      </p:cBhvr>
                                      <p:to>
                                        <p:strVal val="visible"/>
                                      </p:to>
                                    </p:set>
                                    <p:animEffect transition="in" filter="barn(inVertical)">
                                      <p:cBhvr>
                                        <p:cTn id="18" dur="500"/>
                                        <p:tgtEl>
                                          <p:spTgt spid="2">
                                            <p:txEl>
                                              <p:pRg st="7" end="7"/>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nodeType="clickEffect">
                                  <p:stCondLst>
                                    <p:cond delay="0"/>
                                  </p:stCondLst>
                                  <p:childTnLst>
                                    <p:set>
                                      <p:cBhvr>
                                        <p:cTn id="22" dur="1" fill="hold">
                                          <p:stCondLst>
                                            <p:cond delay="0"/>
                                          </p:stCondLst>
                                        </p:cTn>
                                        <p:tgtEl>
                                          <p:spTgt spid="2">
                                            <p:txEl>
                                              <p:pRg st="9" end="9"/>
                                            </p:txEl>
                                          </p:spTgt>
                                        </p:tgtEl>
                                        <p:attrNameLst>
                                          <p:attrName>style.visibility</p:attrName>
                                        </p:attrNameLst>
                                      </p:cBhvr>
                                      <p:to>
                                        <p:strVal val="visible"/>
                                      </p:to>
                                    </p:set>
                                    <p:animEffect transition="in" filter="barn(inVertical)">
                                      <p:cBhvr>
                                        <p:cTn id="23"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402464"/>
            <a:ext cx="11430000" cy="2893100"/>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在</a:t>
            </a:r>
            <a:r>
              <a:rPr lang="zh-CN" altLang="zh-CN" sz="2800" dirty="0">
                <a:solidFill>
                  <a:srgbClr val="000000"/>
                </a:solidFill>
                <a:latin typeface="Times New Roman" panose="02020603050405020304" pitchFamily="18" charset="0"/>
                <a:cs typeface="Times New Roman" panose="02020603050405020304" pitchFamily="18" charset="0"/>
              </a:rPr>
              <a:t>等差数列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其前</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项和为</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中连续的</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项和构成的数列</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dirty="0" smtClean="0">
                <a:solidFill>
                  <a:srgbClr val="000000"/>
                </a:solidFill>
                <a:latin typeface="Times New Roman" panose="02020603050405020304" pitchFamily="18" charset="0"/>
                <a:cs typeface="Times New Roman" panose="02020603050405020304" pitchFamily="18" charset="0"/>
              </a:rPr>
              <a:t>, </a:t>
            </a:r>
            <a:r>
              <a:rPr lang="en-US" altLang="zh-CN" sz="2800" i="1" dirty="0" smtClean="0">
                <a:solidFill>
                  <a:srgbClr val="FF0000"/>
                </a:solidFill>
                <a:latin typeface="Times New Roman" panose="02020603050405020304" pitchFamily="18" charset="0"/>
                <a:cs typeface="Times New Roman" panose="02020603050405020304" pitchFamily="18" charset="0"/>
              </a:rPr>
              <a:t>S</a:t>
            </a:r>
            <a:r>
              <a:rPr lang="en-US" altLang="zh-CN" sz="2800" baseline="-25000" dirty="0" smtClean="0">
                <a:solidFill>
                  <a:srgbClr val="FF0000"/>
                </a:solidFill>
                <a:latin typeface="Times New Roman" panose="02020603050405020304" pitchFamily="18" charset="0"/>
                <a:cs typeface="Times New Roman" panose="02020603050405020304" pitchFamily="18" charset="0"/>
              </a:rPr>
              <a:t>2</a:t>
            </a:r>
            <a:r>
              <a:rPr lang="en-US" altLang="zh-CN" sz="2800" i="1" baseline="-25000" dirty="0" smtClean="0">
                <a:solidFill>
                  <a:srgbClr val="FF0000"/>
                </a:solidFill>
                <a:latin typeface="Times New Roman" panose="02020603050405020304" pitchFamily="18" charset="0"/>
                <a:cs typeface="Times New Roman" panose="02020603050405020304" pitchFamily="18" charset="0"/>
              </a:rPr>
              <a:t>n</a:t>
            </a:r>
            <a:r>
              <a:rPr lang="en-US" altLang="zh-CN" sz="2800" i="1" dirty="0" smtClean="0">
                <a:solidFill>
                  <a:srgbClr val="FF0000"/>
                </a:solidFill>
                <a:latin typeface="Times New Roman" panose="02020603050405020304" pitchFamily="18" charset="0"/>
                <a:cs typeface="Times New Roman" panose="02020603050405020304" pitchFamily="18" charset="0"/>
              </a:rPr>
              <a:t>-S</a:t>
            </a:r>
            <a:r>
              <a:rPr lang="en-US" altLang="zh-CN" sz="2800" i="1" baseline="-25000" dirty="0" smtClean="0">
                <a:solidFill>
                  <a:srgbClr val="FF0000"/>
                </a:solidFill>
                <a:latin typeface="Times New Roman" panose="02020603050405020304" pitchFamily="18" charset="0"/>
                <a:cs typeface="Times New Roman" panose="02020603050405020304" pitchFamily="18" charset="0"/>
              </a:rPr>
              <a:t>n </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i="1" dirty="0" smtClean="0">
                <a:solidFill>
                  <a:srgbClr val="000000"/>
                </a:solidFill>
                <a:latin typeface="Times New Roman" panose="02020603050405020304" pitchFamily="18" charset="0"/>
                <a:cs typeface="Times New Roman" panose="02020603050405020304" pitchFamily="18" charset="0"/>
              </a:rPr>
              <a:t>S</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3</a:t>
            </a:r>
            <a:r>
              <a:rPr lang="en-US" altLang="zh-CN" sz="2800" i="1" baseline="-25000" dirty="0" smtClean="0">
                <a:solidFill>
                  <a:srgbClr val="000000"/>
                </a:solidFill>
                <a:latin typeface="Times New Roman" panose="02020603050405020304" pitchFamily="18" charset="0"/>
                <a:cs typeface="Times New Roman" panose="02020603050405020304" pitchFamily="18" charset="0"/>
              </a:rPr>
              <a:t>n</a:t>
            </a:r>
            <a:r>
              <a:rPr lang="en-US" altLang="zh-CN" sz="2800" i="1" dirty="0" smtClean="0">
                <a:solidFill>
                  <a:srgbClr val="000000"/>
                </a:solidFill>
                <a:latin typeface="Times New Roman" panose="02020603050405020304" pitchFamily="18" charset="0"/>
                <a:cs typeface="Times New Roman" panose="02020603050405020304" pitchFamily="18" charset="0"/>
              </a:rPr>
              <a:t>-S</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2</a:t>
            </a:r>
            <a:r>
              <a:rPr lang="en-US" altLang="zh-CN" sz="2800" i="1" baseline="-25000" dirty="0" smtClean="0">
                <a:solidFill>
                  <a:srgbClr val="000000"/>
                </a:solidFill>
                <a:latin typeface="Times New Roman" panose="02020603050405020304" pitchFamily="18" charset="0"/>
                <a:cs typeface="Times New Roman" panose="02020603050405020304" pitchFamily="18" charset="0"/>
              </a:rPr>
              <a:t>n</a:t>
            </a:r>
            <a:r>
              <a:rPr lang="en-US" altLang="zh-CN" sz="2800" dirty="0" smtClean="0">
                <a:solidFill>
                  <a:srgbClr val="000000"/>
                </a:solidFill>
                <a:latin typeface="Times New Roman" panose="02020603050405020304" pitchFamily="18" charset="0"/>
                <a:cs typeface="Times New Roman" panose="02020603050405020304" pitchFamily="18" charset="0"/>
              </a:rPr>
              <a:t>, </a:t>
            </a:r>
            <a:r>
              <a:rPr lang="en-US" altLang="zh-CN" sz="2800" i="1" dirty="0" smtClean="0">
                <a:solidFill>
                  <a:srgbClr val="FF0000"/>
                </a:solidFill>
                <a:latin typeface="Times New Roman" panose="02020603050405020304" pitchFamily="18" charset="0"/>
                <a:cs typeface="Times New Roman" panose="02020603050405020304" pitchFamily="18" charset="0"/>
              </a:rPr>
              <a:t>S</a:t>
            </a:r>
            <a:r>
              <a:rPr lang="en-US" altLang="zh-CN" sz="2800" baseline="-25000" dirty="0" smtClean="0">
                <a:solidFill>
                  <a:srgbClr val="FF0000"/>
                </a:solidFill>
                <a:latin typeface="Times New Roman" panose="02020603050405020304" pitchFamily="18" charset="0"/>
                <a:cs typeface="Times New Roman" panose="02020603050405020304" pitchFamily="18" charset="0"/>
              </a:rPr>
              <a:t>4</a:t>
            </a:r>
            <a:r>
              <a:rPr lang="en-US" altLang="zh-CN" sz="2800" i="1" baseline="-25000" dirty="0" smtClean="0">
                <a:solidFill>
                  <a:srgbClr val="FF0000"/>
                </a:solidFill>
                <a:latin typeface="Times New Roman" panose="02020603050405020304" pitchFamily="18" charset="0"/>
                <a:cs typeface="Times New Roman" panose="02020603050405020304" pitchFamily="18" charset="0"/>
              </a:rPr>
              <a:t>n</a:t>
            </a:r>
            <a:r>
              <a:rPr lang="en-US" altLang="zh-CN" sz="2800" i="1" dirty="0" smtClean="0">
                <a:solidFill>
                  <a:srgbClr val="FF0000"/>
                </a:solidFill>
                <a:latin typeface="Times New Roman" panose="02020603050405020304" pitchFamily="18" charset="0"/>
                <a:cs typeface="Times New Roman" panose="02020603050405020304" pitchFamily="18" charset="0"/>
              </a:rPr>
              <a:t>-S</a:t>
            </a:r>
            <a:r>
              <a:rPr lang="en-US" altLang="zh-CN" sz="2800" baseline="-25000" dirty="0" smtClean="0">
                <a:solidFill>
                  <a:srgbClr val="FF0000"/>
                </a:solidFill>
                <a:latin typeface="Times New Roman" panose="02020603050405020304" pitchFamily="18" charset="0"/>
                <a:cs typeface="Times New Roman" panose="02020603050405020304" pitchFamily="18" charset="0"/>
              </a:rPr>
              <a:t>3</a:t>
            </a:r>
            <a:r>
              <a:rPr lang="en-US" altLang="zh-CN" sz="2800" i="1" baseline="-25000" dirty="0" smtClean="0">
                <a:solidFill>
                  <a:srgbClr val="FF0000"/>
                </a:solidFill>
                <a:latin typeface="Times New Roman" panose="02020603050405020304" pitchFamily="18" charset="0"/>
                <a:cs typeface="Times New Roman" panose="02020603050405020304" pitchFamily="18" charset="0"/>
              </a:rPr>
              <a:t>n </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宋体" panose="02010600030101010101" pitchFamily="2" charset="-122"/>
                <a:ea typeface="方正书宋_GBK"/>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构成等差数列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公差</a:t>
            </a:r>
            <a:r>
              <a:rPr lang="zh-CN" altLang="zh-CN" sz="2800" dirty="0" smtClean="0">
                <a:solidFill>
                  <a:srgbClr val="000000"/>
                </a:solidFill>
                <a:latin typeface="Times New Roman" panose="02020603050405020304" pitchFamily="18" charset="0"/>
                <a:cs typeface="Times New Roman" panose="02020603050405020304" pitchFamily="18" charset="0"/>
              </a:rPr>
              <a:t>为</a:t>
            </a:r>
            <a:r>
              <a:rPr lang="en-US" altLang="zh-CN" sz="2800" dirty="0" smtClean="0">
                <a:solidFill>
                  <a:srgbClr val="000000"/>
                </a:solidFill>
                <a:latin typeface="Times New Roman" panose="02020603050405020304" pitchFamily="18" charset="0"/>
                <a:cs typeface="Times New Roman" panose="02020603050405020304" pitchFamily="18" charset="0"/>
              </a:rPr>
              <a:t> </a:t>
            </a:r>
            <a:r>
              <a:rPr lang="en-US" altLang="zh-CN" sz="2800" i="1" dirty="0" smtClean="0">
                <a:solidFill>
                  <a:srgbClr val="FF0000"/>
                </a:solidFill>
                <a:latin typeface="Times New Roman" panose="02020603050405020304" pitchFamily="18" charset="0"/>
                <a:cs typeface="Times New Roman" panose="02020603050405020304" pitchFamily="18" charset="0"/>
              </a:rPr>
              <a:t>n</a:t>
            </a:r>
            <a:r>
              <a:rPr lang="en-US" altLang="zh-CN" sz="2800" baseline="30000" dirty="0" smtClean="0">
                <a:solidFill>
                  <a:srgbClr val="FF0000"/>
                </a:solidFill>
                <a:latin typeface="Times New Roman" panose="02020603050405020304" pitchFamily="18" charset="0"/>
                <a:cs typeface="Times New Roman" panose="02020603050405020304" pitchFamily="18" charset="0"/>
              </a:rPr>
              <a:t>2</a:t>
            </a:r>
            <a:r>
              <a:rPr lang="en-US" altLang="zh-CN" sz="2800" i="1" dirty="0" smtClean="0">
                <a:solidFill>
                  <a:srgbClr val="FF0000"/>
                </a:solidFill>
                <a:latin typeface="Times New Roman" panose="02020603050405020304" pitchFamily="18" charset="0"/>
                <a:cs typeface="Times New Roman" panose="02020603050405020304" pitchFamily="18" charset="0"/>
              </a:rPr>
              <a:t>d </a:t>
            </a:r>
            <a:r>
              <a:rPr lang="en-US" altLang="zh-CN" sz="2800"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若等差数列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有</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i="1" dirty="0" smtClean="0">
                <a:solidFill>
                  <a:srgbClr val="000000"/>
                </a:solidFill>
                <a:latin typeface="Times New Roman" panose="02020603050405020304" pitchFamily="18" charset="0"/>
                <a:cs typeface="Times New Roman" panose="02020603050405020304" pitchFamily="18" charset="0"/>
              </a:rPr>
              <a:t>= </a:t>
            </a:r>
            <a:r>
              <a:rPr lang="en-US" altLang="zh-CN" sz="2800" i="1" dirty="0" smtClean="0">
                <a:solidFill>
                  <a:srgbClr val="FF0000"/>
                </a:solidFill>
                <a:latin typeface="Times New Roman" panose="02020603050405020304" pitchFamily="18" charset="0"/>
                <a:cs typeface="Times New Roman" panose="02020603050405020304" pitchFamily="18" charset="0"/>
              </a:rPr>
              <a:t>n</a:t>
            </a:r>
            <a:r>
              <a:rPr lang="en-US" altLang="zh-CN" sz="2800" dirty="0" smtClean="0">
                <a:solidFill>
                  <a:srgbClr val="FF0000"/>
                </a:solidFill>
                <a:latin typeface="Times New Roman" panose="02020603050405020304" pitchFamily="18" charset="0"/>
                <a:cs typeface="Times New Roman" panose="02020603050405020304" pitchFamily="18" charset="0"/>
              </a:rPr>
              <a:t>(</a:t>
            </a:r>
            <a:r>
              <a:rPr lang="en-US" altLang="zh-CN" sz="2800" i="1" dirty="0" smtClean="0">
                <a:solidFill>
                  <a:srgbClr val="FF0000"/>
                </a:solidFill>
                <a:latin typeface="Times New Roman" panose="02020603050405020304" pitchFamily="18" charset="0"/>
                <a:cs typeface="Times New Roman" panose="02020603050405020304" pitchFamily="18" charset="0"/>
              </a:rPr>
              <a:t>a</a:t>
            </a:r>
            <a:r>
              <a:rPr lang="en-US" altLang="zh-CN" sz="2800" baseline="-25000" dirty="0" smtClean="0">
                <a:solidFill>
                  <a:srgbClr val="FF0000"/>
                </a:solidFill>
                <a:latin typeface="Times New Roman" panose="02020603050405020304" pitchFamily="18" charset="0"/>
                <a:cs typeface="Times New Roman" panose="02020603050405020304" pitchFamily="18" charset="0"/>
              </a:rPr>
              <a:t>1</a:t>
            </a:r>
            <a:r>
              <a:rPr lang="en-US" altLang="zh-CN" sz="2800" i="1" dirty="0" smtClean="0">
                <a:solidFill>
                  <a:srgbClr val="FF0000"/>
                </a:solidFill>
                <a:latin typeface="Times New Roman" panose="02020603050405020304" pitchFamily="18" charset="0"/>
                <a:cs typeface="Times New Roman" panose="02020603050405020304" pitchFamily="18" charset="0"/>
              </a:rPr>
              <a:t>+a</a:t>
            </a:r>
            <a:r>
              <a:rPr lang="en-US" altLang="zh-CN" sz="2800" baseline="-25000" dirty="0" smtClean="0">
                <a:solidFill>
                  <a:srgbClr val="FF0000"/>
                </a:solidFill>
                <a:latin typeface="Times New Roman" panose="02020603050405020304" pitchFamily="18" charset="0"/>
                <a:cs typeface="Times New Roman" panose="02020603050405020304" pitchFamily="18" charset="0"/>
              </a:rPr>
              <a:t>2</a:t>
            </a:r>
            <a:r>
              <a:rPr lang="en-US" altLang="zh-CN" sz="2800" i="1" baseline="-25000" dirty="0" smtClean="0">
                <a:solidFill>
                  <a:srgbClr val="FF0000"/>
                </a:solidFill>
                <a:latin typeface="Times New Roman" panose="02020603050405020304" pitchFamily="18" charset="0"/>
                <a:cs typeface="Times New Roman" panose="02020603050405020304" pitchFamily="18" charset="0"/>
              </a:rPr>
              <a:t>n</a:t>
            </a:r>
            <a:r>
              <a:rPr lang="en-US" altLang="zh-CN" sz="2800" dirty="0" smtClean="0">
                <a:solidFill>
                  <a:srgbClr val="FF0000"/>
                </a:solidFill>
                <a:latin typeface="Times New Roman" panose="02020603050405020304" pitchFamily="18" charset="0"/>
                <a:cs typeface="Times New Roman" panose="02020603050405020304" pitchFamily="18" charset="0"/>
              </a:rPr>
              <a:t>) </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注</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为中间两项</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680666302"/>
              </p:ext>
            </p:extLst>
          </p:nvPr>
        </p:nvGraphicFramePr>
        <p:xfrm>
          <a:off x="41190" y="3227053"/>
          <a:ext cx="11430000" cy="2005680"/>
        </p:xfrm>
        <a:graphic>
          <a:graphicData uri="http://schemas.openxmlformats.org/presentationml/2006/ole">
            <mc:AlternateContent xmlns:mc="http://schemas.openxmlformats.org/markup-compatibility/2006">
              <mc:Choice xmlns:v="urn:schemas-microsoft-com:vml" Requires="v">
                <p:oleObj spid="_x0000_s1044" name="文档" r:id="rId3" imgW="4510061" imgH="794654" progId="Word.Document.12">
                  <p:embed/>
                </p:oleObj>
              </mc:Choice>
              <mc:Fallback>
                <p:oleObj name="文档" r:id="rId3" imgW="4510061" imgH="794654" progId="Word.Document.12">
                  <p:embed/>
                  <p:pic>
                    <p:nvPicPr>
                      <p:cNvPr id="0" name=""/>
                      <p:cNvPicPr/>
                      <p:nvPr/>
                    </p:nvPicPr>
                    <p:blipFill>
                      <a:blip r:embed="rId4"/>
                      <a:stretch>
                        <a:fillRect/>
                      </a:stretch>
                    </p:blipFill>
                    <p:spPr>
                      <a:xfrm>
                        <a:off x="41190" y="3227053"/>
                        <a:ext cx="11430000" cy="2005680"/>
                      </a:xfrm>
                      <a:prstGeom prst="rect">
                        <a:avLst/>
                      </a:prstGeom>
                    </p:spPr>
                  </p:pic>
                </p:oleObj>
              </mc:Fallback>
            </mc:AlternateContent>
          </a:graphicData>
        </a:graphic>
      </p:graphicFrame>
      <p:sp>
        <p:nvSpPr>
          <p:cNvPr id="5" name="矩形 4"/>
          <p:cNvSpPr/>
          <p:nvPr/>
        </p:nvSpPr>
        <p:spPr>
          <a:xfrm>
            <a:off x="6343326" y="1069478"/>
            <a:ext cx="899138"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354966" y="1516829"/>
            <a:ext cx="895360" cy="0"/>
          </a:xfrm>
          <a:prstGeom prst="line">
            <a:avLst/>
          </a:prstGeom>
        </p:spPr>
        <p:style>
          <a:lnRef idx="2">
            <a:schemeClr val="dk1"/>
          </a:lnRef>
          <a:fillRef idx="0">
            <a:schemeClr val="dk1"/>
          </a:fillRef>
          <a:effectRef idx="1">
            <a:schemeClr val="dk1"/>
          </a:effectRef>
          <a:fontRef idx="minor">
            <a:schemeClr val="tx1"/>
          </a:fontRef>
        </p:style>
      </p:cxnSp>
      <p:sp>
        <p:nvSpPr>
          <p:cNvPr id="7" name="矩形 6"/>
          <p:cNvSpPr/>
          <p:nvPr/>
        </p:nvSpPr>
        <p:spPr>
          <a:xfrm>
            <a:off x="8439599" y="1069478"/>
            <a:ext cx="1029211"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8451512" y="1516829"/>
            <a:ext cx="1024886" cy="0"/>
          </a:xfrm>
          <a:prstGeom prst="line">
            <a:avLst/>
          </a:prstGeom>
        </p:spPr>
        <p:style>
          <a:lnRef idx="2">
            <a:schemeClr val="dk1"/>
          </a:lnRef>
          <a:fillRef idx="0">
            <a:schemeClr val="dk1"/>
          </a:fillRef>
          <a:effectRef idx="1">
            <a:schemeClr val="dk1"/>
          </a:effectRef>
          <a:fontRef idx="minor">
            <a:schemeClr val="tx1"/>
          </a:fontRef>
        </p:style>
      </p:cxnSp>
      <p:sp>
        <p:nvSpPr>
          <p:cNvPr id="9" name="矩形 8"/>
          <p:cNvSpPr/>
          <p:nvPr/>
        </p:nvSpPr>
        <p:spPr>
          <a:xfrm>
            <a:off x="1997236" y="1594041"/>
            <a:ext cx="621274"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nvCxnSpPr>
        <p:spPr>
          <a:xfrm>
            <a:off x="1998757" y="2020610"/>
            <a:ext cx="618663" cy="0"/>
          </a:xfrm>
          <a:prstGeom prst="line">
            <a:avLst/>
          </a:prstGeom>
        </p:spPr>
        <p:style>
          <a:lnRef idx="2">
            <a:schemeClr val="dk1"/>
          </a:lnRef>
          <a:fillRef idx="0">
            <a:schemeClr val="dk1"/>
          </a:fillRef>
          <a:effectRef idx="1">
            <a:schemeClr val="dk1"/>
          </a:effectRef>
          <a:fontRef idx="minor">
            <a:schemeClr val="tx1"/>
          </a:fontRef>
        </p:style>
      </p:cxnSp>
      <p:sp>
        <p:nvSpPr>
          <p:cNvPr id="12" name="矩形 11"/>
          <p:cNvSpPr/>
          <p:nvPr/>
        </p:nvSpPr>
        <p:spPr>
          <a:xfrm>
            <a:off x="5806702" y="2177927"/>
            <a:ext cx="1460543"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连接符 12"/>
          <p:cNvCxnSpPr/>
          <p:nvPr/>
        </p:nvCxnSpPr>
        <p:spPr>
          <a:xfrm>
            <a:off x="5818674" y="2614887"/>
            <a:ext cx="1454404" cy="0"/>
          </a:xfrm>
          <a:prstGeom prst="line">
            <a:avLst/>
          </a:prstGeom>
        </p:spPr>
        <p:style>
          <a:lnRef idx="2">
            <a:schemeClr val="dk1"/>
          </a:lnRef>
          <a:fillRef idx="0">
            <a:schemeClr val="dk1"/>
          </a:fillRef>
          <a:effectRef idx="1">
            <a:schemeClr val="dk1"/>
          </a:effectRef>
          <a:fontRef idx="minor">
            <a:schemeClr val="tx1"/>
          </a:fontRef>
        </p:style>
      </p:cxnSp>
      <p:sp>
        <p:nvSpPr>
          <p:cNvPr id="15" name="矩形 14"/>
          <p:cNvSpPr/>
          <p:nvPr/>
        </p:nvSpPr>
        <p:spPr>
          <a:xfrm>
            <a:off x="1945521" y="3441142"/>
            <a:ext cx="433756"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p:nvPr/>
        </p:nvCxnSpPr>
        <p:spPr>
          <a:xfrm>
            <a:off x="1957580" y="3878102"/>
            <a:ext cx="431933" cy="0"/>
          </a:xfrm>
          <a:prstGeom prst="line">
            <a:avLst/>
          </a:prstGeom>
        </p:spPr>
        <p:style>
          <a:lnRef idx="2">
            <a:schemeClr val="dk1"/>
          </a:lnRef>
          <a:fillRef idx="0">
            <a:schemeClr val="dk1"/>
          </a:fillRef>
          <a:effectRef idx="1">
            <a:schemeClr val="dk1"/>
          </a:effectRef>
          <a:fontRef idx="minor">
            <a:schemeClr val="tx1"/>
          </a:fontRef>
        </p:style>
      </p:cxnSp>
      <p:sp>
        <p:nvSpPr>
          <p:cNvPr id="18" name="矩形 17"/>
          <p:cNvSpPr/>
          <p:nvPr/>
        </p:nvSpPr>
        <p:spPr>
          <a:xfrm>
            <a:off x="3223602" y="3366653"/>
            <a:ext cx="693770" cy="700994"/>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连接符 18"/>
          <p:cNvCxnSpPr/>
          <p:nvPr/>
        </p:nvCxnSpPr>
        <p:spPr>
          <a:xfrm>
            <a:off x="3204488" y="4063171"/>
            <a:ext cx="690854" cy="0"/>
          </a:xfrm>
          <a:prstGeom prst="line">
            <a:avLst/>
          </a:prstGeom>
        </p:spPr>
        <p:style>
          <a:lnRef idx="2">
            <a:schemeClr val="dk1"/>
          </a:lnRef>
          <a:fillRef idx="0">
            <a:schemeClr val="dk1"/>
          </a:fillRef>
          <a:effectRef idx="1">
            <a:schemeClr val="dk1"/>
          </a:effectRef>
          <a:fontRef idx="minor">
            <a:schemeClr val="tx1"/>
          </a:fontRef>
        </p:style>
      </p:cxnSp>
      <p:sp>
        <p:nvSpPr>
          <p:cNvPr id="22" name="矩形 21"/>
          <p:cNvSpPr/>
          <p:nvPr/>
        </p:nvSpPr>
        <p:spPr>
          <a:xfrm>
            <a:off x="6519920" y="4199054"/>
            <a:ext cx="1250079" cy="700994"/>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 name="直接连接符 22"/>
          <p:cNvCxnSpPr/>
          <p:nvPr/>
        </p:nvCxnSpPr>
        <p:spPr>
          <a:xfrm>
            <a:off x="6532057" y="4885181"/>
            <a:ext cx="1244825" cy="0"/>
          </a:xfrm>
          <a:prstGeom prst="line">
            <a:avLst/>
          </a:prstGeom>
        </p:spPr>
        <p:style>
          <a:lnRef idx="2">
            <a:schemeClr val="dk1"/>
          </a:lnRef>
          <a:fillRef idx="0">
            <a:schemeClr val="dk1"/>
          </a:fillRef>
          <a:effectRef idx="1">
            <a:schemeClr val="dk1"/>
          </a:effectRef>
          <a:fontRef idx="minor">
            <a:schemeClr val="tx1"/>
          </a:fontRef>
        </p:style>
      </p:cxnSp>
      <p:sp>
        <p:nvSpPr>
          <p:cNvPr id="25" name="矩形 24"/>
          <p:cNvSpPr/>
          <p:nvPr/>
        </p:nvSpPr>
        <p:spPr>
          <a:xfrm>
            <a:off x="9127715" y="4199054"/>
            <a:ext cx="369791" cy="700994"/>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6" name="直接连接符 25"/>
          <p:cNvCxnSpPr/>
          <p:nvPr/>
        </p:nvCxnSpPr>
        <p:spPr>
          <a:xfrm>
            <a:off x="9150286" y="4885181"/>
            <a:ext cx="368238" cy="0"/>
          </a:xfrm>
          <a:prstGeom prst="line">
            <a:avLst/>
          </a:prstGeom>
        </p:spPr>
        <p:style>
          <a:lnRef idx="2">
            <a:schemeClr val="dk1"/>
          </a:lnRef>
          <a:fillRef idx="0">
            <a:schemeClr val="dk1"/>
          </a:fillRef>
          <a:effectRef idx="1">
            <a:schemeClr val="dk1"/>
          </a:effectRef>
          <a:fontRef idx="minor">
            <a:schemeClr val="tx1"/>
          </a:fontRef>
        </p:style>
      </p:cxnSp>
      <p:sp>
        <p:nvSpPr>
          <p:cNvPr id="28" name="矩形 27"/>
          <p:cNvSpPr/>
          <p:nvPr/>
        </p:nvSpPr>
        <p:spPr>
          <a:xfrm>
            <a:off x="10374624" y="4302964"/>
            <a:ext cx="567003" cy="700994"/>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 name="直接连接符 28"/>
          <p:cNvCxnSpPr/>
          <p:nvPr/>
        </p:nvCxnSpPr>
        <p:spPr>
          <a:xfrm>
            <a:off x="10386804" y="4999482"/>
            <a:ext cx="564622"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8061762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9"/>
                                        </p:tgtEl>
                                      </p:cBhvr>
                                    </p:animEffect>
                                    <p:set>
                                      <p:cBhvr>
                                        <p:cTn id="17" dur="1" fill="hold">
                                          <p:stCondLst>
                                            <p:cond delay="499"/>
                                          </p:stCondLst>
                                        </p:cTn>
                                        <p:tgtEl>
                                          <p:spTgt spid="9"/>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12"/>
                                        </p:tgtEl>
                                      </p:cBhvr>
                                    </p:animEffect>
                                    <p:set>
                                      <p:cBhvr>
                                        <p:cTn id="22" dur="1" fill="hold">
                                          <p:stCondLst>
                                            <p:cond delay="499"/>
                                          </p:stCondLst>
                                        </p:cTn>
                                        <p:tgtEl>
                                          <p:spTgt spid="12"/>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4" fill="hold" grpId="0" nodeType="clickEffect">
                                  <p:stCondLst>
                                    <p:cond delay="0"/>
                                  </p:stCondLst>
                                  <p:childTnLst>
                                    <p:animEffect transition="out" filter="wipe(down)">
                                      <p:cBhvr>
                                        <p:cTn id="26" dur="500"/>
                                        <p:tgtEl>
                                          <p:spTgt spid="15"/>
                                        </p:tgtEl>
                                      </p:cBhvr>
                                    </p:animEffect>
                                    <p:set>
                                      <p:cBhvr>
                                        <p:cTn id="27" dur="1" fill="hold">
                                          <p:stCondLst>
                                            <p:cond delay="499"/>
                                          </p:stCondLst>
                                        </p:cTn>
                                        <p:tgtEl>
                                          <p:spTgt spid="15"/>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xit" presetSubtype="4" fill="hold" grpId="0" nodeType="clickEffect">
                                  <p:stCondLst>
                                    <p:cond delay="0"/>
                                  </p:stCondLst>
                                  <p:childTnLst>
                                    <p:animEffect transition="out" filter="wipe(down)">
                                      <p:cBhvr>
                                        <p:cTn id="31" dur="500"/>
                                        <p:tgtEl>
                                          <p:spTgt spid="18"/>
                                        </p:tgtEl>
                                      </p:cBhvr>
                                    </p:animEffect>
                                    <p:set>
                                      <p:cBhvr>
                                        <p:cTn id="32" dur="1" fill="hold">
                                          <p:stCondLst>
                                            <p:cond delay="499"/>
                                          </p:stCondLst>
                                        </p:cTn>
                                        <p:tgtEl>
                                          <p:spTgt spid="18"/>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2" presetClass="exit" presetSubtype="4" fill="hold" grpId="0" nodeType="clickEffect">
                                  <p:stCondLst>
                                    <p:cond delay="0"/>
                                  </p:stCondLst>
                                  <p:childTnLst>
                                    <p:animEffect transition="out" filter="wipe(down)">
                                      <p:cBhvr>
                                        <p:cTn id="36" dur="500"/>
                                        <p:tgtEl>
                                          <p:spTgt spid="22"/>
                                        </p:tgtEl>
                                      </p:cBhvr>
                                    </p:animEffect>
                                    <p:set>
                                      <p:cBhvr>
                                        <p:cTn id="37" dur="1" fill="hold">
                                          <p:stCondLst>
                                            <p:cond delay="499"/>
                                          </p:stCondLst>
                                        </p:cTn>
                                        <p:tgtEl>
                                          <p:spTgt spid="22"/>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22" presetClass="exit" presetSubtype="4" fill="hold" grpId="0" nodeType="clickEffect">
                                  <p:stCondLst>
                                    <p:cond delay="0"/>
                                  </p:stCondLst>
                                  <p:childTnLst>
                                    <p:animEffect transition="out" filter="wipe(down)">
                                      <p:cBhvr>
                                        <p:cTn id="41" dur="500"/>
                                        <p:tgtEl>
                                          <p:spTgt spid="25"/>
                                        </p:tgtEl>
                                      </p:cBhvr>
                                    </p:animEffect>
                                    <p:set>
                                      <p:cBhvr>
                                        <p:cTn id="42" dur="1" fill="hold">
                                          <p:stCondLst>
                                            <p:cond delay="499"/>
                                          </p:stCondLst>
                                        </p:cTn>
                                        <p:tgtEl>
                                          <p:spTgt spid="25"/>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22" presetClass="exit" presetSubtype="4" fill="hold" grpId="0" nodeType="clickEffect">
                                  <p:stCondLst>
                                    <p:cond delay="0"/>
                                  </p:stCondLst>
                                  <p:childTnLst>
                                    <p:animEffect transition="out" filter="wipe(down)">
                                      <p:cBhvr>
                                        <p:cTn id="46" dur="500"/>
                                        <p:tgtEl>
                                          <p:spTgt spid="28"/>
                                        </p:tgtEl>
                                      </p:cBhvr>
                                    </p:animEffect>
                                    <p:set>
                                      <p:cBhvr>
                                        <p:cTn id="47" dur="1" fill="hold">
                                          <p:stCondLst>
                                            <p:cond delay="499"/>
                                          </p:stCondLst>
                                        </p:cTn>
                                        <p:tgtEl>
                                          <p:spTgt spid="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P spid="12" grpId="0" animBg="1"/>
      <p:bldP spid="15" grpId="0" animBg="1"/>
      <p:bldP spid="18" grpId="0" animBg="1"/>
      <p:bldP spid="22" grpId="0" animBg="1"/>
      <p:bldP spid="25" grpId="0" animBg="1"/>
      <p:bldP spid="2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234014"/>
            <a:ext cx="11430000" cy="5693866"/>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3</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已知某等差数列共有</a:t>
            </a:r>
            <a:r>
              <a:rPr lang="en-US" altLang="zh-CN" sz="2800" dirty="0">
                <a:solidFill>
                  <a:srgbClr val="000000"/>
                </a:solidFill>
                <a:latin typeface="Times New Roman" panose="02020603050405020304" pitchFamily="18" charset="0"/>
                <a:cs typeface="Times New Roman" panose="02020603050405020304" pitchFamily="18" charset="0"/>
              </a:rPr>
              <a:t>10</a:t>
            </a:r>
            <a:r>
              <a:rPr lang="zh-CN" altLang="zh-CN" sz="2800" dirty="0">
                <a:solidFill>
                  <a:srgbClr val="000000"/>
                </a:solidFill>
                <a:latin typeface="Times New Roman" panose="02020603050405020304" pitchFamily="18" charset="0"/>
                <a:cs typeface="Times New Roman" panose="02020603050405020304" pitchFamily="18" charset="0"/>
              </a:rPr>
              <a:t>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其奇数项之和为</a:t>
            </a:r>
            <a:r>
              <a:rPr lang="en-US" altLang="zh-CN" sz="2800" dirty="0">
                <a:solidFill>
                  <a:srgbClr val="000000"/>
                </a:solidFill>
                <a:latin typeface="Times New Roman" panose="02020603050405020304" pitchFamily="18" charset="0"/>
                <a:cs typeface="Times New Roman" panose="02020603050405020304" pitchFamily="18" charset="0"/>
              </a:rPr>
              <a:t>15,</a:t>
            </a:r>
            <a:r>
              <a:rPr lang="zh-CN" altLang="zh-CN" sz="2800" dirty="0">
                <a:solidFill>
                  <a:srgbClr val="000000"/>
                </a:solidFill>
                <a:latin typeface="Times New Roman" panose="02020603050405020304" pitchFamily="18" charset="0"/>
                <a:cs typeface="Times New Roman" panose="02020603050405020304" pitchFamily="18" charset="0"/>
              </a:rPr>
              <a:t>偶数项之和为</a:t>
            </a:r>
            <a:r>
              <a:rPr lang="en-US" altLang="zh-CN" sz="2800" dirty="0">
                <a:solidFill>
                  <a:srgbClr val="000000"/>
                </a:solidFill>
                <a:latin typeface="Times New Roman" panose="02020603050405020304" pitchFamily="18" charset="0"/>
                <a:cs typeface="Times New Roman" panose="02020603050405020304" pitchFamily="18" charset="0"/>
              </a:rPr>
              <a:t>30,</a:t>
            </a:r>
            <a:r>
              <a:rPr lang="zh-CN" altLang="zh-CN" sz="2800" dirty="0">
                <a:solidFill>
                  <a:srgbClr val="000000"/>
                </a:solidFill>
                <a:latin typeface="Times New Roman" panose="02020603050405020304" pitchFamily="18" charset="0"/>
                <a:cs typeface="Times New Roman" panose="02020603050405020304" pitchFamily="18" charset="0"/>
              </a:rPr>
              <a:t>则其公差为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smtClean="0">
                <a:solidFill>
                  <a:srgbClr val="000000"/>
                </a:solidFill>
                <a:latin typeface="Times New Roman" panose="02020603050405020304" pitchFamily="18" charset="0"/>
                <a:cs typeface="Times New Roman" panose="02020603050405020304" pitchFamily="18" charset="0"/>
              </a:rPr>
              <a:t>A.5	</a:t>
            </a:r>
            <a:r>
              <a:rPr lang="en-US" altLang="zh-CN" sz="2800" dirty="0">
                <a:solidFill>
                  <a:srgbClr val="000000"/>
                </a:solidFill>
                <a:latin typeface="Times New Roman" panose="02020603050405020304" pitchFamily="18" charset="0"/>
                <a:cs typeface="Times New Roman" panose="02020603050405020304" pitchFamily="18" charset="0"/>
              </a:rPr>
              <a:t>	B.4	</a:t>
            </a:r>
            <a:endParaRPr lang="en-US" altLang="zh-CN" sz="2800" dirty="0" smtClean="0">
              <a:solidFill>
                <a:srgbClr val="000000"/>
              </a:solidFill>
              <a:latin typeface="Times New Roman" panose="02020603050405020304" pitchFamily="18" charset="0"/>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smtClean="0">
                <a:solidFill>
                  <a:srgbClr val="000000"/>
                </a:solidFill>
                <a:latin typeface="Times New Roman" panose="02020603050405020304" pitchFamily="18" charset="0"/>
                <a:cs typeface="Times New Roman" panose="02020603050405020304" pitchFamily="18" charset="0"/>
              </a:rPr>
              <a:t>C.3</a:t>
            </a:r>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	D.2</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在等差数列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9,</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6</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 </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宋体" panose="02010600030101010101" pitchFamily="2" charset="-122"/>
                <a:ea typeface="方正书宋_GBK"/>
                <a:cs typeface="Times New Roman" panose="02020603050405020304" pitchFamily="18" charset="0"/>
              </a:rPr>
              <a:t> </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由题意</a:t>
            </a: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得</a:t>
            </a:r>
            <a:r>
              <a:rPr lang="en-US" altLang="zh-CN" sz="2800" dirty="0" smtClean="0">
                <a:solidFill>
                  <a:srgbClr val="000000"/>
                </a:solidFill>
                <a:latin typeface="Times New Roman" panose="02020603050405020304" pitchFamily="18" charset="0"/>
                <a:cs typeface="Times New Roman" panose="02020603050405020304" pitchFamily="18" charset="0"/>
              </a:rPr>
              <a:t>30</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15</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5</a:t>
            </a:r>
            <a:r>
              <a:rPr lang="en-US" altLang="zh-CN" sz="2800" i="1" dirty="0" smtClean="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6</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成等差数列</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6</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9)</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2×5,</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6</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15</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(1)C</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(2)15</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11549333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Effect transition="in" filter="barn(inVertical)">
                                      <p:cBhvr>
                                        <p:cTn id="7" dur="500"/>
                                        <p:tgtEl>
                                          <p:spTgt spid="2">
                                            <p:txEl>
                                              <p:pRg st="4" end="4"/>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2">
                                            <p:txEl>
                                              <p:pRg st="5" end="5"/>
                                            </p:txEl>
                                          </p:spTgt>
                                        </p:tgtEl>
                                        <p:attrNameLst>
                                          <p:attrName>style.visibility</p:attrName>
                                        </p:attrNameLst>
                                      </p:cBhvr>
                                      <p:to>
                                        <p:strVal val="visible"/>
                                      </p:to>
                                    </p:set>
                                    <p:animEffect transition="in" filter="barn(inVertical)">
                                      <p:cBhvr>
                                        <p:cTn id="10" dur="500"/>
                                        <p:tgtEl>
                                          <p:spTgt spid="2">
                                            <p:txEl>
                                              <p:pRg st="5" end="5"/>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2">
                                            <p:txEl>
                                              <p:pRg st="6" end="6"/>
                                            </p:txEl>
                                          </p:spTgt>
                                        </p:tgtEl>
                                        <p:attrNameLst>
                                          <p:attrName>style.visibility</p:attrName>
                                        </p:attrNameLst>
                                      </p:cBhvr>
                                      <p:to>
                                        <p:strVal val="visible"/>
                                      </p:to>
                                    </p:set>
                                    <p:animEffect transition="in" filter="barn(inVertical)">
                                      <p:cBhvr>
                                        <p:cTn id="13" dur="500"/>
                                        <p:tgtEl>
                                          <p:spTgt spid="2">
                                            <p:txEl>
                                              <p:pRg st="6" end="6"/>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2">
                                            <p:txEl>
                                              <p:pRg st="7" end="7"/>
                                            </p:txEl>
                                          </p:spTgt>
                                        </p:tgtEl>
                                        <p:attrNameLst>
                                          <p:attrName>style.visibility</p:attrName>
                                        </p:attrNameLst>
                                      </p:cBhvr>
                                      <p:to>
                                        <p:strVal val="visible"/>
                                      </p:to>
                                    </p:set>
                                    <p:animEffect transition="in" filter="barn(inVertical)">
                                      <p:cBhvr>
                                        <p:cTn id="16" dur="500"/>
                                        <p:tgtEl>
                                          <p:spTgt spid="2">
                                            <p:txEl>
                                              <p:pRg st="7" end="7"/>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2">
                                            <p:txEl>
                                              <p:pRg st="8" end="8"/>
                                            </p:txEl>
                                          </p:spTgt>
                                        </p:tgtEl>
                                        <p:attrNameLst>
                                          <p:attrName>style.visibility</p:attrName>
                                        </p:attrNameLst>
                                      </p:cBhvr>
                                      <p:to>
                                        <p:strVal val="visible"/>
                                      </p:to>
                                    </p:set>
                                    <p:animEffect transition="in" filter="barn(inVertical)">
                                      <p:cBhvr>
                                        <p:cTn id="21"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307238362"/>
              </p:ext>
            </p:extLst>
          </p:nvPr>
        </p:nvGraphicFramePr>
        <p:xfrm>
          <a:off x="32952" y="649833"/>
          <a:ext cx="11430000" cy="1003297"/>
        </p:xfrm>
        <a:graphic>
          <a:graphicData uri="http://schemas.openxmlformats.org/presentationml/2006/ole">
            <mc:AlternateContent xmlns:mc="http://schemas.openxmlformats.org/markup-compatibility/2006">
              <mc:Choice xmlns:v="urn:schemas-microsoft-com:vml" Requires="v">
                <p:oleObj spid="_x0000_s2127" name="文档" r:id="rId3" imgW="4520786" imgH="396823" progId="Word.Document.12">
                  <p:embed/>
                </p:oleObj>
              </mc:Choice>
              <mc:Fallback>
                <p:oleObj name="文档" r:id="rId3" imgW="4520786" imgH="396823" progId="Word.Document.12">
                  <p:embed/>
                  <p:pic>
                    <p:nvPicPr>
                      <p:cNvPr id="0" name=""/>
                      <p:cNvPicPr/>
                      <p:nvPr/>
                    </p:nvPicPr>
                    <p:blipFill>
                      <a:blip r:embed="rId4"/>
                      <a:stretch>
                        <a:fillRect/>
                      </a:stretch>
                    </p:blipFill>
                    <p:spPr>
                      <a:xfrm>
                        <a:off x="32952" y="649833"/>
                        <a:ext cx="11430000" cy="1003297"/>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797018934"/>
              </p:ext>
            </p:extLst>
          </p:nvPr>
        </p:nvGraphicFramePr>
        <p:xfrm>
          <a:off x="385763" y="1459204"/>
          <a:ext cx="11403012" cy="1598612"/>
        </p:xfrm>
        <a:graphic>
          <a:graphicData uri="http://schemas.openxmlformats.org/presentationml/2006/ole">
            <mc:AlternateContent xmlns:mc="http://schemas.openxmlformats.org/markup-compatibility/2006">
              <mc:Choice xmlns:v="urn:schemas-microsoft-com:vml" Requires="v">
                <p:oleObj spid="_x0000_s2128" name="文档" r:id="rId5" imgW="4510061" imgH="635723" progId="Word.Document.12">
                  <p:embed/>
                </p:oleObj>
              </mc:Choice>
              <mc:Fallback>
                <p:oleObj name="文档" r:id="rId5" imgW="4510061" imgH="635723" progId="Word.Document.12">
                  <p:embed/>
                  <p:pic>
                    <p:nvPicPr>
                      <p:cNvPr id="0" name=""/>
                      <p:cNvPicPr/>
                      <p:nvPr/>
                    </p:nvPicPr>
                    <p:blipFill>
                      <a:blip r:embed="rId6"/>
                      <a:stretch>
                        <a:fillRect/>
                      </a:stretch>
                    </p:blipFill>
                    <p:spPr>
                      <a:xfrm>
                        <a:off x="385763" y="1459204"/>
                        <a:ext cx="11403012" cy="1598612"/>
                      </a:xfrm>
                      <a:prstGeom prst="rect">
                        <a:avLst/>
                      </a:prstGeom>
                    </p:spPr>
                  </p:pic>
                </p:oleObj>
              </mc:Fallback>
            </mc:AlternateContent>
          </a:graphicData>
        </a:graphic>
      </p:graphicFrame>
      <p:grpSp>
        <p:nvGrpSpPr>
          <p:cNvPr id="7" name="组合 6"/>
          <p:cNvGrpSpPr/>
          <p:nvPr/>
        </p:nvGrpSpPr>
        <p:grpSpPr>
          <a:xfrm>
            <a:off x="32952" y="3107332"/>
            <a:ext cx="11430000" cy="1639008"/>
            <a:chOff x="32952" y="2974402"/>
            <a:chExt cx="11430000" cy="1639008"/>
          </a:xfrm>
        </p:grpSpPr>
        <p:sp>
          <p:nvSpPr>
            <p:cNvPr id="4" name="矩形 3"/>
            <p:cNvSpPr>
              <a:spLocks noChangeAspect="1"/>
            </p:cNvSpPr>
            <p:nvPr/>
          </p:nvSpPr>
          <p:spPr>
            <a:xfrm>
              <a:off x="381000" y="2974402"/>
              <a:ext cx="8465779"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由等差数列的前</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项和公式及等差数列的性质</a:t>
              </a:r>
              <a:r>
                <a:rPr lang="en-US" altLang="zh-CN"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2517960362"/>
                </p:ext>
              </p:extLst>
            </p:nvPr>
          </p:nvGraphicFramePr>
          <p:xfrm>
            <a:off x="32952" y="3610113"/>
            <a:ext cx="11430000" cy="1003297"/>
          </p:xfrm>
          <a:graphic>
            <a:graphicData uri="http://schemas.openxmlformats.org/presentationml/2006/ole">
              <mc:AlternateContent xmlns:mc="http://schemas.openxmlformats.org/markup-compatibility/2006">
                <mc:Choice xmlns:v="urn:schemas-microsoft-com:vml" Requires="v">
                  <p:oleObj spid="_x0000_s2129" name="文档" r:id="rId7" imgW="4520786" imgH="396823" progId="Word.Document.12">
                    <p:embed/>
                  </p:oleObj>
                </mc:Choice>
                <mc:Fallback>
                  <p:oleObj name="文档" r:id="rId7" imgW="4520786" imgH="396823" progId="Word.Document.12">
                    <p:embed/>
                    <p:pic>
                      <p:nvPicPr>
                        <p:cNvPr id="0" name=""/>
                        <p:cNvPicPr/>
                        <p:nvPr/>
                      </p:nvPicPr>
                      <p:blipFill>
                        <a:blip r:embed="rId8"/>
                        <a:stretch>
                          <a:fillRect/>
                        </a:stretch>
                      </p:blipFill>
                      <p:spPr>
                        <a:xfrm>
                          <a:off x="32952" y="3610113"/>
                          <a:ext cx="11430000" cy="1003297"/>
                        </a:xfrm>
                        <a:prstGeom prst="rect">
                          <a:avLst/>
                        </a:prstGeom>
                      </p:spPr>
                    </p:pic>
                  </p:oleObj>
                </mc:Fallback>
              </mc:AlternateContent>
            </a:graphicData>
          </a:graphic>
        </p:graphicFrame>
      </p:grpSp>
    </p:spTree>
    <p:extLst>
      <p:ext uri="{BB962C8B-B14F-4D97-AF65-F5344CB8AC3E}">
        <p14:creationId xmlns:p14="http://schemas.microsoft.com/office/powerpoint/2010/main" val="2281031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594591"/>
            <a:ext cx="11430000" cy="177279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ea typeface="方正正中黑简体"/>
                <a:cs typeface="Times New Roman" panose="02020603050405020304" pitchFamily="18" charset="0"/>
              </a:rPr>
              <a:t>三、等差数列前</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NEU-BZ-S92"/>
                <a:ea typeface="方正正中黑简体"/>
                <a:cs typeface="Times New Roman" panose="02020603050405020304" pitchFamily="18" charset="0"/>
              </a:rPr>
              <a:t>项和</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NEU-BZ-S92"/>
                <a:ea typeface="方正正中黑简体"/>
                <a:cs typeface="Times New Roman" panose="02020603050405020304" pitchFamily="18" charset="0"/>
              </a:rPr>
              <a:t>的最值</a:t>
            </a:r>
            <a:endParaRPr lang="zh-CN" altLang="zh-CN" sz="2800" dirty="0">
              <a:solidFill>
                <a:srgbClr val="000000"/>
              </a:solidFill>
              <a:latin typeface="NEU-BZ-S92"/>
              <a:ea typeface="方正书宋_GBK"/>
              <a:cs typeface="Times New Roman" panose="02020603050405020304" pitchFamily="18" charset="0"/>
            </a:endParaRPr>
          </a:p>
          <a:p>
            <a:pPr indent="280670">
              <a:lnSpc>
                <a:spcPct val="130000"/>
              </a:lnSpc>
              <a:spcAft>
                <a:spcPts val="0"/>
              </a:spcAft>
              <a:tabLst>
                <a:tab pos="1029335" algn="l"/>
                <a:tab pos="1850390" algn="l"/>
                <a:tab pos="2538095" algn="l"/>
                <a:tab pos="3221990" algn="l"/>
              </a:tabLst>
            </a:pPr>
            <a:r>
              <a:rPr lang="en-US" altLang="zh-CN" sz="2800" b="1"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你能把公差不为零的等差数列的前</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项和公式写成</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关于</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的二次函数的形式吗</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056738168"/>
              </p:ext>
            </p:extLst>
          </p:nvPr>
        </p:nvGraphicFramePr>
        <p:xfrm>
          <a:off x="43248" y="2187473"/>
          <a:ext cx="11430000" cy="1003297"/>
        </p:xfrm>
        <a:graphic>
          <a:graphicData uri="http://schemas.openxmlformats.org/presentationml/2006/ole">
            <mc:AlternateContent xmlns:mc="http://schemas.openxmlformats.org/markup-compatibility/2006">
              <mc:Choice xmlns:v="urn:schemas-microsoft-com:vml" Requires="v">
                <p:oleObj spid="_x0000_s3112" name="文档" r:id="rId3" imgW="4520786" imgH="396823" progId="Word.Document.12">
                  <p:embed/>
                </p:oleObj>
              </mc:Choice>
              <mc:Fallback>
                <p:oleObj name="文档" r:id="rId3" imgW="4520786" imgH="396823" progId="Word.Document.12">
                  <p:embed/>
                  <p:pic>
                    <p:nvPicPr>
                      <p:cNvPr id="0" name=""/>
                      <p:cNvPicPr/>
                      <p:nvPr/>
                    </p:nvPicPr>
                    <p:blipFill>
                      <a:blip r:embed="rId4"/>
                      <a:stretch>
                        <a:fillRect/>
                      </a:stretch>
                    </p:blipFill>
                    <p:spPr>
                      <a:xfrm>
                        <a:off x="43248" y="2187473"/>
                        <a:ext cx="11430000" cy="1003297"/>
                      </a:xfrm>
                      <a:prstGeom prst="rect">
                        <a:avLst/>
                      </a:prstGeom>
                    </p:spPr>
                  </p:pic>
                </p:oleObj>
              </mc:Fallback>
            </mc:AlternateContent>
          </a:graphicData>
        </a:graphic>
      </p:graphicFrame>
      <p:sp>
        <p:nvSpPr>
          <p:cNvPr id="4" name="矩形 3"/>
          <p:cNvSpPr>
            <a:spLocks noChangeAspect="1"/>
          </p:cNvSpPr>
          <p:nvPr/>
        </p:nvSpPr>
        <p:spPr>
          <a:xfrm>
            <a:off x="381000" y="3048593"/>
            <a:ext cx="11430000" cy="1772793"/>
          </a:xfrm>
          <a:prstGeom prst="rect">
            <a:avLst/>
          </a:prstGeom>
        </p:spPr>
        <p:txBody>
          <a:bodyPr>
            <a:spAutoFit/>
          </a:bodyPr>
          <a:lstStyle/>
          <a:p>
            <a:pPr indent="280670">
              <a:lnSpc>
                <a:spcPct val="130000"/>
              </a:lnSpc>
              <a:spcAft>
                <a:spcPts val="0"/>
              </a:spcAft>
              <a:tabLst>
                <a:tab pos="1029335" algn="l"/>
                <a:tab pos="1850390" algn="l"/>
                <a:tab pos="2538095" algn="l"/>
                <a:tab pos="3221990"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这个函数的图象有何特点</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smtClean="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该</a:t>
            </a:r>
            <a:r>
              <a:rPr lang="zh-CN" altLang="zh-CN" sz="2800" dirty="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函数的</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图象可以看作是二次项系数</a:t>
            </a:r>
            <a:r>
              <a:rPr lang="zh-CN" altLang="zh-CN" sz="2800" dirty="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为</a:t>
            </a:r>
            <a:r>
              <a:rPr lang="en-US" altLang="zh-CN" sz="2800" dirty="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过原点的抛物线上的一些点</a:t>
            </a:r>
            <a:r>
              <a:rPr lang="en-US" altLang="zh-CN" sz="2800" i="1"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420549831"/>
              </p:ext>
            </p:extLst>
          </p:nvPr>
        </p:nvGraphicFramePr>
        <p:xfrm>
          <a:off x="7430553" y="3530629"/>
          <a:ext cx="617825" cy="754987"/>
        </p:xfrm>
        <a:graphic>
          <a:graphicData uri="http://schemas.openxmlformats.org/presentationml/2006/ole">
            <mc:AlternateContent xmlns:mc="http://schemas.openxmlformats.org/markup-compatibility/2006">
              <mc:Choice xmlns:v="urn:schemas-microsoft-com:vml" Requires="v">
                <p:oleObj spid="_x0000_s3113" name="文档" r:id="rId5" imgW="333967" imgH="397544" progId="Word.Document.12">
                  <p:embed/>
                </p:oleObj>
              </mc:Choice>
              <mc:Fallback>
                <p:oleObj name="文档" r:id="rId5" imgW="333967" imgH="397544" progId="Word.Document.12">
                  <p:embed/>
                  <p:pic>
                    <p:nvPicPr>
                      <p:cNvPr id="0" name=""/>
                      <p:cNvPicPr/>
                      <p:nvPr/>
                    </p:nvPicPr>
                    <p:blipFill>
                      <a:blip r:embed="rId6"/>
                      <a:stretch>
                        <a:fillRect/>
                      </a:stretch>
                    </p:blipFill>
                    <p:spPr>
                      <a:xfrm>
                        <a:off x="7430553" y="3530629"/>
                        <a:ext cx="617825" cy="754987"/>
                      </a:xfrm>
                      <a:prstGeom prst="rect">
                        <a:avLst/>
                      </a:prstGeom>
                    </p:spPr>
                  </p:pic>
                </p:oleObj>
              </mc:Fallback>
            </mc:AlternateContent>
          </a:graphicData>
        </a:graphic>
      </p:graphicFrame>
    </p:spTree>
    <p:extLst>
      <p:ext uri="{BB962C8B-B14F-4D97-AF65-F5344CB8AC3E}">
        <p14:creationId xmlns:p14="http://schemas.microsoft.com/office/powerpoint/2010/main" val="40587197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arn(inVertical)">
                                      <p:cBhvr>
                                        <p:cTn id="12" dur="500"/>
                                        <p:tgtEl>
                                          <p:spTgt spid="4">
                                            <p:txEl>
                                              <p:pRg st="1" end="1"/>
                                            </p:txEl>
                                          </p:spTgt>
                                        </p:tgtEl>
                                      </p:cBhvr>
                                    </p:animEffect>
                                  </p:childTnLst>
                                </p:cTn>
                              </p:par>
                              <p:par>
                                <p:cTn id="13" presetID="16" presetClass="entr" presetSubtype="21"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arn(inVertical)">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249654"/>
            <a:ext cx="11430000" cy="5693866"/>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3</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在</a:t>
            </a:r>
            <a:r>
              <a:rPr lang="zh-CN" altLang="zh-CN" sz="2800" dirty="0">
                <a:solidFill>
                  <a:srgbClr val="000000"/>
                </a:solidFill>
                <a:latin typeface="Times New Roman" panose="02020603050405020304" pitchFamily="18" charset="0"/>
                <a:cs typeface="Times New Roman" panose="02020603050405020304" pitchFamily="18" charset="0"/>
              </a:rPr>
              <a:t>等差数列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若</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d&gt;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则数列的前面若干项为</a:t>
            </a:r>
            <a:r>
              <a:rPr lang="zh-CN" altLang="zh-CN" sz="2800" dirty="0">
                <a:solidFill>
                  <a:srgbClr val="FF0000"/>
                </a:solidFill>
                <a:latin typeface="Times New Roman" panose="02020603050405020304" pitchFamily="18" charset="0"/>
                <a:cs typeface="Times New Roman" panose="02020603050405020304" pitchFamily="18" charset="0"/>
              </a:rPr>
              <a:t>负</a:t>
            </a:r>
            <a:r>
              <a:rPr lang="zh-CN" altLang="zh-CN" sz="2800" dirty="0">
                <a:solidFill>
                  <a:srgbClr val="000000"/>
                </a:solidFill>
                <a:latin typeface="Times New Roman" panose="02020603050405020304" pitchFamily="18" charset="0"/>
                <a:cs typeface="Times New Roman" panose="02020603050405020304" pitchFamily="18" charset="0"/>
              </a:rPr>
              <a:t>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或</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所以将这些项相加即得</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的最</a:t>
            </a:r>
            <a:r>
              <a:rPr lang="zh-CN" altLang="zh-CN" sz="2800" dirty="0">
                <a:solidFill>
                  <a:srgbClr val="FF0000"/>
                </a:solidFill>
                <a:latin typeface="Times New Roman" panose="02020603050405020304" pitchFamily="18" charset="0"/>
                <a:cs typeface="Times New Roman" panose="02020603050405020304" pitchFamily="18" charset="0"/>
              </a:rPr>
              <a:t>小</a:t>
            </a:r>
            <a:r>
              <a:rPr lang="zh-CN" altLang="zh-CN" sz="2800" dirty="0">
                <a:solidFill>
                  <a:srgbClr val="000000"/>
                </a:solidFill>
                <a:latin typeface="Times New Roman" panose="02020603050405020304" pitchFamily="18" charset="0"/>
                <a:cs typeface="Times New Roman" panose="02020603050405020304" pitchFamily="18" charset="0"/>
              </a:rPr>
              <a:t>值</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若</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&gt;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d&lt;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则数列的前面若干项为</a:t>
            </a:r>
            <a:r>
              <a:rPr lang="zh-CN" altLang="zh-CN" sz="2800" dirty="0">
                <a:solidFill>
                  <a:srgbClr val="FF0000"/>
                </a:solidFill>
                <a:latin typeface="Times New Roman" panose="02020603050405020304" pitchFamily="18" charset="0"/>
                <a:cs typeface="Times New Roman" panose="02020603050405020304" pitchFamily="18" charset="0"/>
              </a:rPr>
              <a:t>正</a:t>
            </a:r>
            <a:r>
              <a:rPr lang="zh-CN" altLang="zh-CN" sz="2800" dirty="0">
                <a:solidFill>
                  <a:srgbClr val="000000"/>
                </a:solidFill>
                <a:latin typeface="Times New Roman" panose="02020603050405020304" pitchFamily="18" charset="0"/>
                <a:cs typeface="Times New Roman" panose="02020603050405020304" pitchFamily="18" charset="0"/>
              </a:rPr>
              <a:t>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或</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所以将这些项相加即得</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的最</a:t>
            </a:r>
            <a:r>
              <a:rPr lang="zh-CN" altLang="zh-CN" sz="2800" dirty="0">
                <a:solidFill>
                  <a:srgbClr val="FF0000"/>
                </a:solidFill>
                <a:latin typeface="Times New Roman" panose="02020603050405020304" pitchFamily="18" charset="0"/>
                <a:cs typeface="Times New Roman" panose="02020603050405020304" pitchFamily="18" charset="0"/>
              </a:rPr>
              <a:t>大</a:t>
            </a:r>
            <a:r>
              <a:rPr lang="zh-CN" altLang="zh-CN" sz="2800" dirty="0">
                <a:solidFill>
                  <a:srgbClr val="000000"/>
                </a:solidFill>
                <a:latin typeface="Times New Roman" panose="02020603050405020304" pitchFamily="18" charset="0"/>
                <a:cs typeface="Times New Roman" panose="02020603050405020304" pitchFamily="18" charset="0"/>
              </a:rPr>
              <a:t>值</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4</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已知</a:t>
            </a:r>
            <a:r>
              <a:rPr lang="zh-CN" altLang="zh-CN" sz="2800" dirty="0">
                <a:solidFill>
                  <a:srgbClr val="000000"/>
                </a:solidFill>
                <a:latin typeface="Times New Roman" panose="02020603050405020304" pitchFamily="18" charset="0"/>
                <a:cs typeface="Times New Roman" panose="02020603050405020304" pitchFamily="18" charset="0"/>
              </a:rPr>
              <a:t>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的前</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项和</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48</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的最小值为</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48</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24)</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576</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i="1" baseline="300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24</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有最小值</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576</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576</a:t>
            </a:r>
            <a:endParaRPr lang="zh-CN" altLang="zh-CN" sz="2800" dirty="0">
              <a:solidFill>
                <a:srgbClr val="000000"/>
              </a:solidFill>
              <a:effectLst/>
              <a:latin typeface="NEU-BZ-S92"/>
              <a:ea typeface="方正书宋_GBK"/>
              <a:cs typeface="Times New Roman" panose="02020603050405020304" pitchFamily="18" charset="0"/>
            </a:endParaRPr>
          </a:p>
        </p:txBody>
      </p:sp>
      <p:sp>
        <p:nvSpPr>
          <p:cNvPr id="3" name="矩形 2"/>
          <p:cNvSpPr/>
          <p:nvPr/>
        </p:nvSpPr>
        <p:spPr>
          <a:xfrm>
            <a:off x="6566964" y="867296"/>
            <a:ext cx="337565"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6578623" y="1314647"/>
            <a:ext cx="336147" cy="0"/>
          </a:xfrm>
          <a:prstGeom prst="line">
            <a:avLst/>
          </a:prstGeom>
        </p:spPr>
        <p:style>
          <a:lnRef idx="2">
            <a:schemeClr val="dk1"/>
          </a:lnRef>
          <a:fillRef idx="0">
            <a:schemeClr val="dk1"/>
          </a:fillRef>
          <a:effectRef idx="1">
            <a:schemeClr val="dk1"/>
          </a:effectRef>
          <a:fontRef idx="minor">
            <a:schemeClr val="tx1"/>
          </a:fontRef>
        </p:style>
      </p:cxnSp>
      <p:sp>
        <p:nvSpPr>
          <p:cNvPr id="7" name="矩形 6"/>
          <p:cNvSpPr/>
          <p:nvPr/>
        </p:nvSpPr>
        <p:spPr>
          <a:xfrm>
            <a:off x="1475418" y="1438796"/>
            <a:ext cx="337565"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1487077" y="1875756"/>
            <a:ext cx="336147" cy="0"/>
          </a:xfrm>
          <a:prstGeom prst="line">
            <a:avLst/>
          </a:prstGeom>
        </p:spPr>
        <p:style>
          <a:lnRef idx="2">
            <a:schemeClr val="dk1"/>
          </a:lnRef>
          <a:fillRef idx="0">
            <a:schemeClr val="dk1"/>
          </a:fillRef>
          <a:effectRef idx="1">
            <a:schemeClr val="dk1"/>
          </a:effectRef>
          <a:fontRef idx="minor">
            <a:schemeClr val="tx1"/>
          </a:fontRef>
        </p:style>
      </p:cxnSp>
      <p:sp>
        <p:nvSpPr>
          <p:cNvPr id="9" name="矩形 8"/>
          <p:cNvSpPr/>
          <p:nvPr/>
        </p:nvSpPr>
        <p:spPr>
          <a:xfrm>
            <a:off x="6566964" y="1989618"/>
            <a:ext cx="337565"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nvCxnSpPr>
        <p:spPr>
          <a:xfrm>
            <a:off x="6578623" y="2426578"/>
            <a:ext cx="336147" cy="0"/>
          </a:xfrm>
          <a:prstGeom prst="line">
            <a:avLst/>
          </a:prstGeom>
        </p:spPr>
        <p:style>
          <a:lnRef idx="2">
            <a:schemeClr val="dk1"/>
          </a:lnRef>
          <a:fillRef idx="0">
            <a:schemeClr val="dk1"/>
          </a:fillRef>
          <a:effectRef idx="1">
            <a:schemeClr val="dk1"/>
          </a:effectRef>
          <a:fontRef idx="minor">
            <a:schemeClr val="tx1"/>
          </a:fontRef>
        </p:style>
      </p:cxnSp>
      <p:sp>
        <p:nvSpPr>
          <p:cNvPr id="11" name="矩形 10"/>
          <p:cNvSpPr/>
          <p:nvPr/>
        </p:nvSpPr>
        <p:spPr>
          <a:xfrm>
            <a:off x="1485809" y="2561118"/>
            <a:ext cx="337565"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连接符 11"/>
          <p:cNvCxnSpPr/>
          <p:nvPr/>
        </p:nvCxnSpPr>
        <p:spPr>
          <a:xfrm>
            <a:off x="1487077" y="2987687"/>
            <a:ext cx="336147"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9336486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9"/>
                                        </p:tgtEl>
                                      </p:cBhvr>
                                    </p:animEffect>
                                    <p:set>
                                      <p:cBhvr>
                                        <p:cTn id="17" dur="1" fill="hold">
                                          <p:stCondLst>
                                            <p:cond delay="499"/>
                                          </p:stCondLst>
                                        </p:cTn>
                                        <p:tgtEl>
                                          <p:spTgt spid="9"/>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11"/>
                                        </p:tgtEl>
                                      </p:cBhvr>
                                    </p:animEffect>
                                    <p:set>
                                      <p:cBhvr>
                                        <p:cTn id="22" dur="1" fill="hold">
                                          <p:stCondLst>
                                            <p:cond delay="499"/>
                                          </p:stCondLst>
                                        </p:cTn>
                                        <p:tgtEl>
                                          <p:spTgt spid="11"/>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barn(inVertical)">
                                      <p:cBhvr>
                                        <p:cTn id="27" dur="500"/>
                                        <p:tgtEl>
                                          <p:spTgt spid="2">
                                            <p:txEl>
                                              <p:pRg st="4" end="4"/>
                                            </p:txEl>
                                          </p:spTgt>
                                        </p:tgtEl>
                                      </p:cBhvr>
                                    </p:animEffect>
                                  </p:childTnLst>
                                </p:cTn>
                              </p:par>
                              <p:par>
                                <p:cTn id="28" presetID="16" presetClass="entr" presetSubtype="21" fill="hold" nodeType="withEffect">
                                  <p:stCondLst>
                                    <p:cond delay="0"/>
                                  </p:stCondLst>
                                  <p:childTnLst>
                                    <p:set>
                                      <p:cBhvr>
                                        <p:cTn id="29" dur="1" fill="hold">
                                          <p:stCondLst>
                                            <p:cond delay="0"/>
                                          </p:stCondLst>
                                        </p:cTn>
                                        <p:tgtEl>
                                          <p:spTgt spid="2">
                                            <p:txEl>
                                              <p:pRg st="5" end="5"/>
                                            </p:txEl>
                                          </p:spTgt>
                                        </p:tgtEl>
                                        <p:attrNameLst>
                                          <p:attrName>style.visibility</p:attrName>
                                        </p:attrNameLst>
                                      </p:cBhvr>
                                      <p:to>
                                        <p:strVal val="visible"/>
                                      </p:to>
                                    </p:set>
                                    <p:animEffect transition="in" filter="barn(inVertical)">
                                      <p:cBhvr>
                                        <p:cTn id="30" dur="500"/>
                                        <p:tgtEl>
                                          <p:spTgt spid="2">
                                            <p:txEl>
                                              <p:pRg st="5" end="5"/>
                                            </p:txEl>
                                          </p:spTgt>
                                        </p:tgtEl>
                                      </p:cBhvr>
                                    </p:animEffect>
                                  </p:childTnLst>
                                </p:cTn>
                              </p:par>
                              <p:par>
                                <p:cTn id="31" presetID="16" presetClass="entr" presetSubtype="21" fill="hold" nodeType="withEffect">
                                  <p:stCondLst>
                                    <p:cond delay="0"/>
                                  </p:stCondLst>
                                  <p:childTnLst>
                                    <p:set>
                                      <p:cBhvr>
                                        <p:cTn id="32" dur="1" fill="hold">
                                          <p:stCondLst>
                                            <p:cond delay="0"/>
                                          </p:stCondLst>
                                        </p:cTn>
                                        <p:tgtEl>
                                          <p:spTgt spid="2">
                                            <p:txEl>
                                              <p:pRg st="6" end="6"/>
                                            </p:txEl>
                                          </p:spTgt>
                                        </p:tgtEl>
                                        <p:attrNameLst>
                                          <p:attrName>style.visibility</p:attrName>
                                        </p:attrNameLst>
                                      </p:cBhvr>
                                      <p:to>
                                        <p:strVal val="visible"/>
                                      </p:to>
                                    </p:set>
                                    <p:animEffect transition="in" filter="barn(inVertical)">
                                      <p:cBhvr>
                                        <p:cTn id="33" dur="500"/>
                                        <p:tgtEl>
                                          <p:spTgt spid="2">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6" presetClass="entr" presetSubtype="21" fill="hold" nodeType="clickEffect">
                                  <p:stCondLst>
                                    <p:cond delay="0"/>
                                  </p:stCondLst>
                                  <p:childTnLst>
                                    <p:set>
                                      <p:cBhvr>
                                        <p:cTn id="37" dur="1" fill="hold">
                                          <p:stCondLst>
                                            <p:cond delay="0"/>
                                          </p:stCondLst>
                                        </p:cTn>
                                        <p:tgtEl>
                                          <p:spTgt spid="2">
                                            <p:txEl>
                                              <p:pRg st="7" end="7"/>
                                            </p:txEl>
                                          </p:spTgt>
                                        </p:tgtEl>
                                        <p:attrNameLst>
                                          <p:attrName>style.visibility</p:attrName>
                                        </p:attrNameLst>
                                      </p:cBhvr>
                                      <p:to>
                                        <p:strVal val="visible"/>
                                      </p:to>
                                    </p:set>
                                    <p:animEffect transition="in" filter="barn(inVertical)">
                                      <p:cBhvr>
                                        <p:cTn id="38"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P spid="9" grpId="0" animBg="1"/>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594100"/>
            <a:ext cx="11430000" cy="4530471"/>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【思考辨析】</a:t>
            </a:r>
            <a:r>
              <a:rPr lang="zh-CN" altLang="zh-CN" sz="2800" dirty="0">
                <a:solidFill>
                  <a:srgbClr val="000000"/>
                </a:solidFill>
                <a:effectLst/>
                <a:latin typeface="NEU-BZ-S92"/>
                <a:ea typeface="Arial" panose="020B0604020202020204" pitchFamily="34"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判断下列说法是否正确</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正确的在后面的括号里画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effectLst/>
                <a:latin typeface="Cambria Math" panose="02040503050406030204" pitchFamily="18" charset="0"/>
                <a:ea typeface="NEU-BZ-S9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错误的画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7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若</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为等差数列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的前</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项和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a:t>
            </a:r>
            <a:r>
              <a:rPr lang="zh-CN" altLang="zh-CN" sz="2800" dirty="0" smtClean="0">
                <a:solidFill>
                  <a:srgbClr val="000000"/>
                </a:solidFill>
                <a:latin typeface="Times New Roman" panose="02020603050405020304" pitchFamily="18" charset="0"/>
                <a:cs typeface="Times New Roman" panose="02020603050405020304" pitchFamily="18" charset="0"/>
              </a:rPr>
              <a:t>数列</a:t>
            </a:r>
            <a:r>
              <a:rPr lang="en-US" altLang="zh-CN" sz="2800" dirty="0" smtClean="0">
                <a:solidFill>
                  <a:srgbClr val="000000"/>
                </a:solidFill>
                <a:latin typeface="Times New Roman" panose="02020603050405020304" pitchFamily="18" charset="0"/>
                <a:cs typeface="Times New Roman" panose="02020603050405020304" pitchFamily="18" charset="0"/>
              </a:rPr>
              <a:t>       </a:t>
            </a:r>
            <a:r>
              <a:rPr lang="zh-CN" altLang="zh-CN" sz="2800" dirty="0" smtClean="0">
                <a:solidFill>
                  <a:srgbClr val="000000"/>
                </a:solidFill>
                <a:latin typeface="Times New Roman" panose="02020603050405020304" pitchFamily="18" charset="0"/>
                <a:cs typeface="Times New Roman" panose="02020603050405020304" pitchFamily="18" charset="0"/>
              </a:rPr>
              <a:t>也</a:t>
            </a:r>
            <a:r>
              <a:rPr lang="zh-CN" altLang="zh-CN" sz="2800" dirty="0">
                <a:solidFill>
                  <a:srgbClr val="000000"/>
                </a:solidFill>
                <a:latin typeface="Times New Roman" panose="02020603050405020304" pitchFamily="18" charset="0"/>
                <a:cs typeface="Times New Roman" panose="02020603050405020304" pitchFamily="18" charset="0"/>
              </a:rPr>
              <a:t>是等差数列</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effectLst/>
                <a:latin typeface="Cambria Math" panose="02040503050406030204" pitchFamily="18" charset="0"/>
                <a:ea typeface="NEU-BZ-S92"/>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79400">
              <a:lnSpc>
                <a:spcPct val="170000"/>
              </a:lnSpc>
              <a:spcAft>
                <a:spcPts val="0"/>
              </a:spcAft>
              <a:tabLst>
                <a:tab pos="1188085" algn="l"/>
                <a:tab pos="2163445" algn="l"/>
                <a:tab pos="3142615" algn="l"/>
                <a:tab pos="4190365" algn="l"/>
              </a:tabLst>
            </a:pP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在公差为</a:t>
            </a:r>
            <a:r>
              <a:rPr lang="en-US" altLang="zh-CN" sz="2800" i="1" dirty="0">
                <a:solidFill>
                  <a:srgbClr val="000000"/>
                </a:solidFill>
                <a:latin typeface="Times New Roman" panose="02020603050405020304" pitchFamily="18" charset="0"/>
                <a:cs typeface="Times New Roman" panose="02020603050405020304" pitchFamily="18" charset="0"/>
              </a:rPr>
              <a:t>d</a:t>
            </a:r>
            <a:r>
              <a:rPr lang="zh-CN" altLang="zh-CN" sz="2800" dirty="0">
                <a:solidFill>
                  <a:srgbClr val="000000"/>
                </a:solidFill>
                <a:latin typeface="Times New Roman" panose="02020603050405020304" pitchFamily="18" charset="0"/>
                <a:cs typeface="Times New Roman" panose="02020603050405020304" pitchFamily="18" charset="0"/>
              </a:rPr>
              <a:t>的等差数列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若</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&gt;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d&lt;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则该等差数列中所有的非负项之和最大</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Cambria Math" panose="02040503050406030204" pitchFamily="18" charset="0"/>
                <a:ea typeface="NEU-BZ-S92"/>
                <a:cs typeface="Times New Roman" panose="02020603050405020304" pitchFamily="18" charset="0"/>
              </a:rPr>
              <a:t>    </a:t>
            </a:r>
            <a:r>
              <a:rPr lang="en-US" altLang="zh-CN" sz="2800" dirty="0" smtClean="0">
                <a:solidFill>
                  <a:srgbClr val="000000"/>
                </a:solidFill>
                <a:latin typeface="Cambria Math" panose="02040503050406030204" pitchFamily="18" charset="0"/>
                <a:ea typeface="NEU-BZ-S92"/>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cs typeface="Times New Roman" panose="02020603050405020304" pitchFamily="18" charset="0"/>
              </a:rPr>
              <a:t>在等差数列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为数列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的前</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项和</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a:t>
            </a:r>
            <a:r>
              <a:rPr lang="zh-CN" altLang="zh-CN" sz="2800" dirty="0">
                <a:solidFill>
                  <a:srgbClr val="000000"/>
                </a:solidFill>
                <a:latin typeface="Times New Roman" panose="02020603050405020304" pitchFamily="18" charset="0"/>
                <a:cs typeface="Times New Roman" panose="02020603050405020304" pitchFamily="18" charset="0"/>
              </a:rPr>
              <a:t>为公差</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若</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&gt;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d&gt;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则当</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取得最小值</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若</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d&lt;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则当</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取得最大值</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Cambria Math" panose="02040503050406030204" pitchFamily="18" charset="0"/>
                <a:ea typeface="NEU-BZ-S92"/>
                <a:cs typeface="Times New Roman" panose="02020603050405020304" pitchFamily="18" charset="0"/>
              </a:rPr>
              <a:t>  </a:t>
            </a:r>
            <a:r>
              <a:rPr lang="en-US" altLang="zh-CN" sz="2800" dirty="0" smtClean="0">
                <a:solidFill>
                  <a:srgbClr val="000000"/>
                </a:solidFill>
                <a:latin typeface="Cambria Math" panose="02040503050406030204" pitchFamily="18" charset="0"/>
                <a:ea typeface="NEU-BZ-S92"/>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621576422"/>
              </p:ext>
            </p:extLst>
          </p:nvPr>
        </p:nvGraphicFramePr>
        <p:xfrm>
          <a:off x="6967989" y="1732981"/>
          <a:ext cx="695351" cy="830486"/>
        </p:xfrm>
        <a:graphic>
          <a:graphicData uri="http://schemas.openxmlformats.org/presentationml/2006/ole">
            <mc:AlternateContent xmlns:mc="http://schemas.openxmlformats.org/markup-compatibility/2006">
              <mc:Choice xmlns:v="urn:schemas-microsoft-com:vml" Requires="v">
                <p:oleObj spid="_x0000_s4117" name="文档" r:id="rId3" imgW="340804" imgH="397544" progId="Word.Document.12">
                  <p:embed/>
                </p:oleObj>
              </mc:Choice>
              <mc:Fallback>
                <p:oleObj name="文档" r:id="rId3" imgW="340804" imgH="397544" progId="Word.Document.12">
                  <p:embed/>
                  <p:pic>
                    <p:nvPicPr>
                      <p:cNvPr id="0" name=""/>
                      <p:cNvPicPr/>
                      <p:nvPr/>
                    </p:nvPicPr>
                    <p:blipFill>
                      <a:blip r:embed="rId4"/>
                      <a:stretch>
                        <a:fillRect/>
                      </a:stretch>
                    </p:blipFill>
                    <p:spPr>
                      <a:xfrm>
                        <a:off x="6967989" y="1732981"/>
                        <a:ext cx="695351" cy="830486"/>
                      </a:xfrm>
                      <a:prstGeom prst="rect">
                        <a:avLst/>
                      </a:prstGeom>
                    </p:spPr>
                  </p:pic>
                </p:oleObj>
              </mc:Fallback>
            </mc:AlternateContent>
          </a:graphicData>
        </a:graphic>
      </p:graphicFrame>
      <p:sp>
        <p:nvSpPr>
          <p:cNvPr id="4" name="矩形 3"/>
          <p:cNvSpPr>
            <a:spLocks noChangeAspect="1"/>
          </p:cNvSpPr>
          <p:nvPr/>
        </p:nvSpPr>
        <p:spPr>
          <a:xfrm>
            <a:off x="10129867" y="1856417"/>
            <a:ext cx="420308" cy="604396"/>
          </a:xfrm>
          <a:prstGeom prst="rect">
            <a:avLst/>
          </a:prstGeom>
        </p:spPr>
        <p:txBody>
          <a:bodyPr wrap="none">
            <a:spAutoFit/>
          </a:bodyPr>
          <a:lstStyle/>
          <a:p>
            <a:pPr>
              <a:lnSpc>
                <a:spcPct val="130000"/>
              </a:lnSpc>
            </a:pPr>
            <a:r>
              <a:rPr lang="en-US" altLang="zh-CN" sz="2800" dirty="0" smtClean="0">
                <a:solidFill>
                  <a:srgbClr val="FF0000"/>
                </a:solidFill>
                <a:latin typeface="Cambria Math" panose="02040503050406030204" pitchFamily="18" charset="0"/>
                <a:ea typeface="NEU-BZ-S92"/>
                <a:cs typeface="Times New Roman" panose="02020603050405020304" pitchFamily="18" charset="0"/>
              </a:rPr>
              <a:t>√</a:t>
            </a:r>
            <a:endParaRPr lang="zh-CN" altLang="en-US" sz="2800" dirty="0"/>
          </a:p>
        </p:txBody>
      </p:sp>
      <p:sp>
        <p:nvSpPr>
          <p:cNvPr id="5" name="矩形 4"/>
          <p:cNvSpPr>
            <a:spLocks noChangeAspect="1"/>
          </p:cNvSpPr>
          <p:nvPr/>
        </p:nvSpPr>
        <p:spPr>
          <a:xfrm>
            <a:off x="2993811" y="3322563"/>
            <a:ext cx="420308" cy="604396"/>
          </a:xfrm>
          <a:prstGeom prst="rect">
            <a:avLst/>
          </a:prstGeom>
        </p:spPr>
        <p:txBody>
          <a:bodyPr wrap="none">
            <a:spAutoFit/>
          </a:bodyPr>
          <a:lstStyle/>
          <a:p>
            <a:pPr>
              <a:lnSpc>
                <a:spcPct val="130000"/>
              </a:lnSpc>
            </a:pPr>
            <a:r>
              <a:rPr lang="en-US" altLang="zh-CN" sz="2800" dirty="0" smtClean="0">
                <a:solidFill>
                  <a:srgbClr val="FF0000"/>
                </a:solidFill>
                <a:latin typeface="Cambria Math" panose="02040503050406030204" pitchFamily="18" charset="0"/>
                <a:ea typeface="NEU-BZ-S92"/>
                <a:cs typeface="Times New Roman" panose="02020603050405020304" pitchFamily="18" charset="0"/>
              </a:rPr>
              <a:t>√</a:t>
            </a:r>
            <a:endParaRPr lang="zh-CN" altLang="en-US" sz="2800" dirty="0"/>
          </a:p>
        </p:txBody>
      </p:sp>
      <p:sp>
        <p:nvSpPr>
          <p:cNvPr id="6" name="矩形 5"/>
          <p:cNvSpPr>
            <a:spLocks noChangeAspect="1"/>
          </p:cNvSpPr>
          <p:nvPr/>
        </p:nvSpPr>
        <p:spPr>
          <a:xfrm>
            <a:off x="9740732" y="4478611"/>
            <a:ext cx="420308" cy="604396"/>
          </a:xfrm>
          <a:prstGeom prst="rect">
            <a:avLst/>
          </a:prstGeom>
        </p:spPr>
        <p:txBody>
          <a:bodyPr wrap="none">
            <a:spAutoFit/>
          </a:bodyPr>
          <a:lstStyle/>
          <a:p>
            <a:pPr>
              <a:lnSpc>
                <a:spcPct val="130000"/>
              </a:lnSpc>
            </a:pPr>
            <a:r>
              <a:rPr lang="en-US" altLang="zh-CN" sz="2800" dirty="0" smtClean="0">
                <a:solidFill>
                  <a:srgbClr val="FF0000"/>
                </a:solidFill>
                <a:latin typeface="Cambria Math" panose="02040503050406030204" pitchFamily="18" charset="0"/>
                <a:ea typeface="NEU-BZ-S92"/>
                <a:cs typeface="Times New Roman" panose="02020603050405020304" pitchFamily="18" charset="0"/>
              </a:rPr>
              <a:t>√</a:t>
            </a:r>
            <a:endParaRPr lang="zh-CN" altLang="en-US" sz="2800" dirty="0"/>
          </a:p>
        </p:txBody>
      </p:sp>
    </p:spTree>
    <p:extLst>
      <p:ext uri="{BB962C8B-B14F-4D97-AF65-F5344CB8AC3E}">
        <p14:creationId xmlns:p14="http://schemas.microsoft.com/office/powerpoint/2010/main" val="1891504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合作探究 释疑解惑</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35" name="组合 34"/>
          <p:cNvGrpSpPr/>
          <p:nvPr/>
        </p:nvGrpSpPr>
        <p:grpSpPr>
          <a:xfrm>
            <a:off x="2" y="151371"/>
            <a:ext cx="11336478" cy="433754"/>
            <a:chOff x="381000" y="205656"/>
            <a:chExt cx="11336478" cy="433754"/>
          </a:xfrm>
        </p:grpSpPr>
        <p:sp>
          <p:nvSpPr>
            <p:cNvPr id="36" name="矩形 35"/>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37" name="组合 36"/>
            <p:cNvGrpSpPr/>
            <p:nvPr/>
          </p:nvGrpSpPr>
          <p:grpSpPr>
            <a:xfrm>
              <a:off x="381000" y="205656"/>
              <a:ext cx="11336478" cy="433754"/>
              <a:chOff x="3048000" y="2286000"/>
              <a:chExt cx="4813646" cy="457200"/>
            </a:xfrm>
          </p:grpSpPr>
          <p:sp>
            <p:nvSpPr>
              <p:cNvPr id="38" name="矩形 37"/>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探究一</a:t>
                </a:r>
              </a:p>
            </p:txBody>
          </p:sp>
          <p:sp>
            <p:nvSpPr>
              <p:cNvPr id="39" name="矩形 38"/>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等差数列前</a:t>
                </a:r>
                <a:r>
                  <a:rPr lang="en-US" altLang="zh-CN" sz="2800" b="1" i="1" dirty="0">
                    <a:solidFill>
                      <a:schemeClr val="bg1"/>
                    </a:solidFill>
                    <a:latin typeface="Times New Roman" panose="02020603050405020304" pitchFamily="18" charset="0"/>
                    <a:cs typeface="Times New Roman" panose="02020603050405020304" pitchFamily="18" charset="0"/>
                  </a:rPr>
                  <a:t>n</a:t>
                </a:r>
                <a:r>
                  <a:rPr lang="zh-CN" altLang="en-US" sz="2800" b="1" dirty="0">
                    <a:solidFill>
                      <a:schemeClr val="bg1"/>
                    </a:solidFill>
                  </a:rPr>
                  <a:t>项和的性质</a:t>
                </a:r>
              </a:p>
            </p:txBody>
          </p:sp>
        </p:grpSp>
      </p:grpSp>
      <p:sp>
        <p:nvSpPr>
          <p:cNvPr id="2" name="矩形 1"/>
          <p:cNvSpPr>
            <a:spLocks noChangeAspect="1"/>
          </p:cNvSpPr>
          <p:nvPr/>
        </p:nvSpPr>
        <p:spPr>
          <a:xfrm>
            <a:off x="381000" y="708777"/>
            <a:ext cx="11430000" cy="5133713"/>
          </a:xfrm>
          <a:prstGeom prst="rect">
            <a:avLst/>
          </a:prstGeom>
        </p:spPr>
        <p:txBody>
          <a:bodyPr>
            <a:spAutoFit/>
          </a:bodyPr>
          <a:lstStyle/>
          <a:p>
            <a:pPr indent="279400">
              <a:lnSpc>
                <a:spcPct val="130000"/>
              </a:lnSpc>
              <a:spcAft>
                <a:spcPts val="0"/>
              </a:spcAft>
              <a:tabLst>
                <a:tab pos="1029335" algn="l"/>
                <a:tab pos="1850390" algn="l"/>
                <a:tab pos="2538095" algn="l"/>
                <a:tab pos="3221990"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在项数为</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的等差数列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前</a:t>
            </a: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cs typeface="Times New Roman" panose="02020603050405020304" pitchFamily="18" charset="0"/>
              </a:rPr>
              <a:t>项和为</a:t>
            </a:r>
            <a:r>
              <a:rPr lang="en-US" altLang="zh-CN" sz="2800" dirty="0">
                <a:solidFill>
                  <a:srgbClr val="000000"/>
                </a:solidFill>
                <a:latin typeface="Times New Roman" panose="02020603050405020304" pitchFamily="18" charset="0"/>
                <a:cs typeface="Times New Roman" panose="02020603050405020304" pitchFamily="18" charset="0"/>
              </a:rPr>
              <a:t>30,</a:t>
            </a:r>
            <a:r>
              <a:rPr lang="zh-CN" altLang="zh-CN" sz="2800" dirty="0">
                <a:solidFill>
                  <a:srgbClr val="000000"/>
                </a:solidFill>
                <a:latin typeface="Times New Roman" panose="02020603050405020304" pitchFamily="18" charset="0"/>
                <a:cs typeface="Times New Roman" panose="02020603050405020304" pitchFamily="18" charset="0"/>
              </a:rPr>
              <a:t>后</a:t>
            </a: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cs typeface="Times New Roman" panose="02020603050405020304" pitchFamily="18" charset="0"/>
              </a:rPr>
              <a:t>项和为</a:t>
            </a:r>
            <a:r>
              <a:rPr lang="en-US" altLang="zh-CN" sz="2800" dirty="0">
                <a:solidFill>
                  <a:srgbClr val="000000"/>
                </a:solidFill>
                <a:latin typeface="Times New Roman" panose="02020603050405020304" pitchFamily="18" charset="0"/>
                <a:cs typeface="Times New Roman" panose="02020603050405020304" pitchFamily="18" charset="0"/>
              </a:rPr>
              <a:t>90,</a:t>
            </a:r>
            <a:r>
              <a:rPr lang="zh-CN" altLang="zh-CN" sz="2800" dirty="0">
                <a:solidFill>
                  <a:srgbClr val="000000"/>
                </a:solidFill>
                <a:latin typeface="Times New Roman" panose="02020603050405020304" pitchFamily="18" charset="0"/>
                <a:cs typeface="Times New Roman" panose="02020603050405020304" pitchFamily="18" charset="0"/>
              </a:rPr>
              <a:t>且前</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项和为</a:t>
            </a:r>
            <a:r>
              <a:rPr lang="en-US" altLang="zh-CN" sz="2800" dirty="0">
                <a:solidFill>
                  <a:srgbClr val="000000"/>
                </a:solidFill>
                <a:latin typeface="Times New Roman" panose="02020603050405020304" pitchFamily="18" charset="0"/>
                <a:cs typeface="Times New Roman" panose="02020603050405020304" pitchFamily="18" charset="0"/>
              </a:rPr>
              <a:t>200,</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等于</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smtClean="0">
                <a:solidFill>
                  <a:srgbClr val="000000"/>
                </a:solidFill>
                <a:latin typeface="Times New Roman" panose="02020603050405020304" pitchFamily="18" charset="0"/>
                <a:cs typeface="Times New Roman" panose="02020603050405020304" pitchFamily="18" charset="0"/>
              </a:rPr>
              <a:t>A.9</a:t>
            </a:r>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	B.10</a:t>
            </a:r>
            <a:r>
              <a:rPr lang="en-US" altLang="zh-CN" sz="2800" dirty="0">
                <a:solidFill>
                  <a:srgbClr val="000000"/>
                </a:solidFill>
                <a:latin typeface="Times New Roman" panose="02020603050405020304" pitchFamily="18" charset="0"/>
                <a:cs typeface="Times New Roman" panose="02020603050405020304" pitchFamily="18" charset="0"/>
              </a:rPr>
              <a:t>	</a:t>
            </a:r>
            <a:endParaRPr lang="en-US" altLang="zh-CN" sz="2800" dirty="0" smtClean="0">
              <a:solidFill>
                <a:srgbClr val="000000"/>
              </a:solidFill>
              <a:latin typeface="Times New Roman" panose="02020603050405020304" pitchFamily="18" charset="0"/>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smtClean="0">
                <a:solidFill>
                  <a:srgbClr val="000000"/>
                </a:solidFill>
                <a:latin typeface="Times New Roman" panose="02020603050405020304" pitchFamily="18" charset="0"/>
                <a:cs typeface="Times New Roman" panose="02020603050405020304" pitchFamily="18" charset="0"/>
              </a:rPr>
              <a:t>C.11</a:t>
            </a:r>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	D.12</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已知等差数列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的前</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项和为</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若</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10,</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10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40,</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15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A.80	</a:t>
            </a:r>
            <a:r>
              <a:rPr lang="en-US" altLang="zh-CN" sz="2800" dirty="0" smtClean="0">
                <a:solidFill>
                  <a:srgbClr val="000000"/>
                </a:solidFill>
                <a:latin typeface="Times New Roman" panose="02020603050405020304" pitchFamily="18" charset="0"/>
                <a:cs typeface="Times New Roman" panose="02020603050405020304" pitchFamily="18" charset="0"/>
              </a:rPr>
              <a:t>	B.90</a:t>
            </a:r>
            <a:r>
              <a:rPr lang="en-US" altLang="zh-CN" sz="2800" dirty="0">
                <a:solidFill>
                  <a:srgbClr val="000000"/>
                </a:solidFill>
                <a:latin typeface="Times New Roman" panose="02020603050405020304" pitchFamily="18" charset="0"/>
                <a:cs typeface="Times New Roman" panose="02020603050405020304" pitchFamily="18" charset="0"/>
              </a:rPr>
              <a:t>	</a:t>
            </a:r>
            <a:endParaRPr lang="en-US" altLang="zh-CN" sz="2800" dirty="0" smtClean="0">
              <a:solidFill>
                <a:srgbClr val="000000"/>
              </a:solidFill>
              <a:latin typeface="Times New Roman" panose="02020603050405020304" pitchFamily="18" charset="0"/>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smtClean="0">
                <a:solidFill>
                  <a:srgbClr val="000000"/>
                </a:solidFill>
                <a:latin typeface="Times New Roman" panose="02020603050405020304" pitchFamily="18" charset="0"/>
                <a:cs typeface="Times New Roman" panose="02020603050405020304" pitchFamily="18" charset="0"/>
              </a:rPr>
              <a:t>C.100</a:t>
            </a:r>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	D.110</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cs typeface="Times New Roman" panose="02020603050405020304" pitchFamily="18" charset="0"/>
              </a:rPr>
              <a:t>若一个等差数列的前</a:t>
            </a:r>
            <a:r>
              <a:rPr lang="en-US" altLang="zh-CN" sz="2800" dirty="0">
                <a:solidFill>
                  <a:srgbClr val="000000"/>
                </a:solidFill>
                <a:latin typeface="Times New Roman" panose="02020603050405020304" pitchFamily="18" charset="0"/>
                <a:cs typeface="Times New Roman" panose="02020603050405020304" pitchFamily="18" charset="0"/>
              </a:rPr>
              <a:t>12</a:t>
            </a:r>
            <a:r>
              <a:rPr lang="zh-CN" altLang="zh-CN" sz="2800" dirty="0">
                <a:solidFill>
                  <a:srgbClr val="000000"/>
                </a:solidFill>
                <a:latin typeface="Times New Roman" panose="02020603050405020304" pitchFamily="18" charset="0"/>
                <a:cs typeface="Times New Roman" panose="02020603050405020304" pitchFamily="18" charset="0"/>
              </a:rPr>
              <a:t>项的和为</a:t>
            </a:r>
            <a:r>
              <a:rPr lang="en-US" altLang="zh-CN" sz="2800" dirty="0">
                <a:solidFill>
                  <a:srgbClr val="000000"/>
                </a:solidFill>
                <a:latin typeface="Times New Roman" panose="02020603050405020304" pitchFamily="18" charset="0"/>
                <a:cs typeface="Times New Roman" panose="02020603050405020304" pitchFamily="18" charset="0"/>
              </a:rPr>
              <a:t>354,</a:t>
            </a:r>
            <a:r>
              <a:rPr lang="zh-CN" altLang="zh-CN" sz="2800" dirty="0">
                <a:solidFill>
                  <a:srgbClr val="000000"/>
                </a:solidFill>
                <a:latin typeface="Times New Roman" panose="02020603050405020304" pitchFamily="18" charset="0"/>
                <a:cs typeface="Times New Roman" panose="02020603050405020304" pitchFamily="18" charset="0"/>
              </a:rPr>
              <a:t>前</a:t>
            </a:r>
            <a:r>
              <a:rPr lang="en-US" altLang="zh-CN" sz="2800" dirty="0">
                <a:solidFill>
                  <a:srgbClr val="000000"/>
                </a:solidFill>
                <a:latin typeface="Times New Roman" panose="02020603050405020304" pitchFamily="18" charset="0"/>
                <a:cs typeface="Times New Roman" panose="02020603050405020304" pitchFamily="18" charset="0"/>
              </a:rPr>
              <a:t>12</a:t>
            </a:r>
            <a:r>
              <a:rPr lang="zh-CN" altLang="zh-CN" sz="2800" dirty="0">
                <a:solidFill>
                  <a:srgbClr val="000000"/>
                </a:solidFill>
                <a:latin typeface="Times New Roman" panose="02020603050405020304" pitchFamily="18" charset="0"/>
                <a:cs typeface="Times New Roman" panose="02020603050405020304" pitchFamily="18" charset="0"/>
              </a:rPr>
              <a:t>项中偶数项的和与奇数项的和之比为</a:t>
            </a:r>
            <a:r>
              <a:rPr lang="en-US" altLang="zh-CN" sz="2800" dirty="0">
                <a:solidFill>
                  <a:srgbClr val="000000"/>
                </a:solidFill>
                <a:latin typeface="Times New Roman" panose="02020603050405020304" pitchFamily="18" charset="0"/>
                <a:cs typeface="Times New Roman" panose="02020603050405020304" pitchFamily="18" charset="0"/>
              </a:rPr>
              <a:t>32</a:t>
            </a:r>
            <a:r>
              <a:rPr lang="zh-CN" altLang="zh-CN" sz="2800" dirty="0">
                <a:solidFill>
                  <a:srgbClr val="000000"/>
                </a:solidFill>
                <a:latin typeface="NEU-BZ-S92"/>
                <a:cs typeface="宋体" panose="02010600030101010101" pitchFamily="2" charset="-122"/>
              </a:rPr>
              <a:t>∶</a:t>
            </a:r>
            <a:r>
              <a:rPr lang="en-US" altLang="zh-CN" sz="2800" dirty="0">
                <a:solidFill>
                  <a:srgbClr val="000000"/>
                </a:solidFill>
                <a:latin typeface="Times New Roman" panose="02020603050405020304" pitchFamily="18" charset="0"/>
                <a:cs typeface="Times New Roman" panose="02020603050405020304" pitchFamily="18" charset="0"/>
              </a:rPr>
              <a:t>27,</a:t>
            </a:r>
            <a:r>
              <a:rPr lang="zh-CN" altLang="zh-CN" sz="2800" dirty="0">
                <a:solidFill>
                  <a:srgbClr val="000000"/>
                </a:solidFill>
                <a:latin typeface="Times New Roman" panose="02020603050405020304" pitchFamily="18" charset="0"/>
                <a:cs typeface="Times New Roman" panose="02020603050405020304" pitchFamily="18" charset="0"/>
              </a:rPr>
              <a:t>则该数列的公差</a:t>
            </a:r>
            <a:r>
              <a:rPr lang="en-US" altLang="zh-CN" sz="2800" i="1" dirty="0">
                <a:solidFill>
                  <a:srgbClr val="000000"/>
                </a:solidFill>
                <a:latin typeface="Times New Roman" panose="02020603050405020304" pitchFamily="18" charset="0"/>
                <a:cs typeface="Times New Roman" panose="02020603050405020304" pitchFamily="18" charset="0"/>
              </a:rPr>
              <a:t>d=</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宋体" panose="02010600030101010101" pitchFamily="2" charset="-122"/>
                <a:ea typeface="方正书宋_GBK"/>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296145"/>
            <a:ext cx="11430000" cy="171252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依题意</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30,</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90,</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120,</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40,</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219423302"/>
              </p:ext>
            </p:extLst>
          </p:nvPr>
        </p:nvGraphicFramePr>
        <p:xfrm>
          <a:off x="35010" y="1930025"/>
          <a:ext cx="11430000" cy="1003297"/>
        </p:xfrm>
        <a:graphic>
          <a:graphicData uri="http://schemas.openxmlformats.org/presentationml/2006/ole">
            <mc:AlternateContent xmlns:mc="http://schemas.openxmlformats.org/markup-compatibility/2006">
              <mc:Choice xmlns:v="urn:schemas-microsoft-com:vml" Requires="v">
                <p:oleObj spid="_x0000_s5137" name="文档" r:id="rId3" imgW="4520786" imgH="396823" progId="Word.Document.12">
                  <p:embed/>
                </p:oleObj>
              </mc:Choice>
              <mc:Fallback>
                <p:oleObj name="文档" r:id="rId3" imgW="4520786" imgH="396823" progId="Word.Document.12">
                  <p:embed/>
                  <p:pic>
                    <p:nvPicPr>
                      <p:cNvPr id="0" name=""/>
                      <p:cNvPicPr/>
                      <p:nvPr/>
                    </p:nvPicPr>
                    <p:blipFill>
                      <a:blip r:embed="rId4"/>
                      <a:stretch>
                        <a:fillRect/>
                      </a:stretch>
                    </p:blipFill>
                    <p:spPr>
                      <a:xfrm>
                        <a:off x="35010" y="1930025"/>
                        <a:ext cx="11430000" cy="1003297"/>
                      </a:xfrm>
                      <a:prstGeom prst="rect">
                        <a:avLst/>
                      </a:prstGeom>
                    </p:spPr>
                  </p:pic>
                </p:oleObj>
              </mc:Fallback>
            </mc:AlternateContent>
          </a:graphicData>
        </a:graphic>
      </p:graphicFrame>
      <p:sp>
        <p:nvSpPr>
          <p:cNvPr id="4" name="矩形 3"/>
          <p:cNvSpPr>
            <a:spLocks noChangeAspect="1"/>
          </p:cNvSpPr>
          <p:nvPr/>
        </p:nvSpPr>
        <p:spPr>
          <a:xfrm>
            <a:off x="381000" y="2756287"/>
            <a:ext cx="11430000" cy="2832827"/>
          </a:xfrm>
          <a:prstGeom prst="rect">
            <a:avLst/>
          </a:prstGeom>
        </p:spPr>
        <p:txBody>
          <a:bodyPr>
            <a:spAutoFit/>
          </a:bodyPr>
          <a:lstStyle/>
          <a:p>
            <a:pPr indent="279400">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在等差数列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前</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项和为</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5</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10</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5</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15</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10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成等差数列</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又</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10,</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10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40,</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dirty="0">
                <a:solidFill>
                  <a:srgbClr val="000000"/>
                </a:solidFill>
                <a:latin typeface="Times New Roman" panose="02020603050405020304" pitchFamily="18" charset="0"/>
                <a:cs typeface="Times New Roman" panose="02020603050405020304" pitchFamily="18" charset="0"/>
              </a:rPr>
              <a:t>10,30,</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15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成等差数列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15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50,</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15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90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8499633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5" name="组合 4"/>
          <p:cNvGrpSpPr/>
          <p:nvPr/>
        </p:nvGrpSpPr>
        <p:grpSpPr>
          <a:xfrm>
            <a:off x="43248" y="323861"/>
            <a:ext cx="11430000" cy="5132997"/>
            <a:chOff x="43248" y="323861"/>
            <a:chExt cx="11430000" cy="5132997"/>
          </a:xfrm>
        </p:grpSpPr>
        <p:sp>
          <p:nvSpPr>
            <p:cNvPr id="2" name="矩形 1"/>
            <p:cNvSpPr>
              <a:spLocks noChangeAspect="1"/>
            </p:cNvSpPr>
            <p:nvPr/>
          </p:nvSpPr>
          <p:spPr>
            <a:xfrm>
              <a:off x="381000" y="323861"/>
              <a:ext cx="5915402"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方法一</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设等差数列的首项为</a:t>
              </a:r>
              <a:r>
                <a:rPr lang="en-US" altLang="zh-CN" sz="2800" i="1" dirty="0" smtClean="0">
                  <a:solidFill>
                    <a:srgbClr val="000000"/>
                  </a:solidFill>
                  <a:latin typeface="Times New Roman" panose="02020603050405020304" pitchFamily="18" charset="0"/>
                  <a:cs typeface="Times New Roman" panose="02020603050405020304" pitchFamily="18" charset="0"/>
                </a:rPr>
                <a:t>a</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1</a:t>
              </a:r>
              <a:r>
                <a:rPr lang="en-US" altLang="zh-CN"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81786741"/>
                </p:ext>
              </p:extLst>
            </p:nvPr>
          </p:nvGraphicFramePr>
          <p:xfrm>
            <a:off x="43248" y="943395"/>
            <a:ext cx="11430000" cy="4513463"/>
          </p:xfrm>
          <a:graphic>
            <a:graphicData uri="http://schemas.openxmlformats.org/presentationml/2006/ole">
              <mc:AlternateContent xmlns:mc="http://schemas.openxmlformats.org/markup-compatibility/2006">
                <mc:Choice xmlns:v="urn:schemas-microsoft-com:vml" Requires="v">
                  <p:oleObj spid="_x0000_s6160" name="文档" r:id="rId3" imgW="4520786" imgH="1785162" progId="Word.Document.12">
                    <p:embed/>
                  </p:oleObj>
                </mc:Choice>
                <mc:Fallback>
                  <p:oleObj name="文档" r:id="rId3" imgW="4520786" imgH="1785162" progId="Word.Document.12">
                    <p:embed/>
                    <p:pic>
                      <p:nvPicPr>
                        <p:cNvPr id="0" name=""/>
                        <p:cNvPicPr/>
                        <p:nvPr/>
                      </p:nvPicPr>
                      <p:blipFill>
                        <a:blip r:embed="rId4"/>
                        <a:stretch>
                          <a:fillRect/>
                        </a:stretch>
                      </p:blipFill>
                      <p:spPr>
                        <a:xfrm>
                          <a:off x="43248" y="943395"/>
                          <a:ext cx="11430000" cy="4513463"/>
                        </a:xfrm>
                        <a:prstGeom prst="rect">
                          <a:avLst/>
                        </a:prstGeom>
                      </p:spPr>
                    </p:pic>
                  </p:oleObj>
                </mc:Fallback>
              </mc:AlternateContent>
            </a:graphicData>
          </a:graphic>
        </p:graphicFrame>
      </p:grpSp>
      <p:sp>
        <p:nvSpPr>
          <p:cNvPr id="4" name="矩形 3"/>
          <p:cNvSpPr>
            <a:spLocks noChangeAspect="1"/>
          </p:cNvSpPr>
          <p:nvPr/>
        </p:nvSpPr>
        <p:spPr>
          <a:xfrm>
            <a:off x="381000" y="5349764"/>
            <a:ext cx="4009431"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(1)B</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(2)B</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3)5 </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5643540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5" name="组合 4"/>
          <p:cNvGrpSpPr/>
          <p:nvPr/>
        </p:nvGrpSpPr>
        <p:grpSpPr>
          <a:xfrm>
            <a:off x="43248" y="702541"/>
            <a:ext cx="11767752" cy="3672960"/>
            <a:chOff x="43248" y="1468277"/>
            <a:chExt cx="11767752" cy="3672960"/>
          </a:xfrm>
        </p:grpSpPr>
        <p:sp>
          <p:nvSpPr>
            <p:cNvPr id="2" name="矩形 1"/>
            <p:cNvSpPr>
              <a:spLocks noChangeAspect="1"/>
            </p:cNvSpPr>
            <p:nvPr/>
          </p:nvSpPr>
          <p:spPr>
            <a:xfrm>
              <a:off x="381000" y="1468277"/>
              <a:ext cx="11430000" cy="592213"/>
            </a:xfrm>
            <a:prstGeom prst="rect">
              <a:avLst/>
            </a:prstGeom>
          </p:spPr>
          <p:txBody>
            <a:bodyPr>
              <a:spAutoFit/>
            </a:bodyPr>
            <a:lstStyle/>
            <a:p>
              <a:pPr indent="279400">
                <a:lnSpc>
                  <a:spcPct val="130000"/>
                </a:lnSpc>
                <a:tabLst>
                  <a:tab pos="1188085" algn="l"/>
                  <a:tab pos="2163445" algn="l"/>
                  <a:tab pos="3142615" algn="l"/>
                  <a:tab pos="4190365" algn="l"/>
                </a:tabLst>
              </a:pPr>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反思感悟 </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巧妙</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应用等差数列的前</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项和</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的</a:t>
              </a:r>
              <a:r>
                <a:rPr lang="zh-CN" altLang="zh-CN" sz="2800" dirty="0" smtClean="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性质</a:t>
              </a:r>
              <a:endParaRPr lang="zh-CN" altLang="zh-CN" sz="2800" dirty="0">
                <a:solidFill>
                  <a:srgbClr val="000000"/>
                </a:solidFill>
                <a:effectLst/>
                <a:latin typeface="NEU-BZ-S92"/>
                <a:ea typeface="方正书宋_GBK"/>
                <a:cs typeface="Times New Roman" panose="02020603050405020304" pitchFamily="18" charset="0"/>
              </a:endParaRPr>
            </a:p>
          </p:txBody>
        </p:sp>
        <p:sp>
          <p:nvSpPr>
            <p:cNvPr id="3" name="矩形 2"/>
            <p:cNvSpPr>
              <a:spLocks noChangeAspect="1"/>
            </p:cNvSpPr>
            <p:nvPr/>
          </p:nvSpPr>
          <p:spPr>
            <a:xfrm>
              <a:off x="381000" y="2868564"/>
              <a:ext cx="11430000" cy="227267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在等差数列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若</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m</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m</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m</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则</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m+n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m+n</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在等差数列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若</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m</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则</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m+n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在等差数列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公差为</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前</a:t>
              </a:r>
              <a:r>
                <a:rPr lang="en-US" altLang="zh-CN" sz="2800" i="1" dirty="0">
                  <a:solidFill>
                    <a:srgbClr val="000000"/>
                  </a:solidFill>
                  <a:latin typeface="Times New Roman" panose="02020603050405020304" pitchFamily="18" charset="0"/>
                  <a:cs typeface="Times New Roman" panose="02020603050405020304" pitchFamily="18" charset="0"/>
                </a:rPr>
                <a:t>k</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项的和为</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i="1" baseline="-25000" dirty="0">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baseline="-25000" dirty="0">
                  <a:solidFill>
                    <a:srgbClr val="000000"/>
                  </a:solidFill>
                  <a:latin typeface="Times New Roman" panose="02020603050405020304" pitchFamily="18" charset="0"/>
                  <a:cs typeface="Times New Roman" panose="02020603050405020304" pitchFamily="18" charset="0"/>
                </a:rPr>
                <a:t>k</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i="1" baseline="-25000" dirty="0">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i="1" baseline="-25000" dirty="0">
                  <a:solidFill>
                    <a:srgbClr val="000000"/>
                  </a:solidFill>
                  <a:latin typeface="Times New Roman" panose="02020603050405020304" pitchFamily="18" charset="0"/>
                  <a:cs typeface="Times New Roman" panose="02020603050405020304" pitchFamily="18" charset="0"/>
                </a:rPr>
                <a:t>k</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baseline="-25000" dirty="0">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仿宋" panose="02010609060101010101" pitchFamily="49" charset="-122"/>
                  <a:ea typeface="方正书宋_GBK"/>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mk</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a:t>
              </a:r>
              <a:r>
                <a:rPr lang="en-US" altLang="zh-CN" sz="2800" i="1" baseline="-25000" dirty="0">
                  <a:solidFill>
                    <a:srgbClr val="000000"/>
                  </a:solidFill>
                  <a:latin typeface="Times New Roman" panose="02020603050405020304" pitchFamily="18" charset="0"/>
                  <a:cs typeface="Times New Roman" panose="02020603050405020304" pitchFamily="18" charset="0"/>
                </a:rPr>
                <a:t>m-</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baseline="-25000" dirty="0">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仿宋" panose="02010609060101010101" pitchFamily="49" charset="-122"/>
                  <a:ea typeface="方正书宋_GBK"/>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构成公差为</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d</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的等差数列</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052485099"/>
                </p:ext>
              </p:extLst>
            </p:nvPr>
          </p:nvGraphicFramePr>
          <p:xfrm>
            <a:off x="43248" y="2028779"/>
            <a:ext cx="11430000" cy="1003297"/>
          </p:xfrm>
          <a:graphic>
            <a:graphicData uri="http://schemas.openxmlformats.org/presentationml/2006/ole">
              <mc:AlternateContent xmlns:mc="http://schemas.openxmlformats.org/markup-compatibility/2006">
                <mc:Choice xmlns:v="urn:schemas-microsoft-com:vml" Requires="v">
                  <p:oleObj spid="_x0000_s7184" name="文档" r:id="rId3" imgW="4520786" imgH="396823" progId="Word.Document.12">
                    <p:embed/>
                  </p:oleObj>
                </mc:Choice>
                <mc:Fallback>
                  <p:oleObj name="文档" r:id="rId3" imgW="4520786" imgH="396823" progId="Word.Document.12">
                    <p:embed/>
                    <p:pic>
                      <p:nvPicPr>
                        <p:cNvPr id="0" name=""/>
                        <p:cNvPicPr/>
                        <p:nvPr/>
                      </p:nvPicPr>
                      <p:blipFill>
                        <a:blip r:embed="rId4"/>
                        <a:stretch>
                          <a:fillRect/>
                        </a:stretch>
                      </p:blipFill>
                      <p:spPr>
                        <a:xfrm>
                          <a:off x="43248" y="2028779"/>
                          <a:ext cx="11430000" cy="1003297"/>
                        </a:xfrm>
                        <a:prstGeom prst="rect">
                          <a:avLst/>
                        </a:prstGeom>
                      </p:spPr>
                    </p:pic>
                  </p:oleObj>
                </mc:Fallback>
              </mc:AlternateContent>
            </a:graphicData>
          </a:graphic>
        </p:graphicFrame>
      </p:grpSp>
    </p:spTree>
    <p:extLst>
      <p:ext uri="{BB962C8B-B14F-4D97-AF65-F5344CB8AC3E}">
        <p14:creationId xmlns:p14="http://schemas.microsoft.com/office/powerpoint/2010/main" val="4393000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125828"/>
            <a:ext cx="11430000" cy="625402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在项数为</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的等差数列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所有奇数项的和为</a:t>
            </a:r>
            <a:r>
              <a:rPr lang="en-US" altLang="zh-CN" sz="2800" dirty="0">
                <a:solidFill>
                  <a:srgbClr val="000000"/>
                </a:solidFill>
                <a:latin typeface="Times New Roman" panose="02020603050405020304" pitchFamily="18" charset="0"/>
                <a:cs typeface="Times New Roman" panose="02020603050405020304" pitchFamily="18" charset="0"/>
              </a:rPr>
              <a:t>165,</a:t>
            </a:r>
            <a:r>
              <a:rPr lang="zh-CN" altLang="zh-CN" sz="2800" dirty="0">
                <a:solidFill>
                  <a:srgbClr val="000000"/>
                </a:solidFill>
                <a:latin typeface="Times New Roman" panose="02020603050405020304" pitchFamily="18" charset="0"/>
                <a:cs typeface="Times New Roman" panose="02020603050405020304" pitchFamily="18" charset="0"/>
              </a:rPr>
              <a:t>所有偶数项的和为</a:t>
            </a:r>
            <a:r>
              <a:rPr lang="en-US" altLang="zh-CN" sz="2800" dirty="0">
                <a:solidFill>
                  <a:srgbClr val="000000"/>
                </a:solidFill>
                <a:latin typeface="Times New Roman" panose="02020603050405020304" pitchFamily="18" charset="0"/>
                <a:cs typeface="Times New Roman" panose="02020603050405020304" pitchFamily="18" charset="0"/>
              </a:rPr>
              <a:t>150,</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的值为</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宋体" panose="02010600030101010101" pitchFamily="2" charset="-122"/>
                <a:ea typeface="方正书宋_GBK"/>
                <a:cs typeface="Times New Roman" panose="02020603050405020304" pitchFamily="18" charset="0"/>
              </a:rPr>
              <a:t> </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在等差数列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若</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8</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12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17</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18</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19</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20</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cs typeface="Times New Roman" panose="02020603050405020304" pitchFamily="18" charset="0"/>
              </a:rPr>
              <a:t>有一个共有</a:t>
            </a:r>
            <a:r>
              <a:rPr lang="en-US" altLang="zh-CN" sz="2800" dirty="0">
                <a:solidFill>
                  <a:srgbClr val="000000"/>
                </a:solidFill>
                <a:latin typeface="Times New Roman" panose="02020603050405020304" pitchFamily="18" charset="0"/>
                <a:cs typeface="Times New Roman" panose="02020603050405020304" pitchFamily="18" charset="0"/>
              </a:rPr>
              <a:t>100</a:t>
            </a:r>
            <a:r>
              <a:rPr lang="zh-CN" altLang="zh-CN" sz="2800" dirty="0">
                <a:solidFill>
                  <a:srgbClr val="000000"/>
                </a:solidFill>
                <a:latin typeface="Times New Roman" panose="02020603050405020304" pitchFamily="18" charset="0"/>
                <a:cs typeface="Times New Roman" panose="02020603050405020304" pitchFamily="18" charset="0"/>
              </a:rPr>
              <a:t>项的等差数列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其奇数项之和与偶数项之和分别为</a:t>
            </a:r>
            <a:r>
              <a:rPr lang="en-US" altLang="zh-CN" sz="2800" dirty="0">
                <a:solidFill>
                  <a:srgbClr val="000000"/>
                </a:solidFill>
                <a:latin typeface="Times New Roman" panose="02020603050405020304" pitchFamily="18" charset="0"/>
                <a:cs typeface="Times New Roman" panose="02020603050405020304" pitchFamily="18" charset="0"/>
              </a:rPr>
              <a:t>100</a:t>
            </a:r>
            <a:r>
              <a:rPr lang="zh-CN" altLang="zh-CN" sz="2800" dirty="0">
                <a:solidFill>
                  <a:srgbClr val="000000"/>
                </a:solidFill>
                <a:latin typeface="Times New Roman" panose="02020603050405020304" pitchFamily="18" charset="0"/>
                <a:cs typeface="Times New Roman" panose="02020603050405020304" pitchFamily="18" charset="0"/>
              </a:rPr>
              <a:t>和</a:t>
            </a:r>
            <a:r>
              <a:rPr lang="en-US" altLang="zh-CN" sz="2800" dirty="0">
                <a:solidFill>
                  <a:srgbClr val="000000"/>
                </a:solidFill>
                <a:latin typeface="Times New Roman" panose="02020603050405020304" pitchFamily="18" charset="0"/>
                <a:cs typeface="Times New Roman" panose="02020603050405020304" pitchFamily="18" charset="0"/>
              </a:rPr>
              <a:t>200,</a:t>
            </a:r>
            <a:r>
              <a:rPr lang="zh-CN" altLang="zh-CN" sz="2800" dirty="0">
                <a:solidFill>
                  <a:srgbClr val="000000"/>
                </a:solidFill>
                <a:latin typeface="Times New Roman" panose="02020603050405020304" pitchFamily="18" charset="0"/>
                <a:cs typeface="Times New Roman" panose="02020603050405020304" pitchFamily="18" charset="0"/>
              </a:rPr>
              <a:t>则公差</a:t>
            </a:r>
            <a:r>
              <a:rPr lang="en-US" altLang="zh-CN" sz="2800" i="1" dirty="0">
                <a:solidFill>
                  <a:srgbClr val="000000"/>
                </a:solidFill>
                <a:latin typeface="Times New Roman" panose="02020603050405020304" pitchFamily="18" charset="0"/>
                <a:cs typeface="Times New Roman" panose="02020603050405020304" pitchFamily="18" charset="0"/>
              </a:rPr>
              <a:t>d=</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宋体" panose="02010600030101010101" pitchFamily="2" charset="-122"/>
                <a:ea typeface="方正书宋_GBK"/>
                <a:cs typeface="Times New Roman" panose="02020603050405020304" pitchFamily="18" charset="0"/>
              </a:rPr>
              <a:t> </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smtClean="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等差数列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项</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S</a:t>
            </a:r>
            <a:r>
              <a:rPr lang="zh-CN" altLang="zh-CN" sz="2800" baseline="-25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奇</a:t>
            </a:r>
            <a:r>
              <a:rPr lang="en-US" altLang="zh-CN" sz="2800" i="1" dirty="0">
                <a:solidFill>
                  <a:srgbClr val="000000"/>
                </a:solidFill>
                <a:latin typeface="Times New Roman" panose="02020603050405020304" pitchFamily="18" charset="0"/>
                <a:cs typeface="Times New Roman" panose="02020603050405020304" pitchFamily="18" charset="0"/>
              </a:rPr>
              <a:t>-S</a:t>
            </a:r>
            <a:r>
              <a:rPr lang="zh-CN" altLang="zh-CN" sz="2800" baseline="-25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偶</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15</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又</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dirty="0">
                <a:solidFill>
                  <a:srgbClr val="000000"/>
                </a:solidFill>
                <a:latin typeface="Times New Roman" panose="02020603050405020304" pitchFamily="18" charset="0"/>
                <a:cs typeface="Times New Roman" panose="02020603050405020304" pitchFamily="18" charset="0"/>
              </a:rPr>
              <a:t>165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150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1)×15,</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10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由等差数列的性质</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知</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4</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8</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4</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12</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8</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楷体" panose="02010609060101010101" pitchFamily="49" charset="-122"/>
                <a:ea typeface="方正书宋_GBK"/>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也构成等差数列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不妨设为</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b</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且</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8</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于是可求得</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12</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8</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7,</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9,</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12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9,</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17</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18</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19</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20</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9</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27452258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6" end="6"/>
                                            </p:txEl>
                                          </p:spTgt>
                                        </p:tgtEl>
                                        <p:attrNameLst>
                                          <p:attrName>style.visibility</p:attrName>
                                        </p:attrNameLst>
                                      </p:cBhvr>
                                      <p:to>
                                        <p:strVal val="visible"/>
                                      </p:to>
                                    </p:set>
                                    <p:animEffect transition="in" filter="barn(inVertical)">
                                      <p:cBhvr>
                                        <p:cTn id="7" dur="500"/>
                                        <p:tgtEl>
                                          <p:spTgt spid="2">
                                            <p:txEl>
                                              <p:pRg st="6" end="6"/>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2">
                                            <p:txEl>
                                              <p:pRg st="3" end="3"/>
                                            </p:txEl>
                                          </p:spTgt>
                                        </p:tgtEl>
                                        <p:attrNameLst>
                                          <p:attrName>style.visibility</p:attrName>
                                        </p:attrNameLst>
                                      </p:cBhvr>
                                      <p:to>
                                        <p:strVal val="visible"/>
                                      </p:to>
                                    </p:set>
                                    <p:animEffect transition="in" filter="barn(inVertical)">
                                      <p:cBhvr>
                                        <p:cTn id="10" dur="500"/>
                                        <p:tgtEl>
                                          <p:spTgt spid="2">
                                            <p:txEl>
                                              <p:pRg st="3" end="3"/>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animEffect transition="in" filter="barn(inVertical)">
                                      <p:cBhvr>
                                        <p:cTn id="13" dur="500"/>
                                        <p:tgtEl>
                                          <p:spTgt spid="2">
                                            <p:txEl>
                                              <p:pRg st="4" end="4"/>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2">
                                            <p:txEl>
                                              <p:pRg st="5" end="5"/>
                                            </p:txEl>
                                          </p:spTgt>
                                        </p:tgtEl>
                                        <p:attrNameLst>
                                          <p:attrName>style.visibility</p:attrName>
                                        </p:attrNameLst>
                                      </p:cBhvr>
                                      <p:to>
                                        <p:strVal val="visible"/>
                                      </p:to>
                                    </p:set>
                                    <p:animEffect transition="in" filter="barn(inVertical)">
                                      <p:cBhvr>
                                        <p:cTn id="16"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300468"/>
            <a:ext cx="11430000" cy="171252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方法一</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S</a:t>
            </a:r>
            <a:r>
              <a:rPr lang="zh-CN" altLang="zh-CN" sz="2800" baseline="-25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偶</a:t>
            </a:r>
            <a:r>
              <a:rPr lang="en-US" altLang="zh-CN" sz="2800" i="1" dirty="0">
                <a:solidFill>
                  <a:srgbClr val="000000"/>
                </a:solidFill>
                <a:latin typeface="Times New Roman" panose="02020603050405020304" pitchFamily="18" charset="0"/>
                <a:cs typeface="Times New Roman" panose="02020603050405020304" pitchFamily="18" charset="0"/>
              </a:rPr>
              <a:t>-S</a:t>
            </a:r>
            <a:r>
              <a:rPr lang="zh-CN" altLang="zh-CN" sz="2800" baseline="-25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奇</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50</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100,</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方法二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设等差数列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的公差为</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则奇数项、偶数项分别构成等差数列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公差为</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d.</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930078139"/>
              </p:ext>
            </p:extLst>
          </p:nvPr>
        </p:nvGraphicFramePr>
        <p:xfrm>
          <a:off x="35010" y="1963560"/>
          <a:ext cx="11430000" cy="3008976"/>
        </p:xfrm>
        <a:graphic>
          <a:graphicData uri="http://schemas.openxmlformats.org/presentationml/2006/ole">
            <mc:AlternateContent xmlns:mc="http://schemas.openxmlformats.org/markup-compatibility/2006">
              <mc:Choice xmlns:v="urn:schemas-microsoft-com:vml" Requires="v">
                <p:oleObj spid="_x0000_s8208" name="文档" r:id="rId3" imgW="4520786" imgH="1190108" progId="Word.Document.12">
                  <p:embed/>
                </p:oleObj>
              </mc:Choice>
              <mc:Fallback>
                <p:oleObj name="文档" r:id="rId3" imgW="4520786" imgH="1190108" progId="Word.Document.12">
                  <p:embed/>
                  <p:pic>
                    <p:nvPicPr>
                      <p:cNvPr id="0" name=""/>
                      <p:cNvPicPr/>
                      <p:nvPr/>
                    </p:nvPicPr>
                    <p:blipFill>
                      <a:blip r:embed="rId4"/>
                      <a:stretch>
                        <a:fillRect/>
                      </a:stretch>
                    </p:blipFill>
                    <p:spPr>
                      <a:xfrm>
                        <a:off x="35010" y="1963560"/>
                        <a:ext cx="11430000" cy="3008976"/>
                      </a:xfrm>
                      <a:prstGeom prst="rect">
                        <a:avLst/>
                      </a:prstGeom>
                    </p:spPr>
                  </p:pic>
                </p:oleObj>
              </mc:Fallback>
            </mc:AlternateContent>
          </a:graphicData>
        </a:graphic>
      </p:graphicFrame>
      <p:sp>
        <p:nvSpPr>
          <p:cNvPr id="4" name="矩形 3"/>
          <p:cNvSpPr>
            <a:spLocks noChangeAspect="1"/>
          </p:cNvSpPr>
          <p:nvPr/>
        </p:nvSpPr>
        <p:spPr>
          <a:xfrm>
            <a:off x="381000" y="4853284"/>
            <a:ext cx="4608954"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(1)10</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(2)9</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9</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3)2 </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9932925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探究二</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求等差数列前</a:t>
                </a:r>
                <a:r>
                  <a:rPr lang="en-US" altLang="zh-CN" sz="2800" b="1" i="1" dirty="0">
                    <a:solidFill>
                      <a:schemeClr val="bg1"/>
                    </a:solidFill>
                    <a:latin typeface="Times New Roman" panose="02020603050405020304" pitchFamily="18" charset="0"/>
                    <a:cs typeface="Times New Roman" panose="02020603050405020304" pitchFamily="18" charset="0"/>
                  </a:rPr>
                  <a:t>n</a:t>
                </a:r>
                <a:r>
                  <a:rPr lang="zh-CN" altLang="en-US" sz="2800" b="1" dirty="0">
                    <a:solidFill>
                      <a:schemeClr val="bg1"/>
                    </a:solidFill>
                  </a:rPr>
                  <a:t>项和的最值</a:t>
                </a:r>
              </a:p>
            </p:txBody>
          </p:sp>
        </p:grpSp>
      </p:grpSp>
      <p:sp>
        <p:nvSpPr>
          <p:cNvPr id="2" name="矩形 1"/>
          <p:cNvSpPr>
            <a:spLocks noChangeAspect="1"/>
          </p:cNvSpPr>
          <p:nvPr/>
        </p:nvSpPr>
        <p:spPr>
          <a:xfrm>
            <a:off x="381000" y="883843"/>
            <a:ext cx="11430000" cy="2332946"/>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在等差数列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若</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为其前</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项和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且</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25,</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17</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9</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的前多少项和最大</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解法一</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设等差数列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的公差为</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i="1"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25,</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17</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9</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i="1"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3272310166"/>
              </p:ext>
            </p:extLst>
          </p:nvPr>
        </p:nvGraphicFramePr>
        <p:xfrm>
          <a:off x="44450" y="3247656"/>
          <a:ext cx="11401425" cy="2181225"/>
        </p:xfrm>
        <a:graphic>
          <a:graphicData uri="http://schemas.openxmlformats.org/presentationml/2006/ole">
            <mc:AlternateContent xmlns:mc="http://schemas.openxmlformats.org/markup-compatibility/2006">
              <mc:Choice xmlns:v="urn:schemas-microsoft-com:vml" Requires="v">
                <p:oleObj spid="_x0000_s9233" name="文档" r:id="rId3" imgW="4510061" imgH="863229" progId="Word.Document.12">
                  <p:embed/>
                </p:oleObj>
              </mc:Choice>
              <mc:Fallback>
                <p:oleObj name="文档" r:id="rId3" imgW="4510061" imgH="863229" progId="Word.Document.12">
                  <p:embed/>
                  <p:pic>
                    <p:nvPicPr>
                      <p:cNvPr id="0" name=""/>
                      <p:cNvPicPr/>
                      <p:nvPr/>
                    </p:nvPicPr>
                    <p:blipFill>
                      <a:blip r:embed="rId4"/>
                      <a:stretch>
                        <a:fillRect/>
                      </a:stretch>
                    </p:blipFill>
                    <p:spPr>
                      <a:xfrm>
                        <a:off x="44450" y="3247656"/>
                        <a:ext cx="11401425" cy="2181225"/>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par>
                                <p:cTn id="8" presetID="16" presetClass="entr" presetSubtype="21"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barn(inVertical)">
                                      <p:cBhvr>
                                        <p:cTn id="10" dur="500"/>
                                        <p:tgtEl>
                                          <p:spTgt spid="2">
                                            <p:txEl>
                                              <p:pRg st="1" end="1"/>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barn(inVertical)">
                                      <p:cBhvr>
                                        <p:cTn id="13"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31173" y="126279"/>
            <a:ext cx="11779827" cy="6155712"/>
            <a:chOff x="31173" y="126279"/>
            <a:chExt cx="11779827" cy="6155712"/>
          </a:xfrm>
        </p:grpSpPr>
        <p:pic>
          <p:nvPicPr>
            <p:cNvPr id="4" name="YMX2TRAX09.eps" descr="id:2147503790;FounderCES"/>
            <p:cNvPicPr>
              <a:picLocks noChangeAspect="1"/>
            </p:cNvPicPr>
            <p:nvPr/>
          </p:nvPicPr>
          <p:blipFill>
            <a:blip r:embed="rId3">
              <a:clrChange>
                <a:clrFrom>
                  <a:srgbClr val="FFFFFF"/>
                </a:clrFrom>
                <a:clrTo>
                  <a:srgbClr val="FFFFFF">
                    <a:alpha val="0"/>
                  </a:srgbClr>
                </a:clrTo>
              </a:clrChange>
            </a:blip>
            <a:stretch>
              <a:fillRect/>
            </a:stretch>
          </p:blipFill>
          <p:spPr>
            <a:xfrm>
              <a:off x="4440568" y="2903132"/>
              <a:ext cx="3310864" cy="3378859"/>
            </a:xfrm>
            <a:prstGeom prst="rect">
              <a:avLst/>
            </a:prstGeom>
          </p:spPr>
        </p:pic>
        <p:sp>
          <p:nvSpPr>
            <p:cNvPr id="2" name="矩形 1"/>
            <p:cNvSpPr>
              <a:spLocks noChangeAspect="1"/>
            </p:cNvSpPr>
            <p:nvPr/>
          </p:nvSpPr>
          <p:spPr>
            <a:xfrm>
              <a:off x="381000" y="126279"/>
              <a:ext cx="5880136" cy="652486"/>
            </a:xfrm>
            <a:prstGeom prst="rect">
              <a:avLst/>
            </a:prstGeom>
          </p:spPr>
          <p:txBody>
            <a:bodyPr wrap="none">
              <a:spAutoFit/>
            </a:bodyPr>
            <a:lstStyle/>
            <a:p>
              <a:pPr indent="279400">
                <a:lnSpc>
                  <a:spcPct val="130000"/>
                </a:lnSpc>
                <a:spcAft>
                  <a:spcPts val="0"/>
                </a:spcAft>
                <a:tabLst>
                  <a:tab pos="1029335" algn="l"/>
                  <a:tab pos="1850390" algn="l"/>
                  <a:tab pos="2538095" algn="l"/>
                  <a:tab pos="3221990"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解法二</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设等差数列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的公差为</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i="1"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2904774317"/>
                </p:ext>
              </p:extLst>
            </p:nvPr>
          </p:nvGraphicFramePr>
          <p:xfrm>
            <a:off x="31173" y="747592"/>
            <a:ext cx="11430000" cy="717701"/>
          </p:xfrm>
          <a:graphic>
            <a:graphicData uri="http://schemas.openxmlformats.org/presentationml/2006/ole">
              <mc:AlternateContent xmlns:mc="http://schemas.openxmlformats.org/markup-compatibility/2006">
                <mc:Choice xmlns:v="urn:schemas-microsoft-com:vml" Requires="v">
                  <p:oleObj spid="_x0000_s10265" name="文档" r:id="rId4" imgW="4510061" imgH="283191" progId="Word.Document.12">
                    <p:embed/>
                  </p:oleObj>
                </mc:Choice>
                <mc:Fallback>
                  <p:oleObj name="文档" r:id="rId4" imgW="4510061" imgH="283191" progId="Word.Document.12">
                    <p:embed/>
                    <p:pic>
                      <p:nvPicPr>
                        <p:cNvPr id="0" name=""/>
                        <p:cNvPicPr/>
                        <p:nvPr/>
                      </p:nvPicPr>
                      <p:blipFill>
                        <a:blip r:embed="rId5"/>
                        <a:stretch>
                          <a:fillRect/>
                        </a:stretch>
                      </p:blipFill>
                      <p:spPr>
                        <a:xfrm>
                          <a:off x="31173" y="747592"/>
                          <a:ext cx="11430000" cy="717701"/>
                        </a:xfrm>
                        <a:prstGeom prst="rect">
                          <a:avLst/>
                        </a:prstGeom>
                      </p:spPr>
                    </p:pic>
                  </p:oleObj>
                </mc:Fallback>
              </mc:AlternateContent>
            </a:graphicData>
          </a:graphic>
        </p:graphicFrame>
        <p:sp>
          <p:nvSpPr>
            <p:cNvPr id="6" name="矩形 5"/>
            <p:cNvSpPr>
              <a:spLocks noChangeAspect="1"/>
            </p:cNvSpPr>
            <p:nvPr/>
          </p:nvSpPr>
          <p:spPr>
            <a:xfrm>
              <a:off x="381000" y="1413338"/>
              <a:ext cx="11430000" cy="652486"/>
            </a:xfrm>
            <a:prstGeom prst="rect">
              <a:avLst/>
            </a:prstGeom>
          </p:spPr>
          <p:txBody>
            <a:bodyPr>
              <a:spAutoFit/>
            </a:bodyPr>
            <a:lstStyle/>
            <a:p>
              <a:pPr indent="279400">
                <a:lnSpc>
                  <a:spcPct val="130000"/>
                </a:lnSpc>
                <a:spcAft>
                  <a:spcPts val="0"/>
                </a:spcAft>
                <a:tabLst>
                  <a:tab pos="1029335" algn="l"/>
                  <a:tab pos="1850390" algn="l"/>
                  <a:tab pos="2538095" algn="l"/>
                  <a:tab pos="3221990" algn="l"/>
                </a:tabLst>
              </a:pP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关于</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的函数图象是开口向下的抛物线上一群离散的点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如图所示</a:t>
              </a:r>
              <a:r>
                <a:rPr lang="en-US" altLang="zh-CN" sz="2800" i="1"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1504761941"/>
                </p:ext>
              </p:extLst>
            </p:nvPr>
          </p:nvGraphicFramePr>
          <p:xfrm>
            <a:off x="31173" y="2068693"/>
            <a:ext cx="11430000" cy="1240493"/>
          </p:xfrm>
          <a:graphic>
            <a:graphicData uri="http://schemas.openxmlformats.org/presentationml/2006/ole">
              <mc:AlternateContent xmlns:mc="http://schemas.openxmlformats.org/markup-compatibility/2006">
                <mc:Choice xmlns:v="urn:schemas-microsoft-com:vml" Requires="v">
                  <p:oleObj spid="_x0000_s10266" name="文档" r:id="rId6" imgW="4510061" imgH="489475" progId="Word.Document.12">
                    <p:embed/>
                  </p:oleObj>
                </mc:Choice>
                <mc:Fallback>
                  <p:oleObj name="文档" r:id="rId6" imgW="4510061" imgH="489475" progId="Word.Document.12">
                    <p:embed/>
                    <p:pic>
                      <p:nvPicPr>
                        <p:cNvPr id="0" name=""/>
                        <p:cNvPicPr/>
                        <p:nvPr/>
                      </p:nvPicPr>
                      <p:blipFill>
                        <a:blip r:embed="rId7"/>
                        <a:stretch>
                          <a:fillRect/>
                        </a:stretch>
                      </p:blipFill>
                      <p:spPr>
                        <a:xfrm>
                          <a:off x="31173" y="2068693"/>
                          <a:ext cx="11430000" cy="1240493"/>
                        </a:xfrm>
                        <a:prstGeom prst="rect">
                          <a:avLst/>
                        </a:prstGeom>
                      </p:spPr>
                    </p:pic>
                  </p:oleObj>
                </mc:Fallback>
              </mc:AlternateContent>
            </a:graphicData>
          </a:graphic>
        </p:graphicFrame>
      </p:grpSp>
    </p:spTree>
    <p:extLst>
      <p:ext uri="{BB962C8B-B14F-4D97-AF65-F5344CB8AC3E}">
        <p14:creationId xmlns:p14="http://schemas.microsoft.com/office/powerpoint/2010/main" val="15273134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20782" y="311201"/>
            <a:ext cx="11790218" cy="5174693"/>
            <a:chOff x="20782" y="311201"/>
            <a:chExt cx="11790218" cy="5174693"/>
          </a:xfrm>
        </p:grpSpPr>
        <p:grpSp>
          <p:nvGrpSpPr>
            <p:cNvPr id="5" name="组合 4"/>
            <p:cNvGrpSpPr/>
            <p:nvPr/>
          </p:nvGrpSpPr>
          <p:grpSpPr>
            <a:xfrm>
              <a:off x="381000" y="311201"/>
              <a:ext cx="11430000" cy="5174693"/>
              <a:chOff x="381000" y="456675"/>
              <a:chExt cx="11430000" cy="5174693"/>
            </a:xfrm>
          </p:grpSpPr>
          <p:sp>
            <p:nvSpPr>
              <p:cNvPr id="2" name="矩形 1"/>
              <p:cNvSpPr>
                <a:spLocks noChangeAspect="1"/>
              </p:cNvSpPr>
              <p:nvPr/>
            </p:nvSpPr>
            <p:spPr>
              <a:xfrm>
                <a:off x="381000" y="456675"/>
                <a:ext cx="11430000" cy="339298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解法三</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17</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9</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10</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楷体" panose="02010609060101010101" pitchFamily="49" charset="-122"/>
                    <a:ea typeface="方正书宋_GBK"/>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17</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10</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17</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11</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16</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楷体" panose="02010609060101010101" pitchFamily="49" charset="-122"/>
                    <a:ea typeface="方正书宋_GBK"/>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13</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25</a:t>
                </a:r>
                <a:r>
                  <a:rPr lang="en-US" altLang="zh-CN" sz="2800" i="1" dirty="0">
                    <a:solidFill>
                      <a:srgbClr val="000000"/>
                    </a:solidFill>
                    <a:latin typeface="Times New Roman" panose="02020603050405020304" pitchFamily="18" charset="0"/>
                    <a:cs typeface="Times New Roman" panose="02020603050405020304" pitchFamily="18" charset="0"/>
                  </a:rPr>
                  <a:t>&gt;</a:t>
                </a:r>
                <a:r>
                  <a:rPr lang="en-US" altLang="zh-CN" sz="2800" dirty="0">
                    <a:solidFill>
                      <a:srgbClr val="000000"/>
                    </a:solidFill>
                    <a:latin typeface="Times New Roman" panose="02020603050405020304" pitchFamily="18" charset="0"/>
                    <a:cs typeface="Times New Roman" panose="02020603050405020304" pitchFamily="18" charset="0"/>
                  </a:rPr>
                  <a:t>0,</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宋体" panose="02010600030101010101" pitchFamily="2" charset="-122"/>
                    <a:ea typeface="方正书宋_GBK"/>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13</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&gt;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宋体" panose="02010600030101010101" pitchFamily="2" charset="-122"/>
                    <a:ea typeface="方正书宋_GBK"/>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14</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13</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最大</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解法四</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由解法一得</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
            <p:nvSpPr>
              <p:cNvPr id="4" name="矩形 3"/>
              <p:cNvSpPr>
                <a:spLocks noChangeAspect="1"/>
              </p:cNvSpPr>
              <p:nvPr/>
            </p:nvSpPr>
            <p:spPr>
              <a:xfrm>
                <a:off x="381000" y="4978882"/>
                <a:ext cx="4330032"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13</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有最大值</a:t>
                </a:r>
                <a:r>
                  <a:rPr lang="en-US" altLang="zh-CN" sz="2800" i="1"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grpSp>
        <p:graphicFrame>
          <p:nvGraphicFramePr>
            <p:cNvPr id="6" name="对象 5"/>
            <p:cNvGraphicFramePr>
              <a:graphicFrameLocks noChangeAspect="1"/>
            </p:cNvGraphicFramePr>
            <p:nvPr>
              <p:extLst>
                <p:ext uri="{D42A27DB-BD31-4B8C-83A1-F6EECF244321}">
                  <p14:modId xmlns:p14="http://schemas.microsoft.com/office/powerpoint/2010/main" val="2144322651"/>
                </p:ext>
              </p:extLst>
            </p:nvPr>
          </p:nvGraphicFramePr>
          <p:xfrm>
            <a:off x="20782" y="3756136"/>
            <a:ext cx="11275153" cy="991965"/>
          </p:xfrm>
          <a:graphic>
            <a:graphicData uri="http://schemas.openxmlformats.org/presentationml/2006/ole">
              <mc:AlternateContent xmlns:mc="http://schemas.openxmlformats.org/markup-compatibility/2006">
                <mc:Choice xmlns:v="urn:schemas-microsoft-com:vml" Requires="v">
                  <p:oleObj spid="_x0000_s11280" name="文档" r:id="rId3" imgW="4510061" imgH="396786" progId="Word.Document.12">
                    <p:embed/>
                  </p:oleObj>
                </mc:Choice>
                <mc:Fallback>
                  <p:oleObj name="文档" r:id="rId3" imgW="4510061" imgH="396786" progId="Word.Document.12">
                    <p:embed/>
                    <p:pic>
                      <p:nvPicPr>
                        <p:cNvPr id="0" name=""/>
                        <p:cNvPicPr/>
                        <p:nvPr/>
                      </p:nvPicPr>
                      <p:blipFill>
                        <a:blip r:embed="rId4"/>
                        <a:stretch>
                          <a:fillRect/>
                        </a:stretch>
                      </p:blipFill>
                      <p:spPr>
                        <a:xfrm>
                          <a:off x="20782" y="3756136"/>
                          <a:ext cx="11275153" cy="991965"/>
                        </a:xfrm>
                        <a:prstGeom prst="rect">
                          <a:avLst/>
                        </a:prstGeom>
                      </p:spPr>
                    </p:pic>
                  </p:oleObj>
                </mc:Fallback>
              </mc:AlternateContent>
            </a:graphicData>
          </a:graphic>
        </p:graphicFrame>
      </p:grpSp>
    </p:spTree>
    <p:extLst>
      <p:ext uri="{BB962C8B-B14F-4D97-AF65-F5344CB8AC3E}">
        <p14:creationId xmlns:p14="http://schemas.microsoft.com/office/powerpoint/2010/main" val="4145240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81000" y="436573"/>
            <a:ext cx="11430000" cy="4858806"/>
            <a:chOff x="381000" y="592438"/>
            <a:chExt cx="11430000" cy="4858806"/>
          </a:xfrm>
        </p:grpSpPr>
        <p:sp>
          <p:nvSpPr>
            <p:cNvPr id="2" name="矩形 1"/>
            <p:cNvSpPr>
              <a:spLocks noChangeAspect="1"/>
            </p:cNvSpPr>
            <p:nvPr/>
          </p:nvSpPr>
          <p:spPr>
            <a:xfrm>
              <a:off x="381000" y="592438"/>
              <a:ext cx="11430000" cy="2332946"/>
            </a:xfrm>
            <a:prstGeom prst="rect">
              <a:avLst/>
            </a:prstGeom>
          </p:spPr>
          <p:txBody>
            <a:bodyPr>
              <a:spAutoFit/>
            </a:bodyPr>
            <a:lstStyle/>
            <a:p>
              <a:pPr indent="280670">
                <a:lnSpc>
                  <a:spcPct val="130000"/>
                </a:lnSpc>
                <a:tabLst>
                  <a:tab pos="1188085" algn="l"/>
                  <a:tab pos="2163445" algn="l"/>
                  <a:tab pos="3142615" algn="l"/>
                  <a:tab pos="4190365" algn="l"/>
                </a:tabLst>
              </a:pPr>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反思感悟 </a:t>
              </a:r>
              <a:r>
                <a:rPr lang="en-US" altLang="zh-CN" sz="2800" b="1" dirty="0" smtClean="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求等差数列前</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项和</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最大</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值的</a:t>
              </a:r>
              <a:r>
                <a:rPr lang="zh-CN" altLang="zh-CN" sz="2800" dirty="0" smtClean="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情形</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若</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&gt;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d&lt;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则</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存在最大值</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即所有非负项之和</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若</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d&gt;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则</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存在最小值</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即所有非正项之和</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求等差数列前</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项和</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最值的</a:t>
              </a:r>
              <a:r>
                <a:rPr lang="zh-CN" altLang="zh-CN" sz="2800" dirty="0" smtClean="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方法</a:t>
              </a:r>
              <a:endParaRPr lang="zh-CN" altLang="zh-CN" sz="2800" dirty="0">
                <a:solidFill>
                  <a:srgbClr val="000000"/>
                </a:solidFill>
                <a:effectLst/>
                <a:latin typeface="NEU-BZ-S92"/>
                <a:ea typeface="方正书宋_GBK"/>
                <a:cs typeface="Times New Roman" panose="02020603050405020304" pitchFamily="18" charset="0"/>
              </a:endParaRPr>
            </a:p>
          </p:txBody>
        </p:sp>
        <p:sp>
          <p:nvSpPr>
            <p:cNvPr id="3" name="矩形 2"/>
            <p:cNvSpPr>
              <a:spLocks noChangeAspect="1"/>
            </p:cNvSpPr>
            <p:nvPr/>
          </p:nvSpPr>
          <p:spPr>
            <a:xfrm>
              <a:off x="381000" y="4798758"/>
              <a:ext cx="6452407"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运用二次函数图象的对称性求最值</a:t>
              </a:r>
              <a:r>
                <a:rPr lang="en-US" altLang="zh-CN" sz="2800" i="1"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3279087611"/>
                </p:ext>
              </p:extLst>
            </p:nvPr>
          </p:nvGraphicFramePr>
          <p:xfrm>
            <a:off x="385763" y="2809154"/>
            <a:ext cx="11403012" cy="1993900"/>
          </p:xfrm>
          <a:graphic>
            <a:graphicData uri="http://schemas.openxmlformats.org/presentationml/2006/ole">
              <mc:AlternateContent xmlns:mc="http://schemas.openxmlformats.org/markup-compatibility/2006">
                <mc:Choice xmlns:v="urn:schemas-microsoft-com:vml" Requires="v">
                  <p:oleObj spid="_x0000_s12303" name="文档" r:id="rId3" imgW="4510061" imgH="794654" progId="Word.Document.12">
                    <p:embed/>
                  </p:oleObj>
                </mc:Choice>
                <mc:Fallback>
                  <p:oleObj name="文档" r:id="rId3" imgW="4510061" imgH="794654" progId="Word.Document.12">
                    <p:embed/>
                    <p:pic>
                      <p:nvPicPr>
                        <p:cNvPr id="0" name=""/>
                        <p:cNvPicPr/>
                        <p:nvPr/>
                      </p:nvPicPr>
                      <p:blipFill>
                        <a:blip r:embed="rId4"/>
                        <a:stretch>
                          <a:fillRect/>
                        </a:stretch>
                      </p:blipFill>
                      <p:spPr>
                        <a:xfrm>
                          <a:off x="385763" y="2809154"/>
                          <a:ext cx="11403012" cy="1993900"/>
                        </a:xfrm>
                        <a:prstGeom prst="rect">
                          <a:avLst/>
                        </a:prstGeom>
                      </p:spPr>
                    </p:pic>
                  </p:oleObj>
                </mc:Fallback>
              </mc:AlternateContent>
            </a:graphicData>
          </a:graphic>
        </p:graphicFrame>
      </p:grpSp>
    </p:spTree>
    <p:extLst>
      <p:ext uri="{BB962C8B-B14F-4D97-AF65-F5344CB8AC3E}">
        <p14:creationId xmlns:p14="http://schemas.microsoft.com/office/powerpoint/2010/main" val="2839178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707202"/>
            <a:ext cx="9009198" cy="1152367"/>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若把条件变为</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9</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12</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该数列前多少项之和最小</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解法一</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设等差数列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的公差为</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p:txBody>
      </p:sp>
      <p:pic>
        <p:nvPicPr>
          <p:cNvPr id="3" name="延伸探究H.eps" descr="id:2147494559;FounderCES"/>
          <p:cNvPicPr/>
          <p:nvPr/>
        </p:nvPicPr>
        <p:blipFill>
          <a:blip r:embed="rId3">
            <a:clrChange>
              <a:clrFrom>
                <a:srgbClr val="FFFFFF"/>
              </a:clrFrom>
              <a:clrTo>
                <a:srgbClr val="FFFFFF">
                  <a:alpha val="0"/>
                </a:srgbClr>
              </a:clrTo>
            </a:clrChange>
          </a:blip>
          <a:stretch>
            <a:fillRect/>
          </a:stretch>
        </p:blipFill>
        <p:spPr>
          <a:xfrm>
            <a:off x="4757688" y="314782"/>
            <a:ext cx="2016224" cy="367706"/>
          </a:xfrm>
          <a:prstGeom prst="rect">
            <a:avLst/>
          </a:prstGeom>
        </p:spPr>
      </p:pic>
      <p:grpSp>
        <p:nvGrpSpPr>
          <p:cNvPr id="8" name="组合 7"/>
          <p:cNvGrpSpPr/>
          <p:nvPr/>
        </p:nvGrpSpPr>
        <p:grpSpPr>
          <a:xfrm>
            <a:off x="43249" y="1834292"/>
            <a:ext cx="11767751" cy="3615974"/>
            <a:chOff x="43249" y="2021330"/>
            <a:chExt cx="11767751" cy="3615974"/>
          </a:xfrm>
        </p:grpSpPr>
        <p:graphicFrame>
          <p:nvGraphicFramePr>
            <p:cNvPr id="6" name="对象 5"/>
            <p:cNvGraphicFramePr>
              <a:graphicFrameLocks noChangeAspect="1"/>
            </p:cNvGraphicFramePr>
            <p:nvPr>
              <p:extLst>
                <p:ext uri="{D42A27DB-BD31-4B8C-83A1-F6EECF244321}">
                  <p14:modId xmlns:p14="http://schemas.microsoft.com/office/powerpoint/2010/main" val="358110603"/>
                </p:ext>
              </p:extLst>
            </p:nvPr>
          </p:nvGraphicFramePr>
          <p:xfrm>
            <a:off x="43249" y="2021330"/>
            <a:ext cx="11430000" cy="2608022"/>
          </p:xfrm>
          <a:graphic>
            <a:graphicData uri="http://schemas.openxmlformats.org/presentationml/2006/ole">
              <mc:AlternateContent xmlns:mc="http://schemas.openxmlformats.org/markup-compatibility/2006">
                <mc:Choice xmlns:v="urn:schemas-microsoft-com:vml" Requires="v">
                  <p:oleObj spid="_x0000_s13327" name="文档" r:id="rId4" imgW="4520786" imgH="1031523" progId="Word.Document.12">
                    <p:embed/>
                  </p:oleObj>
                </mc:Choice>
                <mc:Fallback>
                  <p:oleObj name="文档" r:id="rId4" imgW="4520786" imgH="1031523" progId="Word.Document.12">
                    <p:embed/>
                    <p:pic>
                      <p:nvPicPr>
                        <p:cNvPr id="0" name=""/>
                        <p:cNvPicPr/>
                        <p:nvPr/>
                      </p:nvPicPr>
                      <p:blipFill>
                        <a:blip r:embed="rId5"/>
                        <a:stretch>
                          <a:fillRect/>
                        </a:stretch>
                      </p:blipFill>
                      <p:spPr>
                        <a:xfrm>
                          <a:off x="43249" y="2021330"/>
                          <a:ext cx="11430000" cy="2608022"/>
                        </a:xfrm>
                        <a:prstGeom prst="rect">
                          <a:avLst/>
                        </a:prstGeom>
                      </p:spPr>
                    </p:pic>
                  </p:oleObj>
                </mc:Fallback>
              </mc:AlternateContent>
            </a:graphicData>
          </a:graphic>
        </p:graphicFrame>
        <p:sp>
          <p:nvSpPr>
            <p:cNvPr id="7" name="矩形 6"/>
            <p:cNvSpPr>
              <a:spLocks noChangeAspect="1"/>
            </p:cNvSpPr>
            <p:nvPr/>
          </p:nvSpPr>
          <p:spPr>
            <a:xfrm>
              <a:off x="381000" y="4484937"/>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d&gt;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NEU-BZ-S92"/>
                  <a:cs typeface="宋体" panose="02010600030101010101" pitchFamily="2" charset="-122"/>
                </a:rPr>
                <a:t>∴</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有最小值</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又</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i="1" baseline="300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10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11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取得最小值</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pSp>
    </p:spTree>
    <p:extLst>
      <p:ext uri="{BB962C8B-B14F-4D97-AF65-F5344CB8AC3E}">
        <p14:creationId xmlns:p14="http://schemas.microsoft.com/office/powerpoint/2010/main" val="17492114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arn(inVertical)">
                                      <p:cBhvr>
                                        <p:cTn id="7" dur="500"/>
                                        <p:tgtEl>
                                          <p:spTgt spid="2">
                                            <p:txEl>
                                              <p:pRg st="1" end="1"/>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arn(inVertical)">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41190" y="1243879"/>
            <a:ext cx="11430000" cy="2765056"/>
            <a:chOff x="41190" y="1804052"/>
            <a:chExt cx="11430000" cy="2765056"/>
          </a:xfrm>
        </p:grpSpPr>
        <p:sp>
          <p:nvSpPr>
            <p:cNvPr id="2" name="矩形 1"/>
            <p:cNvSpPr>
              <a:spLocks noChangeAspect="1"/>
            </p:cNvSpPr>
            <p:nvPr/>
          </p:nvSpPr>
          <p:spPr>
            <a:xfrm>
              <a:off x="381000" y="1804052"/>
              <a:ext cx="5418471"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解法二</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10</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过程同解法一</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i="1"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787521041"/>
                </p:ext>
              </p:extLst>
            </p:nvPr>
          </p:nvGraphicFramePr>
          <p:xfrm>
            <a:off x="41190" y="2412134"/>
            <a:ext cx="11430000" cy="1504488"/>
          </p:xfrm>
          <a:graphic>
            <a:graphicData uri="http://schemas.openxmlformats.org/presentationml/2006/ole">
              <mc:AlternateContent xmlns:mc="http://schemas.openxmlformats.org/markup-compatibility/2006">
                <mc:Choice xmlns:v="urn:schemas-microsoft-com:vml" Requires="v">
                  <p:oleObj spid="_x0000_s14351" name="文档" r:id="rId3" imgW="4520786" imgH="595054" progId="Word.Document.12">
                    <p:embed/>
                  </p:oleObj>
                </mc:Choice>
                <mc:Fallback>
                  <p:oleObj name="文档" r:id="rId3" imgW="4520786" imgH="595054" progId="Word.Document.12">
                    <p:embed/>
                    <p:pic>
                      <p:nvPicPr>
                        <p:cNvPr id="0" name=""/>
                        <p:cNvPicPr/>
                        <p:nvPr/>
                      </p:nvPicPr>
                      <p:blipFill>
                        <a:blip r:embed="rId4"/>
                        <a:stretch>
                          <a:fillRect/>
                        </a:stretch>
                      </p:blipFill>
                      <p:spPr>
                        <a:xfrm>
                          <a:off x="41190" y="2412134"/>
                          <a:ext cx="11430000" cy="1504488"/>
                        </a:xfrm>
                        <a:prstGeom prst="rect">
                          <a:avLst/>
                        </a:prstGeom>
                      </p:spPr>
                    </p:pic>
                  </p:oleObj>
                </mc:Fallback>
              </mc:AlternateContent>
            </a:graphicData>
          </a:graphic>
        </p:graphicFrame>
        <p:sp>
          <p:nvSpPr>
            <p:cNvPr id="4" name="矩形 3"/>
            <p:cNvSpPr>
              <a:spLocks noChangeAspect="1"/>
            </p:cNvSpPr>
            <p:nvPr/>
          </p:nvSpPr>
          <p:spPr>
            <a:xfrm>
              <a:off x="381000" y="3916622"/>
              <a:ext cx="6844118"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得</a:t>
              </a:r>
              <a:r>
                <a:rPr lang="en-US" altLang="zh-CN" sz="2800" dirty="0">
                  <a:solidFill>
                    <a:srgbClr val="000000"/>
                  </a:solidFill>
                  <a:latin typeface="Times New Roman" panose="02020603050405020304" pitchFamily="18" charset="0"/>
                  <a:cs typeface="Times New Roman" panose="02020603050405020304" pitchFamily="18" charset="0"/>
                </a:rPr>
                <a:t>10</a:t>
              </a:r>
              <a:r>
                <a:rPr lang="en-US" altLang="zh-CN" sz="2800" dirty="0">
                  <a:solidFill>
                    <a:srgbClr val="000000"/>
                  </a:solidFill>
                  <a:latin typeface="宋体" panose="02010600030101010101" pitchFamily="2" charset="-122"/>
                  <a:ea typeface="方正书宋_GBK"/>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宋体" panose="02010600030101010101" pitchFamily="2" charset="-122"/>
                  <a:ea typeface="方正书宋_GBK"/>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取</a:t>
              </a:r>
              <a:r>
                <a:rPr lang="en-US" altLang="zh-CN" sz="2800" dirty="0">
                  <a:solidFill>
                    <a:srgbClr val="000000"/>
                  </a:solidFill>
                  <a:latin typeface="Times New Roman" panose="02020603050405020304" pitchFamily="18" charset="0"/>
                  <a:cs typeface="Times New Roman" panose="02020603050405020304" pitchFamily="18" charset="0"/>
                </a:rPr>
                <a:t>10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dirty="0">
                  <a:solidFill>
                    <a:srgbClr val="000000"/>
                  </a:solidFill>
                  <a:latin typeface="Times New Roman" panose="02020603050405020304" pitchFamily="18" charset="0"/>
                  <a:cs typeface="Times New Roman" panose="02020603050405020304" pitchFamily="18" charset="0"/>
                </a:rPr>
                <a:t>11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取最小值</a:t>
              </a:r>
              <a:r>
                <a:rPr lang="en-US" altLang="zh-CN" sz="2800" i="1"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grpSp>
    </p:spTree>
    <p:extLst>
      <p:ext uri="{BB962C8B-B14F-4D97-AF65-F5344CB8AC3E}">
        <p14:creationId xmlns:p14="http://schemas.microsoft.com/office/powerpoint/2010/main" val="424909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96922"/>
            <a:ext cx="11430000" cy="289310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已知等差数列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的前</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项和为</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8</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82,</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41</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9</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求数列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的通项公式</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求</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的最大值</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8</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82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5</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41</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41</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9</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dirty="0" smtClean="0">
                <a:solidFill>
                  <a:srgbClr val="000000"/>
                </a:solidFill>
                <a:latin typeface="Times New Roman" panose="02020603050405020304" pitchFamily="18" charset="0"/>
                <a:cs typeface="Times New Roman" panose="02020603050405020304" pitchFamily="18" charset="0"/>
              </a:rPr>
              <a:t>41</a:t>
            </a:r>
            <a:r>
              <a:rPr lang="en-US" altLang="zh-CN" sz="2800" i="1" dirty="0" smtClean="0">
                <a:solidFill>
                  <a:srgbClr val="000000"/>
                </a:solidFill>
                <a:latin typeface="Times New Roman" panose="02020603050405020304" pitchFamily="18" charset="0"/>
                <a:cs typeface="Times New Roman" panose="02020603050405020304" pitchFamily="18" charset="0"/>
              </a:rPr>
              <a:t>a</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21</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9</a:t>
            </a:r>
            <a:r>
              <a:rPr lang="en-US" altLang="zh-CN" sz="2800" i="1" dirty="0" smtClean="0">
                <a:solidFill>
                  <a:srgbClr val="000000"/>
                </a:solidFill>
                <a:latin typeface="Times New Roman" panose="02020603050405020304" pitchFamily="18" charset="0"/>
                <a:cs typeface="Times New Roman" panose="02020603050405020304" pitchFamily="18" charset="0"/>
              </a:rPr>
              <a:t>a</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5</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
        <p:nvSpPr>
          <p:cNvPr id="4" name="矩形 3"/>
          <p:cNvSpPr>
            <a:spLocks noChangeAspect="1"/>
          </p:cNvSpPr>
          <p:nvPr/>
        </p:nvSpPr>
        <p:spPr>
          <a:xfrm>
            <a:off x="381000" y="3810100"/>
            <a:ext cx="11430000" cy="171252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41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51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n.</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得</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50</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25)</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625</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由二次函数的性质</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25</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有最大值</a:t>
            </a:r>
            <a:r>
              <a:rPr lang="en-US" altLang="zh-CN" sz="2800" dirty="0">
                <a:solidFill>
                  <a:srgbClr val="000000"/>
                </a:solidFill>
                <a:latin typeface="Times New Roman" panose="02020603050405020304" pitchFamily="18" charset="0"/>
                <a:cs typeface="Times New Roman" panose="02020603050405020304" pitchFamily="18" charset="0"/>
              </a:rPr>
              <a:t>625</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3977167461"/>
              </p:ext>
            </p:extLst>
          </p:nvPr>
        </p:nvGraphicFramePr>
        <p:xfrm>
          <a:off x="20782" y="3224050"/>
          <a:ext cx="11430000" cy="824262"/>
        </p:xfrm>
        <a:graphic>
          <a:graphicData uri="http://schemas.openxmlformats.org/presentationml/2006/ole">
            <mc:AlternateContent xmlns:mc="http://schemas.openxmlformats.org/markup-compatibility/2006">
              <mc:Choice xmlns:v="urn:schemas-microsoft-com:vml" Requires="v">
                <p:oleObj spid="_x0000_s15376" name="文档" r:id="rId3" imgW="4510061" imgH="324879" progId="Word.Document.12">
                  <p:embed/>
                </p:oleObj>
              </mc:Choice>
              <mc:Fallback>
                <p:oleObj name="文档" r:id="rId3" imgW="4510061" imgH="324879" progId="Word.Document.12">
                  <p:embed/>
                  <p:pic>
                    <p:nvPicPr>
                      <p:cNvPr id="0" name=""/>
                      <p:cNvPicPr/>
                      <p:nvPr/>
                    </p:nvPicPr>
                    <p:blipFill>
                      <a:blip r:embed="rId4"/>
                      <a:stretch>
                        <a:fillRect/>
                      </a:stretch>
                    </p:blipFill>
                    <p:spPr>
                      <a:xfrm>
                        <a:off x="20782" y="3224050"/>
                        <a:ext cx="11430000" cy="824262"/>
                      </a:xfrm>
                      <a:prstGeom prst="rect">
                        <a:avLst/>
                      </a:prstGeom>
                    </p:spPr>
                  </p:pic>
                </p:oleObj>
              </mc:Fallback>
            </mc:AlternateContent>
          </a:graphicData>
        </a:graphic>
      </p:graphicFrame>
    </p:spTree>
    <p:extLst>
      <p:ext uri="{BB962C8B-B14F-4D97-AF65-F5344CB8AC3E}">
        <p14:creationId xmlns:p14="http://schemas.microsoft.com/office/powerpoint/2010/main" val="31611119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barn(inVertical)">
                                      <p:cBhvr>
                                        <p:cTn id="7" dur="500"/>
                                        <p:tgtEl>
                                          <p:spTgt spid="2">
                                            <p:txEl>
                                              <p:pRg st="3" end="3"/>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2">
                                            <p:txEl>
                                              <p:pRg st="4" end="4"/>
                                            </p:txEl>
                                          </p:spTgt>
                                        </p:tgtEl>
                                        <p:attrNameLst>
                                          <p:attrName>style.visibility</p:attrName>
                                        </p:attrNameLst>
                                      </p:cBhvr>
                                      <p:to>
                                        <p:strVal val="visible"/>
                                      </p:to>
                                    </p:set>
                                    <p:animEffect transition="in" filter="barn(inVertical)">
                                      <p:cBhvr>
                                        <p:cTn id="10" dur="500"/>
                                        <p:tgtEl>
                                          <p:spTgt spid="2">
                                            <p:txEl>
                                              <p:pRg st="4" end="4"/>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arn(inVertical)">
                                      <p:cBhvr>
                                        <p:cTn id="13" dur="500"/>
                                        <p:tgtEl>
                                          <p:spTgt spid="6"/>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barn(inVertical)">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探究三</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利用等差数列的前</a:t>
                </a:r>
                <a:r>
                  <a:rPr lang="en-US" altLang="zh-CN" sz="2800" b="1" i="1" dirty="0">
                    <a:solidFill>
                      <a:schemeClr val="bg1"/>
                    </a:solidFill>
                    <a:latin typeface="Times New Roman" panose="02020603050405020304" pitchFamily="18" charset="0"/>
                    <a:cs typeface="Times New Roman" panose="02020603050405020304" pitchFamily="18" charset="0"/>
                  </a:rPr>
                  <a:t>n</a:t>
                </a:r>
                <a:r>
                  <a:rPr lang="zh-CN" altLang="en-US" sz="2800" b="1" dirty="0">
                    <a:solidFill>
                      <a:schemeClr val="bg1"/>
                    </a:solidFill>
                  </a:rPr>
                  <a:t>项和解决实际问题</a:t>
                </a:r>
              </a:p>
            </p:txBody>
          </p:sp>
        </p:grpSp>
      </p:grpSp>
      <p:sp>
        <p:nvSpPr>
          <p:cNvPr id="2" name="矩形 1"/>
          <p:cNvSpPr>
            <a:spLocks noChangeAspect="1"/>
          </p:cNvSpPr>
          <p:nvPr/>
        </p:nvSpPr>
        <p:spPr>
          <a:xfrm>
            <a:off x="381000" y="999748"/>
            <a:ext cx="11430000" cy="395313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某施工指挥部接到紧急任务</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现需用</a:t>
            </a:r>
            <a:r>
              <a:rPr lang="en-US" altLang="zh-CN" sz="2800" dirty="0">
                <a:solidFill>
                  <a:srgbClr val="000000"/>
                </a:solidFill>
                <a:latin typeface="Times New Roman" panose="02020603050405020304" pitchFamily="18" charset="0"/>
                <a:cs typeface="Times New Roman" panose="02020603050405020304" pitchFamily="18" charset="0"/>
              </a:rPr>
              <a:t>20</a:t>
            </a:r>
            <a:r>
              <a:rPr lang="zh-CN" altLang="zh-CN" sz="2800" dirty="0">
                <a:solidFill>
                  <a:srgbClr val="000000"/>
                </a:solidFill>
                <a:latin typeface="Times New Roman" panose="02020603050405020304" pitchFamily="18" charset="0"/>
                <a:cs typeface="Times New Roman" panose="02020603050405020304" pitchFamily="18" charset="0"/>
              </a:rPr>
              <a:t>辆同型号的翻斗车</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平均每辆车要工作</a:t>
            </a:r>
            <a:r>
              <a:rPr lang="en-US" altLang="zh-CN" sz="2800" dirty="0">
                <a:solidFill>
                  <a:srgbClr val="000000"/>
                </a:solidFill>
                <a:latin typeface="Times New Roman" panose="02020603050405020304" pitchFamily="18" charset="0"/>
                <a:cs typeface="Times New Roman" panose="02020603050405020304" pitchFamily="18" charset="0"/>
              </a:rPr>
              <a:t>24 h</a:t>
            </a:r>
            <a:r>
              <a:rPr lang="zh-CN" altLang="zh-CN" sz="2800" dirty="0">
                <a:solidFill>
                  <a:srgbClr val="000000"/>
                </a:solidFill>
                <a:latin typeface="Times New Roman" panose="02020603050405020304" pitchFamily="18" charset="0"/>
                <a:cs typeface="Times New Roman" panose="02020603050405020304" pitchFamily="18" charset="0"/>
              </a:rPr>
              <a:t>才能完成任务</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但目前只有一辆车投入施工</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其余的需从附近工地上抽调</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每隔</a:t>
            </a:r>
            <a:r>
              <a:rPr lang="en-US" altLang="zh-CN" sz="2800" dirty="0">
                <a:solidFill>
                  <a:srgbClr val="000000"/>
                </a:solidFill>
                <a:latin typeface="Times New Roman" panose="02020603050405020304" pitchFamily="18" charset="0"/>
                <a:cs typeface="Times New Roman" panose="02020603050405020304" pitchFamily="18" charset="0"/>
              </a:rPr>
              <a:t>20 min</a:t>
            </a:r>
            <a:r>
              <a:rPr lang="zh-CN" altLang="zh-CN" sz="2800" dirty="0">
                <a:solidFill>
                  <a:srgbClr val="000000"/>
                </a:solidFill>
                <a:latin typeface="Times New Roman" panose="02020603050405020304" pitchFamily="18" charset="0"/>
                <a:cs typeface="Times New Roman" panose="02020603050405020304" pitchFamily="18" charset="0"/>
              </a:rPr>
              <a:t>能有一辆车到达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且指挥部最多还可调集</a:t>
            </a:r>
            <a:r>
              <a:rPr lang="en-US" altLang="zh-CN" sz="2800" dirty="0">
                <a:solidFill>
                  <a:srgbClr val="000000"/>
                </a:solidFill>
                <a:latin typeface="Times New Roman" panose="02020603050405020304" pitchFamily="18" charset="0"/>
                <a:cs typeface="Times New Roman" panose="02020603050405020304" pitchFamily="18" charset="0"/>
              </a:rPr>
              <a:t>24</a:t>
            </a:r>
            <a:r>
              <a:rPr lang="zh-CN" altLang="zh-CN" sz="2800" dirty="0">
                <a:solidFill>
                  <a:srgbClr val="000000"/>
                </a:solidFill>
                <a:latin typeface="Times New Roman" panose="02020603050405020304" pitchFamily="18" charset="0"/>
                <a:cs typeface="Times New Roman" panose="02020603050405020304" pitchFamily="18" charset="0"/>
              </a:rPr>
              <a:t>辆车</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那么在</a:t>
            </a:r>
            <a:r>
              <a:rPr lang="en-US" altLang="zh-CN" sz="2800" dirty="0">
                <a:solidFill>
                  <a:srgbClr val="000000"/>
                </a:solidFill>
                <a:latin typeface="Times New Roman" panose="02020603050405020304" pitchFamily="18" charset="0"/>
                <a:cs typeface="Times New Roman" panose="02020603050405020304" pitchFamily="18" charset="0"/>
              </a:rPr>
              <a:t>24 h</a:t>
            </a:r>
            <a:r>
              <a:rPr lang="zh-CN" altLang="zh-CN" sz="2800" dirty="0">
                <a:solidFill>
                  <a:srgbClr val="000000"/>
                </a:solidFill>
                <a:latin typeface="Times New Roman" panose="02020603050405020304" pitchFamily="18" charset="0"/>
                <a:cs typeface="Times New Roman" panose="02020603050405020304" pitchFamily="18" charset="0"/>
              </a:rPr>
              <a:t>内能否完成这项任务</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smtClean="0">
                <a:solidFill>
                  <a:srgbClr val="FF0000"/>
                </a:solidFill>
                <a:latin typeface="Arial" panose="020B0604020202020204" pitchFamily="34" charset="0"/>
                <a:ea typeface="黑体" panose="02010609060101010101" pitchFamily="49" charset="-122"/>
                <a:cs typeface="Times New Roman" panose="02020603050405020304" pitchFamily="18" charset="0"/>
              </a:rPr>
              <a:t>分析</a:t>
            </a:r>
            <a:r>
              <a:rPr lang="en-US" altLang="zh-CN" sz="2800" dirty="0" smtClean="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这</a:t>
            </a:r>
            <a:r>
              <a:rPr lang="en-US" altLang="zh-CN" sz="2800" dirty="0">
                <a:solidFill>
                  <a:srgbClr val="000000"/>
                </a:solidFill>
                <a:latin typeface="Times New Roman" panose="02020603050405020304" pitchFamily="18" charset="0"/>
                <a:cs typeface="Times New Roman" panose="02020603050405020304" pitchFamily="18" charset="0"/>
              </a:rPr>
              <a:t>25</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辆车分别工作的时间按一定顺序排起来</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组成一个等差数列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计算出这</a:t>
            </a:r>
            <a:r>
              <a:rPr lang="en-US" altLang="zh-CN" sz="2800" dirty="0">
                <a:solidFill>
                  <a:srgbClr val="000000"/>
                </a:solidFill>
                <a:latin typeface="Times New Roman" panose="02020603050405020304" pitchFamily="18" charset="0"/>
                <a:cs typeface="Times New Roman" panose="02020603050405020304" pitchFamily="18" charset="0"/>
              </a:rPr>
              <a:t>25</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辆车可以工作的时间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即这个等差数列的前</a:t>
            </a:r>
            <a:r>
              <a:rPr lang="en-US" altLang="zh-CN" sz="2800" dirty="0">
                <a:solidFill>
                  <a:srgbClr val="000000"/>
                </a:solidFill>
                <a:latin typeface="Times New Roman" panose="02020603050405020304" pitchFamily="18" charset="0"/>
                <a:cs typeface="Times New Roman" panose="02020603050405020304" pitchFamily="18" charset="0"/>
              </a:rPr>
              <a:t>25</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项和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如果大于或等于总共需要工作的时间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那么就能完成这项任务</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否则不能</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41190" y="134266"/>
            <a:ext cx="11769810" cy="6098767"/>
            <a:chOff x="41190" y="150742"/>
            <a:chExt cx="11769810" cy="6098767"/>
          </a:xfrm>
        </p:grpSpPr>
        <p:graphicFrame>
          <p:nvGraphicFramePr>
            <p:cNvPr id="2" name="对象 1"/>
            <p:cNvGraphicFramePr>
              <a:graphicFrameLocks noChangeAspect="1"/>
            </p:cNvGraphicFramePr>
            <p:nvPr>
              <p:extLst>
                <p:ext uri="{D42A27DB-BD31-4B8C-83A1-F6EECF244321}">
                  <p14:modId xmlns:p14="http://schemas.microsoft.com/office/powerpoint/2010/main" val="2048363557"/>
                </p:ext>
              </p:extLst>
            </p:nvPr>
          </p:nvGraphicFramePr>
          <p:xfrm>
            <a:off x="41190" y="150742"/>
            <a:ext cx="11430000" cy="5014657"/>
          </p:xfrm>
          <a:graphic>
            <a:graphicData uri="http://schemas.openxmlformats.org/presentationml/2006/ole">
              <mc:AlternateContent xmlns:mc="http://schemas.openxmlformats.org/markup-compatibility/2006">
                <mc:Choice xmlns:v="urn:schemas-microsoft-com:vml" Requires="v">
                  <p:oleObj spid="_x0000_s16398" name="文档" r:id="rId3" imgW="4520786" imgH="1983394" progId="Word.Document.12">
                    <p:embed/>
                  </p:oleObj>
                </mc:Choice>
                <mc:Fallback>
                  <p:oleObj name="文档" r:id="rId3" imgW="4520786" imgH="1983394" progId="Word.Document.12">
                    <p:embed/>
                    <p:pic>
                      <p:nvPicPr>
                        <p:cNvPr id="0" name=""/>
                        <p:cNvPicPr/>
                        <p:nvPr/>
                      </p:nvPicPr>
                      <p:blipFill>
                        <a:blip r:embed="rId4"/>
                        <a:stretch>
                          <a:fillRect/>
                        </a:stretch>
                      </p:blipFill>
                      <p:spPr>
                        <a:xfrm>
                          <a:off x="41190" y="150742"/>
                          <a:ext cx="11430000" cy="5014657"/>
                        </a:xfrm>
                        <a:prstGeom prst="rect">
                          <a:avLst/>
                        </a:prstGeom>
                      </p:spPr>
                    </p:pic>
                  </p:oleObj>
                </mc:Fallback>
              </mc:AlternateContent>
            </a:graphicData>
          </a:graphic>
        </p:graphicFrame>
        <p:sp>
          <p:nvSpPr>
            <p:cNvPr id="3" name="矩形 2"/>
            <p:cNvSpPr>
              <a:spLocks noChangeAspect="1"/>
            </p:cNvSpPr>
            <p:nvPr/>
          </p:nvSpPr>
          <p:spPr>
            <a:xfrm>
              <a:off x="381000" y="5036869"/>
              <a:ext cx="11430000" cy="121264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总共需要工作的时间为</a:t>
              </a:r>
              <a:r>
                <a:rPr lang="en-US" altLang="zh-CN" sz="2800" dirty="0">
                  <a:solidFill>
                    <a:srgbClr val="000000"/>
                  </a:solidFill>
                  <a:latin typeface="Times New Roman" panose="02020603050405020304" pitchFamily="18" charset="0"/>
                  <a:cs typeface="Times New Roman" panose="02020603050405020304" pitchFamily="18" charset="0"/>
                </a:rPr>
                <a:t>24×20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480(h)</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因为</a:t>
              </a:r>
              <a:r>
                <a:rPr lang="en-US" altLang="zh-CN" sz="2800" dirty="0">
                  <a:solidFill>
                    <a:srgbClr val="000000"/>
                  </a:solidFill>
                  <a:latin typeface="Times New Roman" panose="02020603050405020304" pitchFamily="18" charset="0"/>
                  <a:cs typeface="Times New Roman" panose="02020603050405020304" pitchFamily="18" charset="0"/>
                </a:rPr>
                <a:t>500</a:t>
              </a:r>
              <a:r>
                <a:rPr lang="en-US"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h</a:t>
              </a:r>
              <a:r>
                <a:rPr lang="en-US" altLang="zh-CN" sz="2800" i="1" dirty="0">
                  <a:solidFill>
                    <a:srgbClr val="000000"/>
                  </a:solidFill>
                  <a:latin typeface="Times New Roman" panose="02020603050405020304" pitchFamily="18" charset="0"/>
                  <a:cs typeface="Times New Roman" panose="02020603050405020304" pitchFamily="18" charset="0"/>
                </a:rPr>
                <a:t>&gt;</a:t>
              </a:r>
              <a:r>
                <a:rPr lang="en-US" altLang="zh-CN" sz="2800" dirty="0">
                  <a:solidFill>
                    <a:srgbClr val="000000"/>
                  </a:solidFill>
                  <a:latin typeface="Times New Roman" panose="02020603050405020304" pitchFamily="18" charset="0"/>
                  <a:cs typeface="Times New Roman" panose="02020603050405020304" pitchFamily="18" charset="0"/>
                </a:rPr>
                <a:t>480</a:t>
              </a:r>
              <a:r>
                <a:rPr lang="en-US"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h,</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a:t>
              </a:r>
              <a:r>
                <a:rPr lang="en-US" altLang="zh-CN" sz="2800" dirty="0">
                  <a:solidFill>
                    <a:srgbClr val="000000"/>
                  </a:solidFill>
                  <a:latin typeface="Times New Roman" panose="02020603050405020304" pitchFamily="18" charset="0"/>
                  <a:cs typeface="Times New Roman" panose="02020603050405020304" pitchFamily="18" charset="0"/>
                </a:rPr>
                <a:t>24</a:t>
              </a:r>
              <a:r>
                <a:rPr lang="en-US"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h</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内能完成这项任务</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35824488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709902"/>
            <a:ext cx="11430000" cy="4013406"/>
          </a:xfrm>
          <a:prstGeom prst="rect">
            <a:avLst/>
          </a:prstGeom>
        </p:spPr>
        <p:txBody>
          <a:bodyPr>
            <a:spAutoFit/>
          </a:bodyPr>
          <a:lstStyle/>
          <a:p>
            <a:pPr indent="279400">
              <a:lnSpc>
                <a:spcPct val="130000"/>
              </a:lnSpc>
              <a:tabLst>
                <a:tab pos="1188085" algn="l"/>
                <a:tab pos="2163445" algn="l"/>
                <a:tab pos="3142615" algn="l"/>
                <a:tab pos="4190365" algn="l"/>
              </a:tabLst>
            </a:pPr>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反思感悟 </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有关</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数列的应用问题</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应先通过对实际问题相关数据的研究建立关于数列的数学模型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再求出符合实际的答案</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可分以下几步考虑</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问题中所涉及的数列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有何特征</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是求数列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的第</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项</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还是求其前</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项和</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列出等式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或方程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求解</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怎样求解</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(5)</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答案是怎样的</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5879975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243879"/>
            <a:ext cx="11430000" cy="345325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一支车队有</a:t>
            </a:r>
            <a:r>
              <a:rPr lang="en-US" altLang="zh-CN" sz="2800" dirty="0">
                <a:solidFill>
                  <a:srgbClr val="000000"/>
                </a:solidFill>
                <a:latin typeface="Times New Roman" panose="02020603050405020304" pitchFamily="18" charset="0"/>
                <a:cs typeface="Times New Roman" panose="02020603050405020304" pitchFamily="18" charset="0"/>
              </a:rPr>
              <a:t>15</a:t>
            </a:r>
            <a:r>
              <a:rPr lang="zh-CN" altLang="zh-CN" sz="2800" dirty="0">
                <a:solidFill>
                  <a:srgbClr val="000000"/>
                </a:solidFill>
                <a:latin typeface="Times New Roman" panose="02020603050405020304" pitchFamily="18" charset="0"/>
                <a:cs typeface="Times New Roman" panose="02020603050405020304" pitchFamily="18" charset="0"/>
              </a:rPr>
              <a:t>辆车</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某天依次出发执行任务</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第</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辆车于下午</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时出发</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第</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辆车于下午</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10</a:t>
            </a:r>
            <a:r>
              <a:rPr lang="zh-CN" altLang="zh-CN" sz="2800" dirty="0">
                <a:solidFill>
                  <a:srgbClr val="000000"/>
                </a:solidFill>
                <a:latin typeface="Times New Roman" panose="02020603050405020304" pitchFamily="18" charset="0"/>
                <a:cs typeface="Times New Roman" panose="02020603050405020304" pitchFamily="18" charset="0"/>
              </a:rPr>
              <a:t>分出发</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第</a:t>
            </a: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cs typeface="Times New Roman" panose="02020603050405020304" pitchFamily="18" charset="0"/>
              </a:rPr>
              <a:t>辆车于下午</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20</a:t>
            </a:r>
            <a:r>
              <a:rPr lang="zh-CN" altLang="zh-CN" sz="2800" dirty="0">
                <a:solidFill>
                  <a:srgbClr val="000000"/>
                </a:solidFill>
                <a:latin typeface="Times New Roman" panose="02020603050405020304" pitchFamily="18" charset="0"/>
                <a:cs typeface="Times New Roman" panose="02020603050405020304" pitchFamily="18" charset="0"/>
              </a:rPr>
              <a:t>分出发</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依此类推</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假设所有的司机都连续开车</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并且都在</a:t>
            </a:r>
            <a:r>
              <a:rPr lang="zh-CN" altLang="zh-CN" sz="2800" dirty="0" smtClean="0">
                <a:solidFill>
                  <a:srgbClr val="000000"/>
                </a:solidFill>
                <a:latin typeface="Times New Roman" panose="02020603050405020304" pitchFamily="18" charset="0"/>
                <a:cs typeface="Times New Roman" panose="02020603050405020304" pitchFamily="18" charset="0"/>
              </a:rPr>
              <a:t>下午</a:t>
            </a:r>
            <a:r>
              <a:rPr lang="en-US" altLang="zh-CN" sz="2800" dirty="0">
                <a:solidFill>
                  <a:srgbClr val="000000"/>
                </a:solidFill>
                <a:latin typeface="Times New Roman" panose="02020603050405020304" pitchFamily="18" charset="0"/>
                <a:cs typeface="Times New Roman" panose="02020603050405020304" pitchFamily="18" charset="0"/>
              </a:rPr>
              <a:t>5</a:t>
            </a:r>
            <a:r>
              <a:rPr lang="zh-CN" altLang="zh-CN" sz="2800" dirty="0" smtClean="0">
                <a:solidFill>
                  <a:srgbClr val="000000"/>
                </a:solidFill>
                <a:latin typeface="Times New Roman" panose="02020603050405020304" pitchFamily="18" charset="0"/>
                <a:cs typeface="Times New Roman" panose="02020603050405020304" pitchFamily="18" charset="0"/>
              </a:rPr>
              <a:t>时</a:t>
            </a:r>
            <a:r>
              <a:rPr lang="zh-CN" altLang="zh-CN" sz="2800" dirty="0">
                <a:solidFill>
                  <a:srgbClr val="000000"/>
                </a:solidFill>
                <a:latin typeface="Times New Roman" panose="02020603050405020304" pitchFamily="18" charset="0"/>
                <a:cs typeface="Times New Roman" panose="02020603050405020304" pitchFamily="18" charset="0"/>
              </a:rPr>
              <a:t>停下休息</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到</a:t>
            </a:r>
            <a:r>
              <a:rPr lang="zh-CN" altLang="zh-CN" sz="2800" dirty="0" smtClean="0">
                <a:solidFill>
                  <a:srgbClr val="000000"/>
                </a:solidFill>
                <a:latin typeface="Times New Roman" panose="02020603050405020304" pitchFamily="18" charset="0"/>
                <a:cs typeface="Times New Roman" panose="02020603050405020304" pitchFamily="18" charset="0"/>
              </a:rPr>
              <a:t>下午</a:t>
            </a:r>
            <a:r>
              <a:rPr lang="en-US" altLang="zh-CN" sz="2800" dirty="0">
                <a:solidFill>
                  <a:srgbClr val="000000"/>
                </a:solidFill>
                <a:latin typeface="Times New Roman" panose="02020603050405020304" pitchFamily="18" charset="0"/>
                <a:cs typeface="Times New Roman" panose="02020603050405020304" pitchFamily="18" charset="0"/>
              </a:rPr>
              <a:t>5</a:t>
            </a:r>
            <a:r>
              <a:rPr lang="zh-CN" altLang="zh-CN" sz="2800" dirty="0" smtClean="0">
                <a:solidFill>
                  <a:srgbClr val="000000"/>
                </a:solidFill>
                <a:latin typeface="Times New Roman" panose="02020603050405020304" pitchFamily="18" charset="0"/>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最后一辆车行驶了多长时间</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如果每辆车的行驶速度都是</a:t>
            </a:r>
            <a:r>
              <a:rPr lang="en-US" altLang="zh-CN" sz="2800" dirty="0">
                <a:solidFill>
                  <a:srgbClr val="000000"/>
                </a:solidFill>
                <a:latin typeface="Times New Roman" panose="02020603050405020304" pitchFamily="18" charset="0"/>
                <a:cs typeface="Times New Roman" panose="02020603050405020304" pitchFamily="18" charset="0"/>
              </a:rPr>
              <a:t>60 km/h,</a:t>
            </a:r>
            <a:r>
              <a:rPr lang="zh-CN" altLang="zh-CN" sz="2800" dirty="0">
                <a:solidFill>
                  <a:srgbClr val="000000"/>
                </a:solidFill>
                <a:latin typeface="Times New Roman" panose="02020603050405020304" pitchFamily="18" charset="0"/>
                <a:cs typeface="Times New Roman" panose="02020603050405020304" pitchFamily="18" charset="0"/>
              </a:rPr>
              <a:t>那么这支车队所有车辆当天一共行驶了多少千米</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7280695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444015"/>
            <a:ext cx="11430000" cy="289310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由题意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知第</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辆车休息时行驶了</a:t>
            </a:r>
            <a:r>
              <a:rPr lang="en-US" altLang="zh-CN" sz="2800" dirty="0">
                <a:solidFill>
                  <a:srgbClr val="000000"/>
                </a:solidFill>
                <a:latin typeface="Times New Roman" panose="02020603050405020304" pitchFamily="18" charset="0"/>
                <a:cs typeface="Times New Roman" panose="02020603050405020304" pitchFamily="18" charset="0"/>
              </a:rPr>
              <a:t>180</a:t>
            </a:r>
            <a:r>
              <a:rPr lang="en-US"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min,</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各辆车行驶的时间构成一个等差数列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其中</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180,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公差</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10,</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180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10(</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10</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190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因为</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10×15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190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所以到下午</a:t>
            </a:r>
            <a:r>
              <a:rPr lang="en-US" altLang="zh-CN" sz="2800" dirty="0">
                <a:solidFill>
                  <a:srgbClr val="000000"/>
                </a:solidFill>
                <a:latin typeface="Times New Roman" panose="02020603050405020304" pitchFamily="18" charset="0"/>
                <a:cs typeface="Times New Roman" panose="02020603050405020304" pitchFamily="18" charset="0"/>
              </a:rPr>
              <a:t>5</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最后一辆车行驶了</a:t>
            </a:r>
            <a:r>
              <a:rPr lang="en-US" altLang="zh-CN" sz="2800" dirty="0">
                <a:solidFill>
                  <a:srgbClr val="000000"/>
                </a:solidFill>
                <a:latin typeface="Times New Roman" panose="02020603050405020304" pitchFamily="18" charset="0"/>
                <a:cs typeface="Times New Roman" panose="02020603050405020304" pitchFamily="18" charset="0"/>
              </a:rPr>
              <a:t>40</a:t>
            </a:r>
            <a:r>
              <a:rPr lang="en-US"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min</a:t>
            </a:r>
            <a:r>
              <a:rPr lang="en-US" altLang="zh-CN" sz="2800" i="1"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因为这支车队所有车辆行驶的总时间</a:t>
            </a: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1011778377"/>
              </p:ext>
            </p:extLst>
          </p:nvPr>
        </p:nvGraphicFramePr>
        <p:xfrm>
          <a:off x="84351" y="3291849"/>
          <a:ext cx="11275153" cy="1983030"/>
        </p:xfrm>
        <a:graphic>
          <a:graphicData uri="http://schemas.openxmlformats.org/presentationml/2006/ole">
            <mc:AlternateContent xmlns:mc="http://schemas.openxmlformats.org/markup-compatibility/2006">
              <mc:Choice xmlns:v="urn:schemas-microsoft-com:vml" Requires="v">
                <p:oleObj spid="_x0000_s17423" name="文档" r:id="rId3" imgW="4510061" imgH="793212" progId="Word.Document.12">
                  <p:embed/>
                </p:oleObj>
              </mc:Choice>
              <mc:Fallback>
                <p:oleObj name="文档" r:id="rId3" imgW="4510061" imgH="793212" progId="Word.Document.12">
                  <p:embed/>
                  <p:pic>
                    <p:nvPicPr>
                      <p:cNvPr id="0" name=""/>
                      <p:cNvPicPr/>
                      <p:nvPr/>
                    </p:nvPicPr>
                    <p:blipFill>
                      <a:blip r:embed="rId4"/>
                      <a:stretch>
                        <a:fillRect/>
                      </a:stretch>
                    </p:blipFill>
                    <p:spPr>
                      <a:xfrm>
                        <a:off x="84351" y="3291849"/>
                        <a:ext cx="11275153" cy="1983030"/>
                      </a:xfrm>
                      <a:prstGeom prst="rect">
                        <a:avLst/>
                      </a:prstGeom>
                    </p:spPr>
                  </p:pic>
                </p:oleObj>
              </mc:Fallback>
            </mc:AlternateContent>
          </a:graphicData>
        </a:graphic>
      </p:graphicFrame>
    </p:spTree>
    <p:extLst>
      <p:ext uri="{BB962C8B-B14F-4D97-AF65-F5344CB8AC3E}">
        <p14:creationId xmlns:p14="http://schemas.microsoft.com/office/powerpoint/2010/main" val="16570342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a:spLocks noChangeAspect="1"/>
          </p:cNvSpPr>
          <p:nvPr/>
        </p:nvSpPr>
        <p:spPr>
          <a:xfrm>
            <a:off x="381000" y="50021"/>
            <a:ext cx="2362200" cy="640625"/>
          </a:xfrm>
          <a:prstGeom prst="rect">
            <a:avLst/>
          </a:prstGeom>
        </p:spPr>
        <p:txBody>
          <a:bodyPr wrap="square">
            <a:spAutoFit/>
          </a:bodyPr>
          <a:lstStyle/>
          <a:p>
            <a:pPr>
              <a:lnSpc>
                <a:spcPct val="130000"/>
              </a:lnSpc>
              <a:tabLst>
                <a:tab pos="1188085" algn="l"/>
                <a:tab pos="2163445" algn="l"/>
                <a:tab pos="3142615" algn="l"/>
                <a:tab pos="4190365" algn="l"/>
              </a:tabLst>
            </a:pPr>
            <a:r>
              <a:rPr lang="zh-CN"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a:t>
            </a:r>
            <a:r>
              <a:rPr lang="zh-CN" altLang="en-US"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易错辨析</a:t>
            </a:r>
            <a:r>
              <a:rPr lang="zh-CN"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a:t>
            </a:r>
            <a:r>
              <a:rPr lang="en-US"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 </a:t>
            </a:r>
            <a:endParaRPr lang="zh-CN" altLang="zh-CN" sz="3200" b="1" dirty="0">
              <a:solidFill>
                <a:srgbClr val="E88651">
                  <a:lumMod val="75000"/>
                </a:srgbClr>
              </a:solidFill>
              <a:latin typeface="黑体" panose="02010609060101010101" pitchFamily="49" charset="-122"/>
              <a:ea typeface="方正姚体" panose="02010601030101010101"/>
              <a:cs typeface="方正姚体" panose="02010601030101010101" charset="-122"/>
            </a:endParaRPr>
          </a:p>
        </p:txBody>
      </p:sp>
      <p:sp>
        <p:nvSpPr>
          <p:cNvPr id="2" name="矩形 1"/>
          <p:cNvSpPr>
            <a:spLocks noChangeAspect="1"/>
          </p:cNvSpPr>
          <p:nvPr/>
        </p:nvSpPr>
        <p:spPr>
          <a:xfrm>
            <a:off x="2682245" y="700388"/>
            <a:ext cx="6827510" cy="592213"/>
          </a:xfrm>
          <a:prstGeom prst="rect">
            <a:avLst/>
          </a:prstGeom>
        </p:spPr>
        <p:txBody>
          <a:bodyPr wrap="none">
            <a:spAutoFit/>
          </a:bodyPr>
          <a:lstStyle/>
          <a:p>
            <a:pPr algn="ctr">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不能正确应用等差数列的前</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项和公式致</a:t>
            </a:r>
            <a:r>
              <a:rPr lang="zh-CN" altLang="zh-CN" sz="2800" dirty="0" smtClean="0">
                <a:solidFill>
                  <a:srgbClr val="000000"/>
                </a:solidFill>
                <a:latin typeface="Arial" panose="020B0604020202020204" pitchFamily="34" charset="0"/>
                <a:ea typeface="黑体" panose="02010609060101010101" pitchFamily="49" charset="-122"/>
                <a:cs typeface="Times New Roman" panose="02020603050405020304" pitchFamily="18" charset="0"/>
              </a:rPr>
              <a:t>错</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5987397"/>
              </p:ext>
            </p:extLst>
          </p:nvPr>
        </p:nvGraphicFramePr>
        <p:xfrm>
          <a:off x="389238" y="1180657"/>
          <a:ext cx="11430000" cy="3008976"/>
        </p:xfrm>
        <a:graphic>
          <a:graphicData uri="http://schemas.openxmlformats.org/presentationml/2006/ole">
            <mc:AlternateContent xmlns:mc="http://schemas.openxmlformats.org/markup-compatibility/2006">
              <mc:Choice xmlns:v="urn:schemas-microsoft-com:vml" Requires="v">
                <p:oleObj spid="_x0000_s18444" name="文档" r:id="rId3" imgW="4520786" imgH="1190108" progId="Word.Document.12">
                  <p:embed/>
                </p:oleObj>
              </mc:Choice>
              <mc:Fallback>
                <p:oleObj name="文档" r:id="rId3" imgW="4520786" imgH="1190108" progId="Word.Document.12">
                  <p:embed/>
                  <p:pic>
                    <p:nvPicPr>
                      <p:cNvPr id="0" name=""/>
                      <p:cNvPicPr/>
                      <p:nvPr/>
                    </p:nvPicPr>
                    <p:blipFill>
                      <a:blip r:embed="rId4"/>
                      <a:stretch>
                        <a:fillRect/>
                      </a:stretch>
                    </p:blipFill>
                    <p:spPr>
                      <a:xfrm>
                        <a:off x="389238" y="1180657"/>
                        <a:ext cx="11430000" cy="3008976"/>
                      </a:xfrm>
                      <a:prstGeom prst="rect">
                        <a:avLst/>
                      </a:prstGeom>
                    </p:spPr>
                  </p:pic>
                </p:oleObj>
              </mc:Fallback>
            </mc:AlternateContent>
          </a:graphicData>
        </a:graphic>
      </p:graphicFrame>
      <p:sp>
        <p:nvSpPr>
          <p:cNvPr id="4" name="矩形 3"/>
          <p:cNvSpPr>
            <a:spLocks noChangeAspect="1"/>
          </p:cNvSpPr>
          <p:nvPr/>
        </p:nvSpPr>
        <p:spPr>
          <a:xfrm>
            <a:off x="381000" y="4022518"/>
            <a:ext cx="11430000" cy="227267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以上解答过程中都有哪些错误</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出错的原因是什么</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你如何改正</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你如何防范</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不能正确应用等差中项的结论转化出</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7</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13</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致错</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或者没有注意到等差数列的前</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项和是关于</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的二次式而出现错误</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42495460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barn(inVertical)">
                                      <p:cBhvr>
                                        <p:cTn id="7"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32952" y="212112"/>
            <a:ext cx="11778048" cy="5845541"/>
            <a:chOff x="32952" y="370130"/>
            <a:chExt cx="11778048" cy="5845541"/>
          </a:xfrm>
        </p:grpSpPr>
        <p:graphicFrame>
          <p:nvGraphicFramePr>
            <p:cNvPr id="2" name="对象 1"/>
            <p:cNvGraphicFramePr>
              <a:graphicFrameLocks noChangeAspect="1"/>
            </p:cNvGraphicFramePr>
            <p:nvPr>
              <p:extLst>
                <p:ext uri="{D42A27DB-BD31-4B8C-83A1-F6EECF244321}">
                  <p14:modId xmlns:p14="http://schemas.microsoft.com/office/powerpoint/2010/main" val="4199686418"/>
                </p:ext>
              </p:extLst>
            </p:nvPr>
          </p:nvGraphicFramePr>
          <p:xfrm>
            <a:off x="32952" y="370130"/>
            <a:ext cx="11430000" cy="2005680"/>
          </p:xfrm>
          <a:graphic>
            <a:graphicData uri="http://schemas.openxmlformats.org/presentationml/2006/ole">
              <mc:AlternateContent xmlns:mc="http://schemas.openxmlformats.org/markup-compatibility/2006">
                <mc:Choice xmlns:v="urn:schemas-microsoft-com:vml" Requires="v">
                  <p:oleObj spid="_x0000_s19494" name="文档" r:id="rId3" imgW="4520786" imgH="793285" progId="Word.Document.12">
                    <p:embed/>
                  </p:oleObj>
                </mc:Choice>
                <mc:Fallback>
                  <p:oleObj name="文档" r:id="rId3" imgW="4520786" imgH="793285" progId="Word.Document.12">
                    <p:embed/>
                    <p:pic>
                      <p:nvPicPr>
                        <p:cNvPr id="0" name=""/>
                        <p:cNvPicPr/>
                        <p:nvPr/>
                      </p:nvPicPr>
                      <p:blipFill>
                        <a:blip r:embed="rId4"/>
                        <a:stretch>
                          <a:fillRect/>
                        </a:stretch>
                      </p:blipFill>
                      <p:spPr>
                        <a:xfrm>
                          <a:off x="32952" y="370130"/>
                          <a:ext cx="11430000" cy="2005680"/>
                        </a:xfrm>
                        <a:prstGeom prst="rect">
                          <a:avLst/>
                        </a:prstGeom>
                      </p:spPr>
                    </p:pic>
                  </p:oleObj>
                </mc:Fallback>
              </mc:AlternateContent>
            </a:graphicData>
          </a:graphic>
        </p:graphicFrame>
        <p:sp>
          <p:nvSpPr>
            <p:cNvPr id="3" name="矩形 2"/>
            <p:cNvSpPr>
              <a:spLocks noChangeAspect="1"/>
            </p:cNvSpPr>
            <p:nvPr/>
          </p:nvSpPr>
          <p:spPr>
            <a:xfrm>
              <a:off x="381000" y="2227768"/>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所以设</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err="1">
                  <a:solidFill>
                    <a:srgbClr val="000000"/>
                  </a:solidFill>
                  <a:latin typeface="Times New Roman" panose="02020603050405020304" pitchFamily="18" charset="0"/>
                  <a:cs typeface="Times New Roman" panose="02020603050405020304" pitchFamily="18" charset="0"/>
                </a:rPr>
                <a:t>kn</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T</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7)</a:t>
              </a:r>
              <a:r>
                <a:rPr lang="en-US" altLang="zh-CN" sz="2800" i="1" dirty="0">
                  <a:solidFill>
                    <a:srgbClr val="000000"/>
                  </a:solidFill>
                  <a:latin typeface="Times New Roman" panose="02020603050405020304" pitchFamily="18" charset="0"/>
                  <a:cs typeface="Times New Roman" panose="02020603050405020304" pitchFamily="18" charset="0"/>
                </a:rPr>
                <a:t>kn</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≠0,</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所以</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7</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7</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6</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38</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7</a:t>
              </a:r>
              <a:r>
                <a:rPr lang="en-US" altLang="zh-CN" sz="2800" i="1" dirty="0">
                  <a:solidFill>
                    <a:srgbClr val="000000"/>
                  </a:solidFill>
                  <a:latin typeface="Times New Roman" panose="02020603050405020304" pitchFamily="18" charset="0"/>
                  <a:cs typeface="Times New Roman" panose="02020603050405020304" pitchFamily="18" charset="0"/>
                </a:rPr>
                <a:t>=T</a:t>
              </a:r>
              <a:r>
                <a:rPr lang="en-US" altLang="zh-CN" sz="2800" baseline="-25000" dirty="0">
                  <a:solidFill>
                    <a:srgbClr val="000000"/>
                  </a:solidFill>
                  <a:latin typeface="Times New Roman" panose="02020603050405020304" pitchFamily="18" charset="0"/>
                  <a:cs typeface="Times New Roman" panose="02020603050405020304" pitchFamily="18" charset="0"/>
                </a:rPr>
                <a:t>7</a:t>
              </a:r>
              <a:r>
                <a:rPr lang="en-US" altLang="zh-CN" sz="2800" i="1" dirty="0">
                  <a:solidFill>
                    <a:srgbClr val="000000"/>
                  </a:solidFill>
                  <a:latin typeface="Times New Roman" panose="02020603050405020304" pitchFamily="18" charset="0"/>
                  <a:cs typeface="Times New Roman" panose="02020603050405020304" pitchFamily="18" charset="0"/>
                </a:rPr>
                <a:t>-T</a:t>
              </a:r>
              <a:r>
                <a:rPr lang="en-US" altLang="zh-CN" sz="2800" baseline="-25000" dirty="0">
                  <a:solidFill>
                    <a:srgbClr val="000000"/>
                  </a:solidFill>
                  <a:latin typeface="Times New Roman" panose="02020603050405020304" pitchFamily="18" charset="0"/>
                  <a:cs typeface="Times New Roman" panose="02020603050405020304" pitchFamily="18" charset="0"/>
                </a:rPr>
                <a:t>6</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20</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3006557375"/>
                </p:ext>
              </p:extLst>
            </p:nvPr>
          </p:nvGraphicFramePr>
          <p:xfrm>
            <a:off x="32952" y="3325785"/>
            <a:ext cx="11430000" cy="1003297"/>
          </p:xfrm>
          <a:graphic>
            <a:graphicData uri="http://schemas.openxmlformats.org/presentationml/2006/ole">
              <mc:AlternateContent xmlns:mc="http://schemas.openxmlformats.org/markup-compatibility/2006">
                <mc:Choice xmlns:v="urn:schemas-microsoft-com:vml" Requires="v">
                  <p:oleObj spid="_x0000_s19495" name="文档" r:id="rId5" imgW="4520786" imgH="396823" progId="Word.Document.12">
                    <p:embed/>
                  </p:oleObj>
                </mc:Choice>
                <mc:Fallback>
                  <p:oleObj name="文档" r:id="rId5" imgW="4520786" imgH="396823" progId="Word.Document.12">
                    <p:embed/>
                    <p:pic>
                      <p:nvPicPr>
                        <p:cNvPr id="0" name=""/>
                        <p:cNvPicPr/>
                        <p:nvPr/>
                      </p:nvPicPr>
                      <p:blipFill>
                        <a:blip r:embed="rId6"/>
                        <a:stretch>
                          <a:fillRect/>
                        </a:stretch>
                      </p:blipFill>
                      <p:spPr>
                        <a:xfrm>
                          <a:off x="32952" y="3325785"/>
                          <a:ext cx="11430000" cy="1003297"/>
                        </a:xfrm>
                        <a:prstGeom prst="rect">
                          <a:avLst/>
                        </a:prstGeom>
                      </p:spPr>
                    </p:pic>
                  </p:oleObj>
                </mc:Fallback>
              </mc:AlternateContent>
            </a:graphicData>
          </a:graphic>
        </p:graphicFrame>
        <p:sp>
          <p:nvSpPr>
            <p:cNvPr id="5" name="矩形 4"/>
            <p:cNvSpPr>
              <a:spLocks noChangeAspect="1"/>
            </p:cNvSpPr>
            <p:nvPr/>
          </p:nvSpPr>
          <p:spPr>
            <a:xfrm>
              <a:off x="381000" y="4184346"/>
              <a:ext cx="11430000" cy="2031325"/>
            </a:xfrm>
            <a:prstGeom prst="rect">
              <a:avLst/>
            </a:prstGeom>
          </p:spPr>
          <p:txBody>
            <a:bodyPr>
              <a:spAutoFit/>
            </a:bodyPr>
            <a:lstStyle/>
            <a:p>
              <a:pPr indent="279400">
                <a:lnSpc>
                  <a:spcPct val="150000"/>
                </a:lnSpc>
                <a:spcAft>
                  <a:spcPts val="0"/>
                </a:spcAft>
                <a:tabLst>
                  <a:tab pos="1029335" algn="l"/>
                  <a:tab pos="1850390" algn="l"/>
                  <a:tab pos="2538095" algn="l"/>
                  <a:tab pos="3221990" algn="l"/>
                </a:tabLst>
              </a:pPr>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防范措施 </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公差</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不为零的等差数列的前</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项和</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为关于</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的二次函数</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对于此类问题有如下结论</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en-US" sz="2800" dirty="0" smtClean="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i="1" baseline="300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如本例的方法一就应用了等差数列的项与前</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项和的这一关系进行求解</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2505455063"/>
                </p:ext>
              </p:extLst>
            </p:nvPr>
          </p:nvGraphicFramePr>
          <p:xfrm>
            <a:off x="3643530" y="4830632"/>
            <a:ext cx="1757482" cy="793499"/>
          </p:xfrm>
          <a:graphic>
            <a:graphicData uri="http://schemas.openxmlformats.org/presentationml/2006/ole">
              <mc:AlternateContent xmlns:mc="http://schemas.openxmlformats.org/markup-compatibility/2006">
                <mc:Choice xmlns:v="urn:schemas-microsoft-com:vml" Requires="v">
                  <p:oleObj spid="_x0000_s19496" name="文档" r:id="rId7" imgW="889258" imgH="397544" progId="Word.Document.12">
                    <p:embed/>
                  </p:oleObj>
                </mc:Choice>
                <mc:Fallback>
                  <p:oleObj name="文档" r:id="rId7" imgW="889258" imgH="397544" progId="Word.Document.12">
                    <p:embed/>
                    <p:pic>
                      <p:nvPicPr>
                        <p:cNvPr id="0" name=""/>
                        <p:cNvPicPr/>
                        <p:nvPr/>
                      </p:nvPicPr>
                      <p:blipFill>
                        <a:blip r:embed="rId8"/>
                        <a:stretch>
                          <a:fillRect/>
                        </a:stretch>
                      </p:blipFill>
                      <p:spPr>
                        <a:xfrm>
                          <a:off x="3643530" y="4830632"/>
                          <a:ext cx="1757482" cy="793499"/>
                        </a:xfrm>
                        <a:prstGeom prst="rect">
                          <a:avLst/>
                        </a:prstGeom>
                      </p:spPr>
                    </p:pic>
                  </p:oleObj>
                </mc:Fallback>
              </mc:AlternateContent>
            </a:graphicData>
          </a:graphic>
        </p:graphicFrame>
      </p:grpSp>
    </p:spTree>
    <p:extLst>
      <p:ext uri="{BB962C8B-B14F-4D97-AF65-F5344CB8AC3E}">
        <p14:creationId xmlns:p14="http://schemas.microsoft.com/office/powerpoint/2010/main" val="28128557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81000" y="961567"/>
            <a:ext cx="11533103" cy="1570796"/>
            <a:chOff x="381000" y="2260713"/>
            <a:chExt cx="11533103" cy="1570796"/>
          </a:xfrm>
        </p:grpSpPr>
        <p:sp>
          <p:nvSpPr>
            <p:cNvPr id="2" name="矩形 1"/>
            <p:cNvSpPr>
              <a:spLocks noChangeAspect="1"/>
            </p:cNvSpPr>
            <p:nvPr/>
          </p:nvSpPr>
          <p:spPr>
            <a:xfrm>
              <a:off x="381000" y="2260713"/>
              <a:ext cx="11430000" cy="59221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有两个等差数列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b</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其前</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项和分别为</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和</a:t>
              </a:r>
              <a:r>
                <a:rPr lang="en-US" altLang="zh-CN" sz="2800" i="1" dirty="0" err="1">
                  <a:solidFill>
                    <a:srgbClr val="000000"/>
                  </a:solidFill>
                  <a:latin typeface="Times New Roman" panose="02020603050405020304" pitchFamily="18" charset="0"/>
                  <a:cs typeface="Times New Roman" panose="02020603050405020304" pitchFamily="18" charset="0"/>
                </a:rPr>
                <a:t>T</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若</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954729166"/>
                </p:ext>
              </p:extLst>
            </p:nvPr>
          </p:nvGraphicFramePr>
          <p:xfrm>
            <a:off x="484103" y="2828212"/>
            <a:ext cx="11430000" cy="1003297"/>
          </p:xfrm>
          <a:graphic>
            <a:graphicData uri="http://schemas.openxmlformats.org/presentationml/2006/ole">
              <mc:AlternateContent xmlns:mc="http://schemas.openxmlformats.org/markup-compatibility/2006">
                <mc:Choice xmlns:v="urn:schemas-microsoft-com:vml" Requires="v">
                  <p:oleObj spid="_x0000_s20504" name="文档" r:id="rId3" imgW="4520786" imgH="396823" progId="Word.Document.12">
                    <p:embed/>
                  </p:oleObj>
                </mc:Choice>
                <mc:Fallback>
                  <p:oleObj name="文档" r:id="rId3" imgW="4520786" imgH="396823" progId="Word.Document.12">
                    <p:embed/>
                    <p:pic>
                      <p:nvPicPr>
                        <p:cNvPr id="0" name=""/>
                        <p:cNvPicPr/>
                        <p:nvPr/>
                      </p:nvPicPr>
                      <p:blipFill>
                        <a:blip r:embed="rId4"/>
                        <a:stretch>
                          <a:fillRect/>
                        </a:stretch>
                      </p:blipFill>
                      <p:spPr>
                        <a:xfrm>
                          <a:off x="484103" y="2828212"/>
                          <a:ext cx="11430000" cy="1003297"/>
                        </a:xfrm>
                        <a:prstGeom prst="rect">
                          <a:avLst/>
                        </a:prstGeom>
                      </p:spPr>
                    </p:pic>
                  </p:oleObj>
                </mc:Fallback>
              </mc:AlternateContent>
            </a:graphicData>
          </a:graphic>
        </p:graphicFrame>
      </p:grpSp>
      <p:graphicFrame>
        <p:nvGraphicFramePr>
          <p:cNvPr id="6" name="对象 5"/>
          <p:cNvGraphicFramePr>
            <a:graphicFrameLocks noChangeAspect="1"/>
          </p:cNvGraphicFramePr>
          <p:nvPr>
            <p:extLst>
              <p:ext uri="{D42A27DB-BD31-4B8C-83A1-F6EECF244321}">
                <p14:modId xmlns:p14="http://schemas.microsoft.com/office/powerpoint/2010/main" val="2317662236"/>
              </p:ext>
            </p:extLst>
          </p:nvPr>
        </p:nvGraphicFramePr>
        <p:xfrm>
          <a:off x="58881" y="2399932"/>
          <a:ext cx="11430000" cy="1813377"/>
        </p:xfrm>
        <a:graphic>
          <a:graphicData uri="http://schemas.openxmlformats.org/presentationml/2006/ole">
            <mc:AlternateContent xmlns:mc="http://schemas.openxmlformats.org/markup-compatibility/2006">
              <mc:Choice xmlns:v="urn:schemas-microsoft-com:vml" Requires="v">
                <p:oleObj spid="_x0000_s20505" name="文档" r:id="rId5" imgW="4510061" imgH="715524" progId="Word.Document.12">
                  <p:embed/>
                </p:oleObj>
              </mc:Choice>
              <mc:Fallback>
                <p:oleObj name="文档" r:id="rId5" imgW="4510061" imgH="715524" progId="Word.Document.12">
                  <p:embed/>
                  <p:pic>
                    <p:nvPicPr>
                      <p:cNvPr id="0" name=""/>
                      <p:cNvPicPr/>
                      <p:nvPr/>
                    </p:nvPicPr>
                    <p:blipFill>
                      <a:blip r:embed="rId6"/>
                      <a:stretch>
                        <a:fillRect/>
                      </a:stretch>
                    </p:blipFill>
                    <p:spPr>
                      <a:xfrm>
                        <a:off x="58881" y="2399932"/>
                        <a:ext cx="11430000" cy="1813377"/>
                      </a:xfrm>
                      <a:prstGeom prst="rect">
                        <a:avLst/>
                      </a:prstGeom>
                    </p:spPr>
                  </p:pic>
                </p:oleObj>
              </mc:Fallback>
            </mc:AlternateContent>
          </a:graphicData>
        </a:graphic>
      </p:graphicFrame>
    </p:spTree>
    <p:extLst>
      <p:ext uri="{BB962C8B-B14F-4D97-AF65-F5344CB8AC3E}">
        <p14:creationId xmlns:p14="http://schemas.microsoft.com/office/powerpoint/2010/main" val="38171020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617835" y="2558415"/>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334801" y="2587481"/>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3612492" y="2507615"/>
            <a:ext cx="4587875" cy="922020"/>
          </a:xfrm>
          <a:prstGeom prst="rect">
            <a:avLst/>
          </a:prstGeom>
          <a:noFill/>
        </p:spPr>
        <p:txBody>
          <a:bodyPr wrap="square" rtlCol="0">
            <a:spAutoFit/>
          </a:bodyPr>
          <a:lstStyle/>
          <a:p>
            <a:pPr algn="ctr"/>
            <a:r>
              <a:rPr lang="zh-CN" altLang="en-US" sz="5400" b="1" dirty="0" smtClean="0">
                <a:solidFill>
                  <a:srgbClr val="4D4D4D"/>
                </a:solidFill>
                <a:latin typeface="方正姚体" panose="02010601030101010101" charset="-122"/>
                <a:ea typeface="方正姚体" panose="02010601030101010101" charset="-122"/>
                <a:cs typeface="隶书" panose="02010509060101010101" pitchFamily="49" charset="-122"/>
                <a:sym typeface="+mn-ea"/>
              </a:rPr>
              <a:t>随堂练习</a:t>
            </a:r>
            <a:endParaRPr lang="zh-CN" altLang="en-US" sz="5400" b="1" dirty="0">
              <a:solidFill>
                <a:srgbClr val="4D4D4D"/>
              </a:solidFill>
              <a:latin typeface="方正姚体" panose="02010601030101010101" charset="-122"/>
              <a:ea typeface="方正姚体" panose="02010601030101010101" charset="-122"/>
              <a:cs typeface="隶书" panose="02010509060101010101" pitchFamily="49"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709901"/>
            <a:ext cx="11430000" cy="401340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已知等差数列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的前</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项和为</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若</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10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10,</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20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60,</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40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A.110	</a:t>
            </a:r>
            <a:r>
              <a:rPr lang="en-US" altLang="zh-CN" sz="2800" dirty="0" smtClean="0">
                <a:solidFill>
                  <a:srgbClr val="000000"/>
                </a:solidFill>
                <a:latin typeface="Times New Roman" panose="02020603050405020304" pitchFamily="18" charset="0"/>
                <a:cs typeface="Times New Roman" panose="02020603050405020304" pitchFamily="18" charset="0"/>
              </a:rPr>
              <a:t>	B.150</a:t>
            </a:r>
            <a:r>
              <a:rPr lang="en-US" altLang="zh-CN" sz="2800" dirty="0">
                <a:solidFill>
                  <a:srgbClr val="000000"/>
                </a:solidFill>
                <a:latin typeface="Times New Roman" panose="02020603050405020304" pitchFamily="18" charset="0"/>
                <a:cs typeface="Times New Roman" panose="02020603050405020304" pitchFamily="18" charset="0"/>
              </a:rPr>
              <a:t>	</a:t>
            </a:r>
            <a:endParaRPr lang="en-US" altLang="zh-CN" sz="2800" dirty="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smtClean="0">
                <a:solidFill>
                  <a:srgbClr val="000000"/>
                </a:solidFill>
                <a:latin typeface="Times New Roman" panose="02020603050405020304" pitchFamily="18" charset="0"/>
                <a:cs typeface="Times New Roman" panose="02020603050405020304" pitchFamily="18" charset="0"/>
              </a:rPr>
              <a:t>C.210</a:t>
            </a:r>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	D.280</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等差数列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的前</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项和为</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10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10,</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20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60,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20</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10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50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由等差数列的性质</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得</a:t>
            </a:r>
            <a:r>
              <a:rPr lang="en-US" altLang="zh-CN" sz="2800" dirty="0">
                <a:solidFill>
                  <a:srgbClr val="000000"/>
                </a:solidFill>
                <a:latin typeface="Times New Roman" panose="02020603050405020304" pitchFamily="18" charset="0"/>
                <a:cs typeface="Times New Roman" panose="02020603050405020304" pitchFamily="18" charset="0"/>
              </a:rPr>
              <a:t>10,50,</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30</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20</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40</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30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仍然是等差数列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公差为</a:t>
            </a:r>
            <a:r>
              <a:rPr lang="en-US" altLang="zh-CN" sz="2800" dirty="0">
                <a:solidFill>
                  <a:srgbClr val="000000"/>
                </a:solidFill>
                <a:latin typeface="Times New Roman" panose="02020603050405020304" pitchFamily="18" charset="0"/>
                <a:cs typeface="Times New Roman" panose="02020603050405020304" pitchFamily="18" charset="0"/>
              </a:rPr>
              <a:t>40</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30</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20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90,</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40</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30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130,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30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150,</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40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280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D</a:t>
            </a:r>
            <a:endParaRPr lang="zh-CN" altLang="zh-CN" sz="2800" dirty="0">
              <a:solidFill>
                <a:srgbClr val="000000"/>
              </a:solidFill>
              <a:effectLst/>
              <a:latin typeface="NEU-BZ-S92"/>
              <a:ea typeface="方正书宋_GBK"/>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barn(inVertical)">
                                      <p:cBhvr>
                                        <p:cTn id="7" dur="500"/>
                                        <p:tgtEl>
                                          <p:spTgt spid="2">
                                            <p:txEl>
                                              <p:pRg st="3" end="3"/>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2">
                                            <p:txEl>
                                              <p:pRg st="4" end="4"/>
                                            </p:txEl>
                                          </p:spTgt>
                                        </p:tgtEl>
                                        <p:attrNameLst>
                                          <p:attrName>style.visibility</p:attrName>
                                        </p:attrNameLst>
                                      </p:cBhvr>
                                      <p:to>
                                        <p:strVal val="visible"/>
                                      </p:to>
                                    </p:set>
                                    <p:animEffect transition="in" filter="barn(inVertical)">
                                      <p:cBhvr>
                                        <p:cTn id="10" dur="500"/>
                                        <p:tgtEl>
                                          <p:spTgt spid="2">
                                            <p:txEl>
                                              <p:pRg st="4" end="4"/>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2">
                                            <p:txEl>
                                              <p:pRg st="5" end="5"/>
                                            </p:txEl>
                                          </p:spTgt>
                                        </p:tgtEl>
                                        <p:attrNameLst>
                                          <p:attrName>style.visibility</p:attrName>
                                        </p:attrNameLst>
                                      </p:cBhvr>
                                      <p:to>
                                        <p:strVal val="visible"/>
                                      </p:to>
                                    </p:set>
                                    <p:animEffect transition="in" filter="barn(inVertical)">
                                      <p:cBhvr>
                                        <p:cTn id="13" dur="500"/>
                                        <p:tgtEl>
                                          <p:spTgt spid="2">
                                            <p:txEl>
                                              <p:pRg st="5" end="5"/>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2">
                                            <p:txEl>
                                              <p:pRg st="6" end="6"/>
                                            </p:txEl>
                                          </p:spTgt>
                                        </p:tgtEl>
                                        <p:attrNameLst>
                                          <p:attrName>style.visibility</p:attrName>
                                        </p:attrNameLst>
                                      </p:cBhvr>
                                      <p:to>
                                        <p:strVal val="visible"/>
                                      </p:to>
                                    </p:set>
                                    <p:animEffect transition="in" filter="barn(inVertical)">
                                      <p:cBhvr>
                                        <p:cTn id="18"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45322"/>
            <a:ext cx="11430000" cy="289310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已知等差数列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的前</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项和为</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若</a:t>
            </a:r>
            <a:r>
              <a:rPr lang="en-US" altLang="zh-CN" sz="2800" i="1" dirty="0">
                <a:solidFill>
                  <a:srgbClr val="000000"/>
                </a:solidFill>
                <a:latin typeface="Times New Roman" panose="02020603050405020304" pitchFamily="18" charset="0"/>
                <a:cs typeface="Times New Roman" panose="02020603050405020304" pitchFamily="18" charset="0"/>
              </a:rPr>
              <a:t>m&gt;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且</a:t>
            </a:r>
            <a:r>
              <a:rPr lang="en-US" altLang="zh-CN" sz="2800" i="1" dirty="0" smtClean="0">
                <a:solidFill>
                  <a:srgbClr val="000000"/>
                </a:solidFill>
                <a:latin typeface="Times New Roman" panose="02020603050405020304" pitchFamily="18" charset="0"/>
                <a:cs typeface="Times New Roman" panose="02020603050405020304" pitchFamily="18" charset="0"/>
              </a:rPr>
              <a:t>a</a:t>
            </a:r>
            <a:r>
              <a:rPr lang="en-US" altLang="zh-CN" sz="2800" i="1" baseline="-25000" dirty="0" smtClean="0">
                <a:solidFill>
                  <a:srgbClr val="000000"/>
                </a:solidFill>
                <a:latin typeface="Times New Roman" panose="02020603050405020304" pitchFamily="18" charset="0"/>
                <a:cs typeface="Times New Roman" panose="02020603050405020304" pitchFamily="18" charset="0"/>
              </a:rPr>
              <a:t>m-</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1</a:t>
            </a:r>
            <a:r>
              <a:rPr lang="en-US" altLang="zh-CN" sz="2800" i="1" dirty="0" smtClean="0">
                <a:solidFill>
                  <a:srgbClr val="000000"/>
                </a:solidFill>
                <a:latin typeface="Times New Roman" panose="02020603050405020304" pitchFamily="18" charset="0"/>
                <a:cs typeface="Times New Roman" panose="02020603050405020304" pitchFamily="18" charset="0"/>
              </a:rPr>
              <a:t>+a</a:t>
            </a:r>
            <a:r>
              <a:rPr lang="en-US" altLang="zh-CN" sz="2800" i="1" baseline="-25000" dirty="0" smtClean="0">
                <a:solidFill>
                  <a:srgbClr val="000000"/>
                </a:solidFill>
                <a:latin typeface="Times New Roman" panose="02020603050405020304" pitchFamily="18" charset="0"/>
                <a:cs typeface="Times New Roman" panose="02020603050405020304" pitchFamily="18" charset="0"/>
              </a:rPr>
              <a:t>m+</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1</a:t>
            </a:r>
            <a:r>
              <a:rPr lang="en-US" altLang="zh-CN" sz="2800" i="1" dirty="0" smtClean="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0,</a:t>
            </a:r>
            <a:r>
              <a:rPr lang="en-US" altLang="zh-CN" sz="2800" i="1" dirty="0" smtClean="0">
                <a:solidFill>
                  <a:srgbClr val="000000"/>
                </a:solidFill>
                <a:latin typeface="Times New Roman" panose="02020603050405020304" pitchFamily="18" charset="0"/>
                <a:cs typeface="Times New Roman" panose="02020603050405020304" pitchFamily="18" charset="0"/>
              </a:rPr>
              <a:t>S</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2</a:t>
            </a:r>
            <a:r>
              <a:rPr lang="en-US" altLang="zh-CN" sz="2800" i="1" baseline="-25000" dirty="0" smtClean="0">
                <a:solidFill>
                  <a:srgbClr val="000000"/>
                </a:solidFill>
                <a:latin typeface="Times New Roman" panose="02020603050405020304" pitchFamily="18" charset="0"/>
                <a:cs typeface="Times New Roman" panose="02020603050405020304" pitchFamily="18" charset="0"/>
              </a:rPr>
              <a:t>m-</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1</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38</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cs typeface="Times New Roman" panose="02020603050405020304" pitchFamily="18" charset="0"/>
              </a:rPr>
              <a:t>等于</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A.10	B.20	</a:t>
            </a:r>
            <a:endParaRPr lang="en-US" altLang="zh-CN" sz="2800" dirty="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smtClean="0">
                <a:solidFill>
                  <a:srgbClr val="000000"/>
                </a:solidFill>
                <a:latin typeface="Times New Roman" panose="02020603050405020304" pitchFamily="18" charset="0"/>
                <a:cs typeface="Times New Roman" panose="02020603050405020304" pitchFamily="18" charset="0"/>
              </a:rPr>
              <a:t>C.38</a:t>
            </a:r>
            <a:r>
              <a:rPr lang="en-US" altLang="zh-CN" sz="2800" dirty="0">
                <a:solidFill>
                  <a:srgbClr val="000000"/>
                </a:solidFill>
                <a:latin typeface="Times New Roman" panose="02020603050405020304" pitchFamily="18" charset="0"/>
                <a:cs typeface="Times New Roman" panose="02020603050405020304" pitchFamily="18" charset="0"/>
              </a:rPr>
              <a:t>	D.9</a:t>
            </a:r>
            <a:endParaRPr lang="zh-CN" altLang="zh-CN" sz="2800" dirty="0">
              <a:solidFill>
                <a:srgbClr val="000000"/>
              </a:solidFill>
              <a:effectLst/>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为等差数列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m-</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m+</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586762669"/>
              </p:ext>
            </p:extLst>
          </p:nvPr>
        </p:nvGraphicFramePr>
        <p:xfrm>
          <a:off x="8717692" y="367117"/>
          <a:ext cx="968375" cy="496888"/>
        </p:xfrm>
        <a:graphic>
          <a:graphicData uri="http://schemas.openxmlformats.org/presentationml/2006/ole">
            <mc:AlternateContent xmlns:mc="http://schemas.openxmlformats.org/markup-compatibility/2006">
              <mc:Choice xmlns:v="urn:schemas-microsoft-com:vml" Requires="v">
                <p:oleObj spid="_x0000_s21528" name="文档" r:id="rId3" imgW="391187" imgH="198231" progId="Word.Document.12">
                  <p:embed/>
                </p:oleObj>
              </mc:Choice>
              <mc:Fallback>
                <p:oleObj name="文档" r:id="rId3" imgW="391187" imgH="198231" progId="Word.Document.12">
                  <p:embed/>
                  <p:pic>
                    <p:nvPicPr>
                      <p:cNvPr id="0" name=""/>
                      <p:cNvPicPr/>
                      <p:nvPr/>
                    </p:nvPicPr>
                    <p:blipFill>
                      <a:blip r:embed="rId4"/>
                      <a:stretch>
                        <a:fillRect/>
                      </a:stretch>
                    </p:blipFill>
                    <p:spPr>
                      <a:xfrm>
                        <a:off x="8717692" y="367117"/>
                        <a:ext cx="968375" cy="496888"/>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775334139"/>
              </p:ext>
            </p:extLst>
          </p:nvPr>
        </p:nvGraphicFramePr>
        <p:xfrm>
          <a:off x="479854" y="3056042"/>
          <a:ext cx="11430000" cy="601430"/>
        </p:xfrm>
        <a:graphic>
          <a:graphicData uri="http://schemas.openxmlformats.org/presentationml/2006/ole">
            <mc:AlternateContent xmlns:mc="http://schemas.openxmlformats.org/markup-compatibility/2006">
              <mc:Choice xmlns:v="urn:schemas-microsoft-com:vml" Requires="v">
                <p:oleObj spid="_x0000_s21529" name="文档" r:id="rId5" imgW="4520786" imgH="237877" progId="Word.Document.12">
                  <p:embed/>
                </p:oleObj>
              </mc:Choice>
              <mc:Fallback>
                <p:oleObj name="文档" r:id="rId5" imgW="4520786" imgH="237877" progId="Word.Document.12">
                  <p:embed/>
                  <p:pic>
                    <p:nvPicPr>
                      <p:cNvPr id="0" name=""/>
                      <p:cNvPicPr/>
                      <p:nvPr/>
                    </p:nvPicPr>
                    <p:blipFill>
                      <a:blip r:embed="rId6"/>
                      <a:stretch>
                        <a:fillRect/>
                      </a:stretch>
                    </p:blipFill>
                    <p:spPr>
                      <a:xfrm>
                        <a:off x="479854" y="3056042"/>
                        <a:ext cx="11430000" cy="601430"/>
                      </a:xfrm>
                      <a:prstGeom prst="rect">
                        <a:avLst/>
                      </a:prstGeom>
                    </p:spPr>
                  </p:pic>
                </p:oleObj>
              </mc:Fallback>
            </mc:AlternateContent>
          </a:graphicData>
        </a:graphic>
      </p:graphicFrame>
      <p:sp>
        <p:nvSpPr>
          <p:cNvPr id="5" name="矩形 4"/>
          <p:cNvSpPr>
            <a:spLocks noChangeAspect="1"/>
          </p:cNvSpPr>
          <p:nvPr/>
        </p:nvSpPr>
        <p:spPr>
          <a:xfrm>
            <a:off x="381000" y="3601463"/>
            <a:ext cx="11430000" cy="227267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得</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m</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舍</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m</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又</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baseline="-25000" dirty="0">
                <a:solidFill>
                  <a:srgbClr val="000000"/>
                </a:solidFill>
                <a:latin typeface="Times New Roman" panose="02020603050405020304" pitchFamily="18" charset="0"/>
                <a:cs typeface="Times New Roman" panose="02020603050405020304" pitchFamily="18" charset="0"/>
              </a:rPr>
              <a:t>m-</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m</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38</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10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238252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barn(inVertical)">
                                      <p:cBhvr>
                                        <p:cTn id="7" dur="500"/>
                                        <p:tgtEl>
                                          <p:spTgt spid="2">
                                            <p:txEl>
                                              <p:pRg st="3" end="3"/>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barn(inVertical)">
                                      <p:cBhvr>
                                        <p:cTn id="10" dur="500"/>
                                        <p:tgtEl>
                                          <p:spTgt spid="4"/>
                                        </p:tgtEl>
                                      </p:cBhvr>
                                    </p:animEffect>
                                  </p:childTnLst>
                                </p:cTn>
                              </p:par>
                              <p:par>
                                <p:cTn id="11" presetID="16" presetClass="entr" presetSubtype="21" fill="hold" nodeType="with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Effect transition="in" filter="barn(inVertical)">
                                      <p:cBhvr>
                                        <p:cTn id="13" dur="500"/>
                                        <p:tgtEl>
                                          <p:spTgt spid="5">
                                            <p:txEl>
                                              <p:pRg st="0" end="0"/>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5">
                                            <p:txEl>
                                              <p:pRg st="1" end="1"/>
                                            </p:txEl>
                                          </p:spTgt>
                                        </p:tgtEl>
                                        <p:attrNameLst>
                                          <p:attrName>style.visibility</p:attrName>
                                        </p:attrNameLst>
                                      </p:cBhvr>
                                      <p:to>
                                        <p:strVal val="visible"/>
                                      </p:to>
                                    </p:set>
                                    <p:animEffect transition="in" filter="barn(inVertical)">
                                      <p:cBhvr>
                                        <p:cTn id="16" dur="500"/>
                                        <p:tgtEl>
                                          <p:spTgt spid="5">
                                            <p:txEl>
                                              <p:pRg st="1" end="1"/>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Effect transition="in" filter="barn(inVertical)">
                                      <p:cBhvr>
                                        <p:cTn id="19" dur="500"/>
                                        <p:tgtEl>
                                          <p:spTgt spid="5">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5">
                                            <p:txEl>
                                              <p:pRg st="3" end="3"/>
                                            </p:txEl>
                                          </p:spTgt>
                                        </p:tgtEl>
                                        <p:attrNameLst>
                                          <p:attrName>style.visibility</p:attrName>
                                        </p:attrNameLst>
                                      </p:cBhvr>
                                      <p:to>
                                        <p:strVal val="visible"/>
                                      </p:to>
                                    </p:set>
                                    <p:animEffect transition="in" filter="barn(inVertical)">
                                      <p:cBhvr>
                                        <p:cTn id="24"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003658079"/>
              </p:ext>
            </p:extLst>
          </p:nvPr>
        </p:nvGraphicFramePr>
        <p:xfrm>
          <a:off x="479853" y="692150"/>
          <a:ext cx="11430000" cy="2005680"/>
        </p:xfrm>
        <a:graphic>
          <a:graphicData uri="http://schemas.openxmlformats.org/presentationml/2006/ole">
            <mc:AlternateContent xmlns:mc="http://schemas.openxmlformats.org/markup-compatibility/2006">
              <mc:Choice xmlns:v="urn:schemas-microsoft-com:vml" Requires="v">
                <p:oleObj spid="_x0000_s22563" name="文档" r:id="rId3" imgW="4520786" imgH="793285" progId="Word.Document.12">
                  <p:embed/>
                </p:oleObj>
              </mc:Choice>
              <mc:Fallback>
                <p:oleObj name="文档" r:id="rId3" imgW="4520786" imgH="793285" progId="Word.Document.12">
                  <p:embed/>
                  <p:pic>
                    <p:nvPicPr>
                      <p:cNvPr id="0" name=""/>
                      <p:cNvPicPr/>
                      <p:nvPr/>
                    </p:nvPicPr>
                    <p:blipFill>
                      <a:blip r:embed="rId4"/>
                      <a:stretch>
                        <a:fillRect/>
                      </a:stretch>
                    </p:blipFill>
                    <p:spPr>
                      <a:xfrm>
                        <a:off x="479853" y="692150"/>
                        <a:ext cx="11430000" cy="2005680"/>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4109907144"/>
              </p:ext>
            </p:extLst>
          </p:nvPr>
        </p:nvGraphicFramePr>
        <p:xfrm>
          <a:off x="479853" y="2501003"/>
          <a:ext cx="11430000" cy="1003297"/>
        </p:xfrm>
        <a:graphic>
          <a:graphicData uri="http://schemas.openxmlformats.org/presentationml/2006/ole">
            <mc:AlternateContent xmlns:mc="http://schemas.openxmlformats.org/markup-compatibility/2006">
              <mc:Choice xmlns:v="urn:schemas-microsoft-com:vml" Requires="v">
                <p:oleObj spid="_x0000_s22564" name="文档" r:id="rId5" imgW="4520786" imgH="396823" progId="Word.Document.12">
                  <p:embed/>
                </p:oleObj>
              </mc:Choice>
              <mc:Fallback>
                <p:oleObj name="文档" r:id="rId5" imgW="4520786" imgH="396823" progId="Word.Document.12">
                  <p:embed/>
                  <p:pic>
                    <p:nvPicPr>
                      <p:cNvPr id="0" name=""/>
                      <p:cNvPicPr/>
                      <p:nvPr/>
                    </p:nvPicPr>
                    <p:blipFill>
                      <a:blip r:embed="rId6"/>
                      <a:stretch>
                        <a:fillRect/>
                      </a:stretch>
                    </p:blipFill>
                    <p:spPr>
                      <a:xfrm>
                        <a:off x="479853" y="2501003"/>
                        <a:ext cx="11430000" cy="1003297"/>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4170640859"/>
              </p:ext>
            </p:extLst>
          </p:nvPr>
        </p:nvGraphicFramePr>
        <p:xfrm>
          <a:off x="479853" y="3405388"/>
          <a:ext cx="11430000" cy="1003297"/>
        </p:xfrm>
        <a:graphic>
          <a:graphicData uri="http://schemas.openxmlformats.org/presentationml/2006/ole">
            <mc:AlternateContent xmlns:mc="http://schemas.openxmlformats.org/markup-compatibility/2006">
              <mc:Choice xmlns:v="urn:schemas-microsoft-com:vml" Requires="v">
                <p:oleObj spid="_x0000_s22565" name="文档" r:id="rId7" imgW="4520786" imgH="396823" progId="Word.Document.12">
                  <p:embed/>
                </p:oleObj>
              </mc:Choice>
              <mc:Fallback>
                <p:oleObj name="文档" r:id="rId7" imgW="4520786" imgH="396823" progId="Word.Document.12">
                  <p:embed/>
                  <p:pic>
                    <p:nvPicPr>
                      <p:cNvPr id="0" name=""/>
                      <p:cNvPicPr/>
                      <p:nvPr/>
                    </p:nvPicPr>
                    <p:blipFill>
                      <a:blip r:embed="rId8"/>
                      <a:stretch>
                        <a:fillRect/>
                      </a:stretch>
                    </p:blipFill>
                    <p:spPr>
                      <a:xfrm>
                        <a:off x="479853" y="3405388"/>
                        <a:ext cx="11430000" cy="1003297"/>
                      </a:xfrm>
                      <a:prstGeom prst="rect">
                        <a:avLst/>
                      </a:prstGeom>
                    </p:spPr>
                  </p:pic>
                </p:oleObj>
              </mc:Fallback>
            </mc:AlternateContent>
          </a:graphicData>
        </a:graphic>
      </p:graphicFrame>
    </p:spTree>
    <p:extLst>
      <p:ext uri="{BB962C8B-B14F-4D97-AF65-F5344CB8AC3E}">
        <p14:creationId xmlns:p14="http://schemas.microsoft.com/office/powerpoint/2010/main" val="36611151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arn(inVertic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94792"/>
            <a:ext cx="11430000" cy="401340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某班</a:t>
            </a:r>
            <a:r>
              <a:rPr lang="en-US" altLang="zh-CN" sz="2800" dirty="0">
                <a:solidFill>
                  <a:srgbClr val="000000"/>
                </a:solidFill>
                <a:latin typeface="Times New Roman" panose="02020603050405020304" pitchFamily="18" charset="0"/>
                <a:cs typeface="Times New Roman" panose="02020603050405020304" pitchFamily="18" charset="0"/>
              </a:rPr>
              <a:t>20</a:t>
            </a:r>
            <a:r>
              <a:rPr lang="zh-CN" altLang="zh-CN" sz="2800" dirty="0">
                <a:solidFill>
                  <a:srgbClr val="000000"/>
                </a:solidFill>
                <a:latin typeface="Times New Roman" panose="02020603050405020304" pitchFamily="18" charset="0"/>
                <a:cs typeface="Times New Roman" panose="02020603050405020304" pitchFamily="18" charset="0"/>
              </a:rPr>
              <a:t>名同学植树节那天在一段直线公路的一侧植树</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每人植树一棵</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相邻两棵树相距</a:t>
            </a:r>
            <a:r>
              <a:rPr lang="en-US" altLang="zh-CN" sz="2800" dirty="0">
                <a:solidFill>
                  <a:srgbClr val="000000"/>
                </a:solidFill>
                <a:latin typeface="Times New Roman" panose="02020603050405020304" pitchFamily="18" charset="0"/>
                <a:cs typeface="Times New Roman" panose="02020603050405020304" pitchFamily="18" charset="0"/>
              </a:rPr>
              <a:t>10 m,</a:t>
            </a:r>
            <a:r>
              <a:rPr lang="zh-CN" altLang="zh-CN" sz="2800" dirty="0">
                <a:solidFill>
                  <a:srgbClr val="000000"/>
                </a:solidFill>
                <a:latin typeface="Times New Roman" panose="02020603050405020304" pitchFamily="18" charset="0"/>
                <a:cs typeface="Times New Roman" panose="02020603050405020304" pitchFamily="18" charset="0"/>
              </a:rPr>
              <a:t>开始时需将树苗集中放置在某</a:t>
            </a:r>
            <a:r>
              <a:rPr lang="zh-CN" altLang="zh-CN" sz="2800" dirty="0" smtClean="0">
                <a:solidFill>
                  <a:srgbClr val="000000"/>
                </a:solidFill>
                <a:latin typeface="Times New Roman" panose="02020603050405020304" pitchFamily="18" charset="0"/>
                <a:cs typeface="Times New Roman" panose="02020603050405020304" pitchFamily="18" charset="0"/>
              </a:rPr>
              <a:t>一树</a:t>
            </a:r>
            <a:r>
              <a:rPr lang="zh-CN" altLang="zh-CN" sz="2800" dirty="0">
                <a:solidFill>
                  <a:srgbClr val="000000"/>
                </a:solidFill>
                <a:latin typeface="Times New Roman" panose="02020603050405020304" pitchFamily="18" charset="0"/>
                <a:cs typeface="Times New Roman" panose="02020603050405020304" pitchFamily="18" charset="0"/>
              </a:rPr>
              <a:t>坑旁边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使每名同学从各自树坑出发前来领取树苗往返所走的路程总和最小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此最小值</a:t>
            </a:r>
            <a:r>
              <a:rPr lang="zh-CN" altLang="zh-CN" sz="2800" dirty="0" smtClean="0">
                <a:solidFill>
                  <a:srgbClr val="000000"/>
                </a:solidFill>
                <a:latin typeface="Times New Roman" panose="02020603050405020304" pitchFamily="18" charset="0"/>
                <a:cs typeface="Times New Roman" panose="02020603050405020304" pitchFamily="18" charset="0"/>
              </a:rPr>
              <a:t>为</a:t>
            </a:r>
            <a:endParaRPr lang="en-US" altLang="zh-CN" sz="2800" dirty="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m</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effectLst/>
                <a:latin typeface="宋体" panose="02010600030101010101" pitchFamily="2" charset="-122"/>
                <a:ea typeface="方正书宋_GBK"/>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假设</a:t>
            </a:r>
            <a:r>
              <a:rPr lang="en-US" altLang="zh-CN" sz="2800" dirty="0">
                <a:solidFill>
                  <a:srgbClr val="000000"/>
                </a:solidFill>
                <a:latin typeface="Times New Roman" panose="02020603050405020304" pitchFamily="18" charset="0"/>
                <a:cs typeface="Times New Roman" panose="02020603050405020304" pitchFamily="18" charset="0"/>
              </a:rPr>
              <a:t>20</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名同学是</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号到</a:t>
            </a:r>
            <a:r>
              <a:rPr lang="en-US" altLang="zh-CN" sz="2800" dirty="0">
                <a:solidFill>
                  <a:srgbClr val="000000"/>
                </a:solidFill>
                <a:latin typeface="Times New Roman" panose="02020603050405020304" pitchFamily="18" charset="0"/>
                <a:cs typeface="Times New Roman" panose="02020603050405020304" pitchFamily="18" charset="0"/>
              </a:rPr>
              <a:t>20</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号依次排列</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若使每名同学从各自树坑出发前来领取树苗往返所走的路程总和最小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则树苗需放在第</a:t>
            </a:r>
            <a:r>
              <a:rPr lang="en-US" altLang="zh-CN" sz="2800" dirty="0">
                <a:solidFill>
                  <a:srgbClr val="000000"/>
                </a:solidFill>
                <a:latin typeface="Times New Roman" panose="02020603050405020304" pitchFamily="18" charset="0"/>
                <a:cs typeface="Times New Roman" panose="02020603050405020304" pitchFamily="18" charset="0"/>
              </a:rPr>
              <a:t>10</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或第</a:t>
            </a:r>
            <a:r>
              <a:rPr lang="en-US" altLang="zh-CN" sz="2800" dirty="0">
                <a:solidFill>
                  <a:srgbClr val="000000"/>
                </a:solidFill>
                <a:latin typeface="Times New Roman" panose="02020603050405020304" pitchFamily="18" charset="0"/>
                <a:cs typeface="Times New Roman" panose="02020603050405020304" pitchFamily="18" charset="0"/>
              </a:rPr>
              <a:t>11</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号树坑旁</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此时两侧的同学所走的路程分别组成以</a:t>
            </a:r>
            <a:r>
              <a:rPr lang="en-US" altLang="zh-CN" sz="2800" dirty="0">
                <a:solidFill>
                  <a:srgbClr val="000000"/>
                </a:solidFill>
                <a:latin typeface="Times New Roman" panose="02020603050405020304" pitchFamily="18" charset="0"/>
                <a:cs typeface="Times New Roman" panose="02020603050405020304" pitchFamily="18" charset="0"/>
              </a:rPr>
              <a:t>20</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为首项</a:t>
            </a:r>
            <a:r>
              <a:rPr lang="en-US" altLang="zh-CN" sz="2800" dirty="0">
                <a:solidFill>
                  <a:srgbClr val="000000"/>
                </a:solidFill>
                <a:latin typeface="Times New Roman" panose="02020603050405020304" pitchFamily="18" charset="0"/>
                <a:cs typeface="Times New Roman" panose="02020603050405020304" pitchFamily="18" charset="0"/>
              </a:rPr>
              <a:t>,20</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为公差的等差数列</a:t>
            </a:r>
            <a:r>
              <a:rPr lang="en-US" altLang="zh-CN" sz="2800"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119404351"/>
              </p:ext>
            </p:extLst>
          </p:nvPr>
        </p:nvGraphicFramePr>
        <p:xfrm>
          <a:off x="479853" y="4112261"/>
          <a:ext cx="11430000" cy="1003297"/>
        </p:xfrm>
        <a:graphic>
          <a:graphicData uri="http://schemas.openxmlformats.org/presentationml/2006/ole">
            <mc:AlternateContent xmlns:mc="http://schemas.openxmlformats.org/markup-compatibility/2006">
              <mc:Choice xmlns:v="urn:schemas-microsoft-com:vml" Requires="v">
                <p:oleObj spid="_x0000_s23565" name="文档" r:id="rId3" imgW="4520786" imgH="396823" progId="Word.Document.12">
                  <p:embed/>
                </p:oleObj>
              </mc:Choice>
              <mc:Fallback>
                <p:oleObj name="文档" r:id="rId3" imgW="4520786" imgH="396823" progId="Word.Document.12">
                  <p:embed/>
                  <p:pic>
                    <p:nvPicPr>
                      <p:cNvPr id="0" name=""/>
                      <p:cNvPicPr/>
                      <p:nvPr/>
                    </p:nvPicPr>
                    <p:blipFill>
                      <a:blip r:embed="rId4"/>
                      <a:stretch>
                        <a:fillRect/>
                      </a:stretch>
                    </p:blipFill>
                    <p:spPr>
                      <a:xfrm>
                        <a:off x="479853" y="4112261"/>
                        <a:ext cx="11430000" cy="1003297"/>
                      </a:xfrm>
                      <a:prstGeom prst="rect">
                        <a:avLst/>
                      </a:prstGeom>
                    </p:spPr>
                  </p:pic>
                </p:oleObj>
              </mc:Fallback>
            </mc:AlternateContent>
          </a:graphicData>
        </a:graphic>
      </p:graphicFrame>
      <p:sp>
        <p:nvSpPr>
          <p:cNvPr id="4" name="矩形 3"/>
          <p:cNvSpPr>
            <a:spLocks noChangeAspect="1"/>
          </p:cNvSpPr>
          <p:nvPr/>
        </p:nvSpPr>
        <p:spPr>
          <a:xfrm>
            <a:off x="381000" y="4924760"/>
            <a:ext cx="1899879"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 </a:t>
            </a:r>
            <a:r>
              <a:rPr lang="en-US" altLang="zh-CN" sz="2800" dirty="0" smtClean="0">
                <a:solidFill>
                  <a:srgbClr val="000000"/>
                </a:solidFill>
                <a:latin typeface="Times New Roman" panose="02020603050405020304" pitchFamily="18" charset="0"/>
                <a:cs typeface="Times New Roman" panose="02020603050405020304" pitchFamily="18" charset="0"/>
              </a:rPr>
              <a:t>000 </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32256709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barn(inVertical)">
                                      <p:cBhvr>
                                        <p:cTn id="7" dur="500"/>
                                        <p:tgtEl>
                                          <p:spTgt spid="2">
                                            <p:txEl>
                                              <p:pRg st="2" end="2"/>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arn(inVertical)">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barn(inVertical)">
                                      <p:cBhvr>
                                        <p:cTn id="15"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388658"/>
            <a:ext cx="11430000" cy="227267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在等差数列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已知</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18,</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i="1" baseline="300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求数列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的通项公式</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求</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6</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9</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宋体" panose="02010600030101010101" pitchFamily="2" charset="-122"/>
                <a:ea typeface="方正书宋_GBK"/>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因为</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是等差数列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18,</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471952349"/>
              </p:ext>
            </p:extLst>
          </p:nvPr>
        </p:nvGraphicFramePr>
        <p:xfrm>
          <a:off x="484103" y="2727688"/>
          <a:ext cx="11430000" cy="2608022"/>
        </p:xfrm>
        <a:graphic>
          <a:graphicData uri="http://schemas.openxmlformats.org/presentationml/2006/ole">
            <mc:AlternateContent xmlns:mc="http://schemas.openxmlformats.org/markup-compatibility/2006">
              <mc:Choice xmlns:v="urn:schemas-microsoft-com:vml" Requires="v">
                <p:oleObj spid="_x0000_s24588" name="文档" r:id="rId3" imgW="4520786" imgH="1031523" progId="Word.Document.12">
                  <p:embed/>
                </p:oleObj>
              </mc:Choice>
              <mc:Fallback>
                <p:oleObj name="文档" r:id="rId3" imgW="4520786" imgH="1031523" progId="Word.Document.12">
                  <p:embed/>
                  <p:pic>
                    <p:nvPicPr>
                      <p:cNvPr id="0" name=""/>
                      <p:cNvPicPr/>
                      <p:nvPr/>
                    </p:nvPicPr>
                    <p:blipFill>
                      <a:blip r:embed="rId4"/>
                      <a:stretch>
                        <a:fillRect/>
                      </a:stretch>
                    </p:blipFill>
                    <p:spPr>
                      <a:xfrm>
                        <a:off x="484103" y="2727688"/>
                        <a:ext cx="11430000" cy="2608022"/>
                      </a:xfrm>
                      <a:prstGeom prst="rect">
                        <a:avLst/>
                      </a:prstGeom>
                    </p:spPr>
                  </p:pic>
                </p:oleObj>
              </mc:Fallback>
            </mc:AlternateContent>
          </a:graphicData>
        </a:graphic>
      </p:graphicFrame>
    </p:spTree>
    <p:extLst>
      <p:ext uri="{BB962C8B-B14F-4D97-AF65-F5344CB8AC3E}">
        <p14:creationId xmlns:p14="http://schemas.microsoft.com/office/powerpoint/2010/main" val="32310720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barn(inVertical)">
                                      <p:cBhvr>
                                        <p:cTn id="7" dur="500"/>
                                        <p:tgtEl>
                                          <p:spTgt spid="2">
                                            <p:txEl>
                                              <p:pRg st="3" end="3"/>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arn(inVertical)">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阴影"/>
          <p:cNvPicPr>
            <a:picLocks noChangeAspect="1"/>
          </p:cNvPicPr>
          <p:nvPr/>
        </p:nvPicPr>
        <p:blipFill>
          <a:blip r:embed="rId2"/>
          <a:stretch>
            <a:fillRect/>
          </a:stretch>
        </p:blipFill>
        <p:spPr>
          <a:xfrm>
            <a:off x="2325712" y="1511279"/>
            <a:ext cx="7280625" cy="3396125"/>
          </a:xfrm>
          <a:prstGeom prst="rect">
            <a:avLst/>
          </a:prstGeom>
        </p:spPr>
      </p:pic>
      <p:sp>
        <p:nvSpPr>
          <p:cNvPr id="9" name="文本框 8"/>
          <p:cNvSpPr txBox="1"/>
          <p:nvPr/>
        </p:nvSpPr>
        <p:spPr>
          <a:xfrm>
            <a:off x="1809976" y="4908623"/>
            <a:ext cx="8572049" cy="1292662"/>
          </a:xfrm>
          <a:prstGeom prst="rect">
            <a:avLst/>
          </a:prstGeom>
          <a:noFill/>
        </p:spPr>
        <p:txBody>
          <a:bodyPr wrap="square" rtlCol="0">
            <a:spAutoFit/>
          </a:bodyPr>
          <a:lstStyle/>
          <a:p>
            <a:pPr algn="ctr" fontAlgn="auto">
              <a:lnSpc>
                <a:spcPct val="150000"/>
              </a:lnSpc>
            </a:pPr>
            <a:r>
              <a:rPr lang="zh-CN" altLang="en-US" sz="2400" smtClean="0">
                <a:solidFill>
                  <a:srgbClr val="55463D"/>
                </a:solidFill>
              </a:rPr>
              <a:t>更多精彩内容请登录</a:t>
            </a:r>
            <a:r>
              <a:rPr lang="zh-CN" altLang="en-US" sz="2800" b="1" smtClean="0">
                <a:solidFill>
                  <a:srgbClr val="55463D"/>
                </a:solidFill>
                <a:latin typeface="华文新魏" panose="02010800040101010101" pitchFamily="2" charset="-122"/>
                <a:ea typeface="华文新魏" panose="02010800040101010101" pitchFamily="2" charset="-122"/>
              </a:rPr>
              <a:t>志鸿优化网</a:t>
            </a:r>
            <a:endParaRPr lang="en-US" altLang="zh-CN" sz="2400" b="1" smtClean="0">
              <a:solidFill>
                <a:srgbClr val="55463D"/>
              </a:solidFill>
              <a:latin typeface="华文新魏" panose="02010800040101010101" pitchFamily="2" charset="-122"/>
              <a:ea typeface="华文新魏" panose="02010800040101010101" pitchFamily="2" charset="-122"/>
            </a:endParaRPr>
          </a:p>
          <a:p>
            <a:pPr algn="ctr" fontAlgn="auto">
              <a:lnSpc>
                <a:spcPct val="150000"/>
              </a:lnSpc>
            </a:pPr>
            <a:r>
              <a:rPr lang="en-US" altLang="zh-CN" sz="2400" smtClean="0">
                <a:solidFill>
                  <a:srgbClr val="55463D"/>
                </a:solidFill>
              </a:rPr>
              <a:t>http</a:t>
            </a:r>
            <a:r>
              <a:rPr lang="en-US" altLang="zh-CN" sz="2400">
                <a:solidFill>
                  <a:srgbClr val="55463D"/>
                </a:solidFill>
              </a:rPr>
              <a:t>://www.zhyh.org</a:t>
            </a:r>
            <a:r>
              <a:rPr lang="en-US" altLang="zh-CN" sz="2400" smtClean="0">
                <a:solidFill>
                  <a:srgbClr val="55463D"/>
                </a:solidFill>
              </a:rPr>
              <a:t>/</a:t>
            </a:r>
            <a:endParaRPr lang="zh-CN" altLang="en-US" sz="2400">
              <a:solidFill>
                <a:srgbClr val="55463D"/>
              </a:solidFill>
            </a:endParaRPr>
          </a:p>
        </p:txBody>
      </p:sp>
      <p:pic>
        <p:nvPicPr>
          <p:cNvPr id="11" name="图片 10"/>
          <p:cNvPicPr>
            <a:picLocks noChangeAspect="1"/>
          </p:cNvPicPr>
          <p:nvPr/>
        </p:nvPicPr>
        <p:blipFill>
          <a:blip r:embed="rId3">
            <a:clrChange>
              <a:clrFrom>
                <a:srgbClr val="ECECEE"/>
              </a:clrFrom>
              <a:clrTo>
                <a:srgbClr val="ECECEE">
                  <a:alpha val="0"/>
                </a:srgbClr>
              </a:clrTo>
            </a:clrChange>
          </a:blip>
          <a:stretch>
            <a:fillRect/>
          </a:stretch>
        </p:blipFill>
        <p:spPr>
          <a:xfrm>
            <a:off x="123290" y="4517181"/>
            <a:ext cx="2325712" cy="2253486"/>
          </a:xfrm>
          <a:prstGeom prst="rect">
            <a:avLst/>
          </a:prstGeom>
        </p:spPr>
      </p:pic>
      <p:sp>
        <p:nvSpPr>
          <p:cNvPr id="12" name="文本框 11"/>
          <p:cNvSpPr txBox="1"/>
          <p:nvPr/>
        </p:nvSpPr>
        <p:spPr>
          <a:xfrm>
            <a:off x="3451123" y="2222090"/>
            <a:ext cx="4994787" cy="1015663"/>
          </a:xfrm>
          <a:prstGeom prst="rect">
            <a:avLst/>
          </a:prstGeom>
          <a:noFill/>
        </p:spPr>
        <p:txBody>
          <a:bodyPr wrap="square" rtlCol="0">
            <a:spAutoFit/>
          </a:bodyPr>
          <a:lstStyle/>
          <a:p>
            <a:r>
              <a:rPr lang="zh-CN" altLang="en-US" sz="6000" b="1">
                <a:solidFill>
                  <a:srgbClr val="55463D"/>
                </a:solidFill>
                <a:latin typeface="思源黑体 CN Medium" panose="020B0600000000000000" pitchFamily="34" charset="-122"/>
                <a:ea typeface="思源黑体 CN Medium" panose="020B0600000000000000" pitchFamily="34" charset="-122"/>
              </a:rPr>
              <a:t>本  课  结  束</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5"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vertical)">
                                      <p:cBhvr>
                                        <p:cTn id="7" dur="500"/>
                                        <p:tgtEl>
                                          <p:spTgt spid="9"/>
                                        </p:tgtEl>
                                      </p:cBhvr>
                                    </p:animEffect>
                                  </p:childTnLst>
                                </p:cTn>
                              </p:par>
                              <p:par>
                                <p:cTn id="8" presetID="3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800" decel="100000"/>
                                        <p:tgtEl>
                                          <p:spTgt spid="11"/>
                                        </p:tgtEl>
                                      </p:cBhvr>
                                    </p:animEffect>
                                    <p:anim calcmode="lin" valueType="num">
                                      <p:cBhvr>
                                        <p:cTn id="11" dur="800" decel="100000" fill="hold"/>
                                        <p:tgtEl>
                                          <p:spTgt spid="11"/>
                                        </p:tgtEl>
                                        <p:attrNameLst>
                                          <p:attrName>style.rotation</p:attrName>
                                        </p:attrNameLst>
                                      </p:cBhvr>
                                      <p:tavLst>
                                        <p:tav tm="0">
                                          <p:val>
                                            <p:fltVal val="-90"/>
                                          </p:val>
                                        </p:tav>
                                        <p:tav tm="100000">
                                          <p:val>
                                            <p:fltVal val="0"/>
                                          </p:val>
                                        </p:tav>
                                      </p:tavLst>
                                    </p:anim>
                                    <p:anim calcmode="lin" valueType="num">
                                      <p:cBhvr>
                                        <p:cTn id="12" dur="800" decel="100000" fill="hold"/>
                                        <p:tgtEl>
                                          <p:spTgt spid="11"/>
                                        </p:tgtEl>
                                        <p:attrNameLst>
                                          <p:attrName>ppt_x</p:attrName>
                                        </p:attrNameLst>
                                      </p:cBhvr>
                                      <p:tavLst>
                                        <p:tav tm="0">
                                          <p:val>
                                            <p:strVal val="#ppt_x+0.4"/>
                                          </p:val>
                                        </p:tav>
                                        <p:tav tm="100000">
                                          <p:val>
                                            <p:strVal val="#ppt_x-0.05"/>
                                          </p:val>
                                        </p:tav>
                                      </p:tavLst>
                                    </p:anim>
                                    <p:anim calcmode="lin" valueType="num">
                                      <p:cBhvr>
                                        <p:cTn id="13" dur="800" decel="100000" fill="hold"/>
                                        <p:tgtEl>
                                          <p:spTgt spid="11"/>
                                        </p:tgtEl>
                                        <p:attrNameLst>
                                          <p:attrName>ppt_y</p:attrName>
                                        </p:attrNameLst>
                                      </p:cBhvr>
                                      <p:tavLst>
                                        <p:tav tm="0">
                                          <p:val>
                                            <p:strVal val="#ppt_y-0.4"/>
                                          </p:val>
                                        </p:tav>
                                        <p:tav tm="100000">
                                          <p:val>
                                            <p:strVal val="#ppt_y+0.1"/>
                                          </p:val>
                                        </p:tav>
                                      </p:tavLst>
                                    </p:anim>
                                    <p:anim calcmode="lin" valueType="num">
                                      <p:cBhvr>
                                        <p:cTn id="14" dur="200" accel="100000" fill="hold">
                                          <p:stCondLst>
                                            <p:cond delay="800"/>
                                          </p:stCondLst>
                                        </p:cTn>
                                        <p:tgtEl>
                                          <p:spTgt spid="11"/>
                                        </p:tgtEl>
                                        <p:attrNameLst>
                                          <p:attrName>ppt_x</p:attrName>
                                        </p:attrNameLst>
                                      </p:cBhvr>
                                      <p:tavLst>
                                        <p:tav tm="0">
                                          <p:val>
                                            <p:strVal val="#ppt_x-0.05"/>
                                          </p:val>
                                        </p:tav>
                                        <p:tav tm="100000">
                                          <p:val>
                                            <p:strVal val="#ppt_x"/>
                                          </p:val>
                                        </p:tav>
                                      </p:tavLst>
                                    </p:anim>
                                    <p:anim calcmode="lin" valueType="num">
                                      <p:cBhvr>
                                        <p:cTn id="15" dur="200" accel="100000" fill="hold">
                                          <p:stCondLst>
                                            <p:cond delay="800"/>
                                          </p:stCondLst>
                                        </p:cTn>
                                        <p:tgtEl>
                                          <p:spTgt spid="11"/>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tags/tag1.xml><?xml version="1.0" encoding="utf-8"?>
<p:tagLst xmlns:a="http://schemas.openxmlformats.org/drawingml/2006/main" xmlns:r="http://schemas.openxmlformats.org/officeDocument/2006/relationships" xmlns:p="http://schemas.openxmlformats.org/presentationml/2006/main">
  <p:tag name="MH" val="20161022204519"/>
  <p:tag name="MH_LIBRARY" val="GRAPHIC"/>
  <p:tag name="MH_ORDER" val="TextBox 3"/>
</p:tagLst>
</file>

<file path=ppt/theme/theme1.xml><?xml version="1.0" encoding="utf-8"?>
<a:theme xmlns:a="http://schemas.openxmlformats.org/drawingml/2006/main" name="1_Office 主题">
  <a:themeElements>
    <a:clrScheme name="模块">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1" id="{721B1EAD-A6C0-47A7-B782-D5918D0D228F}" vid="{2963E896-880A-42B6-99FF-93DBD5586BD1}"/>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理科模板</Template>
  <TotalTime>363</TotalTime>
  <Words>2191</Words>
  <Application>Microsoft Office PowerPoint</Application>
  <PresentationFormat>宽屏</PresentationFormat>
  <Paragraphs>183</Paragraphs>
  <Slides>40</Slides>
  <Notes>0</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1</vt:i4>
      </vt:variant>
      <vt:variant>
        <vt:lpstr>幻灯片标题</vt:lpstr>
      </vt:variant>
      <vt:variant>
        <vt:i4>40</vt:i4>
      </vt:variant>
    </vt:vector>
  </HeadingPairs>
  <TitlesOfParts>
    <vt:vector size="60" baseType="lpstr">
      <vt:lpstr>NEU-BZ-S92</vt:lpstr>
      <vt:lpstr>Open Sans</vt:lpstr>
      <vt:lpstr>方正书宋_GBK</vt:lpstr>
      <vt:lpstr>方正姚体</vt:lpstr>
      <vt:lpstr>方正正中黑简体</vt:lpstr>
      <vt:lpstr>仿宋</vt:lpstr>
      <vt:lpstr>黑体</vt:lpstr>
      <vt:lpstr>华文细黑</vt:lpstr>
      <vt:lpstr>华文新魏</vt:lpstr>
      <vt:lpstr>楷体</vt:lpstr>
      <vt:lpstr>隶书</vt:lpstr>
      <vt:lpstr>思源黑体 CN Medium</vt:lpstr>
      <vt:lpstr>宋体</vt:lpstr>
      <vt:lpstr>微软雅黑</vt:lpstr>
      <vt:lpstr>Arial</vt:lpstr>
      <vt:lpstr>Calibri</vt:lpstr>
      <vt:lpstr>Cambria Math</vt:lpstr>
      <vt:lpstr>Times New Roman</vt:lpstr>
      <vt:lpstr>1_Office 主题</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ITSK.com</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SkyUser</dc:creator>
  <cp:lastModifiedBy>SkyUser</cp:lastModifiedBy>
  <cp:revision>48</cp:revision>
  <dcterms:created xsi:type="dcterms:W3CDTF">2021-08-30T08:30:26Z</dcterms:created>
  <dcterms:modified xsi:type="dcterms:W3CDTF">2025-08-01T05:45:05Z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2052-11.1.0.10000</vt:lpwstr>
  </property>
</Properties>
</file>