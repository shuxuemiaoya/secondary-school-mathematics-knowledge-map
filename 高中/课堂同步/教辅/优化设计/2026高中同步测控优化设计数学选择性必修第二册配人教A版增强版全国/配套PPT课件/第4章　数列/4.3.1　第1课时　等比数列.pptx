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407" r:id="rId13"/>
    <p:sldId id="394" r:id="rId14"/>
    <p:sldId id="699" r:id="rId15"/>
    <p:sldId id="700" r:id="rId16"/>
    <p:sldId id="701" r:id="rId17"/>
    <p:sldId id="702" r:id="rId18"/>
    <p:sldId id="402" r:id="rId19"/>
    <p:sldId id="712" r:id="rId20"/>
    <p:sldId id="713" r:id="rId21"/>
    <p:sldId id="714" r:id="rId22"/>
    <p:sldId id="715" r:id="rId23"/>
    <p:sldId id="498" r:id="rId24"/>
    <p:sldId id="730" r:id="rId25"/>
    <p:sldId id="733" r:id="rId26"/>
    <p:sldId id="743" r:id="rId27"/>
    <p:sldId id="744" r:id="rId28"/>
    <p:sldId id="734" r:id="rId29"/>
    <p:sldId id="741" r:id="rId30"/>
    <p:sldId id="738" r:id="rId31"/>
    <p:sldId id="751" r:id="rId32"/>
    <p:sldId id="752" r:id="rId33"/>
    <p:sldId id="398" r:id="rId34"/>
    <p:sldId id="395" r:id="rId35"/>
    <p:sldId id="756" r:id="rId36"/>
    <p:sldId id="757" r:id="rId37"/>
    <p:sldId id="490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  <p15:guide id="8" orient="horz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79"/>
        <p:guide orient="horz" pos="73"/>
        <p:guide orient="horz" pos="11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2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9.xml"/><Relationship Id="rId4" Type="http://schemas.openxmlformats.org/officeDocument/2006/relationships/slide" Target="../slides/slide2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268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package" Target="../embeddings/Microsoft_Word___3.docx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package" Target="../embeddings/Microsoft_Word___5.docx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emf"/><Relationship Id="rId5" Type="http://schemas.openxmlformats.org/officeDocument/2006/relationships/package" Target="../embeddings/Microsoft_Word___8.docx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Word___10.docx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package" Target="../embeddings/Microsoft_Word___13.docx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2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5.docx"/><Relationship Id="rId4" Type="http://schemas.openxmlformats.org/officeDocument/2006/relationships/image" Target="../media/image1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0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Word___20.docx"/><Relationship Id="rId4" Type="http://schemas.openxmlformats.org/officeDocument/2006/relationships/image" Target="../media/image2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6.emf"/><Relationship Id="rId5" Type="http://schemas.openxmlformats.org/officeDocument/2006/relationships/package" Target="../embeddings/Microsoft_Word___24.docx"/><Relationship Id="rId4" Type="http://schemas.openxmlformats.org/officeDocument/2006/relationships/image" Target="../media/image2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5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9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0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2.emf"/><Relationship Id="rId5" Type="http://schemas.openxmlformats.org/officeDocument/2006/relationships/package" Target="../embeddings/Microsoft_Word___30.docx"/><Relationship Id="rId4" Type="http://schemas.openxmlformats.org/officeDocument/2006/relationships/image" Target="../media/image31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3.emf"/><Relationship Id="rId5" Type="http://schemas.openxmlformats.org/officeDocument/2006/relationships/package" Target="../embeddings/Microsoft_Word___32.docx"/><Relationship Id="rId4" Type="http://schemas.openxmlformats.org/officeDocument/2006/relationships/image" Target="../media/image2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4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package" Target="../embeddings/Microsoft_Word___34.docx"/><Relationship Id="rId7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6.emf"/><Relationship Id="rId5" Type="http://schemas.openxmlformats.org/officeDocument/2006/relationships/package" Target="../embeddings/Microsoft_Word___35.docx"/><Relationship Id="rId4" Type="http://schemas.openxmlformats.org/officeDocument/2006/relationships/image" Target="../media/image35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1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等比数列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第四章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4.3.1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22806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理解等比数列的定义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会用定义判断一个数列为等比数列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掌握等比数列的通项公式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并能灵活运用公式进行相关计算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掌握等比中项的定义并能解决相关问题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体会数学抽象的过程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提高逻辑推理能力与数学建模素养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75750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一、等比数列的定义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观察下面几个数列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3329327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上面几组数列是等差数列吗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都不是等差数列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因为不符合等差数列的定义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研究每个数列中相邻两项的关系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你会发现有怎样的共同特点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每一项与前一项的比都等于同一个非零常数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336537"/>
              </p:ext>
            </p:extLst>
          </p:nvPr>
        </p:nvGraphicFramePr>
        <p:xfrm>
          <a:off x="32952" y="1426044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52" y="1426044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1895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如果一个数列从</a:t>
            </a:r>
            <a:r>
              <a:rPr lang="zh-CN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每一项与它的前一项的比都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同</a:t>
            </a:r>
            <a:r>
              <a:rPr lang="zh-CN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一个常数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那么这个数列叫做等比数列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这个常数叫做等比数列的公比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公比通常用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字母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a|a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≠0}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a|a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≠1}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a|a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≠1}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70388" y="780656"/>
            <a:ext cx="86796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682028" y="1228007"/>
            <a:ext cx="86431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74086" y="1324303"/>
            <a:ext cx="176870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85763" y="1771654"/>
            <a:ext cx="17612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966280" y="1918238"/>
            <a:ext cx="31724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977919" y="2355198"/>
            <a:ext cx="3159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5995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二、等比中项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那么如何求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386274"/>
              </p:ext>
            </p:extLst>
          </p:nvPr>
        </p:nvGraphicFramePr>
        <p:xfrm>
          <a:off x="51486" y="1660094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486" y="1660094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489538"/>
            <a:ext cx="6440866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那么如何求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168586"/>
              </p:ext>
            </p:extLst>
          </p:nvPr>
        </p:nvGraphicFramePr>
        <p:xfrm>
          <a:off x="55563" y="3028950"/>
          <a:ext cx="114014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文档" r:id="rId5" imgW="4510061" imgH="397147" progId="Word.Document.12">
                  <p:embed/>
                </p:oleObj>
              </mc:Choice>
              <mc:Fallback>
                <p:oleObj name="文档" r:id="rId5" imgW="4510061" imgH="3971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563" y="3028950"/>
                        <a:ext cx="11401425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3876353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中间插入一个数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等比中项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3695" y="4510952"/>
            <a:ext cx="141868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75335" y="4947912"/>
            <a:ext cx="14127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435496" y="4510952"/>
            <a:ext cx="44031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447135" y="4937521"/>
            <a:ext cx="4384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A.2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D.16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5425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三、等比数列的通项公式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你能用一个数学式子表示出等比数列的定义吗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2125314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根据本页左边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一、等比数列的定义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你能归纳出等比数列的通项公式吗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可猜测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等比数列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的递推公式与通项公式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的首项为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3248" y="4890549"/>
            <a:ext cx="11430000" cy="1443313"/>
            <a:chOff x="43248" y="5212665"/>
            <a:chExt cx="11430000" cy="1443313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311696"/>
                </p:ext>
              </p:extLst>
            </p:nvPr>
          </p:nvGraphicFramePr>
          <p:xfrm>
            <a:off x="43248" y="5212665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248" y="5212665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6003492"/>
              <a:ext cx="4092787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通项公式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altLang="zh-CN" sz="28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300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300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3265172" y="5809299"/>
            <a:ext cx="87285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3276867" y="6235868"/>
            <a:ext cx="8691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768011"/>
              </p:ext>
            </p:extLst>
          </p:nvPr>
        </p:nvGraphicFramePr>
        <p:xfrm>
          <a:off x="396078" y="1259017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文档" r:id="rId5" imgW="4510061" imgH="396786" progId="Word.Document.12">
                  <p:embed/>
                </p:oleObj>
              </mc:Choice>
              <mc:Fallback>
                <p:oleObj name="文档" r:id="rId5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078" y="1259017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2797274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的首项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2×3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D.3×(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由等比数列的通项公式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47972"/>
              </p:ext>
            </p:extLst>
          </p:nvPr>
        </p:nvGraphicFramePr>
        <p:xfrm>
          <a:off x="396078" y="145967"/>
          <a:ext cx="11275153" cy="257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文档" r:id="rId3" imgW="4510061" imgH="1031428" progId="Word.Document.12">
                  <p:embed/>
                </p:oleObj>
              </mc:Choice>
              <mc:Fallback>
                <p:oleObj name="文档" r:id="rId3" imgW="4510061" imgH="10314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6078" y="145967"/>
                        <a:ext cx="11275153" cy="2578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243879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常数列一定是等比数列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存在一个数列既是等差数列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又是等比数列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等比数列中的项可以为零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三个数满足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一定能构成等比数列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5108308" y="2407561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8036028" y="2949208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5462536" y="3505734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9589692" y="4069582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等比数列的判定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1077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下列数列为等比数列的是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A.2,2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068417"/>
              </p:ext>
            </p:extLst>
          </p:nvPr>
        </p:nvGraphicFramePr>
        <p:xfrm>
          <a:off x="35011" y="173021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11" y="173021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540026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D.0,0,0,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382227"/>
              </p:ext>
            </p:extLst>
          </p:nvPr>
        </p:nvGraphicFramePr>
        <p:xfrm>
          <a:off x="35011" y="359954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011" y="359954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4437674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0,0,0,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故不一定是等比数列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项显然不是等比数列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205329"/>
            <a:ext cx="11430000" cy="1306419"/>
            <a:chOff x="381000" y="337511"/>
            <a:chExt cx="11430000" cy="130641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31290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如果数列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满足对任意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都有</a:t>
              </a:r>
              <a:r>
                <a:rPr lang="en-US" altLang="zh-CN" sz="2800" i="1" dirty="0" err="1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a</a:t>
              </a:r>
              <a:r>
                <a:rPr lang="en-US" altLang="zh-CN" sz="2800" i="1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求证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是等比数列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2761650"/>
                </p:ext>
              </p:extLst>
            </p:nvPr>
          </p:nvGraphicFramePr>
          <p:xfrm>
            <a:off x="8944881" y="337511"/>
            <a:ext cx="673048" cy="830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6" name="文档" r:id="rId3" imgW="330008" imgH="397544" progId="Word.Document.12">
                    <p:embed/>
                  </p:oleObj>
                </mc:Choice>
                <mc:Fallback>
                  <p:oleObj name="文档" r:id="rId3" imgW="330008" imgH="3975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44881" y="337511"/>
                          <a:ext cx="673048" cy="8304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411826"/>
              </p:ext>
            </p:extLst>
          </p:nvPr>
        </p:nvGraphicFramePr>
        <p:xfrm>
          <a:off x="51484" y="1388178"/>
          <a:ext cx="11430000" cy="4613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文档" r:id="rId5" imgW="4520786" imgH="1824809" progId="Word.Document.12">
                  <p:embed/>
                </p:oleObj>
              </mc:Choice>
              <mc:Fallback>
                <p:oleObj name="文档" r:id="rId5" imgW="4520786" imgH="18248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84" y="1388178"/>
                        <a:ext cx="11430000" cy="4613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548608"/>
            <a:ext cx="11454714" cy="4447317"/>
            <a:chOff x="381000" y="953857"/>
            <a:chExt cx="11454714" cy="444731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953857"/>
              <a:ext cx="11430000" cy="5922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判断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一个数列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是等比数列的方法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4248807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通项公式法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若数列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的通项公式为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则数列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是等比数列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5028674"/>
                </p:ext>
              </p:extLst>
            </p:nvPr>
          </p:nvGraphicFramePr>
          <p:xfrm>
            <a:off x="405714" y="1533909"/>
            <a:ext cx="11430000" cy="280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5" name="文档" r:id="rId3" imgW="4520786" imgH="1110816" progId="Word.Document.12">
                    <p:embed/>
                  </p:oleObj>
                </mc:Choice>
                <mc:Fallback>
                  <p:oleObj name="文档" r:id="rId3" imgW="4520786" imgH="111081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5714" y="1533909"/>
                          <a:ext cx="11430000" cy="2808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57679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若将已知条件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试判断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是不是等比数列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292522"/>
            <a:ext cx="2016224" cy="367706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81000" y="4365586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其首项为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公比为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不是等比数列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405515"/>
              </p:ext>
            </p:extLst>
          </p:nvPr>
        </p:nvGraphicFramePr>
        <p:xfrm>
          <a:off x="5399292" y="665814"/>
          <a:ext cx="301625" cy="90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" name="文档" r:id="rId4" imgW="140644" imgH="398949" progId="Word.Document.12">
                  <p:embed/>
                </p:oleObj>
              </mc:Choice>
              <mc:Fallback>
                <p:oleObj name="文档" r:id="rId4" imgW="140644" imgH="3989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99292" y="665814"/>
                        <a:ext cx="301625" cy="901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443623"/>
              </p:ext>
            </p:extLst>
          </p:nvPr>
        </p:nvGraphicFramePr>
        <p:xfrm>
          <a:off x="41564" y="2449394"/>
          <a:ext cx="11275153" cy="198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文档" r:id="rId6" imgW="4510061" imgH="793212" progId="Word.Document.12">
                  <p:embed/>
                </p:oleObj>
              </mc:Choice>
              <mc:Fallback>
                <p:oleObj name="文档" r:id="rId6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564" y="2449394"/>
                        <a:ext cx="11275153" cy="1983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是等比数列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943360"/>
              </p:ext>
            </p:extLst>
          </p:nvPr>
        </p:nvGraphicFramePr>
        <p:xfrm>
          <a:off x="49428" y="1311451"/>
          <a:ext cx="11301965" cy="992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428" y="1311451"/>
                        <a:ext cx="11301965" cy="992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49428" y="2135058"/>
            <a:ext cx="11761572" cy="2603024"/>
            <a:chOff x="49428" y="2647899"/>
            <a:chExt cx="11761572" cy="2603024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647899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证明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3(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1965331"/>
                </p:ext>
              </p:extLst>
            </p:nvPr>
          </p:nvGraphicFramePr>
          <p:xfrm>
            <a:off x="49428" y="3729853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7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9428" y="3729853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4598437"/>
              <a:ext cx="4164923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是等比数列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等比数列的通项公式及运算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849696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312414"/>
              </p:ext>
            </p:extLst>
          </p:nvPr>
        </p:nvGraphicFramePr>
        <p:xfrm>
          <a:off x="43247" y="1895161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7" y="1895161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73608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3·(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870831"/>
              </p:ext>
            </p:extLst>
          </p:nvPr>
        </p:nvGraphicFramePr>
        <p:xfrm>
          <a:off x="35010" y="182329"/>
          <a:ext cx="11430000" cy="571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文档" r:id="rId3" imgW="4510061" imgH="2262872" progId="Word.Document.12">
                  <p:embed/>
                </p:oleObj>
              </mc:Choice>
              <mc:Fallback>
                <p:oleObj name="文档" r:id="rId3" imgW="4510061" imgH="22628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10" y="182329"/>
                        <a:ext cx="11430000" cy="5717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403098"/>
              </p:ext>
            </p:extLst>
          </p:nvPr>
        </p:nvGraphicFramePr>
        <p:xfrm>
          <a:off x="35009" y="328731"/>
          <a:ext cx="11430000" cy="5114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文档" r:id="rId3" imgW="4520786" imgH="2023040" progId="Word.Document.12">
                  <p:embed/>
                </p:oleObj>
              </mc:Choice>
              <mc:Fallback>
                <p:oleObj name="文档" r:id="rId3" imgW="4520786" imgH="20230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09" y="328731"/>
                        <a:ext cx="11430000" cy="5114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51750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等比数列的通项公式中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是两个基本量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只要求出这两个基本量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其余的量便可以得出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等比数列的通项公式涉及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只要知道其中任意三个就能求出另外一个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解题时常列方程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来解决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688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的首项为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741165"/>
              </p:ext>
            </p:extLst>
          </p:nvPr>
        </p:nvGraphicFramePr>
        <p:xfrm>
          <a:off x="2871360" y="567486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71360" y="567486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49428" y="2196331"/>
            <a:ext cx="11430000" cy="4530976"/>
            <a:chOff x="49428" y="2196331"/>
            <a:chExt cx="11430000" cy="4530976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5616635"/>
                </p:ext>
              </p:extLst>
            </p:nvPr>
          </p:nvGraphicFramePr>
          <p:xfrm>
            <a:off x="49428" y="2196331"/>
            <a:ext cx="11430000" cy="3510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1" name="文档" r:id="rId5" imgW="4520786" imgH="1388340" progId="Word.Document.12">
                    <p:embed/>
                  </p:oleObj>
                </mc:Choice>
                <mc:Fallback>
                  <p:oleObj name="文档" r:id="rId5" imgW="4520786" imgH="138834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9428" y="2196331"/>
                          <a:ext cx="11430000" cy="35101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5514667"/>
              <a:ext cx="6060989" cy="1212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32,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灵活设项求解等比数列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950778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有四个数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前三个数成等差数列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后三个数成等比数列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第一个数与第四个数之和为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第二个数与第三个数之和为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求这四个数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450" y="2093913"/>
            <a:ext cx="11401425" cy="3089638"/>
            <a:chOff x="44450" y="2388793"/>
            <a:chExt cx="11401425" cy="3089638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6442783"/>
                </p:ext>
              </p:extLst>
            </p:nvPr>
          </p:nvGraphicFramePr>
          <p:xfrm>
            <a:off x="44450" y="2388793"/>
            <a:ext cx="11401425" cy="2500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3" name="文档" r:id="rId3" imgW="4510061" imgH="993227" progId="Word.Document.12">
                    <p:embed/>
                  </p:oleObj>
                </mc:Choice>
                <mc:Fallback>
                  <p:oleObj name="文档" r:id="rId3" imgW="4510061" imgH="99322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450" y="2388793"/>
                          <a:ext cx="11401425" cy="2500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825945"/>
              <a:ext cx="6571030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所以这四个数依次为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0,4,8,16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15,9,3,1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4450" y="682625"/>
            <a:ext cx="11401425" cy="4162734"/>
            <a:chOff x="44450" y="1187852"/>
            <a:chExt cx="11401425" cy="4162734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8196960"/>
                </p:ext>
              </p:extLst>
            </p:nvPr>
          </p:nvGraphicFramePr>
          <p:xfrm>
            <a:off x="44450" y="1187852"/>
            <a:ext cx="11401425" cy="3492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7" name="文档" r:id="rId3" imgW="4510061" imgH="1390734" progId="Word.Document.12">
                    <p:embed/>
                  </p:oleObj>
                </mc:Choice>
                <mc:Fallback>
                  <p:oleObj name="文档" r:id="rId3" imgW="4510061" imgH="139073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450" y="1187852"/>
                          <a:ext cx="11401425" cy="3492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4698100"/>
              <a:ext cx="7289175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所以所求的四个数依次为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0,4,8,16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15,9,3,1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81000" y="1241726"/>
            <a:ext cx="11430000" cy="3258212"/>
            <a:chOff x="381000" y="1241726"/>
            <a:chExt cx="11430000" cy="3258212"/>
          </a:xfrm>
        </p:grpSpPr>
        <p:grpSp>
          <p:nvGrpSpPr>
            <p:cNvPr id="5" name="组合 4"/>
            <p:cNvGrpSpPr/>
            <p:nvPr/>
          </p:nvGrpSpPr>
          <p:grpSpPr>
            <a:xfrm>
              <a:off x="381000" y="1241726"/>
              <a:ext cx="11430000" cy="1870809"/>
              <a:chOff x="381000" y="1233488"/>
              <a:chExt cx="11430000" cy="1870809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1233488"/>
                <a:ext cx="11430000" cy="177279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反思感悟 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巧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设等差数列、等比数列的方法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若三个数成等差数列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则常设成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a-d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a+d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若三个数成等比数列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则常设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成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aq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aq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aq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" name="对象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97863418"/>
                  </p:ext>
                </p:extLst>
              </p:nvPr>
            </p:nvGraphicFramePr>
            <p:xfrm>
              <a:off x="1137131" y="2349310"/>
              <a:ext cx="387632" cy="7549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17" name="文档" r:id="rId3" imgW="211968" imgH="397544" progId="Word.Document.12">
                      <p:embed/>
                    </p:oleObj>
                  </mc:Choice>
                  <mc:Fallback>
                    <p:oleObj name="文档" r:id="rId3" imgW="211968" imgH="397544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137131" y="2349310"/>
                            <a:ext cx="387632" cy="75498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6453861"/>
                </p:ext>
              </p:extLst>
            </p:nvPr>
          </p:nvGraphicFramePr>
          <p:xfrm>
            <a:off x="381000" y="3090040"/>
            <a:ext cx="11430000" cy="14098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8" name="文档" r:id="rId5" imgW="4510061" imgH="556319" progId="Word.Document.12">
                    <p:embed/>
                  </p:oleObj>
                </mc:Choice>
                <mc:Fallback>
                  <p:oleObj name="文档" r:id="rId5" imgW="4510061" imgH="55631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1000" y="3090040"/>
                          <a:ext cx="11430000" cy="140989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7118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第一个数与第四个数的和为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前三个数的和为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第二个数与第三个数的和为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后三个数的积为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8 000”,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其他条件不变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求这四个数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设前三个数分别为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a-d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210783"/>
            <a:ext cx="2016224" cy="367706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74112"/>
              </p:ext>
            </p:extLst>
          </p:nvPr>
        </p:nvGraphicFramePr>
        <p:xfrm>
          <a:off x="42562" y="3376400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name="文档" r:id="rId4" imgW="4510061" imgH="1193603" progId="Word.Document.12">
                  <p:embed/>
                </p:oleObj>
              </mc:Choice>
              <mc:Fallback>
                <p:oleObj name="文档" r:id="rId4" imgW="4510061" imgH="11936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62" y="3376400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68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已知三个数成等比数列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它们的积为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它们的平方和为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求这三个数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解法一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设这三个数依次为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264370"/>
              </p:ext>
            </p:extLst>
          </p:nvPr>
        </p:nvGraphicFramePr>
        <p:xfrm>
          <a:off x="43248" y="1732256"/>
          <a:ext cx="11430000" cy="4613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文档" r:id="rId3" imgW="4520786" imgH="1824809" progId="Word.Document.12">
                  <p:embed/>
                </p:oleObj>
              </mc:Choice>
              <mc:Fallback>
                <p:oleObj name="文档" r:id="rId3" imgW="4520786" imgH="18248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8" y="1732256"/>
                        <a:ext cx="11430000" cy="4613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490500"/>
              </p:ext>
            </p:extLst>
          </p:nvPr>
        </p:nvGraphicFramePr>
        <p:xfrm>
          <a:off x="44450" y="359930"/>
          <a:ext cx="11401425" cy="510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文档" r:id="rId3" imgW="4510061" imgH="2026097" progId="Word.Document.12">
                  <p:embed/>
                </p:oleObj>
              </mc:Choice>
              <mc:Fallback>
                <p:oleObj name="文档" r:id="rId3" imgW="4510061" imgH="20260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450" y="359930"/>
                        <a:ext cx="11401425" cy="5100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016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846587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忽视等比数列中项的符号致错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的两个根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错解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的两个根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的等比中项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545991"/>
              </p:ext>
            </p:extLst>
          </p:nvPr>
        </p:nvGraphicFramePr>
        <p:xfrm>
          <a:off x="32952" y="4214853"/>
          <a:ext cx="11430000" cy="60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文档" r:id="rId3" imgW="4520786" imgH="237877" progId="Word.Document.12">
                  <p:embed/>
                </p:oleObj>
              </mc:Choice>
              <mc:Fallback>
                <p:oleObj name="文档" r:id="rId3" imgW="4520786" imgH="237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52" y="4214853"/>
                        <a:ext cx="11430000" cy="601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775093"/>
            <a:ext cx="1912703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21776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等比数列中所有奇数项符号相同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而错解中未判断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的正负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所以得出错误结果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正解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的两个根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17379"/>
              </p:ext>
            </p:extLst>
          </p:nvPr>
        </p:nvGraphicFramePr>
        <p:xfrm>
          <a:off x="9014293" y="1190833"/>
          <a:ext cx="597550" cy="75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2" name="文档" r:id="rId3" imgW="323170" imgH="397544" progId="Word.Document.12">
                  <p:embed/>
                </p:oleObj>
              </mc:Choice>
              <mc:Fallback>
                <p:oleObj name="文档" r:id="rId3" imgW="323170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14293" y="1190833"/>
                        <a:ext cx="597550" cy="75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013844"/>
              </p:ext>
            </p:extLst>
          </p:nvPr>
        </p:nvGraphicFramePr>
        <p:xfrm>
          <a:off x="20782" y="2916713"/>
          <a:ext cx="11275153" cy="2776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3" name="文档" r:id="rId5" imgW="4510061" imgH="1110714" progId="Word.Document.12">
                  <p:embed/>
                </p:oleObj>
              </mc:Choice>
              <mc:Fallback>
                <p:oleObj name="文档" r:id="rId5" imgW="4510061" imgH="11107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782" y="2916713"/>
                        <a:ext cx="11275153" cy="2776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81000" y="5688853"/>
            <a:ext cx="1553630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0340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防范措施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解等比数列的问题时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一定要特别注意符号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等比数列中的项可以同正、同负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还可以正负交错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但是所有奇数项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或偶数项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的符号是相同的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36516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ac=b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844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A.4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717319"/>
              </p:ext>
            </p:extLst>
          </p:nvPr>
        </p:nvGraphicFramePr>
        <p:xfrm>
          <a:off x="4024657" y="173727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4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24657" y="173727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911022"/>
              </p:ext>
            </p:extLst>
          </p:nvPr>
        </p:nvGraphicFramePr>
        <p:xfrm>
          <a:off x="484188" y="1732830"/>
          <a:ext cx="11403012" cy="148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文档" r:id="rId5" imgW="4510061" imgH="594999" progId="Word.Document.12">
                  <p:embed/>
                </p:oleObj>
              </mc:Choice>
              <mc:Fallback>
                <p:oleObj name="文档" r:id="rId5" imgW="4510061" imgH="594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4188" y="1732830"/>
                        <a:ext cx="11403012" cy="1487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2901234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若等比数列的首项为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公比为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D.32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由等比数列的通项公式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4×2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既是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的等差中项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又是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的等比中项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的公比为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由条件可知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51209"/>
              </p:ext>
            </p:extLst>
          </p:nvPr>
        </p:nvGraphicFramePr>
        <p:xfrm>
          <a:off x="484103" y="2393210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103" y="2393210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274184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a=c=b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的公比为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214864"/>
              </p:ext>
            </p:extLst>
          </p:nvPr>
        </p:nvGraphicFramePr>
        <p:xfrm>
          <a:off x="484103" y="256712"/>
          <a:ext cx="11430000" cy="60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4" name="文档" r:id="rId3" imgW="4520786" imgH="237877" progId="Word.Document.12">
                  <p:embed/>
                </p:oleObj>
              </mc:Choice>
              <mc:Fallback>
                <p:oleObj name="文档" r:id="rId3" imgW="4520786" imgH="237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103" y="256712"/>
                        <a:ext cx="11430000" cy="601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81000" y="800476"/>
            <a:ext cx="11533103" cy="1220964"/>
            <a:chOff x="381000" y="800476"/>
            <a:chExt cx="11533103" cy="122096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800476"/>
              <a:ext cx="6080511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成等比数列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=ac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6662122"/>
                </p:ext>
              </p:extLst>
            </p:nvPr>
          </p:nvGraphicFramePr>
          <p:xfrm>
            <a:off x="484103" y="1420010"/>
            <a:ext cx="11430000" cy="601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15" name="文档" r:id="rId5" imgW="4520786" imgH="237877" progId="Word.Document.12">
                    <p:embed/>
                  </p:oleObj>
                </mc:Choice>
                <mc:Fallback>
                  <p:oleObj name="文档" r:id="rId5" imgW="4520786" imgH="2378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4103" y="1420010"/>
                          <a:ext cx="11430000" cy="6014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81000" y="1988488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是正数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的公比为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958821"/>
              </p:ext>
            </p:extLst>
          </p:nvPr>
        </p:nvGraphicFramePr>
        <p:xfrm>
          <a:off x="484103" y="4228209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6" name="文档" r:id="rId7" imgW="4520786" imgH="793285" progId="Word.Document.12">
                  <p:embed/>
                </p:oleObj>
              </mc:Choice>
              <mc:Fallback>
                <p:oleObj name="文档" r:id="rId7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4103" y="4228209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300</TotalTime>
  <Words>1539</Words>
  <Application>Microsoft Office PowerPoint</Application>
  <PresentationFormat>宽屏</PresentationFormat>
  <Paragraphs>147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8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40</cp:revision>
  <dcterms:created xsi:type="dcterms:W3CDTF">2021-08-30T08:30:26Z</dcterms:created>
  <dcterms:modified xsi:type="dcterms:W3CDTF">2025-08-01T05:48:15Z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