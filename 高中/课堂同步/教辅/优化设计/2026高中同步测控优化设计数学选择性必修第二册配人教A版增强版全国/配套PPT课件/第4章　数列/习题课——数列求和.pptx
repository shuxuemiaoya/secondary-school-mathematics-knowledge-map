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docx" ContentType="application/vnd.openxmlformats-officedocument.wordprocessingml.document"/>
  <Default Extension="wdp" ContentType="image/vnd.ms-photo"/>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7"/>
  </p:notesMasterIdLst>
  <p:sldIdLst>
    <p:sldId id="677" r:id="rId2"/>
    <p:sldId id="488" r:id="rId3"/>
    <p:sldId id="494" r:id="rId4"/>
    <p:sldId id="392" r:id="rId5"/>
    <p:sldId id="686" r:id="rId6"/>
    <p:sldId id="687" r:id="rId7"/>
    <p:sldId id="688" r:id="rId8"/>
    <p:sldId id="689" r:id="rId9"/>
    <p:sldId id="690" r:id="rId10"/>
    <p:sldId id="407" r:id="rId11"/>
    <p:sldId id="394" r:id="rId12"/>
    <p:sldId id="699" r:id="rId13"/>
    <p:sldId id="700" r:id="rId14"/>
    <p:sldId id="701" r:id="rId15"/>
    <p:sldId id="402" r:id="rId16"/>
    <p:sldId id="712" r:id="rId17"/>
    <p:sldId id="713" r:id="rId18"/>
    <p:sldId id="714" r:id="rId19"/>
    <p:sldId id="498" r:id="rId20"/>
    <p:sldId id="730" r:id="rId21"/>
    <p:sldId id="733" r:id="rId22"/>
    <p:sldId id="743" r:id="rId23"/>
    <p:sldId id="744" r:id="rId24"/>
    <p:sldId id="734" r:id="rId25"/>
    <p:sldId id="737" r:id="rId26"/>
    <p:sldId id="741" r:id="rId27"/>
    <p:sldId id="738" r:id="rId28"/>
    <p:sldId id="751" r:id="rId29"/>
    <p:sldId id="398" r:id="rId30"/>
    <p:sldId id="395" r:id="rId31"/>
    <p:sldId id="756" r:id="rId32"/>
    <p:sldId id="757" r:id="rId33"/>
    <p:sldId id="758" r:id="rId34"/>
    <p:sldId id="759" r:id="rId35"/>
    <p:sldId id="490" r:id="rId3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91" userDrawn="1">
          <p15:clr>
            <a:srgbClr val="A4A3A4"/>
          </p15:clr>
        </p15:guide>
        <p15:guide id="2" pos="211" userDrawn="1">
          <p15:clr>
            <a:srgbClr val="A4A3A4"/>
          </p15:clr>
        </p15:guide>
        <p15:guide id="3" orient="horz" pos="436" userDrawn="1">
          <p15:clr>
            <a:srgbClr val="A4A3A4"/>
          </p15:clr>
        </p15:guide>
        <p15:guide id="4" orient="horz" pos="777" userDrawn="1">
          <p15:clr>
            <a:srgbClr val="A4A3A4"/>
          </p15:clr>
        </p15:guide>
        <p15:guide id="5" orient="horz" pos="28" userDrawn="1">
          <p15:clr>
            <a:srgbClr val="A4A3A4"/>
          </p15:clr>
        </p15:guide>
        <p15:guide id="6" pos="279" userDrawn="1">
          <p15:clr>
            <a:srgbClr val="A4A3A4"/>
          </p15:clr>
        </p15:guide>
        <p15:guide id="7" orient="horz" pos="7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C5B3E"/>
    <a:srgbClr val="7088DB"/>
    <a:srgbClr val="CF5B1B"/>
    <a:srgbClr val="38425D"/>
    <a:srgbClr val="4472C4"/>
    <a:srgbClr val="DFF0F5"/>
    <a:srgbClr val="4040C8"/>
    <a:srgbClr val="159470"/>
    <a:srgbClr val="157392"/>
    <a:srgbClr val="15937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660"/>
  </p:normalViewPr>
  <p:slideViewPr>
    <p:cSldViewPr snapToGrid="0">
      <p:cViewPr varScale="1">
        <p:scale>
          <a:sx n="92" d="100"/>
          <a:sy n="92" d="100"/>
        </p:scale>
        <p:origin x="498" y="84"/>
      </p:cViewPr>
      <p:guideLst>
        <p:guide orient="horz" pos="391"/>
        <p:guide pos="211"/>
        <p:guide orient="horz" pos="436"/>
        <p:guide orient="horz" pos="777"/>
        <p:guide orient="horz" pos="28"/>
        <p:guide pos="279"/>
        <p:guide orient="horz" pos="73"/>
      </p:guideLst>
    </p:cSldViewPr>
  </p:slideViewPr>
  <p:notesTextViewPr>
    <p:cViewPr>
      <p:scale>
        <a:sx n="1" d="1"/>
        <a:sy n="1" d="1"/>
      </p:scale>
      <p:origin x="0" y="0"/>
    </p:cViewPr>
  </p:notesTextViewPr>
  <p:sorterViewPr>
    <p:cViewPr>
      <p:scale>
        <a:sx n="100" d="100"/>
        <a:sy n="100" d="100"/>
      </p:scale>
      <p:origin x="0" y="-9918"/>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image" Target="../media/image3.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image" Target="../media/image9.e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image" Target="../media/image11.e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image" Target="../media/image13.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15.v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image" Target="../media/image21.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25.emf"/></Relationships>
</file>

<file path=ppt/drawings/_rels/vmlDrawing19.vml.rels><?xml version="1.0" encoding="UTF-8" standalone="yes"?>
<Relationships xmlns="http://schemas.openxmlformats.org/package/2006/relationships"><Relationship Id="rId2" Type="http://schemas.openxmlformats.org/officeDocument/2006/relationships/image" Target="../media/image27.emf"/><Relationship Id="rId1" Type="http://schemas.openxmlformats.org/officeDocument/2006/relationships/image" Target="../media/image26.emf"/></Relationships>
</file>

<file path=ppt/drawings/_rels/vmlDrawing20.v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image" Target="../media/image28.emf"/></Relationships>
</file>

<file path=ppt/drawings/_rels/vmlDrawing21.vml.rels><?xml version="1.0" encoding="UTF-8" standalone="yes"?>
<Relationships xmlns="http://schemas.openxmlformats.org/package/2006/relationships"><Relationship Id="rId2" Type="http://schemas.openxmlformats.org/officeDocument/2006/relationships/image" Target="../media/image31.emf"/><Relationship Id="rId1" Type="http://schemas.openxmlformats.org/officeDocument/2006/relationships/image" Target="../media/image30.emf"/></Relationships>
</file>

<file path=ppt/drawings/_rels/vmlDrawing22.vml.rels><?xml version="1.0" encoding="UTF-8" standalone="yes"?>
<Relationships xmlns="http://schemas.openxmlformats.org/package/2006/relationships"><Relationship Id="rId2" Type="http://schemas.openxmlformats.org/officeDocument/2006/relationships/image" Target="../media/image33.emf"/><Relationship Id="rId1" Type="http://schemas.openxmlformats.org/officeDocument/2006/relationships/image" Target="../media/image32.e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35.e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36.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4B3386-1164-4DE5-87D6-99DD641BC976}" type="datetimeFigureOut">
              <a:rPr lang="zh-CN" altLang="en-US" smtClean="0"/>
              <a:t>2025-08-01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BDB411-4171-48A7-B819-B87F89F6C7EE}" type="slidenum">
              <a:rPr lang="zh-CN" altLang="en-US" smtClean="0"/>
              <a:t>‹#›</a:t>
            </a:fld>
            <a:endParaRPr lang="zh-CN" altLang="en-US"/>
          </a:p>
        </p:txBody>
      </p:sp>
    </p:spTree>
    <p:extLst>
      <p:ext uri="{BB962C8B-B14F-4D97-AF65-F5344CB8AC3E}">
        <p14:creationId xmlns:p14="http://schemas.microsoft.com/office/powerpoint/2010/main" val="12544889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slide" Target="../slides/slide15.xml"/><Relationship Id="rId2" Type="http://schemas.openxmlformats.org/officeDocument/2006/relationships/slide" Target="../slides/slide11.xml"/><Relationship Id="rId1" Type="http://schemas.openxmlformats.org/officeDocument/2006/relationships/slideMaster" Target="../slideMasters/slideMaster1.xml"/><Relationship Id="rId5" Type="http://schemas.openxmlformats.org/officeDocument/2006/relationships/slide" Target="../slides/slide26.xml"/><Relationship Id="rId4" Type="http://schemas.openxmlformats.org/officeDocument/2006/relationships/slide" Target="../slides/slide19.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6_标题幻灯片">
    <p:spTree>
      <p:nvGrpSpPr>
        <p:cNvPr id="1" name=""/>
        <p:cNvGrpSpPr/>
        <p:nvPr/>
      </p:nvGrpSpPr>
      <p:grpSpPr>
        <a:xfrm>
          <a:off x="0" y="0"/>
          <a:ext cx="0" cy="0"/>
          <a:chOff x="0" y="0"/>
          <a:chExt cx="0" cy="0"/>
        </a:xfrm>
      </p:grpSpPr>
      <p:sp>
        <p:nvSpPr>
          <p:cNvPr id="7" name="圆角矩形 6">
            <a:hlinkClick r:id="rId2" action="ppaction://hlinksldjump"/>
          </p:cNvPr>
          <p:cNvSpPr/>
          <p:nvPr userDrawn="1"/>
        </p:nvSpPr>
        <p:spPr>
          <a:xfrm>
            <a:off x="7926847" y="6512560"/>
            <a:ext cx="984481"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smtClean="0">
                <a:ln>
                  <a:solidFill>
                    <a:schemeClr val="bg1"/>
                  </a:solidFill>
                </a:ln>
                <a:solidFill>
                  <a:schemeClr val="bg1"/>
                </a:solidFill>
              </a:rPr>
              <a:t>探究一</a:t>
            </a:r>
            <a:endParaRPr lang="zh-CN" altLang="en-US" sz="1400" dirty="0">
              <a:ln>
                <a:solidFill>
                  <a:schemeClr val="bg1"/>
                </a:solidFill>
              </a:ln>
              <a:solidFill>
                <a:schemeClr val="bg1"/>
              </a:solidFill>
            </a:endParaRPr>
          </a:p>
        </p:txBody>
      </p:sp>
      <p:sp>
        <p:nvSpPr>
          <p:cNvPr id="8" name="圆角矩形 7">
            <a:hlinkClick r:id="rId3" action="ppaction://hlinksldjump"/>
          </p:cNvPr>
          <p:cNvSpPr/>
          <p:nvPr userDrawn="1"/>
        </p:nvSpPr>
        <p:spPr>
          <a:xfrm>
            <a:off x="8993191" y="6512560"/>
            <a:ext cx="984481"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sz="1400" dirty="0" smtClean="0">
                <a:ln>
                  <a:solidFill>
                    <a:schemeClr val="bg1"/>
                  </a:solidFill>
                </a:ln>
                <a:solidFill>
                  <a:schemeClr val="bg1"/>
                </a:solidFill>
              </a:rPr>
              <a:t>探究二</a:t>
            </a:r>
            <a:endParaRPr lang="zh-CN" altLang="en-US" sz="1400" dirty="0">
              <a:ln>
                <a:solidFill>
                  <a:schemeClr val="bg1"/>
                </a:solidFill>
              </a:ln>
              <a:solidFill>
                <a:schemeClr val="bg1"/>
              </a:solidFill>
            </a:endParaRPr>
          </a:p>
        </p:txBody>
      </p:sp>
      <p:sp>
        <p:nvSpPr>
          <p:cNvPr id="9" name="圆角矩形 8">
            <a:hlinkClick r:id="rId4" action="ppaction://hlinksldjump"/>
          </p:cNvPr>
          <p:cNvSpPr/>
          <p:nvPr userDrawn="1"/>
        </p:nvSpPr>
        <p:spPr>
          <a:xfrm>
            <a:off x="10059535" y="6512560"/>
            <a:ext cx="984481"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sz="1400" dirty="0" smtClean="0">
                <a:ln>
                  <a:solidFill>
                    <a:schemeClr val="bg1"/>
                  </a:solidFill>
                </a:ln>
                <a:solidFill>
                  <a:schemeClr val="bg1"/>
                </a:solidFill>
              </a:rPr>
              <a:t>探究三</a:t>
            </a:r>
            <a:endParaRPr lang="zh-CN" altLang="en-US" sz="1400" dirty="0">
              <a:ln>
                <a:solidFill>
                  <a:schemeClr val="bg1"/>
                </a:solidFill>
              </a:ln>
              <a:solidFill>
                <a:schemeClr val="bg1"/>
              </a:solidFill>
            </a:endParaRPr>
          </a:p>
        </p:txBody>
      </p:sp>
      <p:sp>
        <p:nvSpPr>
          <p:cNvPr id="6" name="圆角矩形 5">
            <a:hlinkClick r:id="rId5" action="ppaction://hlinksldjump"/>
          </p:cNvPr>
          <p:cNvSpPr/>
          <p:nvPr userDrawn="1"/>
        </p:nvSpPr>
        <p:spPr>
          <a:xfrm>
            <a:off x="11125879" y="6512560"/>
            <a:ext cx="984481"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sz="1400" dirty="0" smtClean="0">
                <a:ln>
                  <a:solidFill>
                    <a:schemeClr val="bg1"/>
                  </a:solidFill>
                </a:ln>
                <a:solidFill>
                  <a:schemeClr val="bg1"/>
                </a:solidFill>
              </a:rPr>
              <a:t>思想方法</a:t>
            </a:r>
            <a:endParaRPr lang="zh-CN" altLang="en-US" sz="1400" dirty="0">
              <a:ln>
                <a:solidFill>
                  <a:schemeClr val="bg1"/>
                </a:solidFill>
              </a:ln>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61" r:id="rId3"/>
  </p:sldLayoutIdLst>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 Target="slide10.xml"/><Relationship Id="rId2" Type="http://schemas.openxmlformats.org/officeDocument/2006/relationships/slide" Target="slide4.xml"/><Relationship Id="rId1" Type="http://schemas.openxmlformats.org/officeDocument/2006/relationships/slideLayout" Target="../slideLayouts/slideLayout1.xml"/><Relationship Id="rId4" Type="http://schemas.openxmlformats.org/officeDocument/2006/relationships/slide" Target="slide29.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package" Target="../embeddings/Microsoft_Word___1.docx"/><Relationship Id="rId2" Type="http://schemas.openxmlformats.org/officeDocument/2006/relationships/slideLayout" Target="../slideLayouts/slideLayout3.xml"/><Relationship Id="rId1" Type="http://schemas.openxmlformats.org/officeDocument/2006/relationships/vmlDrawing" Target="../drawings/vmlDrawing1.vml"/><Relationship Id="rId4" Type="http://schemas.openxmlformats.org/officeDocument/2006/relationships/image" Target="../media/image2.emf"/></Relationships>
</file>

<file path=ppt/slides/_rels/slide6.xml.rels><?xml version="1.0" encoding="UTF-8" standalone="yes"?>
<Relationships xmlns="http://schemas.openxmlformats.org/package/2006/relationships"><Relationship Id="rId3" Type="http://schemas.openxmlformats.org/officeDocument/2006/relationships/package" Target="../embeddings/Microsoft_Word___2.docx"/><Relationship Id="rId2" Type="http://schemas.openxmlformats.org/officeDocument/2006/relationships/slideLayout" Target="../slideLayouts/slideLayout3.xml"/><Relationship Id="rId1" Type="http://schemas.openxmlformats.org/officeDocument/2006/relationships/vmlDrawing" Target="../drawings/vmlDrawing2.vml"/><Relationship Id="rId6" Type="http://schemas.openxmlformats.org/officeDocument/2006/relationships/image" Target="../media/image4.emf"/><Relationship Id="rId5" Type="http://schemas.openxmlformats.org/officeDocument/2006/relationships/package" Target="../embeddings/Microsoft_Word___3.docx"/><Relationship Id="rId4" Type="http://schemas.openxmlformats.org/officeDocument/2006/relationships/image" Target="../media/image3.e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package" Target="../embeddings/Microsoft_Word___4.docx"/><Relationship Id="rId2" Type="http://schemas.openxmlformats.org/officeDocument/2006/relationships/slideLayout" Target="../slideLayouts/slideLayout3.xml"/><Relationship Id="rId1" Type="http://schemas.openxmlformats.org/officeDocument/2006/relationships/vmlDrawing" Target="../drawings/vmlDrawing3.vml"/><Relationship Id="rId4" Type="http://schemas.openxmlformats.org/officeDocument/2006/relationships/image" Target="../media/image5.emf"/></Relationships>
</file>

<file path=ppt/slides/_rels/slide9.xml.rels><?xml version="1.0" encoding="UTF-8" standalone="yes"?>
<Relationships xmlns="http://schemas.openxmlformats.org/package/2006/relationships"><Relationship Id="rId3" Type="http://schemas.openxmlformats.org/officeDocument/2006/relationships/package" Target="../embeddings/Microsoft_Word___5.docx"/><Relationship Id="rId2" Type="http://schemas.openxmlformats.org/officeDocument/2006/relationships/slideLayout" Target="../slideLayouts/slideLayout3.xml"/><Relationship Id="rId1" Type="http://schemas.openxmlformats.org/officeDocument/2006/relationships/vmlDrawing" Target="../drawings/vmlDrawing4.vml"/><Relationship Id="rId4" Type="http://schemas.openxmlformats.org/officeDocument/2006/relationships/image" Target="../media/image6.em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package" Target="../embeddings/Microsoft_Word___6.docx"/><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image" Target="../media/image7.emf"/></Relationships>
</file>

<file path=ppt/slides/_rels/slide12.xml.rels><?xml version="1.0" encoding="UTF-8" standalone="yes"?>
<Relationships xmlns="http://schemas.openxmlformats.org/package/2006/relationships"><Relationship Id="rId3" Type="http://schemas.openxmlformats.org/officeDocument/2006/relationships/package" Target="../embeddings/Microsoft_Word___7.docx"/><Relationship Id="rId2" Type="http://schemas.openxmlformats.org/officeDocument/2006/relationships/slideLayout" Target="../slideLayouts/slideLayout2.xml"/><Relationship Id="rId1" Type="http://schemas.openxmlformats.org/officeDocument/2006/relationships/vmlDrawing" Target="../drawings/vmlDrawing6.vml"/><Relationship Id="rId4" Type="http://schemas.openxmlformats.org/officeDocument/2006/relationships/image" Target="../media/image8.emf"/></Relationships>
</file>

<file path=ppt/slides/_rels/slide13.xml.rels><?xml version="1.0" encoding="UTF-8" standalone="yes"?>
<Relationships xmlns="http://schemas.openxmlformats.org/package/2006/relationships"><Relationship Id="rId3" Type="http://schemas.openxmlformats.org/officeDocument/2006/relationships/package" Target="../embeddings/Microsoft_Word___8.docx"/><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image" Target="../media/image10.emf"/><Relationship Id="rId5" Type="http://schemas.openxmlformats.org/officeDocument/2006/relationships/package" Target="../embeddings/Microsoft_Word___9.docx"/><Relationship Id="rId4" Type="http://schemas.openxmlformats.org/officeDocument/2006/relationships/image" Target="../media/image9.emf"/></Relationships>
</file>

<file path=ppt/slides/_rels/slide14.xml.rels><?xml version="1.0" encoding="UTF-8" standalone="yes"?>
<Relationships xmlns="http://schemas.openxmlformats.org/package/2006/relationships"><Relationship Id="rId3" Type="http://schemas.openxmlformats.org/officeDocument/2006/relationships/package" Target="../embeddings/Microsoft_Word___10.docx"/><Relationship Id="rId2" Type="http://schemas.openxmlformats.org/officeDocument/2006/relationships/slideLayout" Target="../slideLayouts/slideLayout2.xml"/><Relationship Id="rId1" Type="http://schemas.openxmlformats.org/officeDocument/2006/relationships/vmlDrawing" Target="../drawings/vmlDrawing8.vml"/><Relationship Id="rId6" Type="http://schemas.openxmlformats.org/officeDocument/2006/relationships/image" Target="../media/image12.emf"/><Relationship Id="rId5" Type="http://schemas.openxmlformats.org/officeDocument/2006/relationships/package" Target="../embeddings/Microsoft_Word___11.docx"/><Relationship Id="rId4" Type="http://schemas.openxmlformats.org/officeDocument/2006/relationships/image" Target="../media/image11.emf"/></Relationships>
</file>

<file path=ppt/slides/_rels/slide15.xml.rels><?xml version="1.0" encoding="UTF-8" standalone="yes"?>
<Relationships xmlns="http://schemas.openxmlformats.org/package/2006/relationships"><Relationship Id="rId3" Type="http://schemas.openxmlformats.org/officeDocument/2006/relationships/package" Target="../embeddings/Microsoft_Word___12.docx"/><Relationship Id="rId2" Type="http://schemas.openxmlformats.org/officeDocument/2006/relationships/slideLayout" Target="../slideLayouts/slideLayout2.xml"/><Relationship Id="rId1" Type="http://schemas.openxmlformats.org/officeDocument/2006/relationships/vmlDrawing" Target="../drawings/vmlDrawing9.vml"/><Relationship Id="rId6" Type="http://schemas.openxmlformats.org/officeDocument/2006/relationships/image" Target="../media/image14.emf"/><Relationship Id="rId5" Type="http://schemas.openxmlformats.org/officeDocument/2006/relationships/package" Target="../embeddings/Microsoft_Word___13.docx"/><Relationship Id="rId4" Type="http://schemas.openxmlformats.org/officeDocument/2006/relationships/image" Target="../media/image13.emf"/></Relationships>
</file>

<file path=ppt/slides/_rels/slide16.xml.rels><?xml version="1.0" encoding="UTF-8" standalone="yes"?>
<Relationships xmlns="http://schemas.openxmlformats.org/package/2006/relationships"><Relationship Id="rId3" Type="http://schemas.openxmlformats.org/officeDocument/2006/relationships/package" Target="../embeddings/Microsoft_Word___14.docx"/><Relationship Id="rId2" Type="http://schemas.openxmlformats.org/officeDocument/2006/relationships/slideLayout" Target="../slideLayouts/slideLayout2.xml"/><Relationship Id="rId1" Type="http://schemas.openxmlformats.org/officeDocument/2006/relationships/vmlDrawing" Target="../drawings/vmlDrawing10.vml"/><Relationship Id="rId4" Type="http://schemas.openxmlformats.org/officeDocument/2006/relationships/image" Target="../media/image15.emf"/></Relationships>
</file>

<file path=ppt/slides/_rels/slide17.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slideLayout" Target="../slideLayouts/slideLayout2.xml"/><Relationship Id="rId1" Type="http://schemas.openxmlformats.org/officeDocument/2006/relationships/vmlDrawing" Target="../drawings/vmlDrawing11.vml"/><Relationship Id="rId5" Type="http://schemas.openxmlformats.org/officeDocument/2006/relationships/image" Target="../media/image16.emf"/><Relationship Id="rId4" Type="http://schemas.openxmlformats.org/officeDocument/2006/relationships/package" Target="../embeddings/Microsoft_Word___15.docx"/></Relationships>
</file>

<file path=ppt/slides/_rels/slide18.xml.rels><?xml version="1.0" encoding="UTF-8" standalone="yes"?>
<Relationships xmlns="http://schemas.openxmlformats.org/package/2006/relationships"><Relationship Id="rId3" Type="http://schemas.openxmlformats.org/officeDocument/2006/relationships/package" Target="../embeddings/Microsoft_Word___16.docx"/><Relationship Id="rId2" Type="http://schemas.openxmlformats.org/officeDocument/2006/relationships/slideLayout" Target="../slideLayouts/slideLayout2.xml"/><Relationship Id="rId1" Type="http://schemas.openxmlformats.org/officeDocument/2006/relationships/vmlDrawing" Target="../drawings/vmlDrawing12.vml"/><Relationship Id="rId4" Type="http://schemas.openxmlformats.org/officeDocument/2006/relationships/image" Target="../media/image18.emf"/></Relationships>
</file>

<file path=ppt/slides/_rels/slide19.xml.rels><?xml version="1.0" encoding="UTF-8" standalone="yes"?>
<Relationships xmlns="http://schemas.openxmlformats.org/package/2006/relationships"><Relationship Id="rId3" Type="http://schemas.openxmlformats.org/officeDocument/2006/relationships/package" Target="../embeddings/Microsoft_Word___17.docx"/><Relationship Id="rId2" Type="http://schemas.openxmlformats.org/officeDocument/2006/relationships/slideLayout" Target="../slideLayouts/slideLayout2.xml"/><Relationship Id="rId1" Type="http://schemas.openxmlformats.org/officeDocument/2006/relationships/vmlDrawing" Target="../drawings/vmlDrawing13.vml"/><Relationship Id="rId4" Type="http://schemas.openxmlformats.org/officeDocument/2006/relationships/image" Target="../media/image19.emf"/></Relationships>
</file>

<file path=ppt/slides/_rels/slide20.xml.rels><?xml version="1.0" encoding="UTF-8" standalone="yes"?>
<Relationships xmlns="http://schemas.openxmlformats.org/package/2006/relationships"><Relationship Id="rId3" Type="http://schemas.openxmlformats.org/officeDocument/2006/relationships/package" Target="../embeddings/Microsoft_Word___18.docx"/><Relationship Id="rId2" Type="http://schemas.openxmlformats.org/officeDocument/2006/relationships/slideLayout" Target="../slideLayouts/slideLayout2.xml"/><Relationship Id="rId1" Type="http://schemas.openxmlformats.org/officeDocument/2006/relationships/vmlDrawing" Target="../drawings/vmlDrawing14.vml"/><Relationship Id="rId4" Type="http://schemas.openxmlformats.org/officeDocument/2006/relationships/image" Target="../media/image20.emf"/></Relationships>
</file>

<file path=ppt/slides/_rels/slide21.xml.rels><?xml version="1.0" encoding="UTF-8" standalone="yes"?>
<Relationships xmlns="http://schemas.openxmlformats.org/package/2006/relationships"><Relationship Id="rId3" Type="http://schemas.openxmlformats.org/officeDocument/2006/relationships/image" Target="../media/image17.jpeg"/><Relationship Id="rId7" Type="http://schemas.openxmlformats.org/officeDocument/2006/relationships/image" Target="../media/image22.emf"/><Relationship Id="rId2" Type="http://schemas.openxmlformats.org/officeDocument/2006/relationships/slideLayout" Target="../slideLayouts/slideLayout2.xml"/><Relationship Id="rId1" Type="http://schemas.openxmlformats.org/officeDocument/2006/relationships/vmlDrawing" Target="../drawings/vmlDrawing15.vml"/><Relationship Id="rId6" Type="http://schemas.openxmlformats.org/officeDocument/2006/relationships/package" Target="../embeddings/Microsoft_Word___20.docx"/><Relationship Id="rId5" Type="http://schemas.openxmlformats.org/officeDocument/2006/relationships/image" Target="../media/image21.emf"/><Relationship Id="rId4" Type="http://schemas.openxmlformats.org/officeDocument/2006/relationships/package" Target="../embeddings/Microsoft_Word___19.docx"/></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package" Target="../embeddings/Microsoft_Word___21.docx"/><Relationship Id="rId2" Type="http://schemas.openxmlformats.org/officeDocument/2006/relationships/slideLayout" Target="../slideLayouts/slideLayout2.xml"/><Relationship Id="rId1" Type="http://schemas.openxmlformats.org/officeDocument/2006/relationships/vmlDrawing" Target="../drawings/vmlDrawing16.vml"/><Relationship Id="rId4" Type="http://schemas.openxmlformats.org/officeDocument/2006/relationships/image" Target="../media/image23.emf"/></Relationships>
</file>

<file path=ppt/slides/_rels/slide24.xml.rels><?xml version="1.0" encoding="UTF-8" standalone="yes"?>
<Relationships xmlns="http://schemas.openxmlformats.org/package/2006/relationships"><Relationship Id="rId3" Type="http://schemas.openxmlformats.org/officeDocument/2006/relationships/package" Target="../embeddings/Microsoft_Word___22.docx"/><Relationship Id="rId2" Type="http://schemas.openxmlformats.org/officeDocument/2006/relationships/slideLayout" Target="../slideLayouts/slideLayout2.xml"/><Relationship Id="rId1" Type="http://schemas.openxmlformats.org/officeDocument/2006/relationships/vmlDrawing" Target="../drawings/vmlDrawing17.vml"/><Relationship Id="rId4" Type="http://schemas.openxmlformats.org/officeDocument/2006/relationships/image" Target="../media/image24.emf"/></Relationships>
</file>

<file path=ppt/slides/_rels/slide25.xml.rels><?xml version="1.0" encoding="UTF-8" standalone="yes"?>
<Relationships xmlns="http://schemas.openxmlformats.org/package/2006/relationships"><Relationship Id="rId3" Type="http://schemas.openxmlformats.org/officeDocument/2006/relationships/package" Target="../embeddings/Microsoft_Word___23.docx"/><Relationship Id="rId2" Type="http://schemas.openxmlformats.org/officeDocument/2006/relationships/slideLayout" Target="../slideLayouts/slideLayout2.xml"/><Relationship Id="rId1" Type="http://schemas.openxmlformats.org/officeDocument/2006/relationships/vmlDrawing" Target="../drawings/vmlDrawing18.vml"/><Relationship Id="rId4" Type="http://schemas.openxmlformats.org/officeDocument/2006/relationships/image" Target="../media/image25.emf"/></Relationships>
</file>

<file path=ppt/slides/_rels/slide26.xml.rels><?xml version="1.0" encoding="UTF-8" standalone="yes"?>
<Relationships xmlns="http://schemas.openxmlformats.org/package/2006/relationships"><Relationship Id="rId3" Type="http://schemas.openxmlformats.org/officeDocument/2006/relationships/package" Target="../embeddings/Microsoft_Word___24.docx"/><Relationship Id="rId2" Type="http://schemas.openxmlformats.org/officeDocument/2006/relationships/slideLayout" Target="../slideLayouts/slideLayout2.xml"/><Relationship Id="rId1" Type="http://schemas.openxmlformats.org/officeDocument/2006/relationships/vmlDrawing" Target="../drawings/vmlDrawing19.vml"/><Relationship Id="rId6" Type="http://schemas.openxmlformats.org/officeDocument/2006/relationships/image" Target="../media/image27.emf"/><Relationship Id="rId5" Type="http://schemas.openxmlformats.org/officeDocument/2006/relationships/package" Target="../embeddings/Microsoft_Word___25.docx"/><Relationship Id="rId4" Type="http://schemas.openxmlformats.org/officeDocument/2006/relationships/image" Target="../media/image26.emf"/></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package" Target="../embeddings/Microsoft_Word___26.docx"/><Relationship Id="rId2" Type="http://schemas.openxmlformats.org/officeDocument/2006/relationships/slideLayout" Target="../slideLayouts/slideLayout2.xml"/><Relationship Id="rId1" Type="http://schemas.openxmlformats.org/officeDocument/2006/relationships/vmlDrawing" Target="../drawings/vmlDrawing20.vml"/><Relationship Id="rId6" Type="http://schemas.openxmlformats.org/officeDocument/2006/relationships/image" Target="../media/image29.emf"/><Relationship Id="rId5" Type="http://schemas.openxmlformats.org/officeDocument/2006/relationships/package" Target="../embeddings/Microsoft_Word___27.docx"/><Relationship Id="rId4" Type="http://schemas.openxmlformats.org/officeDocument/2006/relationships/image" Target="../media/image28.emf"/></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package" Target="../embeddings/Microsoft_Word___28.docx"/><Relationship Id="rId2" Type="http://schemas.openxmlformats.org/officeDocument/2006/relationships/slideLayout" Target="../slideLayouts/slideLayout1.xml"/><Relationship Id="rId1" Type="http://schemas.openxmlformats.org/officeDocument/2006/relationships/vmlDrawing" Target="../drawings/vmlDrawing21.vml"/><Relationship Id="rId6" Type="http://schemas.openxmlformats.org/officeDocument/2006/relationships/image" Target="../media/image31.emf"/><Relationship Id="rId5" Type="http://schemas.openxmlformats.org/officeDocument/2006/relationships/package" Target="../embeddings/Microsoft_Word___29.docx"/><Relationship Id="rId4" Type="http://schemas.openxmlformats.org/officeDocument/2006/relationships/image" Target="../media/image30.emf"/></Relationships>
</file>

<file path=ppt/slides/_rels/slide31.xml.rels><?xml version="1.0" encoding="UTF-8" standalone="yes"?>
<Relationships xmlns="http://schemas.openxmlformats.org/package/2006/relationships"><Relationship Id="rId3" Type="http://schemas.openxmlformats.org/officeDocument/2006/relationships/package" Target="../embeddings/Microsoft_Word___30.docx"/><Relationship Id="rId2" Type="http://schemas.openxmlformats.org/officeDocument/2006/relationships/slideLayout" Target="../slideLayouts/slideLayout1.xml"/><Relationship Id="rId1" Type="http://schemas.openxmlformats.org/officeDocument/2006/relationships/vmlDrawing" Target="../drawings/vmlDrawing22.vml"/><Relationship Id="rId6" Type="http://schemas.openxmlformats.org/officeDocument/2006/relationships/image" Target="../media/image33.emf"/><Relationship Id="rId5" Type="http://schemas.openxmlformats.org/officeDocument/2006/relationships/package" Target="../embeddings/Microsoft_Word___31.docx"/><Relationship Id="rId4" Type="http://schemas.openxmlformats.org/officeDocument/2006/relationships/image" Target="../media/image32.emf"/></Relationships>
</file>

<file path=ppt/slides/_rels/slide3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package" Target="../embeddings/Microsoft_Word___32.docx"/><Relationship Id="rId2" Type="http://schemas.openxmlformats.org/officeDocument/2006/relationships/slideLayout" Target="../slideLayouts/slideLayout1.xml"/><Relationship Id="rId1" Type="http://schemas.openxmlformats.org/officeDocument/2006/relationships/vmlDrawing" Target="../drawings/vmlDrawing23.vml"/><Relationship Id="rId4" Type="http://schemas.openxmlformats.org/officeDocument/2006/relationships/image" Target="../media/image35.emf"/></Relationships>
</file>

<file path=ppt/slides/_rels/slide34.xml.rels><?xml version="1.0" encoding="UTF-8" standalone="yes"?>
<Relationships xmlns="http://schemas.openxmlformats.org/package/2006/relationships"><Relationship Id="rId3" Type="http://schemas.openxmlformats.org/officeDocument/2006/relationships/package" Target="../embeddings/Microsoft_Word___33.docx"/><Relationship Id="rId2" Type="http://schemas.openxmlformats.org/officeDocument/2006/relationships/slideLayout" Target="../slideLayouts/slideLayout1.xml"/><Relationship Id="rId1" Type="http://schemas.openxmlformats.org/officeDocument/2006/relationships/vmlDrawing" Target="../drawings/vmlDrawing24.vml"/><Relationship Id="rId4" Type="http://schemas.openxmlformats.org/officeDocument/2006/relationships/image" Target="../media/image36.emf"/></Relationships>
</file>

<file path=ppt/slides/_rels/slide3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300879" y="519978"/>
            <a:ext cx="4047903" cy="461665"/>
          </a:xfrm>
          <a:prstGeom prst="rect">
            <a:avLst/>
          </a:prstGeom>
        </p:spPr>
        <p:txBody>
          <a:bodyPr wrap="none">
            <a:spAutoFit/>
          </a:bodyPr>
          <a:lstStyle/>
          <a:p>
            <a:pPr algn="dist"/>
            <a:r>
              <a:rPr lang="zh-CN" altLang="en-US" sz="2400" b="1" spc="600" dirty="0" smtClean="0">
                <a:solidFill>
                  <a:srgbClr val="757C82"/>
                </a:solidFill>
                <a:latin typeface="黑体" panose="02010609060101010101" pitchFamily="49" charset="-122"/>
                <a:ea typeface="黑体" panose="02010609060101010101" pitchFamily="49" charset="-122"/>
              </a:rPr>
              <a:t>高中同步测控优化设计</a:t>
            </a:r>
            <a:endParaRPr lang="zh-CN" altLang="en-US" sz="2400" b="1" spc="600" dirty="0">
              <a:solidFill>
                <a:srgbClr val="757C82"/>
              </a:solidFill>
              <a:latin typeface="黑体" panose="02010609060101010101" pitchFamily="49" charset="-122"/>
              <a:ea typeface="黑体" panose="02010609060101010101" pitchFamily="49" charset="-122"/>
            </a:endParaRPr>
          </a:p>
        </p:txBody>
      </p:sp>
      <p:cxnSp>
        <p:nvCxnSpPr>
          <p:cNvPr id="3" name="直接连接符 2"/>
          <p:cNvCxnSpPr/>
          <p:nvPr/>
        </p:nvCxnSpPr>
        <p:spPr>
          <a:xfrm>
            <a:off x="2282351" y="1003843"/>
            <a:ext cx="4305485" cy="0"/>
          </a:xfrm>
          <a:prstGeom prst="line">
            <a:avLst/>
          </a:prstGeom>
          <a:ln>
            <a:solidFill>
              <a:schemeClr val="tx1"/>
            </a:solidFill>
            <a:prstDash val="lgDashDotDot"/>
            <a:headEnd type="diamond" w="med" len="med"/>
            <a:tailEnd type="diamond" w="med" len="med"/>
          </a:ln>
          <a:effectLst/>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2173232" y="1026313"/>
            <a:ext cx="4414604" cy="338554"/>
          </a:xfrm>
          <a:prstGeom prst="rect">
            <a:avLst/>
          </a:prstGeom>
        </p:spPr>
        <p:txBody>
          <a:bodyPr wrap="square">
            <a:spAutoFit/>
          </a:bodyPr>
          <a:lstStyle/>
          <a:p>
            <a:pPr algn="ctr"/>
            <a:r>
              <a:rPr lang="en-US" altLang="zh-CN" sz="1600" b="1" dirty="0" smtClean="0">
                <a:solidFill>
                  <a:srgbClr val="757C82"/>
                </a:solidFill>
                <a:latin typeface="黑体" panose="02010609060101010101" pitchFamily="49" charset="-122"/>
                <a:ea typeface="黑体" panose="02010609060101010101" pitchFamily="49" charset="-122"/>
              </a:rPr>
              <a:t>GAO ZHONG TONG </a:t>
            </a:r>
            <a:r>
              <a:rPr lang="en-US" altLang="zh-CN" sz="1600" b="1" dirty="0">
                <a:solidFill>
                  <a:srgbClr val="757C82"/>
                </a:solidFill>
                <a:latin typeface="黑体" panose="02010609060101010101" pitchFamily="49" charset="-122"/>
                <a:ea typeface="黑体" panose="02010609060101010101" pitchFamily="49" charset="-122"/>
              </a:rPr>
              <a:t>B</a:t>
            </a:r>
            <a:r>
              <a:rPr lang="en-US" altLang="zh-CN" sz="1600" b="1" dirty="0" smtClean="0">
                <a:solidFill>
                  <a:srgbClr val="757C82"/>
                </a:solidFill>
                <a:latin typeface="黑体" panose="02010609060101010101" pitchFamily="49" charset="-122"/>
                <a:ea typeface="黑体" panose="02010609060101010101" pitchFamily="49" charset="-122"/>
              </a:rPr>
              <a:t>U CE KONG YOU HUA SHE JI</a:t>
            </a:r>
          </a:p>
        </p:txBody>
      </p:sp>
      <p:grpSp>
        <p:nvGrpSpPr>
          <p:cNvPr id="5" name="组合 4"/>
          <p:cNvGrpSpPr/>
          <p:nvPr/>
        </p:nvGrpSpPr>
        <p:grpSpPr>
          <a:xfrm>
            <a:off x="635" y="2775585"/>
            <a:ext cx="12191365" cy="1478915"/>
            <a:chOff x="303375" y="3227146"/>
            <a:chExt cx="11560182" cy="1479076"/>
          </a:xfrm>
        </p:grpSpPr>
        <p:sp>
          <p:nvSpPr>
            <p:cNvPr id="6" name="矩形 5"/>
            <p:cNvSpPr/>
            <p:nvPr/>
          </p:nvSpPr>
          <p:spPr>
            <a:xfrm>
              <a:off x="303375" y="3227146"/>
              <a:ext cx="11560182" cy="1479076"/>
            </a:xfrm>
            <a:prstGeom prst="rect">
              <a:avLst/>
            </a:prstGeom>
            <a:solidFill>
              <a:srgbClr val="6B7278"/>
            </a:solidFill>
            <a:ln>
              <a:noFill/>
            </a:ln>
            <a:scene3d>
              <a:camera prst="orthographicFront"/>
              <a:lightRig rig="threePt" dir="t"/>
            </a:scene3d>
            <a:sp3d>
              <a:bevelT w="114300" prst="hardEdg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3665034" y="3614538"/>
              <a:ext cx="8158783" cy="645230"/>
            </a:xfrm>
            <a:prstGeom prst="rect">
              <a:avLst/>
            </a:prstGeom>
          </p:spPr>
          <p:txBody>
            <a:bodyPr wrap="square">
              <a:spAutoFit/>
            </a:bodyPr>
            <a:lstStyle/>
            <a:p>
              <a:r>
                <a:rPr lang="zh-CN" altLang="en-US" sz="3600" b="1" dirty="0">
                  <a:solidFill>
                    <a:schemeClr val="bg1"/>
                  </a:solidFill>
                  <a:latin typeface="华文细黑" panose="02010600040101010101" charset="-122"/>
                  <a:ea typeface="华文细黑" panose="02010600040101010101" charset="-122"/>
                </a:rPr>
                <a:t>习题课</a:t>
              </a:r>
              <a:r>
                <a:rPr lang="en-US" altLang="zh-CN" sz="3600" b="1" dirty="0">
                  <a:solidFill>
                    <a:schemeClr val="bg1"/>
                  </a:solidFill>
                  <a:latin typeface="华文细黑" panose="02010600040101010101" charset="-122"/>
                  <a:ea typeface="华文细黑" panose="02010600040101010101" charset="-122"/>
                </a:rPr>
                <a:t>——</a:t>
              </a:r>
              <a:r>
                <a:rPr lang="zh-CN" altLang="en-US" sz="3600" b="1" dirty="0">
                  <a:solidFill>
                    <a:schemeClr val="bg1"/>
                  </a:solidFill>
                  <a:latin typeface="华文细黑" panose="02010600040101010101" charset="-122"/>
                  <a:ea typeface="华文细黑" panose="02010600040101010101" charset="-122"/>
                </a:rPr>
                <a:t>数列求和</a:t>
              </a:r>
            </a:p>
          </p:txBody>
        </p:sp>
      </p:grpSp>
      <p:sp>
        <p:nvSpPr>
          <p:cNvPr id="8" name="矩形 7"/>
          <p:cNvSpPr/>
          <p:nvPr/>
        </p:nvSpPr>
        <p:spPr>
          <a:xfrm>
            <a:off x="1109345" y="2277745"/>
            <a:ext cx="2282825" cy="2407920"/>
          </a:xfrm>
          <a:prstGeom prst="rect">
            <a:avLst/>
          </a:prstGeom>
          <a:solidFill>
            <a:srgbClr val="748773"/>
          </a:solidFill>
          <a:ln w="12700" cap="flat" cmpd="sng" algn="ctr">
            <a:noFill/>
            <a:prstDash val="solid"/>
            <a:miter lim="800000"/>
          </a:ln>
          <a:effectLst>
            <a:outerShdw blurRad="317500" dist="127000" dir="2700000" algn="tl" rotWithShape="0">
              <a:prstClr val="black">
                <a:alpha val="25000"/>
              </a:prstClr>
            </a:outerShdw>
          </a:effectLst>
          <a:scene3d>
            <a:camera prst="orthographicFront"/>
            <a:lightRig rig="threePt" dir="t"/>
          </a:scene3d>
          <a:sp3d>
            <a:bevelT w="101600" prst="riblet"/>
          </a:sp3d>
        </p:spPr>
        <p:txBody>
          <a:bodyPr wrap="none" rtlCol="0" anchor="ctr"/>
          <a:lstStyle/>
          <a:p>
            <a:pPr algn="ctr"/>
            <a:r>
              <a:rPr lang="zh-CN" altLang="en-US" sz="3600" b="1" kern="0" dirty="0" smtClean="0">
                <a:solidFill>
                  <a:schemeClr val="bg1"/>
                </a:solidFill>
                <a:latin typeface="华文细黑" panose="02010600040101010101" charset="-122"/>
                <a:ea typeface="华文细黑" panose="02010600040101010101" charset="-122"/>
                <a:cs typeface="Open Sans" panose="020B0606030504020204" pitchFamily="34" charset="0"/>
              </a:rPr>
              <a:t>第四章</a:t>
            </a:r>
            <a:endParaRPr lang="en-US" altLang="zh-CN" sz="3600" b="1" kern="0" dirty="0" smtClean="0">
              <a:solidFill>
                <a:schemeClr val="bg1"/>
              </a:solidFill>
              <a:latin typeface="华文细黑" panose="02010600040101010101" charset="-122"/>
              <a:ea typeface="华文细黑" panose="02010600040101010101" charset="-122"/>
              <a:cs typeface="Open Sans" panose="020B0606030504020204" pitchFamily="34" charset="0"/>
            </a:endParaRPr>
          </a:p>
        </p:txBody>
      </p:sp>
      <p:pic>
        <p:nvPicPr>
          <p:cNvPr id="10" name="图片 9" descr="e37b0ec1d4924ecca897357d279cf883"/>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Effect>
                      <a14:saturation sat="0"/>
                    </a14:imgEffect>
                  </a14:imgLayer>
                </a14:imgProps>
              </a:ext>
            </a:extLst>
          </a:blip>
          <a:stretch>
            <a:fillRect/>
          </a:stretch>
        </p:blipFill>
        <p:spPr>
          <a:xfrm>
            <a:off x="801370" y="175260"/>
            <a:ext cx="1453515" cy="1453515"/>
          </a:xfrm>
          <a:prstGeom prst="rect">
            <a:avLst/>
          </a:prstGeom>
        </p:spPr>
      </p:pic>
      <p:sp>
        <p:nvSpPr>
          <p:cNvPr id="11" name="矩形 10"/>
          <p:cNvSpPr/>
          <p:nvPr/>
        </p:nvSpPr>
        <p:spPr>
          <a:xfrm>
            <a:off x="1001385" y="587446"/>
            <a:ext cx="1052723" cy="58701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smtClean="0">
                <a:solidFill>
                  <a:srgbClr val="757C82"/>
                </a:solidFill>
                <a:latin typeface="Times New Roman" panose="02020603050405020304" pitchFamily="18" charset="0"/>
                <a:cs typeface="Times New Roman" panose="02020603050405020304" pitchFamily="18" charset="0"/>
              </a:rPr>
              <a:t>2025</a:t>
            </a:r>
          </a:p>
        </p:txBody>
      </p:sp>
    </p:spTree>
    <p:extLst>
      <p:ext uri="{BB962C8B-B14F-4D97-AF65-F5344CB8AC3E}">
        <p14:creationId xmlns:p14="http://schemas.microsoft.com/office/powerpoint/2010/main" val="394998433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bldLst>
      <p:bldP spid="2" grpId="0"/>
      <p:bldP spid="4" grpId="0"/>
      <p:bldP spid="8" grpId="0" bldLvl="0" animBg="1"/>
      <p:bldP spid="11" grpId="0" bldLvl="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nvSpPr>
        <p:spPr>
          <a:xfrm>
            <a:off x="1788494" y="1591871"/>
            <a:ext cx="942982" cy="3046988"/>
          </a:xfrm>
          <a:prstGeom prst="rect">
            <a:avLst/>
          </a:prstGeom>
          <a:noFill/>
        </p:spPr>
        <p:txBody>
          <a:bodyPr wrap="square" rtlCol="0">
            <a:spAutoFit/>
          </a:bodyPr>
          <a:lstStyle/>
          <a:p>
            <a:r>
              <a:rPr kumimoji="1" lang="zh-CN" altLang="en-US" sz="4800" smtClean="0">
                <a:solidFill>
                  <a:srgbClr val="2C3814"/>
                </a:solidFill>
                <a:cs typeface="+mn-ea"/>
                <a:sym typeface="+mn-lt"/>
              </a:rPr>
              <a:t>内容索引</a:t>
            </a:r>
            <a:endParaRPr kumimoji="1" lang="zh-CN" altLang="en-US" sz="4800" dirty="0">
              <a:solidFill>
                <a:srgbClr val="2C3814"/>
              </a:solidFill>
              <a:cs typeface="+mn-ea"/>
              <a:sym typeface="+mn-lt"/>
            </a:endParaRPr>
          </a:p>
        </p:txBody>
      </p:sp>
      <p:grpSp>
        <p:nvGrpSpPr>
          <p:cNvPr id="25" name="组合 24"/>
          <p:cNvGrpSpPr/>
          <p:nvPr/>
        </p:nvGrpSpPr>
        <p:grpSpPr>
          <a:xfrm>
            <a:off x="1378713" y="856615"/>
            <a:ext cx="1105802" cy="815646"/>
            <a:chOff x="-1604504" y="2147667"/>
            <a:chExt cx="3687215" cy="2719712"/>
          </a:xfrm>
        </p:grpSpPr>
        <p:cxnSp>
          <p:nvCxnSpPr>
            <p:cNvPr id="26" name="直接连接符 25"/>
            <p:cNvCxnSpPr/>
            <p:nvPr/>
          </p:nvCxnSpPr>
          <p:spPr>
            <a:xfrm flipH="1">
              <a:off x="-1604504" y="2687623"/>
              <a:ext cx="2592288" cy="2179756"/>
            </a:xfrm>
            <a:prstGeom prst="line">
              <a:avLst/>
            </a:prstGeom>
            <a:noFill/>
            <a:ln w="76200" cap="flat" cmpd="sng" algn="ctr">
              <a:solidFill>
                <a:schemeClr val="tx2">
                  <a:lumMod val="50000"/>
                </a:schemeClr>
              </a:solidFill>
              <a:prstDash val="solid"/>
            </a:ln>
            <a:effectLst/>
          </p:spPr>
        </p:cxnSp>
        <p:cxnSp>
          <p:nvCxnSpPr>
            <p:cNvPr id="27" name="直接连接符 26"/>
            <p:cNvCxnSpPr/>
            <p:nvPr/>
          </p:nvCxnSpPr>
          <p:spPr>
            <a:xfrm flipH="1">
              <a:off x="-509577" y="2147667"/>
              <a:ext cx="2592288" cy="2179756"/>
            </a:xfrm>
            <a:prstGeom prst="line">
              <a:avLst/>
            </a:prstGeom>
            <a:noFill/>
            <a:ln w="12700" cap="flat" cmpd="sng" algn="ctr">
              <a:solidFill>
                <a:schemeClr val="tx2">
                  <a:lumMod val="50000"/>
                </a:schemeClr>
              </a:solidFill>
              <a:prstDash val="solid"/>
            </a:ln>
            <a:effectLst/>
          </p:spPr>
        </p:cxnSp>
      </p:grpSp>
      <p:grpSp>
        <p:nvGrpSpPr>
          <p:cNvPr id="28" name="组合 27"/>
          <p:cNvGrpSpPr/>
          <p:nvPr/>
        </p:nvGrpSpPr>
        <p:grpSpPr>
          <a:xfrm flipH="1" flipV="1">
            <a:off x="1707083" y="4546456"/>
            <a:ext cx="1105803" cy="815646"/>
            <a:chOff x="-1604504" y="2147667"/>
            <a:chExt cx="3687215" cy="2719712"/>
          </a:xfrm>
        </p:grpSpPr>
        <p:cxnSp>
          <p:nvCxnSpPr>
            <p:cNvPr id="38" name="直接连接符 37"/>
            <p:cNvCxnSpPr/>
            <p:nvPr/>
          </p:nvCxnSpPr>
          <p:spPr>
            <a:xfrm flipH="1">
              <a:off x="-1604504" y="2687623"/>
              <a:ext cx="2592288" cy="2179756"/>
            </a:xfrm>
            <a:prstGeom prst="line">
              <a:avLst/>
            </a:prstGeom>
            <a:noFill/>
            <a:ln w="76200" cap="flat" cmpd="sng" algn="ctr">
              <a:solidFill>
                <a:sysClr val="windowText" lastClr="000000">
                  <a:lumMod val="85000"/>
                  <a:lumOff val="15000"/>
                </a:sysClr>
              </a:solidFill>
              <a:prstDash val="solid"/>
            </a:ln>
            <a:effectLst/>
          </p:spPr>
        </p:cxnSp>
        <p:cxnSp>
          <p:nvCxnSpPr>
            <p:cNvPr id="39" name="直接连接符 38"/>
            <p:cNvCxnSpPr/>
            <p:nvPr/>
          </p:nvCxnSpPr>
          <p:spPr>
            <a:xfrm flipH="1">
              <a:off x="-509577" y="2147667"/>
              <a:ext cx="2592288" cy="2179756"/>
            </a:xfrm>
            <a:prstGeom prst="line">
              <a:avLst/>
            </a:prstGeom>
            <a:noFill/>
            <a:ln w="12700" cap="flat" cmpd="sng" algn="ctr">
              <a:solidFill>
                <a:sysClr val="windowText" lastClr="000000">
                  <a:lumMod val="85000"/>
                  <a:lumOff val="15000"/>
                </a:sysClr>
              </a:solidFill>
              <a:prstDash val="solid"/>
            </a:ln>
            <a:effectLst/>
          </p:spPr>
        </p:cxnSp>
      </p:grpSp>
      <p:grpSp>
        <p:nvGrpSpPr>
          <p:cNvPr id="40" name="组合 39"/>
          <p:cNvGrpSpPr/>
          <p:nvPr/>
        </p:nvGrpSpPr>
        <p:grpSpPr>
          <a:xfrm>
            <a:off x="4764013" y="1194282"/>
            <a:ext cx="804581" cy="804581"/>
            <a:chOff x="3685832" y="623962"/>
            <a:chExt cx="739840" cy="739840"/>
          </a:xfrm>
        </p:grpSpPr>
        <p:sp>
          <p:nvSpPr>
            <p:cNvPr id="44" name="椭圆 43"/>
            <p:cNvSpPr/>
            <p:nvPr/>
          </p:nvSpPr>
          <p:spPr>
            <a:xfrm>
              <a:off x="3685832" y="623962"/>
              <a:ext cx="739840" cy="739840"/>
            </a:xfrm>
            <a:prstGeom prst="ellipse">
              <a:avLst/>
            </a:prstGeom>
            <a:gradFill flip="none" rotWithShape="1">
              <a:gsLst>
                <a:gs pos="0">
                  <a:srgbClr val="FFFFFF">
                    <a:lumMod val="95000"/>
                    <a:lumOff val="5000"/>
                  </a:srgbClr>
                </a:gs>
                <a:gs pos="0">
                  <a:srgbClr val="FFFFFF">
                    <a:lumMod val="75000"/>
                  </a:srgbClr>
                </a:gs>
                <a:gs pos="70000">
                  <a:srgbClr val="FAFAFA"/>
                </a:gs>
              </a:gsLst>
              <a:lin ang="8100000" scaled="1"/>
              <a:tileRect/>
            </a:gradFill>
            <a:ln w="25400" cap="flat" cmpd="sng" algn="ctr">
              <a:solidFill>
                <a:srgbClr val="FFFFFF"/>
              </a:solidFill>
              <a:prstDash val="solid"/>
            </a:ln>
            <a:effectLst>
              <a:outerShdw blurRad="254000" dist="190500" dir="8100000" algn="tr" rotWithShape="0">
                <a:prstClr val="black">
                  <a:alpha val="15000"/>
                </a:prstClr>
              </a:outerShdw>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135" b="0" i="0" u="none" strike="noStrike" kern="0" cap="none" spc="0" normalizeH="0" baseline="0" noProof="0" dirty="0" smtClean="0">
                <a:ln>
                  <a:noFill/>
                </a:ln>
                <a:solidFill>
                  <a:srgbClr val="E93F30"/>
                </a:solidFill>
                <a:effectLst/>
                <a:uLnTx/>
                <a:uFillTx/>
                <a:latin typeface="Arial" panose="020B0604020202020204" pitchFamily="34" charset="0"/>
              </a:endParaRPr>
            </a:p>
          </p:txBody>
        </p:sp>
        <p:sp>
          <p:nvSpPr>
            <p:cNvPr id="45" name="TextBox 7"/>
            <p:cNvSpPr txBox="1"/>
            <p:nvPr/>
          </p:nvSpPr>
          <p:spPr>
            <a:xfrm>
              <a:off x="3786929" y="743838"/>
              <a:ext cx="537648" cy="500090"/>
            </a:xfrm>
            <a:prstGeom prst="rect">
              <a:avLst/>
            </a:prstGeom>
            <a:noFill/>
          </p:spPr>
          <p:txBody>
            <a:bodyPr wrap="none" rtlCol="0" anchor="ctr">
              <a:spAutoFit/>
            </a:bodyPr>
            <a:lstStyle/>
            <a:p>
              <a:pPr marL="0" marR="0" lvl="0" indent="0" algn="ctr" defTabSz="1219200" eaLnBrk="1" fontAlgn="auto" latinLnBrk="0" hangingPunct="1">
                <a:lnSpc>
                  <a:spcPct val="100000"/>
                </a:lnSpc>
                <a:spcBef>
                  <a:spcPts val="0"/>
                </a:spcBef>
                <a:spcAft>
                  <a:spcPts val="0"/>
                </a:spcAft>
                <a:buClrTx/>
                <a:buSzTx/>
                <a:buFontTx/>
                <a:buNone/>
                <a:defRPr/>
              </a:pPr>
              <a:r>
                <a:rPr kumimoji="0" lang="en-US" altLang="zh-CN"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rPr>
                <a:t>01</a:t>
              </a:r>
              <a:endParaRPr kumimoji="0" lang="zh-CN" altLang="en-US"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endParaRPr>
            </a:p>
          </p:txBody>
        </p:sp>
      </p:grpSp>
      <p:grpSp>
        <p:nvGrpSpPr>
          <p:cNvPr id="46" name="组合 45"/>
          <p:cNvGrpSpPr/>
          <p:nvPr/>
        </p:nvGrpSpPr>
        <p:grpSpPr>
          <a:xfrm>
            <a:off x="4764013" y="2760859"/>
            <a:ext cx="804581" cy="804581"/>
            <a:chOff x="3685832" y="1673493"/>
            <a:chExt cx="739840" cy="739840"/>
          </a:xfrm>
        </p:grpSpPr>
        <p:sp>
          <p:nvSpPr>
            <p:cNvPr id="47" name="椭圆 46"/>
            <p:cNvSpPr/>
            <p:nvPr/>
          </p:nvSpPr>
          <p:spPr>
            <a:xfrm>
              <a:off x="3685832" y="1673493"/>
              <a:ext cx="739840" cy="739840"/>
            </a:xfrm>
            <a:prstGeom prst="ellipse">
              <a:avLst/>
            </a:prstGeom>
            <a:gradFill flip="none" rotWithShape="1">
              <a:gsLst>
                <a:gs pos="0">
                  <a:srgbClr val="FFFFFF">
                    <a:lumMod val="95000"/>
                    <a:lumOff val="5000"/>
                  </a:srgbClr>
                </a:gs>
                <a:gs pos="0">
                  <a:srgbClr val="FFFFFF">
                    <a:lumMod val="75000"/>
                  </a:srgbClr>
                </a:gs>
                <a:gs pos="70000">
                  <a:srgbClr val="FAFAFA"/>
                </a:gs>
              </a:gsLst>
              <a:lin ang="8100000" scaled="1"/>
              <a:tileRect/>
            </a:gradFill>
            <a:ln w="25400" cap="flat" cmpd="sng" algn="ctr">
              <a:solidFill>
                <a:srgbClr val="FFFFFF"/>
              </a:solidFill>
              <a:prstDash val="solid"/>
            </a:ln>
            <a:effectLst>
              <a:outerShdw blurRad="254000" dist="190500" dir="8100000" algn="tr" rotWithShape="0">
                <a:prstClr val="black">
                  <a:alpha val="15000"/>
                </a:prstClr>
              </a:outerShdw>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135" b="0" i="0" u="none" strike="noStrike" kern="0" cap="none" spc="0" normalizeH="0" baseline="0" noProof="0" dirty="0" smtClean="0">
                <a:ln>
                  <a:noFill/>
                </a:ln>
                <a:solidFill>
                  <a:srgbClr val="3574A0"/>
                </a:solidFill>
                <a:effectLst/>
                <a:uLnTx/>
                <a:uFillTx/>
                <a:latin typeface="Arial" panose="020B0604020202020204" pitchFamily="34" charset="0"/>
              </a:endParaRPr>
            </a:p>
          </p:txBody>
        </p:sp>
        <p:sp>
          <p:nvSpPr>
            <p:cNvPr id="48" name="TextBox 10"/>
            <p:cNvSpPr txBox="1"/>
            <p:nvPr/>
          </p:nvSpPr>
          <p:spPr>
            <a:xfrm>
              <a:off x="3786931" y="1793369"/>
              <a:ext cx="537648" cy="500090"/>
            </a:xfrm>
            <a:prstGeom prst="rect">
              <a:avLst/>
            </a:prstGeom>
            <a:noFill/>
          </p:spPr>
          <p:txBody>
            <a:bodyPr wrap="none" rtlCol="0" anchor="ctr">
              <a:spAutoFit/>
            </a:bodyPr>
            <a:lstStyle/>
            <a:p>
              <a:pPr marL="0" marR="0" lvl="0" indent="0" algn="ctr" defTabSz="1219200" eaLnBrk="1" fontAlgn="auto" latinLnBrk="0" hangingPunct="1">
                <a:lnSpc>
                  <a:spcPct val="100000"/>
                </a:lnSpc>
                <a:spcBef>
                  <a:spcPts val="0"/>
                </a:spcBef>
                <a:spcAft>
                  <a:spcPts val="0"/>
                </a:spcAft>
                <a:buClrTx/>
                <a:buSzTx/>
                <a:buFontTx/>
                <a:buNone/>
                <a:defRPr/>
              </a:pPr>
              <a:r>
                <a:rPr kumimoji="0" lang="en-US" altLang="zh-CN"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rPr>
                <a:t>02</a:t>
              </a:r>
              <a:endParaRPr kumimoji="0" lang="zh-CN" altLang="en-US"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endParaRPr>
            </a:p>
          </p:txBody>
        </p:sp>
      </p:grpSp>
      <p:grpSp>
        <p:nvGrpSpPr>
          <p:cNvPr id="49" name="组合 48"/>
          <p:cNvGrpSpPr/>
          <p:nvPr/>
        </p:nvGrpSpPr>
        <p:grpSpPr>
          <a:xfrm>
            <a:off x="4764013" y="4327435"/>
            <a:ext cx="804581" cy="804581"/>
            <a:chOff x="3685832" y="2723024"/>
            <a:chExt cx="739840" cy="739840"/>
          </a:xfrm>
        </p:grpSpPr>
        <p:sp>
          <p:nvSpPr>
            <p:cNvPr id="50" name="椭圆 49"/>
            <p:cNvSpPr/>
            <p:nvPr/>
          </p:nvSpPr>
          <p:spPr>
            <a:xfrm>
              <a:off x="3685832" y="2723024"/>
              <a:ext cx="739840" cy="739840"/>
            </a:xfrm>
            <a:prstGeom prst="ellipse">
              <a:avLst/>
            </a:prstGeom>
            <a:gradFill flip="none" rotWithShape="1">
              <a:gsLst>
                <a:gs pos="0">
                  <a:srgbClr val="FFFFFF">
                    <a:lumMod val="95000"/>
                    <a:lumOff val="5000"/>
                  </a:srgbClr>
                </a:gs>
                <a:gs pos="0">
                  <a:srgbClr val="FFFFFF">
                    <a:lumMod val="75000"/>
                  </a:srgbClr>
                </a:gs>
                <a:gs pos="70000">
                  <a:srgbClr val="FAFAFA"/>
                </a:gs>
              </a:gsLst>
              <a:lin ang="8100000" scaled="1"/>
              <a:tileRect/>
            </a:gradFill>
            <a:ln w="19050" cap="flat" cmpd="sng" algn="ctr">
              <a:solidFill>
                <a:srgbClr val="FFFFFF"/>
              </a:solidFill>
              <a:prstDash val="solid"/>
            </a:ln>
            <a:effectLst>
              <a:outerShdw blurRad="254000" dist="190500" dir="8100000" algn="tr" rotWithShape="0">
                <a:prstClr val="black">
                  <a:alpha val="15000"/>
                </a:prstClr>
              </a:outerShdw>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135" b="0" i="0" u="none" strike="noStrike" kern="0" cap="none" spc="0" normalizeH="0" baseline="0" noProof="0" dirty="0" smtClean="0">
                <a:ln>
                  <a:noFill/>
                </a:ln>
                <a:solidFill>
                  <a:srgbClr val="3574A0"/>
                </a:solidFill>
                <a:effectLst/>
                <a:uLnTx/>
                <a:uFillTx/>
                <a:latin typeface="Arial" panose="020B0604020202020204" pitchFamily="34" charset="0"/>
              </a:endParaRPr>
            </a:p>
          </p:txBody>
        </p:sp>
        <p:sp>
          <p:nvSpPr>
            <p:cNvPr id="51" name="TextBox 13"/>
            <p:cNvSpPr txBox="1"/>
            <p:nvPr/>
          </p:nvSpPr>
          <p:spPr>
            <a:xfrm>
              <a:off x="3786929" y="2842900"/>
              <a:ext cx="537648" cy="500090"/>
            </a:xfrm>
            <a:prstGeom prst="rect">
              <a:avLst/>
            </a:prstGeom>
            <a:noFill/>
          </p:spPr>
          <p:txBody>
            <a:bodyPr wrap="none" rtlCol="0" anchor="ctr">
              <a:spAutoFit/>
            </a:bodyPr>
            <a:lstStyle/>
            <a:p>
              <a:pPr marL="0" marR="0" lvl="0" indent="0" algn="ctr" defTabSz="1219200" eaLnBrk="1" fontAlgn="auto" latinLnBrk="0" hangingPunct="1">
                <a:lnSpc>
                  <a:spcPct val="100000"/>
                </a:lnSpc>
                <a:spcBef>
                  <a:spcPts val="0"/>
                </a:spcBef>
                <a:spcAft>
                  <a:spcPts val="0"/>
                </a:spcAft>
                <a:buClrTx/>
                <a:buSzTx/>
                <a:buFontTx/>
                <a:buNone/>
                <a:defRPr/>
              </a:pPr>
              <a:r>
                <a:rPr kumimoji="0" lang="en-US" altLang="zh-CN"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rPr>
                <a:t>03</a:t>
              </a:r>
              <a:endParaRPr kumimoji="0" lang="zh-CN" altLang="en-US"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endParaRPr>
            </a:p>
          </p:txBody>
        </p:sp>
      </p:grpSp>
      <p:sp>
        <p:nvSpPr>
          <p:cNvPr id="52" name="矩形 51">
            <a:hlinkClick r:id="rId2" action="ppaction://hlinksldjump"/>
          </p:cNvPr>
          <p:cNvSpPr/>
          <p:nvPr/>
        </p:nvSpPr>
        <p:spPr>
          <a:xfrm>
            <a:off x="5678538" y="1286748"/>
            <a:ext cx="2997835" cy="501650"/>
          </a:xfrm>
          <a:prstGeom prst="rect">
            <a:avLst/>
          </a:prstGeom>
        </p:spPr>
        <p:txBody>
          <a:bodyPr wrap="none">
            <a:spAutoFit/>
          </a:bodyPr>
          <a:lstStyle/>
          <a:p>
            <a:pPr defTabSz="1219200"/>
            <a:r>
              <a:rPr lang="zh-CN" altLang="en-US" sz="2665" b="1" dirty="0" smtClean="0">
                <a:solidFill>
                  <a:srgbClr val="4D4D4D"/>
                </a:solidFill>
                <a:latin typeface="方正姚体" panose="02010601030101010101" charset="-122"/>
                <a:ea typeface="方正姚体" panose="02010601030101010101" charset="-122"/>
                <a:cs typeface="方正姚体" panose="02010601030101010101" charset="-122"/>
              </a:rPr>
              <a:t>自主预习 新知导学</a:t>
            </a:r>
            <a:endParaRPr lang="zh-CN" altLang="en-US" sz="2665" b="1" dirty="0">
              <a:solidFill>
                <a:srgbClr val="4D4D4D"/>
              </a:solidFill>
              <a:latin typeface="方正姚体" panose="02010601030101010101" charset="-122"/>
              <a:ea typeface="方正姚体" panose="02010601030101010101" charset="-122"/>
              <a:cs typeface="方正姚体" panose="02010601030101010101" charset="-122"/>
            </a:endParaRPr>
          </a:p>
        </p:txBody>
      </p:sp>
      <p:sp>
        <p:nvSpPr>
          <p:cNvPr id="53" name="矩形 52">
            <a:hlinkClick r:id="rId3" action="ppaction://hlinksldjump"/>
          </p:cNvPr>
          <p:cNvSpPr/>
          <p:nvPr/>
        </p:nvSpPr>
        <p:spPr>
          <a:xfrm>
            <a:off x="5678538" y="2871606"/>
            <a:ext cx="2997835" cy="501650"/>
          </a:xfrm>
          <a:prstGeom prst="rect">
            <a:avLst/>
          </a:prstGeom>
        </p:spPr>
        <p:txBody>
          <a:bodyPr wrap="none">
            <a:spAutoFit/>
          </a:bodyPr>
          <a:lstStyle/>
          <a:p>
            <a:pPr defTabSz="1219200"/>
            <a:r>
              <a:rPr lang="zh-CN" altLang="en-US" sz="2665" b="1" dirty="0" smtClean="0">
                <a:solidFill>
                  <a:srgbClr val="4D4D4D"/>
                </a:solidFill>
                <a:latin typeface="方正姚体" panose="02010601030101010101" charset="-122"/>
                <a:ea typeface="方正姚体" panose="02010601030101010101" charset="-122"/>
                <a:cs typeface="方正姚体" panose="02010601030101010101" charset="-122"/>
              </a:rPr>
              <a:t>合作探究 释疑解惑</a:t>
            </a:r>
            <a:endParaRPr lang="zh-CN" altLang="en-US" sz="2665" b="1" dirty="0">
              <a:solidFill>
                <a:srgbClr val="4D4D4D"/>
              </a:solidFill>
              <a:latin typeface="方正姚体" panose="02010601030101010101" charset="-122"/>
              <a:ea typeface="方正姚体" panose="02010601030101010101" charset="-122"/>
              <a:cs typeface="方正姚体" panose="02010601030101010101" charset="-122"/>
            </a:endParaRPr>
          </a:p>
        </p:txBody>
      </p:sp>
      <p:sp>
        <p:nvSpPr>
          <p:cNvPr id="54" name="矩形 53">
            <a:hlinkClick r:id="rId4" action="ppaction://hlinksldjump"/>
          </p:cNvPr>
          <p:cNvSpPr/>
          <p:nvPr/>
        </p:nvSpPr>
        <p:spPr>
          <a:xfrm>
            <a:off x="5678538" y="4456463"/>
            <a:ext cx="1556836" cy="502445"/>
          </a:xfrm>
          <a:prstGeom prst="rect">
            <a:avLst/>
          </a:prstGeom>
        </p:spPr>
        <p:txBody>
          <a:bodyPr wrap="none">
            <a:spAutoFit/>
          </a:bodyPr>
          <a:lstStyle/>
          <a:p>
            <a:pPr defTabSz="1219200"/>
            <a:r>
              <a:rPr lang="zh-CN" altLang="en-US" sz="2665" b="1" dirty="0" smtClean="0">
                <a:solidFill>
                  <a:srgbClr val="4D4D4D"/>
                </a:solidFill>
                <a:latin typeface="方正姚体" panose="02010601030101010101" charset="-122"/>
                <a:ea typeface="方正姚体" panose="02010601030101010101" charset="-122"/>
                <a:cs typeface="方正姚体" panose="02010601030101010101" charset="-122"/>
              </a:rPr>
              <a:t>随堂练习</a:t>
            </a:r>
            <a:endParaRPr lang="zh-CN" altLang="en-US" sz="2665" b="1" dirty="0">
              <a:solidFill>
                <a:srgbClr val="4D4D4D"/>
              </a:solidFill>
              <a:latin typeface="方正姚体" panose="02010601030101010101" charset="-122"/>
              <a:ea typeface="方正姚体" panose="02010601030101010101" charset="-122"/>
              <a:cs typeface="方正姚体" panose="02010601030101010101" charset="-122"/>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17500" y="701716"/>
            <a:ext cx="11557000" cy="5689151"/>
          </a:xfrm>
          <a:prstGeom prst="rect">
            <a:avLst/>
          </a:prstGeom>
          <a:noFill/>
          <a:ln w="19050">
            <a:gradFill>
              <a:gsLst>
                <a:gs pos="100000">
                  <a:schemeClr val="accent1">
                    <a:lumMod val="5000"/>
                    <a:lumOff val="95000"/>
                  </a:schemeClr>
                </a:gs>
                <a:gs pos="57000">
                  <a:schemeClr val="tx1">
                    <a:lumMod val="50000"/>
                    <a:lumOff val="50000"/>
                  </a:schemeClr>
                </a:gs>
                <a:gs pos="29000">
                  <a:schemeClr val="tx1"/>
                </a:gs>
                <a:gs pos="100000">
                  <a:schemeClr val="bg1"/>
                </a:gs>
              </a:gsLst>
              <a:lin ang="5400000" scaled="1"/>
            </a:gra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sp>
        <p:nvSpPr>
          <p:cNvPr id="9" name="文本框 8"/>
          <p:cNvSpPr txBox="1"/>
          <p:nvPr>
            <p:custDataLst>
              <p:tags r:id="rId1"/>
            </p:custDataLst>
          </p:nvPr>
        </p:nvSpPr>
        <p:spPr>
          <a:xfrm>
            <a:off x="4766695" y="446122"/>
            <a:ext cx="3253105" cy="490640"/>
          </a:xfrm>
          <a:prstGeom prst="roundRect">
            <a:avLst>
              <a:gd name="adj" fmla="val 50000"/>
            </a:avLst>
          </a:prstGeom>
          <a:solidFill>
            <a:schemeClr val="bg2">
              <a:lumMod val="50000"/>
            </a:schemeClr>
          </a:solidFill>
        </p:spPr>
        <p:txBody>
          <a:bodyPr wrap="square" lIns="0" tIns="0" rIns="0" bIns="0" rtlCol="0" anchor="ctr" anchorCtr="0">
            <a:noAutofit/>
          </a:bodyPr>
          <a:lstStyle/>
          <a:p>
            <a:pPr lvl="0" algn="ctr" fontAlgn="base">
              <a:spcBef>
                <a:spcPct val="0"/>
              </a:spcBef>
              <a:spcAft>
                <a:spcPct val="0"/>
              </a:spcAft>
              <a:defRPr/>
            </a:pPr>
            <a:r>
              <a:rPr lang="zh-CN" altLang="en-US" sz="2800" kern="0" dirty="0">
                <a:solidFill>
                  <a:srgbClr val="FFFFFF"/>
                </a:solidFill>
                <a:latin typeface="Arial" panose="020B0604020202020204" pitchFamily="34" charset="0"/>
                <a:ea typeface="微软雅黑" panose="020B0503020204020204" pitchFamily="34" charset="-122"/>
                <a:sym typeface="Arial" panose="020B0604020202020204" pitchFamily="34" charset="0"/>
              </a:rPr>
              <a:t>课标定</a:t>
            </a:r>
            <a:r>
              <a:rPr lang="zh-CN" altLang="en-US" sz="2800" kern="0" dirty="0" smtClean="0">
                <a:solidFill>
                  <a:srgbClr val="FFFFFF"/>
                </a:solidFill>
                <a:latin typeface="Arial" panose="020B0604020202020204" pitchFamily="34" charset="0"/>
                <a:ea typeface="微软雅黑" panose="020B0503020204020204" pitchFamily="34" charset="-122"/>
                <a:sym typeface="Arial" panose="020B0604020202020204" pitchFamily="34" charset="0"/>
              </a:rPr>
              <a:t>位素养</a:t>
            </a:r>
            <a:r>
              <a:rPr lang="zh-CN" altLang="en-US" sz="2800" kern="0" dirty="0">
                <a:solidFill>
                  <a:srgbClr val="FFFFFF"/>
                </a:solidFill>
                <a:latin typeface="Arial" panose="020B0604020202020204" pitchFamily="34" charset="0"/>
                <a:ea typeface="微软雅黑" panose="020B0503020204020204" pitchFamily="34" charset="-122"/>
                <a:sym typeface="Arial" panose="020B0604020202020204" pitchFamily="34" charset="0"/>
              </a:rPr>
              <a:t>阐释</a:t>
            </a:r>
          </a:p>
        </p:txBody>
      </p:sp>
      <p:sp>
        <p:nvSpPr>
          <p:cNvPr id="3" name="矩形 2"/>
          <p:cNvSpPr>
            <a:spLocks noChangeAspect="1"/>
          </p:cNvSpPr>
          <p:nvPr/>
        </p:nvSpPr>
        <p:spPr>
          <a:xfrm>
            <a:off x="381000" y="1241726"/>
            <a:ext cx="11430000" cy="2332946"/>
          </a:xfrm>
          <a:prstGeom prst="rect">
            <a:avLst/>
          </a:prstGeom>
        </p:spPr>
        <p:txBody>
          <a:bodyPr>
            <a:spAutoFit/>
          </a:bodyPr>
          <a:lstStyle/>
          <a:p>
            <a:pPr>
              <a:lnSpc>
                <a:spcPct val="130000"/>
              </a:lnSpc>
              <a:spcAft>
                <a:spcPts val="0"/>
              </a:spcAft>
              <a:tabLst>
                <a:tab pos="1029335" algn="l"/>
                <a:tab pos="1850390" algn="l"/>
                <a:tab pos="2538095" algn="l"/>
                <a:tab pos="3221990" algn="l"/>
              </a:tabLst>
            </a:pP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掌握裂项相消求和的方法</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029335" algn="l"/>
                <a:tab pos="1850390" algn="l"/>
                <a:tab pos="2538095" algn="l"/>
                <a:tab pos="3221990"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掌握分组求和的方法</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029335" algn="l"/>
                <a:tab pos="1850390" algn="l"/>
                <a:tab pos="2538095" algn="l"/>
                <a:tab pos="3221990" algn="l"/>
              </a:tabLst>
            </a:pP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掌握错位相减求和的方法</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pPr>
            <a:r>
              <a:rPr lang="en-US" altLang="zh-CN" sz="2800" dirty="0">
                <a:solidFill>
                  <a:srgbClr val="000000"/>
                </a:solidFill>
                <a:latin typeface="Times New Roman" panose="02020603050405020304" pitchFamily="18" charset="0"/>
              </a:rPr>
              <a:t>4</a:t>
            </a:r>
            <a:r>
              <a:rPr lang="en-US" altLang="zh-CN" sz="2800" i="1" dirty="0" smtClean="0">
                <a:solidFill>
                  <a:srgbClr val="000000"/>
                </a:solidFill>
                <a:latin typeface="Times New Roman" panose="02020603050405020304" pitchFamily="18" charset="0"/>
              </a:rPr>
              <a:t>.</a:t>
            </a:r>
            <a:r>
              <a:rPr lang="zh-CN" altLang="en-US" sz="28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提升</a:t>
            </a:r>
            <a:r>
              <a:rPr lang="zh-CN" altLang="zh-CN" sz="28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数学</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建模能力与数据分析能力</a:t>
            </a:r>
            <a:r>
              <a:rPr lang="en-US" altLang="zh-CN" sz="2800" dirty="0">
                <a:solidFill>
                  <a:srgbClr val="000000"/>
                </a:solidFill>
                <a:latin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提升数学运算的基本素养</a:t>
            </a:r>
            <a:r>
              <a:rPr lang="en-US" altLang="zh-CN" sz="2800" i="1" dirty="0">
                <a:solidFill>
                  <a:srgbClr val="000000"/>
                </a:solidFill>
                <a:latin typeface="Times New Roman" panose="02020603050405020304" pitchFamily="18" charset="0"/>
              </a:rPr>
              <a:t>.</a:t>
            </a:r>
            <a:endParaRPr lang="zh-CN" altLang="en-US" sz="2800"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2180083" y="2636520"/>
            <a:ext cx="1105802" cy="815646"/>
            <a:chOff x="-1604504" y="2147667"/>
            <a:chExt cx="3687215" cy="2719712"/>
          </a:xfrm>
        </p:grpSpPr>
        <p:cxnSp>
          <p:nvCxnSpPr>
            <p:cNvPr id="7" name="直接连接符 6"/>
            <p:cNvCxnSpPr/>
            <p:nvPr/>
          </p:nvCxnSpPr>
          <p:spPr>
            <a:xfrm flipH="1">
              <a:off x="-1604504" y="2687623"/>
              <a:ext cx="2592288" cy="2179756"/>
            </a:xfrm>
            <a:prstGeom prst="line">
              <a:avLst/>
            </a:prstGeom>
            <a:noFill/>
            <a:ln w="76200" cap="flat" cmpd="sng" algn="ctr">
              <a:solidFill>
                <a:schemeClr val="tx2">
                  <a:lumMod val="50000"/>
                </a:schemeClr>
              </a:solidFill>
              <a:prstDash val="solid"/>
            </a:ln>
            <a:effectLst/>
          </p:spPr>
        </p:cxnSp>
        <p:cxnSp>
          <p:nvCxnSpPr>
            <p:cNvPr id="8" name="直接连接符 7"/>
            <p:cNvCxnSpPr/>
            <p:nvPr/>
          </p:nvCxnSpPr>
          <p:spPr>
            <a:xfrm flipH="1">
              <a:off x="-509577" y="2147667"/>
              <a:ext cx="2592288" cy="2179756"/>
            </a:xfrm>
            <a:prstGeom prst="line">
              <a:avLst/>
            </a:prstGeom>
            <a:noFill/>
            <a:ln w="12700" cap="flat" cmpd="sng" algn="ctr">
              <a:solidFill>
                <a:schemeClr val="tx2">
                  <a:lumMod val="50000"/>
                </a:schemeClr>
              </a:solidFill>
              <a:prstDash val="solid"/>
            </a:ln>
            <a:effectLst/>
          </p:spPr>
        </p:cxnSp>
      </p:grpSp>
      <p:grpSp>
        <p:nvGrpSpPr>
          <p:cNvPr id="9" name="组合 8"/>
          <p:cNvGrpSpPr/>
          <p:nvPr/>
        </p:nvGrpSpPr>
        <p:grpSpPr>
          <a:xfrm flipH="1" flipV="1">
            <a:off x="8735898" y="2665586"/>
            <a:ext cx="1105803" cy="815646"/>
            <a:chOff x="-1604504" y="2147667"/>
            <a:chExt cx="3687215" cy="2719712"/>
          </a:xfrm>
        </p:grpSpPr>
        <p:cxnSp>
          <p:nvCxnSpPr>
            <p:cNvPr id="10" name="直接连接符 9"/>
            <p:cNvCxnSpPr/>
            <p:nvPr/>
          </p:nvCxnSpPr>
          <p:spPr>
            <a:xfrm flipH="1">
              <a:off x="-1604504" y="2687623"/>
              <a:ext cx="2592288" cy="2179756"/>
            </a:xfrm>
            <a:prstGeom prst="line">
              <a:avLst/>
            </a:prstGeom>
            <a:noFill/>
            <a:ln w="76200" cap="flat" cmpd="sng" algn="ctr">
              <a:solidFill>
                <a:sysClr val="windowText" lastClr="000000">
                  <a:lumMod val="85000"/>
                  <a:lumOff val="15000"/>
                </a:sysClr>
              </a:solidFill>
              <a:prstDash val="solid"/>
            </a:ln>
            <a:effectLst/>
          </p:spPr>
        </p:cxnSp>
        <p:cxnSp>
          <p:nvCxnSpPr>
            <p:cNvPr id="11" name="直接连接符 10"/>
            <p:cNvCxnSpPr/>
            <p:nvPr/>
          </p:nvCxnSpPr>
          <p:spPr>
            <a:xfrm flipH="1">
              <a:off x="-509577" y="2147667"/>
              <a:ext cx="2592288" cy="2179756"/>
            </a:xfrm>
            <a:prstGeom prst="line">
              <a:avLst/>
            </a:prstGeom>
            <a:noFill/>
            <a:ln w="12700" cap="flat" cmpd="sng" algn="ctr">
              <a:solidFill>
                <a:sysClr val="windowText" lastClr="000000">
                  <a:lumMod val="85000"/>
                  <a:lumOff val="15000"/>
                </a:sysClr>
              </a:solidFill>
              <a:prstDash val="solid"/>
            </a:ln>
            <a:effectLst/>
          </p:spPr>
        </p:cxnSp>
      </p:grpSp>
      <p:sp>
        <p:nvSpPr>
          <p:cNvPr id="12" name="文本框 11"/>
          <p:cNvSpPr txBox="1"/>
          <p:nvPr/>
        </p:nvSpPr>
        <p:spPr>
          <a:xfrm>
            <a:off x="2969260" y="2585720"/>
            <a:ext cx="6252845" cy="922020"/>
          </a:xfrm>
          <a:prstGeom prst="rect">
            <a:avLst/>
          </a:prstGeom>
          <a:noFill/>
        </p:spPr>
        <p:txBody>
          <a:bodyPr wrap="square" rtlCol="0">
            <a:spAutoFit/>
          </a:bodyPr>
          <a:lstStyle/>
          <a:p>
            <a:r>
              <a:rPr lang="zh-CN" altLang="en-US" sz="5400" b="1" dirty="0" smtClean="0">
                <a:solidFill>
                  <a:srgbClr val="4D4D4D"/>
                </a:solidFill>
                <a:latin typeface="方正姚体" panose="02010601030101010101" charset="-122"/>
                <a:ea typeface="方正姚体" panose="02010601030101010101" charset="-122"/>
                <a:cs typeface="方正姚体" panose="02010601030101010101" charset="-122"/>
                <a:sym typeface="+mn-ea"/>
              </a:rPr>
              <a:t>自主预习 新知导学</a:t>
            </a:r>
            <a:endParaRPr lang="zh-CN" altLang="en-US" sz="5400" b="1" dirty="0">
              <a:solidFill>
                <a:srgbClr val="4D4D4D"/>
              </a:solidFill>
              <a:latin typeface="方正姚体" panose="02010601030101010101" charset="-122"/>
              <a:ea typeface="方正姚体" panose="02010601030101010101" charset="-122"/>
              <a:cs typeface="方正姚体" panose="02010601030101010101" charset="-122"/>
              <a:sym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343283"/>
            <a:ext cx="11430000" cy="573042"/>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ea typeface="方正正中黑简体"/>
                <a:cs typeface="Times New Roman" panose="02020603050405020304" pitchFamily="18" charset="0"/>
              </a:rPr>
              <a:t>一、裂项相消</a:t>
            </a:r>
            <a:r>
              <a:rPr lang="zh-CN" altLang="zh-CN" sz="2800" dirty="0" smtClean="0">
                <a:solidFill>
                  <a:srgbClr val="000000"/>
                </a:solidFill>
                <a:latin typeface="NEU-BZ-S92"/>
                <a:ea typeface="方正正中黑简体"/>
                <a:cs typeface="Times New Roman" panose="02020603050405020304" pitchFamily="18" charset="0"/>
              </a:rPr>
              <a:t>法</a:t>
            </a:r>
            <a:endParaRPr lang="zh-CN" altLang="zh-CN" sz="2800" dirty="0">
              <a:solidFill>
                <a:srgbClr val="000000"/>
              </a:solidFill>
              <a:latin typeface="NEU-BZ-S92"/>
              <a:ea typeface="方正书宋_GBK"/>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2751985396"/>
              </p:ext>
            </p:extLst>
          </p:nvPr>
        </p:nvGraphicFramePr>
        <p:xfrm>
          <a:off x="51485" y="906477"/>
          <a:ext cx="11430000" cy="2507784"/>
        </p:xfrm>
        <a:graphic>
          <a:graphicData uri="http://schemas.openxmlformats.org/presentationml/2006/ole">
            <mc:AlternateContent xmlns:mc="http://schemas.openxmlformats.org/markup-compatibility/2006">
              <mc:Choice xmlns:v="urn:schemas-microsoft-com:vml" Requires="v">
                <p:oleObj spid="_x0000_s1039" name="文档" r:id="rId3" imgW="4520786" imgH="991877" progId="Word.Document.12">
                  <p:embed/>
                </p:oleObj>
              </mc:Choice>
              <mc:Fallback>
                <p:oleObj name="文档" r:id="rId3" imgW="4520786" imgH="991877" progId="Word.Document.12">
                  <p:embed/>
                  <p:pic>
                    <p:nvPicPr>
                      <p:cNvPr id="0" name=""/>
                      <p:cNvPicPr/>
                      <p:nvPr/>
                    </p:nvPicPr>
                    <p:blipFill>
                      <a:blip r:embed="rId4"/>
                      <a:stretch>
                        <a:fillRect/>
                      </a:stretch>
                    </p:blipFill>
                    <p:spPr>
                      <a:xfrm>
                        <a:off x="51485" y="906477"/>
                        <a:ext cx="11430000" cy="2507784"/>
                      </a:xfrm>
                      <a:prstGeom prst="rect">
                        <a:avLst/>
                      </a:prstGeom>
                    </p:spPr>
                  </p:pic>
                </p:oleObj>
              </mc:Fallback>
            </mc:AlternateContent>
          </a:graphicData>
        </a:graphic>
      </p:graphicFrame>
      <p:sp>
        <p:nvSpPr>
          <p:cNvPr id="4" name="矩形 3"/>
          <p:cNvSpPr>
            <a:spLocks noChangeAspect="1"/>
          </p:cNvSpPr>
          <p:nvPr/>
        </p:nvSpPr>
        <p:spPr>
          <a:xfrm>
            <a:off x="381000" y="3286863"/>
            <a:ext cx="11430000" cy="2332946"/>
          </a:xfrm>
          <a:prstGeom prst="rect">
            <a:avLst/>
          </a:prstGeom>
        </p:spPr>
        <p:txBody>
          <a:bodyPr>
            <a:spAutoFit/>
          </a:bodyPr>
          <a:lstStyle/>
          <a:p>
            <a:pPr indent="280670">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是不是所有的数列求和都可以直接用这两个公式求解</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提示</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不是</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80670">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将数列中的每项分解</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然后重新组合</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使之能消去一些项</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最终达到求和的目的的方法叫做裂项相消法</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p:txBody>
      </p:sp>
      <p:sp>
        <p:nvSpPr>
          <p:cNvPr id="5" name="矩形 4"/>
          <p:cNvSpPr/>
          <p:nvPr/>
        </p:nvSpPr>
        <p:spPr>
          <a:xfrm>
            <a:off x="5938080" y="931191"/>
            <a:ext cx="3621556" cy="779973"/>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5949720" y="1706689"/>
            <a:ext cx="3606340" cy="0"/>
          </a:xfrm>
          <a:prstGeom prst="line">
            <a:avLst/>
          </a:prstGeom>
        </p:spPr>
        <p:style>
          <a:lnRef idx="2">
            <a:schemeClr val="dk1"/>
          </a:lnRef>
          <a:fillRef idx="0">
            <a:schemeClr val="dk1"/>
          </a:fillRef>
          <a:effectRef idx="1">
            <a:schemeClr val="dk1"/>
          </a:effectRef>
          <a:fontRef idx="minor">
            <a:schemeClr val="tx1"/>
          </a:fontRef>
        </p:style>
      </p:cxnSp>
      <p:sp>
        <p:nvSpPr>
          <p:cNvPr id="9" name="矩形 8"/>
          <p:cNvSpPr/>
          <p:nvPr/>
        </p:nvSpPr>
        <p:spPr>
          <a:xfrm>
            <a:off x="5657526" y="2039673"/>
            <a:ext cx="2717547" cy="1175876"/>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直接连接符 9"/>
          <p:cNvCxnSpPr/>
          <p:nvPr/>
        </p:nvCxnSpPr>
        <p:spPr>
          <a:xfrm>
            <a:off x="5669166" y="3211073"/>
            <a:ext cx="2706129" cy="0"/>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09350289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grpId="0" nodeType="clickEffect">
                                  <p:stCondLst>
                                    <p:cond delay="0"/>
                                  </p:stCondLst>
                                  <p:childTnLst>
                                    <p:animEffect transition="out" filter="wipe(down)">
                                      <p:cBhvr>
                                        <p:cTn id="6" dur="500"/>
                                        <p:tgtEl>
                                          <p:spTgt spid="5"/>
                                        </p:tgtEl>
                                      </p:cBhvr>
                                    </p:animEffect>
                                    <p:set>
                                      <p:cBhvr>
                                        <p:cTn id="7" dur="1" fill="hold">
                                          <p:stCondLst>
                                            <p:cond delay="499"/>
                                          </p:stCondLst>
                                        </p:cTn>
                                        <p:tgtEl>
                                          <p:spTgt spid="5"/>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2" presetClass="exit" presetSubtype="4" fill="hold" grpId="0" nodeType="clickEffect">
                                  <p:stCondLst>
                                    <p:cond delay="0"/>
                                  </p:stCondLst>
                                  <p:childTnLst>
                                    <p:animEffect transition="out" filter="wipe(down)">
                                      <p:cBhvr>
                                        <p:cTn id="11" dur="500"/>
                                        <p:tgtEl>
                                          <p:spTgt spid="9"/>
                                        </p:tgtEl>
                                      </p:cBhvr>
                                    </p:animEffect>
                                    <p:set>
                                      <p:cBhvr>
                                        <p:cTn id="12" dur="1" fill="hold">
                                          <p:stCondLst>
                                            <p:cond delay="499"/>
                                          </p:stCondLst>
                                        </p:cTn>
                                        <p:tgtEl>
                                          <p:spTgt spid="9"/>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4">
                                            <p:txEl>
                                              <p:pRg st="1" end="1"/>
                                            </p:txEl>
                                          </p:spTgt>
                                        </p:tgtEl>
                                        <p:attrNameLst>
                                          <p:attrName>style.visibility</p:attrName>
                                        </p:attrNameLst>
                                      </p:cBhvr>
                                      <p:to>
                                        <p:strVal val="visible"/>
                                      </p:to>
                                    </p:set>
                                    <p:animEffect transition="in" filter="barn(inVertical)">
                                      <p:cBhvr>
                                        <p:cTn id="17" dur="5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3938906299"/>
              </p:ext>
            </p:extLst>
          </p:nvPr>
        </p:nvGraphicFramePr>
        <p:xfrm>
          <a:off x="41190" y="233382"/>
          <a:ext cx="11430000" cy="3008976"/>
        </p:xfrm>
        <a:graphic>
          <a:graphicData uri="http://schemas.openxmlformats.org/presentationml/2006/ole">
            <mc:AlternateContent xmlns:mc="http://schemas.openxmlformats.org/markup-compatibility/2006">
              <mc:Choice xmlns:v="urn:schemas-microsoft-com:vml" Requires="v">
                <p:oleObj spid="_x0000_s2074" name="文档" r:id="rId3" imgW="4510061" imgH="1191801" progId="Word.Document.12">
                  <p:embed/>
                </p:oleObj>
              </mc:Choice>
              <mc:Fallback>
                <p:oleObj name="文档" r:id="rId3" imgW="4510061" imgH="1191801" progId="Word.Document.12">
                  <p:embed/>
                  <p:pic>
                    <p:nvPicPr>
                      <p:cNvPr id="0" name=""/>
                      <p:cNvPicPr/>
                      <p:nvPr/>
                    </p:nvPicPr>
                    <p:blipFill>
                      <a:blip r:embed="rId4"/>
                      <a:stretch>
                        <a:fillRect/>
                      </a:stretch>
                    </p:blipFill>
                    <p:spPr>
                      <a:xfrm>
                        <a:off x="41190" y="233382"/>
                        <a:ext cx="11430000" cy="3008976"/>
                      </a:xfrm>
                      <a:prstGeom prst="rect">
                        <a:avLst/>
                      </a:prstGeom>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2648799362"/>
              </p:ext>
            </p:extLst>
          </p:nvPr>
        </p:nvGraphicFramePr>
        <p:xfrm>
          <a:off x="41190" y="3115766"/>
          <a:ext cx="11430000" cy="2005680"/>
        </p:xfrm>
        <a:graphic>
          <a:graphicData uri="http://schemas.openxmlformats.org/presentationml/2006/ole">
            <mc:AlternateContent xmlns:mc="http://schemas.openxmlformats.org/markup-compatibility/2006">
              <mc:Choice xmlns:v="urn:schemas-microsoft-com:vml" Requires="v">
                <p:oleObj spid="_x0000_s2075" name="文档" r:id="rId5" imgW="4520786" imgH="793285" progId="Word.Document.12">
                  <p:embed/>
                </p:oleObj>
              </mc:Choice>
              <mc:Fallback>
                <p:oleObj name="文档" r:id="rId5" imgW="4520786" imgH="793285" progId="Word.Document.12">
                  <p:embed/>
                  <p:pic>
                    <p:nvPicPr>
                      <p:cNvPr id="0" name=""/>
                      <p:cNvPicPr/>
                      <p:nvPr/>
                    </p:nvPicPr>
                    <p:blipFill>
                      <a:blip r:embed="rId6"/>
                      <a:stretch>
                        <a:fillRect/>
                      </a:stretch>
                    </p:blipFill>
                    <p:spPr>
                      <a:xfrm>
                        <a:off x="41190" y="3115766"/>
                        <a:ext cx="11430000" cy="2005680"/>
                      </a:xfrm>
                      <a:prstGeom prst="rect">
                        <a:avLst/>
                      </a:prstGeom>
                    </p:spPr>
                  </p:pic>
                </p:oleObj>
              </mc:Fallback>
            </mc:AlternateContent>
          </a:graphicData>
        </a:graphic>
      </p:graphicFrame>
      <p:sp>
        <p:nvSpPr>
          <p:cNvPr id="4" name="矩形 3"/>
          <p:cNvSpPr>
            <a:spLocks noChangeAspect="1"/>
          </p:cNvSpPr>
          <p:nvPr/>
        </p:nvSpPr>
        <p:spPr>
          <a:xfrm>
            <a:off x="381000" y="5032817"/>
            <a:ext cx="1612942" cy="652486"/>
          </a:xfrm>
          <a:prstGeom prst="rect">
            <a:avLst/>
          </a:prstGeom>
        </p:spPr>
        <p:txBody>
          <a:bodyPr wrap="none">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smtClean="0">
                <a:solidFill>
                  <a:srgbClr val="000000"/>
                </a:solidFill>
                <a:latin typeface="Times New Roman" panose="02020603050405020304" pitchFamily="18" charset="0"/>
                <a:cs typeface="Times New Roman" panose="02020603050405020304" pitchFamily="18" charset="0"/>
              </a:rPr>
              <a:t>B </a:t>
            </a:r>
            <a:endParaRPr lang="zh-CN" altLang="zh-CN" sz="2800" dirty="0">
              <a:solidFill>
                <a:srgbClr val="000000"/>
              </a:solidFill>
              <a:effectLst/>
              <a:latin typeface="NEU-BZ-S92"/>
              <a:ea typeface="方正书宋_GBK"/>
              <a:cs typeface="Times New Roman" panose="02020603050405020304" pitchFamily="18" charset="0"/>
            </a:endParaRPr>
          </a:p>
        </p:txBody>
      </p:sp>
    </p:spTree>
    <p:extLst>
      <p:ext uri="{BB962C8B-B14F-4D97-AF65-F5344CB8AC3E}">
        <p14:creationId xmlns:p14="http://schemas.microsoft.com/office/powerpoint/2010/main" val="180617622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arn(inVertical)">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1243879"/>
            <a:ext cx="11430000" cy="2893100"/>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ea typeface="方正正中黑简体"/>
                <a:cs typeface="Times New Roman" panose="02020603050405020304" pitchFamily="18" charset="0"/>
              </a:rPr>
              <a:t>二、错位相减法</a:t>
            </a:r>
            <a:endParaRPr lang="zh-CN" altLang="zh-CN" sz="2800" dirty="0">
              <a:solidFill>
                <a:srgbClr val="000000"/>
              </a:solidFill>
              <a:latin typeface="NEU-BZ-S92"/>
              <a:ea typeface="方正书宋_GBK"/>
              <a:cs typeface="Times New Roman" panose="02020603050405020304" pitchFamily="18" charset="0"/>
            </a:endParaRPr>
          </a:p>
          <a:p>
            <a:pPr indent="280670">
              <a:lnSpc>
                <a:spcPct val="130000"/>
              </a:lnSpc>
              <a:spcAft>
                <a:spcPts val="0"/>
              </a:spcAft>
              <a:tabLst>
                <a:tab pos="1188085" algn="l"/>
                <a:tab pos="2163445" algn="l"/>
                <a:tab pos="3142615" algn="l"/>
                <a:tab pos="4190365" algn="l"/>
              </a:tabLst>
            </a:pPr>
            <a:r>
              <a:rPr lang="en-US" altLang="zh-CN" sz="2800" b="1" dirty="0" smtClean="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等比数列的前</a:t>
            </a:r>
            <a:r>
              <a:rPr lang="en-US" altLang="zh-CN" sz="2800" i="1" dirty="0">
                <a:solidFill>
                  <a:srgbClr val="000000"/>
                </a:solidFill>
                <a:latin typeface="Times New Roman" panose="02020603050405020304" pitchFamily="18" charset="0"/>
                <a:cs typeface="Times New Roman" panose="02020603050405020304" pitchFamily="18" charset="0"/>
              </a:rPr>
              <a:t>n</a:t>
            </a:r>
            <a:r>
              <a:rPr lang="zh-CN" altLang="zh-CN" sz="2800" dirty="0">
                <a:solidFill>
                  <a:srgbClr val="000000"/>
                </a:solidFill>
                <a:latin typeface="Times New Roman" panose="02020603050405020304" pitchFamily="18" charset="0"/>
                <a:cs typeface="Times New Roman" panose="02020603050405020304" pitchFamily="18" charset="0"/>
              </a:rPr>
              <a:t>项和公式的推导方法叫做错位相减法</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80670">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什么情况下可以用错位相减法求和</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提示</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当一个数列的各项是由一个等差数列和一个等比数列的对应项之积构成时可以用错位相减法求和</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spTree>
    <p:extLst>
      <p:ext uri="{BB962C8B-B14F-4D97-AF65-F5344CB8AC3E}">
        <p14:creationId xmlns:p14="http://schemas.microsoft.com/office/powerpoint/2010/main" val="115493334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animEffect transition="in" filter="barn(inVertical)">
                                      <p:cBhvr>
                                        <p:cTn id="7"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425830"/>
            <a:ext cx="11430000" cy="2893100"/>
          </a:xfrm>
          <a:prstGeom prst="rect">
            <a:avLst/>
          </a:prstGeom>
        </p:spPr>
        <p:txBody>
          <a:bodyPr>
            <a:spAutoFit/>
          </a:bodyPr>
          <a:lstStyle/>
          <a:p>
            <a:pPr indent="280670">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3</a:t>
            </a:r>
            <a:r>
              <a:rPr lang="en-US" altLang="zh-CN" sz="2800" i="1" dirty="0" smtClean="0">
                <a:solidFill>
                  <a:srgbClr val="000000"/>
                </a:solidFill>
                <a:latin typeface="Times New Roman" panose="02020603050405020304" pitchFamily="18" charset="0"/>
                <a:cs typeface="Times New Roman" panose="02020603050405020304" pitchFamily="18" charset="0"/>
              </a:rPr>
              <a:t>.</a:t>
            </a:r>
            <a:r>
              <a:rPr lang="zh-CN" altLang="zh-CN" sz="2800" dirty="0" smtClean="0">
                <a:solidFill>
                  <a:srgbClr val="000000"/>
                </a:solidFill>
                <a:latin typeface="Times New Roman" panose="02020603050405020304" pitchFamily="18" charset="0"/>
                <a:cs typeface="Times New Roman" panose="02020603050405020304" pitchFamily="18" charset="0"/>
              </a:rPr>
              <a:t>已知</a:t>
            </a:r>
            <a:r>
              <a:rPr lang="zh-CN" altLang="zh-CN" sz="2800" dirty="0">
                <a:solidFill>
                  <a:srgbClr val="000000"/>
                </a:solidFill>
                <a:latin typeface="Times New Roman" panose="02020603050405020304" pitchFamily="18" charset="0"/>
                <a:cs typeface="Times New Roman" panose="02020603050405020304" pitchFamily="18" charset="0"/>
              </a:rPr>
              <a:t>数列</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的前</a:t>
            </a:r>
            <a:r>
              <a:rPr lang="en-US" altLang="zh-CN" sz="2800" i="1" dirty="0">
                <a:solidFill>
                  <a:srgbClr val="000000"/>
                </a:solidFill>
                <a:latin typeface="Times New Roman" panose="02020603050405020304" pitchFamily="18" charset="0"/>
                <a:cs typeface="Times New Roman" panose="02020603050405020304" pitchFamily="18" charset="0"/>
              </a:rPr>
              <a:t>n</a:t>
            </a:r>
            <a:r>
              <a:rPr lang="zh-CN" altLang="zh-CN" sz="2800" dirty="0">
                <a:solidFill>
                  <a:srgbClr val="000000"/>
                </a:solidFill>
                <a:latin typeface="Times New Roman" panose="02020603050405020304" pitchFamily="18" charset="0"/>
                <a:cs typeface="Times New Roman" panose="02020603050405020304" pitchFamily="18" charset="0"/>
              </a:rPr>
              <a:t>项和为</a:t>
            </a:r>
            <a:r>
              <a:rPr lang="en-US" altLang="zh-CN" sz="2800" i="1" dirty="0" err="1">
                <a:solidFill>
                  <a:srgbClr val="000000"/>
                </a:solidFill>
                <a:latin typeface="Times New Roman" panose="02020603050405020304" pitchFamily="18" charset="0"/>
                <a:cs typeface="Times New Roman" panose="02020603050405020304" pitchFamily="18" charset="0"/>
              </a:rPr>
              <a:t>S</a:t>
            </a:r>
            <a:r>
              <a:rPr lang="en-US" altLang="zh-CN" sz="2800" i="1" baseline="-25000" dirty="0" err="1">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且</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i="1"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baseline="30000"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则</a:t>
            </a:r>
            <a:r>
              <a:rPr lang="en-US" altLang="zh-CN" sz="2800" i="1" dirty="0" err="1">
                <a:solidFill>
                  <a:srgbClr val="000000"/>
                </a:solidFill>
                <a:latin typeface="Times New Roman" panose="02020603050405020304" pitchFamily="18" charset="0"/>
                <a:cs typeface="Times New Roman" panose="02020603050405020304" pitchFamily="18" charset="0"/>
              </a:rPr>
              <a:t>S</a:t>
            </a:r>
            <a:r>
              <a:rPr lang="en-US" altLang="zh-CN" sz="2800" i="1" baseline="-25000" dirty="0" err="1">
                <a:solidFill>
                  <a:srgbClr val="000000"/>
                </a:solidFill>
                <a:latin typeface="Times New Roman" panose="02020603050405020304" pitchFamily="18" charset="0"/>
                <a:cs typeface="Times New Roman" panose="02020603050405020304" pitchFamily="18" charset="0"/>
              </a:rPr>
              <a:t>n</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i="1" u="sng" dirty="0">
                <a:solidFill>
                  <a:srgbClr val="FF0000"/>
                </a:solidFill>
                <a:uFill>
                  <a:solidFill>
                    <a:srgbClr val="000000"/>
                  </a:solidFill>
                </a:uFill>
                <a:latin typeface="Times New Roman" panose="02020603050405020304" pitchFamily="18" charset="0"/>
                <a:cs typeface="Times New Roman" panose="02020603050405020304" pitchFamily="18" charset="0"/>
              </a:rPr>
              <a:t>　　　　　</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effectLst/>
                <a:latin typeface="宋体" panose="02010600030101010101" pitchFamily="2" charset="-122"/>
                <a:ea typeface="方正书宋_GBK"/>
                <a:cs typeface="Times New Roman" panose="02020603050405020304" pitchFamily="18" charset="0"/>
              </a:rPr>
              <a:t> </a:t>
            </a:r>
            <a:endParaRPr lang="zh-CN" altLang="zh-CN" sz="2800" dirty="0">
              <a:solidFill>
                <a:srgbClr val="000000"/>
              </a:solidFill>
              <a:effectLst/>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effectLst/>
                <a:latin typeface="Arial" panose="020B0604020202020204" pitchFamily="34" charset="0"/>
                <a:ea typeface="黑体" panose="02010609060101010101" pitchFamily="49" charset="-122"/>
                <a:cs typeface="Times New Roman" panose="02020603050405020304" pitchFamily="18" charset="0"/>
              </a:rPr>
              <a:t>解析</a:t>
            </a:r>
            <a:r>
              <a:rPr lang="en-US" altLang="zh-CN" sz="2800" dirty="0">
                <a:solidFill>
                  <a:srgbClr val="FF0000"/>
                </a:solidFill>
                <a:effectLst/>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i="1"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baseline="30000"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a:t>
            </a:r>
            <a:r>
              <a:rPr lang="en-US" altLang="zh-CN" sz="2800" i="1" dirty="0" err="1">
                <a:solidFill>
                  <a:srgbClr val="000000"/>
                </a:solidFill>
                <a:latin typeface="Times New Roman" panose="02020603050405020304" pitchFamily="18" charset="0"/>
                <a:cs typeface="Times New Roman" panose="02020603050405020304" pitchFamily="18" charset="0"/>
              </a:rPr>
              <a:t>S</a:t>
            </a:r>
            <a:r>
              <a:rPr lang="en-US" altLang="zh-CN" sz="2800" i="1" baseline="-25000" dirty="0" err="1">
                <a:solidFill>
                  <a:srgbClr val="000000"/>
                </a:solidFill>
                <a:latin typeface="Times New Roman" panose="02020603050405020304" pitchFamily="18" charset="0"/>
                <a:cs typeface="Times New Roman" panose="02020603050405020304" pitchFamily="18" charset="0"/>
              </a:rPr>
              <a:t>n</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1×2</a:t>
            </a:r>
            <a:r>
              <a:rPr lang="en-US" altLang="zh-CN" sz="2800" baseline="30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2×2</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3×2</a:t>
            </a:r>
            <a:r>
              <a:rPr lang="en-US" altLang="zh-CN" sz="2800" baseline="300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effectLst/>
                <a:latin typeface="楷体" panose="02010609060101010101" pitchFamily="49" charset="-122"/>
                <a:ea typeface="方正书宋_GBK"/>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baseline="30000"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NEU-BZ-S92"/>
                <a:cs typeface="宋体" panose="02010600030101010101" pitchFamily="2" charset="-122"/>
              </a:rPr>
              <a:t>①</a:t>
            </a:r>
            <a:endParaRPr lang="zh-CN" altLang="zh-CN" sz="2800" dirty="0">
              <a:solidFill>
                <a:srgbClr val="000000"/>
              </a:solidFill>
              <a:effectLst/>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S</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1×2</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2×2</a:t>
            </a:r>
            <a:r>
              <a:rPr lang="en-US" altLang="zh-CN" sz="2800" baseline="300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effectLst/>
                <a:latin typeface="楷体" panose="02010609060101010101" pitchFamily="49" charset="-122"/>
                <a:ea typeface="方正书宋_GBK"/>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1)×2</a:t>
            </a:r>
            <a:r>
              <a:rPr lang="en-US" altLang="zh-CN" sz="2800" i="1" baseline="30000" dirty="0">
                <a:solidFill>
                  <a:srgbClr val="000000"/>
                </a:solidFill>
                <a:latin typeface="Times New Roman" panose="02020603050405020304" pitchFamily="18" charset="0"/>
                <a:cs typeface="Times New Roman" panose="02020603050405020304" pitchFamily="18" charset="0"/>
              </a:rPr>
              <a:t>n</a:t>
            </a:r>
            <a:r>
              <a:rPr lang="en-US" altLang="zh-CN" sz="2800" i="1"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baseline="30000" dirty="0">
                <a:solidFill>
                  <a:srgbClr val="000000"/>
                </a:solidFill>
                <a:latin typeface="Times New Roman" panose="02020603050405020304" pitchFamily="18" charset="0"/>
                <a:cs typeface="Times New Roman" panose="02020603050405020304" pitchFamily="18" charset="0"/>
              </a:rPr>
              <a:t>n+</a:t>
            </a:r>
            <a:r>
              <a:rPr lang="en-US" altLang="zh-CN" sz="2800" baseline="30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NEU-BZ-S92"/>
                <a:cs typeface="宋体" panose="02010600030101010101" pitchFamily="2" charset="-122"/>
              </a:rPr>
              <a:t>②</a:t>
            </a:r>
            <a:endParaRPr lang="zh-CN" altLang="zh-CN" sz="2800" dirty="0">
              <a:solidFill>
                <a:srgbClr val="000000"/>
              </a:solidFill>
              <a:effectLst/>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①</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NEU-BZ-S92"/>
                <a:cs typeface="宋体" panose="02010600030101010101" pitchFamily="2" charset="-122"/>
              </a:rPr>
              <a:t>②</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得</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cs typeface="Times New Roman" panose="02020603050405020304" pitchFamily="18" charset="0"/>
              </a:rPr>
              <a:t>S</a:t>
            </a:r>
            <a:r>
              <a:rPr lang="en-US" altLang="zh-CN" sz="2800" i="1" baseline="-25000" dirty="0" err="1">
                <a:solidFill>
                  <a:srgbClr val="000000"/>
                </a:solidFill>
                <a:latin typeface="Times New Roman" panose="02020603050405020304" pitchFamily="18" charset="0"/>
                <a:cs typeface="Times New Roman" panose="02020603050405020304" pitchFamily="18" charset="0"/>
              </a:rPr>
              <a:t>n</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baseline="300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effectLst/>
                <a:latin typeface="楷体" panose="02010609060101010101" pitchFamily="49" charset="-122"/>
                <a:ea typeface="方正书宋_GBK"/>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smtClean="0">
                <a:solidFill>
                  <a:srgbClr val="000000"/>
                </a:solidFill>
                <a:latin typeface="Times New Roman" panose="02020603050405020304" pitchFamily="18" charset="0"/>
                <a:cs typeface="Times New Roman" panose="02020603050405020304" pitchFamily="18" charset="0"/>
              </a:rPr>
              <a:t>2</a:t>
            </a:r>
            <a:r>
              <a:rPr lang="en-US" altLang="zh-CN" sz="2800" i="1" baseline="30000" dirty="0" smtClean="0">
                <a:solidFill>
                  <a:srgbClr val="000000"/>
                </a:solidFill>
                <a:latin typeface="Times New Roman" panose="02020603050405020304" pitchFamily="18" charset="0"/>
                <a:cs typeface="Times New Roman" panose="02020603050405020304" pitchFamily="18" charset="0"/>
              </a:rPr>
              <a:t>n</a:t>
            </a:r>
            <a:r>
              <a:rPr lang="en-US" altLang="zh-CN" sz="2800" i="1" dirty="0" smtClean="0">
                <a:solidFill>
                  <a:srgbClr val="000000"/>
                </a:solidFill>
                <a:latin typeface="Times New Roman" panose="02020603050405020304" pitchFamily="18" charset="0"/>
                <a:cs typeface="Times New Roman" panose="02020603050405020304" pitchFamily="18" charset="0"/>
              </a:rPr>
              <a:t>-n</a:t>
            </a:r>
            <a:r>
              <a:rPr lang="en-US" altLang="zh-CN" sz="2800" dirty="0" smtClean="0">
                <a:solidFill>
                  <a:srgbClr val="000000"/>
                </a:solidFill>
                <a:latin typeface="Times New Roman" panose="02020603050405020304" pitchFamily="18" charset="0"/>
                <a:cs typeface="Times New Roman" panose="02020603050405020304" pitchFamily="18" charset="0"/>
              </a:rPr>
              <a:t>·2</a:t>
            </a:r>
            <a:r>
              <a:rPr lang="en-US" altLang="zh-CN" sz="2800" i="1" baseline="30000" dirty="0" smtClean="0">
                <a:solidFill>
                  <a:srgbClr val="000000"/>
                </a:solidFill>
                <a:latin typeface="Times New Roman" panose="02020603050405020304" pitchFamily="18" charset="0"/>
                <a:cs typeface="Times New Roman" panose="02020603050405020304" pitchFamily="18" charset="0"/>
              </a:rPr>
              <a:t>n+</a:t>
            </a:r>
            <a:r>
              <a:rPr lang="en-US" altLang="zh-CN" sz="2800" baseline="30000" dirty="0" smtClean="0">
                <a:solidFill>
                  <a:srgbClr val="000000"/>
                </a:solidFill>
                <a:latin typeface="Times New Roman" panose="02020603050405020304" pitchFamily="18" charset="0"/>
                <a:cs typeface="Times New Roman" panose="02020603050405020304" pitchFamily="18" charset="0"/>
              </a:rPr>
              <a:t>1</a:t>
            </a:r>
          </a:p>
        </p:txBody>
      </p:sp>
      <p:graphicFrame>
        <p:nvGraphicFramePr>
          <p:cNvPr id="3" name="对象 2"/>
          <p:cNvGraphicFramePr>
            <a:graphicFrameLocks noChangeAspect="1"/>
          </p:cNvGraphicFramePr>
          <p:nvPr>
            <p:extLst>
              <p:ext uri="{D42A27DB-BD31-4B8C-83A1-F6EECF244321}">
                <p14:modId xmlns:p14="http://schemas.microsoft.com/office/powerpoint/2010/main" val="3216682710"/>
              </p:ext>
            </p:extLst>
          </p:nvPr>
        </p:nvGraphicFramePr>
        <p:xfrm>
          <a:off x="51486" y="3212831"/>
          <a:ext cx="11430000" cy="1003297"/>
        </p:xfrm>
        <a:graphic>
          <a:graphicData uri="http://schemas.openxmlformats.org/presentationml/2006/ole">
            <mc:AlternateContent xmlns:mc="http://schemas.openxmlformats.org/markup-compatibility/2006">
              <mc:Choice xmlns:v="urn:schemas-microsoft-com:vml" Requires="v">
                <p:oleObj spid="_x0000_s3087" name="文档" r:id="rId3" imgW="4520786" imgH="396823" progId="Word.Document.12">
                  <p:embed/>
                </p:oleObj>
              </mc:Choice>
              <mc:Fallback>
                <p:oleObj name="文档" r:id="rId3" imgW="4520786" imgH="396823" progId="Word.Document.12">
                  <p:embed/>
                  <p:pic>
                    <p:nvPicPr>
                      <p:cNvPr id="0" name=""/>
                      <p:cNvPicPr/>
                      <p:nvPr/>
                    </p:nvPicPr>
                    <p:blipFill>
                      <a:blip r:embed="rId4"/>
                      <a:stretch>
                        <a:fillRect/>
                      </a:stretch>
                    </p:blipFill>
                    <p:spPr>
                      <a:xfrm>
                        <a:off x="51486" y="3212831"/>
                        <a:ext cx="11430000" cy="1003297"/>
                      </a:xfrm>
                      <a:prstGeom prst="rect">
                        <a:avLst/>
                      </a:prstGeom>
                    </p:spPr>
                  </p:pic>
                </p:oleObj>
              </mc:Fallback>
            </mc:AlternateContent>
          </a:graphicData>
        </a:graphic>
      </p:graphicFrame>
      <p:sp>
        <p:nvSpPr>
          <p:cNvPr id="4" name="矩形 3"/>
          <p:cNvSpPr>
            <a:spLocks noChangeAspect="1"/>
          </p:cNvSpPr>
          <p:nvPr/>
        </p:nvSpPr>
        <p:spPr>
          <a:xfrm>
            <a:off x="381000" y="4075007"/>
            <a:ext cx="11430000" cy="1152367"/>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a:t>
            </a:r>
            <a:r>
              <a:rPr lang="en-US" altLang="zh-CN" sz="2800" i="1" dirty="0" err="1">
                <a:solidFill>
                  <a:srgbClr val="000000"/>
                </a:solidFill>
                <a:latin typeface="Times New Roman" panose="02020603050405020304" pitchFamily="18" charset="0"/>
                <a:cs typeface="Times New Roman" panose="02020603050405020304" pitchFamily="18" charset="0"/>
              </a:rPr>
              <a:t>S</a:t>
            </a:r>
            <a:r>
              <a:rPr lang="en-US" altLang="zh-CN" sz="2800" i="1" baseline="-25000" dirty="0" err="1">
                <a:solidFill>
                  <a:srgbClr val="000000"/>
                </a:solidFill>
                <a:latin typeface="Times New Roman" panose="02020603050405020304" pitchFamily="18" charset="0"/>
                <a:cs typeface="Times New Roman" panose="02020603050405020304" pitchFamily="18" charset="0"/>
              </a:rPr>
              <a:t>n</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1)2</a:t>
            </a:r>
            <a:r>
              <a:rPr lang="en-US" altLang="zh-CN" sz="2800" i="1" baseline="30000" dirty="0">
                <a:solidFill>
                  <a:srgbClr val="000000"/>
                </a:solidFill>
                <a:latin typeface="Times New Roman" panose="02020603050405020304" pitchFamily="18" charset="0"/>
                <a:cs typeface="Times New Roman" panose="02020603050405020304" pitchFamily="18" charset="0"/>
              </a:rPr>
              <a:t>n+</a:t>
            </a:r>
            <a:r>
              <a:rPr lang="en-US" altLang="zh-CN" sz="2800" baseline="30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1)2</a:t>
            </a:r>
            <a:r>
              <a:rPr lang="en-US" altLang="zh-CN" sz="2800" i="1" baseline="30000" dirty="0">
                <a:solidFill>
                  <a:srgbClr val="000000"/>
                </a:solidFill>
                <a:latin typeface="Times New Roman" panose="02020603050405020304" pitchFamily="18" charset="0"/>
                <a:cs typeface="Times New Roman" panose="02020603050405020304" pitchFamily="18" charset="0"/>
              </a:rPr>
              <a:t>n+</a:t>
            </a:r>
            <a:r>
              <a:rPr lang="en-US" altLang="zh-CN" sz="2800" baseline="30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endParaRPr lang="zh-CN" altLang="zh-CN" sz="2800" dirty="0">
              <a:solidFill>
                <a:srgbClr val="000000"/>
              </a:solidFill>
              <a:effectLst/>
              <a:latin typeface="NEU-BZ-S92"/>
              <a:ea typeface="方正书宋_GBK"/>
              <a:cs typeface="Times New Roman" panose="02020603050405020304" pitchFamily="18" charset="0"/>
            </a:endParaRPr>
          </a:p>
        </p:txBody>
      </p:sp>
    </p:spTree>
    <p:extLst>
      <p:ext uri="{BB962C8B-B14F-4D97-AF65-F5344CB8AC3E}">
        <p14:creationId xmlns:p14="http://schemas.microsoft.com/office/powerpoint/2010/main" val="22810313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barn(inVertical)">
                                      <p:cBhvr>
                                        <p:cTn id="7" dur="500"/>
                                        <p:tgtEl>
                                          <p:spTgt spid="2">
                                            <p:txEl>
                                              <p:pRg st="1" end="1"/>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2">
                                            <p:txEl>
                                              <p:pRg st="2" end="2"/>
                                            </p:txEl>
                                          </p:spTgt>
                                        </p:tgtEl>
                                        <p:attrNameLst>
                                          <p:attrName>style.visibility</p:attrName>
                                        </p:attrNameLst>
                                      </p:cBhvr>
                                      <p:to>
                                        <p:strVal val="visible"/>
                                      </p:to>
                                    </p:set>
                                    <p:animEffect transition="in" filter="barn(inVertical)">
                                      <p:cBhvr>
                                        <p:cTn id="10" dur="500"/>
                                        <p:tgtEl>
                                          <p:spTgt spid="2">
                                            <p:txEl>
                                              <p:pRg st="2" end="2"/>
                                            </p:txEl>
                                          </p:spTgt>
                                        </p:tgtEl>
                                      </p:cBhvr>
                                    </p:animEffect>
                                  </p:childTnLst>
                                </p:cTn>
                              </p:par>
                              <p:par>
                                <p:cTn id="11" presetID="16" presetClass="entr" presetSubtype="21" fill="hold" nodeType="with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animEffect transition="in" filter="barn(inVertical)">
                                      <p:cBhvr>
                                        <p:cTn id="13" dur="500"/>
                                        <p:tgtEl>
                                          <p:spTgt spid="2">
                                            <p:txEl>
                                              <p:pRg st="3" end="3"/>
                                            </p:txEl>
                                          </p:spTgt>
                                        </p:tgtEl>
                                      </p:cBhvr>
                                    </p:animEffect>
                                  </p:childTnLst>
                                </p:cTn>
                              </p:par>
                              <p:par>
                                <p:cTn id="14" presetID="16" presetClass="entr" presetSubtype="21" fill="hold" nodeType="withEffect">
                                  <p:stCondLst>
                                    <p:cond delay="0"/>
                                  </p:stCondLst>
                                  <p:childTnLst>
                                    <p:set>
                                      <p:cBhvr>
                                        <p:cTn id="15" dur="1" fill="hold">
                                          <p:stCondLst>
                                            <p:cond delay="0"/>
                                          </p:stCondLst>
                                        </p:cTn>
                                        <p:tgtEl>
                                          <p:spTgt spid="2">
                                            <p:txEl>
                                              <p:pRg st="4" end="4"/>
                                            </p:txEl>
                                          </p:spTgt>
                                        </p:tgtEl>
                                        <p:attrNameLst>
                                          <p:attrName>style.visibility</p:attrName>
                                        </p:attrNameLst>
                                      </p:cBhvr>
                                      <p:to>
                                        <p:strVal val="visible"/>
                                      </p:to>
                                    </p:set>
                                    <p:animEffect transition="in" filter="barn(inVertical)">
                                      <p:cBhvr>
                                        <p:cTn id="16" dur="500"/>
                                        <p:tgtEl>
                                          <p:spTgt spid="2">
                                            <p:txEl>
                                              <p:pRg st="4" end="4"/>
                                            </p:txEl>
                                          </p:spTgt>
                                        </p:tgtEl>
                                      </p:cBhvr>
                                    </p:animEffect>
                                  </p:childTnLst>
                                </p:cTn>
                              </p:par>
                              <p:par>
                                <p:cTn id="17" presetID="16" presetClass="entr" presetSubtype="21" fill="hold" nodeType="with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barn(inVertical)">
                                      <p:cBhvr>
                                        <p:cTn id="19" dur="500"/>
                                        <p:tgtEl>
                                          <p:spTgt spid="3"/>
                                        </p:tgtEl>
                                      </p:cBhvr>
                                    </p:animEffect>
                                  </p:childTnLst>
                                </p:cTn>
                              </p:par>
                              <p:par>
                                <p:cTn id="20" presetID="16" presetClass="entr" presetSubtype="21" fill="hold" nodeType="withEffect">
                                  <p:stCondLst>
                                    <p:cond delay="0"/>
                                  </p:stCondLst>
                                  <p:childTnLst>
                                    <p:set>
                                      <p:cBhvr>
                                        <p:cTn id="21" dur="1" fill="hold">
                                          <p:stCondLst>
                                            <p:cond delay="0"/>
                                          </p:stCondLst>
                                        </p:cTn>
                                        <p:tgtEl>
                                          <p:spTgt spid="4">
                                            <p:txEl>
                                              <p:pRg st="0" end="0"/>
                                            </p:txEl>
                                          </p:spTgt>
                                        </p:tgtEl>
                                        <p:attrNameLst>
                                          <p:attrName>style.visibility</p:attrName>
                                        </p:attrNameLst>
                                      </p:cBhvr>
                                      <p:to>
                                        <p:strVal val="visible"/>
                                      </p:to>
                                    </p:set>
                                    <p:animEffect transition="in" filter="barn(inVertical)">
                                      <p:cBhvr>
                                        <p:cTn id="22" dur="500"/>
                                        <p:tgtEl>
                                          <p:spTgt spid="4">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4">
                                            <p:txEl>
                                              <p:pRg st="1" end="1"/>
                                            </p:txEl>
                                          </p:spTgt>
                                        </p:tgtEl>
                                        <p:attrNameLst>
                                          <p:attrName>style.visibility</p:attrName>
                                        </p:attrNameLst>
                                      </p:cBhvr>
                                      <p:to>
                                        <p:strVal val="visible"/>
                                      </p:to>
                                    </p:set>
                                    <p:animEffect transition="in" filter="barn(inVertical)">
                                      <p:cBhvr>
                                        <p:cTn id="27" dur="5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280016"/>
            <a:ext cx="11430000" cy="1152367"/>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【思考辨析】</a:t>
            </a:r>
            <a:r>
              <a:rPr lang="zh-CN" altLang="zh-CN" sz="2800" dirty="0">
                <a:solidFill>
                  <a:srgbClr val="000000"/>
                </a:solidFill>
                <a:latin typeface="NEU-BZ-S92"/>
                <a:ea typeface="Arial" panose="020B0604020202020204" pitchFamily="34" charset="0"/>
                <a:cs typeface="Times New Roman" panose="02020603050405020304" pitchFamily="18" charset="0"/>
              </a:rPr>
              <a:t> </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cs typeface="Times New Roman" panose="02020603050405020304" pitchFamily="18" charset="0"/>
              </a:rPr>
              <a:t>判断下列说法是否正确</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正确的在后面的括号里画</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Cambria Math" panose="02040503050406030204" pitchFamily="18" charset="0"/>
                <a:ea typeface="NEU-BZ-S9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错误的画</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1331446466"/>
              </p:ext>
            </p:extLst>
          </p:nvPr>
        </p:nvGraphicFramePr>
        <p:xfrm>
          <a:off x="381000" y="1351510"/>
          <a:ext cx="11430000" cy="4413225"/>
        </p:xfrm>
        <a:graphic>
          <a:graphicData uri="http://schemas.openxmlformats.org/presentationml/2006/ole">
            <mc:AlternateContent xmlns:mc="http://schemas.openxmlformats.org/markup-compatibility/2006">
              <mc:Choice xmlns:v="urn:schemas-microsoft-com:vml" Requires="v">
                <p:oleObj spid="_x0000_s4110" name="文档" r:id="rId3" imgW="4520786" imgH="1745516" progId="Word.Document.12">
                  <p:embed/>
                </p:oleObj>
              </mc:Choice>
              <mc:Fallback>
                <p:oleObj name="文档" r:id="rId3" imgW="4520786" imgH="1745516" progId="Word.Document.12">
                  <p:embed/>
                  <p:pic>
                    <p:nvPicPr>
                      <p:cNvPr id="0" name=""/>
                      <p:cNvPicPr/>
                      <p:nvPr/>
                    </p:nvPicPr>
                    <p:blipFill>
                      <a:blip r:embed="rId4"/>
                      <a:stretch>
                        <a:fillRect/>
                      </a:stretch>
                    </p:blipFill>
                    <p:spPr>
                      <a:xfrm>
                        <a:off x="381000" y="1351510"/>
                        <a:ext cx="11430000" cy="4413225"/>
                      </a:xfrm>
                      <a:prstGeom prst="rect">
                        <a:avLst/>
                      </a:prstGeom>
                    </p:spPr>
                  </p:pic>
                </p:oleObj>
              </mc:Fallback>
            </mc:AlternateContent>
          </a:graphicData>
        </a:graphic>
      </p:graphicFrame>
      <p:sp>
        <p:nvSpPr>
          <p:cNvPr id="4" name="矩形 3"/>
          <p:cNvSpPr>
            <a:spLocks noChangeAspect="1"/>
          </p:cNvSpPr>
          <p:nvPr/>
        </p:nvSpPr>
        <p:spPr>
          <a:xfrm>
            <a:off x="2122689" y="2351192"/>
            <a:ext cx="420308" cy="604396"/>
          </a:xfrm>
          <a:prstGeom prst="rect">
            <a:avLst/>
          </a:prstGeom>
        </p:spPr>
        <p:txBody>
          <a:bodyPr wrap="none">
            <a:spAutoFit/>
          </a:bodyPr>
          <a:lstStyle/>
          <a:p>
            <a:pPr>
              <a:lnSpc>
                <a:spcPct val="130000"/>
              </a:lnSpc>
            </a:pPr>
            <a:r>
              <a:rPr lang="en-US" altLang="zh-CN" sz="2800" dirty="0" smtClean="0">
                <a:solidFill>
                  <a:srgbClr val="FF0000"/>
                </a:solidFill>
                <a:latin typeface="Cambria Math" panose="02040503050406030204" pitchFamily="18" charset="0"/>
                <a:ea typeface="NEU-BZ-S92"/>
                <a:cs typeface="Times New Roman" panose="02020603050405020304" pitchFamily="18" charset="0"/>
              </a:rPr>
              <a:t>√</a:t>
            </a:r>
            <a:endParaRPr lang="zh-CN" altLang="en-US" sz="2800" dirty="0"/>
          </a:p>
        </p:txBody>
      </p:sp>
      <p:sp>
        <p:nvSpPr>
          <p:cNvPr id="5" name="矩形 4"/>
          <p:cNvSpPr>
            <a:spLocks noChangeAspect="1"/>
          </p:cNvSpPr>
          <p:nvPr/>
        </p:nvSpPr>
        <p:spPr>
          <a:xfrm>
            <a:off x="2518283" y="3708408"/>
            <a:ext cx="420308" cy="604396"/>
          </a:xfrm>
          <a:prstGeom prst="rect">
            <a:avLst/>
          </a:prstGeom>
        </p:spPr>
        <p:txBody>
          <a:bodyPr wrap="none">
            <a:spAutoFit/>
          </a:bodyPr>
          <a:lstStyle/>
          <a:p>
            <a:pPr>
              <a:lnSpc>
                <a:spcPct val="130000"/>
              </a:lnSpc>
            </a:pPr>
            <a:r>
              <a:rPr lang="en-US" altLang="zh-CN" sz="2800" dirty="0" smtClean="0">
                <a:solidFill>
                  <a:srgbClr val="FF0000"/>
                </a:solidFill>
                <a:latin typeface="Cambria Math" panose="02040503050406030204" pitchFamily="18" charset="0"/>
                <a:ea typeface="NEU-BZ-S92"/>
                <a:cs typeface="Times New Roman" panose="02020603050405020304" pitchFamily="18" charset="0"/>
              </a:rPr>
              <a:t>√</a:t>
            </a:r>
            <a:endParaRPr lang="zh-CN" altLang="en-US" sz="2800" dirty="0"/>
          </a:p>
        </p:txBody>
      </p:sp>
      <p:sp>
        <p:nvSpPr>
          <p:cNvPr id="6" name="矩形 5"/>
          <p:cNvSpPr>
            <a:spLocks noChangeAspect="1"/>
          </p:cNvSpPr>
          <p:nvPr/>
        </p:nvSpPr>
        <p:spPr>
          <a:xfrm>
            <a:off x="1718857" y="5152101"/>
            <a:ext cx="420308" cy="604396"/>
          </a:xfrm>
          <a:prstGeom prst="rect">
            <a:avLst/>
          </a:prstGeom>
        </p:spPr>
        <p:txBody>
          <a:bodyPr wrap="none">
            <a:spAutoFit/>
          </a:bodyPr>
          <a:lstStyle/>
          <a:p>
            <a:pPr>
              <a:lnSpc>
                <a:spcPct val="130000"/>
              </a:lnSpc>
            </a:pPr>
            <a:r>
              <a:rPr lang="en-US" altLang="zh-CN" sz="2800" dirty="0" smtClean="0">
                <a:solidFill>
                  <a:srgbClr val="FF0000"/>
                </a:solidFill>
                <a:latin typeface="Cambria Math" panose="02040503050406030204" pitchFamily="18" charset="0"/>
                <a:ea typeface="NEU-BZ-S92"/>
                <a:cs typeface="Times New Roman" panose="02020603050405020304" pitchFamily="18" charset="0"/>
              </a:rPr>
              <a:t>√</a:t>
            </a:r>
            <a:endParaRPr lang="zh-CN" altLang="en-US" sz="2800" dirty="0"/>
          </a:p>
        </p:txBody>
      </p:sp>
    </p:spTree>
    <p:extLst>
      <p:ext uri="{BB962C8B-B14F-4D97-AF65-F5344CB8AC3E}">
        <p14:creationId xmlns:p14="http://schemas.microsoft.com/office/powerpoint/2010/main" val="405871972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down)">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down)">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2180083" y="2636520"/>
            <a:ext cx="1105802" cy="815646"/>
            <a:chOff x="-1604504" y="2147667"/>
            <a:chExt cx="3687215" cy="2719712"/>
          </a:xfrm>
        </p:grpSpPr>
        <p:cxnSp>
          <p:nvCxnSpPr>
            <p:cNvPr id="7" name="直接连接符 6"/>
            <p:cNvCxnSpPr/>
            <p:nvPr/>
          </p:nvCxnSpPr>
          <p:spPr>
            <a:xfrm flipH="1">
              <a:off x="-1604504" y="2687623"/>
              <a:ext cx="2592288" cy="2179756"/>
            </a:xfrm>
            <a:prstGeom prst="line">
              <a:avLst/>
            </a:prstGeom>
            <a:noFill/>
            <a:ln w="76200" cap="flat" cmpd="sng" algn="ctr">
              <a:solidFill>
                <a:schemeClr val="tx2">
                  <a:lumMod val="50000"/>
                </a:schemeClr>
              </a:solidFill>
              <a:prstDash val="solid"/>
            </a:ln>
            <a:effectLst/>
          </p:spPr>
        </p:cxnSp>
        <p:cxnSp>
          <p:nvCxnSpPr>
            <p:cNvPr id="8" name="直接连接符 7"/>
            <p:cNvCxnSpPr/>
            <p:nvPr/>
          </p:nvCxnSpPr>
          <p:spPr>
            <a:xfrm flipH="1">
              <a:off x="-509577" y="2147667"/>
              <a:ext cx="2592288" cy="2179756"/>
            </a:xfrm>
            <a:prstGeom prst="line">
              <a:avLst/>
            </a:prstGeom>
            <a:noFill/>
            <a:ln w="12700" cap="flat" cmpd="sng" algn="ctr">
              <a:solidFill>
                <a:schemeClr val="tx2">
                  <a:lumMod val="50000"/>
                </a:schemeClr>
              </a:solidFill>
              <a:prstDash val="solid"/>
            </a:ln>
            <a:effectLst/>
          </p:spPr>
        </p:cxnSp>
      </p:grpSp>
      <p:grpSp>
        <p:nvGrpSpPr>
          <p:cNvPr id="9" name="组合 8"/>
          <p:cNvGrpSpPr/>
          <p:nvPr/>
        </p:nvGrpSpPr>
        <p:grpSpPr>
          <a:xfrm flipH="1" flipV="1">
            <a:off x="8735898" y="2665586"/>
            <a:ext cx="1105803" cy="815646"/>
            <a:chOff x="-1604504" y="2147667"/>
            <a:chExt cx="3687215" cy="2719712"/>
          </a:xfrm>
        </p:grpSpPr>
        <p:cxnSp>
          <p:nvCxnSpPr>
            <p:cNvPr id="10" name="直接连接符 9"/>
            <p:cNvCxnSpPr/>
            <p:nvPr/>
          </p:nvCxnSpPr>
          <p:spPr>
            <a:xfrm flipH="1">
              <a:off x="-1604504" y="2687623"/>
              <a:ext cx="2592288" cy="2179756"/>
            </a:xfrm>
            <a:prstGeom prst="line">
              <a:avLst/>
            </a:prstGeom>
            <a:noFill/>
            <a:ln w="76200" cap="flat" cmpd="sng" algn="ctr">
              <a:solidFill>
                <a:sysClr val="windowText" lastClr="000000">
                  <a:lumMod val="85000"/>
                  <a:lumOff val="15000"/>
                </a:sysClr>
              </a:solidFill>
              <a:prstDash val="solid"/>
            </a:ln>
            <a:effectLst/>
          </p:spPr>
        </p:cxnSp>
        <p:cxnSp>
          <p:nvCxnSpPr>
            <p:cNvPr id="11" name="直接连接符 10"/>
            <p:cNvCxnSpPr/>
            <p:nvPr/>
          </p:nvCxnSpPr>
          <p:spPr>
            <a:xfrm flipH="1">
              <a:off x="-509577" y="2147667"/>
              <a:ext cx="2592288" cy="2179756"/>
            </a:xfrm>
            <a:prstGeom prst="line">
              <a:avLst/>
            </a:prstGeom>
            <a:noFill/>
            <a:ln w="12700" cap="flat" cmpd="sng" algn="ctr">
              <a:solidFill>
                <a:sysClr val="windowText" lastClr="000000">
                  <a:lumMod val="85000"/>
                  <a:lumOff val="15000"/>
                </a:sysClr>
              </a:solidFill>
              <a:prstDash val="solid"/>
            </a:ln>
            <a:effectLst/>
          </p:spPr>
        </p:cxnSp>
      </p:grpSp>
      <p:sp>
        <p:nvSpPr>
          <p:cNvPr id="12" name="文本框 11"/>
          <p:cNvSpPr txBox="1"/>
          <p:nvPr/>
        </p:nvSpPr>
        <p:spPr>
          <a:xfrm>
            <a:off x="2969260" y="2585720"/>
            <a:ext cx="6252845" cy="922020"/>
          </a:xfrm>
          <a:prstGeom prst="rect">
            <a:avLst/>
          </a:prstGeom>
          <a:noFill/>
        </p:spPr>
        <p:txBody>
          <a:bodyPr wrap="square" rtlCol="0">
            <a:spAutoFit/>
          </a:bodyPr>
          <a:lstStyle/>
          <a:p>
            <a:r>
              <a:rPr lang="zh-CN" altLang="en-US" sz="5400" b="1" dirty="0" smtClean="0">
                <a:solidFill>
                  <a:srgbClr val="4D4D4D"/>
                </a:solidFill>
                <a:latin typeface="方正姚体" panose="02010601030101010101" charset="-122"/>
                <a:ea typeface="方正姚体" panose="02010601030101010101" charset="-122"/>
                <a:cs typeface="方正姚体" panose="02010601030101010101" charset="-122"/>
                <a:sym typeface="+mn-ea"/>
              </a:rPr>
              <a:t>合作探究 释疑解惑</a:t>
            </a:r>
            <a:endParaRPr lang="zh-CN" altLang="en-US" sz="5400" b="1" dirty="0">
              <a:solidFill>
                <a:srgbClr val="4D4D4D"/>
              </a:solidFill>
              <a:latin typeface="方正姚体" panose="02010601030101010101" charset="-122"/>
              <a:ea typeface="方正姚体" panose="02010601030101010101" charset="-122"/>
              <a:cs typeface="方正姚体" panose="02010601030101010101" charset="-122"/>
              <a:sym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grpSp>
        <p:nvGrpSpPr>
          <p:cNvPr id="35" name="组合 34"/>
          <p:cNvGrpSpPr/>
          <p:nvPr/>
        </p:nvGrpSpPr>
        <p:grpSpPr>
          <a:xfrm>
            <a:off x="2" y="151371"/>
            <a:ext cx="11336478" cy="433754"/>
            <a:chOff x="381000" y="205656"/>
            <a:chExt cx="11336478" cy="433754"/>
          </a:xfrm>
        </p:grpSpPr>
        <p:sp>
          <p:nvSpPr>
            <p:cNvPr id="36" name="矩形 35"/>
            <p:cNvSpPr/>
            <p:nvPr/>
          </p:nvSpPr>
          <p:spPr>
            <a:xfrm>
              <a:off x="1999940" y="230648"/>
              <a:ext cx="192275" cy="401795"/>
            </a:xfrm>
            <a:prstGeom prst="rect">
              <a:avLst/>
            </a:prstGeom>
            <a:noFill/>
            <a:ln w="19050">
              <a:solidFill>
                <a:schemeClr val="accent4">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grpSp>
          <p:nvGrpSpPr>
            <p:cNvPr id="37" name="组合 36"/>
            <p:cNvGrpSpPr/>
            <p:nvPr/>
          </p:nvGrpSpPr>
          <p:grpSpPr>
            <a:xfrm>
              <a:off x="381000" y="205656"/>
              <a:ext cx="11336478" cy="433754"/>
              <a:chOff x="3048000" y="2286000"/>
              <a:chExt cx="4813646" cy="457200"/>
            </a:xfrm>
          </p:grpSpPr>
          <p:sp>
            <p:nvSpPr>
              <p:cNvPr id="38" name="矩形 37"/>
              <p:cNvSpPr/>
              <p:nvPr/>
            </p:nvSpPr>
            <p:spPr>
              <a:xfrm>
                <a:off x="3048000" y="2286000"/>
                <a:ext cx="769070" cy="457200"/>
              </a:xfrm>
              <a:prstGeom prst="rect">
                <a:avLst/>
              </a:prstGeom>
              <a:solidFill>
                <a:srgbClr val="748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solidFill>
                      <a:schemeClr val="bg1"/>
                    </a:solidFill>
                  </a:rPr>
                  <a:t>探究一</a:t>
                </a:r>
              </a:p>
            </p:txBody>
          </p:sp>
          <p:sp>
            <p:nvSpPr>
              <p:cNvPr id="39" name="矩形 38"/>
              <p:cNvSpPr/>
              <p:nvPr/>
            </p:nvSpPr>
            <p:spPr>
              <a:xfrm>
                <a:off x="3909004" y="2286000"/>
                <a:ext cx="3952642" cy="457200"/>
              </a:xfrm>
              <a:prstGeom prst="rect">
                <a:avLst/>
              </a:prstGeom>
              <a:gradFill flip="none" rotWithShape="1">
                <a:gsLst>
                  <a:gs pos="0">
                    <a:srgbClr val="DCDCDC">
                      <a:shade val="30000"/>
                      <a:satMod val="115000"/>
                    </a:srgbClr>
                  </a:gs>
                  <a:gs pos="51000">
                    <a:srgbClr val="DCDCDC">
                      <a:shade val="67500"/>
                      <a:satMod val="115000"/>
                    </a:srgbClr>
                  </a:gs>
                  <a:gs pos="73000">
                    <a:srgbClr val="DCDCDC">
                      <a:shade val="100000"/>
                      <a:satMod val="115000"/>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dirty="0">
                    <a:solidFill>
                      <a:schemeClr val="bg1"/>
                    </a:solidFill>
                  </a:rPr>
                  <a:t>裂项相消法求数列的和</a:t>
                </a:r>
              </a:p>
            </p:txBody>
          </p:sp>
        </p:grpSp>
      </p:grpSp>
      <p:graphicFrame>
        <p:nvGraphicFramePr>
          <p:cNvPr id="2" name="对象 1"/>
          <p:cNvGraphicFramePr>
            <a:graphicFrameLocks noChangeAspect="1"/>
          </p:cNvGraphicFramePr>
          <p:nvPr>
            <p:extLst>
              <p:ext uri="{D42A27DB-BD31-4B8C-83A1-F6EECF244321}">
                <p14:modId xmlns:p14="http://schemas.microsoft.com/office/powerpoint/2010/main" val="1168661894"/>
              </p:ext>
            </p:extLst>
          </p:nvPr>
        </p:nvGraphicFramePr>
        <p:xfrm>
          <a:off x="413952" y="1859961"/>
          <a:ext cx="11430000" cy="2005680"/>
        </p:xfrm>
        <a:graphic>
          <a:graphicData uri="http://schemas.openxmlformats.org/presentationml/2006/ole">
            <mc:AlternateContent xmlns:mc="http://schemas.openxmlformats.org/markup-compatibility/2006">
              <mc:Choice xmlns:v="urn:schemas-microsoft-com:vml" Requires="v">
                <p:oleObj spid="_x0000_s5134" name="文档" r:id="rId3" imgW="4520786" imgH="793285" progId="Word.Document.12">
                  <p:embed/>
                </p:oleObj>
              </mc:Choice>
              <mc:Fallback>
                <p:oleObj name="文档" r:id="rId3" imgW="4520786" imgH="793285" progId="Word.Document.12">
                  <p:embed/>
                  <p:pic>
                    <p:nvPicPr>
                      <p:cNvPr id="0" name=""/>
                      <p:cNvPicPr/>
                      <p:nvPr/>
                    </p:nvPicPr>
                    <p:blipFill>
                      <a:blip r:embed="rId4"/>
                      <a:stretch>
                        <a:fillRect/>
                      </a:stretch>
                    </p:blipFill>
                    <p:spPr>
                      <a:xfrm>
                        <a:off x="413952" y="1859961"/>
                        <a:ext cx="11430000" cy="2005680"/>
                      </a:xfrm>
                      <a:prstGeom prst="rect">
                        <a:avLst/>
                      </a:prstGeom>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1097436195"/>
              </p:ext>
            </p:extLst>
          </p:nvPr>
        </p:nvGraphicFramePr>
        <p:xfrm>
          <a:off x="55563" y="301913"/>
          <a:ext cx="11401425" cy="5595938"/>
        </p:xfrm>
        <a:graphic>
          <a:graphicData uri="http://schemas.openxmlformats.org/presentationml/2006/ole">
            <mc:AlternateContent xmlns:mc="http://schemas.openxmlformats.org/markup-compatibility/2006">
              <mc:Choice xmlns:v="urn:schemas-microsoft-com:vml" Requires="v">
                <p:oleObj spid="_x0000_s6158" name="文档" r:id="rId3" imgW="4510061" imgH="2223229" progId="Word.Document.12">
                  <p:embed/>
                </p:oleObj>
              </mc:Choice>
              <mc:Fallback>
                <p:oleObj name="文档" r:id="rId3" imgW="4510061" imgH="2223229" progId="Word.Document.12">
                  <p:embed/>
                  <p:pic>
                    <p:nvPicPr>
                      <p:cNvPr id="0" name=""/>
                      <p:cNvPicPr/>
                      <p:nvPr/>
                    </p:nvPicPr>
                    <p:blipFill>
                      <a:blip r:embed="rId4"/>
                      <a:stretch>
                        <a:fillRect/>
                      </a:stretch>
                    </p:blipFill>
                    <p:spPr>
                      <a:xfrm>
                        <a:off x="55563" y="301913"/>
                        <a:ext cx="11401425" cy="5595938"/>
                      </a:xfrm>
                      <a:prstGeom prst="rect">
                        <a:avLst/>
                      </a:prstGeom>
                    </p:spPr>
                  </p:pic>
                </p:oleObj>
              </mc:Fallback>
            </mc:AlternateContent>
          </a:graphicData>
        </a:graphic>
      </p:graphicFrame>
    </p:spTree>
    <p:extLst>
      <p:ext uri="{BB962C8B-B14F-4D97-AF65-F5344CB8AC3E}">
        <p14:creationId xmlns:p14="http://schemas.microsoft.com/office/powerpoint/2010/main" val="84996332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grpSp>
        <p:nvGrpSpPr>
          <p:cNvPr id="6" name="组合 5"/>
          <p:cNvGrpSpPr/>
          <p:nvPr/>
        </p:nvGrpSpPr>
        <p:grpSpPr>
          <a:xfrm>
            <a:off x="41190" y="673283"/>
            <a:ext cx="11430000" cy="4160451"/>
            <a:chOff x="41190" y="1079652"/>
            <a:chExt cx="11430000" cy="4160451"/>
          </a:xfrm>
        </p:grpSpPr>
        <p:sp>
          <p:nvSpPr>
            <p:cNvPr id="2" name="矩形 1"/>
            <p:cNvSpPr>
              <a:spLocks noChangeAspect="1"/>
            </p:cNvSpPr>
            <p:nvPr/>
          </p:nvSpPr>
          <p:spPr>
            <a:xfrm>
              <a:off x="381000" y="1079652"/>
              <a:ext cx="10977364" cy="592213"/>
            </a:xfrm>
            <a:prstGeom prst="rect">
              <a:avLst/>
            </a:prstGeom>
          </p:spPr>
          <p:txBody>
            <a:bodyPr wrap="none">
              <a:spAutoFit/>
            </a:bodyPr>
            <a:lstStyle/>
            <a:p>
              <a:pPr indent="280670">
                <a:lnSpc>
                  <a:spcPct val="130000"/>
                </a:lnSpc>
                <a:spcAft>
                  <a:spcPts val="0"/>
                </a:spcAft>
                <a:tabLst>
                  <a:tab pos="1029335" algn="l"/>
                  <a:tab pos="1850390" algn="l"/>
                  <a:tab pos="2538095" algn="l"/>
                  <a:tab pos="3221990" algn="l"/>
                </a:tabLst>
              </a:pPr>
              <a:r>
                <a:rPr lang="zh-CN" altLang="en-US" sz="28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反思感悟 </a:t>
              </a:r>
              <a:r>
                <a:rPr lang="en-US" altLang="zh-CN" sz="2800" b="1" dirty="0" smtClean="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若数列</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是各项均不为零的等差数列</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公差为</a:t>
              </a:r>
              <a:r>
                <a:rPr lang="en-US" altLang="zh-CN" sz="2800" i="1" dirty="0">
                  <a:solidFill>
                    <a:srgbClr val="000000"/>
                  </a:solidFill>
                  <a:latin typeface="Times New Roman" panose="02020603050405020304" pitchFamily="18" charset="0"/>
                  <a:cs typeface="Times New Roman" panose="02020603050405020304" pitchFamily="18" charset="0"/>
                </a:rPr>
                <a:t>d</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d</a:t>
              </a:r>
              <a:r>
                <a:rPr lang="en-US" altLang="zh-CN" sz="2800" dirty="0">
                  <a:solidFill>
                    <a:srgbClr val="000000"/>
                  </a:solidFill>
                  <a:latin typeface="Times New Roman" panose="02020603050405020304" pitchFamily="18" charset="0"/>
                  <a:cs typeface="Times New Roman" panose="02020603050405020304" pitchFamily="18" charset="0"/>
                </a:rPr>
                <a:t>≠0),</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3960324223"/>
                </p:ext>
              </p:extLst>
            </p:nvPr>
          </p:nvGraphicFramePr>
          <p:xfrm>
            <a:off x="41190" y="1671865"/>
            <a:ext cx="11430000" cy="1003297"/>
          </p:xfrm>
          <a:graphic>
            <a:graphicData uri="http://schemas.openxmlformats.org/presentationml/2006/ole">
              <mc:AlternateContent xmlns:mc="http://schemas.openxmlformats.org/markup-compatibility/2006">
                <mc:Choice xmlns:v="urn:schemas-microsoft-com:vml" Requires="v">
                  <p:oleObj spid="_x0000_s7196" name="文档" r:id="rId3" imgW="4520786" imgH="396823" progId="Word.Document.12">
                    <p:embed/>
                  </p:oleObj>
                </mc:Choice>
                <mc:Fallback>
                  <p:oleObj name="文档" r:id="rId3" imgW="4520786" imgH="396823" progId="Word.Document.12">
                    <p:embed/>
                    <p:pic>
                      <p:nvPicPr>
                        <p:cNvPr id="0" name=""/>
                        <p:cNvPicPr/>
                        <p:nvPr/>
                      </p:nvPicPr>
                      <p:blipFill>
                        <a:blip r:embed="rId4"/>
                        <a:stretch>
                          <a:fillRect/>
                        </a:stretch>
                      </p:blipFill>
                      <p:spPr>
                        <a:xfrm>
                          <a:off x="41190" y="1671865"/>
                          <a:ext cx="11430000" cy="1003297"/>
                        </a:xfrm>
                        <a:prstGeom prst="rect">
                          <a:avLst/>
                        </a:prstGeom>
                      </p:spPr>
                    </p:pic>
                  </p:oleObj>
                </mc:Fallback>
              </mc:AlternateContent>
            </a:graphicData>
          </a:graphic>
        </p:graphicFrame>
        <p:sp>
          <p:nvSpPr>
            <p:cNvPr id="4" name="矩形 3"/>
            <p:cNvSpPr>
              <a:spLocks noChangeAspect="1"/>
            </p:cNvSpPr>
            <p:nvPr/>
          </p:nvSpPr>
          <p:spPr>
            <a:xfrm>
              <a:off x="381000" y="2606651"/>
              <a:ext cx="5594480" cy="652486"/>
            </a:xfrm>
            <a:prstGeom prst="rect">
              <a:avLst/>
            </a:prstGeom>
          </p:spPr>
          <p:txBody>
            <a:bodyPr wrap="none">
              <a:spAutoFit/>
            </a:bodyPr>
            <a:lstStyle/>
            <a:p>
              <a:pPr indent="280670">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常用到的裂项公式有如下形式</a:t>
              </a:r>
              <a:r>
                <a:rPr lang="en-US" altLang="zh-CN" sz="2800" dirty="0" smtClean="0">
                  <a:solidFill>
                    <a:srgbClr val="000000"/>
                  </a:solidFill>
                  <a:latin typeface="Times New Roman" panose="02020603050405020304" pitchFamily="18" charset="0"/>
                  <a:cs typeface="Times New Roman" panose="02020603050405020304" pitchFamily="18" charset="0"/>
                </a:rPr>
                <a:t>: </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1135205056"/>
                </p:ext>
              </p:extLst>
            </p:nvPr>
          </p:nvGraphicFramePr>
          <p:xfrm>
            <a:off x="41190" y="3234423"/>
            <a:ext cx="11430000" cy="2005680"/>
          </p:xfrm>
          <a:graphic>
            <a:graphicData uri="http://schemas.openxmlformats.org/presentationml/2006/ole">
              <mc:AlternateContent xmlns:mc="http://schemas.openxmlformats.org/markup-compatibility/2006">
                <mc:Choice xmlns:v="urn:schemas-microsoft-com:vml" Requires="v">
                  <p:oleObj spid="_x0000_s7197" name="文档" r:id="rId5" imgW="4520786" imgH="793285" progId="Word.Document.12">
                    <p:embed/>
                  </p:oleObj>
                </mc:Choice>
                <mc:Fallback>
                  <p:oleObj name="文档" r:id="rId5" imgW="4520786" imgH="793285" progId="Word.Document.12">
                    <p:embed/>
                    <p:pic>
                      <p:nvPicPr>
                        <p:cNvPr id="0" name=""/>
                        <p:cNvPicPr/>
                        <p:nvPr/>
                      </p:nvPicPr>
                      <p:blipFill>
                        <a:blip r:embed="rId6"/>
                        <a:stretch>
                          <a:fillRect/>
                        </a:stretch>
                      </p:blipFill>
                      <p:spPr>
                        <a:xfrm>
                          <a:off x="41190" y="3234423"/>
                          <a:ext cx="11430000" cy="2005680"/>
                        </a:xfrm>
                        <a:prstGeom prst="rect">
                          <a:avLst/>
                        </a:prstGeom>
                      </p:spPr>
                    </p:pic>
                  </p:oleObj>
                </mc:Fallback>
              </mc:AlternateContent>
            </a:graphicData>
          </a:graphic>
        </p:graphicFrame>
      </p:grpSp>
    </p:spTree>
    <p:extLst>
      <p:ext uri="{BB962C8B-B14F-4D97-AF65-F5344CB8AC3E}">
        <p14:creationId xmlns:p14="http://schemas.microsoft.com/office/powerpoint/2010/main" val="56435407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grpSp>
        <p:nvGrpSpPr>
          <p:cNvPr id="7" name="组合 6"/>
          <p:cNvGrpSpPr/>
          <p:nvPr/>
        </p:nvGrpSpPr>
        <p:grpSpPr>
          <a:xfrm>
            <a:off x="51486" y="52688"/>
            <a:ext cx="11759514" cy="2056808"/>
            <a:chOff x="51486" y="52688"/>
            <a:chExt cx="11759514" cy="2056808"/>
          </a:xfrm>
        </p:grpSpPr>
        <p:sp>
          <p:nvSpPr>
            <p:cNvPr id="2" name="矩形 1"/>
            <p:cNvSpPr>
              <a:spLocks noChangeAspect="1"/>
            </p:cNvSpPr>
            <p:nvPr/>
          </p:nvSpPr>
          <p:spPr>
            <a:xfrm>
              <a:off x="381000" y="52688"/>
              <a:ext cx="11430000" cy="1152367"/>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【变式训练</a:t>
              </a:r>
              <a:r>
                <a:rPr lang="en-US" altLang="zh-CN" sz="2800" b="1"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NEU-BZ-S92"/>
                  <a:ea typeface="Arial" panose="020B0604020202020204" pitchFamily="34" charset="0"/>
                  <a:cs typeface="Times New Roman" panose="02020603050405020304" pitchFamily="18" charset="0"/>
                </a:rPr>
                <a:t> </a:t>
              </a:r>
              <a:r>
                <a:rPr lang="zh-CN" altLang="zh-CN" sz="2800" dirty="0">
                  <a:solidFill>
                    <a:srgbClr val="000000"/>
                  </a:solidFill>
                  <a:latin typeface="Times New Roman" panose="02020603050405020304" pitchFamily="18" charset="0"/>
                  <a:cs typeface="Times New Roman" panose="02020603050405020304" pitchFamily="18" charset="0"/>
                </a:rPr>
                <a:t>已知数列</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的前</a:t>
              </a:r>
              <a:r>
                <a:rPr lang="en-US" altLang="zh-CN" sz="2800" i="1" dirty="0">
                  <a:solidFill>
                    <a:srgbClr val="000000"/>
                  </a:solidFill>
                  <a:latin typeface="Times New Roman" panose="02020603050405020304" pitchFamily="18" charset="0"/>
                  <a:cs typeface="Times New Roman" panose="02020603050405020304" pitchFamily="18" charset="0"/>
                </a:rPr>
                <a:t>n</a:t>
              </a:r>
              <a:r>
                <a:rPr lang="zh-CN" altLang="zh-CN" sz="2800" dirty="0">
                  <a:solidFill>
                    <a:srgbClr val="000000"/>
                  </a:solidFill>
                  <a:latin typeface="Times New Roman" panose="02020603050405020304" pitchFamily="18" charset="0"/>
                  <a:cs typeface="Times New Roman" panose="02020603050405020304" pitchFamily="18" charset="0"/>
                </a:rPr>
                <a:t>项和为</a:t>
              </a:r>
              <a:r>
                <a:rPr lang="en-US" altLang="zh-CN" sz="2800" i="1" dirty="0" err="1">
                  <a:solidFill>
                    <a:srgbClr val="000000"/>
                  </a:solidFill>
                  <a:latin typeface="Times New Roman" panose="02020603050405020304" pitchFamily="18" charset="0"/>
                  <a:cs typeface="Times New Roman" panose="02020603050405020304" pitchFamily="18" charset="0"/>
                </a:rPr>
                <a:t>S</a:t>
              </a:r>
              <a:r>
                <a:rPr lang="en-US" altLang="zh-CN" sz="2800" i="1" baseline="-25000" dirty="0" err="1">
                  <a:solidFill>
                    <a:srgbClr val="000000"/>
                  </a:solidFill>
                  <a:latin typeface="Times New Roman" panose="02020603050405020304" pitchFamily="18" charset="0"/>
                  <a:cs typeface="Times New Roman" panose="02020603050405020304" pitchFamily="18" charset="0"/>
                </a:rPr>
                <a:t>n</a:t>
              </a:r>
              <a:r>
                <a:rPr lang="en-US" altLang="zh-CN" sz="2800" i="1" dirty="0">
                  <a:solidFill>
                    <a:srgbClr val="000000"/>
                  </a:solidFill>
                  <a:latin typeface="Times New Roman" panose="02020603050405020304" pitchFamily="18" charset="0"/>
                  <a:cs typeface="Times New Roman" panose="02020603050405020304" pitchFamily="18" charset="0"/>
                </a:rPr>
                <a:t>=n</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求数列</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的通项公式</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908924128"/>
                </p:ext>
              </p:extLst>
            </p:nvPr>
          </p:nvGraphicFramePr>
          <p:xfrm>
            <a:off x="51486" y="1106199"/>
            <a:ext cx="11430000" cy="1003297"/>
          </p:xfrm>
          <a:graphic>
            <a:graphicData uri="http://schemas.openxmlformats.org/presentationml/2006/ole">
              <mc:AlternateContent xmlns:mc="http://schemas.openxmlformats.org/markup-compatibility/2006">
                <mc:Choice xmlns:v="urn:schemas-microsoft-com:vml" Requires="v">
                  <p:oleObj spid="_x0000_s8218" name="文档" r:id="rId3" imgW="4520786" imgH="396823" progId="Word.Document.12">
                    <p:embed/>
                  </p:oleObj>
                </mc:Choice>
                <mc:Fallback>
                  <p:oleObj name="文档" r:id="rId3" imgW="4520786" imgH="396823" progId="Word.Document.12">
                    <p:embed/>
                    <p:pic>
                      <p:nvPicPr>
                        <p:cNvPr id="0" name=""/>
                        <p:cNvPicPr/>
                        <p:nvPr/>
                      </p:nvPicPr>
                      <p:blipFill>
                        <a:blip r:embed="rId4"/>
                        <a:stretch>
                          <a:fillRect/>
                        </a:stretch>
                      </p:blipFill>
                      <p:spPr>
                        <a:xfrm>
                          <a:off x="51486" y="1106199"/>
                          <a:ext cx="11430000" cy="1003297"/>
                        </a:xfrm>
                        <a:prstGeom prst="rect">
                          <a:avLst/>
                        </a:prstGeom>
                      </p:spPr>
                    </p:pic>
                  </p:oleObj>
                </mc:Fallback>
              </mc:AlternateContent>
            </a:graphicData>
          </a:graphic>
        </p:graphicFrame>
      </p:grpSp>
      <p:grpSp>
        <p:nvGrpSpPr>
          <p:cNvPr id="6" name="组合 5"/>
          <p:cNvGrpSpPr/>
          <p:nvPr/>
        </p:nvGrpSpPr>
        <p:grpSpPr>
          <a:xfrm>
            <a:off x="51486" y="1922999"/>
            <a:ext cx="11759514" cy="4752964"/>
            <a:chOff x="51486" y="1922999"/>
            <a:chExt cx="11759514" cy="4752964"/>
          </a:xfrm>
        </p:grpSpPr>
        <p:sp>
          <p:nvSpPr>
            <p:cNvPr id="4" name="矩形 3"/>
            <p:cNvSpPr>
              <a:spLocks noChangeAspect="1"/>
            </p:cNvSpPr>
            <p:nvPr/>
          </p:nvSpPr>
          <p:spPr>
            <a:xfrm>
              <a:off x="381000" y="1922999"/>
              <a:ext cx="11430000" cy="2832827"/>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解</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当</a:t>
              </a:r>
              <a:r>
                <a:rPr lang="en-US" altLang="zh-CN" sz="2800" i="1"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时</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S</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当</a:t>
              </a:r>
              <a:r>
                <a:rPr lang="en-US" altLang="zh-CN" sz="2800" i="1"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宋体" panose="02010600030101010101" pitchFamily="2" charset="-122"/>
                  <a:ea typeface="方正书宋_GBK"/>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时</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i="1" dirty="0">
                  <a:solidFill>
                    <a:srgbClr val="000000"/>
                  </a:solidFill>
                  <a:latin typeface="Times New Roman" panose="02020603050405020304" pitchFamily="18" charset="0"/>
                  <a:cs typeface="Times New Roman" panose="02020603050405020304" pitchFamily="18" charset="0"/>
                </a:rPr>
                <a:t>=S</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i="1" dirty="0">
                  <a:solidFill>
                    <a:srgbClr val="000000"/>
                  </a:solidFill>
                  <a:latin typeface="Times New Roman" panose="02020603050405020304" pitchFamily="18" charset="0"/>
                  <a:cs typeface="Times New Roman" panose="02020603050405020304" pitchFamily="18" charset="0"/>
                </a:rPr>
                <a:t>-S</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=n</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1,</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此时</a:t>
              </a:r>
              <a:r>
                <a:rPr lang="en-US" altLang="zh-CN" sz="2800" i="1"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也满足上式</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故</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NEU-BZ-S92"/>
                  <a:cs typeface="宋体" panose="02010600030101010101" pitchFamily="2" charset="-122"/>
                </a:rPr>
                <a:t>∵</a:t>
              </a:r>
              <a:r>
                <a:rPr lang="en-US" altLang="zh-CN" sz="2800" i="1" dirty="0" err="1">
                  <a:solidFill>
                    <a:srgbClr val="000000"/>
                  </a:solidFill>
                  <a:latin typeface="Times New Roman" panose="02020603050405020304" pitchFamily="18" charset="0"/>
                  <a:cs typeface="Times New Roman" panose="02020603050405020304" pitchFamily="18" charset="0"/>
                </a:rPr>
                <a:t>b</a:t>
              </a:r>
              <a:r>
                <a:rPr lang="en-US" altLang="zh-CN" sz="2800" i="1" baseline="-25000" dirty="0" err="1">
                  <a:solidFill>
                    <a:srgbClr val="000000"/>
                  </a:solidFill>
                  <a:latin typeface="Times New Roman" panose="02020603050405020304" pitchFamily="18" charset="0"/>
                  <a:cs typeface="Times New Roman" panose="02020603050405020304" pitchFamily="18" charset="0"/>
                </a:rPr>
                <a:t>n</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a:t>
              </a:r>
              <a:r>
                <a:rPr lang="en-US" altLang="zh-CN" sz="2800" i="1" dirty="0" err="1">
                  <a:solidFill>
                    <a:srgbClr val="000000"/>
                  </a:solidFill>
                  <a:latin typeface="Times New Roman" panose="02020603050405020304" pitchFamily="18" charset="0"/>
                  <a:cs typeface="Times New Roman" panose="02020603050405020304" pitchFamily="18" charset="0"/>
                </a:rPr>
                <a:t>b</a:t>
              </a:r>
              <a:r>
                <a:rPr lang="en-US" altLang="zh-CN" sz="2800" i="1" baseline="-25000" dirty="0" err="1">
                  <a:solidFill>
                    <a:srgbClr val="000000"/>
                  </a:solidFill>
                  <a:latin typeface="Times New Roman" panose="02020603050405020304" pitchFamily="18" charset="0"/>
                  <a:cs typeface="Times New Roman" panose="02020603050405020304" pitchFamily="18" charset="0"/>
                </a:rPr>
                <a:t>n</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1)(2</a:t>
              </a:r>
              <a:r>
                <a:rPr lang="en-US" altLang="zh-CN" sz="2800" i="1"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1),</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2874512839"/>
                </p:ext>
              </p:extLst>
            </p:nvPr>
          </p:nvGraphicFramePr>
          <p:xfrm>
            <a:off x="51486" y="4670283"/>
            <a:ext cx="11430000" cy="2005680"/>
          </p:xfrm>
          <a:graphic>
            <a:graphicData uri="http://schemas.openxmlformats.org/presentationml/2006/ole">
              <mc:AlternateContent xmlns:mc="http://schemas.openxmlformats.org/markup-compatibility/2006">
                <mc:Choice xmlns:v="urn:schemas-microsoft-com:vml" Requires="v">
                  <p:oleObj spid="_x0000_s8219" name="文档" r:id="rId5" imgW="4510061" imgH="794654" progId="Word.Document.12">
                    <p:embed/>
                  </p:oleObj>
                </mc:Choice>
                <mc:Fallback>
                  <p:oleObj name="文档" r:id="rId5" imgW="4510061" imgH="794654" progId="Word.Document.12">
                    <p:embed/>
                    <p:pic>
                      <p:nvPicPr>
                        <p:cNvPr id="0" name=""/>
                        <p:cNvPicPr/>
                        <p:nvPr/>
                      </p:nvPicPr>
                      <p:blipFill>
                        <a:blip r:embed="rId6"/>
                        <a:stretch>
                          <a:fillRect/>
                        </a:stretch>
                      </p:blipFill>
                      <p:spPr>
                        <a:xfrm>
                          <a:off x="51486" y="4670283"/>
                          <a:ext cx="11430000" cy="2005680"/>
                        </a:xfrm>
                        <a:prstGeom prst="rect">
                          <a:avLst/>
                        </a:prstGeom>
                      </p:spPr>
                    </p:pic>
                  </p:oleObj>
                </mc:Fallback>
              </mc:AlternateContent>
            </a:graphicData>
          </a:graphic>
        </p:graphicFrame>
      </p:grpSp>
    </p:spTree>
    <p:extLst>
      <p:ext uri="{BB962C8B-B14F-4D97-AF65-F5344CB8AC3E}">
        <p14:creationId xmlns:p14="http://schemas.microsoft.com/office/powerpoint/2010/main" val="43930006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2" y="151371"/>
            <a:ext cx="11336478" cy="433754"/>
            <a:chOff x="381000" y="205656"/>
            <a:chExt cx="11336478" cy="433754"/>
          </a:xfrm>
        </p:grpSpPr>
        <p:sp>
          <p:nvSpPr>
            <p:cNvPr id="10" name="矩形 9"/>
            <p:cNvSpPr/>
            <p:nvPr/>
          </p:nvSpPr>
          <p:spPr>
            <a:xfrm>
              <a:off x="1999940" y="230648"/>
              <a:ext cx="192275" cy="401795"/>
            </a:xfrm>
            <a:prstGeom prst="rect">
              <a:avLst/>
            </a:prstGeom>
            <a:noFill/>
            <a:ln w="19050">
              <a:solidFill>
                <a:schemeClr val="accent4">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grpSp>
          <p:nvGrpSpPr>
            <p:cNvPr id="11" name="组合 10"/>
            <p:cNvGrpSpPr/>
            <p:nvPr/>
          </p:nvGrpSpPr>
          <p:grpSpPr>
            <a:xfrm>
              <a:off x="381000" y="205656"/>
              <a:ext cx="11336478" cy="433754"/>
              <a:chOff x="3048000" y="2286000"/>
              <a:chExt cx="4813646" cy="457200"/>
            </a:xfrm>
          </p:grpSpPr>
          <p:sp>
            <p:nvSpPr>
              <p:cNvPr id="12" name="矩形 11"/>
              <p:cNvSpPr/>
              <p:nvPr/>
            </p:nvSpPr>
            <p:spPr>
              <a:xfrm>
                <a:off x="3048000" y="2286000"/>
                <a:ext cx="769070" cy="457200"/>
              </a:xfrm>
              <a:prstGeom prst="rect">
                <a:avLst/>
              </a:prstGeom>
              <a:solidFill>
                <a:srgbClr val="748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solidFill>
                      <a:schemeClr val="bg1"/>
                    </a:solidFill>
                  </a:rPr>
                  <a:t>探究二</a:t>
                </a:r>
              </a:p>
            </p:txBody>
          </p:sp>
          <p:sp>
            <p:nvSpPr>
              <p:cNvPr id="13" name="矩形 12"/>
              <p:cNvSpPr/>
              <p:nvPr/>
            </p:nvSpPr>
            <p:spPr>
              <a:xfrm>
                <a:off x="3909004" y="2286000"/>
                <a:ext cx="3952642" cy="457200"/>
              </a:xfrm>
              <a:prstGeom prst="rect">
                <a:avLst/>
              </a:prstGeom>
              <a:gradFill flip="none" rotWithShape="1">
                <a:gsLst>
                  <a:gs pos="0">
                    <a:srgbClr val="DCDCDC">
                      <a:shade val="30000"/>
                      <a:satMod val="115000"/>
                    </a:srgbClr>
                  </a:gs>
                  <a:gs pos="51000">
                    <a:srgbClr val="DCDCDC">
                      <a:shade val="67500"/>
                      <a:satMod val="115000"/>
                    </a:srgbClr>
                  </a:gs>
                  <a:gs pos="73000">
                    <a:srgbClr val="DCDCDC">
                      <a:shade val="100000"/>
                      <a:satMod val="115000"/>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dirty="0">
                    <a:solidFill>
                      <a:schemeClr val="bg1"/>
                    </a:solidFill>
                  </a:rPr>
                  <a:t>分组求和法</a:t>
                </a:r>
              </a:p>
            </p:txBody>
          </p:sp>
        </p:grpSp>
      </p:grpSp>
      <p:sp>
        <p:nvSpPr>
          <p:cNvPr id="2" name="矩形 1"/>
          <p:cNvSpPr>
            <a:spLocks noChangeAspect="1"/>
          </p:cNvSpPr>
          <p:nvPr/>
        </p:nvSpPr>
        <p:spPr>
          <a:xfrm>
            <a:off x="381000" y="629585"/>
            <a:ext cx="11430000" cy="2332946"/>
          </a:xfrm>
          <a:prstGeom prst="rect">
            <a:avLst/>
          </a:prstGeom>
        </p:spPr>
        <p:txBody>
          <a:bodyPr>
            <a:spAutoFit/>
          </a:bodyPr>
          <a:lstStyle/>
          <a:p>
            <a:pPr indent="279400">
              <a:lnSpc>
                <a:spcPct val="130000"/>
              </a:lnSpc>
              <a:spcAft>
                <a:spcPts val="0"/>
              </a:spcAft>
              <a:tabLst>
                <a:tab pos="1029335" algn="l"/>
                <a:tab pos="1850390" algn="l"/>
                <a:tab pos="2538095" algn="l"/>
                <a:tab pos="3221990"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【例</a:t>
            </a:r>
            <a:r>
              <a:rPr lang="en-US" altLang="zh-CN" sz="2800" b="1"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NEU-BZ-S92"/>
                <a:ea typeface="Arial" panose="020B0604020202020204" pitchFamily="34" charset="0"/>
                <a:cs typeface="Times New Roman" panose="02020603050405020304" pitchFamily="18" charset="0"/>
              </a:rPr>
              <a:t> </a:t>
            </a:r>
            <a:r>
              <a:rPr lang="zh-CN" altLang="zh-CN" sz="2800" dirty="0">
                <a:solidFill>
                  <a:srgbClr val="000000"/>
                </a:solidFill>
                <a:latin typeface="Times New Roman" panose="02020603050405020304" pitchFamily="18" charset="0"/>
                <a:cs typeface="Times New Roman" panose="02020603050405020304" pitchFamily="18" charset="0"/>
              </a:rPr>
              <a:t>已知数列</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构成首项为</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公比</a:t>
            </a:r>
            <a:r>
              <a:rPr lang="zh-CN" altLang="zh-CN" sz="2800" dirty="0" smtClean="0">
                <a:solidFill>
                  <a:srgbClr val="000000"/>
                </a:solidFill>
                <a:latin typeface="Times New Roman" panose="02020603050405020304" pitchFamily="18" charset="0"/>
                <a:cs typeface="Times New Roman" panose="02020603050405020304" pitchFamily="18" charset="0"/>
              </a:rPr>
              <a:t>为</a:t>
            </a:r>
            <a:r>
              <a:rPr lang="en-US" altLang="zh-CN" sz="2800" dirty="0" smtClean="0">
                <a:solidFill>
                  <a:srgbClr val="000000"/>
                </a:solidFill>
                <a:latin typeface="Times New Roman" panose="02020603050405020304" pitchFamily="18" charset="0"/>
                <a:cs typeface="Times New Roman" panose="02020603050405020304" pitchFamily="18" charset="0"/>
              </a:rPr>
              <a:t>   </a:t>
            </a:r>
            <a:r>
              <a:rPr lang="zh-CN" altLang="zh-CN" sz="2800" dirty="0" smtClean="0">
                <a:solidFill>
                  <a:srgbClr val="000000"/>
                </a:solidFill>
                <a:latin typeface="Times New Roman" panose="02020603050405020304" pitchFamily="18" charset="0"/>
                <a:cs typeface="Times New Roman" panose="02020603050405020304" pitchFamily="18" charset="0"/>
              </a:rPr>
              <a:t>的</a:t>
            </a:r>
            <a:r>
              <a:rPr lang="zh-CN" altLang="zh-CN" sz="2800" dirty="0">
                <a:solidFill>
                  <a:srgbClr val="000000"/>
                </a:solidFill>
                <a:latin typeface="Times New Roman" panose="02020603050405020304" pitchFamily="18" charset="0"/>
                <a:cs typeface="Times New Roman" panose="02020603050405020304" pitchFamily="18" charset="0"/>
              </a:rPr>
              <a:t>等比数列</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029335" algn="l"/>
                <a:tab pos="1850390" algn="l"/>
                <a:tab pos="2538095" algn="l"/>
                <a:tab pos="3221990" algn="l"/>
              </a:tabLst>
            </a:pP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求数列</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的通项公式</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029335" algn="l"/>
                <a:tab pos="1850390" algn="l"/>
                <a:tab pos="2538095" algn="l"/>
                <a:tab pos="3221990"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求数列</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的前</a:t>
            </a:r>
            <a:r>
              <a:rPr lang="en-US" altLang="zh-CN" sz="2800" i="1" dirty="0">
                <a:solidFill>
                  <a:srgbClr val="000000"/>
                </a:solidFill>
                <a:latin typeface="Times New Roman" panose="02020603050405020304" pitchFamily="18" charset="0"/>
                <a:cs typeface="Times New Roman" panose="02020603050405020304" pitchFamily="18" charset="0"/>
              </a:rPr>
              <a:t>n</a:t>
            </a:r>
            <a:r>
              <a:rPr lang="zh-CN" altLang="zh-CN" sz="2800" dirty="0">
                <a:solidFill>
                  <a:srgbClr val="000000"/>
                </a:solidFill>
                <a:latin typeface="Times New Roman" panose="02020603050405020304" pitchFamily="18" charset="0"/>
                <a:cs typeface="Times New Roman" panose="02020603050405020304" pitchFamily="18" charset="0"/>
              </a:rPr>
              <a:t>项和</a:t>
            </a:r>
            <a:r>
              <a:rPr lang="en-US" altLang="zh-CN" sz="2800" i="1" dirty="0" err="1">
                <a:solidFill>
                  <a:srgbClr val="000000"/>
                </a:solidFill>
                <a:latin typeface="Times New Roman" panose="02020603050405020304" pitchFamily="18" charset="0"/>
                <a:cs typeface="Times New Roman" panose="02020603050405020304" pitchFamily="18" charset="0"/>
              </a:rPr>
              <a:t>S</a:t>
            </a:r>
            <a:r>
              <a:rPr lang="en-US" altLang="zh-CN" sz="2800" i="1" baseline="-25000" dirty="0" err="1">
                <a:solidFill>
                  <a:srgbClr val="000000"/>
                </a:solidFill>
                <a:latin typeface="Times New Roman" panose="02020603050405020304" pitchFamily="18" charset="0"/>
                <a:cs typeface="Times New Roman" panose="02020603050405020304" pitchFamily="18" charset="0"/>
              </a:rPr>
              <a:t>n</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p:txBody>
      </p:sp>
      <p:graphicFrame>
        <p:nvGraphicFramePr>
          <p:cNvPr id="8" name="对象 7"/>
          <p:cNvGraphicFramePr>
            <a:graphicFrameLocks noChangeAspect="1"/>
          </p:cNvGraphicFramePr>
          <p:nvPr>
            <p:extLst>
              <p:ext uri="{D42A27DB-BD31-4B8C-83A1-F6EECF244321}">
                <p14:modId xmlns:p14="http://schemas.microsoft.com/office/powerpoint/2010/main" val="2530548630"/>
              </p:ext>
            </p:extLst>
          </p:nvPr>
        </p:nvGraphicFramePr>
        <p:xfrm>
          <a:off x="10798911" y="571977"/>
          <a:ext cx="527178" cy="753795"/>
        </p:xfrm>
        <a:graphic>
          <a:graphicData uri="http://schemas.openxmlformats.org/presentationml/2006/ole">
            <mc:AlternateContent xmlns:mc="http://schemas.openxmlformats.org/markup-compatibility/2006">
              <mc:Choice xmlns:v="urn:schemas-microsoft-com:vml" Requires="v">
                <p:oleObj spid="_x0000_s9244" name="文档" r:id="rId3" imgW="285035" imgH="397130" progId="Word.Document.12">
                  <p:embed/>
                </p:oleObj>
              </mc:Choice>
              <mc:Fallback>
                <p:oleObj name="文档" r:id="rId3" imgW="285035" imgH="397130" progId="Word.Document.12">
                  <p:embed/>
                  <p:pic>
                    <p:nvPicPr>
                      <p:cNvPr id="0" name=""/>
                      <p:cNvPicPr/>
                      <p:nvPr/>
                    </p:nvPicPr>
                    <p:blipFill>
                      <a:blip r:embed="rId4"/>
                      <a:stretch>
                        <a:fillRect/>
                      </a:stretch>
                    </p:blipFill>
                    <p:spPr>
                      <a:xfrm>
                        <a:off x="10798911" y="571977"/>
                        <a:ext cx="527178" cy="753795"/>
                      </a:xfrm>
                      <a:prstGeom prst="rect">
                        <a:avLst/>
                      </a:prstGeom>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3881915154"/>
              </p:ext>
            </p:extLst>
          </p:nvPr>
        </p:nvGraphicFramePr>
        <p:xfrm>
          <a:off x="41190" y="2913733"/>
          <a:ext cx="11430000" cy="3610408"/>
        </p:xfrm>
        <a:graphic>
          <a:graphicData uri="http://schemas.openxmlformats.org/presentationml/2006/ole">
            <mc:AlternateContent xmlns:mc="http://schemas.openxmlformats.org/markup-compatibility/2006">
              <mc:Choice xmlns:v="urn:schemas-microsoft-com:vml" Requires="v">
                <p:oleObj spid="_x0000_s9245" name="文档" r:id="rId5" imgW="4520786" imgH="1427986" progId="Word.Document.12">
                  <p:embed/>
                </p:oleObj>
              </mc:Choice>
              <mc:Fallback>
                <p:oleObj name="文档" r:id="rId5" imgW="4520786" imgH="1427986" progId="Word.Document.12">
                  <p:embed/>
                  <p:pic>
                    <p:nvPicPr>
                      <p:cNvPr id="0" name=""/>
                      <p:cNvPicPr/>
                      <p:nvPr/>
                    </p:nvPicPr>
                    <p:blipFill>
                      <a:blip r:embed="rId6"/>
                      <a:stretch>
                        <a:fillRect/>
                      </a:stretch>
                    </p:blipFill>
                    <p:spPr>
                      <a:xfrm>
                        <a:off x="41190" y="2913733"/>
                        <a:ext cx="11430000" cy="3610408"/>
                      </a:xfrm>
                      <a:prstGeom prst="rect">
                        <a:avLst/>
                      </a:prstGeom>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246765"/>
            <a:ext cx="11430000" cy="1167435"/>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en-US" sz="28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反思感悟 </a:t>
            </a:r>
            <a:r>
              <a:rPr lang="zh-CN" altLang="zh-CN" sz="2800" dirty="0" smtClean="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具有</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以下特点的数列</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常用分组求和法求和</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数列</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满足</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cs typeface="Times New Roman" panose="02020603050405020304" pitchFamily="18" charset="0"/>
              </a:rPr>
              <a:t>b</a:t>
            </a:r>
            <a:r>
              <a:rPr lang="en-US" altLang="zh-CN" sz="2800" i="1" baseline="-25000" dirty="0" err="1">
                <a:solidFill>
                  <a:srgbClr val="000000"/>
                </a:solidFill>
                <a:latin typeface="Times New Roman" panose="02020603050405020304" pitchFamily="18" charset="0"/>
                <a:cs typeface="Times New Roman" panose="02020603050405020304" pitchFamily="18" charset="0"/>
              </a:rPr>
              <a:t>n</a:t>
            </a:r>
            <a:r>
              <a:rPr lang="en-US" altLang="zh-CN" sz="2800" dirty="0" err="1">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sz="2800" i="1" dirty="0" err="1">
                <a:solidFill>
                  <a:srgbClr val="000000"/>
                </a:solidFill>
                <a:latin typeface="Times New Roman" panose="02020603050405020304" pitchFamily="18" charset="0"/>
                <a:cs typeface="Times New Roman" panose="02020603050405020304" pitchFamily="18" charset="0"/>
              </a:rPr>
              <a:t>c</a:t>
            </a:r>
            <a:r>
              <a:rPr lang="en-US" altLang="zh-CN" sz="2800" i="1" baseline="-25000" dirty="0" err="1">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其中</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cs typeface="Times New Roman" panose="02020603050405020304" pitchFamily="18" charset="0"/>
              </a:rPr>
              <a:t>b</a:t>
            </a:r>
            <a:r>
              <a:rPr lang="en-US" altLang="zh-CN" sz="2800" i="1" baseline="-25000" dirty="0" err="1">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cs typeface="Times New Roman" panose="02020603050405020304" pitchFamily="18" charset="0"/>
              </a:rPr>
              <a:t>c</a:t>
            </a:r>
            <a:r>
              <a:rPr lang="en-US" altLang="zh-CN" sz="2800" i="1" baseline="-25000" dirty="0" err="1">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为等差数列或等比数列</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4045720744"/>
              </p:ext>
            </p:extLst>
          </p:nvPr>
        </p:nvGraphicFramePr>
        <p:xfrm>
          <a:off x="51955" y="2385347"/>
          <a:ext cx="11275153" cy="1487498"/>
        </p:xfrm>
        <a:graphic>
          <a:graphicData uri="http://schemas.openxmlformats.org/presentationml/2006/ole">
            <mc:AlternateContent xmlns:mc="http://schemas.openxmlformats.org/markup-compatibility/2006">
              <mc:Choice xmlns:v="urn:schemas-microsoft-com:vml" Requires="v">
                <p:oleObj spid="_x0000_s25605" name="文档" r:id="rId3" imgW="4510061" imgH="594999" progId="Word.Document.12">
                  <p:embed/>
                </p:oleObj>
              </mc:Choice>
              <mc:Fallback>
                <p:oleObj name="文档" r:id="rId3" imgW="4510061" imgH="594999" progId="Word.Document.12">
                  <p:embed/>
                  <p:pic>
                    <p:nvPicPr>
                      <p:cNvPr id="0" name=""/>
                      <p:cNvPicPr/>
                      <p:nvPr/>
                    </p:nvPicPr>
                    <p:blipFill>
                      <a:blip r:embed="rId4"/>
                      <a:stretch>
                        <a:fillRect/>
                      </a:stretch>
                    </p:blipFill>
                    <p:spPr>
                      <a:xfrm>
                        <a:off x="51955" y="2385347"/>
                        <a:ext cx="11275153" cy="1487498"/>
                      </a:xfrm>
                      <a:prstGeom prst="rect">
                        <a:avLst/>
                      </a:prstGeom>
                    </p:spPr>
                  </p:pic>
                </p:oleObj>
              </mc:Fallback>
            </mc:AlternateContent>
          </a:graphicData>
        </a:graphic>
      </p:graphicFrame>
    </p:spTree>
    <p:extLst>
      <p:ext uri="{BB962C8B-B14F-4D97-AF65-F5344CB8AC3E}">
        <p14:creationId xmlns:p14="http://schemas.microsoft.com/office/powerpoint/2010/main" val="152731349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264117"/>
            <a:ext cx="11430000" cy="592213"/>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cs typeface="Times New Roman" panose="02020603050405020304" pitchFamily="18" charset="0"/>
              </a:rPr>
              <a:t>若将数列改为</a:t>
            </a:r>
            <a:r>
              <a:rPr lang="en-US" altLang="zh-CN" sz="2800" dirty="0">
                <a:solidFill>
                  <a:srgbClr val="000000"/>
                </a:solidFill>
                <a:latin typeface="Times New Roman" panose="02020603050405020304" pitchFamily="18" charset="0"/>
                <a:cs typeface="Times New Roman" panose="02020603050405020304" pitchFamily="18" charset="0"/>
              </a:rPr>
              <a:t>“1,1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宋体" panose="02010600030101010101" pitchFamily="2" charset="-122"/>
                <a:ea typeface="方正书宋_GBK"/>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宋体" panose="02010600030101010101" pitchFamily="2" charset="-122"/>
                <a:ea typeface="方正书宋_GBK"/>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baseline="30000" dirty="0">
                <a:solidFill>
                  <a:srgbClr val="000000"/>
                </a:solidFill>
                <a:latin typeface="Times New Roman" panose="02020603050405020304" pitchFamily="18" charset="0"/>
                <a:cs typeface="Times New Roman" panose="02020603050405020304" pitchFamily="18" charset="0"/>
              </a:rPr>
              <a:t>n-</a:t>
            </a:r>
            <a:r>
              <a:rPr lang="en-US" altLang="zh-CN" sz="2800" baseline="30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宋体" panose="02010600030101010101" pitchFamily="2" charset="-122"/>
                <a:ea typeface="方正书宋_GBK"/>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如何求其前</a:t>
            </a:r>
            <a:r>
              <a:rPr lang="en-US" altLang="zh-CN" sz="2800" i="1" dirty="0">
                <a:solidFill>
                  <a:srgbClr val="000000"/>
                </a:solidFill>
                <a:latin typeface="Times New Roman" panose="02020603050405020304" pitchFamily="18" charset="0"/>
                <a:cs typeface="Times New Roman" panose="02020603050405020304" pitchFamily="18" charset="0"/>
              </a:rPr>
              <a:t>n</a:t>
            </a:r>
            <a:r>
              <a:rPr lang="zh-CN" altLang="zh-CN" sz="2800" dirty="0">
                <a:solidFill>
                  <a:srgbClr val="000000"/>
                </a:solidFill>
                <a:latin typeface="Times New Roman" panose="02020603050405020304" pitchFamily="18" charset="0"/>
                <a:cs typeface="Times New Roman" panose="02020603050405020304" pitchFamily="18" charset="0"/>
              </a:rPr>
              <a:t>项和</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pic>
        <p:nvPicPr>
          <p:cNvPr id="3" name="延伸探究H.eps" descr="id:2147494559;FounderCES"/>
          <p:cNvPicPr/>
          <p:nvPr/>
        </p:nvPicPr>
        <p:blipFill>
          <a:blip r:embed="rId3">
            <a:clrChange>
              <a:clrFrom>
                <a:srgbClr val="FFFFFF"/>
              </a:clrFrom>
              <a:clrTo>
                <a:srgbClr val="FFFFFF">
                  <a:alpha val="0"/>
                </a:srgbClr>
              </a:clrTo>
            </a:clrChange>
          </a:blip>
          <a:stretch>
            <a:fillRect/>
          </a:stretch>
        </p:blipFill>
        <p:spPr>
          <a:xfrm>
            <a:off x="4757688" y="888173"/>
            <a:ext cx="2016224" cy="367706"/>
          </a:xfrm>
          <a:prstGeom prst="rect">
            <a:avLst/>
          </a:prstGeom>
        </p:spPr>
      </p:pic>
      <p:graphicFrame>
        <p:nvGraphicFramePr>
          <p:cNvPr id="4" name="对象 3"/>
          <p:cNvGraphicFramePr>
            <a:graphicFrameLocks noChangeAspect="1"/>
          </p:cNvGraphicFramePr>
          <p:nvPr>
            <p:extLst>
              <p:ext uri="{D42A27DB-BD31-4B8C-83A1-F6EECF244321}">
                <p14:modId xmlns:p14="http://schemas.microsoft.com/office/powerpoint/2010/main" val="2006634328"/>
              </p:ext>
            </p:extLst>
          </p:nvPr>
        </p:nvGraphicFramePr>
        <p:xfrm>
          <a:off x="34324" y="1814766"/>
          <a:ext cx="11430000" cy="2608022"/>
        </p:xfrm>
        <a:graphic>
          <a:graphicData uri="http://schemas.openxmlformats.org/presentationml/2006/ole">
            <mc:AlternateContent xmlns:mc="http://schemas.openxmlformats.org/markup-compatibility/2006">
              <mc:Choice xmlns:v="urn:schemas-microsoft-com:vml" Requires="v">
                <p:oleObj spid="_x0000_s10254" name="文档" r:id="rId4" imgW="4510061" imgH="1032870" progId="Word.Document.12">
                  <p:embed/>
                </p:oleObj>
              </mc:Choice>
              <mc:Fallback>
                <p:oleObj name="文档" r:id="rId4" imgW="4510061" imgH="1032870" progId="Word.Document.12">
                  <p:embed/>
                  <p:pic>
                    <p:nvPicPr>
                      <p:cNvPr id="0" name=""/>
                      <p:cNvPicPr/>
                      <p:nvPr/>
                    </p:nvPicPr>
                    <p:blipFill>
                      <a:blip r:embed="rId5"/>
                      <a:stretch>
                        <a:fillRect/>
                      </a:stretch>
                    </p:blipFill>
                    <p:spPr>
                      <a:xfrm>
                        <a:off x="34324" y="1814766"/>
                        <a:ext cx="11430000" cy="2608022"/>
                      </a:xfrm>
                      <a:prstGeom prst="rect">
                        <a:avLst/>
                      </a:prstGeom>
                    </p:spPr>
                  </p:pic>
                </p:oleObj>
              </mc:Fallback>
            </mc:AlternateContent>
          </a:graphicData>
        </a:graphic>
      </p:graphicFrame>
    </p:spTree>
    <p:extLst>
      <p:ext uri="{BB962C8B-B14F-4D97-AF65-F5344CB8AC3E}">
        <p14:creationId xmlns:p14="http://schemas.microsoft.com/office/powerpoint/2010/main" val="41452406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246441"/>
            <a:ext cx="11430000" cy="5073440"/>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【变式训练</a:t>
            </a:r>
            <a:r>
              <a:rPr lang="en-US" altLang="zh-CN" sz="2800" b="1"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NEU-BZ-S92"/>
                <a:ea typeface="Arial" panose="020B0604020202020204" pitchFamily="34" charset="0"/>
                <a:cs typeface="Times New Roman" panose="02020603050405020304" pitchFamily="18" charset="0"/>
              </a:rPr>
              <a:t> </a:t>
            </a:r>
            <a:r>
              <a:rPr lang="zh-CN" altLang="zh-CN" sz="2800" dirty="0">
                <a:solidFill>
                  <a:srgbClr val="000000"/>
                </a:solidFill>
                <a:latin typeface="Times New Roman" panose="02020603050405020304" pitchFamily="18" charset="0"/>
                <a:cs typeface="Times New Roman" panose="02020603050405020304" pitchFamily="18" charset="0"/>
              </a:rPr>
              <a:t>已知数列</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是公比为</a:t>
            </a: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的等比数列</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且</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4</a:t>
            </a:r>
            <a:r>
              <a:rPr lang="zh-CN" altLang="zh-CN" sz="2800" dirty="0">
                <a:solidFill>
                  <a:srgbClr val="000000"/>
                </a:solidFill>
                <a:latin typeface="Times New Roman" panose="02020603050405020304" pitchFamily="18" charset="0"/>
                <a:cs typeface="Times New Roman" panose="02020603050405020304" pitchFamily="18" charset="0"/>
              </a:rPr>
              <a:t>成等差数列</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求数列</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的通项公式</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记</a:t>
            </a:r>
            <a:r>
              <a:rPr lang="en-US" altLang="zh-CN" sz="2800" i="1" dirty="0" err="1">
                <a:solidFill>
                  <a:srgbClr val="000000"/>
                </a:solidFill>
                <a:latin typeface="Times New Roman" panose="02020603050405020304" pitchFamily="18" charset="0"/>
                <a:cs typeface="Times New Roman" panose="02020603050405020304" pitchFamily="18" charset="0"/>
              </a:rPr>
              <a:t>b</a:t>
            </a:r>
            <a:r>
              <a:rPr lang="en-US" altLang="zh-CN" sz="2800" i="1" baseline="-25000" dirty="0" err="1">
                <a:solidFill>
                  <a:srgbClr val="000000"/>
                </a:solidFill>
                <a:latin typeface="Times New Roman" panose="02020603050405020304" pitchFamily="18" charset="0"/>
                <a:cs typeface="Times New Roman" panose="02020603050405020304" pitchFamily="18" charset="0"/>
              </a:rPr>
              <a:t>n</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log</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求数列</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cs typeface="Times New Roman" panose="02020603050405020304" pitchFamily="18" charset="0"/>
              </a:rPr>
              <a:t>b</a:t>
            </a:r>
            <a:r>
              <a:rPr lang="en-US" altLang="zh-CN" sz="2800" i="1" baseline="-25000" dirty="0" err="1">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的前</a:t>
            </a:r>
            <a:r>
              <a:rPr lang="en-US" altLang="zh-CN" sz="2800" i="1" dirty="0">
                <a:solidFill>
                  <a:srgbClr val="000000"/>
                </a:solidFill>
                <a:latin typeface="Times New Roman" panose="02020603050405020304" pitchFamily="18" charset="0"/>
                <a:cs typeface="Times New Roman" panose="02020603050405020304" pitchFamily="18" charset="0"/>
              </a:rPr>
              <a:t>n</a:t>
            </a:r>
            <a:r>
              <a:rPr lang="zh-CN" altLang="zh-CN" sz="2800" dirty="0">
                <a:solidFill>
                  <a:srgbClr val="000000"/>
                </a:solidFill>
                <a:latin typeface="Times New Roman" panose="02020603050405020304" pitchFamily="18" charset="0"/>
                <a:cs typeface="Times New Roman" panose="02020603050405020304" pitchFamily="18" charset="0"/>
              </a:rPr>
              <a:t>项和</a:t>
            </a:r>
            <a:r>
              <a:rPr lang="en-US" altLang="zh-CN" sz="2800" i="1" dirty="0">
                <a:solidFill>
                  <a:srgbClr val="000000"/>
                </a:solidFill>
                <a:latin typeface="Times New Roman" panose="02020603050405020304" pitchFamily="18" charset="0"/>
                <a:cs typeface="Times New Roman" panose="02020603050405020304" pitchFamily="18" charset="0"/>
              </a:rPr>
              <a:t>T</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解</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由题意可得</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4</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即</a:t>
            </a:r>
            <a:r>
              <a:rPr lang="en-US" altLang="zh-CN" sz="2800" dirty="0">
                <a:solidFill>
                  <a:srgbClr val="000000"/>
                </a:solidFill>
                <a:latin typeface="Times New Roman" panose="02020603050405020304" pitchFamily="18" charset="0"/>
                <a:cs typeface="Times New Roman" panose="02020603050405020304" pitchFamily="18" charset="0"/>
              </a:rPr>
              <a:t>2(4</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8</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解得</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故数列</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的通项公式为</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baseline="30000" dirty="0">
                <a:solidFill>
                  <a:srgbClr val="000000"/>
                </a:solidFill>
                <a:latin typeface="Times New Roman" panose="02020603050405020304" pitchFamily="18" charset="0"/>
                <a:cs typeface="Times New Roman" panose="02020603050405020304" pitchFamily="18" charset="0"/>
              </a:rPr>
              <a:t>n-</a:t>
            </a:r>
            <a:r>
              <a:rPr lang="en-US" altLang="zh-CN" sz="2800" baseline="30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因为</a:t>
            </a:r>
            <a:r>
              <a:rPr lang="en-US" altLang="zh-CN" sz="2800" i="1" dirty="0" err="1">
                <a:solidFill>
                  <a:srgbClr val="000000"/>
                </a:solidFill>
                <a:latin typeface="Times New Roman" panose="02020603050405020304" pitchFamily="18" charset="0"/>
                <a:cs typeface="Times New Roman" panose="02020603050405020304" pitchFamily="18" charset="0"/>
              </a:rPr>
              <a:t>b</a:t>
            </a:r>
            <a:r>
              <a:rPr lang="en-US" altLang="zh-CN" sz="2800" i="1" baseline="-25000" dirty="0" err="1">
                <a:solidFill>
                  <a:srgbClr val="000000"/>
                </a:solidFill>
                <a:latin typeface="Times New Roman" panose="02020603050405020304" pitchFamily="18" charset="0"/>
                <a:cs typeface="Times New Roman" panose="02020603050405020304" pitchFamily="18" charset="0"/>
              </a:rPr>
              <a:t>n</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log</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baseline="30000" dirty="0">
                <a:solidFill>
                  <a:srgbClr val="000000"/>
                </a:solidFill>
                <a:latin typeface="Times New Roman" panose="02020603050405020304" pitchFamily="18" charset="0"/>
                <a:cs typeface="Times New Roman" panose="02020603050405020304" pitchFamily="18" charset="0"/>
              </a:rPr>
              <a:t>n-</a:t>
            </a:r>
            <a:r>
              <a:rPr lang="en-US" altLang="zh-CN" sz="2800" baseline="30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所以</a:t>
            </a:r>
            <a:r>
              <a:rPr lang="en-US" altLang="zh-CN" sz="2800" i="1" dirty="0" err="1">
                <a:solidFill>
                  <a:srgbClr val="000000"/>
                </a:solidFill>
                <a:latin typeface="Times New Roman" panose="02020603050405020304" pitchFamily="18" charset="0"/>
                <a:cs typeface="Times New Roman" panose="02020603050405020304" pitchFamily="18" charset="0"/>
              </a:rPr>
              <a:t>T</a:t>
            </a:r>
            <a:r>
              <a:rPr lang="en-US" altLang="zh-CN" sz="2800" i="1" baseline="-25000" dirty="0" err="1">
                <a:solidFill>
                  <a:srgbClr val="000000"/>
                </a:solidFill>
                <a:latin typeface="Times New Roman" panose="02020603050405020304" pitchFamily="18" charset="0"/>
                <a:cs typeface="Times New Roman" panose="02020603050405020304" pitchFamily="18" charset="0"/>
              </a:rPr>
              <a:t>n</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楷体" panose="02010609060101010101" pitchFamily="49" charset="-122"/>
                <a:ea typeface="方正书宋_GBK"/>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i="1" dirty="0" err="1" smtClean="0">
                <a:solidFill>
                  <a:srgbClr val="000000"/>
                </a:solidFill>
                <a:latin typeface="Times New Roman" panose="02020603050405020304" pitchFamily="18" charset="0"/>
                <a:cs typeface="Times New Roman" panose="02020603050405020304" pitchFamily="18" charset="0"/>
              </a:rPr>
              <a:t>b</a:t>
            </a:r>
            <a:r>
              <a:rPr lang="en-US" altLang="zh-CN" sz="2800" i="1" baseline="-25000" dirty="0" err="1" smtClean="0">
                <a:solidFill>
                  <a:srgbClr val="000000"/>
                </a:solidFill>
                <a:latin typeface="Times New Roman" panose="02020603050405020304" pitchFamily="18" charset="0"/>
                <a:cs typeface="Times New Roman" panose="02020603050405020304" pitchFamily="18" charset="0"/>
              </a:rPr>
              <a:t>n</a:t>
            </a:r>
            <a:endParaRPr lang="en-US" altLang="zh-CN" sz="2800" i="1" baseline="-25000" dirty="0" smtClean="0">
              <a:solidFill>
                <a:srgbClr val="000000"/>
              </a:solidFill>
              <a:latin typeface="Times New Roman" panose="02020603050405020304" pitchFamily="18" charset="0"/>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i="1" dirty="0" smtClean="0">
                <a:solidFill>
                  <a:srgbClr val="000000"/>
                </a:solidFill>
                <a:latin typeface="Times New Roman" panose="02020603050405020304" pitchFamily="18" charset="0"/>
                <a:cs typeface="Times New Roman" panose="02020603050405020304" pitchFamily="18" charset="0"/>
              </a:rPr>
              <a:t>=</a:t>
            </a: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楷体" panose="02010609060101010101" pitchFamily="49" charset="-122"/>
                <a:ea typeface="方正书宋_GBK"/>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baseline="300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baseline="30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楷体" panose="02010609060101010101" pitchFamily="49" charset="-122"/>
                <a:ea typeface="方正书宋_GBK"/>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baseline="30000" dirty="0">
                <a:solidFill>
                  <a:srgbClr val="000000"/>
                </a:solidFill>
                <a:latin typeface="Times New Roman" panose="02020603050405020304" pitchFamily="18" charset="0"/>
                <a:cs typeface="Times New Roman" panose="02020603050405020304" pitchFamily="18" charset="0"/>
              </a:rPr>
              <a:t>n-</a:t>
            </a:r>
            <a:r>
              <a:rPr lang="en-US" altLang="zh-CN" sz="2800" baseline="30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146592840"/>
              </p:ext>
            </p:extLst>
          </p:nvPr>
        </p:nvGraphicFramePr>
        <p:xfrm>
          <a:off x="35011" y="5214566"/>
          <a:ext cx="11430000" cy="1003297"/>
        </p:xfrm>
        <a:graphic>
          <a:graphicData uri="http://schemas.openxmlformats.org/presentationml/2006/ole">
            <mc:AlternateContent xmlns:mc="http://schemas.openxmlformats.org/markup-compatibility/2006">
              <mc:Choice xmlns:v="urn:schemas-microsoft-com:vml" Requires="v">
                <p:oleObj spid="_x0000_s11278" name="文档" r:id="rId3" imgW="4520786" imgH="396823" progId="Word.Document.12">
                  <p:embed/>
                </p:oleObj>
              </mc:Choice>
              <mc:Fallback>
                <p:oleObj name="文档" r:id="rId3" imgW="4520786" imgH="396823" progId="Word.Document.12">
                  <p:embed/>
                  <p:pic>
                    <p:nvPicPr>
                      <p:cNvPr id="0" name=""/>
                      <p:cNvPicPr/>
                      <p:nvPr/>
                    </p:nvPicPr>
                    <p:blipFill>
                      <a:blip r:embed="rId4"/>
                      <a:stretch>
                        <a:fillRect/>
                      </a:stretch>
                    </p:blipFill>
                    <p:spPr>
                      <a:xfrm>
                        <a:off x="35011" y="5214566"/>
                        <a:ext cx="11430000" cy="1003297"/>
                      </a:xfrm>
                      <a:prstGeom prst="rect">
                        <a:avLst/>
                      </a:prstGeom>
                    </p:spPr>
                  </p:pic>
                </p:oleObj>
              </mc:Fallback>
            </mc:AlternateContent>
          </a:graphicData>
        </a:graphic>
      </p:graphicFrame>
    </p:spTree>
    <p:extLst>
      <p:ext uri="{BB962C8B-B14F-4D97-AF65-F5344CB8AC3E}">
        <p14:creationId xmlns:p14="http://schemas.microsoft.com/office/powerpoint/2010/main" val="283917889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animEffect transition="in" filter="barn(inVertical)">
                                      <p:cBhvr>
                                        <p:cTn id="7" dur="500"/>
                                        <p:tgtEl>
                                          <p:spTgt spid="2">
                                            <p:txEl>
                                              <p:pRg st="3" end="3"/>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2">
                                            <p:txEl>
                                              <p:pRg st="4" end="4"/>
                                            </p:txEl>
                                          </p:spTgt>
                                        </p:tgtEl>
                                        <p:attrNameLst>
                                          <p:attrName>style.visibility</p:attrName>
                                        </p:attrNameLst>
                                      </p:cBhvr>
                                      <p:to>
                                        <p:strVal val="visible"/>
                                      </p:to>
                                    </p:set>
                                    <p:animEffect transition="in" filter="barn(inVertical)">
                                      <p:cBhvr>
                                        <p:cTn id="10" dur="500"/>
                                        <p:tgtEl>
                                          <p:spTgt spid="2">
                                            <p:txEl>
                                              <p:pRg st="4" end="4"/>
                                            </p:txEl>
                                          </p:spTgt>
                                        </p:tgtEl>
                                      </p:cBhvr>
                                    </p:animEffect>
                                  </p:childTnLst>
                                </p:cTn>
                              </p:par>
                              <p:par>
                                <p:cTn id="11" presetID="16" presetClass="entr" presetSubtype="21" fill="hold" nodeType="withEffect">
                                  <p:stCondLst>
                                    <p:cond delay="0"/>
                                  </p:stCondLst>
                                  <p:childTnLst>
                                    <p:set>
                                      <p:cBhvr>
                                        <p:cTn id="12" dur="1" fill="hold">
                                          <p:stCondLst>
                                            <p:cond delay="0"/>
                                          </p:stCondLst>
                                        </p:cTn>
                                        <p:tgtEl>
                                          <p:spTgt spid="2">
                                            <p:txEl>
                                              <p:pRg st="5" end="5"/>
                                            </p:txEl>
                                          </p:spTgt>
                                        </p:tgtEl>
                                        <p:attrNameLst>
                                          <p:attrName>style.visibility</p:attrName>
                                        </p:attrNameLst>
                                      </p:cBhvr>
                                      <p:to>
                                        <p:strVal val="visible"/>
                                      </p:to>
                                    </p:set>
                                    <p:animEffect transition="in" filter="barn(inVertical)">
                                      <p:cBhvr>
                                        <p:cTn id="13" dur="500"/>
                                        <p:tgtEl>
                                          <p:spTgt spid="2">
                                            <p:txEl>
                                              <p:pRg st="5" end="5"/>
                                            </p:txEl>
                                          </p:spTgt>
                                        </p:tgtEl>
                                      </p:cBhvr>
                                    </p:animEffect>
                                  </p:childTnLst>
                                </p:cTn>
                              </p:par>
                              <p:par>
                                <p:cTn id="14" presetID="16" presetClass="entr" presetSubtype="21" fill="hold" nodeType="withEffect">
                                  <p:stCondLst>
                                    <p:cond delay="0"/>
                                  </p:stCondLst>
                                  <p:childTnLst>
                                    <p:set>
                                      <p:cBhvr>
                                        <p:cTn id="15" dur="1" fill="hold">
                                          <p:stCondLst>
                                            <p:cond delay="0"/>
                                          </p:stCondLst>
                                        </p:cTn>
                                        <p:tgtEl>
                                          <p:spTgt spid="2">
                                            <p:txEl>
                                              <p:pRg st="6" end="6"/>
                                            </p:txEl>
                                          </p:spTgt>
                                        </p:tgtEl>
                                        <p:attrNameLst>
                                          <p:attrName>style.visibility</p:attrName>
                                        </p:attrNameLst>
                                      </p:cBhvr>
                                      <p:to>
                                        <p:strVal val="visible"/>
                                      </p:to>
                                    </p:set>
                                    <p:animEffect transition="in" filter="barn(inVertical)">
                                      <p:cBhvr>
                                        <p:cTn id="16" dur="500"/>
                                        <p:tgtEl>
                                          <p:spTgt spid="2">
                                            <p:txEl>
                                              <p:pRg st="6" end="6"/>
                                            </p:txEl>
                                          </p:spTgt>
                                        </p:tgtEl>
                                      </p:cBhvr>
                                    </p:animEffect>
                                  </p:childTnLst>
                                </p:cTn>
                              </p:par>
                              <p:par>
                                <p:cTn id="17" presetID="16" presetClass="entr" presetSubtype="21" fill="hold" nodeType="withEffect">
                                  <p:stCondLst>
                                    <p:cond delay="0"/>
                                  </p:stCondLst>
                                  <p:childTnLst>
                                    <p:set>
                                      <p:cBhvr>
                                        <p:cTn id="18" dur="1" fill="hold">
                                          <p:stCondLst>
                                            <p:cond delay="0"/>
                                          </p:stCondLst>
                                        </p:cTn>
                                        <p:tgtEl>
                                          <p:spTgt spid="2">
                                            <p:txEl>
                                              <p:pRg st="7" end="7"/>
                                            </p:txEl>
                                          </p:spTgt>
                                        </p:tgtEl>
                                        <p:attrNameLst>
                                          <p:attrName>style.visibility</p:attrName>
                                        </p:attrNameLst>
                                      </p:cBhvr>
                                      <p:to>
                                        <p:strVal val="visible"/>
                                      </p:to>
                                    </p:set>
                                    <p:animEffect transition="in" filter="barn(inVertical)">
                                      <p:cBhvr>
                                        <p:cTn id="19" dur="500"/>
                                        <p:tgtEl>
                                          <p:spTgt spid="2">
                                            <p:txEl>
                                              <p:pRg st="7" end="7"/>
                                            </p:txEl>
                                          </p:spTgt>
                                        </p:tgtEl>
                                      </p:cBhvr>
                                    </p:animEffect>
                                  </p:childTnLst>
                                </p:cTn>
                              </p:par>
                              <p:par>
                                <p:cTn id="20" presetID="16" presetClass="entr" presetSubtype="21" fill="hold" nodeType="with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barn(inVertical)">
                                      <p:cBhvr>
                                        <p:cTn id="2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2" y="151371"/>
            <a:ext cx="11336478" cy="433754"/>
            <a:chOff x="381000" y="205656"/>
            <a:chExt cx="11336478" cy="433754"/>
          </a:xfrm>
        </p:grpSpPr>
        <p:sp>
          <p:nvSpPr>
            <p:cNvPr id="10" name="矩形 9"/>
            <p:cNvSpPr/>
            <p:nvPr/>
          </p:nvSpPr>
          <p:spPr>
            <a:xfrm>
              <a:off x="1999940" y="230648"/>
              <a:ext cx="192275" cy="401795"/>
            </a:xfrm>
            <a:prstGeom prst="rect">
              <a:avLst/>
            </a:prstGeom>
            <a:noFill/>
            <a:ln w="19050">
              <a:solidFill>
                <a:schemeClr val="accent4">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grpSp>
          <p:nvGrpSpPr>
            <p:cNvPr id="11" name="组合 10"/>
            <p:cNvGrpSpPr/>
            <p:nvPr/>
          </p:nvGrpSpPr>
          <p:grpSpPr>
            <a:xfrm>
              <a:off x="381000" y="205656"/>
              <a:ext cx="11336478" cy="433754"/>
              <a:chOff x="3048000" y="2286000"/>
              <a:chExt cx="4813646" cy="457200"/>
            </a:xfrm>
          </p:grpSpPr>
          <p:sp>
            <p:nvSpPr>
              <p:cNvPr id="12" name="矩形 11"/>
              <p:cNvSpPr/>
              <p:nvPr/>
            </p:nvSpPr>
            <p:spPr>
              <a:xfrm>
                <a:off x="3048000" y="2286000"/>
                <a:ext cx="769070" cy="457200"/>
              </a:xfrm>
              <a:prstGeom prst="rect">
                <a:avLst/>
              </a:prstGeom>
              <a:solidFill>
                <a:srgbClr val="748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solidFill>
                      <a:schemeClr val="bg1"/>
                    </a:solidFill>
                  </a:rPr>
                  <a:t>探究三</a:t>
                </a:r>
              </a:p>
            </p:txBody>
          </p:sp>
          <p:sp>
            <p:nvSpPr>
              <p:cNvPr id="13" name="矩形 12"/>
              <p:cNvSpPr/>
              <p:nvPr/>
            </p:nvSpPr>
            <p:spPr>
              <a:xfrm>
                <a:off x="3909004" y="2286000"/>
                <a:ext cx="3952642" cy="457200"/>
              </a:xfrm>
              <a:prstGeom prst="rect">
                <a:avLst/>
              </a:prstGeom>
              <a:gradFill flip="none" rotWithShape="1">
                <a:gsLst>
                  <a:gs pos="0">
                    <a:srgbClr val="DCDCDC">
                      <a:shade val="30000"/>
                      <a:satMod val="115000"/>
                    </a:srgbClr>
                  </a:gs>
                  <a:gs pos="51000">
                    <a:srgbClr val="DCDCDC">
                      <a:shade val="67500"/>
                      <a:satMod val="115000"/>
                    </a:srgbClr>
                  </a:gs>
                  <a:gs pos="73000">
                    <a:srgbClr val="DCDCDC">
                      <a:shade val="100000"/>
                      <a:satMod val="115000"/>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dirty="0">
                    <a:solidFill>
                      <a:schemeClr val="bg1"/>
                    </a:solidFill>
                  </a:rPr>
                  <a:t>用错位相减法求数列的和</a:t>
                </a:r>
              </a:p>
            </p:txBody>
          </p:sp>
        </p:grpSp>
      </p:grpSp>
      <p:sp>
        <p:nvSpPr>
          <p:cNvPr id="2" name="矩形 1"/>
          <p:cNvSpPr>
            <a:spLocks noChangeAspect="1"/>
          </p:cNvSpPr>
          <p:nvPr/>
        </p:nvSpPr>
        <p:spPr>
          <a:xfrm>
            <a:off x="381000" y="1760937"/>
            <a:ext cx="11430000" cy="1152367"/>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【例</a:t>
            </a:r>
            <a:r>
              <a:rPr lang="en-US" altLang="zh-CN" sz="2800" b="1" dirty="0">
                <a:solidFill>
                  <a:srgbClr val="000000"/>
                </a:solidFill>
                <a:latin typeface="Times New Roman" panose="02020603050405020304" pitchFamily="18" charset="0"/>
                <a:cs typeface="Times New Roman" panose="02020603050405020304" pitchFamily="18" charset="0"/>
              </a:rPr>
              <a:t>3</a:t>
            </a: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NEU-BZ-S92"/>
                <a:ea typeface="Arial" panose="020B0604020202020204" pitchFamily="34" charset="0"/>
                <a:cs typeface="Times New Roman" panose="02020603050405020304" pitchFamily="18" charset="0"/>
              </a:rPr>
              <a:t> </a:t>
            </a:r>
            <a:r>
              <a:rPr lang="zh-CN" altLang="zh-CN" sz="2800" dirty="0">
                <a:solidFill>
                  <a:srgbClr val="000000"/>
                </a:solidFill>
                <a:latin typeface="Times New Roman" panose="02020603050405020304" pitchFamily="18" charset="0"/>
                <a:cs typeface="Times New Roman" panose="02020603050405020304" pitchFamily="18" charset="0"/>
              </a:rPr>
              <a:t>求和</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cs typeface="Times New Roman" panose="02020603050405020304" pitchFamily="18" charset="0"/>
              </a:rPr>
              <a:t>S</a:t>
            </a:r>
            <a:r>
              <a:rPr lang="en-US" altLang="zh-CN" sz="2800" i="1" baseline="-25000" dirty="0" err="1">
                <a:solidFill>
                  <a:srgbClr val="000000"/>
                </a:solidFill>
                <a:latin typeface="Times New Roman" panose="02020603050405020304" pitchFamily="18" charset="0"/>
                <a:cs typeface="Times New Roman" panose="02020603050405020304" pitchFamily="18" charset="0"/>
              </a:rPr>
              <a:t>n</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300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cs typeface="Times New Roman" panose="02020603050405020304" pitchFamily="18" charset="0"/>
              </a:rPr>
              <a:t>nx</a:t>
            </a:r>
            <a:r>
              <a:rPr lang="en-US" altLang="zh-CN" sz="2800" i="1" baseline="30000" dirty="0" err="1">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n</a:t>
            </a:r>
            <a:r>
              <a:rPr lang="zh-CN" altLang="zh-CN" sz="2800" dirty="0">
                <a:solidFill>
                  <a:srgbClr val="000000"/>
                </a:solidFill>
                <a:latin typeface="NEU-BZ-S92"/>
                <a:cs typeface="宋体" panose="02010600030101010101" pitchFamily="2" charset="-122"/>
              </a:rPr>
              <a:t>∈</a:t>
            </a:r>
            <a:r>
              <a:rPr lang="en-US" altLang="zh-CN" sz="2800" b="1" dirty="0">
                <a:solidFill>
                  <a:srgbClr val="000000"/>
                </a:solidFill>
                <a:latin typeface="Times New Roman" panose="02020603050405020304" pitchFamily="18" charset="0"/>
                <a:cs typeface="Times New Roman" panose="02020603050405020304" pitchFamily="18" charset="0"/>
              </a:rPr>
              <a:t>N</a:t>
            </a:r>
            <a:r>
              <a:rPr lang="en-US" altLang="zh-CN" sz="2800" i="1" baseline="30000"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smtClean="0">
                <a:solidFill>
                  <a:srgbClr val="FF0000"/>
                </a:solidFill>
                <a:latin typeface="Arial" panose="020B0604020202020204" pitchFamily="34" charset="0"/>
                <a:ea typeface="黑体" panose="02010609060101010101" pitchFamily="49" charset="-122"/>
                <a:cs typeface="Times New Roman" panose="02020603050405020304" pitchFamily="18" charset="0"/>
              </a:rPr>
              <a:t>解</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当</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时</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cs typeface="Times New Roman" panose="02020603050405020304" pitchFamily="18" charset="0"/>
              </a:rPr>
              <a:t>S</a:t>
            </a:r>
            <a:r>
              <a:rPr lang="en-US" altLang="zh-CN" sz="2800" i="1" baseline="-25000" dirty="0" err="1">
                <a:solidFill>
                  <a:srgbClr val="000000"/>
                </a:solidFill>
                <a:latin typeface="Times New Roman" panose="02020603050405020304" pitchFamily="18" charset="0"/>
                <a:cs typeface="Times New Roman" panose="02020603050405020304" pitchFamily="18" charset="0"/>
              </a:rPr>
              <a:t>n</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2822845120"/>
              </p:ext>
            </p:extLst>
          </p:nvPr>
        </p:nvGraphicFramePr>
        <p:xfrm>
          <a:off x="35010" y="2819945"/>
          <a:ext cx="11430000" cy="1003297"/>
        </p:xfrm>
        <a:graphic>
          <a:graphicData uri="http://schemas.openxmlformats.org/presentationml/2006/ole">
            <mc:AlternateContent xmlns:mc="http://schemas.openxmlformats.org/markup-compatibility/2006">
              <mc:Choice xmlns:v="urn:schemas-microsoft-com:vml" Requires="v">
                <p:oleObj spid="_x0000_s12303" name="文档" r:id="rId3" imgW="4520786" imgH="396823" progId="Word.Document.12">
                  <p:embed/>
                </p:oleObj>
              </mc:Choice>
              <mc:Fallback>
                <p:oleObj name="文档" r:id="rId3" imgW="4520786" imgH="396823" progId="Word.Document.12">
                  <p:embed/>
                  <p:pic>
                    <p:nvPicPr>
                      <p:cNvPr id="0" name=""/>
                      <p:cNvPicPr/>
                      <p:nvPr/>
                    </p:nvPicPr>
                    <p:blipFill>
                      <a:blip r:embed="rId4"/>
                      <a:stretch>
                        <a:fillRect/>
                      </a:stretch>
                    </p:blipFill>
                    <p:spPr>
                      <a:xfrm>
                        <a:off x="35010" y="2819945"/>
                        <a:ext cx="11430000" cy="1003297"/>
                      </a:xfrm>
                      <a:prstGeom prst="rect">
                        <a:avLst/>
                      </a:prstGeom>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barn(inVertical)">
                                      <p:cBhvr>
                                        <p:cTn id="7" dur="500"/>
                                        <p:tgtEl>
                                          <p:spTgt spid="2">
                                            <p:txEl>
                                              <p:pRg st="1" end="1"/>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barn(inVertical)">
                                      <p:cBhvr>
                                        <p:cTn id="1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251785"/>
            <a:ext cx="11430000" cy="1712520"/>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(3)</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当</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且</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时</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i="1" dirty="0" err="1">
                <a:solidFill>
                  <a:srgbClr val="000000"/>
                </a:solidFill>
                <a:latin typeface="Times New Roman" panose="02020603050405020304" pitchFamily="18" charset="0"/>
                <a:cs typeface="Times New Roman" panose="02020603050405020304" pitchFamily="18" charset="0"/>
              </a:rPr>
              <a:t>S</a:t>
            </a:r>
            <a:r>
              <a:rPr lang="en-US" altLang="zh-CN" sz="2800" i="1" baseline="-25000" dirty="0" err="1">
                <a:solidFill>
                  <a:srgbClr val="000000"/>
                </a:solidFill>
                <a:latin typeface="Times New Roman" panose="02020603050405020304" pitchFamily="18" charset="0"/>
                <a:cs typeface="Times New Roman" panose="02020603050405020304" pitchFamily="18" charset="0"/>
              </a:rPr>
              <a:t>n</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300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楷体" panose="02010609060101010101" pitchFamily="49" charset="-122"/>
                <a:ea typeface="方正书宋_GBK"/>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i="1" baseline="30000" dirty="0">
                <a:solidFill>
                  <a:srgbClr val="000000"/>
                </a:solidFill>
                <a:latin typeface="Times New Roman" panose="02020603050405020304" pitchFamily="18" charset="0"/>
                <a:cs typeface="Times New Roman" panose="02020603050405020304" pitchFamily="18" charset="0"/>
              </a:rPr>
              <a:t>n-</a:t>
            </a:r>
            <a:r>
              <a:rPr lang="en-US" altLang="zh-CN" sz="2800" baseline="30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+nx</a:t>
            </a:r>
            <a:r>
              <a:rPr lang="en-US" altLang="zh-CN" sz="2800" i="1" baseline="30000"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NEU-BZ-S92"/>
                <a:cs typeface="宋体" panose="02010600030101010101" pitchFamily="2" charset="-122"/>
              </a:rPr>
              <a:t>①</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i="1" dirty="0" err="1">
                <a:solidFill>
                  <a:srgbClr val="000000"/>
                </a:solidFill>
                <a:latin typeface="Times New Roman" panose="02020603050405020304" pitchFamily="18" charset="0"/>
                <a:cs typeface="Times New Roman" panose="02020603050405020304" pitchFamily="18" charset="0"/>
              </a:rPr>
              <a:t>xS</a:t>
            </a:r>
            <a:r>
              <a:rPr lang="en-US" altLang="zh-CN" sz="2800" i="1" baseline="-25000" dirty="0" err="1">
                <a:solidFill>
                  <a:srgbClr val="000000"/>
                </a:solidFill>
                <a:latin typeface="Times New Roman" panose="02020603050405020304" pitchFamily="18" charset="0"/>
                <a:cs typeface="Times New Roman" panose="02020603050405020304" pitchFamily="18" charset="0"/>
              </a:rPr>
              <a:t>n</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300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楷体" panose="02010609060101010101" pitchFamily="49" charset="-122"/>
                <a:ea typeface="方正书宋_GBK"/>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i="1" baseline="30000" dirty="0">
                <a:solidFill>
                  <a:srgbClr val="000000"/>
                </a:solidFill>
                <a:latin typeface="Times New Roman" panose="02020603050405020304" pitchFamily="18" charset="0"/>
                <a:cs typeface="Times New Roman" panose="02020603050405020304" pitchFamily="18" charset="0"/>
              </a:rPr>
              <a:t>n</a:t>
            </a:r>
            <a:r>
              <a:rPr lang="en-US" altLang="zh-CN" sz="2800" i="1" dirty="0">
                <a:solidFill>
                  <a:srgbClr val="000000"/>
                </a:solidFill>
                <a:latin typeface="Times New Roman" panose="02020603050405020304" pitchFamily="18" charset="0"/>
                <a:cs typeface="Times New Roman" panose="02020603050405020304" pitchFamily="18" charset="0"/>
              </a:rPr>
              <a:t>+nx</a:t>
            </a:r>
            <a:r>
              <a:rPr lang="en-US" altLang="zh-CN" sz="2800" i="1" baseline="30000" dirty="0">
                <a:solidFill>
                  <a:srgbClr val="000000"/>
                </a:solidFill>
                <a:latin typeface="Times New Roman" panose="02020603050405020304" pitchFamily="18" charset="0"/>
                <a:cs typeface="Times New Roman" panose="02020603050405020304" pitchFamily="18" charset="0"/>
              </a:rPr>
              <a:t>n+</a:t>
            </a:r>
            <a:r>
              <a:rPr lang="en-US" altLang="zh-CN" sz="2800" baseline="30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NEU-BZ-S92"/>
                <a:cs typeface="宋体" panose="02010600030101010101" pitchFamily="2" charset="-122"/>
              </a:rPr>
              <a:t>②</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455216727"/>
              </p:ext>
            </p:extLst>
          </p:nvPr>
        </p:nvGraphicFramePr>
        <p:xfrm>
          <a:off x="51486" y="1890163"/>
          <a:ext cx="11430000" cy="4012272"/>
        </p:xfrm>
        <a:graphic>
          <a:graphicData uri="http://schemas.openxmlformats.org/presentationml/2006/ole">
            <mc:AlternateContent xmlns:mc="http://schemas.openxmlformats.org/markup-compatibility/2006">
              <mc:Choice xmlns:v="urn:schemas-microsoft-com:vml" Requires="v">
                <p:oleObj spid="_x0000_s13326" name="文档" r:id="rId3" imgW="4520786" imgH="1586931" progId="Word.Document.12">
                  <p:embed/>
                </p:oleObj>
              </mc:Choice>
              <mc:Fallback>
                <p:oleObj name="文档" r:id="rId3" imgW="4520786" imgH="1586931" progId="Word.Document.12">
                  <p:embed/>
                  <p:pic>
                    <p:nvPicPr>
                      <p:cNvPr id="0" name=""/>
                      <p:cNvPicPr/>
                      <p:nvPr/>
                    </p:nvPicPr>
                    <p:blipFill>
                      <a:blip r:embed="rId4"/>
                      <a:stretch>
                        <a:fillRect/>
                      </a:stretch>
                    </p:blipFill>
                    <p:spPr>
                      <a:xfrm>
                        <a:off x="51486" y="1890163"/>
                        <a:ext cx="11430000" cy="4012272"/>
                      </a:xfrm>
                      <a:prstGeom prst="rect">
                        <a:avLst/>
                      </a:prstGeom>
                    </p:spPr>
                  </p:pic>
                </p:oleObj>
              </mc:Fallback>
            </mc:AlternateContent>
          </a:graphicData>
        </a:graphic>
      </p:graphicFrame>
    </p:spTree>
    <p:extLst>
      <p:ext uri="{BB962C8B-B14F-4D97-AF65-F5344CB8AC3E}">
        <p14:creationId xmlns:p14="http://schemas.microsoft.com/office/powerpoint/2010/main" val="358244882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570155"/>
            <a:ext cx="11430000" cy="592213"/>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cs typeface="Times New Roman" panose="02020603050405020304" pitchFamily="18" charset="0"/>
              </a:rPr>
              <a:t>若若已知数列</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30000" dirty="0">
                <a:solidFill>
                  <a:srgbClr val="000000"/>
                </a:solidFill>
                <a:latin typeface="Times New Roman" panose="02020603050405020304" pitchFamily="18" charset="0"/>
                <a:cs typeface="Times New Roman" panose="02020603050405020304" pitchFamily="18" charset="0"/>
              </a:rPr>
              <a:t>n-</a:t>
            </a:r>
            <a:r>
              <a:rPr lang="en-US" altLang="zh-CN" sz="2800" baseline="30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n</a:t>
            </a:r>
            <a:r>
              <a:rPr lang="zh-CN" altLang="zh-CN" sz="2800" dirty="0">
                <a:solidFill>
                  <a:srgbClr val="000000"/>
                </a:solidFill>
                <a:latin typeface="NEU-BZ-S92"/>
                <a:cs typeface="宋体" panose="02010600030101010101" pitchFamily="2" charset="-122"/>
              </a:rPr>
              <a:t>∈</a:t>
            </a:r>
            <a:r>
              <a:rPr lang="en-US" altLang="zh-CN" sz="2800" b="1" dirty="0">
                <a:solidFill>
                  <a:srgbClr val="000000"/>
                </a:solidFill>
                <a:latin typeface="Times New Roman" panose="02020603050405020304" pitchFamily="18" charset="0"/>
                <a:cs typeface="Times New Roman" panose="02020603050405020304" pitchFamily="18" charset="0"/>
              </a:rPr>
              <a:t>N</a:t>
            </a:r>
            <a:r>
              <a:rPr lang="en-US" altLang="zh-CN" sz="2800" i="1" baseline="30000"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求它的前</a:t>
            </a:r>
            <a:r>
              <a:rPr lang="en-US" altLang="zh-CN" sz="2800" i="1" dirty="0">
                <a:solidFill>
                  <a:srgbClr val="000000"/>
                </a:solidFill>
                <a:latin typeface="Times New Roman" panose="02020603050405020304" pitchFamily="18" charset="0"/>
                <a:cs typeface="Times New Roman" panose="02020603050405020304" pitchFamily="18" charset="0"/>
              </a:rPr>
              <a:t>n</a:t>
            </a:r>
            <a:r>
              <a:rPr lang="zh-CN" altLang="zh-CN" sz="2800" dirty="0">
                <a:solidFill>
                  <a:srgbClr val="000000"/>
                </a:solidFill>
                <a:latin typeface="Times New Roman" panose="02020603050405020304" pitchFamily="18" charset="0"/>
                <a:cs typeface="Times New Roman" panose="02020603050405020304" pitchFamily="18" charset="0"/>
              </a:rPr>
              <a:t>项和</a:t>
            </a:r>
            <a:r>
              <a:rPr lang="en-US" altLang="zh-CN" sz="2800" i="1" dirty="0" err="1">
                <a:solidFill>
                  <a:srgbClr val="000000"/>
                </a:solidFill>
                <a:latin typeface="Times New Roman" panose="02020603050405020304" pitchFamily="18" charset="0"/>
                <a:cs typeface="Times New Roman" panose="02020603050405020304" pitchFamily="18" charset="0"/>
              </a:rPr>
              <a:t>S</a:t>
            </a:r>
            <a:r>
              <a:rPr lang="en-US" altLang="zh-CN" sz="2800" i="1" baseline="-25000" dirty="0" err="1">
                <a:solidFill>
                  <a:srgbClr val="000000"/>
                </a:solidFill>
                <a:latin typeface="Times New Roman" panose="02020603050405020304" pitchFamily="18" charset="0"/>
                <a:cs typeface="Times New Roman" panose="02020603050405020304" pitchFamily="18" charset="0"/>
              </a:rPr>
              <a:t>n</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p:txBody>
      </p:sp>
      <p:pic>
        <p:nvPicPr>
          <p:cNvPr id="3" name="延伸探究H.eps" descr="id:2147494559;FounderCES"/>
          <p:cNvPicPr/>
          <p:nvPr/>
        </p:nvPicPr>
        <p:blipFill>
          <a:blip r:embed="rId3">
            <a:clrChange>
              <a:clrFrom>
                <a:srgbClr val="FFFFFF"/>
              </a:clrFrom>
              <a:clrTo>
                <a:srgbClr val="FFFFFF">
                  <a:alpha val="0"/>
                </a:srgbClr>
              </a:clrTo>
            </a:clrChange>
          </a:blip>
          <a:stretch>
            <a:fillRect/>
          </a:stretch>
        </p:blipFill>
        <p:spPr>
          <a:xfrm>
            <a:off x="4757688" y="160511"/>
            <a:ext cx="2016224" cy="367706"/>
          </a:xfrm>
          <a:prstGeom prst="rect">
            <a:avLst/>
          </a:prstGeom>
        </p:spPr>
      </p:pic>
      <p:grpSp>
        <p:nvGrpSpPr>
          <p:cNvPr id="8" name="组合 7"/>
          <p:cNvGrpSpPr/>
          <p:nvPr/>
        </p:nvGrpSpPr>
        <p:grpSpPr>
          <a:xfrm>
            <a:off x="42562" y="1042089"/>
            <a:ext cx="11768438" cy="5829045"/>
            <a:chOff x="42562" y="1042089"/>
            <a:chExt cx="11768438" cy="5829045"/>
          </a:xfrm>
        </p:grpSpPr>
        <p:sp>
          <p:nvSpPr>
            <p:cNvPr id="5" name="矩形 4"/>
            <p:cNvSpPr>
              <a:spLocks noChangeAspect="1"/>
            </p:cNvSpPr>
            <p:nvPr/>
          </p:nvSpPr>
          <p:spPr>
            <a:xfrm>
              <a:off x="381000" y="1827400"/>
              <a:ext cx="11430000" cy="1712520"/>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当</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时</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有</a:t>
              </a:r>
              <a:r>
                <a:rPr lang="en-US" altLang="zh-CN" sz="2800" i="1" dirty="0" err="1">
                  <a:solidFill>
                    <a:srgbClr val="000000"/>
                  </a:solidFill>
                  <a:latin typeface="Times New Roman" panose="02020603050405020304" pitchFamily="18" charset="0"/>
                  <a:cs typeface="Times New Roman" panose="02020603050405020304" pitchFamily="18" charset="0"/>
                </a:rPr>
                <a:t>S</a:t>
              </a:r>
              <a:r>
                <a:rPr lang="en-US" altLang="zh-CN" sz="2800" i="1" baseline="-25000" dirty="0" err="1">
                  <a:solidFill>
                    <a:srgbClr val="000000"/>
                  </a:solidFill>
                  <a:latin typeface="Times New Roman" panose="02020603050405020304" pitchFamily="18" charset="0"/>
                  <a:cs typeface="Times New Roman" panose="02020603050405020304" pitchFamily="18" charset="0"/>
                </a:rPr>
                <a:t>n</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5</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7</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300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楷体" panose="02010609060101010101" pitchFamily="49" charset="-122"/>
                  <a:ea typeface="方正书宋_GBK"/>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30000" dirty="0">
                  <a:solidFill>
                    <a:srgbClr val="000000"/>
                  </a:solidFill>
                  <a:latin typeface="Times New Roman" panose="02020603050405020304" pitchFamily="18" charset="0"/>
                  <a:cs typeface="Times New Roman" panose="02020603050405020304" pitchFamily="18" charset="0"/>
                </a:rPr>
                <a:t>n-</a:t>
              </a:r>
              <a:r>
                <a:rPr lang="en-US" altLang="zh-CN" sz="2800" baseline="30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NEU-BZ-S92"/>
                  <a:cs typeface="宋体" panose="02010600030101010101" pitchFamily="2" charset="-122"/>
                </a:rPr>
                <a:t>①</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i="1" dirty="0" err="1">
                  <a:solidFill>
                    <a:srgbClr val="000000"/>
                  </a:solidFill>
                  <a:latin typeface="Times New Roman" panose="02020603050405020304" pitchFamily="18" charset="0"/>
                  <a:cs typeface="Times New Roman" panose="02020603050405020304" pitchFamily="18" charset="0"/>
                </a:rPr>
                <a:t>aS</a:t>
              </a:r>
              <a:r>
                <a:rPr lang="en-US" altLang="zh-CN" sz="2800" i="1" baseline="-25000" dirty="0" err="1">
                  <a:solidFill>
                    <a:srgbClr val="000000"/>
                  </a:solidFill>
                  <a:latin typeface="Times New Roman" panose="02020603050405020304" pitchFamily="18" charset="0"/>
                  <a:cs typeface="Times New Roman" panose="02020603050405020304" pitchFamily="18" charset="0"/>
                </a:rPr>
                <a:t>n</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5</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300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7</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300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楷体" panose="02010609060101010101" pitchFamily="49" charset="-122"/>
                  <a:ea typeface="方正书宋_GBK"/>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30000" dirty="0">
                  <a:solidFill>
                    <a:srgbClr val="000000"/>
                  </a:solidFill>
                  <a:latin typeface="Times New Roman" panose="02020603050405020304" pitchFamily="18" charset="0"/>
                  <a:cs typeface="Times New Roman" panose="02020603050405020304" pitchFamily="18" charset="0"/>
                </a:rPr>
                <a:t>n</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NEU-BZ-S92"/>
                  <a:cs typeface="宋体" panose="02010600030101010101" pitchFamily="2" charset="-122"/>
                </a:rPr>
                <a:t>②</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①</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NEU-BZ-S92"/>
                  <a:cs typeface="宋体" panose="02010600030101010101" pitchFamily="2" charset="-122"/>
                </a:rPr>
                <a:t>②</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得</a:t>
              </a:r>
              <a:r>
                <a:rPr lang="en-US" altLang="zh-CN" sz="2800" i="1" dirty="0" err="1">
                  <a:solidFill>
                    <a:srgbClr val="000000"/>
                  </a:solidFill>
                  <a:latin typeface="Times New Roman" panose="02020603050405020304" pitchFamily="18" charset="0"/>
                  <a:cs typeface="Times New Roman" panose="02020603050405020304" pitchFamily="18" charset="0"/>
                </a:rPr>
                <a:t>S</a:t>
              </a:r>
              <a:r>
                <a:rPr lang="en-US" altLang="zh-CN" sz="2800" i="1" baseline="-25000" dirty="0" err="1">
                  <a:solidFill>
                    <a:srgbClr val="000000"/>
                  </a:solidFill>
                  <a:latin typeface="Times New Roman" panose="02020603050405020304" pitchFamily="18" charset="0"/>
                  <a:cs typeface="Times New Roman" panose="02020603050405020304" pitchFamily="18" charset="0"/>
                </a:rPr>
                <a:t>n</a:t>
              </a:r>
              <a:r>
                <a:rPr lang="en-US" altLang="zh-CN" sz="2800" i="1" dirty="0" err="1">
                  <a:solidFill>
                    <a:srgbClr val="000000"/>
                  </a:solidFill>
                  <a:latin typeface="Times New Roman" panose="02020603050405020304" pitchFamily="18" charset="0"/>
                  <a:cs typeface="Times New Roman" panose="02020603050405020304" pitchFamily="18" charset="0"/>
                </a:rPr>
                <a:t>-aS</a:t>
              </a:r>
              <a:r>
                <a:rPr lang="en-US" altLang="zh-CN" sz="2800" i="1" baseline="-25000" dirty="0" err="1">
                  <a:solidFill>
                    <a:srgbClr val="000000"/>
                  </a:solidFill>
                  <a:latin typeface="Times New Roman" panose="02020603050405020304" pitchFamily="18" charset="0"/>
                  <a:cs typeface="Times New Roman" panose="02020603050405020304" pitchFamily="18" charset="0"/>
                </a:rPr>
                <a:t>n</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300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楷体" panose="02010609060101010101" pitchFamily="49" charset="-122"/>
                  <a:ea typeface="方正书宋_GBK"/>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30000" dirty="0">
                  <a:solidFill>
                    <a:srgbClr val="000000"/>
                  </a:solidFill>
                  <a:latin typeface="Times New Roman" panose="02020603050405020304" pitchFamily="18" charset="0"/>
                  <a:cs typeface="Times New Roman" panose="02020603050405020304" pitchFamily="18" charset="0"/>
                </a:rPr>
                <a:t>n-</a:t>
              </a:r>
              <a:r>
                <a:rPr lang="en-US" altLang="zh-CN" sz="2800" baseline="30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30000" dirty="0">
                  <a:solidFill>
                    <a:srgbClr val="000000"/>
                  </a:solidFill>
                  <a:latin typeface="Times New Roman" panose="02020603050405020304" pitchFamily="18" charset="0"/>
                  <a:cs typeface="Times New Roman" panose="02020603050405020304" pitchFamily="18" charset="0"/>
                </a:rPr>
                <a:t>n</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6" name="对象 5"/>
            <p:cNvGraphicFramePr>
              <a:graphicFrameLocks noChangeAspect="1"/>
            </p:cNvGraphicFramePr>
            <p:nvPr>
              <p:extLst>
                <p:ext uri="{D42A27DB-BD31-4B8C-83A1-F6EECF244321}">
                  <p14:modId xmlns:p14="http://schemas.microsoft.com/office/powerpoint/2010/main" val="4061209545"/>
                </p:ext>
              </p:extLst>
            </p:nvPr>
          </p:nvGraphicFramePr>
          <p:xfrm>
            <a:off x="44450" y="3378634"/>
            <a:ext cx="11401425" cy="3492500"/>
          </p:xfrm>
          <a:graphic>
            <a:graphicData uri="http://schemas.openxmlformats.org/presentationml/2006/ole">
              <mc:AlternateContent xmlns:mc="http://schemas.openxmlformats.org/markup-compatibility/2006">
                <mc:Choice xmlns:v="urn:schemas-microsoft-com:vml" Requires="v">
                  <p:oleObj spid="_x0000_s14367" name="文档" r:id="rId4" imgW="4510061" imgH="1390734" progId="Word.Document.12">
                    <p:embed/>
                  </p:oleObj>
                </mc:Choice>
                <mc:Fallback>
                  <p:oleObj name="文档" r:id="rId4" imgW="4510061" imgH="1390734" progId="Word.Document.12">
                    <p:embed/>
                    <p:pic>
                      <p:nvPicPr>
                        <p:cNvPr id="0" name=""/>
                        <p:cNvPicPr/>
                        <p:nvPr/>
                      </p:nvPicPr>
                      <p:blipFill>
                        <a:blip r:embed="rId5"/>
                        <a:stretch>
                          <a:fillRect/>
                        </a:stretch>
                      </p:blipFill>
                      <p:spPr>
                        <a:xfrm>
                          <a:off x="44450" y="3378634"/>
                          <a:ext cx="11401425" cy="3492500"/>
                        </a:xfrm>
                        <a:prstGeom prst="rect">
                          <a:avLst/>
                        </a:prstGeom>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1776246485"/>
                </p:ext>
              </p:extLst>
            </p:nvPr>
          </p:nvGraphicFramePr>
          <p:xfrm>
            <a:off x="42562" y="1042089"/>
            <a:ext cx="11430000" cy="1003297"/>
          </p:xfrm>
          <a:graphic>
            <a:graphicData uri="http://schemas.openxmlformats.org/presentationml/2006/ole">
              <mc:AlternateContent xmlns:mc="http://schemas.openxmlformats.org/markup-compatibility/2006">
                <mc:Choice xmlns:v="urn:schemas-microsoft-com:vml" Requires="v">
                  <p:oleObj spid="_x0000_s14368" name="文档" r:id="rId6" imgW="4520786" imgH="396823" progId="Word.Document.12">
                    <p:embed/>
                  </p:oleObj>
                </mc:Choice>
                <mc:Fallback>
                  <p:oleObj name="文档" r:id="rId6" imgW="4520786" imgH="396823" progId="Word.Document.12">
                    <p:embed/>
                    <p:pic>
                      <p:nvPicPr>
                        <p:cNvPr id="0" name=""/>
                        <p:cNvPicPr/>
                        <p:nvPr/>
                      </p:nvPicPr>
                      <p:blipFill>
                        <a:blip r:embed="rId7"/>
                        <a:stretch>
                          <a:fillRect/>
                        </a:stretch>
                      </p:blipFill>
                      <p:spPr>
                        <a:xfrm>
                          <a:off x="42562" y="1042089"/>
                          <a:ext cx="11430000" cy="1003297"/>
                        </a:xfrm>
                        <a:prstGeom prst="rect">
                          <a:avLst/>
                        </a:prstGeom>
                      </p:spPr>
                    </p:pic>
                  </p:oleObj>
                </mc:Fallback>
              </mc:AlternateContent>
            </a:graphicData>
          </a:graphic>
        </p:graphicFrame>
      </p:grpSp>
    </p:spTree>
    <p:extLst>
      <p:ext uri="{BB962C8B-B14F-4D97-AF65-F5344CB8AC3E}">
        <p14:creationId xmlns:p14="http://schemas.microsoft.com/office/powerpoint/2010/main" val="58799752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inVertical)">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024662"/>
            <a:ext cx="11430000" cy="3453253"/>
          </a:xfrm>
          <a:prstGeom prst="rect">
            <a:avLst/>
          </a:prstGeom>
        </p:spPr>
        <p:txBody>
          <a:bodyPr>
            <a:spAutoFit/>
          </a:bodyPr>
          <a:lstStyle/>
          <a:p>
            <a:pPr indent="280670">
              <a:lnSpc>
                <a:spcPct val="130000"/>
              </a:lnSpc>
              <a:spcAft>
                <a:spcPts val="0"/>
              </a:spcAft>
              <a:tabLst>
                <a:tab pos="1188085" algn="l"/>
                <a:tab pos="2163445" algn="l"/>
                <a:tab pos="3142615" algn="l"/>
                <a:tab pos="4190365" algn="l"/>
              </a:tabLst>
            </a:pPr>
            <a:r>
              <a:rPr lang="zh-CN" altLang="en-US" sz="28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反思感悟 </a:t>
            </a:r>
            <a:r>
              <a:rPr lang="en-US" altLang="zh-CN" sz="2800" b="1" dirty="0" smtClean="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一般地</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若数列</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是等差数列</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cs typeface="Times New Roman" panose="02020603050405020304" pitchFamily="18" charset="0"/>
              </a:rPr>
              <a:t>b</a:t>
            </a:r>
            <a:r>
              <a:rPr lang="en-US" altLang="zh-CN" sz="2800" i="1" baseline="-25000" dirty="0" err="1">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是等比数列且公比为</a:t>
            </a:r>
            <a:r>
              <a:rPr lang="en-US" altLang="zh-CN" sz="2800" i="1" dirty="0">
                <a:solidFill>
                  <a:srgbClr val="000000"/>
                </a:solidFill>
                <a:latin typeface="Times New Roman" panose="02020603050405020304" pitchFamily="18" charset="0"/>
                <a:cs typeface="Times New Roman" panose="02020603050405020304" pitchFamily="18" charset="0"/>
              </a:rPr>
              <a:t>q</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q</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求数列</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cs typeface="Times New Roman" panose="02020603050405020304" pitchFamily="18" charset="0"/>
              </a:rPr>
              <a:t>a</a:t>
            </a:r>
            <a:r>
              <a:rPr lang="en-US" altLang="zh-CN" sz="2800" i="1" baseline="-25000" dirty="0" err="1">
                <a:solidFill>
                  <a:srgbClr val="000000"/>
                </a:solidFill>
                <a:latin typeface="Times New Roman" panose="02020603050405020304" pitchFamily="18" charset="0"/>
                <a:cs typeface="Times New Roman" panose="02020603050405020304" pitchFamily="18" charset="0"/>
              </a:rPr>
              <a:t>n</a:t>
            </a:r>
            <a:r>
              <a:rPr lang="en-US" altLang="zh-CN" sz="2800" i="1" dirty="0" err="1">
                <a:solidFill>
                  <a:srgbClr val="000000"/>
                </a:solidFill>
                <a:latin typeface="Times New Roman" panose="02020603050405020304" pitchFamily="18" charset="0"/>
                <a:cs typeface="Times New Roman" panose="02020603050405020304" pitchFamily="18" charset="0"/>
              </a:rPr>
              <a:t>b</a:t>
            </a:r>
            <a:r>
              <a:rPr lang="en-US" altLang="zh-CN" sz="2800" i="1" baseline="-25000" dirty="0" err="1">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的前</a:t>
            </a:r>
            <a:r>
              <a:rPr lang="en-US" altLang="zh-CN" sz="2800" i="1" dirty="0">
                <a:solidFill>
                  <a:srgbClr val="000000"/>
                </a:solidFill>
                <a:latin typeface="Times New Roman" panose="02020603050405020304" pitchFamily="18" charset="0"/>
                <a:cs typeface="Times New Roman" panose="02020603050405020304" pitchFamily="18" charset="0"/>
              </a:rPr>
              <a:t>n</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项和时</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可采用错位相减法</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80670">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运用等比数列前</a:t>
            </a:r>
            <a:r>
              <a:rPr lang="en-US" altLang="zh-CN" sz="2800" i="1" dirty="0">
                <a:solidFill>
                  <a:srgbClr val="000000"/>
                </a:solidFill>
                <a:latin typeface="Times New Roman" panose="02020603050405020304" pitchFamily="18" charset="0"/>
                <a:cs typeface="Times New Roman" panose="02020603050405020304" pitchFamily="18" charset="0"/>
              </a:rPr>
              <a:t>n</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项和公式时</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必须注意公比</a:t>
            </a:r>
            <a:r>
              <a:rPr lang="en-US" altLang="zh-CN" sz="2800" i="1" dirty="0">
                <a:solidFill>
                  <a:srgbClr val="000000"/>
                </a:solidFill>
                <a:latin typeface="Times New Roman" panose="02020603050405020304" pitchFamily="18" charset="0"/>
                <a:cs typeface="Times New Roman" panose="02020603050405020304" pitchFamily="18" charset="0"/>
              </a:rPr>
              <a:t>q</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是否等于</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若不能确定公比</a:t>
            </a:r>
            <a:r>
              <a:rPr lang="en-US" altLang="zh-CN" sz="2800" i="1" dirty="0">
                <a:solidFill>
                  <a:srgbClr val="000000"/>
                </a:solidFill>
                <a:latin typeface="Times New Roman" panose="02020603050405020304" pitchFamily="18" charset="0"/>
                <a:cs typeface="Times New Roman" panose="02020603050405020304" pitchFamily="18" charset="0"/>
              </a:rPr>
              <a:t>q</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是否等于</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应分类讨论</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80670">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在写</a:t>
            </a:r>
            <a:r>
              <a:rPr lang="en-US" altLang="zh-CN" sz="2800" i="1" dirty="0" err="1">
                <a:solidFill>
                  <a:srgbClr val="000000"/>
                </a:solidFill>
                <a:latin typeface="Times New Roman" panose="02020603050405020304" pitchFamily="18" charset="0"/>
                <a:cs typeface="Times New Roman" panose="02020603050405020304" pitchFamily="18" charset="0"/>
              </a:rPr>
              <a:t>S</a:t>
            </a:r>
            <a:r>
              <a:rPr lang="en-US" altLang="zh-CN" sz="2800" i="1" baseline="-25000" dirty="0" err="1">
                <a:solidFill>
                  <a:srgbClr val="000000"/>
                </a:solidFill>
                <a:latin typeface="Times New Roman" panose="02020603050405020304" pitchFamily="18" charset="0"/>
                <a:cs typeface="Times New Roman" panose="02020603050405020304" pitchFamily="18" charset="0"/>
              </a:rPr>
              <a:t>n</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和</a:t>
            </a:r>
            <a:r>
              <a:rPr lang="en-US" altLang="zh-CN" sz="2800" i="1" dirty="0" err="1">
                <a:solidFill>
                  <a:srgbClr val="000000"/>
                </a:solidFill>
                <a:latin typeface="Times New Roman" panose="02020603050405020304" pitchFamily="18" charset="0"/>
                <a:cs typeface="Times New Roman" panose="02020603050405020304" pitchFamily="18" charset="0"/>
              </a:rPr>
              <a:t>qS</a:t>
            </a:r>
            <a:r>
              <a:rPr lang="en-US" altLang="zh-CN" sz="2800" i="1" baseline="-25000" dirty="0" err="1">
                <a:solidFill>
                  <a:srgbClr val="000000"/>
                </a:solidFill>
                <a:latin typeface="Times New Roman" panose="02020603050405020304" pitchFamily="18" charset="0"/>
                <a:cs typeface="Times New Roman" panose="02020603050405020304" pitchFamily="18" charset="0"/>
              </a:rPr>
              <a:t>n</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的表达式时</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应特别注意</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错项对齐</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以便于下一步准确写出</a:t>
            </a:r>
            <a:r>
              <a:rPr lang="en-US" altLang="zh-CN" sz="2800" i="1" dirty="0" err="1">
                <a:solidFill>
                  <a:srgbClr val="000000"/>
                </a:solidFill>
                <a:latin typeface="Times New Roman" panose="02020603050405020304" pitchFamily="18" charset="0"/>
                <a:cs typeface="Times New Roman" panose="02020603050405020304" pitchFamily="18" charset="0"/>
              </a:rPr>
              <a:t>S</a:t>
            </a:r>
            <a:r>
              <a:rPr lang="en-US" altLang="zh-CN" sz="2800" i="1" baseline="-25000" dirty="0" err="1">
                <a:solidFill>
                  <a:srgbClr val="000000"/>
                </a:solidFill>
                <a:latin typeface="Times New Roman" panose="02020603050405020304" pitchFamily="18" charset="0"/>
                <a:cs typeface="Times New Roman" panose="02020603050405020304" pitchFamily="18" charset="0"/>
              </a:rPr>
              <a:t>n</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72806954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245980"/>
            <a:ext cx="11430000" cy="1712520"/>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【变式训练</a:t>
            </a:r>
            <a:r>
              <a:rPr lang="en-US" altLang="zh-CN" sz="2800" b="1" dirty="0">
                <a:solidFill>
                  <a:srgbClr val="000000"/>
                </a:solidFill>
                <a:latin typeface="Times New Roman" panose="02020603050405020304" pitchFamily="18" charset="0"/>
                <a:cs typeface="Times New Roman" panose="02020603050405020304" pitchFamily="18" charset="0"/>
              </a:rPr>
              <a:t>3</a:t>
            </a: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NEU-BZ-S92"/>
                <a:ea typeface="Arial" panose="020B0604020202020204" pitchFamily="34" charset="0"/>
                <a:cs typeface="Times New Roman" panose="02020603050405020304" pitchFamily="18" charset="0"/>
              </a:rPr>
              <a:t> </a:t>
            </a:r>
            <a:r>
              <a:rPr lang="zh-CN" altLang="zh-CN" sz="2800" dirty="0">
                <a:solidFill>
                  <a:srgbClr val="000000"/>
                </a:solidFill>
                <a:latin typeface="Times New Roman" panose="02020603050405020304" pitchFamily="18" charset="0"/>
                <a:cs typeface="Times New Roman" panose="02020603050405020304" pitchFamily="18" charset="0"/>
              </a:rPr>
              <a:t>已知各项均为正数的等差数列</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的前</a:t>
            </a:r>
            <a:r>
              <a:rPr lang="en-US" altLang="zh-CN" sz="2800" i="1" dirty="0">
                <a:solidFill>
                  <a:srgbClr val="000000"/>
                </a:solidFill>
                <a:latin typeface="Times New Roman" panose="02020603050405020304" pitchFamily="18" charset="0"/>
                <a:cs typeface="Times New Roman" panose="02020603050405020304" pitchFamily="18" charset="0"/>
              </a:rPr>
              <a:t>n</a:t>
            </a:r>
            <a:r>
              <a:rPr lang="zh-CN" altLang="zh-CN" sz="2800" dirty="0">
                <a:solidFill>
                  <a:srgbClr val="000000"/>
                </a:solidFill>
                <a:latin typeface="Times New Roman" panose="02020603050405020304" pitchFamily="18" charset="0"/>
                <a:cs typeface="Times New Roman" panose="02020603050405020304" pitchFamily="18" charset="0"/>
              </a:rPr>
              <a:t>项和为</a:t>
            </a:r>
            <a:r>
              <a:rPr lang="en-US" altLang="zh-CN" sz="2800" i="1" dirty="0" err="1">
                <a:solidFill>
                  <a:srgbClr val="000000"/>
                </a:solidFill>
                <a:latin typeface="Times New Roman" panose="02020603050405020304" pitchFamily="18" charset="0"/>
                <a:cs typeface="Times New Roman" panose="02020603050405020304" pitchFamily="18" charset="0"/>
              </a:rPr>
              <a:t>S</a:t>
            </a:r>
            <a:r>
              <a:rPr lang="en-US" altLang="zh-CN" sz="2800" i="1" baseline="-25000" dirty="0" err="1">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若</a:t>
            </a:r>
            <a:r>
              <a:rPr lang="en-US" altLang="zh-CN" sz="2800" i="1" dirty="0">
                <a:solidFill>
                  <a:srgbClr val="000000"/>
                </a:solidFill>
                <a:latin typeface="Times New Roman" panose="02020603050405020304" pitchFamily="18" charset="0"/>
                <a:cs typeface="Times New Roman" panose="02020603050405020304" pitchFamily="18" charset="0"/>
              </a:rPr>
              <a:t>S</a:t>
            </a:r>
            <a:r>
              <a:rPr lang="en-US" altLang="zh-CN" sz="2800" baseline="-250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12,</a:t>
            </a:r>
            <a:r>
              <a:rPr lang="zh-CN" altLang="zh-CN" sz="2800" dirty="0">
                <a:solidFill>
                  <a:srgbClr val="000000"/>
                </a:solidFill>
                <a:latin typeface="Times New Roman" panose="02020603050405020304" pitchFamily="18" charset="0"/>
                <a:cs typeface="Times New Roman" panose="02020603050405020304" pitchFamily="18" charset="0"/>
              </a:rPr>
              <a:t>且</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成等比数列</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求</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的通项公式</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3210011035"/>
              </p:ext>
            </p:extLst>
          </p:nvPr>
        </p:nvGraphicFramePr>
        <p:xfrm>
          <a:off x="43343" y="2897083"/>
          <a:ext cx="11430000" cy="1003297"/>
        </p:xfrm>
        <a:graphic>
          <a:graphicData uri="http://schemas.openxmlformats.org/presentationml/2006/ole">
            <mc:AlternateContent xmlns:mc="http://schemas.openxmlformats.org/markup-compatibility/2006">
              <mc:Choice xmlns:v="urn:schemas-microsoft-com:vml" Requires="v">
                <p:oleObj spid="_x0000_s15375" name="文档" r:id="rId3" imgW="4520786" imgH="396823" progId="Word.Document.12">
                  <p:embed/>
                </p:oleObj>
              </mc:Choice>
              <mc:Fallback>
                <p:oleObj name="文档" r:id="rId3" imgW="4520786" imgH="396823" progId="Word.Document.12">
                  <p:embed/>
                  <p:pic>
                    <p:nvPicPr>
                      <p:cNvPr id="0" name=""/>
                      <p:cNvPicPr/>
                      <p:nvPr/>
                    </p:nvPicPr>
                    <p:blipFill>
                      <a:blip r:embed="rId4"/>
                      <a:stretch>
                        <a:fillRect/>
                      </a:stretch>
                    </p:blipFill>
                    <p:spPr>
                      <a:xfrm>
                        <a:off x="43343" y="2897083"/>
                        <a:ext cx="11430000" cy="1003297"/>
                      </a:xfrm>
                      <a:prstGeom prst="rect">
                        <a:avLst/>
                      </a:prstGeom>
                    </p:spPr>
                  </p:pic>
                </p:oleObj>
              </mc:Fallback>
            </mc:AlternateContent>
          </a:graphicData>
        </a:graphic>
      </p:graphicFrame>
    </p:spTree>
    <p:extLst>
      <p:ext uri="{BB962C8B-B14F-4D97-AF65-F5344CB8AC3E}">
        <p14:creationId xmlns:p14="http://schemas.microsoft.com/office/powerpoint/2010/main" val="165703421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32952" y="631104"/>
            <a:ext cx="11778048" cy="4276319"/>
            <a:chOff x="32952" y="1037934"/>
            <a:chExt cx="11778048" cy="4276319"/>
          </a:xfrm>
        </p:grpSpPr>
        <p:sp>
          <p:nvSpPr>
            <p:cNvPr id="2" name="矩形 1"/>
            <p:cNvSpPr>
              <a:spLocks noChangeAspect="1"/>
            </p:cNvSpPr>
            <p:nvPr/>
          </p:nvSpPr>
          <p:spPr>
            <a:xfrm>
              <a:off x="381000" y="1037934"/>
              <a:ext cx="11430000" cy="1152367"/>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解</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设等差数列</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的公差为</a:t>
              </a:r>
              <a:r>
                <a:rPr lang="en-US" altLang="zh-CN" sz="2800" i="1" dirty="0">
                  <a:solidFill>
                    <a:srgbClr val="000000"/>
                  </a:solidFill>
                  <a:latin typeface="Times New Roman" panose="02020603050405020304" pitchFamily="18" charset="0"/>
                  <a:cs typeface="Times New Roman" panose="02020603050405020304" pitchFamily="18" charset="0"/>
                </a:rPr>
                <a:t>d</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成等比数列</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2906778113"/>
                </p:ext>
              </p:extLst>
            </p:nvPr>
          </p:nvGraphicFramePr>
          <p:xfrm>
            <a:off x="32952" y="2217168"/>
            <a:ext cx="11430000" cy="2105920"/>
          </p:xfrm>
          <a:graphic>
            <a:graphicData uri="http://schemas.openxmlformats.org/presentationml/2006/ole">
              <mc:AlternateContent xmlns:mc="http://schemas.openxmlformats.org/markup-compatibility/2006">
                <mc:Choice xmlns:v="urn:schemas-microsoft-com:vml" Requires="v">
                  <p:oleObj spid="_x0000_s16397" name="文档" r:id="rId3" imgW="4520786" imgH="832932" progId="Word.Document.12">
                    <p:embed/>
                  </p:oleObj>
                </mc:Choice>
                <mc:Fallback>
                  <p:oleObj name="文档" r:id="rId3" imgW="4520786" imgH="832932" progId="Word.Document.12">
                    <p:embed/>
                    <p:pic>
                      <p:nvPicPr>
                        <p:cNvPr id="0" name=""/>
                        <p:cNvPicPr/>
                        <p:nvPr/>
                      </p:nvPicPr>
                      <p:blipFill>
                        <a:blip r:embed="rId4"/>
                        <a:stretch>
                          <a:fillRect/>
                        </a:stretch>
                      </p:blipFill>
                      <p:spPr>
                        <a:xfrm>
                          <a:off x="32952" y="2217168"/>
                          <a:ext cx="11430000" cy="2105920"/>
                        </a:xfrm>
                        <a:prstGeom prst="rect">
                          <a:avLst/>
                        </a:prstGeom>
                      </p:spPr>
                    </p:pic>
                  </p:oleObj>
                </mc:Fallback>
              </mc:AlternateContent>
            </a:graphicData>
          </a:graphic>
        </p:graphicFrame>
        <p:sp>
          <p:nvSpPr>
            <p:cNvPr id="4" name="矩形 3"/>
            <p:cNvSpPr>
              <a:spLocks noChangeAspect="1"/>
            </p:cNvSpPr>
            <p:nvPr/>
          </p:nvSpPr>
          <p:spPr>
            <a:xfrm>
              <a:off x="381000" y="4161886"/>
              <a:ext cx="11430000" cy="1152367"/>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解得</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d=</a:t>
              </a:r>
              <a:r>
                <a:rPr lang="en-US" altLang="zh-CN" sz="2800" dirty="0">
                  <a:solidFill>
                    <a:srgbClr val="000000"/>
                  </a:solidFill>
                  <a:latin typeface="Times New Roman" panose="02020603050405020304" pitchFamily="18" charset="0"/>
                  <a:cs typeface="Times New Roman" panose="02020603050405020304" pitchFamily="18" charset="0"/>
                </a:rPr>
                <a:t>3</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或</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8,</a:t>
              </a:r>
              <a:r>
                <a:rPr lang="en-US" altLang="zh-CN" sz="2800" i="1" dirty="0">
                  <a:solidFill>
                    <a:srgbClr val="000000"/>
                  </a:solidFill>
                  <a:latin typeface="Times New Roman" panose="02020603050405020304" pitchFamily="18" charset="0"/>
                  <a:cs typeface="Times New Roman" panose="02020603050405020304" pitchFamily="18" charset="0"/>
                </a:rPr>
                <a:t>d=-</a:t>
              </a:r>
              <a:r>
                <a:rPr lang="en-US" altLang="zh-CN" sz="2800" dirty="0">
                  <a:solidFill>
                    <a:srgbClr val="000000"/>
                  </a:solidFill>
                  <a:latin typeface="Times New Roman" panose="02020603050405020304" pitchFamily="18" charset="0"/>
                  <a:cs typeface="Times New Roman" panose="02020603050405020304" pitchFamily="18" charset="0"/>
                </a:rPr>
                <a:t>4(</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舍去</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d=</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grpSp>
    </p:spTree>
    <p:extLst>
      <p:ext uri="{BB962C8B-B14F-4D97-AF65-F5344CB8AC3E}">
        <p14:creationId xmlns:p14="http://schemas.microsoft.com/office/powerpoint/2010/main" val="72016533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2535384340"/>
              </p:ext>
            </p:extLst>
          </p:nvPr>
        </p:nvGraphicFramePr>
        <p:xfrm>
          <a:off x="43248" y="143369"/>
          <a:ext cx="11430000" cy="6017954"/>
        </p:xfrm>
        <a:graphic>
          <a:graphicData uri="http://schemas.openxmlformats.org/presentationml/2006/ole">
            <mc:AlternateContent xmlns:mc="http://schemas.openxmlformats.org/markup-compatibility/2006">
              <mc:Choice xmlns:v="urn:schemas-microsoft-com:vml" Requires="v">
                <p:oleObj spid="_x0000_s17421" name="文档" r:id="rId3" imgW="4510061" imgH="2382160" progId="Word.Document.12">
                  <p:embed/>
                </p:oleObj>
              </mc:Choice>
              <mc:Fallback>
                <p:oleObj name="文档" r:id="rId3" imgW="4510061" imgH="2382160" progId="Word.Document.12">
                  <p:embed/>
                  <p:pic>
                    <p:nvPicPr>
                      <p:cNvPr id="0" name=""/>
                      <p:cNvPicPr/>
                      <p:nvPr/>
                    </p:nvPicPr>
                    <p:blipFill>
                      <a:blip r:embed="rId4"/>
                      <a:stretch>
                        <a:fillRect/>
                      </a:stretch>
                    </p:blipFill>
                    <p:spPr>
                      <a:xfrm>
                        <a:off x="43248" y="143369"/>
                        <a:ext cx="11430000" cy="6017954"/>
                      </a:xfrm>
                      <a:prstGeom prst="rect">
                        <a:avLst/>
                      </a:prstGeom>
                    </p:spPr>
                  </p:pic>
                </p:oleObj>
              </mc:Fallback>
            </mc:AlternateContent>
          </a:graphicData>
        </a:graphic>
      </p:graphicFrame>
    </p:spTree>
    <p:extLst>
      <p:ext uri="{BB962C8B-B14F-4D97-AF65-F5344CB8AC3E}">
        <p14:creationId xmlns:p14="http://schemas.microsoft.com/office/powerpoint/2010/main" val="385600949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a:spLocks noChangeAspect="1"/>
          </p:cNvSpPr>
          <p:nvPr/>
        </p:nvSpPr>
        <p:spPr>
          <a:xfrm>
            <a:off x="381000" y="50021"/>
            <a:ext cx="2362200" cy="640625"/>
          </a:xfrm>
          <a:prstGeom prst="rect">
            <a:avLst/>
          </a:prstGeom>
        </p:spPr>
        <p:txBody>
          <a:bodyPr wrap="square">
            <a:spAutoFit/>
          </a:bodyPr>
          <a:lstStyle/>
          <a:p>
            <a:pPr>
              <a:lnSpc>
                <a:spcPct val="130000"/>
              </a:lnSpc>
              <a:tabLst>
                <a:tab pos="1188085" algn="l"/>
                <a:tab pos="2163445" algn="l"/>
                <a:tab pos="3142615" algn="l"/>
                <a:tab pos="4190365" algn="l"/>
              </a:tabLst>
            </a:pPr>
            <a:r>
              <a:rPr lang="zh-CN" altLang="zh-CN" sz="3200" b="1" dirty="0" smtClean="0">
                <a:solidFill>
                  <a:srgbClr val="E88651">
                    <a:lumMod val="75000"/>
                  </a:srgbClr>
                </a:solidFill>
                <a:latin typeface="黑体" panose="02010609060101010101" pitchFamily="49" charset="-122"/>
                <a:ea typeface="方正姚体" panose="02010601030101010101"/>
                <a:cs typeface="方正姚体" panose="02010601030101010101" charset="-122"/>
              </a:rPr>
              <a:t>【</a:t>
            </a:r>
            <a:r>
              <a:rPr lang="zh-CN" altLang="en-US" sz="3200" b="1" dirty="0" smtClean="0">
                <a:solidFill>
                  <a:srgbClr val="E88651">
                    <a:lumMod val="75000"/>
                  </a:srgbClr>
                </a:solidFill>
                <a:latin typeface="黑体" panose="02010609060101010101" pitchFamily="49" charset="-122"/>
                <a:ea typeface="方正姚体" panose="02010601030101010101"/>
                <a:cs typeface="方正姚体" panose="02010601030101010101" charset="-122"/>
              </a:rPr>
              <a:t>思想方法</a:t>
            </a:r>
            <a:r>
              <a:rPr lang="zh-CN" altLang="zh-CN" sz="3200" b="1" dirty="0" smtClean="0">
                <a:solidFill>
                  <a:srgbClr val="E88651">
                    <a:lumMod val="75000"/>
                  </a:srgbClr>
                </a:solidFill>
                <a:latin typeface="黑体" panose="02010609060101010101" pitchFamily="49" charset="-122"/>
                <a:ea typeface="方正姚体" panose="02010601030101010101"/>
                <a:cs typeface="方正姚体" panose="02010601030101010101" charset="-122"/>
              </a:rPr>
              <a:t>】</a:t>
            </a:r>
            <a:r>
              <a:rPr lang="en-US" altLang="zh-CN" sz="3200" b="1" dirty="0" smtClean="0">
                <a:solidFill>
                  <a:srgbClr val="E88651">
                    <a:lumMod val="75000"/>
                  </a:srgbClr>
                </a:solidFill>
                <a:latin typeface="黑体" panose="02010609060101010101" pitchFamily="49" charset="-122"/>
                <a:ea typeface="方正姚体" panose="02010601030101010101"/>
                <a:cs typeface="方正姚体" panose="02010601030101010101" charset="-122"/>
              </a:rPr>
              <a:t> </a:t>
            </a:r>
            <a:endParaRPr lang="zh-CN" altLang="zh-CN" sz="3200" b="1" dirty="0">
              <a:solidFill>
                <a:srgbClr val="E88651">
                  <a:lumMod val="75000"/>
                </a:srgbClr>
              </a:solidFill>
              <a:latin typeface="黑体" panose="02010609060101010101" pitchFamily="49" charset="-122"/>
              <a:ea typeface="方正姚体" panose="02010601030101010101"/>
              <a:cs typeface="方正姚体" panose="02010601030101010101" charset="-122"/>
            </a:endParaRPr>
          </a:p>
        </p:txBody>
      </p:sp>
      <p:sp>
        <p:nvSpPr>
          <p:cNvPr id="2" name="矩形 1"/>
          <p:cNvSpPr>
            <a:spLocks noChangeAspect="1"/>
          </p:cNvSpPr>
          <p:nvPr/>
        </p:nvSpPr>
        <p:spPr>
          <a:xfrm>
            <a:off x="3799538" y="123892"/>
            <a:ext cx="4592924" cy="652486"/>
          </a:xfrm>
          <a:prstGeom prst="rect">
            <a:avLst/>
          </a:prstGeom>
        </p:spPr>
        <p:txBody>
          <a:bodyPr wrap="none">
            <a:spAutoFit/>
          </a:bodyPr>
          <a:lstStyle/>
          <a:p>
            <a:pPr algn="ctr">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用分段求和的思想</a:t>
            </a:r>
            <a:r>
              <a:rPr lang="zh-CN" altLang="zh-CN" sz="2800" dirty="0" smtClean="0">
                <a:solidFill>
                  <a:srgbClr val="000000"/>
                </a:solidFill>
                <a:latin typeface="Arial" panose="020B0604020202020204" pitchFamily="34" charset="0"/>
                <a:ea typeface="黑体" panose="02010609060101010101" pitchFamily="49" charset="-122"/>
                <a:cs typeface="Times New Roman" panose="02020603050405020304" pitchFamily="18" charset="0"/>
              </a:rPr>
              <a:t>解决问题</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271914567"/>
              </p:ext>
            </p:extLst>
          </p:nvPr>
        </p:nvGraphicFramePr>
        <p:xfrm>
          <a:off x="43248" y="1994818"/>
          <a:ext cx="11430000" cy="4713942"/>
        </p:xfrm>
        <a:graphic>
          <a:graphicData uri="http://schemas.openxmlformats.org/presentationml/2006/ole">
            <mc:AlternateContent xmlns:mc="http://schemas.openxmlformats.org/markup-compatibility/2006">
              <mc:Choice xmlns:v="urn:schemas-microsoft-com:vml" Requires="v">
                <p:oleObj spid="_x0000_s18457" name="文档" r:id="rId3" imgW="4510061" imgH="1865725" progId="Word.Document.12">
                  <p:embed/>
                </p:oleObj>
              </mc:Choice>
              <mc:Fallback>
                <p:oleObj name="文档" r:id="rId3" imgW="4510061" imgH="1865725" progId="Word.Document.12">
                  <p:embed/>
                  <p:pic>
                    <p:nvPicPr>
                      <p:cNvPr id="0" name=""/>
                      <p:cNvPicPr/>
                      <p:nvPr/>
                    </p:nvPicPr>
                    <p:blipFill>
                      <a:blip r:embed="rId4"/>
                      <a:stretch>
                        <a:fillRect/>
                      </a:stretch>
                    </p:blipFill>
                    <p:spPr>
                      <a:xfrm>
                        <a:off x="43248" y="1994818"/>
                        <a:ext cx="11430000" cy="4713942"/>
                      </a:xfrm>
                      <a:prstGeom prst="rect">
                        <a:avLst/>
                      </a:prstGeom>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566941482"/>
              </p:ext>
            </p:extLst>
          </p:nvPr>
        </p:nvGraphicFramePr>
        <p:xfrm>
          <a:off x="43248" y="727864"/>
          <a:ext cx="11275153" cy="1487498"/>
        </p:xfrm>
        <a:graphic>
          <a:graphicData uri="http://schemas.openxmlformats.org/presentationml/2006/ole">
            <mc:AlternateContent xmlns:mc="http://schemas.openxmlformats.org/markup-compatibility/2006">
              <mc:Choice xmlns:v="urn:schemas-microsoft-com:vml" Requires="v">
                <p:oleObj spid="_x0000_s18458" name="文档" r:id="rId5" imgW="4510061" imgH="594999" progId="Word.Document.12">
                  <p:embed/>
                </p:oleObj>
              </mc:Choice>
              <mc:Fallback>
                <p:oleObj name="文档" r:id="rId5" imgW="4510061" imgH="594999" progId="Word.Document.12">
                  <p:embed/>
                  <p:pic>
                    <p:nvPicPr>
                      <p:cNvPr id="0" name=""/>
                      <p:cNvPicPr/>
                      <p:nvPr/>
                    </p:nvPicPr>
                    <p:blipFill>
                      <a:blip r:embed="rId6"/>
                      <a:stretch>
                        <a:fillRect/>
                      </a:stretch>
                    </p:blipFill>
                    <p:spPr>
                      <a:xfrm>
                        <a:off x="43248" y="727864"/>
                        <a:ext cx="11275153" cy="1487498"/>
                      </a:xfrm>
                      <a:prstGeom prst="rect">
                        <a:avLst/>
                      </a:prstGeom>
                    </p:spPr>
                  </p:pic>
                </p:oleObj>
              </mc:Fallback>
            </mc:AlternateContent>
          </a:graphicData>
        </a:graphic>
      </p:graphicFrame>
    </p:spTree>
    <p:extLst>
      <p:ext uri="{BB962C8B-B14F-4D97-AF65-F5344CB8AC3E}">
        <p14:creationId xmlns:p14="http://schemas.microsoft.com/office/powerpoint/2010/main" val="424954606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513073"/>
            <a:ext cx="11430000" cy="2272673"/>
          </a:xfrm>
          <a:prstGeom prst="rect">
            <a:avLst/>
          </a:prstGeom>
        </p:spPr>
        <p:txBody>
          <a:bodyPr>
            <a:spAutoFit/>
          </a:bodyPr>
          <a:lstStyle/>
          <a:p>
            <a:pPr indent="279400">
              <a:lnSpc>
                <a:spcPct val="130000"/>
              </a:lnSpc>
              <a:spcAft>
                <a:spcPts val="0"/>
              </a:spcAft>
              <a:tabLst>
                <a:tab pos="1029335" algn="l"/>
                <a:tab pos="1850390" algn="l"/>
                <a:tab pos="2538095" algn="l"/>
                <a:tab pos="3221990" algn="l"/>
              </a:tabLst>
            </a:pPr>
            <a:r>
              <a:rPr lang="zh-CN" altLang="en-US" sz="280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方法点睛 </a:t>
            </a:r>
            <a:r>
              <a:rPr lang="zh-CN" altLang="zh-CN" sz="2800" dirty="0" smtClean="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类似</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典例中的分段数列求和问题</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一般是转化为等差数列与等比数列问题求解</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解题时需要对数列的项数及奇数项、偶数项的项数进行分类讨论说明</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需要特别说明的是在分段数列中</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规律是隔项成等差数列或成等比数列</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81285578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43248" y="2690098"/>
            <a:ext cx="11767752" cy="2180378"/>
            <a:chOff x="43248" y="2576919"/>
            <a:chExt cx="11767752" cy="2180378"/>
          </a:xfrm>
        </p:grpSpPr>
        <p:sp>
          <p:nvSpPr>
            <p:cNvPr id="3" name="矩形 2"/>
            <p:cNvSpPr>
              <a:spLocks noChangeAspect="1"/>
            </p:cNvSpPr>
            <p:nvPr/>
          </p:nvSpPr>
          <p:spPr>
            <a:xfrm>
              <a:off x="381000" y="2576919"/>
              <a:ext cx="11430000" cy="1152367"/>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解</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因为</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n</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为偶数</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所以奇数项与偶数项各有</a:t>
              </a:r>
              <a:r>
                <a:rPr lang="en-US" altLang="zh-CN" sz="2800" i="1" dirty="0">
                  <a:solidFill>
                    <a:srgbClr val="000000"/>
                  </a:solidFill>
                  <a:latin typeface="Times New Roman" panose="02020603050405020304" pitchFamily="18" charset="0"/>
                  <a:cs typeface="Times New Roman" panose="02020603050405020304" pitchFamily="18" charset="0"/>
                </a:rPr>
                <a:t>n</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项</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所以</a:t>
              </a:r>
              <a:r>
                <a:rPr lang="en-US" altLang="zh-CN" sz="2800" i="1" dirty="0">
                  <a:solidFill>
                    <a:srgbClr val="000000"/>
                  </a:solidFill>
                  <a:latin typeface="Times New Roman" panose="02020603050405020304" pitchFamily="18" charset="0"/>
                  <a:cs typeface="Times New Roman" panose="02020603050405020304" pitchFamily="18" charset="0"/>
                </a:rPr>
                <a:t>S</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5</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楷体" panose="02010609060101010101" pitchFamily="49" charset="-122"/>
                  <a:ea typeface="方正书宋_GBK"/>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baseline="300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baseline="30000" dirty="0">
                  <a:solidFill>
                    <a:srgbClr val="000000"/>
                  </a:solidFill>
                  <a:latin typeface="Times New Roman" panose="02020603050405020304" pitchFamily="18" charset="0"/>
                  <a:cs typeface="Times New Roman" panose="02020603050405020304" pitchFamily="18" charset="0"/>
                </a:rPr>
                <a:t>6</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楷体" panose="02010609060101010101" pitchFamily="49" charset="-122"/>
                  <a:ea typeface="方正书宋_GBK"/>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baseline="30000"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1893620287"/>
                </p:ext>
              </p:extLst>
            </p:nvPr>
          </p:nvGraphicFramePr>
          <p:xfrm>
            <a:off x="43248" y="3754000"/>
            <a:ext cx="11430000" cy="1003297"/>
          </p:xfrm>
          <a:graphic>
            <a:graphicData uri="http://schemas.openxmlformats.org/presentationml/2006/ole">
              <mc:AlternateContent xmlns:mc="http://schemas.openxmlformats.org/markup-compatibility/2006">
                <mc:Choice xmlns:v="urn:schemas-microsoft-com:vml" Requires="v">
                  <p:oleObj spid="_x0000_s19482" name="文档" r:id="rId3" imgW="4520786" imgH="396823" progId="Word.Document.12">
                    <p:embed/>
                  </p:oleObj>
                </mc:Choice>
                <mc:Fallback>
                  <p:oleObj name="文档" r:id="rId3" imgW="4520786" imgH="396823" progId="Word.Document.12">
                    <p:embed/>
                    <p:pic>
                      <p:nvPicPr>
                        <p:cNvPr id="0" name=""/>
                        <p:cNvPicPr/>
                        <p:nvPr/>
                      </p:nvPicPr>
                      <p:blipFill>
                        <a:blip r:embed="rId4"/>
                        <a:stretch>
                          <a:fillRect/>
                        </a:stretch>
                      </p:blipFill>
                      <p:spPr>
                        <a:xfrm>
                          <a:off x="43248" y="3754000"/>
                          <a:ext cx="11430000" cy="1003297"/>
                        </a:xfrm>
                        <a:prstGeom prst="rect">
                          <a:avLst/>
                        </a:prstGeom>
                      </p:spPr>
                    </p:pic>
                  </p:oleObj>
                </mc:Fallback>
              </mc:AlternateContent>
            </a:graphicData>
          </a:graphic>
        </p:graphicFrame>
      </p:grpSp>
      <p:graphicFrame>
        <p:nvGraphicFramePr>
          <p:cNvPr id="6" name="对象 5"/>
          <p:cNvGraphicFramePr>
            <a:graphicFrameLocks noChangeAspect="1"/>
          </p:cNvGraphicFramePr>
          <p:nvPr>
            <p:extLst>
              <p:ext uri="{D42A27DB-BD31-4B8C-83A1-F6EECF244321}">
                <p14:modId xmlns:p14="http://schemas.microsoft.com/office/powerpoint/2010/main" val="402998425"/>
              </p:ext>
            </p:extLst>
          </p:nvPr>
        </p:nvGraphicFramePr>
        <p:xfrm>
          <a:off x="458424" y="561440"/>
          <a:ext cx="11275153" cy="2082138"/>
        </p:xfrm>
        <a:graphic>
          <a:graphicData uri="http://schemas.openxmlformats.org/presentationml/2006/ole">
            <mc:AlternateContent xmlns:mc="http://schemas.openxmlformats.org/markup-compatibility/2006">
              <mc:Choice xmlns:v="urn:schemas-microsoft-com:vml" Requires="v">
                <p:oleObj spid="_x0000_s19483" name="文档" r:id="rId5" imgW="4510061" imgH="832855" progId="Word.Document.12">
                  <p:embed/>
                </p:oleObj>
              </mc:Choice>
              <mc:Fallback>
                <p:oleObj name="文档" r:id="rId5" imgW="4510061" imgH="832855" progId="Word.Document.12">
                  <p:embed/>
                  <p:pic>
                    <p:nvPicPr>
                      <p:cNvPr id="0" name=""/>
                      <p:cNvPicPr/>
                      <p:nvPr/>
                    </p:nvPicPr>
                    <p:blipFill>
                      <a:blip r:embed="rId6"/>
                      <a:stretch>
                        <a:fillRect/>
                      </a:stretch>
                    </p:blipFill>
                    <p:spPr>
                      <a:xfrm>
                        <a:off x="458424" y="561440"/>
                        <a:ext cx="11275153" cy="2082138"/>
                      </a:xfrm>
                      <a:prstGeom prst="rect">
                        <a:avLst/>
                      </a:prstGeom>
                    </p:spPr>
                  </p:pic>
                </p:oleObj>
              </mc:Fallback>
            </mc:AlternateContent>
          </a:graphicData>
        </a:graphic>
      </p:graphicFrame>
    </p:spTree>
    <p:extLst>
      <p:ext uri="{BB962C8B-B14F-4D97-AF65-F5344CB8AC3E}">
        <p14:creationId xmlns:p14="http://schemas.microsoft.com/office/powerpoint/2010/main" val="381710205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2617835" y="2558415"/>
            <a:ext cx="1105802" cy="815646"/>
            <a:chOff x="-1604504" y="2147667"/>
            <a:chExt cx="3687215" cy="2719712"/>
          </a:xfrm>
        </p:grpSpPr>
        <p:cxnSp>
          <p:nvCxnSpPr>
            <p:cNvPr id="7" name="直接连接符 6"/>
            <p:cNvCxnSpPr/>
            <p:nvPr/>
          </p:nvCxnSpPr>
          <p:spPr>
            <a:xfrm flipH="1">
              <a:off x="-1604504" y="2687623"/>
              <a:ext cx="2592288" cy="2179756"/>
            </a:xfrm>
            <a:prstGeom prst="line">
              <a:avLst/>
            </a:prstGeom>
            <a:noFill/>
            <a:ln w="76200" cap="flat" cmpd="sng" algn="ctr">
              <a:solidFill>
                <a:schemeClr val="tx2">
                  <a:lumMod val="50000"/>
                </a:schemeClr>
              </a:solidFill>
              <a:prstDash val="solid"/>
            </a:ln>
            <a:effectLst/>
          </p:spPr>
        </p:cxnSp>
        <p:cxnSp>
          <p:nvCxnSpPr>
            <p:cNvPr id="8" name="直接连接符 7"/>
            <p:cNvCxnSpPr/>
            <p:nvPr/>
          </p:nvCxnSpPr>
          <p:spPr>
            <a:xfrm flipH="1">
              <a:off x="-509577" y="2147667"/>
              <a:ext cx="2592288" cy="2179756"/>
            </a:xfrm>
            <a:prstGeom prst="line">
              <a:avLst/>
            </a:prstGeom>
            <a:noFill/>
            <a:ln w="12700" cap="flat" cmpd="sng" algn="ctr">
              <a:solidFill>
                <a:schemeClr val="tx2">
                  <a:lumMod val="50000"/>
                </a:schemeClr>
              </a:solidFill>
              <a:prstDash val="solid"/>
            </a:ln>
            <a:effectLst/>
          </p:spPr>
        </p:cxnSp>
      </p:grpSp>
      <p:grpSp>
        <p:nvGrpSpPr>
          <p:cNvPr id="9" name="组合 8"/>
          <p:cNvGrpSpPr/>
          <p:nvPr/>
        </p:nvGrpSpPr>
        <p:grpSpPr>
          <a:xfrm flipH="1" flipV="1">
            <a:off x="8334801" y="2587481"/>
            <a:ext cx="1105803" cy="815646"/>
            <a:chOff x="-1604504" y="2147667"/>
            <a:chExt cx="3687215" cy="2719712"/>
          </a:xfrm>
        </p:grpSpPr>
        <p:cxnSp>
          <p:nvCxnSpPr>
            <p:cNvPr id="10" name="直接连接符 9"/>
            <p:cNvCxnSpPr/>
            <p:nvPr/>
          </p:nvCxnSpPr>
          <p:spPr>
            <a:xfrm flipH="1">
              <a:off x="-1604504" y="2687623"/>
              <a:ext cx="2592288" cy="2179756"/>
            </a:xfrm>
            <a:prstGeom prst="line">
              <a:avLst/>
            </a:prstGeom>
            <a:noFill/>
            <a:ln w="76200" cap="flat" cmpd="sng" algn="ctr">
              <a:solidFill>
                <a:sysClr val="windowText" lastClr="000000">
                  <a:lumMod val="85000"/>
                  <a:lumOff val="15000"/>
                </a:sysClr>
              </a:solidFill>
              <a:prstDash val="solid"/>
            </a:ln>
            <a:effectLst/>
          </p:spPr>
        </p:cxnSp>
        <p:cxnSp>
          <p:nvCxnSpPr>
            <p:cNvPr id="11" name="直接连接符 10"/>
            <p:cNvCxnSpPr/>
            <p:nvPr/>
          </p:nvCxnSpPr>
          <p:spPr>
            <a:xfrm flipH="1">
              <a:off x="-509577" y="2147667"/>
              <a:ext cx="2592288" cy="2179756"/>
            </a:xfrm>
            <a:prstGeom prst="line">
              <a:avLst/>
            </a:prstGeom>
            <a:noFill/>
            <a:ln w="12700" cap="flat" cmpd="sng" algn="ctr">
              <a:solidFill>
                <a:sysClr val="windowText" lastClr="000000">
                  <a:lumMod val="85000"/>
                  <a:lumOff val="15000"/>
                </a:sysClr>
              </a:solidFill>
              <a:prstDash val="solid"/>
            </a:ln>
            <a:effectLst/>
          </p:spPr>
        </p:cxnSp>
      </p:grpSp>
      <p:sp>
        <p:nvSpPr>
          <p:cNvPr id="12" name="文本框 11"/>
          <p:cNvSpPr txBox="1"/>
          <p:nvPr/>
        </p:nvSpPr>
        <p:spPr>
          <a:xfrm>
            <a:off x="3612492" y="2507615"/>
            <a:ext cx="4587875" cy="922020"/>
          </a:xfrm>
          <a:prstGeom prst="rect">
            <a:avLst/>
          </a:prstGeom>
          <a:noFill/>
        </p:spPr>
        <p:txBody>
          <a:bodyPr wrap="square" rtlCol="0">
            <a:spAutoFit/>
          </a:bodyPr>
          <a:lstStyle/>
          <a:p>
            <a:pPr algn="ctr"/>
            <a:r>
              <a:rPr lang="zh-CN" altLang="en-US" sz="5400" b="1" dirty="0" smtClean="0">
                <a:solidFill>
                  <a:srgbClr val="4D4D4D"/>
                </a:solidFill>
                <a:latin typeface="方正姚体" panose="02010601030101010101" charset="-122"/>
                <a:ea typeface="方正姚体" panose="02010601030101010101" charset="-122"/>
                <a:cs typeface="隶书" panose="02010509060101010101" pitchFamily="49" charset="-122"/>
                <a:sym typeface="+mn-ea"/>
              </a:rPr>
              <a:t>随堂练习</a:t>
            </a:r>
            <a:endParaRPr lang="zh-CN" altLang="en-US" sz="5400" b="1" dirty="0">
              <a:solidFill>
                <a:srgbClr val="4D4D4D"/>
              </a:solidFill>
              <a:latin typeface="方正姚体" panose="02010601030101010101" charset="-122"/>
              <a:ea typeface="方正姚体" panose="02010601030101010101" charset="-122"/>
              <a:cs typeface="隶书" panose="02010509060101010101" pitchFamily="49" charset="-122"/>
              <a:sym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381000" y="208045"/>
            <a:ext cx="11533103" cy="2639143"/>
            <a:chOff x="381000" y="422324"/>
            <a:chExt cx="11533103" cy="2639143"/>
          </a:xfrm>
        </p:grpSpPr>
        <p:graphicFrame>
          <p:nvGraphicFramePr>
            <p:cNvPr id="3" name="对象 2"/>
            <p:cNvGraphicFramePr>
              <a:graphicFrameLocks noChangeAspect="1"/>
            </p:cNvGraphicFramePr>
            <p:nvPr>
              <p:extLst>
                <p:ext uri="{D42A27DB-BD31-4B8C-83A1-F6EECF244321}">
                  <p14:modId xmlns:p14="http://schemas.microsoft.com/office/powerpoint/2010/main" val="1419166911"/>
                </p:ext>
              </p:extLst>
            </p:nvPr>
          </p:nvGraphicFramePr>
          <p:xfrm>
            <a:off x="484103" y="422324"/>
            <a:ext cx="11430000" cy="1604726"/>
          </p:xfrm>
          <a:graphic>
            <a:graphicData uri="http://schemas.openxmlformats.org/presentationml/2006/ole">
              <mc:AlternateContent xmlns:mc="http://schemas.openxmlformats.org/markup-compatibility/2006">
                <mc:Choice xmlns:v="urn:schemas-microsoft-com:vml" Requires="v">
                  <p:oleObj spid="_x0000_s20504" name="文档" r:id="rId3" imgW="4510061" imgH="635723" progId="Word.Document.12">
                    <p:embed/>
                  </p:oleObj>
                </mc:Choice>
                <mc:Fallback>
                  <p:oleObj name="文档" r:id="rId3" imgW="4510061" imgH="635723" progId="Word.Document.12">
                    <p:embed/>
                    <p:pic>
                      <p:nvPicPr>
                        <p:cNvPr id="0" name=""/>
                        <p:cNvPicPr/>
                        <p:nvPr/>
                      </p:nvPicPr>
                      <p:blipFill>
                        <a:blip r:embed="rId4"/>
                        <a:stretch>
                          <a:fillRect/>
                        </a:stretch>
                      </p:blipFill>
                      <p:spPr>
                        <a:xfrm>
                          <a:off x="484103" y="422324"/>
                          <a:ext cx="11430000" cy="1604726"/>
                        </a:xfrm>
                        <a:prstGeom prst="rect">
                          <a:avLst/>
                        </a:prstGeom>
                      </p:spPr>
                    </p:pic>
                  </p:oleObj>
                </mc:Fallback>
              </mc:AlternateContent>
            </a:graphicData>
          </a:graphic>
        </p:graphicFrame>
        <p:sp>
          <p:nvSpPr>
            <p:cNvPr id="4" name="矩形 3"/>
            <p:cNvSpPr>
              <a:spLocks noChangeAspect="1"/>
            </p:cNvSpPr>
            <p:nvPr/>
          </p:nvSpPr>
          <p:spPr>
            <a:xfrm>
              <a:off x="381000" y="1848827"/>
              <a:ext cx="11430000" cy="121264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A.11	</a:t>
              </a:r>
              <a:r>
                <a:rPr lang="en-US" altLang="zh-CN" sz="2800" dirty="0" smtClean="0">
                  <a:solidFill>
                    <a:srgbClr val="000000"/>
                  </a:solidFill>
                  <a:latin typeface="Times New Roman" panose="02020603050405020304" pitchFamily="18" charset="0"/>
                  <a:cs typeface="Times New Roman" panose="02020603050405020304" pitchFamily="18" charset="0"/>
                </a:rPr>
                <a:t>	B.99</a:t>
              </a:r>
              <a:endParaRPr lang="zh-CN" altLang="zh-CN" sz="2800" dirty="0">
                <a:solidFill>
                  <a:srgbClr val="000000"/>
                </a:solidFill>
                <a:latin typeface="NEU-BZ-S92"/>
                <a:ea typeface="方正书宋_GBK"/>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C.120	</a:t>
              </a:r>
              <a:r>
                <a:rPr lang="en-US" altLang="zh-CN" sz="2800" dirty="0" smtClean="0">
                  <a:solidFill>
                    <a:srgbClr val="000000"/>
                  </a:solidFill>
                  <a:latin typeface="Times New Roman" panose="02020603050405020304" pitchFamily="18" charset="0"/>
                  <a:cs typeface="Times New Roman" panose="02020603050405020304" pitchFamily="18" charset="0"/>
                </a:rPr>
                <a:t>	D.121</a:t>
              </a:r>
              <a:endParaRPr lang="zh-CN" altLang="zh-CN" sz="2800" dirty="0">
                <a:solidFill>
                  <a:srgbClr val="000000"/>
                </a:solidFill>
                <a:effectLst/>
                <a:latin typeface="NEU-BZ-S92"/>
                <a:ea typeface="方正书宋_GBK"/>
                <a:cs typeface="Times New Roman" panose="02020603050405020304" pitchFamily="18" charset="0"/>
              </a:endParaRPr>
            </a:p>
          </p:txBody>
        </p:sp>
      </p:grpSp>
      <p:graphicFrame>
        <p:nvGraphicFramePr>
          <p:cNvPr id="2" name="对象 1"/>
          <p:cNvGraphicFramePr>
            <a:graphicFrameLocks noChangeAspect="1"/>
          </p:cNvGraphicFramePr>
          <p:nvPr>
            <p:extLst>
              <p:ext uri="{D42A27DB-BD31-4B8C-83A1-F6EECF244321}">
                <p14:modId xmlns:p14="http://schemas.microsoft.com/office/powerpoint/2010/main" val="257280907"/>
              </p:ext>
            </p:extLst>
          </p:nvPr>
        </p:nvGraphicFramePr>
        <p:xfrm>
          <a:off x="484103" y="2828876"/>
          <a:ext cx="11430000" cy="2419962"/>
        </p:xfrm>
        <a:graphic>
          <a:graphicData uri="http://schemas.openxmlformats.org/presentationml/2006/ole">
            <mc:AlternateContent xmlns:mc="http://schemas.openxmlformats.org/markup-compatibility/2006">
              <mc:Choice xmlns:v="urn:schemas-microsoft-com:vml" Requires="v">
                <p:oleObj spid="_x0000_s20505" name="文档" r:id="rId5" imgW="4510061" imgH="954871" progId="Word.Document.12">
                  <p:embed/>
                </p:oleObj>
              </mc:Choice>
              <mc:Fallback>
                <p:oleObj name="文档" r:id="rId5" imgW="4510061" imgH="954871" progId="Word.Document.12">
                  <p:embed/>
                  <p:pic>
                    <p:nvPicPr>
                      <p:cNvPr id="0" name=""/>
                      <p:cNvPicPr/>
                      <p:nvPr/>
                    </p:nvPicPr>
                    <p:blipFill>
                      <a:blip r:embed="rId6"/>
                      <a:stretch>
                        <a:fillRect/>
                      </a:stretch>
                    </p:blipFill>
                    <p:spPr>
                      <a:xfrm>
                        <a:off x="484103" y="2828876"/>
                        <a:ext cx="11430000" cy="2419962"/>
                      </a:xfrm>
                      <a:prstGeom prst="rect">
                        <a:avLst/>
                      </a:prstGeom>
                    </p:spPr>
                  </p:pic>
                </p:oleObj>
              </mc:Fallback>
            </mc:AlternateContent>
          </a:graphicData>
        </a:graphic>
      </p:graphicFrame>
      <p:sp>
        <p:nvSpPr>
          <p:cNvPr id="9" name="矩形 8"/>
          <p:cNvSpPr>
            <a:spLocks noChangeAspect="1"/>
          </p:cNvSpPr>
          <p:nvPr/>
        </p:nvSpPr>
        <p:spPr>
          <a:xfrm>
            <a:off x="381000" y="5186492"/>
            <a:ext cx="1330814" cy="652486"/>
          </a:xfrm>
          <a:prstGeom prst="rect">
            <a:avLst/>
          </a:prstGeom>
        </p:spPr>
        <p:txBody>
          <a:bodyPr wrap="none">
            <a:spAutoFit/>
          </a:bodyPr>
          <a:lstStyle/>
          <a:p>
            <a:pPr>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smtClean="0">
                <a:solidFill>
                  <a:srgbClr val="000000"/>
                </a:solidFill>
                <a:latin typeface="Times New Roman" panose="02020603050405020304" pitchFamily="18" charset="0"/>
                <a:cs typeface="Times New Roman" panose="02020603050405020304" pitchFamily="18" charset="0"/>
              </a:rPr>
              <a:t>C </a:t>
            </a:r>
            <a:endParaRPr lang="zh-CN" altLang="zh-CN" sz="2800" dirty="0">
              <a:solidFill>
                <a:srgbClr val="000000"/>
              </a:solidFill>
              <a:effectLst/>
              <a:latin typeface="NEU-BZ-S92"/>
              <a:ea typeface="方正书宋_GBK"/>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arn(inVertical)">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138812204"/>
              </p:ext>
            </p:extLst>
          </p:nvPr>
        </p:nvGraphicFramePr>
        <p:xfrm>
          <a:off x="484103" y="273039"/>
          <a:ext cx="11430000" cy="3610408"/>
        </p:xfrm>
        <a:graphic>
          <a:graphicData uri="http://schemas.openxmlformats.org/presentationml/2006/ole">
            <mc:AlternateContent xmlns:mc="http://schemas.openxmlformats.org/markup-compatibility/2006">
              <mc:Choice xmlns:v="urn:schemas-microsoft-com:vml" Requires="v">
                <p:oleObj spid="_x0000_s21528" name="文档" r:id="rId3" imgW="4510061" imgH="1430377" progId="Word.Document.12">
                  <p:embed/>
                </p:oleObj>
              </mc:Choice>
              <mc:Fallback>
                <p:oleObj name="文档" r:id="rId3" imgW="4510061" imgH="1430377" progId="Word.Document.12">
                  <p:embed/>
                  <p:pic>
                    <p:nvPicPr>
                      <p:cNvPr id="0" name=""/>
                      <p:cNvPicPr/>
                      <p:nvPr/>
                    </p:nvPicPr>
                    <p:blipFill>
                      <a:blip r:embed="rId4"/>
                      <a:stretch>
                        <a:fillRect/>
                      </a:stretch>
                    </p:blipFill>
                    <p:spPr>
                      <a:xfrm>
                        <a:off x="484103" y="273039"/>
                        <a:ext cx="11430000" cy="3610408"/>
                      </a:xfrm>
                      <a:prstGeom prst="rect">
                        <a:avLst/>
                      </a:prstGeom>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1926544153"/>
              </p:ext>
            </p:extLst>
          </p:nvPr>
        </p:nvGraphicFramePr>
        <p:xfrm>
          <a:off x="473712" y="3851021"/>
          <a:ext cx="11430000" cy="1363449"/>
        </p:xfrm>
        <a:graphic>
          <a:graphicData uri="http://schemas.openxmlformats.org/presentationml/2006/ole">
            <mc:AlternateContent xmlns:mc="http://schemas.openxmlformats.org/markup-compatibility/2006">
              <mc:Choice xmlns:v="urn:schemas-microsoft-com:vml" Requires="v">
                <p:oleObj spid="_x0000_s21529" name="文档" r:id="rId5" imgW="4510061" imgH="537991" progId="Word.Document.12">
                  <p:embed/>
                </p:oleObj>
              </mc:Choice>
              <mc:Fallback>
                <p:oleObj name="文档" r:id="rId5" imgW="4510061" imgH="537991" progId="Word.Document.12">
                  <p:embed/>
                  <p:pic>
                    <p:nvPicPr>
                      <p:cNvPr id="0" name=""/>
                      <p:cNvPicPr/>
                      <p:nvPr/>
                    </p:nvPicPr>
                    <p:blipFill>
                      <a:blip r:embed="rId6"/>
                      <a:stretch>
                        <a:fillRect/>
                      </a:stretch>
                    </p:blipFill>
                    <p:spPr>
                      <a:xfrm>
                        <a:off x="473712" y="3851021"/>
                        <a:ext cx="11430000" cy="1363449"/>
                      </a:xfrm>
                      <a:prstGeom prst="rect">
                        <a:avLst/>
                      </a:prstGeom>
                    </p:spPr>
                  </p:pic>
                </p:oleObj>
              </mc:Fallback>
            </mc:AlternateContent>
          </a:graphicData>
        </a:graphic>
      </p:graphicFrame>
      <p:sp>
        <p:nvSpPr>
          <p:cNvPr id="6" name="矩形 5"/>
          <p:cNvSpPr>
            <a:spLocks noChangeAspect="1"/>
          </p:cNvSpPr>
          <p:nvPr/>
        </p:nvSpPr>
        <p:spPr>
          <a:xfrm>
            <a:off x="381000" y="5214470"/>
            <a:ext cx="1330814" cy="652486"/>
          </a:xfrm>
          <a:prstGeom prst="rect">
            <a:avLst/>
          </a:prstGeom>
        </p:spPr>
        <p:txBody>
          <a:bodyPr wrap="none">
            <a:spAutoFit/>
          </a:bodyPr>
          <a:lstStyle/>
          <a:p>
            <a:pPr>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smtClean="0">
                <a:solidFill>
                  <a:srgbClr val="000000"/>
                </a:solidFill>
                <a:latin typeface="Times New Roman" panose="02020603050405020304" pitchFamily="18" charset="0"/>
                <a:cs typeface="Times New Roman" panose="02020603050405020304" pitchFamily="18" charset="0"/>
              </a:rPr>
              <a:t>C </a:t>
            </a:r>
            <a:endParaRPr lang="zh-CN" altLang="zh-CN" sz="2800" dirty="0">
              <a:solidFill>
                <a:srgbClr val="000000"/>
              </a:solidFill>
              <a:effectLst/>
              <a:latin typeface="NEU-BZ-S92"/>
              <a:ea typeface="方正书宋_GBK"/>
              <a:cs typeface="Times New Roman" panose="02020603050405020304" pitchFamily="18" charset="0"/>
            </a:endParaRPr>
          </a:p>
        </p:txBody>
      </p:sp>
    </p:spTree>
    <p:extLst>
      <p:ext uri="{BB962C8B-B14F-4D97-AF65-F5344CB8AC3E}">
        <p14:creationId xmlns:p14="http://schemas.microsoft.com/office/powerpoint/2010/main" val="2382526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arn(inVertical)">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矩形 3"/>
              <p:cNvSpPr>
                <a:spLocks noChangeAspect="1"/>
              </p:cNvSpPr>
              <p:nvPr/>
            </p:nvSpPr>
            <p:spPr>
              <a:xfrm>
                <a:off x="381000" y="126279"/>
                <a:ext cx="11430000" cy="6295506"/>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已知等比数列</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中</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81</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若数列</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cs typeface="Times New Roman" panose="02020603050405020304" pitchFamily="18" charset="0"/>
                  </a:rPr>
                  <a:t>b</a:t>
                </a:r>
                <a:r>
                  <a:rPr lang="en-US" altLang="zh-CN" sz="2800" i="1" baseline="-25000" dirty="0" err="1">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满足</a:t>
                </a:r>
                <a:r>
                  <a:rPr lang="en-US" altLang="zh-CN" sz="2800" i="1" dirty="0" err="1">
                    <a:solidFill>
                      <a:srgbClr val="000000"/>
                    </a:solidFill>
                    <a:latin typeface="Times New Roman" panose="02020603050405020304" pitchFamily="18" charset="0"/>
                    <a:cs typeface="Times New Roman" panose="02020603050405020304" pitchFamily="18" charset="0"/>
                  </a:rPr>
                  <a:t>b</a:t>
                </a:r>
                <a:r>
                  <a:rPr lang="en-US" altLang="zh-CN" sz="2800" i="1" baseline="-25000" dirty="0" err="1">
                    <a:solidFill>
                      <a:srgbClr val="000000"/>
                    </a:solidFill>
                    <a:latin typeface="Times New Roman" panose="02020603050405020304" pitchFamily="18" charset="0"/>
                    <a:cs typeface="Times New Roman" panose="02020603050405020304" pitchFamily="18" charset="0"/>
                  </a:rPr>
                  <a:t>n</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log</a:t>
                </a:r>
                <a:r>
                  <a:rPr lang="en-US" altLang="zh-CN" sz="2800" baseline="-250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则数列</a:t>
                </a:r>
                <a14:m>
                  <m:oMath xmlns:m="http://schemas.openxmlformats.org/officeDocument/2006/math">
                    <m:d>
                      <m:dPr>
                        <m:begChr m:val="{"/>
                        <m:end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dPr>
                      <m:e>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a:solidFill>
                                  <a:srgbClr val="000000"/>
                                </a:solidFill>
                                <a:latin typeface="Cambria Math" panose="02040503050406030204" pitchFamily="18" charset="0"/>
                                <a:cs typeface="Times New Roman" panose="02020603050405020304" pitchFamily="18" charset="0"/>
                              </a:rPr>
                              <m:t>1</m:t>
                            </m:r>
                          </m:num>
                          <m:den>
                            <m:sSub>
                              <m:sSub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a:solidFill>
                                      <a:srgbClr val="000000"/>
                                    </a:solidFill>
                                    <a:latin typeface="Cambria Math" panose="02040503050406030204" pitchFamily="18" charset="0"/>
                                    <a:cs typeface="Times New Roman" panose="02020603050405020304" pitchFamily="18" charset="0"/>
                                  </a:rPr>
                                  <m:t>𝑏</m:t>
                                </m:r>
                              </m:e>
                              <m:sub>
                                <m:r>
                                  <a:rPr lang="en-US" altLang="zh-CN" sz="2800" i="1">
                                    <a:solidFill>
                                      <a:srgbClr val="000000"/>
                                    </a:solidFill>
                                    <a:latin typeface="Cambria Math" panose="02040503050406030204" pitchFamily="18" charset="0"/>
                                    <a:cs typeface="Times New Roman" panose="02020603050405020304" pitchFamily="18" charset="0"/>
                                  </a:rPr>
                                  <m:t>𝑛</m:t>
                                </m:r>
                              </m:sub>
                            </m:sSub>
                            <m:sSub>
                              <m:sSub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a:solidFill>
                                      <a:srgbClr val="000000"/>
                                    </a:solidFill>
                                    <a:latin typeface="Cambria Math" panose="02040503050406030204" pitchFamily="18" charset="0"/>
                                    <a:cs typeface="Times New Roman" panose="02020603050405020304" pitchFamily="18" charset="0"/>
                                  </a:rPr>
                                  <m:t>𝑏</m:t>
                                </m:r>
                              </m:e>
                              <m:sub>
                                <m:r>
                                  <a:rPr lang="en-US" altLang="zh-CN" sz="2800" i="1">
                                    <a:solidFill>
                                      <a:srgbClr val="000000"/>
                                    </a:solidFill>
                                    <a:latin typeface="Cambria Math" panose="02040503050406030204" pitchFamily="18" charset="0"/>
                                    <a:cs typeface="Times New Roman" panose="02020603050405020304" pitchFamily="18" charset="0"/>
                                  </a:rPr>
                                  <m:t>𝑛</m:t>
                                </m:r>
                                <m:r>
                                  <a:rPr lang="en-US" altLang="zh-CN" sz="2800">
                                    <a:solidFill>
                                      <a:srgbClr val="000000"/>
                                    </a:solidFill>
                                    <a:latin typeface="Cambria Math" panose="02040503050406030204" pitchFamily="18" charset="0"/>
                                    <a:cs typeface="Times New Roman" panose="02020603050405020304" pitchFamily="18" charset="0"/>
                                  </a:rPr>
                                  <m:t>+1</m:t>
                                </m:r>
                              </m:sub>
                            </m:sSub>
                          </m:den>
                        </m:f>
                      </m:e>
                    </m:d>
                  </m:oMath>
                </a14:m>
                <a:r>
                  <a:rPr lang="zh-CN" altLang="zh-CN" sz="2800" dirty="0">
                    <a:solidFill>
                      <a:srgbClr val="000000"/>
                    </a:solidFill>
                    <a:latin typeface="Times New Roman" panose="02020603050405020304" pitchFamily="18" charset="0"/>
                    <a:cs typeface="Times New Roman" panose="02020603050405020304" pitchFamily="18" charset="0"/>
                  </a:rPr>
                  <a:t>的前</a:t>
                </a:r>
                <a:r>
                  <a:rPr lang="en-US" altLang="zh-CN" sz="2800" dirty="0">
                    <a:solidFill>
                      <a:srgbClr val="000000"/>
                    </a:solidFill>
                    <a:latin typeface="Times New Roman" panose="02020603050405020304" pitchFamily="18" charset="0"/>
                    <a:cs typeface="Times New Roman" panose="02020603050405020304" pitchFamily="18" charset="0"/>
                  </a:rPr>
                  <a:t>4 024</a:t>
                </a:r>
                <a:r>
                  <a:rPr lang="zh-CN" altLang="zh-CN" sz="2800" dirty="0">
                    <a:solidFill>
                      <a:srgbClr val="000000"/>
                    </a:solidFill>
                    <a:latin typeface="Times New Roman" panose="02020603050405020304" pitchFamily="18" charset="0"/>
                    <a:cs typeface="Times New Roman" panose="02020603050405020304" pitchFamily="18" charset="0"/>
                  </a:rPr>
                  <a:t>项的和为</a:t>
                </a:r>
                <a:r>
                  <a:rPr lang="zh-CN" altLang="zh-CN" sz="2800" i="1" u="sng" dirty="0">
                    <a:solidFill>
                      <a:srgbClr val="FF0000"/>
                    </a:solidFill>
                    <a:uFill>
                      <a:solidFill>
                        <a:srgbClr val="000000"/>
                      </a:solidFill>
                    </a:uFill>
                    <a:latin typeface="Times New Roman" panose="02020603050405020304" pitchFamily="18" charset="0"/>
                    <a:cs typeface="Times New Roman" panose="02020603050405020304" pitchFamily="18" charset="0"/>
                  </a:rPr>
                  <a:t>　　　　　</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 </a:t>
                </a:r>
                <a:r>
                  <a:rPr lang="en-US" altLang="zh-CN" sz="2800" dirty="0">
                    <a:solidFill>
                      <a:srgbClr val="000000"/>
                    </a:solidFill>
                    <a:effectLst/>
                    <a:latin typeface="宋体" panose="02010600030101010101" pitchFamily="2" charset="-122"/>
                    <a:ea typeface="方正书宋_GBK" panose="03000509000000000000" pitchFamily="65" charset="-122"/>
                    <a:cs typeface="Times New Roman" panose="02020603050405020304" pitchFamily="18" charset="0"/>
                  </a:rPr>
                  <a:t> </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dirty="0">
                    <a:solidFill>
                      <a:srgbClr val="FF0000"/>
                    </a:solidFill>
                    <a:effectLst/>
                    <a:latin typeface="Arial" panose="020B0604020202020204" pitchFamily="34" charset="0"/>
                    <a:ea typeface="黑体" panose="02010609060101010101" pitchFamily="49" charset="-122"/>
                    <a:cs typeface="Times New Roman" panose="02020603050405020304" pitchFamily="18" charset="0"/>
                  </a:rPr>
                  <a:t>解析</a:t>
                </a:r>
                <a:r>
                  <a:rPr lang="en-US" altLang="zh-CN" sz="2800" dirty="0">
                    <a:solidFill>
                      <a:srgbClr val="FF0000"/>
                    </a:solidFill>
                    <a:effectLst/>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设数列</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的公比为</a:t>
                </a:r>
                <a:r>
                  <a:rPr lang="en-US" altLang="zh-CN" sz="2800" i="1" dirty="0">
                    <a:solidFill>
                      <a:srgbClr val="000000"/>
                    </a:solidFill>
                    <a:latin typeface="Times New Roman" panose="02020603050405020304" pitchFamily="18" charset="0"/>
                    <a:cs typeface="Times New Roman" panose="02020603050405020304" pitchFamily="18" charset="0"/>
                  </a:rPr>
                  <a:t>q.</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a:t>
                </a:r>
                <a14:m>
                  <m:oMath xmlns:m="http://schemas.openxmlformats.org/officeDocument/2006/math">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sSub>
                          <m:sSub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a:solidFill>
                                  <a:srgbClr val="000000"/>
                                </a:solidFill>
                                <a:latin typeface="Cambria Math" panose="02040503050406030204" pitchFamily="18" charset="0"/>
                                <a:cs typeface="Times New Roman" panose="02020603050405020304" pitchFamily="18" charset="0"/>
                              </a:rPr>
                              <m:t>𝑎</m:t>
                            </m:r>
                          </m:e>
                          <m:sub>
                            <m:r>
                              <a:rPr lang="en-US" altLang="zh-CN" sz="2800">
                                <a:solidFill>
                                  <a:srgbClr val="000000"/>
                                </a:solidFill>
                                <a:latin typeface="Cambria Math" panose="02040503050406030204" pitchFamily="18" charset="0"/>
                                <a:cs typeface="Times New Roman" panose="02020603050405020304" pitchFamily="18" charset="0"/>
                              </a:rPr>
                              <m:t>4</m:t>
                            </m:r>
                          </m:sub>
                        </m:sSub>
                      </m:num>
                      <m:den>
                        <m:sSub>
                          <m:sSub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a:solidFill>
                                  <a:srgbClr val="000000"/>
                                </a:solidFill>
                                <a:latin typeface="Cambria Math" panose="02040503050406030204" pitchFamily="18" charset="0"/>
                                <a:cs typeface="Times New Roman" panose="02020603050405020304" pitchFamily="18" charset="0"/>
                              </a:rPr>
                              <m:t>𝑎</m:t>
                            </m:r>
                          </m:e>
                          <m:sub>
                            <m:r>
                              <a:rPr lang="en-US" altLang="zh-CN" sz="2800">
                                <a:solidFill>
                                  <a:srgbClr val="000000"/>
                                </a:solidFill>
                                <a:latin typeface="Cambria Math" panose="02040503050406030204" pitchFamily="18" charset="0"/>
                                <a:cs typeface="Times New Roman" panose="02020603050405020304" pitchFamily="18" charset="0"/>
                              </a:rPr>
                              <m:t>1</m:t>
                            </m:r>
                          </m:sub>
                        </m:sSub>
                      </m:den>
                    </m:f>
                  </m:oMath>
                </a14:m>
                <a:r>
                  <a:rPr lang="en-US" altLang="zh-CN" sz="2800" i="1" dirty="0">
                    <a:solidFill>
                      <a:srgbClr val="000000"/>
                    </a:solidFill>
                    <a:latin typeface="Times New Roman" panose="02020603050405020304" pitchFamily="18" charset="0"/>
                    <a:cs typeface="Times New Roman" panose="02020603050405020304" pitchFamily="18" charset="0"/>
                  </a:rPr>
                  <a:t>=q</a:t>
                </a:r>
                <a:r>
                  <a:rPr lang="en-US" altLang="zh-CN" sz="2800" baseline="300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27,</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q=</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q</a:t>
                </a:r>
                <a:r>
                  <a:rPr lang="en-US" altLang="zh-CN" sz="2800" i="1" baseline="30000" dirty="0">
                    <a:solidFill>
                      <a:srgbClr val="000000"/>
                    </a:solidFill>
                    <a:latin typeface="Times New Roman" panose="02020603050405020304" pitchFamily="18" charset="0"/>
                    <a:cs typeface="Times New Roman" panose="02020603050405020304" pitchFamily="18" charset="0"/>
                  </a:rPr>
                  <a:t>n-</a:t>
                </a:r>
                <a:r>
                  <a:rPr lang="en-US" altLang="zh-CN" sz="2800" baseline="30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3×3</a:t>
                </a:r>
                <a:r>
                  <a:rPr lang="en-US" altLang="zh-CN" sz="2800" i="1" baseline="30000" dirty="0">
                    <a:solidFill>
                      <a:srgbClr val="000000"/>
                    </a:solidFill>
                    <a:latin typeface="Times New Roman" panose="02020603050405020304" pitchFamily="18" charset="0"/>
                    <a:cs typeface="Times New Roman" panose="02020603050405020304" pitchFamily="18" charset="0"/>
                  </a:rPr>
                  <a:t>n-</a:t>
                </a:r>
                <a:r>
                  <a:rPr lang="en-US" altLang="zh-CN" sz="2800" baseline="30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baseline="30000" dirty="0">
                    <a:solidFill>
                      <a:srgbClr val="000000"/>
                    </a:solidFill>
                    <a:latin typeface="Times New Roman" panose="02020603050405020304" pitchFamily="18" charset="0"/>
                    <a:cs typeface="Times New Roman" panose="02020603050405020304" pitchFamily="18" charset="0"/>
                  </a:rPr>
                  <a:t>n</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NEU-BZ-S92"/>
                    <a:cs typeface="宋体" panose="02010600030101010101" pitchFamily="2" charset="-122"/>
                  </a:rPr>
                  <a:t>∴</a:t>
                </a:r>
                <a:r>
                  <a:rPr lang="en-US" altLang="zh-CN" sz="2800" i="1" dirty="0" err="1">
                    <a:solidFill>
                      <a:srgbClr val="000000"/>
                    </a:solidFill>
                    <a:latin typeface="Times New Roman" panose="02020603050405020304" pitchFamily="18" charset="0"/>
                    <a:cs typeface="Times New Roman" panose="02020603050405020304" pitchFamily="18" charset="0"/>
                  </a:rPr>
                  <a:t>b</a:t>
                </a:r>
                <a:r>
                  <a:rPr lang="en-US" altLang="zh-CN" sz="2800" i="1" baseline="-25000" dirty="0" err="1">
                    <a:solidFill>
                      <a:srgbClr val="000000"/>
                    </a:solidFill>
                    <a:latin typeface="Times New Roman" panose="02020603050405020304" pitchFamily="18" charset="0"/>
                    <a:cs typeface="Times New Roman" panose="02020603050405020304" pitchFamily="18" charset="0"/>
                  </a:rPr>
                  <a:t>n</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log</a:t>
                </a:r>
                <a:r>
                  <a:rPr lang="en-US" altLang="zh-CN" sz="2800" baseline="-250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i="1" dirty="0">
                    <a:solidFill>
                      <a:srgbClr val="000000"/>
                    </a:solidFill>
                    <a:latin typeface="Times New Roman" panose="02020603050405020304" pitchFamily="18" charset="0"/>
                    <a:cs typeface="Times New Roman" panose="02020603050405020304" pitchFamily="18" charset="0"/>
                  </a:rPr>
                  <a:t>=n.</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a:t>
                </a:r>
                <a14:m>
                  <m:oMath xmlns:m="http://schemas.openxmlformats.org/officeDocument/2006/math">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a:solidFill>
                              <a:srgbClr val="000000"/>
                            </a:solidFill>
                            <a:latin typeface="Cambria Math" panose="02040503050406030204" pitchFamily="18" charset="0"/>
                            <a:cs typeface="Times New Roman" panose="02020603050405020304" pitchFamily="18" charset="0"/>
                          </a:rPr>
                          <m:t>1</m:t>
                        </m:r>
                      </m:num>
                      <m:den>
                        <m:sSub>
                          <m:sSub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a:solidFill>
                                  <a:srgbClr val="000000"/>
                                </a:solidFill>
                                <a:latin typeface="Cambria Math" panose="02040503050406030204" pitchFamily="18" charset="0"/>
                                <a:cs typeface="Times New Roman" panose="02020603050405020304" pitchFamily="18" charset="0"/>
                              </a:rPr>
                              <m:t>𝑏</m:t>
                            </m:r>
                          </m:e>
                          <m:sub>
                            <m:r>
                              <a:rPr lang="en-US" altLang="zh-CN" sz="2800" i="1">
                                <a:solidFill>
                                  <a:srgbClr val="000000"/>
                                </a:solidFill>
                                <a:latin typeface="Cambria Math" panose="02040503050406030204" pitchFamily="18" charset="0"/>
                                <a:cs typeface="Times New Roman" panose="02020603050405020304" pitchFamily="18" charset="0"/>
                              </a:rPr>
                              <m:t>𝑛</m:t>
                            </m:r>
                          </m:sub>
                        </m:sSub>
                        <m:sSub>
                          <m:sSub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a:solidFill>
                                  <a:srgbClr val="000000"/>
                                </a:solidFill>
                                <a:latin typeface="Cambria Math" panose="02040503050406030204" pitchFamily="18" charset="0"/>
                                <a:cs typeface="Times New Roman" panose="02020603050405020304" pitchFamily="18" charset="0"/>
                              </a:rPr>
                              <m:t>𝑏</m:t>
                            </m:r>
                          </m:e>
                          <m:sub>
                            <m:r>
                              <a:rPr lang="en-US" altLang="zh-CN" sz="2800" i="1">
                                <a:solidFill>
                                  <a:srgbClr val="000000"/>
                                </a:solidFill>
                                <a:latin typeface="Cambria Math" panose="02040503050406030204" pitchFamily="18" charset="0"/>
                                <a:cs typeface="Times New Roman" panose="02020603050405020304" pitchFamily="18" charset="0"/>
                              </a:rPr>
                              <m:t>𝑛</m:t>
                            </m:r>
                            <m:r>
                              <a:rPr lang="en-US" altLang="zh-CN" sz="2800">
                                <a:solidFill>
                                  <a:srgbClr val="000000"/>
                                </a:solidFill>
                                <a:latin typeface="Cambria Math" panose="02040503050406030204" pitchFamily="18" charset="0"/>
                                <a:cs typeface="Times New Roman" panose="02020603050405020304" pitchFamily="18" charset="0"/>
                              </a:rPr>
                              <m:t>+1</m:t>
                            </m:r>
                          </m:sub>
                        </m:sSub>
                      </m:den>
                    </m:f>
                    <m:r>
                      <a:rPr lang="en-US" altLang="zh-CN" sz="2800" i="1">
                        <a:solidFill>
                          <a:srgbClr val="000000"/>
                        </a:solidFill>
                        <a:latin typeface="Cambria Math" panose="02040503050406030204" pitchFamily="18" charset="0"/>
                        <a:cs typeface="Times New Roman" panose="02020603050405020304" pitchFamily="18" charset="0"/>
                      </a:rPr>
                      <m:t>=</m:t>
                    </m:r>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a:solidFill>
                              <a:srgbClr val="000000"/>
                            </a:solidFill>
                            <a:latin typeface="Cambria Math" panose="02040503050406030204" pitchFamily="18" charset="0"/>
                            <a:cs typeface="Times New Roman" panose="02020603050405020304" pitchFamily="18" charset="0"/>
                          </a:rPr>
                          <m:t>1</m:t>
                        </m:r>
                      </m:num>
                      <m:den>
                        <m:r>
                          <a:rPr lang="en-US" altLang="zh-CN" sz="2800" i="1">
                            <a:solidFill>
                              <a:srgbClr val="000000"/>
                            </a:solidFill>
                            <a:latin typeface="Cambria Math" panose="02040503050406030204" pitchFamily="18" charset="0"/>
                            <a:cs typeface="Times New Roman" panose="02020603050405020304" pitchFamily="18" charset="0"/>
                          </a:rPr>
                          <m:t>𝑛</m:t>
                        </m:r>
                        <m:r>
                          <m:rPr>
                            <m:nor/>
                          </m:rPr>
                          <a:rPr lang="en-US" altLang="zh-CN" sz="2800">
                            <a:solidFill>
                              <a:srgbClr val="000000"/>
                            </a:solidFill>
                            <a:latin typeface="Times New Roman" panose="02020603050405020304" pitchFamily="18" charset="0"/>
                            <a:cs typeface="Times New Roman" panose="02020603050405020304" pitchFamily="18" charset="0"/>
                          </a:rPr>
                          <m:t>(</m:t>
                        </m:r>
                        <m:r>
                          <a:rPr lang="en-US" altLang="zh-CN" sz="2800" i="1">
                            <a:solidFill>
                              <a:srgbClr val="000000"/>
                            </a:solidFill>
                            <a:latin typeface="Cambria Math" panose="02040503050406030204" pitchFamily="18" charset="0"/>
                            <a:cs typeface="Times New Roman" panose="02020603050405020304" pitchFamily="18" charset="0"/>
                          </a:rPr>
                          <m:t>𝑛</m:t>
                        </m:r>
                        <m:r>
                          <a:rPr lang="en-US" altLang="zh-CN" sz="2800">
                            <a:solidFill>
                              <a:srgbClr val="000000"/>
                            </a:solidFill>
                            <a:latin typeface="Cambria Math" panose="02040503050406030204" pitchFamily="18" charset="0"/>
                            <a:cs typeface="Times New Roman" panose="02020603050405020304" pitchFamily="18" charset="0"/>
                          </a:rPr>
                          <m:t>+1</m:t>
                        </m:r>
                        <m:r>
                          <m:rPr>
                            <m:nor/>
                          </m:rPr>
                          <a:rPr lang="en-US" altLang="zh-CN" sz="2800">
                            <a:solidFill>
                              <a:srgbClr val="000000"/>
                            </a:solidFill>
                            <a:latin typeface="Times New Roman" panose="02020603050405020304" pitchFamily="18" charset="0"/>
                            <a:cs typeface="Times New Roman" panose="02020603050405020304" pitchFamily="18" charset="0"/>
                          </a:rPr>
                          <m:t>)</m:t>
                        </m:r>
                      </m:den>
                    </m:f>
                    <m:r>
                      <a:rPr lang="en-US" altLang="zh-CN" sz="2800" i="1">
                        <a:solidFill>
                          <a:srgbClr val="000000"/>
                        </a:solidFill>
                        <a:latin typeface="Cambria Math" panose="02040503050406030204" pitchFamily="18" charset="0"/>
                        <a:cs typeface="Times New Roman" panose="02020603050405020304" pitchFamily="18" charset="0"/>
                      </a:rPr>
                      <m:t>=</m:t>
                    </m:r>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a:solidFill>
                              <a:srgbClr val="000000"/>
                            </a:solidFill>
                            <a:latin typeface="Cambria Math" panose="02040503050406030204" pitchFamily="18" charset="0"/>
                            <a:cs typeface="Times New Roman" panose="02020603050405020304" pitchFamily="18" charset="0"/>
                          </a:rPr>
                          <m:t>1</m:t>
                        </m:r>
                      </m:num>
                      <m:den>
                        <m:r>
                          <a:rPr lang="en-US" altLang="zh-CN" sz="2800" i="1">
                            <a:solidFill>
                              <a:srgbClr val="000000"/>
                            </a:solidFill>
                            <a:latin typeface="Cambria Math" panose="02040503050406030204" pitchFamily="18" charset="0"/>
                            <a:cs typeface="Times New Roman" panose="02020603050405020304" pitchFamily="18" charset="0"/>
                          </a:rPr>
                          <m:t>𝑛</m:t>
                        </m:r>
                      </m:den>
                    </m:f>
                    <m:r>
                      <a:rPr lang="en-US" altLang="zh-CN" sz="2800" i="1">
                        <a:solidFill>
                          <a:srgbClr val="000000"/>
                        </a:solidFill>
                        <a:latin typeface="Cambria Math" panose="02040503050406030204" pitchFamily="18" charset="0"/>
                        <a:cs typeface="Times New Roman" panose="02020603050405020304" pitchFamily="18" charset="0"/>
                      </a:rPr>
                      <m:t>−</m:t>
                    </m:r>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a:solidFill>
                              <a:srgbClr val="000000"/>
                            </a:solidFill>
                            <a:latin typeface="Cambria Math" panose="02040503050406030204" pitchFamily="18" charset="0"/>
                            <a:cs typeface="Times New Roman" panose="02020603050405020304" pitchFamily="18" charset="0"/>
                          </a:rPr>
                          <m:t>1</m:t>
                        </m:r>
                      </m:num>
                      <m:den>
                        <m:r>
                          <a:rPr lang="en-US" altLang="zh-CN" sz="2800" i="1">
                            <a:solidFill>
                              <a:srgbClr val="000000"/>
                            </a:solidFill>
                            <a:latin typeface="Cambria Math" panose="02040503050406030204" pitchFamily="18" charset="0"/>
                            <a:cs typeface="Times New Roman" panose="02020603050405020304" pitchFamily="18" charset="0"/>
                          </a:rPr>
                          <m:t>𝑛</m:t>
                        </m:r>
                        <m:r>
                          <a:rPr lang="en-US" altLang="zh-CN" sz="2800">
                            <a:solidFill>
                              <a:srgbClr val="000000"/>
                            </a:solidFill>
                            <a:latin typeface="Cambria Math" panose="02040503050406030204" pitchFamily="18" charset="0"/>
                            <a:cs typeface="Times New Roman" panose="02020603050405020304" pitchFamily="18" charset="0"/>
                          </a:rPr>
                          <m:t>+1</m:t>
                        </m:r>
                      </m:den>
                    </m:f>
                  </m:oMath>
                </a14:m>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数列</a:t>
                </a:r>
                <a14:m>
                  <m:oMath xmlns:m="http://schemas.openxmlformats.org/officeDocument/2006/math">
                    <m:d>
                      <m:dPr>
                        <m:begChr m:val="{"/>
                        <m:endChr m:val="}"/>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dPr>
                      <m:e>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a:solidFill>
                                  <a:srgbClr val="000000"/>
                                </a:solidFill>
                                <a:latin typeface="Cambria Math" panose="02040503050406030204" pitchFamily="18" charset="0"/>
                                <a:cs typeface="Times New Roman" panose="02020603050405020304" pitchFamily="18" charset="0"/>
                              </a:rPr>
                              <m:t>1</m:t>
                            </m:r>
                          </m:num>
                          <m:den>
                            <m:sSub>
                              <m:sSub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a:solidFill>
                                      <a:srgbClr val="000000"/>
                                    </a:solidFill>
                                    <a:latin typeface="Cambria Math" panose="02040503050406030204" pitchFamily="18" charset="0"/>
                                    <a:cs typeface="Times New Roman" panose="02020603050405020304" pitchFamily="18" charset="0"/>
                                  </a:rPr>
                                  <m:t>𝑏</m:t>
                                </m:r>
                              </m:e>
                              <m:sub>
                                <m:r>
                                  <a:rPr lang="en-US" altLang="zh-CN" sz="2800" i="1">
                                    <a:solidFill>
                                      <a:srgbClr val="000000"/>
                                    </a:solidFill>
                                    <a:latin typeface="Cambria Math" panose="02040503050406030204" pitchFamily="18" charset="0"/>
                                    <a:cs typeface="Times New Roman" panose="02020603050405020304" pitchFamily="18" charset="0"/>
                                  </a:rPr>
                                  <m:t>𝑛</m:t>
                                </m:r>
                              </m:sub>
                            </m:sSub>
                            <m:sSub>
                              <m:sSub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a:solidFill>
                                      <a:srgbClr val="000000"/>
                                    </a:solidFill>
                                    <a:latin typeface="Cambria Math" panose="02040503050406030204" pitchFamily="18" charset="0"/>
                                    <a:cs typeface="Times New Roman" panose="02020603050405020304" pitchFamily="18" charset="0"/>
                                  </a:rPr>
                                  <m:t>𝑏</m:t>
                                </m:r>
                              </m:e>
                              <m:sub>
                                <m:r>
                                  <a:rPr lang="en-US" altLang="zh-CN" sz="2800" i="1">
                                    <a:solidFill>
                                      <a:srgbClr val="000000"/>
                                    </a:solidFill>
                                    <a:latin typeface="Cambria Math" panose="02040503050406030204" pitchFamily="18" charset="0"/>
                                    <a:cs typeface="Times New Roman" panose="02020603050405020304" pitchFamily="18" charset="0"/>
                                  </a:rPr>
                                  <m:t>𝑛</m:t>
                                </m:r>
                                <m:r>
                                  <a:rPr lang="en-US" altLang="zh-CN" sz="2800">
                                    <a:solidFill>
                                      <a:srgbClr val="000000"/>
                                    </a:solidFill>
                                    <a:latin typeface="Cambria Math" panose="02040503050406030204" pitchFamily="18" charset="0"/>
                                    <a:cs typeface="Times New Roman" panose="02020603050405020304" pitchFamily="18" charset="0"/>
                                  </a:rPr>
                                  <m:t>+1</m:t>
                                </m:r>
                              </m:sub>
                            </m:sSub>
                          </m:den>
                        </m:f>
                      </m:e>
                    </m:d>
                  </m:oMath>
                </a14:m>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的前</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 </a:t>
                </a:r>
                <a:r>
                  <a:rPr lang="en-US" altLang="zh-CN" sz="2800" dirty="0">
                    <a:solidFill>
                      <a:srgbClr val="000000"/>
                    </a:solidFill>
                    <a:latin typeface="Times New Roman" panose="02020603050405020304" pitchFamily="18" charset="0"/>
                    <a:cs typeface="Times New Roman" panose="02020603050405020304" pitchFamily="18" charset="0"/>
                  </a:rPr>
                  <a:t>024</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项的和为</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14:m>
                  <m:oMath xmlns:m="http://schemas.openxmlformats.org/officeDocument/2006/math">
                    <m:d>
                      <m:d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800">
                            <a:solidFill>
                              <a:srgbClr val="000000"/>
                            </a:solidFill>
                            <a:latin typeface="Cambria Math" panose="02040503050406030204" pitchFamily="18" charset="0"/>
                            <a:cs typeface="Times New Roman" panose="02020603050405020304" pitchFamily="18" charset="0"/>
                          </a:rPr>
                          <m:t>1</m:t>
                        </m:r>
                        <m:r>
                          <m:rPr>
                            <m:nor/>
                          </m:rPr>
                          <a:rPr lang="en-US" altLang="zh-CN" sz="2800" i="1">
                            <a:solidFill>
                              <a:srgbClr val="000000"/>
                            </a:solidFill>
                            <a:latin typeface="Times New Roman" panose="02020603050405020304" pitchFamily="18" charset="0"/>
                            <a:cs typeface="Times New Roman" panose="02020603050405020304" pitchFamily="18" charset="0"/>
                          </a:rPr>
                          <m:t>−</m:t>
                        </m:r>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a:solidFill>
                                  <a:srgbClr val="000000"/>
                                </a:solidFill>
                                <a:latin typeface="Cambria Math" panose="02040503050406030204" pitchFamily="18" charset="0"/>
                                <a:cs typeface="Times New Roman" panose="02020603050405020304" pitchFamily="18" charset="0"/>
                              </a:rPr>
                              <m:t>1</m:t>
                            </m:r>
                          </m:num>
                          <m:den>
                            <m:r>
                              <a:rPr lang="en-US" altLang="zh-CN" sz="2800">
                                <a:solidFill>
                                  <a:srgbClr val="000000"/>
                                </a:solidFill>
                                <a:latin typeface="Cambria Math" panose="02040503050406030204" pitchFamily="18" charset="0"/>
                                <a:cs typeface="Times New Roman" panose="02020603050405020304" pitchFamily="18" charset="0"/>
                              </a:rPr>
                              <m:t>2</m:t>
                            </m:r>
                          </m:den>
                        </m:f>
                      </m:e>
                    </m:d>
                    <m:r>
                      <a:rPr lang="en-US" altLang="zh-CN" sz="2800" i="1">
                        <a:solidFill>
                          <a:srgbClr val="000000"/>
                        </a:solidFill>
                        <a:latin typeface="Cambria Math" panose="02040503050406030204" pitchFamily="18" charset="0"/>
                        <a:cs typeface="Times New Roman" panose="02020603050405020304" pitchFamily="18" charset="0"/>
                      </a:rPr>
                      <m:t>+</m:t>
                    </m:r>
                    <m:d>
                      <m:d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dPr>
                      <m:e>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a:solidFill>
                                  <a:srgbClr val="000000"/>
                                </a:solidFill>
                                <a:latin typeface="Cambria Math" panose="02040503050406030204" pitchFamily="18" charset="0"/>
                                <a:cs typeface="Times New Roman" panose="02020603050405020304" pitchFamily="18" charset="0"/>
                              </a:rPr>
                              <m:t>1</m:t>
                            </m:r>
                          </m:num>
                          <m:den>
                            <m:r>
                              <a:rPr lang="en-US" altLang="zh-CN" sz="2800">
                                <a:solidFill>
                                  <a:srgbClr val="000000"/>
                                </a:solidFill>
                                <a:latin typeface="Cambria Math" panose="02040503050406030204" pitchFamily="18" charset="0"/>
                                <a:cs typeface="Times New Roman" panose="02020603050405020304" pitchFamily="18" charset="0"/>
                              </a:rPr>
                              <m:t>2</m:t>
                            </m:r>
                          </m:den>
                        </m:f>
                        <m:r>
                          <m:rPr>
                            <m:nor/>
                          </m:rPr>
                          <a:rPr lang="en-US" altLang="zh-CN" sz="2800" i="1">
                            <a:solidFill>
                              <a:srgbClr val="000000"/>
                            </a:solidFill>
                            <a:latin typeface="Times New Roman" panose="02020603050405020304" pitchFamily="18" charset="0"/>
                            <a:cs typeface="Times New Roman" panose="02020603050405020304" pitchFamily="18" charset="0"/>
                          </a:rPr>
                          <m:t>−</m:t>
                        </m:r>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a:solidFill>
                                  <a:srgbClr val="000000"/>
                                </a:solidFill>
                                <a:latin typeface="Cambria Math" panose="02040503050406030204" pitchFamily="18" charset="0"/>
                                <a:cs typeface="Times New Roman" panose="02020603050405020304" pitchFamily="18" charset="0"/>
                              </a:rPr>
                              <m:t>1</m:t>
                            </m:r>
                          </m:num>
                          <m:den>
                            <m:r>
                              <a:rPr lang="en-US" altLang="zh-CN" sz="2800">
                                <a:solidFill>
                                  <a:srgbClr val="000000"/>
                                </a:solidFill>
                                <a:latin typeface="Cambria Math" panose="02040503050406030204" pitchFamily="18" charset="0"/>
                                <a:cs typeface="Times New Roman" panose="02020603050405020304" pitchFamily="18" charset="0"/>
                              </a:rPr>
                              <m:t>3</m:t>
                            </m:r>
                          </m:den>
                        </m:f>
                      </m:e>
                    </m:d>
                  </m:oMath>
                </a14:m>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effectLst/>
                    <a:latin typeface="楷体" panose="02010609060101010101" pitchFamily="49" charset="-122"/>
                    <a:ea typeface="方正书宋_GBK" panose="03000509000000000000" pitchFamily="65" charset="-122"/>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14:m>
                  <m:oMath xmlns:m="http://schemas.openxmlformats.org/officeDocument/2006/math">
                    <m:d>
                      <m:d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dPr>
                      <m:e>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a:solidFill>
                                  <a:srgbClr val="000000"/>
                                </a:solidFill>
                                <a:latin typeface="Cambria Math" panose="02040503050406030204" pitchFamily="18" charset="0"/>
                                <a:cs typeface="Times New Roman" panose="02020603050405020304" pitchFamily="18" charset="0"/>
                              </a:rPr>
                              <m:t>1</m:t>
                            </m:r>
                          </m:num>
                          <m:den>
                            <m:r>
                              <a:rPr lang="en-US" altLang="zh-CN" sz="2800">
                                <a:solidFill>
                                  <a:srgbClr val="000000"/>
                                </a:solidFill>
                                <a:latin typeface="Cambria Math" panose="02040503050406030204" pitchFamily="18" charset="0"/>
                                <a:cs typeface="Times New Roman" panose="02020603050405020304" pitchFamily="18" charset="0"/>
                              </a:rPr>
                              <m:t>4</m:t>
                            </m:r>
                            <m:r>
                              <m:rPr>
                                <m:nor/>
                              </m:rPr>
                              <a:rPr lang="en-US" altLang="zh-CN" sz="2800">
                                <a:solidFill>
                                  <a:srgbClr val="000000"/>
                                </a:solidFill>
                                <a:latin typeface="Times New Roman" panose="02020603050405020304" pitchFamily="18" charset="0"/>
                                <a:cs typeface="Times New Roman" panose="02020603050405020304" pitchFamily="18" charset="0"/>
                              </a:rPr>
                              <m:t> </m:t>
                            </m:r>
                            <m:r>
                              <a:rPr lang="en-US" altLang="zh-CN" sz="2800">
                                <a:solidFill>
                                  <a:srgbClr val="000000"/>
                                </a:solidFill>
                                <a:latin typeface="Cambria Math" panose="02040503050406030204" pitchFamily="18" charset="0"/>
                                <a:cs typeface="Times New Roman" panose="02020603050405020304" pitchFamily="18" charset="0"/>
                              </a:rPr>
                              <m:t>024</m:t>
                            </m:r>
                          </m:den>
                        </m:f>
                        <m:r>
                          <m:rPr>
                            <m:nor/>
                          </m:rPr>
                          <a:rPr lang="en-US" altLang="zh-CN" sz="2800" i="1">
                            <a:solidFill>
                              <a:srgbClr val="000000"/>
                            </a:solidFill>
                            <a:latin typeface="Times New Roman" panose="02020603050405020304" pitchFamily="18" charset="0"/>
                            <a:cs typeface="Times New Roman" panose="02020603050405020304" pitchFamily="18" charset="0"/>
                          </a:rPr>
                          <m:t>−</m:t>
                        </m:r>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a:solidFill>
                                  <a:srgbClr val="000000"/>
                                </a:solidFill>
                                <a:latin typeface="Cambria Math" panose="02040503050406030204" pitchFamily="18" charset="0"/>
                                <a:cs typeface="Times New Roman" panose="02020603050405020304" pitchFamily="18" charset="0"/>
                              </a:rPr>
                              <m:t>1</m:t>
                            </m:r>
                          </m:num>
                          <m:den>
                            <m:r>
                              <a:rPr lang="en-US" altLang="zh-CN" sz="2800">
                                <a:solidFill>
                                  <a:srgbClr val="000000"/>
                                </a:solidFill>
                                <a:latin typeface="Cambria Math" panose="02040503050406030204" pitchFamily="18" charset="0"/>
                                <a:cs typeface="Times New Roman" panose="02020603050405020304" pitchFamily="18" charset="0"/>
                              </a:rPr>
                              <m:t>4</m:t>
                            </m:r>
                            <m:r>
                              <m:rPr>
                                <m:nor/>
                              </m:rPr>
                              <a:rPr lang="en-US" altLang="zh-CN" sz="2800">
                                <a:solidFill>
                                  <a:srgbClr val="000000"/>
                                </a:solidFill>
                                <a:latin typeface="Times New Roman" panose="02020603050405020304" pitchFamily="18" charset="0"/>
                                <a:cs typeface="Times New Roman" panose="02020603050405020304" pitchFamily="18" charset="0"/>
                              </a:rPr>
                              <m:t> </m:t>
                            </m:r>
                            <m:r>
                              <a:rPr lang="en-US" altLang="zh-CN" sz="2800">
                                <a:solidFill>
                                  <a:srgbClr val="000000"/>
                                </a:solidFill>
                                <a:latin typeface="Cambria Math" panose="02040503050406030204" pitchFamily="18" charset="0"/>
                                <a:cs typeface="Times New Roman" panose="02020603050405020304" pitchFamily="18" charset="0"/>
                              </a:rPr>
                              <m:t>025</m:t>
                            </m:r>
                          </m:den>
                        </m:f>
                      </m:e>
                    </m:d>
                  </m:oMath>
                </a14:m>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14:m>
                  <m:oMath xmlns:m="http://schemas.openxmlformats.org/officeDocument/2006/math">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a:solidFill>
                              <a:srgbClr val="000000"/>
                            </a:solidFill>
                            <a:latin typeface="Cambria Math" panose="02040503050406030204" pitchFamily="18" charset="0"/>
                            <a:cs typeface="Times New Roman" panose="02020603050405020304" pitchFamily="18" charset="0"/>
                          </a:rPr>
                          <m:t>1</m:t>
                        </m:r>
                      </m:num>
                      <m:den>
                        <m:r>
                          <a:rPr lang="en-US" altLang="zh-CN" sz="2800">
                            <a:solidFill>
                              <a:srgbClr val="000000"/>
                            </a:solidFill>
                            <a:latin typeface="Cambria Math" panose="02040503050406030204" pitchFamily="18" charset="0"/>
                            <a:cs typeface="Times New Roman" panose="02020603050405020304" pitchFamily="18" charset="0"/>
                          </a:rPr>
                          <m:t>4</m:t>
                        </m:r>
                        <m:r>
                          <m:rPr>
                            <m:nor/>
                          </m:rPr>
                          <a:rPr lang="en-US" altLang="zh-CN" sz="2800">
                            <a:solidFill>
                              <a:srgbClr val="000000"/>
                            </a:solidFill>
                            <a:latin typeface="Times New Roman" panose="02020603050405020304" pitchFamily="18" charset="0"/>
                            <a:cs typeface="Times New Roman" panose="02020603050405020304" pitchFamily="18" charset="0"/>
                          </a:rPr>
                          <m:t> </m:t>
                        </m:r>
                        <m:r>
                          <a:rPr lang="en-US" altLang="zh-CN" sz="2800">
                            <a:solidFill>
                              <a:srgbClr val="000000"/>
                            </a:solidFill>
                            <a:latin typeface="Cambria Math" panose="02040503050406030204" pitchFamily="18" charset="0"/>
                            <a:cs typeface="Times New Roman" panose="02020603050405020304" pitchFamily="18" charset="0"/>
                          </a:rPr>
                          <m:t>025</m:t>
                        </m:r>
                      </m:den>
                    </m:f>
                    <m:r>
                      <a:rPr lang="en-US" altLang="zh-CN" sz="2800" i="1">
                        <a:solidFill>
                          <a:srgbClr val="000000"/>
                        </a:solidFill>
                        <a:latin typeface="Cambria Math" panose="02040503050406030204" pitchFamily="18" charset="0"/>
                        <a:cs typeface="Times New Roman" panose="02020603050405020304" pitchFamily="18" charset="0"/>
                      </a:rPr>
                      <m:t>=</m:t>
                    </m:r>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a:solidFill>
                              <a:srgbClr val="000000"/>
                            </a:solidFill>
                            <a:latin typeface="Cambria Math" panose="02040503050406030204" pitchFamily="18" charset="0"/>
                            <a:cs typeface="Times New Roman" panose="02020603050405020304" pitchFamily="18" charset="0"/>
                          </a:rPr>
                          <m:t>4</m:t>
                        </m:r>
                        <m:r>
                          <m:rPr>
                            <m:nor/>
                          </m:rPr>
                          <a:rPr lang="en-US" altLang="zh-CN" sz="2800">
                            <a:solidFill>
                              <a:srgbClr val="000000"/>
                            </a:solidFill>
                            <a:latin typeface="Times New Roman" panose="02020603050405020304" pitchFamily="18" charset="0"/>
                            <a:cs typeface="Times New Roman" panose="02020603050405020304" pitchFamily="18" charset="0"/>
                          </a:rPr>
                          <m:t> </m:t>
                        </m:r>
                        <m:r>
                          <a:rPr lang="en-US" altLang="zh-CN" sz="2800">
                            <a:solidFill>
                              <a:srgbClr val="000000"/>
                            </a:solidFill>
                            <a:latin typeface="Cambria Math" panose="02040503050406030204" pitchFamily="18" charset="0"/>
                            <a:cs typeface="Times New Roman" panose="02020603050405020304" pitchFamily="18" charset="0"/>
                          </a:rPr>
                          <m:t>024</m:t>
                        </m:r>
                      </m:num>
                      <m:den>
                        <m:r>
                          <a:rPr lang="en-US" altLang="zh-CN" sz="2800">
                            <a:solidFill>
                              <a:srgbClr val="000000"/>
                            </a:solidFill>
                            <a:latin typeface="Cambria Math" panose="02040503050406030204" pitchFamily="18" charset="0"/>
                            <a:cs typeface="Times New Roman" panose="02020603050405020304" pitchFamily="18" charset="0"/>
                          </a:rPr>
                          <m:t>4</m:t>
                        </m:r>
                        <m:r>
                          <m:rPr>
                            <m:nor/>
                          </m:rPr>
                          <a:rPr lang="en-US" altLang="zh-CN" sz="2800">
                            <a:solidFill>
                              <a:srgbClr val="000000"/>
                            </a:solidFill>
                            <a:latin typeface="Times New Roman" panose="02020603050405020304" pitchFamily="18" charset="0"/>
                            <a:cs typeface="Times New Roman" panose="02020603050405020304" pitchFamily="18" charset="0"/>
                          </a:rPr>
                          <m:t> </m:t>
                        </m:r>
                        <m:r>
                          <a:rPr lang="en-US" altLang="zh-CN" sz="2800">
                            <a:solidFill>
                              <a:srgbClr val="000000"/>
                            </a:solidFill>
                            <a:latin typeface="Cambria Math" panose="02040503050406030204" pitchFamily="18" charset="0"/>
                            <a:cs typeface="Times New Roman" panose="02020603050405020304" pitchFamily="18" charset="0"/>
                          </a:rPr>
                          <m:t>025</m:t>
                        </m:r>
                      </m:den>
                    </m:f>
                  </m:oMath>
                </a14:m>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dirty="0">
                    <a:solidFill>
                      <a:srgbClr val="FF0000"/>
                    </a:solidFill>
                    <a:effectLst/>
                    <a:latin typeface="Arial" panose="020B0604020202020204" pitchFamily="34" charset="0"/>
                    <a:ea typeface="黑体" panose="02010609060101010101" pitchFamily="49" charset="-122"/>
                    <a:cs typeface="Times New Roman" panose="02020603050405020304" pitchFamily="18" charset="0"/>
                  </a:rPr>
                  <a:t>答案</a:t>
                </a:r>
                <a:r>
                  <a:rPr lang="en-US" altLang="zh-CN" sz="2800" dirty="0">
                    <a:solidFill>
                      <a:srgbClr val="FF0000"/>
                    </a:solidFill>
                    <a:effectLst/>
                    <a:latin typeface="Arial" panose="020B0604020202020204" pitchFamily="34" charset="0"/>
                    <a:ea typeface="黑体" panose="02010609060101010101" pitchFamily="49" charset="-122"/>
                    <a:cs typeface="Times New Roman" panose="02020603050405020304" pitchFamily="18" charset="0"/>
                  </a:rPr>
                  <a:t>:</a:t>
                </a:r>
                <a14:m>
                  <m:oMath xmlns:m="http://schemas.openxmlformats.org/officeDocument/2006/math">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a:solidFill>
                              <a:srgbClr val="000000"/>
                            </a:solidFill>
                            <a:latin typeface="Cambria Math" panose="02040503050406030204" pitchFamily="18" charset="0"/>
                            <a:cs typeface="Times New Roman" panose="02020603050405020304" pitchFamily="18" charset="0"/>
                          </a:rPr>
                          <m:t>4</m:t>
                        </m:r>
                        <m:r>
                          <m:rPr>
                            <m:nor/>
                          </m:rPr>
                          <a:rPr lang="en-US" altLang="zh-CN" sz="2800">
                            <a:solidFill>
                              <a:srgbClr val="000000"/>
                            </a:solidFill>
                            <a:latin typeface="Times New Roman" panose="02020603050405020304" pitchFamily="18" charset="0"/>
                            <a:cs typeface="Times New Roman" panose="02020603050405020304" pitchFamily="18" charset="0"/>
                          </a:rPr>
                          <m:t> </m:t>
                        </m:r>
                        <m:r>
                          <a:rPr lang="en-US" altLang="zh-CN" sz="2800">
                            <a:solidFill>
                              <a:srgbClr val="000000"/>
                            </a:solidFill>
                            <a:latin typeface="Cambria Math" panose="02040503050406030204" pitchFamily="18" charset="0"/>
                            <a:cs typeface="Times New Roman" panose="02020603050405020304" pitchFamily="18" charset="0"/>
                          </a:rPr>
                          <m:t>024</m:t>
                        </m:r>
                      </m:num>
                      <m:den>
                        <m:r>
                          <a:rPr lang="en-US" altLang="zh-CN" sz="2800">
                            <a:solidFill>
                              <a:srgbClr val="000000"/>
                            </a:solidFill>
                            <a:latin typeface="Cambria Math" panose="02040503050406030204" pitchFamily="18" charset="0"/>
                            <a:cs typeface="Times New Roman" panose="02020603050405020304" pitchFamily="18" charset="0"/>
                          </a:rPr>
                          <m:t>4</m:t>
                        </m:r>
                        <m:r>
                          <m:rPr>
                            <m:nor/>
                          </m:rPr>
                          <a:rPr lang="en-US" altLang="zh-CN" sz="2800">
                            <a:solidFill>
                              <a:srgbClr val="000000"/>
                            </a:solidFill>
                            <a:latin typeface="Times New Roman" panose="02020603050405020304" pitchFamily="18" charset="0"/>
                            <a:cs typeface="Times New Roman" panose="02020603050405020304" pitchFamily="18" charset="0"/>
                          </a:rPr>
                          <m:t> </m:t>
                        </m:r>
                        <m:r>
                          <a:rPr lang="en-US" altLang="zh-CN" sz="2800">
                            <a:solidFill>
                              <a:srgbClr val="000000"/>
                            </a:solidFill>
                            <a:latin typeface="Cambria Math" panose="02040503050406030204" pitchFamily="18" charset="0"/>
                            <a:cs typeface="Times New Roman" panose="02020603050405020304" pitchFamily="18" charset="0"/>
                          </a:rPr>
                          <m:t>025</m:t>
                        </m:r>
                      </m:den>
                    </m:f>
                  </m:oMath>
                </a14:m>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mc:Choice>
        <mc:Fallback>
          <p:sp>
            <p:nvSpPr>
              <p:cNvPr id="4" name="矩形 3"/>
              <p:cNvSpPr>
                <a:spLocks noRot="1" noChangeAspect="1" noMove="1" noResize="1" noEditPoints="1" noAdjustHandles="1" noChangeArrowheads="1" noChangeShapeType="1" noTextEdit="1"/>
              </p:cNvSpPr>
              <p:nvPr/>
            </p:nvSpPr>
            <p:spPr>
              <a:xfrm>
                <a:off x="381000" y="126279"/>
                <a:ext cx="11430000" cy="6295506"/>
              </a:xfrm>
              <a:prstGeom prst="rect">
                <a:avLst/>
              </a:prstGeom>
              <a:blipFill rotWithShape="0">
                <a:blip r:embed="rId2"/>
                <a:stretch>
                  <a:fillRect l="-1120" t="-291" b="-19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66111513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randombar(horizontal)">
                                      <p:cBhvr>
                                        <p:cTn id="7" dur="500"/>
                                        <p:tgtEl>
                                          <p:spTgt spid="4">
                                            <p:txEl>
                                              <p:pRg st="1" end="1"/>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4">
                                            <p:txEl>
                                              <p:pRg st="2" end="2"/>
                                            </p:txEl>
                                          </p:spTgt>
                                        </p:tgtEl>
                                        <p:attrNameLst>
                                          <p:attrName>style.visibility</p:attrName>
                                        </p:attrNameLst>
                                      </p:cBhvr>
                                      <p:to>
                                        <p:strVal val="visible"/>
                                      </p:to>
                                    </p:set>
                                    <p:animEffect transition="in" filter="randombar(horizontal)">
                                      <p:cBhvr>
                                        <p:cTn id="10" dur="500"/>
                                        <p:tgtEl>
                                          <p:spTgt spid="4">
                                            <p:txEl>
                                              <p:pRg st="2" end="2"/>
                                            </p:txEl>
                                          </p:spTgt>
                                        </p:tgtEl>
                                      </p:cBhvr>
                                    </p:animEffect>
                                  </p:childTnLst>
                                </p:cTn>
                              </p:par>
                              <p:par>
                                <p:cTn id="11" presetID="14" presetClass="entr" presetSubtype="10" fill="hold"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animEffect transition="in" filter="randombar(horizontal)">
                                      <p:cBhvr>
                                        <p:cTn id="13" dur="500"/>
                                        <p:tgtEl>
                                          <p:spTgt spid="4">
                                            <p:txEl>
                                              <p:pRg st="3" end="3"/>
                                            </p:txEl>
                                          </p:spTgt>
                                        </p:tgtEl>
                                      </p:cBhvr>
                                    </p:animEffect>
                                  </p:childTnLst>
                                </p:cTn>
                              </p:par>
                              <p:par>
                                <p:cTn id="14" presetID="14" presetClass="entr" presetSubtype="10" fill="hold" nodeType="withEffect">
                                  <p:stCondLst>
                                    <p:cond delay="0"/>
                                  </p:stCondLst>
                                  <p:childTnLst>
                                    <p:set>
                                      <p:cBhvr>
                                        <p:cTn id="15" dur="1" fill="hold">
                                          <p:stCondLst>
                                            <p:cond delay="0"/>
                                          </p:stCondLst>
                                        </p:cTn>
                                        <p:tgtEl>
                                          <p:spTgt spid="4">
                                            <p:txEl>
                                              <p:pRg st="4" end="4"/>
                                            </p:txEl>
                                          </p:spTgt>
                                        </p:tgtEl>
                                        <p:attrNameLst>
                                          <p:attrName>style.visibility</p:attrName>
                                        </p:attrNameLst>
                                      </p:cBhvr>
                                      <p:to>
                                        <p:strVal val="visible"/>
                                      </p:to>
                                    </p:set>
                                    <p:animEffect transition="in" filter="randombar(horizontal)">
                                      <p:cBhvr>
                                        <p:cTn id="16" dur="500"/>
                                        <p:tgtEl>
                                          <p:spTgt spid="4">
                                            <p:txEl>
                                              <p:pRg st="4" end="4"/>
                                            </p:txEl>
                                          </p:spTgt>
                                        </p:tgtEl>
                                      </p:cBhvr>
                                    </p:animEffect>
                                  </p:childTnLst>
                                </p:cTn>
                              </p:par>
                              <p:par>
                                <p:cTn id="17" presetID="14" presetClass="entr" presetSubtype="10" fill="hold" nodeType="with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animEffect transition="in" filter="randombar(horizontal)">
                                      <p:cBhvr>
                                        <p:cTn id="19" dur="500"/>
                                        <p:tgtEl>
                                          <p:spTgt spid="4">
                                            <p:txEl>
                                              <p:pRg st="5" end="5"/>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4" presetClass="entr" presetSubtype="10" fill="hold" nodeType="clickEffect">
                                  <p:stCondLst>
                                    <p:cond delay="0"/>
                                  </p:stCondLst>
                                  <p:childTnLst>
                                    <p:set>
                                      <p:cBhvr>
                                        <p:cTn id="23" dur="1" fill="hold">
                                          <p:stCondLst>
                                            <p:cond delay="0"/>
                                          </p:stCondLst>
                                        </p:cTn>
                                        <p:tgtEl>
                                          <p:spTgt spid="4">
                                            <p:txEl>
                                              <p:pRg st="6" end="6"/>
                                            </p:txEl>
                                          </p:spTgt>
                                        </p:tgtEl>
                                        <p:attrNameLst>
                                          <p:attrName>style.visibility</p:attrName>
                                        </p:attrNameLst>
                                      </p:cBhvr>
                                      <p:to>
                                        <p:strVal val="visible"/>
                                      </p:to>
                                    </p:set>
                                    <p:animEffect transition="in" filter="randombar(horizontal)">
                                      <p:cBhvr>
                                        <p:cTn id="24" dur="500"/>
                                        <p:tgtEl>
                                          <p:spTgt spid="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a:spLocks noChangeAspect="1"/>
          </p:cNvSpPr>
          <p:nvPr/>
        </p:nvSpPr>
        <p:spPr>
          <a:xfrm>
            <a:off x="381000" y="705842"/>
            <a:ext cx="11430000" cy="1712520"/>
          </a:xfrm>
          <a:prstGeom prst="rect">
            <a:avLst/>
          </a:prstGeom>
        </p:spPr>
        <p:txBody>
          <a:bodyPr>
            <a:spAutoFit/>
          </a:bodyPr>
          <a:lstStyle/>
          <a:p>
            <a:pPr>
              <a:lnSpc>
                <a:spcPct val="130000"/>
              </a:lnSpc>
              <a:spcAft>
                <a:spcPts val="0"/>
              </a:spcAft>
              <a:tabLst>
                <a:tab pos="1029335" algn="l"/>
                <a:tab pos="1850390" algn="l"/>
                <a:tab pos="2538095" algn="l"/>
                <a:tab pos="3221990" algn="l"/>
              </a:tabLst>
            </a:pPr>
            <a:r>
              <a:rPr lang="en-US" altLang="zh-CN" sz="2800" b="1"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设数列</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的前</a:t>
            </a:r>
            <a:r>
              <a:rPr lang="en-US" altLang="zh-CN" sz="2800" i="1" dirty="0">
                <a:solidFill>
                  <a:srgbClr val="000000"/>
                </a:solidFill>
                <a:latin typeface="Times New Roman" panose="02020603050405020304" pitchFamily="18" charset="0"/>
                <a:cs typeface="Times New Roman" panose="02020603050405020304" pitchFamily="18" charset="0"/>
              </a:rPr>
              <a:t>n</a:t>
            </a:r>
            <a:r>
              <a:rPr lang="zh-CN" altLang="zh-CN" sz="2800" dirty="0">
                <a:solidFill>
                  <a:srgbClr val="000000"/>
                </a:solidFill>
                <a:latin typeface="Times New Roman" panose="02020603050405020304" pitchFamily="18" charset="0"/>
                <a:cs typeface="Times New Roman" panose="02020603050405020304" pitchFamily="18" charset="0"/>
              </a:rPr>
              <a:t>项和为</a:t>
            </a:r>
            <a:r>
              <a:rPr lang="en-US" altLang="zh-CN" sz="2800" i="1" dirty="0" err="1">
                <a:solidFill>
                  <a:srgbClr val="000000"/>
                </a:solidFill>
                <a:latin typeface="Times New Roman" panose="02020603050405020304" pitchFamily="18" charset="0"/>
                <a:cs typeface="Times New Roman" panose="02020603050405020304" pitchFamily="18" charset="0"/>
              </a:rPr>
              <a:t>S</a:t>
            </a:r>
            <a:r>
              <a:rPr lang="en-US" altLang="zh-CN" sz="2800" i="1" baseline="-25000" dirty="0" err="1">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且</a:t>
            </a:r>
            <a:r>
              <a:rPr lang="en-US" altLang="zh-CN" sz="2800" i="1" dirty="0">
                <a:solidFill>
                  <a:srgbClr val="000000"/>
                </a:solidFill>
                <a:latin typeface="Times New Roman" panose="02020603050405020304" pitchFamily="18" charset="0"/>
                <a:cs typeface="Times New Roman" panose="02020603050405020304" pitchFamily="18" charset="0"/>
              </a:rPr>
              <a:t>S</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S</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029335" algn="l"/>
                <a:tab pos="1850390" algn="l"/>
                <a:tab pos="2538095" algn="l"/>
                <a:tab pos="3221990" algn="l"/>
              </a:tabLst>
            </a:pP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求数列</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的通项公式</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029335" algn="l"/>
                <a:tab pos="1850390" algn="l"/>
                <a:tab pos="2538095" algn="l"/>
                <a:tab pos="3221990"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求数列</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i="1"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的前</a:t>
            </a:r>
            <a:r>
              <a:rPr lang="en-US" altLang="zh-CN" sz="2800" i="1" dirty="0">
                <a:solidFill>
                  <a:srgbClr val="000000"/>
                </a:solidFill>
                <a:latin typeface="Times New Roman" panose="02020603050405020304" pitchFamily="18" charset="0"/>
                <a:cs typeface="Times New Roman" panose="02020603050405020304" pitchFamily="18" charset="0"/>
              </a:rPr>
              <a:t>n</a:t>
            </a:r>
            <a:r>
              <a:rPr lang="zh-CN" altLang="zh-CN" sz="2800" dirty="0">
                <a:solidFill>
                  <a:srgbClr val="000000"/>
                </a:solidFill>
                <a:latin typeface="Times New Roman" panose="02020603050405020304" pitchFamily="18" charset="0"/>
                <a:cs typeface="Times New Roman" panose="02020603050405020304" pitchFamily="18" charset="0"/>
              </a:rPr>
              <a:t>项和</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pSp>
        <p:nvGrpSpPr>
          <p:cNvPr id="8" name="组合 7"/>
          <p:cNvGrpSpPr/>
          <p:nvPr/>
        </p:nvGrpSpPr>
        <p:grpSpPr>
          <a:xfrm>
            <a:off x="381000" y="2470317"/>
            <a:ext cx="11430000" cy="1986399"/>
            <a:chOff x="381000" y="2262497"/>
            <a:chExt cx="11430000" cy="1986399"/>
          </a:xfrm>
        </p:grpSpPr>
        <p:graphicFrame>
          <p:nvGraphicFramePr>
            <p:cNvPr id="6" name="对象 5"/>
            <p:cNvGraphicFramePr>
              <a:graphicFrameLocks noChangeAspect="1"/>
            </p:cNvGraphicFramePr>
            <p:nvPr>
              <p:extLst>
                <p:ext uri="{D42A27DB-BD31-4B8C-83A1-F6EECF244321}">
                  <p14:modId xmlns:p14="http://schemas.microsoft.com/office/powerpoint/2010/main" val="2241651020"/>
                </p:ext>
              </p:extLst>
            </p:nvPr>
          </p:nvGraphicFramePr>
          <p:xfrm>
            <a:off x="468815" y="2262497"/>
            <a:ext cx="11275153" cy="865205"/>
          </p:xfrm>
          <a:graphic>
            <a:graphicData uri="http://schemas.openxmlformats.org/presentationml/2006/ole">
              <mc:AlternateContent xmlns:mc="http://schemas.openxmlformats.org/markup-compatibility/2006">
                <mc:Choice xmlns:v="urn:schemas-microsoft-com:vml" Requires="v">
                  <p:oleObj spid="_x0000_s23563" name="文档" r:id="rId3" imgW="4510061" imgH="346082" progId="Word.Document.12">
                    <p:embed/>
                  </p:oleObj>
                </mc:Choice>
                <mc:Fallback>
                  <p:oleObj name="文档" r:id="rId3" imgW="4510061" imgH="346082" progId="Word.Document.12">
                    <p:embed/>
                    <p:pic>
                      <p:nvPicPr>
                        <p:cNvPr id="0" name=""/>
                        <p:cNvPicPr/>
                        <p:nvPr/>
                      </p:nvPicPr>
                      <p:blipFill>
                        <a:blip r:embed="rId4"/>
                        <a:stretch>
                          <a:fillRect/>
                        </a:stretch>
                      </p:blipFill>
                      <p:spPr>
                        <a:xfrm>
                          <a:off x="468815" y="2262497"/>
                          <a:ext cx="11275153" cy="865205"/>
                        </a:xfrm>
                        <a:prstGeom prst="rect">
                          <a:avLst/>
                        </a:prstGeom>
                      </p:spPr>
                    </p:pic>
                  </p:oleObj>
                </mc:Fallback>
              </mc:AlternateContent>
            </a:graphicData>
          </a:graphic>
        </p:graphicFrame>
        <p:sp>
          <p:nvSpPr>
            <p:cNvPr id="7" name="矩形 6"/>
            <p:cNvSpPr>
              <a:spLocks noChangeAspect="1"/>
            </p:cNvSpPr>
            <p:nvPr/>
          </p:nvSpPr>
          <p:spPr>
            <a:xfrm>
              <a:off x="381000" y="3096529"/>
              <a:ext cx="11430000" cy="1152367"/>
            </a:xfrm>
            <a:prstGeom prst="rect">
              <a:avLst/>
            </a:prstGeom>
          </p:spPr>
          <p:txBody>
            <a:bodyPr>
              <a:spAutoFit/>
            </a:bodyPr>
            <a:lstStyle/>
            <a:p>
              <a:pPr>
                <a:lnSpc>
                  <a:spcPct val="130000"/>
                </a:lnSpc>
                <a:spcAft>
                  <a:spcPts val="0"/>
                </a:spcAft>
                <a:tabLst>
                  <a:tab pos="1029335" algn="l"/>
                  <a:tab pos="1850390" algn="l"/>
                  <a:tab pos="2538095" algn="l"/>
                  <a:tab pos="3221990"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又当</a:t>
              </a:r>
              <a:r>
                <a:rPr lang="en-US" altLang="zh-CN" sz="2800" i="1"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时</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由</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S</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S</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得</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029335" algn="l"/>
                  <a:tab pos="1850390" algn="l"/>
                  <a:tab pos="2538095" algn="l"/>
                  <a:tab pos="3221990"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故数列</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的通项公式为</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i="1" baseline="-25000" dirty="0">
                  <a:solidFill>
                    <a:srgbClr val="000000"/>
                  </a:solidFill>
                  <a:latin typeface="Times New Roman" panose="02020603050405020304" pitchFamily="18" charset="0"/>
                  <a:cs typeface="Times New Roman" panose="02020603050405020304" pitchFamily="18" charset="0"/>
                </a:rPr>
                <a:t>n</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baseline="30000" dirty="0">
                  <a:solidFill>
                    <a:srgbClr val="000000"/>
                  </a:solidFill>
                  <a:latin typeface="Times New Roman" panose="02020603050405020304" pitchFamily="18" charset="0"/>
                  <a:cs typeface="Times New Roman" panose="02020603050405020304" pitchFamily="18" charset="0"/>
                </a:rPr>
                <a:t>n-</a:t>
              </a:r>
              <a:r>
                <a:rPr lang="en-US" altLang="zh-CN" sz="2800" baseline="30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pSp>
    </p:spTree>
    <p:extLst>
      <p:ext uri="{BB962C8B-B14F-4D97-AF65-F5344CB8AC3E}">
        <p14:creationId xmlns:p14="http://schemas.microsoft.com/office/powerpoint/2010/main" val="322567092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inVertical)">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81000" y="467804"/>
            <a:ext cx="11430000" cy="2832827"/>
          </a:xfrm>
          <a:prstGeom prst="rect">
            <a:avLst/>
          </a:prstGeom>
        </p:spPr>
        <p:txBody>
          <a:bodyPr>
            <a:spAutoFit/>
          </a:bodyPr>
          <a:lstStyle/>
          <a:p>
            <a:pPr>
              <a:lnSpc>
                <a:spcPct val="130000"/>
              </a:lnSpc>
              <a:spcAft>
                <a:spcPts val="0"/>
              </a:spcAft>
              <a:tabLst>
                <a:tab pos="1029335" algn="l"/>
                <a:tab pos="1850390" algn="l"/>
                <a:tab pos="2538095" algn="l"/>
                <a:tab pos="3221990"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设</a:t>
            </a:r>
            <a:r>
              <a:rPr lang="en-US" altLang="zh-CN" sz="2800" i="1" dirty="0" err="1">
                <a:solidFill>
                  <a:srgbClr val="000000"/>
                </a:solidFill>
                <a:latin typeface="Times New Roman" panose="02020603050405020304" pitchFamily="18" charset="0"/>
                <a:cs typeface="Times New Roman" panose="02020603050405020304" pitchFamily="18" charset="0"/>
              </a:rPr>
              <a:t>b</a:t>
            </a:r>
            <a:r>
              <a:rPr lang="en-US" altLang="zh-CN" sz="2800" i="1" baseline="-25000" dirty="0" err="1">
                <a:solidFill>
                  <a:srgbClr val="000000"/>
                </a:solidFill>
                <a:latin typeface="Times New Roman" panose="02020603050405020304" pitchFamily="18" charset="0"/>
                <a:cs typeface="Times New Roman" panose="02020603050405020304" pitchFamily="18" charset="0"/>
              </a:rPr>
              <a:t>n</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baseline="30000" dirty="0">
                <a:solidFill>
                  <a:srgbClr val="000000"/>
                </a:solidFill>
                <a:latin typeface="Times New Roman" panose="02020603050405020304" pitchFamily="18" charset="0"/>
                <a:cs typeface="Times New Roman" panose="02020603050405020304" pitchFamily="18" charset="0"/>
              </a:rPr>
              <a:t>n-</a:t>
            </a:r>
            <a:r>
              <a:rPr lang="en-US" altLang="zh-CN" sz="2800" baseline="30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则</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029335" algn="l"/>
                <a:tab pos="1850390" algn="l"/>
                <a:tab pos="2538095" algn="l"/>
                <a:tab pos="3221990"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当</a:t>
            </a:r>
            <a:r>
              <a:rPr lang="en-US" altLang="zh-CN" sz="2800" i="1"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3</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时</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由于</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baseline="30000" dirty="0">
                <a:solidFill>
                  <a:srgbClr val="000000"/>
                </a:solidFill>
                <a:latin typeface="Times New Roman" panose="02020603050405020304" pitchFamily="18" charset="0"/>
                <a:cs typeface="Times New Roman" panose="02020603050405020304" pitchFamily="18" charset="0"/>
              </a:rPr>
              <a:t>n-</a:t>
            </a:r>
            <a:r>
              <a:rPr lang="en-US" altLang="zh-CN" sz="2800" baseline="30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&gt;n+</a:t>
            </a:r>
            <a:r>
              <a:rPr lang="en-US" altLang="zh-CN" sz="2800" dirty="0">
                <a:solidFill>
                  <a:srgbClr val="000000"/>
                </a:solidFill>
                <a:latin typeface="Times New Roman" panose="02020603050405020304" pitchFamily="18" charset="0"/>
                <a:cs typeface="Times New Roman" panose="02020603050405020304" pitchFamily="18" charset="0"/>
              </a:rPr>
              <a:t>2,</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029335" algn="l"/>
                <a:tab pos="1850390" algn="l"/>
                <a:tab pos="2538095" algn="l"/>
                <a:tab pos="3221990"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故当</a:t>
            </a:r>
            <a:r>
              <a:rPr lang="en-US" altLang="zh-CN" sz="2800" i="1"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3</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时</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cs typeface="Times New Roman" panose="02020603050405020304" pitchFamily="18" charset="0"/>
              </a:rPr>
              <a:t>b</a:t>
            </a:r>
            <a:r>
              <a:rPr lang="en-US" altLang="zh-CN" sz="2800" i="1" baseline="-25000" dirty="0" err="1">
                <a:solidFill>
                  <a:srgbClr val="000000"/>
                </a:solidFill>
                <a:latin typeface="Times New Roman" panose="02020603050405020304" pitchFamily="18" charset="0"/>
                <a:cs typeface="Times New Roman" panose="02020603050405020304" pitchFamily="18" charset="0"/>
              </a:rPr>
              <a:t>n</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baseline="30000" dirty="0">
                <a:solidFill>
                  <a:srgbClr val="000000"/>
                </a:solidFill>
                <a:latin typeface="Times New Roman" panose="02020603050405020304" pitchFamily="18" charset="0"/>
                <a:cs typeface="Times New Roman" panose="02020603050405020304" pitchFamily="18" charset="0"/>
              </a:rPr>
              <a:t>n-</a:t>
            </a:r>
            <a:r>
              <a:rPr lang="en-US" altLang="zh-CN" sz="2800" baseline="30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029335" algn="l"/>
                <a:tab pos="1850390" algn="l"/>
                <a:tab pos="2538095" algn="l"/>
                <a:tab pos="3221990"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设数列</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cs typeface="Times New Roman" panose="02020603050405020304" pitchFamily="18" charset="0"/>
              </a:rPr>
              <a:t>b</a:t>
            </a:r>
            <a:r>
              <a:rPr lang="en-US" altLang="zh-CN" sz="2800" i="1" baseline="-25000" dirty="0" err="1">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的前</a:t>
            </a:r>
            <a:r>
              <a:rPr lang="en-US" altLang="zh-CN" sz="2800" i="1" dirty="0">
                <a:solidFill>
                  <a:srgbClr val="000000"/>
                </a:solidFill>
                <a:latin typeface="Times New Roman" panose="02020603050405020304" pitchFamily="18" charset="0"/>
                <a:cs typeface="Times New Roman" panose="02020603050405020304" pitchFamily="18" charset="0"/>
              </a:rPr>
              <a:t>n</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项和为</a:t>
            </a:r>
            <a:r>
              <a:rPr lang="en-US" altLang="zh-CN" sz="2800" i="1" dirty="0" err="1">
                <a:solidFill>
                  <a:srgbClr val="000000"/>
                </a:solidFill>
                <a:latin typeface="Times New Roman" panose="02020603050405020304" pitchFamily="18" charset="0"/>
                <a:cs typeface="Times New Roman" panose="02020603050405020304" pitchFamily="18" charset="0"/>
              </a:rPr>
              <a:t>T</a:t>
            </a:r>
            <a:r>
              <a:rPr lang="en-US" altLang="zh-CN" sz="2800" i="1" baseline="-25000" dirty="0" err="1">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029335" algn="l"/>
                <a:tab pos="1850390" algn="l"/>
                <a:tab pos="2538095" algn="l"/>
                <a:tab pos="3221990"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则</a:t>
            </a:r>
            <a:r>
              <a:rPr lang="en-US" altLang="zh-CN" sz="2800" i="1" dirty="0">
                <a:solidFill>
                  <a:srgbClr val="000000"/>
                </a:solidFill>
                <a:latin typeface="Times New Roman" panose="02020603050405020304" pitchFamily="18" charset="0"/>
                <a:cs typeface="Times New Roman" panose="02020603050405020304" pitchFamily="18" charset="0"/>
              </a:rPr>
              <a:t>T</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T</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1334295375"/>
              </p:ext>
            </p:extLst>
          </p:nvPr>
        </p:nvGraphicFramePr>
        <p:xfrm>
          <a:off x="468815" y="3290240"/>
          <a:ext cx="11275153" cy="2023305"/>
        </p:xfrm>
        <a:graphic>
          <a:graphicData uri="http://schemas.openxmlformats.org/presentationml/2006/ole">
            <mc:AlternateContent xmlns:mc="http://schemas.openxmlformats.org/markup-compatibility/2006">
              <mc:Choice xmlns:v="urn:schemas-microsoft-com:vml" Requires="v">
                <p:oleObj spid="_x0000_s24587" name="文档" r:id="rId3" imgW="4510061" imgH="809322" progId="Word.Document.12">
                  <p:embed/>
                </p:oleObj>
              </mc:Choice>
              <mc:Fallback>
                <p:oleObj name="文档" r:id="rId3" imgW="4510061" imgH="809322" progId="Word.Document.12">
                  <p:embed/>
                  <p:pic>
                    <p:nvPicPr>
                      <p:cNvPr id="0" name=""/>
                      <p:cNvPicPr/>
                      <p:nvPr/>
                    </p:nvPicPr>
                    <p:blipFill>
                      <a:blip r:embed="rId4"/>
                      <a:stretch>
                        <a:fillRect/>
                      </a:stretch>
                    </p:blipFill>
                    <p:spPr>
                      <a:xfrm>
                        <a:off x="468815" y="3290240"/>
                        <a:ext cx="11275153" cy="2023305"/>
                      </a:xfrm>
                      <a:prstGeom prst="rect">
                        <a:avLst/>
                      </a:prstGeom>
                    </p:spPr>
                  </p:pic>
                </p:oleObj>
              </mc:Fallback>
            </mc:AlternateContent>
          </a:graphicData>
        </a:graphic>
      </p:graphicFrame>
    </p:spTree>
    <p:extLst>
      <p:ext uri="{BB962C8B-B14F-4D97-AF65-F5344CB8AC3E}">
        <p14:creationId xmlns:p14="http://schemas.microsoft.com/office/powerpoint/2010/main" val="323107202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阴影"/>
          <p:cNvPicPr>
            <a:picLocks noChangeAspect="1"/>
          </p:cNvPicPr>
          <p:nvPr/>
        </p:nvPicPr>
        <p:blipFill>
          <a:blip r:embed="rId2"/>
          <a:stretch>
            <a:fillRect/>
          </a:stretch>
        </p:blipFill>
        <p:spPr>
          <a:xfrm>
            <a:off x="2325712" y="1511279"/>
            <a:ext cx="7280625" cy="3396125"/>
          </a:xfrm>
          <a:prstGeom prst="rect">
            <a:avLst/>
          </a:prstGeom>
        </p:spPr>
      </p:pic>
      <p:sp>
        <p:nvSpPr>
          <p:cNvPr id="9" name="文本框 8"/>
          <p:cNvSpPr txBox="1"/>
          <p:nvPr/>
        </p:nvSpPr>
        <p:spPr>
          <a:xfrm>
            <a:off x="1809976" y="4908623"/>
            <a:ext cx="8572049" cy="1292662"/>
          </a:xfrm>
          <a:prstGeom prst="rect">
            <a:avLst/>
          </a:prstGeom>
          <a:noFill/>
        </p:spPr>
        <p:txBody>
          <a:bodyPr wrap="square" rtlCol="0">
            <a:spAutoFit/>
          </a:bodyPr>
          <a:lstStyle/>
          <a:p>
            <a:pPr algn="ctr" fontAlgn="auto">
              <a:lnSpc>
                <a:spcPct val="150000"/>
              </a:lnSpc>
            </a:pPr>
            <a:r>
              <a:rPr lang="zh-CN" altLang="en-US" sz="2400" smtClean="0">
                <a:solidFill>
                  <a:srgbClr val="55463D"/>
                </a:solidFill>
              </a:rPr>
              <a:t>更多精彩内容请登录</a:t>
            </a:r>
            <a:r>
              <a:rPr lang="zh-CN" altLang="en-US" sz="2800" b="1" smtClean="0">
                <a:solidFill>
                  <a:srgbClr val="55463D"/>
                </a:solidFill>
                <a:latin typeface="华文新魏" panose="02010800040101010101" pitchFamily="2" charset="-122"/>
                <a:ea typeface="华文新魏" panose="02010800040101010101" pitchFamily="2" charset="-122"/>
              </a:rPr>
              <a:t>志鸿优化网</a:t>
            </a:r>
            <a:endParaRPr lang="en-US" altLang="zh-CN" sz="2400" b="1" smtClean="0">
              <a:solidFill>
                <a:srgbClr val="55463D"/>
              </a:solidFill>
              <a:latin typeface="华文新魏" panose="02010800040101010101" pitchFamily="2" charset="-122"/>
              <a:ea typeface="华文新魏" panose="02010800040101010101" pitchFamily="2" charset="-122"/>
            </a:endParaRPr>
          </a:p>
          <a:p>
            <a:pPr algn="ctr" fontAlgn="auto">
              <a:lnSpc>
                <a:spcPct val="150000"/>
              </a:lnSpc>
            </a:pPr>
            <a:r>
              <a:rPr lang="en-US" altLang="zh-CN" sz="2400" smtClean="0">
                <a:solidFill>
                  <a:srgbClr val="55463D"/>
                </a:solidFill>
              </a:rPr>
              <a:t>http</a:t>
            </a:r>
            <a:r>
              <a:rPr lang="en-US" altLang="zh-CN" sz="2400">
                <a:solidFill>
                  <a:srgbClr val="55463D"/>
                </a:solidFill>
              </a:rPr>
              <a:t>://www.zhyh.org</a:t>
            </a:r>
            <a:r>
              <a:rPr lang="en-US" altLang="zh-CN" sz="2400" smtClean="0">
                <a:solidFill>
                  <a:srgbClr val="55463D"/>
                </a:solidFill>
              </a:rPr>
              <a:t>/</a:t>
            </a:r>
            <a:endParaRPr lang="zh-CN" altLang="en-US" sz="2400">
              <a:solidFill>
                <a:srgbClr val="55463D"/>
              </a:solidFill>
            </a:endParaRPr>
          </a:p>
        </p:txBody>
      </p:sp>
      <p:pic>
        <p:nvPicPr>
          <p:cNvPr id="11" name="图片 10"/>
          <p:cNvPicPr>
            <a:picLocks noChangeAspect="1"/>
          </p:cNvPicPr>
          <p:nvPr/>
        </p:nvPicPr>
        <p:blipFill>
          <a:blip r:embed="rId3">
            <a:clrChange>
              <a:clrFrom>
                <a:srgbClr val="ECECEE"/>
              </a:clrFrom>
              <a:clrTo>
                <a:srgbClr val="ECECEE">
                  <a:alpha val="0"/>
                </a:srgbClr>
              </a:clrTo>
            </a:clrChange>
          </a:blip>
          <a:stretch>
            <a:fillRect/>
          </a:stretch>
        </p:blipFill>
        <p:spPr>
          <a:xfrm>
            <a:off x="123290" y="4517181"/>
            <a:ext cx="2325712" cy="2253486"/>
          </a:xfrm>
          <a:prstGeom prst="rect">
            <a:avLst/>
          </a:prstGeom>
        </p:spPr>
      </p:pic>
      <p:sp>
        <p:nvSpPr>
          <p:cNvPr id="12" name="文本框 11"/>
          <p:cNvSpPr txBox="1"/>
          <p:nvPr/>
        </p:nvSpPr>
        <p:spPr>
          <a:xfrm>
            <a:off x="3451123" y="2222090"/>
            <a:ext cx="4994787" cy="1015663"/>
          </a:xfrm>
          <a:prstGeom prst="rect">
            <a:avLst/>
          </a:prstGeom>
          <a:noFill/>
        </p:spPr>
        <p:txBody>
          <a:bodyPr wrap="square" rtlCol="0">
            <a:spAutoFit/>
          </a:bodyPr>
          <a:lstStyle/>
          <a:p>
            <a:r>
              <a:rPr lang="zh-CN" altLang="en-US" sz="6000" b="1">
                <a:solidFill>
                  <a:srgbClr val="55463D"/>
                </a:solidFill>
                <a:latin typeface="思源黑体 CN Medium" panose="020B0600000000000000" pitchFamily="34" charset="-122"/>
                <a:ea typeface="思源黑体 CN Medium" panose="020B0600000000000000" pitchFamily="34" charset="-122"/>
              </a:rPr>
              <a:t>本  课  结  束</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5"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randombar(vertical)">
                                      <p:cBhvr>
                                        <p:cTn id="7" dur="500"/>
                                        <p:tgtEl>
                                          <p:spTgt spid="9"/>
                                        </p:tgtEl>
                                      </p:cBhvr>
                                    </p:animEffect>
                                  </p:childTnLst>
                                </p:cTn>
                              </p:par>
                              <p:par>
                                <p:cTn id="8" presetID="3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800" decel="100000"/>
                                        <p:tgtEl>
                                          <p:spTgt spid="11"/>
                                        </p:tgtEl>
                                      </p:cBhvr>
                                    </p:animEffect>
                                    <p:anim calcmode="lin" valueType="num">
                                      <p:cBhvr>
                                        <p:cTn id="11" dur="800" decel="100000" fill="hold"/>
                                        <p:tgtEl>
                                          <p:spTgt spid="11"/>
                                        </p:tgtEl>
                                        <p:attrNameLst>
                                          <p:attrName>style.rotation</p:attrName>
                                        </p:attrNameLst>
                                      </p:cBhvr>
                                      <p:tavLst>
                                        <p:tav tm="0">
                                          <p:val>
                                            <p:fltVal val="-90"/>
                                          </p:val>
                                        </p:tav>
                                        <p:tav tm="100000">
                                          <p:val>
                                            <p:fltVal val="0"/>
                                          </p:val>
                                        </p:tav>
                                      </p:tavLst>
                                    </p:anim>
                                    <p:anim calcmode="lin" valueType="num">
                                      <p:cBhvr>
                                        <p:cTn id="12" dur="800" decel="100000" fill="hold"/>
                                        <p:tgtEl>
                                          <p:spTgt spid="11"/>
                                        </p:tgtEl>
                                        <p:attrNameLst>
                                          <p:attrName>ppt_x</p:attrName>
                                        </p:attrNameLst>
                                      </p:cBhvr>
                                      <p:tavLst>
                                        <p:tav tm="0">
                                          <p:val>
                                            <p:strVal val="#ppt_x+0.4"/>
                                          </p:val>
                                        </p:tav>
                                        <p:tav tm="100000">
                                          <p:val>
                                            <p:strVal val="#ppt_x-0.05"/>
                                          </p:val>
                                        </p:tav>
                                      </p:tavLst>
                                    </p:anim>
                                    <p:anim calcmode="lin" valueType="num">
                                      <p:cBhvr>
                                        <p:cTn id="13" dur="800" decel="100000" fill="hold"/>
                                        <p:tgtEl>
                                          <p:spTgt spid="11"/>
                                        </p:tgtEl>
                                        <p:attrNameLst>
                                          <p:attrName>ppt_y</p:attrName>
                                        </p:attrNameLst>
                                      </p:cBhvr>
                                      <p:tavLst>
                                        <p:tav tm="0">
                                          <p:val>
                                            <p:strVal val="#ppt_y-0.4"/>
                                          </p:val>
                                        </p:tav>
                                        <p:tav tm="100000">
                                          <p:val>
                                            <p:strVal val="#ppt_y+0.1"/>
                                          </p:val>
                                        </p:tav>
                                      </p:tavLst>
                                    </p:anim>
                                    <p:anim calcmode="lin" valueType="num">
                                      <p:cBhvr>
                                        <p:cTn id="14" dur="200" accel="100000" fill="hold">
                                          <p:stCondLst>
                                            <p:cond delay="800"/>
                                          </p:stCondLst>
                                        </p:cTn>
                                        <p:tgtEl>
                                          <p:spTgt spid="11"/>
                                        </p:tgtEl>
                                        <p:attrNameLst>
                                          <p:attrName>ppt_x</p:attrName>
                                        </p:attrNameLst>
                                      </p:cBhvr>
                                      <p:tavLst>
                                        <p:tav tm="0">
                                          <p:val>
                                            <p:strVal val="#ppt_x-0.05"/>
                                          </p:val>
                                        </p:tav>
                                        <p:tav tm="100000">
                                          <p:val>
                                            <p:strVal val="#ppt_x"/>
                                          </p:val>
                                        </p:tav>
                                      </p:tavLst>
                                    </p:anim>
                                    <p:anim calcmode="lin" valueType="num">
                                      <p:cBhvr>
                                        <p:cTn id="15" dur="200" accel="100000" fill="hold">
                                          <p:stCondLst>
                                            <p:cond delay="800"/>
                                          </p:stCondLst>
                                        </p:cTn>
                                        <p:tgtEl>
                                          <p:spTgt spid="11"/>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tags/tag1.xml><?xml version="1.0" encoding="utf-8"?>
<p:tagLst xmlns:a="http://schemas.openxmlformats.org/drawingml/2006/main" xmlns:r="http://schemas.openxmlformats.org/officeDocument/2006/relationships" xmlns:p="http://schemas.openxmlformats.org/presentationml/2006/main">
  <p:tag name="MH" val="20161022204519"/>
  <p:tag name="MH_LIBRARY" val="GRAPHIC"/>
  <p:tag name="MH_ORDER" val="TextBox 3"/>
</p:tagLst>
</file>

<file path=ppt/theme/theme1.xml><?xml version="1.0" encoding="utf-8"?>
<a:theme xmlns:a="http://schemas.openxmlformats.org/drawingml/2006/main" name="1_Office 主题">
  <a:themeElements>
    <a:clrScheme name="模块">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演示文稿1" id="{721B1EAD-A6C0-47A7-B782-D5918D0D228F}" vid="{2963E896-880A-42B6-99FF-93DBD5586BD1}"/>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理科模板</Template>
  <TotalTime>378</TotalTime>
  <Words>1177</Words>
  <Application>Microsoft Office PowerPoint</Application>
  <PresentationFormat>宽屏</PresentationFormat>
  <Paragraphs>117</Paragraphs>
  <Slides>35</Slides>
  <Notes>0</Notes>
  <HiddenSlides>0</HiddenSlides>
  <MMClips>0</MMClips>
  <ScaleCrop>false</ScaleCrop>
  <HeadingPairs>
    <vt:vector size="8" baseType="variant">
      <vt:variant>
        <vt:lpstr>已用的字体</vt:lpstr>
      </vt:variant>
      <vt:variant>
        <vt:i4>18</vt:i4>
      </vt:variant>
      <vt:variant>
        <vt:lpstr>主题</vt:lpstr>
      </vt:variant>
      <vt:variant>
        <vt:i4>1</vt:i4>
      </vt:variant>
      <vt:variant>
        <vt:lpstr>嵌入 OLE 服务器</vt:lpstr>
      </vt:variant>
      <vt:variant>
        <vt:i4>1</vt:i4>
      </vt:variant>
      <vt:variant>
        <vt:lpstr>幻灯片标题</vt:lpstr>
      </vt:variant>
      <vt:variant>
        <vt:i4>35</vt:i4>
      </vt:variant>
    </vt:vector>
  </HeadingPairs>
  <TitlesOfParts>
    <vt:vector size="55" baseType="lpstr">
      <vt:lpstr>NEU-BZ-S92</vt:lpstr>
      <vt:lpstr>Open Sans</vt:lpstr>
      <vt:lpstr>方正书宋_GBK</vt:lpstr>
      <vt:lpstr>方正姚体</vt:lpstr>
      <vt:lpstr>方正正中黑简体</vt:lpstr>
      <vt:lpstr>仿宋</vt:lpstr>
      <vt:lpstr>黑体</vt:lpstr>
      <vt:lpstr>华文细黑</vt:lpstr>
      <vt:lpstr>华文新魏</vt:lpstr>
      <vt:lpstr>楷体</vt:lpstr>
      <vt:lpstr>隶书</vt:lpstr>
      <vt:lpstr>思源黑体 CN Medium</vt:lpstr>
      <vt:lpstr>宋体</vt:lpstr>
      <vt:lpstr>微软雅黑</vt:lpstr>
      <vt:lpstr>Arial</vt:lpstr>
      <vt:lpstr>Calibri</vt:lpstr>
      <vt:lpstr>Cambria Math</vt:lpstr>
      <vt:lpstr>Times New Roman</vt:lpstr>
      <vt:lpstr>1_Office 主题</vt:lpstr>
      <vt:lpstr>文档</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ITSK.com</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SkyUser</dc:creator>
  <cp:lastModifiedBy>SkyUser</cp:lastModifiedBy>
  <cp:revision>39</cp:revision>
  <dcterms:created xsi:type="dcterms:W3CDTF">2021-08-30T08:30:26Z</dcterms:created>
  <dcterms:modified xsi:type="dcterms:W3CDTF">2025-08-01T06:12:36Z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2052-11.1.0.10000</vt:lpwstr>
  </property>
</Properties>
</file>