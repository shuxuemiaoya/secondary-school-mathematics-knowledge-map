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407" r:id="rId13"/>
    <p:sldId id="394" r:id="rId14"/>
    <p:sldId id="699" r:id="rId15"/>
    <p:sldId id="700" r:id="rId16"/>
    <p:sldId id="701" r:id="rId17"/>
    <p:sldId id="402" r:id="rId18"/>
    <p:sldId id="712" r:id="rId19"/>
    <p:sldId id="713" r:id="rId20"/>
    <p:sldId id="714" r:id="rId21"/>
    <p:sldId id="715" r:id="rId22"/>
    <p:sldId id="719" r:id="rId23"/>
    <p:sldId id="720" r:id="rId24"/>
    <p:sldId id="721" r:id="rId25"/>
    <p:sldId id="498" r:id="rId26"/>
    <p:sldId id="730" r:id="rId27"/>
    <p:sldId id="733" r:id="rId28"/>
    <p:sldId id="743" r:id="rId29"/>
    <p:sldId id="744" r:id="rId30"/>
    <p:sldId id="741" r:id="rId31"/>
    <p:sldId id="738" r:id="rId32"/>
    <p:sldId id="751" r:id="rId33"/>
    <p:sldId id="398" r:id="rId34"/>
    <p:sldId id="395" r:id="rId35"/>
    <p:sldId id="756" r:id="rId36"/>
    <p:sldId id="49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30.xml"/><Relationship Id="rId4" Type="http://schemas.openxmlformats.org/officeDocument/2006/relationships/slide" Target="../slides/slide25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5.docx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11.docx"/><Relationship Id="rId4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5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Word___17.docx"/><Relationship Id="rId4" Type="http://schemas.openxmlformats.org/officeDocument/2006/relationships/image" Target="../media/image2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4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package" Target="../embeddings/Microsoft_Word___21.docx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6.emf"/><Relationship Id="rId5" Type="http://schemas.openxmlformats.org/officeDocument/2006/relationships/package" Target="../embeddings/Microsoft_Word___22.docx"/><Relationship Id="rId4" Type="http://schemas.openxmlformats.org/officeDocument/2006/relationships/image" Target="../media/image2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8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Word___26.docx"/><Relationship Id="rId4" Type="http://schemas.openxmlformats.org/officeDocument/2006/relationships/image" Target="../media/image29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1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4.emf"/><Relationship Id="rId5" Type="http://schemas.openxmlformats.org/officeDocument/2006/relationships/package" Target="../embeddings/Microsoft_Word___30.docx"/><Relationship Id="rId4" Type="http://schemas.openxmlformats.org/officeDocument/2006/relationships/image" Target="../media/image33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6.emf"/><Relationship Id="rId5" Type="http://schemas.openxmlformats.org/officeDocument/2006/relationships/package" Target="../embeddings/Microsoft_Word___32.docx"/><Relationship Id="rId4" Type="http://schemas.openxmlformats.org/officeDocument/2006/relationships/image" Target="../media/image3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8.emf"/><Relationship Id="rId5" Type="http://schemas.openxmlformats.org/officeDocument/2006/relationships/package" Target="../embeddings/Microsoft_Word___34.docx"/><Relationship Id="rId4" Type="http://schemas.openxmlformats.org/officeDocument/2006/relationships/image" Target="../media/image37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等差数列的前</a:t>
              </a:r>
              <a:r>
                <a:rPr lang="en-US" altLang="zh-CN" sz="3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华文细黑" panose="02010600040101010101" charset="-122"/>
                  <a:cs typeface="Times New Roman" panose="02020603050405020304" pitchFamily="18" charset="0"/>
                </a:rPr>
                <a:t>n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项和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第四章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4.2.2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85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了解等差数列前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项和公式的推导过程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掌握等差数列前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项和公式及其应用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能灵活应用等差数列前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项和的性质解题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培养逻辑推理能力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提升数学建模和数学运算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素养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43726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等差数列的前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项和公式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某仓库堆放的一堆钢管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最上面的一层有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根钢管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下面的每一层都比上一层多一根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最下面的一层有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这堆钢管共有几层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图形的横截面是什么形状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这堆钢管共有多少根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YMX2TRAX06.eps" descr="id:2147503634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2620" y="2144984"/>
            <a:ext cx="4406760" cy="250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9375" y="388255"/>
            <a:ext cx="11751625" cy="5362152"/>
            <a:chOff x="59375" y="584200"/>
            <a:chExt cx="11751625" cy="536215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84200"/>
              <a:ext cx="11430000" cy="457356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提示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这堆钢管共有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层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图形的横截面是等腰梯形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在这堆钢管的旁边再倒放上同样的一堆钢管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则这样共有钢管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9)×6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78(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pic>
          <p:nvPicPr>
            <p:cNvPr id="3" name="YMX2TRAX07.eps" descr="id:2147503641;FounderCES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47435" y="1827478"/>
              <a:ext cx="7097131" cy="2625771"/>
            </a:xfrm>
            <a:prstGeom prst="rect">
              <a:avLst/>
            </a:prstGeom>
          </p:spPr>
        </p:pic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858995"/>
                </p:ext>
              </p:extLst>
            </p:nvPr>
          </p:nvGraphicFramePr>
          <p:xfrm>
            <a:off x="59375" y="4943055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name="文档" r:id="rId4" imgW="4520786" imgH="396823" progId="Word.Document.12">
                    <p:embed/>
                  </p:oleObj>
                </mc:Choice>
                <mc:Fallback>
                  <p:oleObj name="文档" r:id="rId4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375" y="4943055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2033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请同学们交流一下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怎样求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的结果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加数倒序写一遍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100×101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50×101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你能用问题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中的求解方法求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555728"/>
              </p:ext>
            </p:extLst>
          </p:nvPr>
        </p:nvGraphicFramePr>
        <p:xfrm>
          <a:off x="59375" y="4438291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375" y="4438291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951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你能用问题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中的求解方法推得等差数列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306398"/>
              </p:ext>
            </p:extLst>
          </p:nvPr>
        </p:nvGraphicFramePr>
        <p:xfrm>
          <a:off x="105133" y="3097283"/>
          <a:ext cx="11275153" cy="14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文档" r:id="rId3" imgW="4510061" imgH="596210" progId="Word.Document.12">
                  <p:embed/>
                </p:oleObj>
              </mc:Choice>
              <mc:Fallback>
                <p:oleObj name="文档" r:id="rId3" imgW="4510061" imgH="5962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133" y="3097283"/>
                        <a:ext cx="11275153" cy="14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7043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中求出的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是已知等差数列的首项、第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项与项数时求前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替换第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中求出的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会变形为怎样的形式呢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508920"/>
              </p:ext>
            </p:extLst>
          </p:nvPr>
        </p:nvGraphicFramePr>
        <p:xfrm>
          <a:off x="381000" y="3447854"/>
          <a:ext cx="11430000" cy="2784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文档" r:id="rId3" imgW="4520786" imgH="1101445" progId="Word.Document.12">
                  <p:embed/>
                </p:oleObj>
              </mc:Choice>
              <mc:Fallback>
                <p:oleObj name="文档" r:id="rId3" imgW="4520786" imgH="11014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3447854"/>
                        <a:ext cx="11430000" cy="27848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789838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项和公式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020735"/>
              </p:ext>
            </p:extLst>
          </p:nvPr>
        </p:nvGraphicFramePr>
        <p:xfrm>
          <a:off x="-10391" y="2085926"/>
          <a:ext cx="11275153" cy="758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文档" r:id="rId5" imgW="4510061" imgH="303316" progId="Word.Document.12">
                  <p:embed/>
                </p:oleObj>
              </mc:Choice>
              <mc:Fallback>
                <p:oleObj name="文档" r:id="rId5" imgW="4510061" imgH="3033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10391" y="2085926"/>
                        <a:ext cx="11275153" cy="758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3683253" y="4301836"/>
            <a:ext cx="1283601" cy="665950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694893" y="4963310"/>
            <a:ext cx="12782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8037044" y="4301836"/>
            <a:ext cx="1813538" cy="665950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8048684" y="4963310"/>
            <a:ext cx="180591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243879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首项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331310"/>
              </p:ext>
            </p:extLst>
          </p:nvPr>
        </p:nvGraphicFramePr>
        <p:xfrm>
          <a:off x="59375" y="1817510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375" y="1817510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263774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88647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求等差数列前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项和公式的方法称为倒序相加法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在等差数列中涉及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五个量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利用方程思想可以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知三求二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indent="279400" algn="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的首项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及第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用公式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       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以求前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874623"/>
              </p:ext>
            </p:extLst>
          </p:nvPr>
        </p:nvGraphicFramePr>
        <p:xfrm>
          <a:off x="8073611" y="3847681"/>
          <a:ext cx="1639979" cy="82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文档" r:id="rId3" imgW="793531" imgH="396823" progId="Word.Document.12">
                  <p:embed/>
                </p:oleObj>
              </mc:Choice>
              <mc:Fallback>
                <p:oleObj name="文档" r:id="rId3" imgW="793531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3611" y="3847681"/>
                        <a:ext cx="1639979" cy="825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8804539" y="1723335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11001474" y="2839802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7769884" y="3405723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1167629" y="4538228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等差数列前</a:t>
                </a:r>
                <a:r>
                  <a:rPr lang="en-US" altLang="zh-CN" sz="2800" b="1" dirty="0">
                    <a:solidFill>
                      <a:schemeClr val="bg1"/>
                    </a:solidFill>
                  </a:rPr>
                  <a:t>n</a:t>
                </a:r>
                <a:r>
                  <a:rPr lang="zh-CN" altLang="en-US" sz="2800" b="1" dirty="0">
                    <a:solidFill>
                      <a:schemeClr val="bg1"/>
                    </a:solidFill>
                  </a:rPr>
                  <a:t>项和的计算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594990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根据下列条件求等差数列的前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851752"/>
              </p:ext>
            </p:extLst>
          </p:nvPr>
        </p:nvGraphicFramePr>
        <p:xfrm>
          <a:off x="60368" y="2843913"/>
          <a:ext cx="11430000" cy="3610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文档" r:id="rId3" imgW="4520786" imgH="1427986" progId="Word.Document.12">
                  <p:embed/>
                </p:oleObj>
              </mc:Choice>
              <mc:Fallback>
                <p:oleObj name="文档" r:id="rId3" imgW="4520786" imgH="14279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68" y="2843913"/>
                        <a:ext cx="11430000" cy="3610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305257"/>
              </p:ext>
            </p:extLst>
          </p:nvPr>
        </p:nvGraphicFramePr>
        <p:xfrm>
          <a:off x="404750" y="1437042"/>
          <a:ext cx="11430000" cy="2608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文档" r:id="rId3" imgW="4520786" imgH="1031523" progId="Word.Document.12">
                  <p:embed/>
                </p:oleObj>
              </mc:Choice>
              <mc:Fallback>
                <p:oleObj name="文档" r:id="rId3" imgW="4520786" imgH="10315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4750" y="1437042"/>
                        <a:ext cx="11430000" cy="2608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A.65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B.62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C.59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D.56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项的和为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A.6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B.18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9375" y="904772"/>
            <a:ext cx="11751625" cy="2960366"/>
            <a:chOff x="59375" y="1544555"/>
            <a:chExt cx="11751625" cy="296036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544555"/>
              <a:ext cx="6474849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5×3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9847290"/>
                </p:ext>
              </p:extLst>
            </p:nvPr>
          </p:nvGraphicFramePr>
          <p:xfrm>
            <a:off x="59375" y="2115111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6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9375" y="2115111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909411"/>
              <a:ext cx="11430000" cy="5922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因为在等差数列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是方程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的两根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6623057"/>
                </p:ext>
              </p:extLst>
            </p:nvPr>
          </p:nvGraphicFramePr>
          <p:xfrm>
            <a:off x="59375" y="3501624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7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9375" y="3501624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>
            <a:spLocks noChangeAspect="1"/>
          </p:cNvSpPr>
          <p:nvPr/>
        </p:nvSpPr>
        <p:spPr>
          <a:xfrm>
            <a:off x="381000" y="3687035"/>
            <a:ext cx="307167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(1)A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与</a:t>
                </a:r>
                <a:r>
                  <a:rPr lang="en-US" altLang="zh-CN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有关</a:t>
                </a:r>
                <a:r>
                  <a:rPr lang="zh-CN" altLang="en-US" sz="2800" b="1" dirty="0">
                    <a:solidFill>
                      <a:schemeClr val="bg1"/>
                    </a:solidFill>
                  </a:rPr>
                  <a:t>的基本量的计算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597148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1 022,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403541"/>
              </p:ext>
            </p:extLst>
          </p:nvPr>
        </p:nvGraphicFramePr>
        <p:xfrm>
          <a:off x="48492" y="2793257"/>
          <a:ext cx="11430000" cy="3710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文档" r:id="rId3" imgW="4520786" imgH="1467632" progId="Word.Document.12">
                  <p:embed/>
                </p:oleObj>
              </mc:Choice>
              <mc:Fallback>
                <p:oleObj name="文档" r:id="rId3" imgW="4520786" imgH="14676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92" y="2793257"/>
                        <a:ext cx="11430000" cy="3710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9375" y="471152"/>
            <a:ext cx="11751625" cy="4728045"/>
            <a:chOff x="59375" y="699754"/>
            <a:chExt cx="11751625" cy="472804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699754"/>
              <a:ext cx="7100021" cy="5922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的首项为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公差为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9568249"/>
                </p:ext>
              </p:extLst>
            </p:nvPr>
          </p:nvGraphicFramePr>
          <p:xfrm>
            <a:off x="59375" y="1280990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4" name="文档" r:id="rId3" imgW="4520786" imgH="595054" progId="Word.Document.12">
                    <p:embed/>
                  </p:oleObj>
                </mc:Choice>
                <mc:Fallback>
                  <p:oleObj name="文档" r:id="rId3" imgW="4520786" imgH="5950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9375" y="1280990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594972"/>
              <a:ext cx="11430000" cy="283282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的公差为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-d+a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3×7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2616763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称为等差数列的三个基本量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都可以用这三个基本量来表示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五个量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中可知三求二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一般是通过通项公式和前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项和公式列出关于基本量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这种方法是解决数列问题的基本方法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在具体求解过程中应注意整体代换思想的运用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以便简化计算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302926"/>
            <a:ext cx="5872120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的首项为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041416"/>
              </p:ext>
            </p:extLst>
          </p:nvPr>
        </p:nvGraphicFramePr>
        <p:xfrm>
          <a:off x="53178" y="1007367"/>
          <a:ext cx="11275153" cy="164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name="文档" r:id="rId3" imgW="4510061" imgH="659820" progId="Word.Document.12">
                  <p:embed/>
                </p:oleObj>
              </mc:Choice>
              <mc:Fallback>
                <p:oleObj name="文档" r:id="rId3" imgW="4510061" imgH="6598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178" y="1007367"/>
                        <a:ext cx="11275153" cy="1649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8989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的首项为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886564"/>
            <a:ext cx="2016224" cy="36770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972030"/>
              </p:ext>
            </p:extLst>
          </p:nvPr>
        </p:nvGraphicFramePr>
        <p:xfrm>
          <a:off x="62675" y="2491246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文档" r:id="rId4" imgW="4520786" imgH="793285" progId="Word.Document.12">
                  <p:embed/>
                </p:oleObj>
              </mc:Choice>
              <mc:Fallback>
                <p:oleObj name="文档" r:id="rId4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675" y="2491246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1250" y="383717"/>
            <a:ext cx="11739750" cy="2475992"/>
            <a:chOff x="71250" y="383717"/>
            <a:chExt cx="11739750" cy="247599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383717"/>
              <a:ext cx="5960286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中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4993516"/>
                </p:ext>
              </p:extLst>
            </p:nvPr>
          </p:nvGraphicFramePr>
          <p:xfrm>
            <a:off x="71250" y="893703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74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1250" y="893703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1707342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84,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460,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24,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973458"/>
              </p:ext>
            </p:extLst>
          </p:nvPr>
        </p:nvGraphicFramePr>
        <p:xfrm>
          <a:off x="71250" y="2809339"/>
          <a:ext cx="11430000" cy="2608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文档" r:id="rId5" imgW="4510061" imgH="1034672" progId="Word.Document.12">
                  <p:embed/>
                </p:oleObj>
              </mc:Choice>
              <mc:Fallback>
                <p:oleObj name="文档" r:id="rId5" imgW="4510061" imgH="10346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250" y="2809339"/>
                        <a:ext cx="11430000" cy="2608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8492" y="671368"/>
            <a:ext cx="11430000" cy="3777131"/>
            <a:chOff x="48492" y="1245363"/>
            <a:chExt cx="11430000" cy="377713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5363"/>
              <a:ext cx="5723042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的公差为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3764277"/>
                </p:ext>
              </p:extLst>
            </p:nvPr>
          </p:nvGraphicFramePr>
          <p:xfrm>
            <a:off x="48492" y="1885974"/>
            <a:ext cx="11430000" cy="2507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0" name="文档" r:id="rId3" imgW="4520786" imgH="991877" progId="Word.Document.12">
                    <p:embed/>
                  </p:oleObj>
                </mc:Choice>
                <mc:Fallback>
                  <p:oleObj name="文档" r:id="rId3" imgW="4520786" imgH="9918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92" y="1885974"/>
                          <a:ext cx="11430000" cy="25077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370008"/>
              <a:ext cx="5931432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0367" y="584200"/>
            <a:ext cx="11750633" cy="4383459"/>
            <a:chOff x="60367" y="1024658"/>
            <a:chExt cx="11750633" cy="438345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024658"/>
              <a:ext cx="6705682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=an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84,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460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8118402"/>
                </p:ext>
              </p:extLst>
            </p:nvPr>
          </p:nvGraphicFramePr>
          <p:xfrm>
            <a:off x="60367" y="1665269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5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367" y="1665269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635324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4×1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8494" y="204103"/>
            <a:ext cx="11430000" cy="5619643"/>
            <a:chOff x="48494" y="377782"/>
            <a:chExt cx="11430000" cy="561964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377782"/>
              <a:ext cx="7620997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设等差数列的首项为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公差为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525814"/>
                </p:ext>
              </p:extLst>
            </p:nvPr>
          </p:nvGraphicFramePr>
          <p:xfrm>
            <a:off x="48494" y="982768"/>
            <a:ext cx="11430000" cy="5014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8" name="文档" r:id="rId3" imgW="4520786" imgH="1983394" progId="Word.Document.12">
                    <p:embed/>
                  </p:oleObj>
                </mc:Choice>
                <mc:Fallback>
                  <p:oleObj name="文档" r:id="rId3" imgW="4520786" imgH="198339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94" y="982768"/>
                          <a:ext cx="11430000" cy="501465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59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等差数列前</a:t>
                </a:r>
                <a:r>
                  <a:rPr lang="en-US" altLang="zh-CN" sz="2800" b="1" dirty="0">
                    <a:solidFill>
                      <a:schemeClr val="bg1"/>
                    </a:solidFill>
                  </a:rPr>
                  <a:t>n</a:t>
                </a:r>
                <a:r>
                  <a:rPr lang="zh-CN" altLang="en-US" sz="2800" b="1" dirty="0">
                    <a:solidFill>
                      <a:schemeClr val="bg1"/>
                    </a:solidFill>
                  </a:rPr>
                  <a:t>项和公式的应用</a:t>
                </a: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211898"/>
              </p:ext>
            </p:extLst>
          </p:nvPr>
        </p:nvGraphicFramePr>
        <p:xfrm>
          <a:off x="381000" y="474763"/>
          <a:ext cx="11430000" cy="160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2" name="文档" r:id="rId3" imgW="4520786" imgH="634700" progId="Word.Document.12">
                  <p:embed/>
                </p:oleObj>
              </mc:Choice>
              <mc:Fallback>
                <p:oleObj name="文档" r:id="rId3" imgW="4520786" imgH="634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474763"/>
                        <a:ext cx="11430000" cy="160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60367" y="1758985"/>
            <a:ext cx="11750633" cy="5000120"/>
            <a:chOff x="60367" y="1783699"/>
            <a:chExt cx="11750633" cy="500012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7202806"/>
                </p:ext>
              </p:extLst>
            </p:nvPr>
          </p:nvGraphicFramePr>
          <p:xfrm>
            <a:off x="60367" y="1783699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83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0367" y="1783699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593906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104,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也适合上式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的通项公式为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104(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2864165"/>
                </p:ext>
              </p:extLst>
            </p:nvPr>
          </p:nvGraphicFramePr>
          <p:xfrm>
            <a:off x="60367" y="4175797"/>
            <a:ext cx="11430000" cy="26080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84" name="文档" r:id="rId7" imgW="4520786" imgH="1031523" progId="Word.Document.12">
                    <p:embed/>
                  </p:oleObj>
                </mc:Choice>
                <mc:Fallback>
                  <p:oleObj name="文档" r:id="rId7" imgW="4520786" imgH="10315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0367" y="4175797"/>
                          <a:ext cx="11430000" cy="26080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16369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=|a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+|a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+|a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730815"/>
              </p:ext>
            </p:extLst>
          </p:nvPr>
        </p:nvGraphicFramePr>
        <p:xfrm>
          <a:off x="63570" y="2742295"/>
          <a:ext cx="11275153" cy="2479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文档" r:id="rId3" imgW="4510061" imgH="991786" progId="Word.Document.12">
                  <p:embed/>
                </p:oleObj>
              </mc:Choice>
              <mc:Fallback>
                <p:oleObj name="文档" r:id="rId3" imgW="4510061" imgH="991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570" y="2742295"/>
                        <a:ext cx="11275153" cy="2479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项和需注意以下问题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给出数列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关键是分清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取什么值时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的各项都为非负数时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各项都为非正数时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项和的相反数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的某些项为正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某些项为负时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进行分类讨论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转化为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其结果用分段函数表示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84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1190" y="1627404"/>
            <a:ext cx="11769810" cy="3536813"/>
            <a:chOff x="41190" y="1077270"/>
            <a:chExt cx="11769810" cy="3536813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1953261"/>
                </p:ext>
              </p:extLst>
            </p:nvPr>
          </p:nvGraphicFramePr>
          <p:xfrm>
            <a:off x="41190" y="1077270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4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90" y="1077270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1898266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的前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项是负数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项以后的项是非负数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S'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分别表示数列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项和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6933473"/>
                </p:ext>
              </p:extLst>
            </p:nvPr>
          </p:nvGraphicFramePr>
          <p:xfrm>
            <a:off x="41190" y="3610786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5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190" y="3610786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767915"/>
              </p:ext>
            </p:extLst>
          </p:nvPr>
        </p:nvGraphicFramePr>
        <p:xfrm>
          <a:off x="43247" y="1316616"/>
          <a:ext cx="11275153" cy="3074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3" name="文档" r:id="rId3" imgW="4510061" imgH="1229641" progId="Word.Document.12">
                  <p:embed/>
                </p:oleObj>
              </mc:Choice>
              <mc:Fallback>
                <p:oleObj name="文档" r:id="rId3" imgW="4510061" imgH="12296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7" y="1316616"/>
                        <a:ext cx="11275153" cy="3074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940389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忽略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的关系致错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试判断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的每一项与前一项的差是同一个常数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001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忽视了这一条件而不去验证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的情况从而导致判断错误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不符合上式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4357660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不是等差数列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防范</a:t>
            </a:r>
            <a:r>
              <a:rPr lang="zh-CN" altLang="en-US" sz="28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措施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求数列的通项公式时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需分类讨论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两种情况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满足当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的关系式时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才能用同一个式子来表达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否则分段表示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486686"/>
              </p:ext>
            </p:extLst>
          </p:nvPr>
        </p:nvGraphicFramePr>
        <p:xfrm>
          <a:off x="41190" y="3436511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5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3436511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88290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的各项均为正数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678313"/>
              </p:ext>
            </p:extLst>
          </p:nvPr>
        </p:nvGraphicFramePr>
        <p:xfrm>
          <a:off x="879458" y="755373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0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9458" y="755373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41190" y="1500930"/>
            <a:ext cx="11769810" cy="4120531"/>
            <a:chOff x="41190" y="1607367"/>
            <a:chExt cx="11769810" cy="4120531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8373783"/>
                </p:ext>
              </p:extLst>
            </p:nvPr>
          </p:nvGraphicFramePr>
          <p:xfrm>
            <a:off x="41190" y="1607367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81" name="文档" r:id="rId5" imgW="4520786" imgH="793285" progId="Word.Document.12">
                    <p:embed/>
                  </p:oleObj>
                </mc:Choice>
                <mc:Fallback>
                  <p:oleObj name="文档" r:id="rId5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190" y="1607367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455225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整理得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为首项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为公差的等差数列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942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A.120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B.240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C.180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D.280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436927"/>
              </p:ext>
            </p:extLst>
          </p:nvPr>
        </p:nvGraphicFramePr>
        <p:xfrm>
          <a:off x="484103" y="167211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2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03" y="167211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460173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A.13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B.35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C.49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D.63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85658"/>
              </p:ext>
            </p:extLst>
          </p:nvPr>
        </p:nvGraphicFramePr>
        <p:xfrm>
          <a:off x="484103" y="5212665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4103" y="5212665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6032774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8146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由等差数列的性质可得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801035"/>
              </p:ext>
            </p:extLst>
          </p:nvPr>
        </p:nvGraphicFramePr>
        <p:xfrm>
          <a:off x="484103" y="122284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03" y="122284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047583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求此数列前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项的和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464536"/>
              </p:ext>
            </p:extLst>
          </p:nvPr>
        </p:nvGraphicFramePr>
        <p:xfrm>
          <a:off x="484103" y="4316324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7" name="文档" r:id="rId5" imgW="4520786" imgH="793285" progId="Word.Document.12">
                  <p:embed/>
                </p:oleObj>
              </mc:Choice>
              <mc:Fallback>
                <p:oleObj name="文档" r:id="rId5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4103" y="4316324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373</TotalTime>
  <Words>1771</Words>
  <Application>Microsoft Office PowerPoint</Application>
  <PresentationFormat>宽屏</PresentationFormat>
  <Paragraphs>158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6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44</cp:revision>
  <dcterms:created xsi:type="dcterms:W3CDTF">2021-08-30T08:30:26Z</dcterms:created>
  <dcterms:modified xsi:type="dcterms:W3CDTF">2025-08-01T05:42:04Z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