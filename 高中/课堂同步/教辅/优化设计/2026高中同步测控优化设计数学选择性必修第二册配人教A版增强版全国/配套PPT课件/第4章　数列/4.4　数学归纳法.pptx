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407" r:id="rId9"/>
    <p:sldId id="394" r:id="rId10"/>
    <p:sldId id="699" r:id="rId11"/>
    <p:sldId id="700" r:id="rId12"/>
    <p:sldId id="402" r:id="rId13"/>
    <p:sldId id="712" r:id="rId14"/>
    <p:sldId id="713" r:id="rId15"/>
    <p:sldId id="714" r:id="rId16"/>
    <p:sldId id="715" r:id="rId17"/>
    <p:sldId id="498" r:id="rId18"/>
    <p:sldId id="730" r:id="rId19"/>
    <p:sldId id="733" r:id="rId20"/>
    <p:sldId id="740" r:id="rId21"/>
    <p:sldId id="739" r:id="rId22"/>
    <p:sldId id="745" r:id="rId23"/>
    <p:sldId id="746" r:id="rId24"/>
    <p:sldId id="741" r:id="rId25"/>
    <p:sldId id="738" r:id="rId26"/>
    <p:sldId id="751" r:id="rId27"/>
    <p:sldId id="753" r:id="rId28"/>
    <p:sldId id="398" r:id="rId29"/>
    <p:sldId id="395" r:id="rId30"/>
    <p:sldId id="756" r:id="rId31"/>
    <p:sldId id="757" r:id="rId32"/>
    <p:sldId id="759" r:id="rId33"/>
    <p:sldId id="760" r:id="rId34"/>
    <p:sldId id="490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72"/>
      </p:cViewPr>
      <p:guideLst>
        <p:guide orient="horz" pos="391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Relationship Id="rId4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slide" Target="../slides/slide9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4.xml"/><Relationship Id="rId5" Type="http://schemas.openxmlformats.org/officeDocument/2006/relationships/slide" Target="../slides/slide20.xml"/><Relationship Id="rId4" Type="http://schemas.openxmlformats.org/officeDocument/2006/relationships/slide" Target="../slides/slide17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73666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2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3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6.docx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jpeg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5.docx"/><Relationship Id="rId9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7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9.docx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package" Target="../embeddings/Microsoft_Word___14.docx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emf"/><Relationship Id="rId5" Type="http://schemas.openxmlformats.org/officeDocument/2006/relationships/image" Target="../media/image12.emf"/><Relationship Id="rId10" Type="http://schemas.openxmlformats.org/officeDocument/2006/relationships/package" Target="../embeddings/Microsoft_Word___13.docx"/><Relationship Id="rId4" Type="http://schemas.openxmlformats.org/officeDocument/2006/relationships/package" Target="../embeddings/Microsoft_Word___11.docx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5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5.bin"/><Relationship Id="rId7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5.docx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7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9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emf"/><Relationship Id="rId5" Type="http://schemas.openxmlformats.org/officeDocument/2006/relationships/image" Target="../media/image21.emf"/><Relationship Id="rId10" Type="http://schemas.openxmlformats.org/officeDocument/2006/relationships/package" Target="../embeddings/Microsoft_Word___22.docx"/><Relationship Id="rId4" Type="http://schemas.openxmlformats.org/officeDocument/2006/relationships/package" Target="../embeddings/Microsoft_Word___20.docx"/><Relationship Id="rId9" Type="http://schemas.openxmlformats.org/officeDocument/2006/relationships/oleObject" Target="../embeddings/oleObject2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3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4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5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6.docx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7.docx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9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31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2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4.4*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数学归纳法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第四章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了解数学归纳法的原理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能用数学归纳法证明一些简单的数学命题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体会逻辑推理的过程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提升数学建模和数据分析的素养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34002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数学归纳法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根据观察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今天第一个到教室的是男同学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第二个到教室的是男同学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第三个到教室的也是男同学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于是得出结论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第四个到教室的是男同学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1,2,4,8,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则它的通项公式为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以上两个结论正确吗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是不完全归纳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第四名同学的到来与前面的同学没有关系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2,3,4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时不成立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428"/>
            <a:ext cx="11430000" cy="67539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在学校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我们经常会看到一种现象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紧密排成一排的自行车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如果一名同学将第一辆自行车不小心弄倒了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那么整排自行车就会倒下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假设让整排自行车倒下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则需要具备哪几个条件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需具备以下两个条件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第一辆自行车倒下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任意相邻的两辆自行车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前一辆倒下一定导致后一辆倒下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数学归纳法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的定义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证明一个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正整数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有关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的命题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可按下列步骤进行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归纳奠基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FF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归纳递推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时命题成立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推出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时命题也成立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只要完成这两个步骤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就可以断定命题对从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开始的所有正整数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这种证明方法称为数学归纳法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08516" y="3456088"/>
            <a:ext cx="136815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720268" y="3893048"/>
            <a:ext cx="13624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319858" y="4036554"/>
            <a:ext cx="17276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331610" y="4473514"/>
            <a:ext cx="17203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008140" y="4535859"/>
            <a:ext cx="61928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1019891" y="4972819"/>
            <a:ext cx="6166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8602"/>
            <a:ext cx="11430000" cy="619374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数学归纳法证明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第一步验证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的最小值为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故第一步验证当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时是否成立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与正整数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有关的数学命题的证明只能用数学归纳法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数学归纳法的第一步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的初始值一定为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数学归纳法的两个步骤缺一不可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在用数学归纳法证明问题时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归纳假设可以不用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9523790" y="4068398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7678514" y="4619199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12" name="矩形 11"/>
          <p:cNvSpPr>
            <a:spLocks noChangeAspect="1"/>
          </p:cNvSpPr>
          <p:nvPr/>
        </p:nvSpPr>
        <p:spPr>
          <a:xfrm>
            <a:off x="6486978" y="5155258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13" name="矩形 12"/>
          <p:cNvSpPr>
            <a:spLocks noChangeAspect="1"/>
          </p:cNvSpPr>
          <p:nvPr/>
        </p:nvSpPr>
        <p:spPr>
          <a:xfrm>
            <a:off x="8716482" y="5731309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数学归纳法的原理</a:t>
                </a:r>
              </a:p>
            </p:txBody>
          </p:sp>
        </p:grp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865129"/>
              </p:ext>
            </p:extLst>
          </p:nvPr>
        </p:nvGraphicFramePr>
        <p:xfrm>
          <a:off x="48489" y="1275240"/>
          <a:ext cx="11430000" cy="346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文档" r:id="rId4" imgW="4510061" imgH="1365282" progId="Word.Document.12">
                  <p:embed/>
                </p:oleObj>
              </mc:Choice>
              <mc:Fallback>
                <p:oleObj name="文档" r:id="rId4" imgW="4510061" imgH="13652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89" y="1275240"/>
                        <a:ext cx="11430000" cy="346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599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中各项的特征可知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分子均为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分母为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的连续自然数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826644"/>
              </p:ext>
            </p:extLst>
          </p:nvPr>
        </p:nvGraphicFramePr>
        <p:xfrm>
          <a:off x="41190" y="115479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90" y="115479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199603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验证是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基础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找准起点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有些问题中验证的初始值不一定是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递推是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关键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数学归纳法的实质在于递推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故从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的过程中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要正确分析式子项数的变化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关键是弄清等式两边的构成规律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弄清由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等式的两边会增加多少项、增加怎样的项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91099"/>
            <a:ext cx="11430000" cy="530606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用数学归纳法证明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左端的式子为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时左端应在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的基础上加上的项为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50000"/>
              </a:lnSpc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indent="279400">
              <a:lnSpc>
                <a:spcPct val="15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左端的式子为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等式左端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等式左端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383804"/>
              </p:ext>
            </p:extLst>
          </p:nvPr>
        </p:nvGraphicFramePr>
        <p:xfrm>
          <a:off x="8480567" y="212046"/>
          <a:ext cx="1053165" cy="75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文档" r:id="rId4" imgW="563209" imgH="397544" progId="Word.Document.12">
                  <p:embed/>
                </p:oleObj>
              </mc:Choice>
              <mc:Fallback>
                <p:oleObj name="文档" r:id="rId4" imgW="563209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80567" y="212046"/>
                        <a:ext cx="1053165" cy="75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660590"/>
              </p:ext>
            </p:extLst>
          </p:nvPr>
        </p:nvGraphicFramePr>
        <p:xfrm>
          <a:off x="3960521" y="1957947"/>
          <a:ext cx="1053165" cy="75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文档" r:id="rId7" imgW="563209" imgH="397544" progId="Word.Document.12">
                  <p:embed/>
                </p:oleObj>
              </mc:Choice>
              <mc:Fallback>
                <p:oleObj name="文档" r:id="rId7" imgW="563209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60521" y="1957947"/>
                        <a:ext cx="1053165" cy="75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用数学归纳法证明等式问题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631101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用数学归纳法证明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2×7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等式成立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假设当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时等式成立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那么当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2×7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1)[3(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1)[3(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1)[(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时等式也成立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等式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对任何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用数学归纳法证题时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利用假设是核心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在第二步证明当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命题成立时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一定要利用归纳假设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即把归纳假设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时命题成立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作为条件来导出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时命题成立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在书写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要把包含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的式子写出来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尤其是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中的最后一项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这是数学归纳法的核心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不用归纳假设的证明就不是数学归纳法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260132"/>
              </p:ext>
            </p:extLst>
          </p:nvPr>
        </p:nvGraphicFramePr>
        <p:xfrm>
          <a:off x="389238" y="1642755"/>
          <a:ext cx="11430000" cy="160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文档" r:id="rId4" imgW="4520786" imgH="634700" progId="Word.Document.12">
                  <p:embed/>
                </p:oleObj>
              </mc:Choice>
              <mc:Fallback>
                <p:oleObj name="文档" r:id="rId4" imgW="4520786" imgH="634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9238" y="1642755"/>
                        <a:ext cx="11430000" cy="160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延伸探究H.eps" descr="id:2147494559;FounderCES"/>
          <p:cNvPicPr/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1250335"/>
            <a:ext cx="2016224" cy="36770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133124"/>
              </p:ext>
            </p:extLst>
          </p:nvPr>
        </p:nvGraphicFramePr>
        <p:xfrm>
          <a:off x="50800" y="316903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文档" r:id="rId8" imgW="4520786" imgH="396823" progId="Word.Document.12">
                  <p:embed/>
                </p:oleObj>
              </mc:Choice>
              <mc:Fallback>
                <p:oleObj name="文档" r:id="rId8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800" y="316903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1190" y="206753"/>
            <a:ext cx="11823485" cy="5469489"/>
            <a:chOff x="41190" y="447899"/>
            <a:chExt cx="11823485" cy="5469489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6953360"/>
                </p:ext>
              </p:extLst>
            </p:nvPr>
          </p:nvGraphicFramePr>
          <p:xfrm>
            <a:off x="41190" y="447899"/>
            <a:ext cx="11430000" cy="2608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0" name="文档" r:id="rId4" imgW="4520786" imgH="1031523" progId="Word.Document.12">
                    <p:embed/>
                  </p:oleObj>
                </mc:Choice>
                <mc:Fallback>
                  <p:oleObj name="文档" r:id="rId4" imgW="4520786" imgH="10315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190" y="447899"/>
                          <a:ext cx="11430000" cy="26080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00027"/>
                </p:ext>
              </p:extLst>
            </p:nvPr>
          </p:nvGraphicFramePr>
          <p:xfrm>
            <a:off x="434675" y="2849719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" name="文档" r:id="rId7" imgW="4520786" imgH="793285" progId="Word.Document.12">
                    <p:embed/>
                  </p:oleObj>
                </mc:Choice>
                <mc:Fallback>
                  <p:oleObj name="文档" r:id="rId7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4675" y="2849719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765021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等式成立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等式对任何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都成立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5425"/>
            <a:ext cx="60420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用数学归纳法证明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161011"/>
              </p:ext>
            </p:extLst>
          </p:nvPr>
        </p:nvGraphicFramePr>
        <p:xfrm>
          <a:off x="51486" y="679055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86" y="679055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569029"/>
              </p:ext>
            </p:extLst>
          </p:nvPr>
        </p:nvGraphicFramePr>
        <p:xfrm>
          <a:off x="51486" y="1651179"/>
          <a:ext cx="11430000" cy="3455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文档" r:id="rId7" imgW="4510061" imgH="1363485" progId="Word.Document.12">
                  <p:embed/>
                </p:oleObj>
              </mc:Choice>
              <mc:Fallback>
                <p:oleObj name="文档" r:id="rId7" imgW="4510061" imgH="13634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86" y="1651179"/>
                        <a:ext cx="11430000" cy="34555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81000" y="505475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时等式成立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对任何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等式都成立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用数学归纳法证明不等式问题</a:t>
                </a: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31173" y="1560349"/>
            <a:ext cx="11779827" cy="4546063"/>
            <a:chOff x="31173" y="1362920"/>
            <a:chExt cx="11779827" cy="4546063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1516672"/>
                </p:ext>
              </p:extLst>
            </p:nvPr>
          </p:nvGraphicFramePr>
          <p:xfrm>
            <a:off x="51955" y="1362920"/>
            <a:ext cx="11430000" cy="1400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5" name="文档" r:id="rId4" imgW="4510061" imgH="552725" progId="Word.Document.12">
                    <p:embed/>
                  </p:oleObj>
                </mc:Choice>
                <mc:Fallback>
                  <p:oleObj name="文档" r:id="rId4" imgW="4510061" imgH="55272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1955" y="1362920"/>
                          <a:ext cx="11430000" cy="140079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976629"/>
                </p:ext>
              </p:extLst>
            </p:nvPr>
          </p:nvGraphicFramePr>
          <p:xfrm>
            <a:off x="381000" y="2784842"/>
            <a:ext cx="11430000" cy="2498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6" name="文档" r:id="rId7" imgW="4510061" imgH="985777" progId="Word.Document.12">
                    <p:embed/>
                  </p:oleObj>
                </mc:Choice>
                <mc:Fallback>
                  <p:oleObj name="文档" r:id="rId7" imgW="4510061" imgH="9857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81000" y="2784842"/>
                          <a:ext cx="11430000" cy="24982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0071797"/>
                </p:ext>
              </p:extLst>
            </p:nvPr>
          </p:nvGraphicFramePr>
          <p:xfrm>
            <a:off x="31173" y="5252307"/>
            <a:ext cx="11430000" cy="656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7" name="文档" r:id="rId10" imgW="4510061" imgH="259112" progId="Word.Document.12">
                    <p:embed/>
                  </p:oleObj>
                </mc:Choice>
                <mc:Fallback>
                  <p:oleObj name="文档" r:id="rId10" imgW="4510061" imgH="2591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1173" y="5252307"/>
                          <a:ext cx="11430000" cy="6566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799441"/>
              </p:ext>
            </p:extLst>
          </p:nvPr>
        </p:nvGraphicFramePr>
        <p:xfrm>
          <a:off x="323341" y="619413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" name="文档" r:id="rId13" imgW="4510061" imgH="396786" progId="Word.Document.12">
                  <p:embed/>
                </p:oleObj>
              </mc:Choice>
              <mc:Fallback>
                <p:oleObj name="文档" r:id="rId1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3341" y="619413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99437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数学归纳法证明不等式往往比证明恒等式难度更大些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方法更灵活些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用数学归纳法证明的第二步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时应注意灵活运用证明不等式的一般方法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比较法、分析法、综合法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具体证明过程中要注意以下两点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先凑假设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作等价变换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瞄准当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时的递推目标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有目的地放缩、分析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直到凑出结论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588840"/>
              </p:ext>
            </p:extLst>
          </p:nvPr>
        </p:nvGraphicFramePr>
        <p:xfrm>
          <a:off x="51487" y="7740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87" y="7740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51487" y="949971"/>
            <a:ext cx="11759513" cy="5247806"/>
            <a:chOff x="51487" y="1799405"/>
            <a:chExt cx="11759513" cy="524780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1799405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左边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右边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左边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右边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不等式成立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假设当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不等式成立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3815917"/>
                </p:ext>
              </p:extLst>
            </p:nvPr>
          </p:nvGraphicFramePr>
          <p:xfrm>
            <a:off x="51487" y="2951772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3" name="文档" r:id="rId7" imgW="4510061" imgH="1191801" progId="Word.Document.12">
                    <p:embed/>
                  </p:oleObj>
                </mc:Choice>
                <mc:Fallback>
                  <p:oleObj name="文档" r:id="rId7" imgW="4510061" imgH="119180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487" y="2951772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5894844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不等式成立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原不等式对任意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都成立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探究四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归纳</a:t>
                </a:r>
                <a:r>
                  <a:rPr lang="en-US" altLang="zh-CN" sz="2800" b="1" dirty="0">
                    <a:solidFill>
                      <a:schemeClr val="bg1"/>
                    </a:solidFill>
                  </a:rPr>
                  <a:t>——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猜想</a:t>
                </a:r>
                <a:r>
                  <a:rPr lang="en-US" altLang="zh-CN" sz="2800" b="1" dirty="0">
                    <a:solidFill>
                      <a:schemeClr val="bg1"/>
                    </a:solidFill>
                  </a:rPr>
                  <a:t>——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证明</a:t>
                </a:r>
              </a:p>
            </p:txBody>
          </p:sp>
        </p:grpSp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421407"/>
              </p:ext>
            </p:extLst>
          </p:nvPr>
        </p:nvGraphicFramePr>
        <p:xfrm>
          <a:off x="35010" y="113281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10" y="113281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81000" y="189988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猜想数列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021001"/>
              </p:ext>
            </p:extLst>
          </p:nvPr>
        </p:nvGraphicFramePr>
        <p:xfrm>
          <a:off x="33338" y="3157824"/>
          <a:ext cx="11401425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文档" r:id="rId7" imgW="4510061" imgH="578601" progId="Word.Document.12">
                  <p:embed/>
                </p:oleObj>
              </mc:Choice>
              <mc:Fallback>
                <p:oleObj name="文档" r:id="rId7" imgW="4510061" imgH="5786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338" y="3157824"/>
                        <a:ext cx="11401425" cy="1465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8491" y="144676"/>
            <a:ext cx="11762509" cy="6083865"/>
            <a:chOff x="48491" y="144676"/>
            <a:chExt cx="11762509" cy="6083865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1899711"/>
                </p:ext>
              </p:extLst>
            </p:nvPr>
          </p:nvGraphicFramePr>
          <p:xfrm>
            <a:off x="48491" y="144676"/>
            <a:ext cx="11430000" cy="4993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8" name="文档" r:id="rId4" imgW="4510061" imgH="1969039" progId="Word.Document.12">
                    <p:embed/>
                  </p:oleObj>
                </mc:Choice>
                <mc:Fallback>
                  <p:oleObj name="文档" r:id="rId4" imgW="4510061" imgH="196903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491" y="144676"/>
                          <a:ext cx="11430000" cy="499384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5076174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时猜想成立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①②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猜想对任何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都成立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本题中由当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时命题成立证明当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命题成立时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来寻找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的关系是证明的关键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在证明与数列有关的问题时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一般要用到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在寻找它们之间的关系时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往往要用到已知条件和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来建立等量关系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428"/>
            <a:ext cx="11430000" cy="677608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并猜想数列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利用数学归纳法证明上述猜想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2×1×3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2×2×5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由此猜想数列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的通项公式为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用数学归纳法证明如下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假设当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时猜想成立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36017"/>
              </p:ext>
            </p:extLst>
          </p:nvPr>
        </p:nvGraphicFramePr>
        <p:xfrm>
          <a:off x="7193691" y="134216"/>
          <a:ext cx="6064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name="文档" r:id="rId4" imgW="247596" imgH="198231" progId="Word.Document.12">
                  <p:embed/>
                </p:oleObj>
              </mc:Choice>
              <mc:Fallback>
                <p:oleObj name="文档" r:id="rId4" imgW="247596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93691" y="134216"/>
                        <a:ext cx="606425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737447"/>
              </p:ext>
            </p:extLst>
          </p:nvPr>
        </p:nvGraphicFramePr>
        <p:xfrm>
          <a:off x="5593484" y="1799486"/>
          <a:ext cx="6064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3" name="文档" r:id="rId7" imgW="247596" imgH="198231" progId="Word.Document.12">
                  <p:embed/>
                </p:oleObj>
              </mc:Choice>
              <mc:Fallback>
                <p:oleObj name="文档" r:id="rId7" imgW="247596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93484" y="1799486"/>
                        <a:ext cx="606425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362363"/>
              </p:ext>
            </p:extLst>
          </p:nvPr>
        </p:nvGraphicFramePr>
        <p:xfrm>
          <a:off x="3873843" y="5150451"/>
          <a:ext cx="8223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4" name="文档" r:id="rId10" imgW="333967" imgH="198231" progId="Word.Document.12">
                  <p:embed/>
                </p:oleObj>
              </mc:Choice>
              <mc:Fallback>
                <p:oleObj name="文档" r:id="rId10" imgW="333967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73843" y="5150451"/>
                        <a:ext cx="822325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8489" y="631716"/>
            <a:ext cx="11762511" cy="5769565"/>
            <a:chOff x="48489" y="631716"/>
            <a:chExt cx="11762511" cy="576956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4158610" y="631716"/>
              <a:ext cx="3874779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未应用归纳假设而致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错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1075633"/>
                </p:ext>
              </p:extLst>
            </p:nvPr>
          </p:nvGraphicFramePr>
          <p:xfrm>
            <a:off x="48489" y="1270804"/>
            <a:ext cx="11430000" cy="4009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4" name="文档" r:id="rId4" imgW="4510061" imgH="1581987" progId="Word.Document.12">
                    <p:embed/>
                  </p:oleObj>
                </mc:Choice>
                <mc:Fallback>
                  <p:oleObj name="文档" r:id="rId4" imgW="4510061" imgH="158198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489" y="1270804"/>
                          <a:ext cx="11430000" cy="40092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5248914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这就是说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时等式也成立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根据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可知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等式对任意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都成立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3203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733672"/>
              </p:ext>
            </p:extLst>
          </p:nvPr>
        </p:nvGraphicFramePr>
        <p:xfrm>
          <a:off x="396875" y="2232459"/>
          <a:ext cx="11401425" cy="219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文档" r:id="rId4" imgW="4510061" imgH="873939" progId="Word.Document.12">
                  <p:embed/>
                </p:oleObj>
              </mc:Choice>
              <mc:Fallback>
                <p:oleObj name="文档" r:id="rId4" imgW="4510061" imgH="8739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6875" y="2232459"/>
                        <a:ext cx="11401425" cy="219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1564" y="298129"/>
            <a:ext cx="11769436" cy="5616148"/>
            <a:chOff x="41564" y="983934"/>
            <a:chExt cx="11769436" cy="561614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3706982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这就是说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时等式也成立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根据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可知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等式对任何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都成立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防范措施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数学归纳法的第二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步证明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了一个递推关系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即当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时命题成立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时命题也成立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因此在证明当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命题成立时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要用上归纳假设才能说明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时命题成立则有当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时命题也成立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0903412"/>
                </p:ext>
              </p:extLst>
            </p:nvPr>
          </p:nvGraphicFramePr>
          <p:xfrm>
            <a:off x="41564" y="983934"/>
            <a:ext cx="11430000" cy="2754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4" name="文档" r:id="rId4" imgW="4510061" imgH="1086763" progId="Word.Document.12">
                    <p:embed/>
                  </p:oleObj>
                </mc:Choice>
                <mc:Fallback>
                  <p:oleObj name="文档" r:id="rId4" imgW="4510061" imgH="108676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564" y="983934"/>
                          <a:ext cx="11430000" cy="275422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3066"/>
            <a:ext cx="11430000" cy="67539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:1×2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2×3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1×2×7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假设当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时等式成立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2×3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,1×2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2×3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2)·(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2)[(2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2)(4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1)[(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1][4(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3],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时等式也成立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对一切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等式成立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36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5538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用数学归纳法证明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在验证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成立时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左边的项是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662891"/>
              </p:ext>
            </p:extLst>
          </p:nvPr>
        </p:nvGraphicFramePr>
        <p:xfrm>
          <a:off x="6044529" y="1142945"/>
          <a:ext cx="1608492" cy="830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文档" r:id="rId4" imgW="778416" imgH="397544" progId="Word.Document.12">
                  <p:embed/>
                </p:oleObj>
              </mc:Choice>
              <mc:Fallback>
                <p:oleObj name="文档" r:id="rId4" imgW="778416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44529" y="1142945"/>
                        <a:ext cx="1608492" cy="830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860388"/>
              </p:ext>
            </p:extLst>
          </p:nvPr>
        </p:nvGraphicFramePr>
        <p:xfrm>
          <a:off x="484103" y="307575"/>
          <a:ext cx="11430000" cy="3610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文档" r:id="rId4" imgW="4520786" imgH="1427986" progId="Word.Document.12">
                  <p:embed/>
                </p:oleObj>
              </mc:Choice>
              <mc:Fallback>
                <p:oleObj name="文档" r:id="rId4" imgW="4520786" imgH="14279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103" y="307575"/>
                        <a:ext cx="11430000" cy="3610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984838"/>
              </p:ext>
            </p:extLst>
          </p:nvPr>
        </p:nvGraphicFramePr>
        <p:xfrm>
          <a:off x="484103" y="374979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4103" y="374979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623177"/>
            <a:ext cx="135165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1110933"/>
            <a:ext cx="11523086" cy="2351445"/>
            <a:chOff x="381000" y="1505791"/>
            <a:chExt cx="11523086" cy="2351445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144716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5,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……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由此归纳第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个不等式为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要用数学归纳法证明该不等式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由当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时不等式成立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推证当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左边应增加的项数为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5717951"/>
                </p:ext>
              </p:extLst>
            </p:nvPr>
          </p:nvGraphicFramePr>
          <p:xfrm>
            <a:off x="474086" y="1505791"/>
            <a:ext cx="11430000" cy="692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6" name="文档" r:id="rId4" imgW="4510061" imgH="273128" progId="Word.Document.12">
                    <p:embed/>
                  </p:oleObj>
                </mc:Choice>
                <mc:Fallback>
                  <p:oleObj name="文档" r:id="rId4" imgW="4510061" imgH="27312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4086" y="1505791"/>
                          <a:ext cx="11430000" cy="6921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942472"/>
              </p:ext>
            </p:extLst>
          </p:nvPr>
        </p:nvGraphicFramePr>
        <p:xfrm>
          <a:off x="488091" y="3598663"/>
          <a:ext cx="11430000" cy="745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文档" r:id="rId7" imgW="4510061" imgH="294332" progId="Word.Document.12">
                  <p:embed/>
                </p:oleObj>
              </mc:Choice>
              <mc:Fallback>
                <p:oleObj name="文档" r:id="rId7" imgW="4510061" imgH="2943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8091" y="3598663"/>
                        <a:ext cx="11430000" cy="745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034256"/>
              </p:ext>
            </p:extLst>
          </p:nvPr>
        </p:nvGraphicFramePr>
        <p:xfrm>
          <a:off x="488091" y="610322"/>
          <a:ext cx="11430000" cy="42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文档" r:id="rId4" imgW="4520786" imgH="1666224" progId="Word.Document.12">
                  <p:embed/>
                </p:oleObj>
              </mc:Choice>
              <mc:Fallback>
                <p:oleObj name="文档" r:id="rId4" imgW="4520786" imgH="16662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8091" y="610322"/>
                        <a:ext cx="11430000" cy="42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81000" y="219798"/>
            <a:ext cx="11533103" cy="5795690"/>
            <a:chOff x="381000" y="219798"/>
            <a:chExt cx="11533103" cy="5795690"/>
          </a:xfrm>
        </p:grpSpPr>
        <p:grpSp>
          <p:nvGrpSpPr>
            <p:cNvPr id="6" name="组合 5"/>
            <p:cNvGrpSpPr/>
            <p:nvPr/>
          </p:nvGrpSpPr>
          <p:grpSpPr>
            <a:xfrm>
              <a:off x="381000" y="859532"/>
              <a:ext cx="11533103" cy="5155956"/>
              <a:chOff x="381000" y="950898"/>
              <a:chExt cx="11533103" cy="5155956"/>
            </a:xfrm>
          </p:grpSpPr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81000" y="950898"/>
                <a:ext cx="11430000" cy="1152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①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左边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右边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所以左边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右边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②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假设当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n=k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等式成立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2672590"/>
                  </p:ext>
                </p:extLst>
              </p:nvPr>
            </p:nvGraphicFramePr>
            <p:xfrm>
              <a:off x="484103" y="2095027"/>
              <a:ext cx="11430000" cy="30089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26" name="文档" r:id="rId4" imgW="4520786" imgH="1190108" progId="Word.Document.12">
                      <p:embed/>
                    </p:oleObj>
                  </mc:Choice>
                  <mc:Fallback>
                    <p:oleObj name="文档" r:id="rId4" imgW="4520786" imgH="1190108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84103" y="2095027"/>
                            <a:ext cx="11430000" cy="300897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" name="矩形 4"/>
              <p:cNvSpPr>
                <a:spLocks noChangeAspect="1"/>
              </p:cNvSpPr>
              <p:nvPr/>
            </p:nvSpPr>
            <p:spPr>
              <a:xfrm>
                <a:off x="381000" y="4954487"/>
                <a:ext cx="11430000" cy="1152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n=k+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时等式成立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①②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对一切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结论成立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6400517"/>
                </p:ext>
              </p:extLst>
            </p:nvPr>
          </p:nvGraphicFramePr>
          <p:xfrm>
            <a:off x="484103" y="219798"/>
            <a:ext cx="11430000" cy="709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7" name="文档" r:id="rId7" imgW="4510061" imgH="279956" progId="Word.Document.12">
                    <p:embed/>
                  </p:oleObj>
                </mc:Choice>
                <mc:Fallback>
                  <p:oleObj name="文档" r:id="rId7" imgW="4510061" imgH="27995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4103" y="219798"/>
                          <a:ext cx="11430000" cy="7095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8875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417</TotalTime>
  <Words>1718</Words>
  <Application>Microsoft Office PowerPoint</Application>
  <PresentationFormat>宽屏</PresentationFormat>
  <Paragraphs>140</Paragraphs>
  <Slides>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4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48</cp:revision>
  <dcterms:created xsi:type="dcterms:W3CDTF">2021-08-30T08:30:26Z</dcterms:created>
  <dcterms:modified xsi:type="dcterms:W3CDTF">2025-08-01T06:17:19Z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