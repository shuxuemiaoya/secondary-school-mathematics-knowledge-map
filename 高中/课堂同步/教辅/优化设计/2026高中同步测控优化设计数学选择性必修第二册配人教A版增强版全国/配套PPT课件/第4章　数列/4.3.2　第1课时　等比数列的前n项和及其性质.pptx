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407" r:id="rId12"/>
    <p:sldId id="394" r:id="rId13"/>
    <p:sldId id="699" r:id="rId14"/>
    <p:sldId id="700" r:id="rId15"/>
    <p:sldId id="701" r:id="rId16"/>
    <p:sldId id="402" r:id="rId17"/>
    <p:sldId id="712" r:id="rId18"/>
    <p:sldId id="713" r:id="rId19"/>
    <p:sldId id="714" r:id="rId20"/>
    <p:sldId id="715" r:id="rId21"/>
    <p:sldId id="719" r:id="rId22"/>
    <p:sldId id="720" r:id="rId23"/>
    <p:sldId id="498" r:id="rId24"/>
    <p:sldId id="730" r:id="rId25"/>
    <p:sldId id="733" r:id="rId26"/>
    <p:sldId id="743" r:id="rId27"/>
    <p:sldId id="741" r:id="rId28"/>
    <p:sldId id="738" r:id="rId29"/>
    <p:sldId id="751" r:id="rId30"/>
    <p:sldId id="398" r:id="rId31"/>
    <p:sldId id="395" r:id="rId32"/>
    <p:sldId id="756" r:id="rId33"/>
    <p:sldId id="757" r:id="rId34"/>
    <p:sldId id="758" r:id="rId35"/>
    <p:sldId id="759" r:id="rId36"/>
    <p:sldId id="490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91"/>
        <p:guide pos="211"/>
        <p:guide orient="horz" pos="436"/>
        <p:guide orient="horz" pos="777"/>
        <p:guide orient="horz" pos="28"/>
        <p:guide pos="279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7.xml"/><Relationship Id="rId4" Type="http://schemas.openxmlformats.org/officeDocument/2006/relationships/slide" Target="../slides/slide2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9268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931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595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1258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package" Target="../embeddings/Microsoft_Word___3.docx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Word___10.docx"/><Relationship Id="rId4" Type="http://schemas.openxmlformats.org/officeDocument/2006/relationships/image" Target="../media/image1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15.docx"/><Relationship Id="rId4" Type="http://schemas.openxmlformats.org/officeDocument/2006/relationships/image" Target="../media/image1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6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0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1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4.emf"/><Relationship Id="rId5" Type="http://schemas.openxmlformats.org/officeDocument/2006/relationships/package" Target="../embeddings/Microsoft_Word___20.docx"/><Relationship Id="rId4" Type="http://schemas.openxmlformats.org/officeDocument/2006/relationships/image" Target="../media/image2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5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6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7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9.emf"/><Relationship Id="rId5" Type="http://schemas.openxmlformats.org/officeDocument/2006/relationships/package" Target="../embeddings/Microsoft_Word___25.docx"/><Relationship Id="rId4" Type="http://schemas.openxmlformats.org/officeDocument/2006/relationships/image" Target="../media/image28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0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2.emf"/><Relationship Id="rId5" Type="http://schemas.openxmlformats.org/officeDocument/2006/relationships/package" Target="../embeddings/Microsoft_Word___28.docx"/><Relationship Id="rId4" Type="http://schemas.openxmlformats.org/officeDocument/2006/relationships/image" Target="../media/image31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34.emf"/><Relationship Id="rId5" Type="http://schemas.openxmlformats.org/officeDocument/2006/relationships/package" Target="../embeddings/Microsoft_Word___30.docx"/><Relationship Id="rId4" Type="http://schemas.openxmlformats.org/officeDocument/2006/relationships/image" Target="../media/image33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1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等比数列的</a:t>
              </a:r>
              <a:r>
                <a:rPr lang="zh-CN" altLang="en-US" sz="3600" b="1" dirty="0" smtClean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前</a:t>
              </a:r>
              <a:r>
                <a:rPr lang="en-US" altLang="zh-CN" sz="3600" b="1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华文细黑" panose="02010600040101010101" charset="-122"/>
                  <a:cs typeface="Times New Roman" panose="02020603050405020304" pitchFamily="18" charset="0"/>
                </a:rPr>
                <a:t>n</a:t>
              </a:r>
              <a:r>
                <a:rPr lang="zh-CN" altLang="en-US" sz="3600" b="1" dirty="0" smtClean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项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和及其性质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第四章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4.3.2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726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掌握等比数列的前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项和公式及其应用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掌握等比数列前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项和的性质的应用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通过公式推导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提高数学建模意识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提升数学运算和数据分析素养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46697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一、等比数列的前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项和公式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对于数列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该数列的首项和公比分别是多少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首项为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公比为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把该数列的前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两边同乘公比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这两个等式的右边有何相同点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若用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式减去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会有什么结果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式右边从第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项到第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项分别与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式右边从第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项到第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若用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式减去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式会把这些相同的项全部消掉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求得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对和式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的方法处理会怎样呢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④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856097"/>
              </p:ext>
            </p:extLst>
          </p:nvPr>
        </p:nvGraphicFramePr>
        <p:xfrm>
          <a:off x="43248" y="3446160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8" y="3446160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03"/>
            <a:ext cx="469679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等比数列的前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项和公式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141048"/>
              </p:ext>
            </p:extLst>
          </p:nvPr>
        </p:nvGraphicFramePr>
        <p:xfrm>
          <a:off x="385763" y="782638"/>
          <a:ext cx="11403012" cy="300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文档" r:id="rId3" imgW="4510061" imgH="1199729" progId="Word.Document.12">
                  <p:embed/>
                </p:oleObj>
              </mc:Choice>
              <mc:Fallback>
                <p:oleObj name="文档" r:id="rId3" imgW="4510061" imgH="11997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5763" y="782638"/>
                        <a:ext cx="11403012" cy="300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92574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的公比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首项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C.2</a:t>
            </a:r>
            <a:r>
              <a:rPr lang="en-US" altLang="zh-CN" sz="2800" i="1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D.2</a:t>
            </a:r>
            <a:r>
              <a:rPr lang="en-US" altLang="zh-CN" sz="2800" i="1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18616" y="1458078"/>
            <a:ext cx="502966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017680" y="1970514"/>
            <a:ext cx="1021464" cy="676291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029404" y="2642330"/>
            <a:ext cx="10171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444298" y="1439836"/>
            <a:ext cx="502966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443407" y="1934846"/>
            <a:ext cx="862239" cy="676291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7455094" y="2606662"/>
            <a:ext cx="8586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276708"/>
              </p:ext>
            </p:extLst>
          </p:nvPr>
        </p:nvGraphicFramePr>
        <p:xfrm>
          <a:off x="31173" y="4653064"/>
          <a:ext cx="11430000" cy="82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文档" r:id="rId5" imgW="4510061" imgH="325238" progId="Word.Document.12">
                  <p:embed/>
                </p:oleObj>
              </mc:Choice>
              <mc:Fallback>
                <p:oleObj name="文档" r:id="rId5" imgW="4510061" imgH="3252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173" y="4653064"/>
                        <a:ext cx="11430000" cy="824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>
            <a:spLocks noChangeAspect="1"/>
          </p:cNvSpPr>
          <p:nvPr/>
        </p:nvSpPr>
        <p:spPr>
          <a:xfrm>
            <a:off x="381000" y="5396584"/>
            <a:ext cx="161294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4" grpId="0" animBg="1"/>
      <p:bldP spid="15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1846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二、等比数列前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项和的性质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成等比数列吗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成等比数列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成等比数列吗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成等比数列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7908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是否成等比数列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成等比数列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是公比为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当公比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</a:t>
            </a:r>
            <a:r>
              <a:rPr lang="zh-CN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等比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283186"/>
              </p:ext>
            </p:extLst>
          </p:nvPr>
        </p:nvGraphicFramePr>
        <p:xfrm>
          <a:off x="41190" y="2848739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2848739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665611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n+m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i="1" baseline="30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958861" y="2351075"/>
            <a:ext cx="70975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5970501" y="2788035"/>
            <a:ext cx="7067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444761" y="2860773"/>
            <a:ext cx="899139" cy="87757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7456401" y="3744264"/>
            <a:ext cx="89536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551348" y="3775437"/>
            <a:ext cx="65874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2563028" y="4222788"/>
            <a:ext cx="6559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3248" y="287915"/>
            <a:ext cx="11767752" cy="5409902"/>
            <a:chOff x="43248" y="477106"/>
            <a:chExt cx="11767752" cy="540990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77106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正确的在后面的括号里画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错误的画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“×”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699091"/>
                </p:ext>
              </p:extLst>
            </p:nvPr>
          </p:nvGraphicFramePr>
          <p:xfrm>
            <a:off x="43248" y="1571807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0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248" y="1571807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81000" y="2433755"/>
              <a:ext cx="11430000" cy="345325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若首项为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的数列既是等差数列又是等比数列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则其前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和</a:t>
              </a:r>
              <a:r>
                <a:rPr lang="en-US" altLang="zh-CN" sz="2800" i="1" dirty="0" err="1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na.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indent="279400" algn="r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       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其中奇数项的和为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240,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偶数项的和为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则该等比数列的公比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         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(4)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中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连续相同项数的和也成等比数列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…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仍成等比数列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         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矩形 9"/>
          <p:cNvSpPr>
            <a:spLocks noChangeAspect="1"/>
          </p:cNvSpPr>
          <p:nvPr/>
        </p:nvSpPr>
        <p:spPr>
          <a:xfrm>
            <a:off x="10777088" y="1584149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11" name="矩形 10"/>
          <p:cNvSpPr>
            <a:spLocks noChangeAspect="1"/>
          </p:cNvSpPr>
          <p:nvPr/>
        </p:nvSpPr>
        <p:spPr>
          <a:xfrm>
            <a:off x="10991291" y="2843867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12" name="矩形 11"/>
          <p:cNvSpPr>
            <a:spLocks noChangeAspect="1"/>
          </p:cNvSpPr>
          <p:nvPr/>
        </p:nvSpPr>
        <p:spPr>
          <a:xfrm>
            <a:off x="3947920" y="3946476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13" name="矩形 12"/>
          <p:cNvSpPr>
            <a:spLocks noChangeAspect="1"/>
          </p:cNvSpPr>
          <p:nvPr/>
        </p:nvSpPr>
        <p:spPr>
          <a:xfrm>
            <a:off x="3931443" y="5073147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等比数列前</a:t>
                </a:r>
                <a:r>
                  <a:rPr lang="en-US" altLang="zh-CN" sz="2800" b="1" dirty="0">
                    <a:solidFill>
                      <a:schemeClr val="bg1"/>
                    </a:solidFill>
                  </a:rPr>
                  <a:t>n</a:t>
                </a:r>
                <a:r>
                  <a:rPr lang="zh-CN" altLang="en-US" sz="2800" b="1" dirty="0">
                    <a:solidFill>
                      <a:schemeClr val="bg1"/>
                    </a:solidFill>
                  </a:rPr>
                  <a:t>项和的有关计算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810152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是其前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958966"/>
              </p:ext>
            </p:extLst>
          </p:nvPr>
        </p:nvGraphicFramePr>
        <p:xfrm>
          <a:off x="3995476" y="2316037"/>
          <a:ext cx="493305" cy="830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文档" r:id="rId3" imgW="244357" imgH="397544" progId="Word.Document.12">
                  <p:embed/>
                </p:oleObj>
              </mc:Choice>
              <mc:Fallback>
                <p:oleObj name="文档" r:id="rId3" imgW="244357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95476" y="2316037"/>
                        <a:ext cx="493305" cy="830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526862"/>
              </p:ext>
            </p:extLst>
          </p:nvPr>
        </p:nvGraphicFramePr>
        <p:xfrm>
          <a:off x="44450" y="22225"/>
          <a:ext cx="11401425" cy="648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文档" r:id="rId3" imgW="4510061" imgH="2580733" progId="Word.Document.12">
                  <p:embed/>
                </p:oleObj>
              </mc:Choice>
              <mc:Fallback>
                <p:oleObj name="文档" r:id="rId3" imgW="4510061" imgH="25807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450" y="22225"/>
                        <a:ext cx="11401425" cy="6488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81000" y="899968"/>
                <a:ext cx="11430000" cy="376673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∵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15</m:t>
                            </m:r>
                          </m:den>
                        </m:f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indent="279400">
                  <a:lnSpc>
                    <a:spcPct val="130000"/>
                  </a:lnSpc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反思感悟 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关键求出首项与公比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利用前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项和公式运算即可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特别注意当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时的情形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899968"/>
                <a:ext cx="11430000" cy="3766737"/>
              </a:xfrm>
              <a:prstGeom prst="rect">
                <a:avLst/>
              </a:prstGeom>
              <a:blipFill rotWithShape="0">
                <a:blip r:embed="rId2"/>
                <a:stretch>
                  <a:fillRect l="-1120" t="-485" b="-2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设首项为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公比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(1)D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(2)364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939794"/>
              </p:ext>
            </p:extLst>
          </p:nvPr>
        </p:nvGraphicFramePr>
        <p:xfrm>
          <a:off x="6247582" y="1162355"/>
          <a:ext cx="617825" cy="75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文档" r:id="rId3" imgW="333967" imgH="397544" progId="Word.Document.12">
                  <p:embed/>
                </p:oleObj>
              </mc:Choice>
              <mc:Fallback>
                <p:oleObj name="文档" r:id="rId3" imgW="333967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47582" y="1162355"/>
                        <a:ext cx="617825" cy="754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等比数列基本量的求解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43248" y="703187"/>
            <a:ext cx="11767752" cy="5448542"/>
            <a:chOff x="43248" y="703187"/>
            <a:chExt cx="11767752" cy="544854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703187"/>
              <a:ext cx="11430000" cy="353943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项和为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等于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A.30	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B.31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C.62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D.64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5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项和为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的值是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A.28	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B.32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C.35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D.41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中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前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则其公比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的值为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6308646"/>
                </p:ext>
              </p:extLst>
            </p:nvPr>
          </p:nvGraphicFramePr>
          <p:xfrm>
            <a:off x="6692495" y="2284115"/>
            <a:ext cx="2027238" cy="1004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2" name="文档" r:id="rId3" imgW="810445" imgH="397544" progId="Word.Document.12">
                    <p:embed/>
                  </p:oleObj>
                </mc:Choice>
                <mc:Fallback>
                  <p:oleObj name="文档" r:id="rId3" imgW="810445" imgH="39754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692495" y="2284115"/>
                          <a:ext cx="2027238" cy="10048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7124420"/>
                </p:ext>
              </p:extLst>
            </p:nvPr>
          </p:nvGraphicFramePr>
          <p:xfrm>
            <a:off x="43248" y="4146049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3" name="文档" r:id="rId5" imgW="4520786" imgH="793285" progId="Word.Document.12">
                    <p:embed/>
                  </p:oleObj>
                </mc:Choice>
                <mc:Fallback>
                  <p:oleObj name="文档" r:id="rId5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248" y="4146049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213089"/>
              </p:ext>
            </p:extLst>
          </p:nvPr>
        </p:nvGraphicFramePr>
        <p:xfrm>
          <a:off x="41190" y="324051"/>
          <a:ext cx="11430000" cy="5215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文档" r:id="rId3" imgW="4520786" imgH="2062686" progId="Word.Document.12">
                  <p:embed/>
                </p:oleObj>
              </mc:Choice>
              <mc:Fallback>
                <p:oleObj name="文档" r:id="rId3" imgW="4520786" imgH="20626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324051"/>
                        <a:ext cx="11430000" cy="5215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190" y="287453"/>
            <a:ext cx="11430000" cy="5617715"/>
            <a:chOff x="41190" y="443318"/>
            <a:chExt cx="11430000" cy="561771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43318"/>
              <a:ext cx="8214108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当公比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成立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3842954"/>
                </p:ext>
              </p:extLst>
            </p:nvPr>
          </p:nvGraphicFramePr>
          <p:xfrm>
            <a:off x="41190" y="1046376"/>
            <a:ext cx="11430000" cy="50146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7" name="文档" r:id="rId3" imgW="4520786" imgH="1983394" progId="Word.Document.12">
                    <p:embed/>
                  </p:oleObj>
                </mc:Choice>
                <mc:Fallback>
                  <p:oleObj name="文档" r:id="rId3" imgW="4520786" imgH="198339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190" y="1046376"/>
                          <a:ext cx="11430000" cy="501465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911134"/>
              </p:ext>
            </p:extLst>
          </p:nvPr>
        </p:nvGraphicFramePr>
        <p:xfrm>
          <a:off x="41190" y="928074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文档" r:id="rId3" imgW="4520786" imgH="1190108" progId="Word.Document.12">
                  <p:embed/>
                </p:oleObj>
              </mc:Choice>
              <mc:Fallback>
                <p:oleObj name="文档" r:id="rId3" imgW="4520786" imgH="11901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928074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3773106"/>
            <a:ext cx="4069768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(1)C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(2)B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3)A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81000" y="530083"/>
            <a:ext cx="11430000" cy="4796702"/>
            <a:chOff x="381000" y="478128"/>
            <a:chExt cx="11430000" cy="4796702"/>
          </a:xfrm>
        </p:grpSpPr>
        <p:grpSp>
          <p:nvGrpSpPr>
            <p:cNvPr id="6" name="组合 5"/>
            <p:cNvGrpSpPr/>
            <p:nvPr/>
          </p:nvGrpSpPr>
          <p:grpSpPr>
            <a:xfrm>
              <a:off x="381000" y="478128"/>
              <a:ext cx="11430000" cy="4796702"/>
              <a:chOff x="381000" y="727886"/>
              <a:chExt cx="11430000" cy="4796702"/>
            </a:xfrm>
          </p:grpSpPr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823102"/>
                <a:ext cx="11430000" cy="177279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80670">
                  <a:lnSpc>
                    <a:spcPct val="130000"/>
                  </a:lnSpc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反思感悟 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.S</a:t>
                </a:r>
                <a:r>
                  <a:rPr lang="en-US" altLang="zh-CN" sz="2800" i="1" baseline="-25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                           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≠1)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为等比数列的求和公式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其中涉及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五个量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通常已知其中三个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即可求另外两个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这是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等比数列的基本问题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" name="对象 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86541114"/>
                  </p:ext>
                </p:extLst>
              </p:nvPr>
            </p:nvGraphicFramePr>
            <p:xfrm>
              <a:off x="3112741" y="727886"/>
              <a:ext cx="2558368" cy="8304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342" name="文档" r:id="rId3" imgW="1233302" imgH="397544" progId="Word.Document.12">
                      <p:embed/>
                    </p:oleObj>
                  </mc:Choice>
                  <mc:Fallback>
                    <p:oleObj name="文档" r:id="rId3" imgW="1233302" imgH="397544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112741" y="727886"/>
                            <a:ext cx="2558368" cy="83048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" name="矩形 4"/>
              <p:cNvSpPr>
                <a:spLocks noChangeAspect="1"/>
              </p:cNvSpPr>
              <p:nvPr/>
            </p:nvSpPr>
            <p:spPr>
              <a:xfrm>
                <a:off x="381000" y="4311948"/>
                <a:ext cx="11430000" cy="121264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≠1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若公比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则数列为非零常数列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因此在进行等比数列的前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项求和计算时需要对公比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不是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进行讨论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5344896"/>
                </p:ext>
              </p:extLst>
            </p:nvPr>
          </p:nvGraphicFramePr>
          <p:xfrm>
            <a:off x="458424" y="2148845"/>
            <a:ext cx="11275153" cy="19830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43" name="文档" r:id="rId5" imgW="4510061" imgH="793212" progId="Word.Document.12">
                    <p:embed/>
                  </p:oleObj>
                </mc:Choice>
                <mc:Fallback>
                  <p:oleObj name="文档" r:id="rId5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58424" y="2148845"/>
                          <a:ext cx="11275153" cy="198303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8632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在本例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其他条件不变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且公比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850183"/>
            <a:ext cx="2016224" cy="367706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645086"/>
              </p:ext>
            </p:extLst>
          </p:nvPr>
        </p:nvGraphicFramePr>
        <p:xfrm>
          <a:off x="42562" y="2422211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0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62" y="2422211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3279876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16162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A.15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B.16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C.31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D.32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的公比为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436446"/>
              </p:ext>
            </p:extLst>
          </p:nvPr>
        </p:nvGraphicFramePr>
        <p:xfrm>
          <a:off x="35010" y="4174227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10" y="4174227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029913"/>
            <a:ext cx="161294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1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等比数列前</a:t>
                </a:r>
                <a:r>
                  <a:rPr lang="en-US" altLang="zh-CN" sz="2800" b="1" dirty="0" smtClean="0">
                    <a:solidFill>
                      <a:schemeClr val="bg1"/>
                    </a:solidFill>
                  </a:rPr>
                  <a:t>n</a:t>
                </a:r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项和的性质及应用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631758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A.255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B.511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C.512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D.567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其和为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且奇数项的和比偶数项的和大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则公比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由等比数列的性质得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7,56,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124692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79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668268"/>
              </p:ext>
            </p:extLst>
          </p:nvPr>
        </p:nvGraphicFramePr>
        <p:xfrm>
          <a:off x="22225" y="1338841"/>
          <a:ext cx="11403013" cy="459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文档" r:id="rId3" imgW="4510061" imgH="1822412" progId="Word.Document.12">
                  <p:embed/>
                </p:oleObj>
              </mc:Choice>
              <mc:Fallback>
                <p:oleObj name="文档" r:id="rId3" imgW="4510061" imgH="18224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225" y="1338841"/>
                        <a:ext cx="11403013" cy="4594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5575650"/>
            <a:ext cx="4129657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(1)B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(2)24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3)2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520466"/>
                <a:ext cx="11430000" cy="468910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反思感悟 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等比数列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前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项和的常用性质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项的个数的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奇偶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性质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在等比数列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中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公比为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①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若共有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项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奇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=q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②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若共有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项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zh-CN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奇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-S</a:t>
                </a:r>
                <a:r>
                  <a:rPr lang="zh-CN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偶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≠1,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且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≠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(2)“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片段和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性质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在等比数列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中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公比为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前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项和为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≠0),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仿宋" panose="02010609060101010101" pitchFamily="49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…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km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m:rPr>
                                <m:nor/>
                              </m:r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仿宋" panose="02010609060101010101" pitchFamily="49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…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构成公比为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800" i="1" baseline="30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的等比数列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20466"/>
                <a:ext cx="11430000" cy="4689104"/>
              </a:xfrm>
              <a:prstGeom prst="rect">
                <a:avLst/>
              </a:prstGeom>
              <a:blipFill rotWithShape="0">
                <a:blip r:embed="rId2"/>
                <a:stretch>
                  <a:fillRect l="-1120" t="-2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38324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的公比为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703778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在求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的过程中忽略对公比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的讨论致错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错解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由等比数列的前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418573"/>
              </p:ext>
            </p:extLst>
          </p:nvPr>
        </p:nvGraphicFramePr>
        <p:xfrm>
          <a:off x="43247" y="2358632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6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7" y="2358632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223221"/>
            <a:ext cx="11430000" cy="315163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6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在上面的求解过程中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没有讨论公比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是不是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就直接使用了等比数列的前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项和公式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从而出现漏解情况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2142011"/>
              </p:ext>
            </p:extLst>
          </p:nvPr>
        </p:nvGraphicFramePr>
        <p:xfrm>
          <a:off x="3506834" y="5619839"/>
          <a:ext cx="1525837" cy="830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7" name="文档" r:id="rId5" imgW="738829" imgH="397544" progId="Word.Document.12">
                  <p:embed/>
                </p:oleObj>
              </mc:Choice>
              <mc:Fallback>
                <p:oleObj name="文档" r:id="rId5" imgW="738829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06834" y="5619839"/>
                        <a:ext cx="1525837" cy="830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64945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正解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符合题意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则由等比数列的前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100011"/>
              </p:ext>
            </p:extLst>
          </p:nvPr>
        </p:nvGraphicFramePr>
        <p:xfrm>
          <a:off x="59724" y="1895085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724" y="1895085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775018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综上所述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防范措施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求等比数列的前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如果不明确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的具体情况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那么不能直接套用前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项和公式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进行讨论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33007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符合题意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701842"/>
              </p:ext>
            </p:extLst>
          </p:nvPr>
        </p:nvGraphicFramePr>
        <p:xfrm>
          <a:off x="32952" y="2502709"/>
          <a:ext cx="11430000" cy="351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name="文档" r:id="rId3" imgW="4520786" imgH="1388340" progId="Word.Document.12">
                  <p:embed/>
                </p:oleObj>
              </mc:Choice>
              <mc:Fallback>
                <p:oleObj name="文档" r:id="rId3" imgW="4520786" imgH="13883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952" y="2502709"/>
                        <a:ext cx="11430000" cy="3510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是公比为正数的等比数列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项的和为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A.63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B.64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C.127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D.128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14946"/>
              </p:ext>
            </p:extLst>
          </p:nvPr>
        </p:nvGraphicFramePr>
        <p:xfrm>
          <a:off x="484103" y="3545595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103" y="3545595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441624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44023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371270"/>
              </p:ext>
            </p:extLst>
          </p:nvPr>
        </p:nvGraphicFramePr>
        <p:xfrm>
          <a:off x="479853" y="778570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0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853" y="778570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381000" y="2652802"/>
            <a:ext cx="11400818" cy="2632923"/>
            <a:chOff x="381000" y="2787885"/>
            <a:chExt cx="11400818" cy="2632923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787885"/>
              <a:ext cx="5799986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设公比为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1404633"/>
                </p:ext>
              </p:extLst>
            </p:nvPr>
          </p:nvGraphicFramePr>
          <p:xfrm>
            <a:off x="479853" y="3437595"/>
            <a:ext cx="11301965" cy="198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1" name="文档" r:id="rId5" imgW="4520786" imgH="793285" progId="Word.Document.12">
                    <p:embed/>
                  </p:oleObj>
                </mc:Choice>
                <mc:Fallback>
                  <p:oleObj name="文档" r:id="rId5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79853" y="3437595"/>
                          <a:ext cx="11301965" cy="19832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>
            <a:spLocks noChangeAspect="1"/>
          </p:cNvSpPr>
          <p:nvPr/>
        </p:nvSpPr>
        <p:spPr>
          <a:xfrm>
            <a:off x="381000" y="5293963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3506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1 078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的首项为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公比为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39442"/>
              </p:ext>
            </p:extLst>
          </p:nvPr>
        </p:nvGraphicFramePr>
        <p:xfrm>
          <a:off x="484103" y="3467058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103" y="3467058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366353"/>
            <a:ext cx="169148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0169"/>
            <a:ext cx="11430000" cy="6524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81000" y="2017796"/>
            <a:ext cx="11528853" cy="3149809"/>
            <a:chOff x="381000" y="2184052"/>
            <a:chExt cx="11528853" cy="3149809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2780151"/>
                </p:ext>
              </p:extLst>
            </p:nvPr>
          </p:nvGraphicFramePr>
          <p:xfrm>
            <a:off x="479853" y="2184052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8" name="文档" r:id="rId3" imgW="4520786" imgH="793285" progId="Word.Document.12">
                    <p:embed/>
                  </p:oleObj>
                </mc:Choice>
                <mc:Fallback>
                  <p:oleObj name="文档" r:id="rId3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79853" y="2184052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4181494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3×2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3×(2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2×3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697782"/>
              </p:ext>
            </p:extLst>
          </p:nvPr>
        </p:nvGraphicFramePr>
        <p:xfrm>
          <a:off x="479206" y="1068745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9" name="文档" r:id="rId5" imgW="4510061" imgH="396786" progId="Word.Document.12">
                  <p:embed/>
                </p:oleObj>
              </mc:Choice>
              <mc:Fallback>
                <p:oleObj name="文档" r:id="rId5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9206" y="1068745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788081"/>
            <a:ext cx="11533103" cy="3888577"/>
            <a:chOff x="381000" y="1241726"/>
            <a:chExt cx="11533103" cy="388857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41726"/>
              <a:ext cx="7899920" cy="5922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的公比为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由已知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2795520"/>
                </p:ext>
              </p:extLst>
            </p:nvPr>
          </p:nvGraphicFramePr>
          <p:xfrm>
            <a:off x="484103" y="1861260"/>
            <a:ext cx="11430000" cy="150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20" name="文档" r:id="rId3" imgW="4510061" imgH="596081" progId="Word.Document.12">
                    <p:embed/>
                  </p:oleObj>
                </mc:Choice>
                <mc:Fallback>
                  <p:oleObj name="文档" r:id="rId3" imgW="4510061" imgH="59608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4103" y="1861260"/>
                          <a:ext cx="11430000" cy="1504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357510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②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÷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+q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代入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9034107"/>
                </p:ext>
              </p:extLst>
            </p:nvPr>
          </p:nvGraphicFramePr>
          <p:xfrm>
            <a:off x="3702676" y="3844483"/>
            <a:ext cx="518233" cy="8317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21" name="文档" r:id="rId5" imgW="255873" imgH="398985" progId="Word.Document.12">
                    <p:embed/>
                  </p:oleObj>
                </mc:Choice>
                <mc:Fallback>
                  <p:oleObj name="文档" r:id="rId5" imgW="255873" imgH="3989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02676" y="3844483"/>
                          <a:ext cx="518233" cy="8317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3107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448</TotalTime>
  <Words>1424</Words>
  <Application>Microsoft Office PowerPoint</Application>
  <PresentationFormat>宽屏</PresentationFormat>
  <Paragraphs>164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6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44</cp:revision>
  <dcterms:created xsi:type="dcterms:W3CDTF">2021-08-30T08:30:26Z</dcterms:created>
  <dcterms:modified xsi:type="dcterms:W3CDTF">2025-08-01T06:04:28Z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