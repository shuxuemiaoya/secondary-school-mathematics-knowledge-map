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693" r:id="rId13"/>
    <p:sldId id="407" r:id="rId14"/>
    <p:sldId id="394" r:id="rId15"/>
    <p:sldId id="699" r:id="rId16"/>
    <p:sldId id="700" r:id="rId17"/>
    <p:sldId id="701" r:id="rId18"/>
    <p:sldId id="702" r:id="rId19"/>
    <p:sldId id="402" r:id="rId20"/>
    <p:sldId id="712" r:id="rId21"/>
    <p:sldId id="713" r:id="rId22"/>
    <p:sldId id="714" r:id="rId23"/>
    <p:sldId id="715" r:id="rId24"/>
    <p:sldId id="719" r:id="rId25"/>
    <p:sldId id="720" r:id="rId26"/>
    <p:sldId id="498" r:id="rId27"/>
    <p:sldId id="730" r:id="rId28"/>
    <p:sldId id="733" r:id="rId29"/>
    <p:sldId id="743" r:id="rId30"/>
    <p:sldId id="741" r:id="rId31"/>
    <p:sldId id="738" r:id="rId32"/>
    <p:sldId id="398" r:id="rId33"/>
    <p:sldId id="395" r:id="rId34"/>
    <p:sldId id="756" r:id="rId35"/>
    <p:sldId id="757" r:id="rId36"/>
    <p:sldId id="490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orient="horz" pos="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72"/>
      </p:cViewPr>
      <p:guideLst>
        <p:guide orient="horz" pos="391"/>
        <p:guide pos="211"/>
        <p:guide orient="horz" pos="436"/>
        <p:guide orient="horz" pos="777"/>
        <p:guide orient="horz" pos="28"/>
        <p:guide pos="279"/>
        <p:guide orient="horz" pos="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slide" Target="../slides/slide14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30.xml"/><Relationship Id="rId4" Type="http://schemas.openxmlformats.org/officeDocument/2006/relationships/slide" Target="../slides/slide26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89125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5760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2394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5" action="ppaction://hlinksldjump"/>
          </p:cNvPr>
          <p:cNvSpPr/>
          <p:nvPr userDrawn="1"/>
        </p:nvSpPr>
        <p:spPr>
          <a:xfrm>
            <a:off x="1109028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package" Target="../embeddings/Microsoft_Word___1.docx"/><Relationship Id="rId7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package" Target="../embeddings/Microsoft_Word___2.docx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emf"/><Relationship Id="rId5" Type="http://schemas.openxmlformats.org/officeDocument/2006/relationships/package" Target="../embeddings/Microsoft_Word___5.docx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Word___7.docx"/><Relationship Id="rId4" Type="http://schemas.openxmlformats.org/officeDocument/2006/relationships/image" Target="../media/image7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1.docx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7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8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9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2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等差数列的性质及应用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第四章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4.2.1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726"/>
            <a:ext cx="11430000" cy="172053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能应用等差数列解决实际应用问题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能灵活运用等差数列的性质解决问题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培养逻辑推理能力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提高数学运算能力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提升数据分析素养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5425"/>
            <a:ext cx="11430000" cy="62540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一、等差数列性质的应用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是什么数列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是什么数列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等距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抽取数列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它们分别是等差数列吗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楷体" panose="02010609060101010101" pitchFamily="49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521135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等差数列中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每隔一定的距离抽取一项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组成的数列仍为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等差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的公差为</a:t>
            </a:r>
            <a:r>
              <a:rPr lang="zh-CN" altLang="zh-CN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d'=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34275" y="1604263"/>
            <a:ext cx="70272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9745901" y="2041223"/>
            <a:ext cx="6997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0460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 等差数列通项公式的推广</a:t>
            </a:r>
            <a:endParaRPr lang="zh-CN" altLang="zh-CN" sz="2800" dirty="0" smtClean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任意两项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有怎样的关系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能否用它们求公差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n&gt;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9985761"/>
              </p:ext>
            </p:extLst>
          </p:nvPr>
        </p:nvGraphicFramePr>
        <p:xfrm>
          <a:off x="32952" y="1737843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952" y="1737843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32952" y="2601788"/>
            <a:ext cx="11778048" cy="3401176"/>
            <a:chOff x="32952" y="2560224"/>
            <a:chExt cx="11778048" cy="3401176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560224"/>
              <a:ext cx="11430000" cy="5922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等差数列通项公式的变形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8198734"/>
                </p:ext>
              </p:extLst>
            </p:nvPr>
          </p:nvGraphicFramePr>
          <p:xfrm>
            <a:off x="32952" y="3130593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7" name="文档" r:id="rId5" imgW="4520786" imgH="396823" progId="Word.Document.12">
                    <p:embed/>
                  </p:oleObj>
                </mc:Choice>
                <mc:Fallback>
                  <p:oleObj name="文档" r:id="rId5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952" y="3130593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81000" y="4059341"/>
              <a:ext cx="11430000" cy="190205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4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由等差数列的通项公式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可知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等差数列的图象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是函数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y=dx+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图象上的一系列孤立的点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      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几何意义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过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两点连线的斜率为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0391884"/>
                </p:ext>
              </p:extLst>
            </p:nvPr>
          </p:nvGraphicFramePr>
          <p:xfrm>
            <a:off x="8274717" y="4613622"/>
            <a:ext cx="1293615" cy="830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8" name="文档" r:id="rId7" imgW="627627" imgH="397544" progId="Word.Document.12">
                    <p:embed/>
                  </p:oleObj>
                </mc:Choice>
                <mc:Fallback>
                  <p:oleObj name="文档" r:id="rId7" imgW="627627" imgH="39754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274717" y="4613622"/>
                          <a:ext cx="1293615" cy="83048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/>
          <p:cNvSpPr/>
          <p:nvPr/>
        </p:nvSpPr>
        <p:spPr>
          <a:xfrm>
            <a:off x="1875234" y="3406728"/>
            <a:ext cx="89913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886874" y="3843688"/>
            <a:ext cx="89536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496216" y="3331438"/>
            <a:ext cx="899139" cy="64121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3507856" y="3957789"/>
            <a:ext cx="89536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若一个等差数列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则其公差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56908"/>
              </p:ext>
            </p:extLst>
          </p:nvPr>
        </p:nvGraphicFramePr>
        <p:xfrm>
          <a:off x="58615" y="1233569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615" y="1233569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145465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434699"/>
              </p:ext>
            </p:extLst>
          </p:nvPr>
        </p:nvGraphicFramePr>
        <p:xfrm>
          <a:off x="2364057" y="3665101"/>
          <a:ext cx="304141" cy="758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" name="文档" r:id="rId5" imgW="166983" imgH="398985" progId="Word.Document.12">
                  <p:embed/>
                </p:oleObj>
              </mc:Choice>
              <mc:Fallback>
                <p:oleObj name="文档" r:id="rId5" imgW="166983" imgH="3989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64057" y="3665101"/>
                        <a:ext cx="304141" cy="758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01202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三、通项公式中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下标和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的性质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看下面三个等差数列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1,3,5,7,9,11,</a:t>
            </a:r>
            <a:r>
              <a:rPr lang="en-US" altLang="zh-CN" sz="2800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2,2,2,2,2,2,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你能计算出每个数列中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各个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等差数列中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的值有怎样的数量关系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这种关系是巧合吗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不是巧合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如果换为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仍然相等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29804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p+q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i="1" dirty="0" err="1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i="1" dirty="0" err="1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 err="1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i="1" baseline="-25000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是有穷等差数列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则与首末两项等距离的两项之和都相等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且等于首末两项之和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n-i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由等差数列的性质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62008" y="784658"/>
            <a:ext cx="90952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7773648" y="1232009"/>
            <a:ext cx="9057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176086" y="1283964"/>
            <a:ext cx="53397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7187725" y="1720924"/>
            <a:ext cx="5317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198048" y="2426964"/>
            <a:ext cx="103649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5209529" y="2853533"/>
            <a:ext cx="10321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6455348" y="2426964"/>
            <a:ext cx="1036497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6466829" y="2853533"/>
            <a:ext cx="10321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正确的在后面的括号里画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(1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也成等差数列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去掉前几项后余下的项仍组成等差数列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一定成立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7566669" y="1848093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2279561" y="2970319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9651245" y="3510593"/>
            <a:ext cx="420308" cy="604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endParaRPr lang="zh-CN" altLang="en-US" sz="2800" dirty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8125006" y="4074154"/>
            <a:ext cx="543739" cy="600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8648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等差数列性质的应用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985438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那么由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所组成的数列的第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A.0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B.37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C.100	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设其公差为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设其公差为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(1)B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(2)C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81000" y="601237"/>
            <a:ext cx="11896060" cy="4224210"/>
            <a:chOff x="381000" y="1245211"/>
            <a:chExt cx="11896060" cy="422421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45211"/>
              <a:ext cx="11430000" cy="267765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5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 </a:t>
              </a:r>
              <a:r>
                <a:rPr lang="en-US" altLang="zh-CN" sz="28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若已知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 indent="280670">
                <a:lnSpc>
                  <a:spcPct val="15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可以直接利用等差数列的通项公式列方程组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求出首项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和公差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后再求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.(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也可以利用等差数列通项公式的推广公式求解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即用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                     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直接求解</a:t>
              </a:r>
              <a:r>
                <a:rPr lang="en-US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有一定规律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则可以构造新的等差数列求解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6280558"/>
                </p:ext>
              </p:extLst>
            </p:nvPr>
          </p:nvGraphicFramePr>
          <p:xfrm>
            <a:off x="9764625" y="2521864"/>
            <a:ext cx="2512435" cy="864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文档" r:id="rId3" imgW="1165645" imgH="398985" progId="Word.Document.12">
                    <p:embed/>
                  </p:oleObj>
                </mc:Choice>
                <mc:Fallback>
                  <p:oleObj name="文档" r:id="rId3" imgW="1165645" imgH="3989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764625" y="2521864"/>
                          <a:ext cx="2512435" cy="86466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5372519"/>
                </p:ext>
              </p:extLst>
            </p:nvPr>
          </p:nvGraphicFramePr>
          <p:xfrm>
            <a:off x="404446" y="3864695"/>
            <a:ext cx="11430000" cy="16047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文档" r:id="rId5" imgW="4520786" imgH="634700" progId="Word.Document.12">
                    <p:embed/>
                  </p:oleObj>
                </mc:Choice>
                <mc:Fallback>
                  <p:oleObj name="文档" r:id="rId5" imgW="4520786" imgH="634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04446" y="3864695"/>
                          <a:ext cx="11430000" cy="160472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1676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的公差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 algn="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A.3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D.6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是两个等差数列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D.11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4879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也是等差数列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是它们的等差中项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(1)D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(2)D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115798"/>
              </p:ext>
            </p:extLst>
          </p:nvPr>
        </p:nvGraphicFramePr>
        <p:xfrm>
          <a:off x="2182316" y="3453241"/>
          <a:ext cx="511673" cy="731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文档" r:id="rId3" imgW="285035" imgH="397130" progId="Word.Document.12">
                  <p:embed/>
                </p:oleObj>
              </mc:Choice>
              <mc:Fallback>
                <p:oleObj name="文档" r:id="rId3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82316" y="3453241"/>
                        <a:ext cx="511673" cy="731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等差数列“下标和”性质的应用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008732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解法一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化成关于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的方程如下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4477" y="1243879"/>
            <a:ext cx="11430000" cy="3215536"/>
            <a:chOff x="64477" y="1750635"/>
            <a:chExt cx="11430000" cy="321553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750635"/>
              <a:ext cx="4777270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化成关于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的方程组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6586150"/>
                </p:ext>
              </p:extLst>
            </p:nvPr>
          </p:nvGraphicFramePr>
          <p:xfrm>
            <a:off x="64477" y="2378343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7" name="文档" r:id="rId3" imgW="4520786" imgH="793285" progId="Word.Document.12">
                    <p:embed/>
                  </p:oleObj>
                </mc:Choice>
                <mc:Fallback>
                  <p:oleObj name="文档" r:id="rId3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477" y="2378343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313685"/>
              <a:ext cx="2265364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8615" y="786570"/>
            <a:ext cx="11752385" cy="3765092"/>
            <a:chOff x="58615" y="1461979"/>
            <a:chExt cx="11752385" cy="376509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461979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解法二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根据已知条件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48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及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48,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及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17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5232548"/>
                </p:ext>
              </p:extLst>
            </p:nvPr>
          </p:nvGraphicFramePr>
          <p:xfrm>
            <a:off x="58615" y="3221391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1" name="文档" r:id="rId3" imgW="4520786" imgH="793285" progId="Word.Document.12">
                    <p:embed/>
                  </p:oleObj>
                </mc:Choice>
                <mc:Fallback>
                  <p:oleObj name="文档" r:id="rId3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8615" y="3221391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21632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正确认识等差数列的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下标和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性质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此性质是等差数列特有的性质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p+q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反之不成立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中命题结论等式的两边各有两项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也可以推广到三项、四项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但等式两边和的项数必须相同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19276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则其具有的其他性质如下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为任一常数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为任一常数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n+k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是公差为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m+k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若下标成等差数列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solidFill>
                  <a:srgbClr val="000000"/>
                </a:solidFill>
                <a:latin typeface="仿宋" panose="02010609060101010101" pitchFamily="49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成等差数列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公差为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err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err="1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为非零常数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也为等差数列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34011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中已知条件不变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添加条件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588240"/>
            <a:ext cx="2016224" cy="367706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62523" y="2754258"/>
            <a:ext cx="11748477" cy="2076262"/>
            <a:chOff x="62523" y="3137869"/>
            <a:chExt cx="11748477" cy="2076262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3084465"/>
                </p:ext>
              </p:extLst>
            </p:nvPr>
          </p:nvGraphicFramePr>
          <p:xfrm>
            <a:off x="62523" y="3137869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5" name="文档" r:id="rId4" imgW="4520786" imgH="396823" progId="Word.Document.12">
                    <p:embed/>
                  </p:oleObj>
                </mc:Choice>
                <mc:Fallback>
                  <p:oleObj name="文档" r:id="rId4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2523" y="3137869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4061764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9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34576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A.100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B.90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C.95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D.20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1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等差数列的实际应用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629567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甲、乙两人连续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年对某县农村养鸡业规模进行调查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提供两个不同的信息图如图所示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甲调查表明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年平均每个养鸡场出产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万只鸡上升到第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年平均每个养鸡场出产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万只鸡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乙调查表明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年养鸡场个数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个减少到第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请你根据提供的信息回答下列问题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年养鸡场的个数及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全县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出产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鸡的总只数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年这个县的养鸡业规模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年是扩大了还是缩小了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请说明理由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哪一年的养鸡业规模最大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请说明理由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15" name="UMX2TRAX70.eps" descr="id:2147502719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21481" y="2462702"/>
            <a:ext cx="5416605" cy="25664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2754" y="56489"/>
            <a:ext cx="11758246" cy="6351955"/>
            <a:chOff x="52754" y="56489"/>
            <a:chExt cx="11758246" cy="635195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6489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由题干图可知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从第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年到第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年平均每个养鸡场出产的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鸡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只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数成等差数列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记为数列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公差为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2;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从第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年到第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年的养鸡场个数也成等差数列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记为数列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公差为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10;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从第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年到第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年全县出产鸡的总只数记为数列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9744636"/>
                </p:ext>
              </p:extLst>
            </p:nvPr>
          </p:nvGraphicFramePr>
          <p:xfrm>
            <a:off x="52754" y="2270547"/>
            <a:ext cx="11430000" cy="3008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6" name="文档" r:id="rId3" imgW="4520786" imgH="1190108" progId="Word.Document.12">
                    <p:embed/>
                  </p:oleObj>
                </mc:Choice>
                <mc:Fallback>
                  <p:oleObj name="文档" r:id="rId3" imgW="4520786" imgH="11901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2754" y="2270547"/>
                          <a:ext cx="11430000" cy="30089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5256077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2×26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即第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年养鸡场有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26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个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全县出产鸡的总只数为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万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81000" y="557067"/>
            <a:ext cx="11430000" cy="4573560"/>
            <a:chOff x="381000" y="1100142"/>
            <a:chExt cx="11430000" cy="457356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100142"/>
              <a:ext cx="11430000" cy="457356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2×10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&lt;c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=a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所以到第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年这个县的养鸡业规模比第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年缩小了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第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年的养鸡业规模最大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理由如下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1)×0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8(1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i="1" dirty="0" err="1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1)×(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34(1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8)(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34)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27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2(1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对应的二次函数图象的对称轴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i="1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最大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即第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年的养鸡业规模最大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7463146"/>
                </p:ext>
              </p:extLst>
            </p:nvPr>
          </p:nvGraphicFramePr>
          <p:xfrm>
            <a:off x="7635613" y="4380462"/>
            <a:ext cx="678653" cy="758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2" name="文档" r:id="rId3" imgW="363837" imgH="398985" progId="Word.Document.12">
                    <p:embed/>
                  </p:oleObj>
                </mc:Choice>
                <mc:Fallback>
                  <p:oleObj name="文档" r:id="rId3" imgW="363837" imgH="3989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635613" y="4380462"/>
                          <a:ext cx="678653" cy="7585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304975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假设某市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新建住房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万平方米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预计在今后的若干年内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该市每年新建住房面积平均比上一年增加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万平方米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那么从哪一年开始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该市每年新建住房面积大于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万平方米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年新建的住房面积为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万平方米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题意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首项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400,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820,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    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即从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该市每年新建住房面积大于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万平方米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982120"/>
              </p:ext>
            </p:extLst>
          </p:nvPr>
        </p:nvGraphicFramePr>
        <p:xfrm>
          <a:off x="4334311" y="3605517"/>
          <a:ext cx="568165" cy="689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" name="文档" r:id="rId3" imgW="335766" imgH="398985" progId="Word.Document.12">
                  <p:embed/>
                </p:oleObj>
              </mc:Choice>
              <mc:Fallback>
                <p:oleObj name="文档" r:id="rId3" imgW="335766" imgH="3989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34311" y="3605517"/>
                        <a:ext cx="568165" cy="689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593915"/>
            <a:ext cx="11430000" cy="62540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等差数列性质使用不正确致错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错解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性质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中必须是两项相加等于两项相加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并不是下标和相等即相等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正解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构成一个新的等差数列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公差为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防范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措施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性质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p+q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一定注意结论中等式两边的项数相同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9050876" cy="59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240924"/>
              </p:ext>
            </p:extLst>
          </p:nvPr>
        </p:nvGraphicFramePr>
        <p:xfrm>
          <a:off x="58615" y="1869929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文档" r:id="rId3" imgW="4520786" imgH="793285" progId="Word.Document.12">
                  <p:embed/>
                </p:oleObj>
              </mc:Choice>
              <mc:Fallback>
                <p:oleObj name="文档" r:id="rId3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615" y="1869929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6817"/>
            <a:ext cx="11430000" cy="68141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下列关系式不成立的是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39,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A.22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B.66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C.44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D.132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39,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1698"/>
            <a:ext cx="11430000" cy="619374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2×7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若公差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已知三个数成等差数列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公差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d&gt;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三项之和为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首末两项之积为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求这三个数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设这三个数分别为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a-d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606776"/>
              </p:ext>
            </p:extLst>
          </p:nvPr>
        </p:nvGraphicFramePr>
        <p:xfrm>
          <a:off x="501528" y="2976931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文档" r:id="rId3" imgW="4520786" imgH="396823" progId="Word.Document.12">
                  <p:embed/>
                </p:oleObj>
              </mc:Choice>
              <mc:Fallback>
                <p:oleObj name="文档" r:id="rId3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1528" y="2976931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296</TotalTime>
  <Words>2130</Words>
  <Application>Microsoft Office PowerPoint</Application>
  <PresentationFormat>宽屏</PresentationFormat>
  <Paragraphs>203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6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43</cp:revision>
  <dcterms:created xsi:type="dcterms:W3CDTF">2021-08-30T08:30:26Z</dcterms:created>
  <dcterms:modified xsi:type="dcterms:W3CDTF">2025-08-01T05:39:50Z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