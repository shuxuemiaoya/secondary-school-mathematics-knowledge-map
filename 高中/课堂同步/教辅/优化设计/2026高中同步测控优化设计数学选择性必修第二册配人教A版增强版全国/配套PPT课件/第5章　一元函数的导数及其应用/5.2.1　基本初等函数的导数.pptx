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407" r:id="rId13"/>
    <p:sldId id="394" r:id="rId14"/>
    <p:sldId id="700" r:id="rId15"/>
    <p:sldId id="402" r:id="rId16"/>
    <p:sldId id="712" r:id="rId17"/>
    <p:sldId id="713" r:id="rId18"/>
    <p:sldId id="714" r:id="rId19"/>
    <p:sldId id="498" r:id="rId20"/>
    <p:sldId id="733" r:id="rId21"/>
    <p:sldId id="741" r:id="rId22"/>
    <p:sldId id="738" r:id="rId23"/>
    <p:sldId id="751" r:id="rId24"/>
    <p:sldId id="398" r:id="rId25"/>
    <p:sldId id="395" r:id="rId26"/>
    <p:sldId id="756" r:id="rId27"/>
    <p:sldId id="757" r:id="rId28"/>
    <p:sldId id="490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91"/>
        <p:guide pos="211"/>
        <p:guide orient="horz" pos="436"/>
        <p:guide orient="horz" pos="777"/>
        <p:guide orient="horz" pos="28"/>
        <p:guide pos="279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1.xml"/><Relationship Id="rId4" Type="http://schemas.openxmlformats.org/officeDocument/2006/relationships/slide" Target="../slides/slide19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92684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931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595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1258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package" Target="../embeddings/Microsoft_Word___3.docx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9.emf"/><Relationship Id="rId5" Type="http://schemas.openxmlformats.org/officeDocument/2006/relationships/package" Target="../embeddings/Microsoft_Word___8.docx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Word___10.docx"/><Relationship Id="rId4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Word___12.docx"/><Relationship Id="rId4" Type="http://schemas.openxmlformats.org/officeDocument/2006/relationships/image" Target="../media/image12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5.emf"/><Relationship Id="rId5" Type="http://schemas.openxmlformats.org/officeDocument/2006/relationships/package" Target="../embeddings/Microsoft_Word___14.docx"/><Relationship Id="rId4" Type="http://schemas.openxmlformats.org/officeDocument/2006/relationships/image" Target="../media/image1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6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package" Target="../embeddings/Microsoft_Word___16.docx"/><Relationship Id="rId7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8.emf"/><Relationship Id="rId5" Type="http://schemas.openxmlformats.org/officeDocument/2006/relationships/package" Target="../embeddings/Microsoft_Word___17.docx"/><Relationship Id="rId4" Type="http://schemas.openxmlformats.org/officeDocument/2006/relationships/image" Target="../media/image17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1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3.emf"/><Relationship Id="rId5" Type="http://schemas.openxmlformats.org/officeDocument/2006/relationships/package" Target="../embeddings/Microsoft_Word___22.docx"/><Relationship Id="rId4" Type="http://schemas.openxmlformats.org/officeDocument/2006/relationships/image" Target="../media/image22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5.emf"/><Relationship Id="rId5" Type="http://schemas.openxmlformats.org/officeDocument/2006/relationships/package" Target="../embeddings/Microsoft_Word___24.docx"/><Relationship Id="rId4" Type="http://schemas.openxmlformats.org/officeDocument/2006/relationships/image" Target="../media/image24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5.2.1</a:t>
              </a:r>
              <a:r>
                <a:rPr lang="zh-CN" altLang="en-US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基本初等函数的导数</a:t>
              </a:r>
              <a:endParaRPr lang="zh-CN" altLang="en-US" sz="36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第五章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5.2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726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掌握几个常用函数的导数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并能进行简单的应用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掌握基本初等函数的导数公式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并能进行简单的应用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通过基本初等函数的导数公式的简单应用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02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一、几个常用函数的导数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请同学们回忆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根据导数的定义求导数的步骤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的导数为例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第一步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512616"/>
              </p:ext>
            </p:extLst>
          </p:nvPr>
        </p:nvGraphicFramePr>
        <p:xfrm>
          <a:off x="35011" y="2909521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11" y="2909521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582373"/>
              </p:ext>
            </p:extLst>
          </p:nvPr>
        </p:nvGraphicFramePr>
        <p:xfrm>
          <a:off x="407988" y="1309688"/>
          <a:ext cx="1140142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文档" r:id="rId3" imgW="4510061" imgH="305969" progId="Word.Document.12">
                  <p:embed/>
                </p:oleObj>
              </mc:Choice>
              <mc:Fallback>
                <p:oleObj name="文档" r:id="rId3" imgW="4510061" imgH="3059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7988" y="1309688"/>
                        <a:ext cx="11401425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162696"/>
              </p:ext>
            </p:extLst>
          </p:nvPr>
        </p:nvGraphicFramePr>
        <p:xfrm>
          <a:off x="51486" y="1897943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name="文档" r:id="rId5" imgW="4510061" imgH="794654" progId="Word.Document.12">
                  <p:embed/>
                </p:oleObj>
              </mc:Choice>
              <mc:Fallback>
                <p:oleObj name="文档" r:id="rId5" imgW="4510061" imgH="7946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86" y="1897943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2688"/>
            <a:ext cx="827150" cy="592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417739"/>
              </p:ext>
            </p:extLst>
          </p:nvPr>
        </p:nvGraphicFramePr>
        <p:xfrm>
          <a:off x="381000" y="693510"/>
          <a:ext cx="11430000" cy="6355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文档" r:id="rId3" imgW="4520786" imgH="2513572" progId="Word.Document.12">
                  <p:embed/>
                </p:oleObj>
              </mc:Choice>
              <mc:Fallback>
                <p:oleObj name="文档" r:id="rId3" imgW="4520786" imgH="25135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693510"/>
                        <a:ext cx="11430000" cy="63551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6873261" y="1439535"/>
            <a:ext cx="709751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883652" y="2080357"/>
            <a:ext cx="709751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862870" y="2705797"/>
            <a:ext cx="709751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862870" y="3338982"/>
            <a:ext cx="709751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862871" y="4073237"/>
            <a:ext cx="473112" cy="662211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6874510" y="4730973"/>
            <a:ext cx="4711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6852479" y="5108998"/>
            <a:ext cx="566629" cy="662211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6864119" y="5766734"/>
            <a:ext cx="5642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43054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正比例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函数的图象有什么特点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与其导数的关系是什么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正比例函数的图象是过原点的直线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其斜率为常数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故正比例函数的导数为常数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该常数是直线的斜率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A.3e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B.e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C.0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以上都不是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是一个常数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22536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二、基本初等函数的导数公式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的导数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猜想函数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的导数是什么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的导数是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4477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基本初等函数的导数公式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30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特别地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0149301"/>
              </p:ext>
            </p:extLst>
          </p:nvPr>
        </p:nvGraphicFramePr>
        <p:xfrm>
          <a:off x="43249" y="3918437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9" y="3918437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5127591" y="1223064"/>
            <a:ext cx="18216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139230" y="1639242"/>
            <a:ext cx="1813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838137" y="1784173"/>
            <a:ext cx="65221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5849803" y="2200351"/>
            <a:ext cx="6494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4166944" y="2349453"/>
            <a:ext cx="73185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4178777" y="2765631"/>
            <a:ext cx="7287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234066" y="2894373"/>
            <a:ext cx="78465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4246010" y="3320942"/>
            <a:ext cx="7813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5609236" y="3435982"/>
            <a:ext cx="84556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5621123" y="3862551"/>
            <a:ext cx="84200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0305927" y="3435982"/>
            <a:ext cx="27201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10317814" y="3862551"/>
            <a:ext cx="2708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6280981" y="4060170"/>
            <a:ext cx="577020" cy="65768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6282229" y="4734160"/>
            <a:ext cx="5745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11181311" y="4060170"/>
            <a:ext cx="170239" cy="65768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>
            <a:off x="11182622" y="4713378"/>
            <a:ext cx="1695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2" grpId="0" animBg="1"/>
      <p:bldP spid="14" grpId="0" animBg="1"/>
      <p:bldP spid="17" grpId="0" animBg="1"/>
      <p:bldP spid="20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1190" y="322855"/>
            <a:ext cx="11430000" cy="2496964"/>
            <a:chOff x="41190" y="1280034"/>
            <a:chExt cx="11430000" cy="249696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80034"/>
              <a:ext cx="4967707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的导数为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3727952"/>
                </p:ext>
              </p:extLst>
            </p:nvPr>
          </p:nvGraphicFramePr>
          <p:xfrm>
            <a:off x="41190" y="1771318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5" name="文档" r:id="rId3" imgW="4520786" imgH="793285" progId="Word.Document.12">
                    <p:embed/>
                  </p:oleObj>
                </mc:Choice>
                <mc:Fallback>
                  <p:oleObj name="文档" r:id="rId3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190" y="1771318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>
            <a:spLocks noChangeAspect="1"/>
          </p:cNvSpPr>
          <p:nvPr/>
        </p:nvSpPr>
        <p:spPr>
          <a:xfrm>
            <a:off x="381000" y="27722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常数函数的导数是它本身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可先求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再求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>
            <a:spLocks noChangeAspect="1"/>
          </p:cNvSpPr>
          <p:nvPr/>
        </p:nvSpPr>
        <p:spPr>
          <a:xfrm>
            <a:off x="5421346" y="4482429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13" name="矩形 12"/>
          <p:cNvSpPr>
            <a:spLocks noChangeAspect="1"/>
          </p:cNvSpPr>
          <p:nvPr/>
        </p:nvSpPr>
        <p:spPr>
          <a:xfrm>
            <a:off x="6220416" y="5044368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利用导数公式求</a:t>
                </a:r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函数的导数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09817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求下列函数的导数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	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	(3)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2020744"/>
              </p:ext>
            </p:extLst>
          </p:nvPr>
        </p:nvGraphicFramePr>
        <p:xfrm>
          <a:off x="3264243" y="1371164"/>
          <a:ext cx="7874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6" name="文档" r:id="rId3" imgW="319212" imgH="198231" progId="Word.Document.12">
                  <p:embed/>
                </p:oleObj>
              </mc:Choice>
              <mc:Fallback>
                <p:oleObj name="文档" r:id="rId3" imgW="319212" imgH="198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64243" y="1371164"/>
                        <a:ext cx="787400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43248" y="2271875"/>
            <a:ext cx="11767752" cy="1472171"/>
            <a:chOff x="43248" y="3375243"/>
            <a:chExt cx="11767752" cy="1472171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0640259"/>
                </p:ext>
              </p:extLst>
            </p:nvPr>
          </p:nvGraphicFramePr>
          <p:xfrm>
            <a:off x="43248" y="3375243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7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248" y="3375243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4255201"/>
              <a:ext cx="11430000" cy="5922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y'=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'=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矩形 11"/>
          <p:cNvSpPr>
            <a:spLocks noChangeAspect="1"/>
          </p:cNvSpPr>
          <p:nvPr/>
        </p:nvSpPr>
        <p:spPr>
          <a:xfrm>
            <a:off x="381000" y="3785610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基本初等函数的导数有两种基本方法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用导数的定义求导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但运算比较繁杂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用导数公式求导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可以简化运算过程、降低运算难度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解题时根据所给问题的特征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先将题中函数的结构进行调整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再选择合适的求导公式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80"/>
            <a:ext cx="6032421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求下列函数的导数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689069"/>
              </p:ext>
            </p:extLst>
          </p:nvPr>
        </p:nvGraphicFramePr>
        <p:xfrm>
          <a:off x="44450" y="1251963"/>
          <a:ext cx="114014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name="文档" r:id="rId3" imgW="4510061" imgH="397147" progId="Word.Document.12">
                  <p:embed/>
                </p:oleObj>
              </mc:Choice>
              <mc:Fallback>
                <p:oleObj name="文档" r:id="rId3" imgW="4510061" imgH="3971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450" y="1251963"/>
                        <a:ext cx="11401425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391679"/>
              </p:ext>
            </p:extLst>
          </p:nvPr>
        </p:nvGraphicFramePr>
        <p:xfrm>
          <a:off x="54841" y="2173966"/>
          <a:ext cx="11430000" cy="2743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文档" r:id="rId5" imgW="4510061" imgH="1082450" progId="Word.Document.12">
                  <p:embed/>
                </p:oleObj>
              </mc:Choice>
              <mc:Fallback>
                <p:oleObj name="文档" r:id="rId5" imgW="4510061" imgH="10824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841" y="2173966"/>
                        <a:ext cx="11430000" cy="27432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利用导数公式求切线方程</a:t>
                </a: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381000" y="1036813"/>
            <a:ext cx="11430000" cy="652486"/>
            <a:chOff x="381000" y="1475297"/>
            <a:chExt cx="11430000" cy="65248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475297"/>
              <a:ext cx="11430000" cy="65248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求过曲线上某点与直线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平行的切线方程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8254466"/>
                </p:ext>
              </p:extLst>
            </p:nvPr>
          </p:nvGraphicFramePr>
          <p:xfrm>
            <a:off x="3923270" y="1568027"/>
            <a:ext cx="596900" cy="496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0" name="文档" r:id="rId3" imgW="244357" imgH="198231" progId="Word.Document.12">
                    <p:embed/>
                  </p:oleObj>
                </mc:Choice>
                <mc:Fallback>
                  <p:oleObj name="文档" r:id="rId3" imgW="244357" imgH="19823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23270" y="1568027"/>
                          <a:ext cx="596900" cy="4968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743948"/>
              </p:ext>
            </p:extLst>
          </p:nvPr>
        </p:nvGraphicFramePr>
        <p:xfrm>
          <a:off x="49430" y="1672823"/>
          <a:ext cx="11430000" cy="3610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" name="文档" r:id="rId5" imgW="4520786" imgH="1427986" progId="Word.Document.12">
                  <p:embed/>
                </p:oleObj>
              </mc:Choice>
              <mc:Fallback>
                <p:oleObj name="文档" r:id="rId5" imgW="4520786" imgH="14279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430" y="1672823"/>
                        <a:ext cx="11430000" cy="36104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处的切线只有一条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但过点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的切线时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不一定是切点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故应设出切点坐标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并求出切点坐标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有几个切点就有几条切线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解决此类问题应充分利用切点满足的三个关系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一是切点坐标满足曲线方程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二是切点坐标满足对应切线的方程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三是切线的斜率是曲线所对应的函数在此切点的横坐标处的导数值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715828"/>
            <a:ext cx="11430000" cy="1845616"/>
            <a:chOff x="381000" y="626709"/>
            <a:chExt cx="11430000" cy="184561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699532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曲线在点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处的切线方程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曲线过点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处的切线方程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6607453"/>
                </p:ext>
              </p:extLst>
            </p:nvPr>
          </p:nvGraphicFramePr>
          <p:xfrm>
            <a:off x="4931612" y="626709"/>
            <a:ext cx="516922" cy="830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8" name="文档" r:id="rId3" imgW="255153" imgH="397544" progId="Word.Document.12">
                    <p:embed/>
                  </p:oleObj>
                </mc:Choice>
                <mc:Fallback>
                  <p:oleObj name="文档" r:id="rId3" imgW="255153" imgH="39754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31612" y="626709"/>
                          <a:ext cx="516922" cy="8304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43248" y="2445409"/>
            <a:ext cx="11767752" cy="1972394"/>
            <a:chOff x="43248" y="2321185"/>
            <a:chExt cx="11767752" cy="1972394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7081678"/>
                </p:ext>
              </p:extLst>
            </p:nvPr>
          </p:nvGraphicFramePr>
          <p:xfrm>
            <a:off x="43248" y="2321185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9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248" y="2321185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3141212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所以曲线在点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处的切线斜率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y'|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所以曲线在点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处的切线方程为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y=-x+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21443"/>
              </p:ext>
            </p:extLst>
          </p:nvPr>
        </p:nvGraphicFramePr>
        <p:xfrm>
          <a:off x="41190" y="159334"/>
          <a:ext cx="11430000" cy="561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文档" r:id="rId3" imgW="4510061" imgH="2225031" progId="Word.Document.12">
                  <p:embed/>
                </p:oleObj>
              </mc:Choice>
              <mc:Fallback>
                <p:oleObj name="文档" r:id="rId3" imgW="4510061" imgH="22250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0" y="159334"/>
                        <a:ext cx="11430000" cy="561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导数的简单综合应用</a:t>
                </a: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381000" y="710779"/>
            <a:ext cx="11430000" cy="1772793"/>
            <a:chOff x="381000" y="710779"/>
            <a:chExt cx="11430000" cy="177279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710779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某质点沿直线运动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位移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单位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:m)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与时间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单位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:s)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之间的关系为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sin 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则质点在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时的速度为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m/s;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质点运动的加速度为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m/s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7644118"/>
                </p:ext>
              </p:extLst>
            </p:nvPr>
          </p:nvGraphicFramePr>
          <p:xfrm>
            <a:off x="4046838" y="1117292"/>
            <a:ext cx="550863" cy="1004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02" name="文档" r:id="rId3" imgW="226003" imgH="397544" progId="Word.Document.12">
                    <p:embed/>
                  </p:oleObj>
                </mc:Choice>
                <mc:Fallback>
                  <p:oleObj name="文档" r:id="rId3" imgW="226003" imgH="39754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46838" y="1117292"/>
                          <a:ext cx="550863" cy="10048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41192" y="2371927"/>
            <a:ext cx="11769808" cy="2949874"/>
            <a:chOff x="41192" y="2371927"/>
            <a:chExt cx="11769808" cy="2949874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9718393"/>
                </p:ext>
              </p:extLst>
            </p:nvPr>
          </p:nvGraphicFramePr>
          <p:xfrm>
            <a:off x="41192" y="2371927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03" name="文档" r:id="rId5" imgW="4520786" imgH="793285" progId="Word.Document.12">
                    <p:embed/>
                  </p:oleObj>
                </mc:Choice>
                <mc:Fallback>
                  <p:oleObj name="文档" r:id="rId5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192" y="2371927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4169434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cos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加速度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=v'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cos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'=-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(m/s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032658"/>
              </p:ext>
            </p:extLst>
          </p:nvPr>
        </p:nvGraphicFramePr>
        <p:xfrm>
          <a:off x="41192" y="5297087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4" name="文档" r:id="rId7" imgW="4520786" imgH="396823" progId="Word.Document.12">
                  <p:embed/>
                </p:oleObj>
              </mc:Choice>
              <mc:Fallback>
                <p:oleObj name="文档" r:id="rId7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192" y="5297087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已知两条曲线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 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是否存在这两条曲线的一个公共点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使在这一点处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两条曲线的切线互相垂直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并说明理由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不存在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理由如下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假设存在这两条曲线的一个公共点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其坐标为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则这两条曲线在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处的切线的斜率分别为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若两条切线互相垂直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·cos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也就是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这是不可能的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故两条曲线不存在公共点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使在这一点处的两条曲线的切线互相垂直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81000" y="709275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因导数公式特征不明确而致错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下列说法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389503"/>
              </p:ext>
            </p:extLst>
          </p:nvPr>
        </p:nvGraphicFramePr>
        <p:xfrm>
          <a:off x="381000" y="1760210"/>
          <a:ext cx="11430000" cy="1604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文档" r:id="rId3" imgW="4520786" imgH="634700" progId="Word.Document.12">
                  <p:embed/>
                </p:oleObj>
              </mc:Choice>
              <mc:Fallback>
                <p:oleObj name="文档" r:id="rId3" imgW="4520786" imgH="634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760210"/>
                        <a:ext cx="11430000" cy="1604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351085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错解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①②③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求导时易出现的错误是解析式化简出错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符号处理不清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理解不到位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从而出错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976168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易知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防范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措施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用根式形式表示的函数要先化成指数形式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再利用基本初等函数的求导公式求解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409050"/>
              </p:ext>
            </p:extLst>
          </p:nvPr>
        </p:nvGraphicFramePr>
        <p:xfrm>
          <a:off x="31173" y="664510"/>
          <a:ext cx="11430000" cy="1384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文档" r:id="rId3" imgW="4510061" imgH="546256" progId="Word.Document.12">
                  <p:embed/>
                </p:oleObj>
              </mc:Choice>
              <mc:Fallback>
                <p:oleObj name="文档" r:id="rId3" imgW="4510061" imgH="5462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173" y="664510"/>
                        <a:ext cx="11430000" cy="13843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2140296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其中正确的个数为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C.3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D.4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误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851880"/>
              </p:ext>
            </p:extLst>
          </p:nvPr>
        </p:nvGraphicFramePr>
        <p:xfrm>
          <a:off x="41190" y="3815366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0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0" y="3815366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4744521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显然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③④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81000" y="124197"/>
            <a:ext cx="11430000" cy="2026490"/>
            <a:chOff x="381000" y="124197"/>
            <a:chExt cx="11430000" cy="202649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4197"/>
              <a:ext cx="5144357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给出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下列</a:t>
              </a:r>
              <a:r>
                <a:rPr lang="zh-CN" altLang="en-US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说法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103158"/>
                </p:ext>
              </p:extLst>
            </p:nvPr>
          </p:nvGraphicFramePr>
          <p:xfrm>
            <a:off x="381000" y="766292"/>
            <a:ext cx="11430000" cy="1384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1" name="文档" r:id="rId5" imgW="4510061" imgH="546256" progId="Word.Document.12">
                    <p:embed/>
                  </p:oleObj>
                </mc:Choice>
                <mc:Fallback>
                  <p:oleObj name="文档" r:id="rId5" imgW="4510061" imgH="54625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1000" y="766292"/>
                          <a:ext cx="11430000" cy="13843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5596"/>
            <a:ext cx="5747086" cy="592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81000" y="3522461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757652"/>
              </p:ext>
            </p:extLst>
          </p:nvPr>
        </p:nvGraphicFramePr>
        <p:xfrm>
          <a:off x="468815" y="764887"/>
          <a:ext cx="11275153" cy="1349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文档" r:id="rId3" imgW="4510061" imgH="539788" progId="Word.Document.12">
                  <p:embed/>
                </p:oleObj>
              </mc:Choice>
              <mc:Fallback>
                <p:oleObj name="文档" r:id="rId3" imgW="4510061" imgH="5397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815" y="764887"/>
                        <a:ext cx="11275153" cy="1349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0344099"/>
              </p:ext>
            </p:extLst>
          </p:nvPr>
        </p:nvGraphicFramePr>
        <p:xfrm>
          <a:off x="468815" y="2166312"/>
          <a:ext cx="11275153" cy="1366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文档" r:id="rId5" imgW="4510061" imgH="546616" progId="Word.Document.12">
                  <p:embed/>
                </p:oleObj>
              </mc:Choice>
              <mc:Fallback>
                <p:oleObj name="文档" r:id="rId5" imgW="4510061" imgH="54661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8815" y="2166312"/>
                        <a:ext cx="11275153" cy="1366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y=h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都是物体运动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位移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关于时间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则运动速度最快的是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填序号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由导数的几何意义知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物体的瞬时速度为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物体的瞬时速度为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物体的瞬时速度为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且都是匀速运动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故最快的是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9428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平行的曲线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的切线方程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999449"/>
              </p:ext>
            </p:extLst>
          </p:nvPr>
        </p:nvGraphicFramePr>
        <p:xfrm>
          <a:off x="484103" y="1724451"/>
          <a:ext cx="11430000" cy="5014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文档" r:id="rId3" imgW="4510061" imgH="1985013" progId="Word.Document.12">
                  <p:embed/>
                </p:oleObj>
              </mc:Choice>
              <mc:Fallback>
                <p:oleObj name="文档" r:id="rId3" imgW="4510061" imgH="19850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103" y="1724451"/>
                        <a:ext cx="11430000" cy="50146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160</TotalTime>
  <Words>1216</Words>
  <Application>Microsoft Office PowerPoint</Application>
  <PresentationFormat>宽屏</PresentationFormat>
  <Paragraphs>109</Paragraphs>
  <Slides>28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50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1_Office 主题</vt:lpstr>
      <vt:lpstr>文档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34</cp:revision>
  <dcterms:created xsi:type="dcterms:W3CDTF">2021-08-30T08:30:26Z</dcterms:created>
  <dcterms:modified xsi:type="dcterms:W3CDTF">2025-08-01T06:51:34Z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