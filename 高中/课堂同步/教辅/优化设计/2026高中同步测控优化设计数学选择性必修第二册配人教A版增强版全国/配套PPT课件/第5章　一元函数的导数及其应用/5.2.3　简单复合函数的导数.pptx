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677" r:id="rId2"/>
    <p:sldId id="488" r:id="rId3"/>
    <p:sldId id="494" r:id="rId4"/>
    <p:sldId id="392" r:id="rId5"/>
    <p:sldId id="686" r:id="rId6"/>
    <p:sldId id="687" r:id="rId7"/>
    <p:sldId id="688" r:id="rId8"/>
    <p:sldId id="689" r:id="rId9"/>
    <p:sldId id="690" r:id="rId10"/>
    <p:sldId id="407" r:id="rId11"/>
    <p:sldId id="394" r:id="rId12"/>
    <p:sldId id="700" r:id="rId13"/>
    <p:sldId id="701" r:id="rId14"/>
    <p:sldId id="402" r:id="rId15"/>
    <p:sldId id="712" r:id="rId16"/>
    <p:sldId id="713" r:id="rId17"/>
    <p:sldId id="714" r:id="rId18"/>
    <p:sldId id="741" r:id="rId19"/>
    <p:sldId id="753" r:id="rId20"/>
    <p:sldId id="398" r:id="rId21"/>
    <p:sldId id="395" r:id="rId22"/>
    <p:sldId id="756" r:id="rId23"/>
    <p:sldId id="757" r:id="rId24"/>
    <p:sldId id="490"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1" userDrawn="1">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79" userDrawn="1">
          <p15:clr>
            <a:srgbClr val="A4A3A4"/>
          </p15:clr>
        </p15:guide>
        <p15:guide id="7" orient="horz" pos="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91"/>
        <p:guide pos="211"/>
        <p:guide orient="horz" pos="436"/>
        <p:guide orient="horz" pos="777"/>
        <p:guide orient="horz" pos="28"/>
        <p:guide pos="279"/>
        <p:guide orient="horz" pos="73"/>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11.xml"/><Relationship Id="rId1" Type="http://schemas.openxmlformats.org/officeDocument/2006/relationships/slideMaster" Target="../slideMasters/slideMaster1.xml"/><Relationship Id="rId4" Type="http://schemas.openxmlformats.org/officeDocument/2006/relationships/slide" Target="../slides/slide18.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899319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1005953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6" name="圆角矩形 5">
            <a:hlinkClick r:id="rId4" action="ppaction://hlinksldjump"/>
          </p:cNvPr>
          <p:cNvSpPr/>
          <p:nvPr userDrawn="1"/>
        </p:nvSpPr>
        <p:spPr>
          <a:xfrm>
            <a:off x="1112587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2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oleObject" Target="../embeddings/oleObject1.bin"/><Relationship Id="rId7" Type="http://schemas.openxmlformats.org/officeDocument/2006/relationships/package" Target="../embeddings/Microsoft_Word___2.docx"/><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emf"/><Relationship Id="rId4" Type="http://schemas.openxmlformats.org/officeDocument/2006/relationships/package" Target="../embeddings/Microsoft_Word___1.docx"/></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3.docx"/></Relationships>
</file>

<file path=ppt/slides/_rels/slide7.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5.emf"/><Relationship Id="rId4" Type="http://schemas.openxmlformats.org/officeDocument/2006/relationships/package" Target="../embeddings/Microsoft_Word___4.docx"/></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package" Target="../embeddings/Microsoft_Word___6.docx"/></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oleObject" Target="../embeddings/oleObject7.bin"/><Relationship Id="rId7" Type="http://schemas.openxmlformats.org/officeDocument/2006/relationships/package" Target="../embeddings/Microsoft_Word___8.docx"/><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8.emf"/><Relationship Id="rId4" Type="http://schemas.openxmlformats.org/officeDocument/2006/relationships/package" Target="../embeddings/Microsoft_Word___7.docx"/></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9.bin"/><Relationship Id="rId7" Type="http://schemas.openxmlformats.org/officeDocument/2006/relationships/package" Target="../embeddings/Microsoft_Word___10.docx"/><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0.bin"/><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3.emf"/><Relationship Id="rId5" Type="http://schemas.openxmlformats.org/officeDocument/2006/relationships/package" Target="../embeddings/Microsoft_Word___11.docx"/><Relationship Id="rId4"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2.bin"/><Relationship Id="rId7" Type="http://schemas.openxmlformats.org/officeDocument/2006/relationships/package" Target="../embeddings/Microsoft_Word___13.docx"/><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3.bin"/><Relationship Id="rId5" Type="http://schemas.openxmlformats.org/officeDocument/2006/relationships/image" Target="../media/image15.emf"/><Relationship Id="rId4" Type="http://schemas.openxmlformats.org/officeDocument/2006/relationships/package" Target="../embeddings/Microsoft_Word___12.docx"/></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4.bin"/><Relationship Id="rId7"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5.bin"/><Relationship Id="rId5" Type="http://schemas.openxmlformats.org/officeDocument/2006/relationships/image" Target="../media/image17.emf"/><Relationship Id="rId4" Type="http://schemas.openxmlformats.org/officeDocument/2006/relationships/package" Target="../embeddings/Microsoft_Word___14.docx"/></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vmlDrawing" Target="../drawings/vmlDrawing10.vml"/><Relationship Id="rId5" Type="http://schemas.openxmlformats.org/officeDocument/2006/relationships/image" Target="../media/image19.emf"/><Relationship Id="rId4" Type="http://schemas.openxmlformats.org/officeDocument/2006/relationships/package" Target="../embeddings/Microsoft_Word___16.docx"/></Relationships>
</file>

<file path=ppt/slides/_rels/slide22.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7.bin"/><Relationship Id="rId7" Type="http://schemas.openxmlformats.org/officeDocument/2006/relationships/package" Target="../embeddings/Microsoft_Word___18.docx"/><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oleObject" Target="../embeddings/oleObject18.bin"/><Relationship Id="rId11" Type="http://schemas.openxmlformats.org/officeDocument/2006/relationships/image" Target="../media/image22.emf"/><Relationship Id="rId5" Type="http://schemas.openxmlformats.org/officeDocument/2006/relationships/image" Target="../media/image20.emf"/><Relationship Id="rId10" Type="http://schemas.openxmlformats.org/officeDocument/2006/relationships/package" Target="../embeddings/Microsoft_Word___19.docx"/><Relationship Id="rId4" Type="http://schemas.openxmlformats.org/officeDocument/2006/relationships/package" Target="../embeddings/Microsoft_Word___17.docx"/><Relationship Id="rId9" Type="http://schemas.openxmlformats.org/officeDocument/2006/relationships/oleObject" Target="../embeddings/oleObject19.bin"/></Relationships>
</file>

<file path=ppt/slides/_rels/slide23.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20.bin"/><Relationship Id="rId7" Type="http://schemas.openxmlformats.org/officeDocument/2006/relationships/package" Target="../embeddings/Microsoft_Word___21.docx"/><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oleObject" Target="../embeddings/oleObject21.bin"/><Relationship Id="rId5" Type="http://schemas.openxmlformats.org/officeDocument/2006/relationships/image" Target="../media/image23.emf"/><Relationship Id="rId4" Type="http://schemas.openxmlformats.org/officeDocument/2006/relationships/package" Target="../embeddings/Microsoft_Word___20.docx"/></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en-US" altLang="zh-CN" sz="3600" b="1" dirty="0">
                  <a:solidFill>
                    <a:schemeClr val="bg1"/>
                  </a:solidFill>
                  <a:latin typeface="华文细黑" panose="02010600040101010101" charset="-122"/>
                  <a:ea typeface="华文细黑" panose="02010600040101010101" charset="-122"/>
                </a:rPr>
                <a:t>5.2.3</a:t>
              </a:r>
              <a:r>
                <a:rPr lang="zh-CN" altLang="en-US" sz="3600" b="1" dirty="0">
                  <a:solidFill>
                    <a:schemeClr val="bg1"/>
                  </a:solidFill>
                  <a:latin typeface="华文细黑" panose="02010600040101010101" charset="-122"/>
                  <a:ea typeface="华文细黑" panose="02010600040101010101" charset="-122"/>
                </a:rPr>
                <a:t>　简单复合函数的导数</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第五章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5.2</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1726"/>
            <a:ext cx="11430000" cy="116038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理解并能应用复合函数的求导法则求导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2</a:t>
            </a:r>
            <a:r>
              <a:rPr lang="en-US" altLang="zh-CN" sz="2800" i="1" dirty="0">
                <a:solidFill>
                  <a:srgbClr val="000000"/>
                </a:solidFill>
                <a:latin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通过复合函数的求导法则的应用</a:t>
            </a:r>
            <a:r>
              <a:rPr lang="en-US" altLang="zh-CN" sz="2800" dirty="0">
                <a:solidFill>
                  <a:srgbClr val="000000"/>
                </a:solidFill>
                <a:latin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提升数学运算素养</a:t>
            </a:r>
            <a:r>
              <a:rPr lang="en-US" altLang="zh-CN" sz="2800" i="1">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06517"/>
            <a:ext cx="11430000" cy="573042"/>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一、复合函数的</a:t>
            </a:r>
            <a:r>
              <a:rPr lang="zh-CN" altLang="zh-CN" sz="2800" dirty="0" smtClean="0">
                <a:solidFill>
                  <a:srgbClr val="000000"/>
                </a:solidFill>
                <a:latin typeface="NEU-BZ-S92"/>
                <a:ea typeface="方正正中黑简体"/>
                <a:cs typeface="Times New Roman" panose="02020603050405020304" pitchFamily="18" charset="0"/>
              </a:rPr>
              <a:t>概念</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21710489"/>
              </p:ext>
            </p:extLst>
          </p:nvPr>
        </p:nvGraphicFramePr>
        <p:xfrm>
          <a:off x="413952" y="886548"/>
          <a:ext cx="11430000" cy="1604726"/>
        </p:xfrm>
        <a:graphic>
          <a:graphicData uri="http://schemas.openxmlformats.org/presentationml/2006/ole">
            <mc:AlternateContent xmlns:mc="http://schemas.openxmlformats.org/markup-compatibility/2006">
              <mc:Choice xmlns:v="urn:schemas-microsoft-com:vml" Requires="v">
                <p:oleObj spid="_x0000_s1050" name="文档" r:id="rId4" imgW="4520786" imgH="634700" progId="Word.Document.12">
                  <p:embed/>
                </p:oleObj>
              </mc:Choice>
              <mc:Fallback>
                <p:oleObj name="文档" r:id="rId4" imgW="4520786" imgH="634700" progId="Word.Document.12">
                  <p:embed/>
                  <p:pic>
                    <p:nvPicPr>
                      <p:cNvPr id="0" name=""/>
                      <p:cNvPicPr/>
                      <p:nvPr/>
                    </p:nvPicPr>
                    <p:blipFill>
                      <a:blip r:embed="rId5"/>
                      <a:stretch>
                        <a:fillRect/>
                      </a:stretch>
                    </p:blipFill>
                    <p:spPr>
                      <a:xfrm>
                        <a:off x="413952" y="886548"/>
                        <a:ext cx="11430000" cy="1604726"/>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587293653"/>
              </p:ext>
            </p:extLst>
          </p:nvPr>
        </p:nvGraphicFramePr>
        <p:xfrm>
          <a:off x="41190" y="2433082"/>
          <a:ext cx="11430000" cy="2005680"/>
        </p:xfrm>
        <a:graphic>
          <a:graphicData uri="http://schemas.openxmlformats.org/presentationml/2006/ole">
            <mc:AlternateContent xmlns:mc="http://schemas.openxmlformats.org/markup-compatibility/2006">
              <mc:Choice xmlns:v="urn:schemas-microsoft-com:vml" Requires="v">
                <p:oleObj spid="_x0000_s1051" name="文档" r:id="rId7" imgW="4520786" imgH="793285" progId="Word.Document.12">
                  <p:embed/>
                </p:oleObj>
              </mc:Choice>
              <mc:Fallback>
                <p:oleObj name="文档" r:id="rId7" imgW="4520786" imgH="793285" progId="Word.Document.12">
                  <p:embed/>
                  <p:pic>
                    <p:nvPicPr>
                      <p:cNvPr id="0" name=""/>
                      <p:cNvPicPr/>
                      <p:nvPr/>
                    </p:nvPicPr>
                    <p:blipFill>
                      <a:blip r:embed="rId8"/>
                      <a:stretch>
                        <a:fillRect/>
                      </a:stretch>
                    </p:blipFill>
                    <p:spPr>
                      <a:xfrm>
                        <a:off x="41190" y="2433082"/>
                        <a:ext cx="11430000" cy="2005680"/>
                      </a:xfrm>
                      <a:prstGeom prst="rect">
                        <a:avLst/>
                      </a:prstGeom>
                    </p:spPr>
                  </p:pic>
                </p:oleObj>
              </mc:Fallback>
            </mc:AlternateContent>
          </a:graphicData>
        </a:graphic>
      </p:graphicFrame>
      <p:sp>
        <p:nvSpPr>
          <p:cNvPr id="5" name="矩形 4"/>
          <p:cNvSpPr>
            <a:spLocks noChangeAspect="1"/>
          </p:cNvSpPr>
          <p:nvPr/>
        </p:nvSpPr>
        <p:spPr>
          <a:xfrm>
            <a:off x="381000" y="4281899"/>
            <a:ext cx="11430000" cy="121264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一般</a:t>
            </a:r>
            <a:r>
              <a:rPr lang="zh-CN" altLang="zh-CN" sz="2800" dirty="0">
                <a:solidFill>
                  <a:srgbClr val="000000"/>
                </a:solidFill>
                <a:latin typeface="Times New Roman" panose="02020603050405020304" pitchFamily="18" charset="0"/>
                <a:cs typeface="Times New Roman" panose="02020603050405020304" pitchFamily="18" charset="0"/>
              </a:rPr>
              <a:t>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对于两个函数</a:t>
            </a:r>
            <a:r>
              <a:rPr lang="en-US" altLang="zh-CN" sz="2800" i="1" dirty="0">
                <a:solidFill>
                  <a:srgbClr val="000000"/>
                </a:solidFill>
                <a:latin typeface="Times New Roman" panose="02020603050405020304" pitchFamily="18" charset="0"/>
                <a:cs typeface="Times New Roman" panose="02020603050405020304" pitchFamily="18" charset="0"/>
              </a:rPr>
              <a:t>y=f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u=g</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如果通过中间变量</a:t>
            </a:r>
            <a:r>
              <a:rPr lang="en-US" altLang="zh-CN" sz="2800" i="1" dirty="0" err="1">
                <a:solidFill>
                  <a:srgbClr val="000000"/>
                </a:solidFill>
                <a:latin typeface="Times New Roman" panose="02020603050405020304" pitchFamily="18" charset="0"/>
                <a:cs typeface="Times New Roman" panose="02020603050405020304" pitchFamily="18" charset="0"/>
              </a:rPr>
              <a:t>u</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可以表示成</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那么称这个函数为函数</a:t>
            </a:r>
            <a:r>
              <a:rPr lang="en-US" altLang="zh-CN" sz="2800" i="1" dirty="0">
                <a:solidFill>
                  <a:srgbClr val="000000"/>
                </a:solidFill>
                <a:latin typeface="Times New Roman" panose="02020603050405020304" pitchFamily="18" charset="0"/>
                <a:cs typeface="Times New Roman" panose="02020603050405020304" pitchFamily="18" charset="0"/>
              </a:rPr>
              <a:t>y=f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u=g</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的复合函数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记作</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latin typeface="Times New Roman" panose="02020603050405020304" pitchFamily="18" charset="0"/>
                <a:cs typeface="Times New Roman" panose="02020603050405020304" pitchFamily="18" charset="0"/>
              </a:rPr>
              <a:t>f</a:t>
            </a:r>
            <a:r>
              <a:rPr lang="en-US" altLang="zh-CN" sz="2800" dirty="0" smtClean="0">
                <a:solidFill>
                  <a:srgbClr val="FF0000"/>
                </a:solidFill>
                <a:latin typeface="Times New Roman" panose="02020603050405020304" pitchFamily="18" charset="0"/>
                <a:cs typeface="Times New Roman" panose="02020603050405020304" pitchFamily="18" charset="0"/>
              </a:rPr>
              <a:t>(</a:t>
            </a:r>
            <a:r>
              <a:rPr lang="en-US" altLang="zh-CN" sz="2800" i="1" dirty="0" smtClean="0">
                <a:solidFill>
                  <a:srgbClr val="FF0000"/>
                </a:solidFill>
                <a:latin typeface="Times New Roman" panose="02020603050405020304" pitchFamily="18" charset="0"/>
                <a:cs typeface="Times New Roman" panose="02020603050405020304" pitchFamily="18" charset="0"/>
              </a:rPr>
              <a:t>g</a:t>
            </a:r>
            <a:r>
              <a:rPr lang="en-US" altLang="zh-CN" sz="2800" dirty="0" smtClean="0">
                <a:solidFill>
                  <a:srgbClr val="FF0000"/>
                </a:solidFill>
                <a:latin typeface="Times New Roman" panose="02020603050405020304" pitchFamily="18" charset="0"/>
                <a:cs typeface="Times New Roman" panose="02020603050405020304" pitchFamily="18" charset="0"/>
              </a:rPr>
              <a:t>(</a:t>
            </a:r>
            <a:r>
              <a:rPr lang="en-US" altLang="zh-CN" sz="2800" i="1" dirty="0" smtClean="0">
                <a:solidFill>
                  <a:srgbClr val="FF0000"/>
                </a:solidFill>
                <a:latin typeface="Times New Roman" panose="02020603050405020304" pitchFamily="18" charset="0"/>
                <a:cs typeface="Times New Roman" panose="02020603050405020304" pitchFamily="18" charset="0"/>
              </a:rPr>
              <a:t>x</a:t>
            </a:r>
            <a:r>
              <a:rPr lang="en-US" altLang="zh-CN" sz="2800" dirty="0" smtClean="0">
                <a:solidFill>
                  <a:srgbClr val="FF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
        <p:nvSpPr>
          <p:cNvPr id="6" name="矩形 5"/>
          <p:cNvSpPr/>
          <p:nvPr/>
        </p:nvSpPr>
        <p:spPr>
          <a:xfrm>
            <a:off x="10584873" y="4926731"/>
            <a:ext cx="104255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0586122" y="5374082"/>
            <a:ext cx="103817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9902"/>
            <a:ext cx="11430000" cy="65248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下列</a:t>
            </a:r>
            <a:r>
              <a:rPr lang="zh-CN" altLang="zh-CN" sz="2800" dirty="0">
                <a:solidFill>
                  <a:srgbClr val="000000"/>
                </a:solidFill>
                <a:latin typeface="Times New Roman" panose="02020603050405020304" pitchFamily="18" charset="0"/>
                <a:cs typeface="Times New Roman" panose="02020603050405020304" pitchFamily="18" charset="0"/>
              </a:rPr>
              <a:t>函数是复合函数的是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63690376"/>
              </p:ext>
            </p:extLst>
          </p:nvPr>
        </p:nvGraphicFramePr>
        <p:xfrm>
          <a:off x="35010" y="1277401"/>
          <a:ext cx="11430000" cy="1604726"/>
        </p:xfrm>
        <a:graphic>
          <a:graphicData uri="http://schemas.openxmlformats.org/presentationml/2006/ole">
            <mc:AlternateContent xmlns:mc="http://schemas.openxmlformats.org/markup-compatibility/2006">
              <mc:Choice xmlns:v="urn:schemas-microsoft-com:vml" Requires="v">
                <p:oleObj spid="_x0000_s2063" name="文档" r:id="rId4" imgW="4520786" imgH="634700" progId="Word.Document.12">
                  <p:embed/>
                </p:oleObj>
              </mc:Choice>
              <mc:Fallback>
                <p:oleObj name="文档" r:id="rId4" imgW="4520786" imgH="634700" progId="Word.Document.12">
                  <p:embed/>
                  <p:pic>
                    <p:nvPicPr>
                      <p:cNvPr id="0" name=""/>
                      <p:cNvPicPr/>
                      <p:nvPr/>
                    </p:nvPicPr>
                    <p:blipFill>
                      <a:blip r:embed="rId5"/>
                      <a:stretch>
                        <a:fillRect/>
                      </a:stretch>
                    </p:blipFill>
                    <p:spPr>
                      <a:xfrm>
                        <a:off x="35010" y="1277401"/>
                        <a:ext cx="11430000" cy="1604726"/>
                      </a:xfrm>
                      <a:prstGeom prst="rect">
                        <a:avLst/>
                      </a:prstGeom>
                    </p:spPr>
                  </p:pic>
                </p:oleObj>
              </mc:Fallback>
            </mc:AlternateContent>
          </a:graphicData>
        </a:graphic>
      </p:graphicFrame>
      <p:sp>
        <p:nvSpPr>
          <p:cNvPr id="4" name="矩形 3"/>
          <p:cNvSpPr>
            <a:spLocks noChangeAspect="1"/>
          </p:cNvSpPr>
          <p:nvPr/>
        </p:nvSpPr>
        <p:spPr>
          <a:xfrm>
            <a:off x="381000" y="2898603"/>
            <a:ext cx="11430000" cy="1712520"/>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log</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是复合函数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它由</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log</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u</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u=x+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x&gt;-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复合而成</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选项</a:t>
            </a:r>
            <a:r>
              <a:rPr lang="en-US" altLang="zh-CN" sz="2800" dirty="0">
                <a:solidFill>
                  <a:srgbClr val="000000"/>
                </a:solidFill>
                <a:latin typeface="Times New Roman" panose="02020603050405020304" pitchFamily="18" charset="0"/>
                <a:cs typeface="Times New Roman" panose="02020603050405020304" pitchFamily="18" charset="0"/>
              </a:rPr>
              <a:t>A,B,D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中的函数不是复合函数</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Vertical)">
                                      <p:cBhvr>
                                        <p:cTn id="1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79163"/>
            <a:ext cx="11430000" cy="573042"/>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二、复合函数的求导</a:t>
            </a:r>
            <a:r>
              <a:rPr lang="zh-CN" altLang="zh-CN" sz="2800" dirty="0" smtClean="0">
                <a:solidFill>
                  <a:srgbClr val="000000"/>
                </a:solidFill>
                <a:latin typeface="NEU-BZ-S92"/>
                <a:ea typeface="方正正中黑简体"/>
                <a:cs typeface="Times New Roman" panose="02020603050405020304" pitchFamily="18" charset="0"/>
              </a:rPr>
              <a:t>法则</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36410713"/>
              </p:ext>
            </p:extLst>
          </p:nvPr>
        </p:nvGraphicFramePr>
        <p:xfrm>
          <a:off x="381000" y="1733061"/>
          <a:ext cx="11430000" cy="4012272"/>
        </p:xfrm>
        <a:graphic>
          <a:graphicData uri="http://schemas.openxmlformats.org/presentationml/2006/ole">
            <mc:AlternateContent xmlns:mc="http://schemas.openxmlformats.org/markup-compatibility/2006">
              <mc:Choice xmlns:v="urn:schemas-microsoft-com:vml" Requires="v">
                <p:oleObj spid="_x0000_s3098" name="文档" r:id="rId4" imgW="4520786" imgH="1586931" progId="Word.Document.12">
                  <p:embed/>
                </p:oleObj>
              </mc:Choice>
              <mc:Fallback>
                <p:oleObj name="文档" r:id="rId4" imgW="4520786" imgH="1586931" progId="Word.Document.12">
                  <p:embed/>
                  <p:pic>
                    <p:nvPicPr>
                      <p:cNvPr id="0" name=""/>
                      <p:cNvPicPr/>
                      <p:nvPr/>
                    </p:nvPicPr>
                    <p:blipFill>
                      <a:blip r:embed="rId5"/>
                      <a:stretch>
                        <a:fillRect/>
                      </a:stretch>
                    </p:blipFill>
                    <p:spPr>
                      <a:xfrm>
                        <a:off x="381000" y="1733061"/>
                        <a:ext cx="11430000" cy="401227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199538050"/>
              </p:ext>
            </p:extLst>
          </p:nvPr>
        </p:nvGraphicFramePr>
        <p:xfrm>
          <a:off x="43247" y="872987"/>
          <a:ext cx="11430000" cy="1003297"/>
        </p:xfrm>
        <a:graphic>
          <a:graphicData uri="http://schemas.openxmlformats.org/presentationml/2006/ole">
            <mc:AlternateContent xmlns:mc="http://schemas.openxmlformats.org/markup-compatibility/2006">
              <mc:Choice xmlns:v="urn:schemas-microsoft-com:vml" Requires="v">
                <p:oleObj spid="_x0000_s3099" name="文档" r:id="rId7" imgW="4520786" imgH="396823" progId="Word.Document.12">
                  <p:embed/>
                </p:oleObj>
              </mc:Choice>
              <mc:Fallback>
                <p:oleObj name="文档" r:id="rId7" imgW="4520786" imgH="396823" progId="Word.Document.12">
                  <p:embed/>
                  <p:pic>
                    <p:nvPicPr>
                      <p:cNvPr id="0" name=""/>
                      <p:cNvPicPr/>
                      <p:nvPr/>
                    </p:nvPicPr>
                    <p:blipFill>
                      <a:blip r:embed="rId8"/>
                      <a:stretch>
                        <a:fillRect/>
                      </a:stretch>
                    </p:blipFill>
                    <p:spPr>
                      <a:xfrm>
                        <a:off x="43247" y="872987"/>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1586"/>
            <a:ext cx="11430000" cy="457356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一般</a:t>
            </a:r>
            <a:r>
              <a:rPr lang="zh-CN" altLang="zh-CN" sz="2800" dirty="0">
                <a:solidFill>
                  <a:srgbClr val="000000"/>
                </a:solidFill>
                <a:latin typeface="Times New Roman" panose="02020603050405020304" pitchFamily="18" charset="0"/>
                <a:cs typeface="Times New Roman" panose="02020603050405020304" pitchFamily="18" charset="0"/>
              </a:rPr>
              <a:t>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对于由函数</a:t>
            </a:r>
            <a:r>
              <a:rPr lang="en-US" altLang="zh-CN" sz="2800" i="1" dirty="0">
                <a:solidFill>
                  <a:srgbClr val="000000"/>
                </a:solidFill>
                <a:latin typeface="Times New Roman" panose="02020603050405020304" pitchFamily="18" charset="0"/>
                <a:cs typeface="Times New Roman" panose="02020603050405020304" pitchFamily="18" charset="0"/>
              </a:rPr>
              <a:t>y=f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u=g</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复合而成的函数</a:t>
            </a:r>
            <a:r>
              <a:rPr lang="en-US" altLang="zh-CN" sz="2800" i="1" dirty="0">
                <a:solidFill>
                  <a:srgbClr val="000000"/>
                </a:solidFill>
                <a:latin typeface="Times New Roman" panose="02020603050405020304" pitchFamily="18" charset="0"/>
                <a:cs typeface="Times New Roman" panose="02020603050405020304" pitchFamily="18" charset="0"/>
              </a:rPr>
              <a:t>y=f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g</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它的导数与函数</a:t>
            </a:r>
            <a:r>
              <a:rPr lang="en-US" altLang="zh-CN" sz="2800" i="1" dirty="0">
                <a:solidFill>
                  <a:srgbClr val="000000"/>
                </a:solidFill>
                <a:latin typeface="Times New Roman" panose="02020603050405020304" pitchFamily="18" charset="0"/>
                <a:cs typeface="Times New Roman" panose="02020603050405020304" pitchFamily="18" charset="0"/>
              </a:rPr>
              <a:t>y=f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u=g</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的导数间的关系</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err="1" smtClean="0">
                <a:solidFill>
                  <a:srgbClr val="FF0000"/>
                </a:solidFill>
                <a:uFill>
                  <a:solidFill>
                    <a:srgbClr val="000000"/>
                  </a:solidFill>
                </a:uFill>
                <a:latin typeface="Times New Roman" panose="02020603050405020304" pitchFamily="18" charset="0"/>
                <a:cs typeface="Times New Roman" panose="02020603050405020304" pitchFamily="18" charset="0"/>
              </a:rPr>
              <a:t>y</a:t>
            </a:r>
            <a:r>
              <a:rPr lang="en-US" altLang="zh-CN" sz="2800" i="1" baseline="-25000" dirty="0" err="1" smtClean="0">
                <a:solidFill>
                  <a:srgbClr val="FF0000"/>
                </a:solidFill>
                <a:uFill>
                  <a:solidFill>
                    <a:srgbClr val="000000"/>
                  </a:solidFill>
                </a:uFill>
                <a:latin typeface="Times New Roman" panose="02020603050405020304" pitchFamily="18" charset="0"/>
                <a:cs typeface="Times New Roman" panose="02020603050405020304" pitchFamily="18" charset="0"/>
              </a:rPr>
              <a:t>x</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dirty="0" err="1">
                <a:solidFill>
                  <a:srgbClr val="FF0000"/>
                </a:solidFill>
                <a:uFill>
                  <a:solidFill>
                    <a:srgbClr val="000000"/>
                  </a:solidFill>
                </a:uFill>
                <a:latin typeface="Times New Roman" panose="02020603050405020304" pitchFamily="18" charset="0"/>
                <a:cs typeface="Times New Roman" panose="02020603050405020304" pitchFamily="18" charset="0"/>
              </a:rPr>
              <a:t>y</a:t>
            </a:r>
            <a:r>
              <a:rPr lang="en-US" altLang="zh-CN" sz="2800" i="1" baseline="-25000" dirty="0" err="1">
                <a:solidFill>
                  <a:srgbClr val="FF0000"/>
                </a:solidFill>
                <a:uFill>
                  <a:solidFill>
                    <a:srgbClr val="000000"/>
                  </a:solidFill>
                </a:uFill>
                <a:latin typeface="Times New Roman" panose="02020603050405020304" pitchFamily="18" charset="0"/>
                <a:cs typeface="Times New Roman" panose="02020603050405020304" pitchFamily="18" charset="0"/>
              </a:rPr>
              <a:t>u</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dirty="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dirty="0" err="1" smtClean="0">
                <a:solidFill>
                  <a:srgbClr val="FF0000"/>
                </a:solidFill>
                <a:uFill>
                  <a:solidFill>
                    <a:srgbClr val="000000"/>
                  </a:solidFill>
                </a:uFill>
                <a:latin typeface="Times New Roman" panose="02020603050405020304" pitchFamily="18" charset="0"/>
                <a:cs typeface="Times New Roman" panose="02020603050405020304" pitchFamily="18" charset="0"/>
              </a:rPr>
              <a:t>u</a:t>
            </a:r>
            <a:r>
              <a:rPr lang="en-US" altLang="zh-CN" sz="2800" i="1" baseline="-25000" dirty="0" err="1" smtClean="0">
                <a:solidFill>
                  <a:srgbClr val="FF0000"/>
                </a:solidFill>
                <a:uFill>
                  <a:solidFill>
                    <a:srgbClr val="000000"/>
                  </a:solidFill>
                </a:uFill>
                <a:latin typeface="Times New Roman" panose="02020603050405020304" pitchFamily="18" charset="0"/>
                <a:cs typeface="Times New Roman" panose="02020603050405020304" pitchFamily="18" charset="0"/>
              </a:rPr>
              <a:t>x</a:t>
            </a:r>
            <a:r>
              <a:rPr lang="en-US" altLang="zh-CN" sz="2800" i="1"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对</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的导数等于</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对</a:t>
            </a:r>
            <a:r>
              <a:rPr lang="en-US" altLang="zh-CN" sz="2800" i="1" dirty="0">
                <a:solidFill>
                  <a:srgbClr val="000000"/>
                </a:solidFill>
                <a:latin typeface="Times New Roman" panose="02020603050405020304" pitchFamily="18" charset="0"/>
                <a:cs typeface="Times New Roman" panose="02020603050405020304" pitchFamily="18" charset="0"/>
              </a:rPr>
              <a:t>u</a:t>
            </a:r>
            <a:r>
              <a:rPr lang="zh-CN" altLang="zh-CN" sz="2800" dirty="0">
                <a:solidFill>
                  <a:srgbClr val="000000"/>
                </a:solidFill>
                <a:latin typeface="Times New Roman" panose="02020603050405020304" pitchFamily="18" charset="0"/>
                <a:cs typeface="Times New Roman" panose="02020603050405020304" pitchFamily="18" charset="0"/>
              </a:rPr>
              <a:t>的导数与</a:t>
            </a:r>
            <a:r>
              <a:rPr lang="en-US" altLang="zh-CN" sz="2800" i="1" dirty="0">
                <a:solidFill>
                  <a:srgbClr val="000000"/>
                </a:solidFill>
                <a:latin typeface="Times New Roman" panose="02020603050405020304" pitchFamily="18" charset="0"/>
                <a:cs typeface="Times New Roman" panose="02020603050405020304" pitchFamily="18" charset="0"/>
              </a:rPr>
              <a:t>u</a:t>
            </a:r>
            <a:r>
              <a:rPr lang="zh-CN" altLang="zh-CN" sz="2800" dirty="0">
                <a:solidFill>
                  <a:srgbClr val="000000"/>
                </a:solidFill>
                <a:latin typeface="Times New Roman" panose="02020603050405020304" pitchFamily="18" charset="0"/>
                <a:cs typeface="Times New Roman" panose="02020603050405020304" pitchFamily="18" charset="0"/>
              </a:rPr>
              <a:t>对</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的导数的</a:t>
            </a:r>
            <a:r>
              <a:rPr lang="zh-CN" altLang="zh-CN" sz="2800" dirty="0">
                <a:solidFill>
                  <a:srgbClr val="FF0000"/>
                </a:solidFill>
                <a:uFill>
                  <a:solidFill>
                    <a:srgbClr val="000000"/>
                  </a:solidFill>
                </a:uFill>
                <a:latin typeface="Times New Roman" panose="02020603050405020304" pitchFamily="18" charset="0"/>
                <a:cs typeface="Times New Roman" panose="02020603050405020304" pitchFamily="18" charset="0"/>
              </a:rPr>
              <a:t>乘积</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y=f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函数</a:t>
            </a:r>
            <a:r>
              <a:rPr lang="en-US" altLang="zh-CN" sz="2800" i="1" dirty="0">
                <a:solidFill>
                  <a:srgbClr val="000000"/>
                </a:solidFill>
                <a:latin typeface="Times New Roman" panose="02020603050405020304" pitchFamily="18" charset="0"/>
                <a:cs typeface="Times New Roman" panose="02020603050405020304" pitchFamily="18" charset="0"/>
              </a:rPr>
              <a:t>y=f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可以看作函数</a:t>
            </a:r>
            <a:r>
              <a:rPr lang="en-US" altLang="zh-CN" sz="2800" i="1" dirty="0">
                <a:solidFill>
                  <a:srgbClr val="000000"/>
                </a:solidFill>
                <a:latin typeface="Times New Roman" panose="02020603050405020304" pitchFamily="18" charset="0"/>
                <a:cs typeface="Times New Roman" panose="02020603050405020304" pitchFamily="18" charset="0"/>
              </a:rPr>
              <a:t>y=u</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的复合函数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根据复合函数的求导法则</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u</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u</a:t>
            </a:r>
            <a:r>
              <a:rPr lang="en-US" altLang="zh-CN" sz="2800" i="1" baseline="-25000" dirty="0" err="1">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4(2</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p:nvPr/>
        </p:nvSpPr>
        <p:spPr>
          <a:xfrm>
            <a:off x="6384889" y="1253212"/>
            <a:ext cx="1543374"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6396529" y="1690172"/>
            <a:ext cx="1536890"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7766880" y="1772758"/>
            <a:ext cx="712102"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7778520" y="2209718"/>
            <a:ext cx="70911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arn(inVertical)">
                                      <p:cBhvr>
                                        <p:cTn id="17" dur="500"/>
                                        <p:tgtEl>
                                          <p:spTgt spid="2">
                                            <p:txEl>
                                              <p:pRg st="3" end="3"/>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barn(inVertical)">
                                      <p:cBhvr>
                                        <p:cTn id="20" dur="500"/>
                                        <p:tgtEl>
                                          <p:spTgt spid="2">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barn(inVertical)">
                                      <p:cBhvr>
                                        <p:cTn id="2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7155"/>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正确的在后面的括号里画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函数</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的导数是</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函数</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ln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不是复合函数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是对数函数</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073903432"/>
              </p:ext>
            </p:extLst>
          </p:nvPr>
        </p:nvGraphicFramePr>
        <p:xfrm>
          <a:off x="413952" y="2894276"/>
          <a:ext cx="11430000" cy="2005680"/>
        </p:xfrm>
        <a:graphic>
          <a:graphicData uri="http://schemas.openxmlformats.org/presentationml/2006/ole">
            <mc:AlternateContent xmlns:mc="http://schemas.openxmlformats.org/markup-compatibility/2006">
              <mc:Choice xmlns:v="urn:schemas-microsoft-com:vml" Requires="v">
                <p:oleObj spid="_x0000_s4110" name="文档" r:id="rId4" imgW="4520786" imgH="793285" progId="Word.Document.12">
                  <p:embed/>
                </p:oleObj>
              </mc:Choice>
              <mc:Fallback>
                <p:oleObj name="文档" r:id="rId4" imgW="4520786" imgH="793285" progId="Word.Document.12">
                  <p:embed/>
                  <p:pic>
                    <p:nvPicPr>
                      <p:cNvPr id="0" name=""/>
                      <p:cNvPicPr/>
                      <p:nvPr/>
                    </p:nvPicPr>
                    <p:blipFill>
                      <a:blip r:embed="rId5"/>
                      <a:stretch>
                        <a:fillRect/>
                      </a:stretch>
                    </p:blipFill>
                    <p:spPr>
                      <a:xfrm>
                        <a:off x="413952" y="2894276"/>
                        <a:ext cx="11430000" cy="2005680"/>
                      </a:xfrm>
                      <a:prstGeom prst="rect">
                        <a:avLst/>
                      </a:prstGeom>
                    </p:spPr>
                  </p:pic>
                </p:oleObj>
              </mc:Fallback>
            </mc:AlternateContent>
          </a:graphicData>
        </a:graphic>
      </p:graphicFrame>
      <p:sp>
        <p:nvSpPr>
          <p:cNvPr id="4" name="矩形 3"/>
          <p:cNvSpPr>
            <a:spLocks noChangeAspect="1"/>
          </p:cNvSpPr>
          <p:nvPr/>
        </p:nvSpPr>
        <p:spPr>
          <a:xfrm>
            <a:off x="6871206" y="1862620"/>
            <a:ext cx="543739" cy="600229"/>
          </a:xfrm>
          <a:prstGeom prst="rect">
            <a:avLst/>
          </a:prstGeom>
        </p:spPr>
        <p:txBody>
          <a:bodyPr wrap="none">
            <a:spAutoFit/>
          </a:bodyPr>
          <a:lstStyle/>
          <a:p>
            <a:pPr>
              <a:lnSpc>
                <a:spcPct val="130000"/>
              </a:lnSpc>
            </a:pPr>
            <a:r>
              <a:rPr lang="en-US" altLang="zh-CN" sz="2800" dirty="0" smtClean="0">
                <a:solidFill>
                  <a:srgbClr val="FF0000"/>
                </a:solidFill>
                <a:latin typeface="Times New Roman" panose="02020603050405020304" pitchFamily="18" charset="0"/>
              </a:rPr>
              <a:t>×</a:t>
            </a:r>
            <a:endParaRPr lang="zh-CN" altLang="en-US" sz="2800" dirty="0"/>
          </a:p>
        </p:txBody>
      </p:sp>
      <p:sp>
        <p:nvSpPr>
          <p:cNvPr id="5" name="矩形 4"/>
          <p:cNvSpPr>
            <a:spLocks noChangeAspect="1"/>
          </p:cNvSpPr>
          <p:nvPr/>
        </p:nvSpPr>
        <p:spPr>
          <a:xfrm>
            <a:off x="7513758" y="2429897"/>
            <a:ext cx="543739" cy="600229"/>
          </a:xfrm>
          <a:prstGeom prst="rect">
            <a:avLst/>
          </a:prstGeom>
        </p:spPr>
        <p:txBody>
          <a:bodyPr wrap="none">
            <a:spAutoFit/>
          </a:bodyPr>
          <a:lstStyle/>
          <a:p>
            <a:pPr>
              <a:lnSpc>
                <a:spcPct val="130000"/>
              </a:lnSpc>
            </a:pPr>
            <a:r>
              <a:rPr lang="en-US" altLang="zh-CN" sz="2800" dirty="0" smtClean="0">
                <a:solidFill>
                  <a:srgbClr val="FF0000"/>
                </a:solidFill>
                <a:latin typeface="Times New Roman" panose="02020603050405020304" pitchFamily="18" charset="0"/>
              </a:rPr>
              <a:t>×</a:t>
            </a:r>
            <a:endParaRPr lang="zh-CN" altLang="en-US" sz="2800" dirty="0"/>
          </a:p>
        </p:txBody>
      </p:sp>
      <p:sp>
        <p:nvSpPr>
          <p:cNvPr id="6" name="矩形 5"/>
          <p:cNvSpPr>
            <a:spLocks noChangeAspect="1"/>
          </p:cNvSpPr>
          <p:nvPr/>
        </p:nvSpPr>
        <p:spPr>
          <a:xfrm>
            <a:off x="4012676" y="4102178"/>
            <a:ext cx="543739" cy="600229"/>
          </a:xfrm>
          <a:prstGeom prst="rect">
            <a:avLst/>
          </a:prstGeom>
        </p:spPr>
        <p:txBody>
          <a:bodyPr wrap="none">
            <a:spAutoFit/>
          </a:bodyPr>
          <a:lstStyle/>
          <a:p>
            <a:pPr>
              <a:lnSpc>
                <a:spcPct val="130000"/>
              </a:lnSpc>
            </a:pPr>
            <a:r>
              <a:rPr lang="en-US" altLang="zh-CN" sz="2800" dirty="0" smtClean="0">
                <a:solidFill>
                  <a:srgbClr val="FF0000"/>
                </a:solidFill>
                <a:latin typeface="Times New Roman" panose="02020603050405020304" pitchFamily="18" charset="0"/>
              </a:rPr>
              <a:t>×</a:t>
            </a:r>
            <a:endParaRPr lang="zh-CN" altLang="en-US" sz="2800" dirty="0"/>
          </a:p>
        </p:txBody>
      </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复合函数的导数</a:t>
                </a:r>
              </a:p>
            </p:txBody>
          </p:sp>
        </p:grpSp>
      </p:grpSp>
      <p:sp>
        <p:nvSpPr>
          <p:cNvPr id="4" name="矩形 3"/>
          <p:cNvSpPr>
            <a:spLocks noChangeAspect="1"/>
          </p:cNvSpPr>
          <p:nvPr/>
        </p:nvSpPr>
        <p:spPr>
          <a:xfrm>
            <a:off x="381000" y="913181"/>
            <a:ext cx="11430000" cy="1152367"/>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求下列复合函数的导数</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5</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194685618"/>
              </p:ext>
            </p:extLst>
          </p:nvPr>
        </p:nvGraphicFramePr>
        <p:xfrm>
          <a:off x="31175" y="2041720"/>
          <a:ext cx="11430000" cy="717701"/>
        </p:xfrm>
        <a:graphic>
          <a:graphicData uri="http://schemas.openxmlformats.org/presentationml/2006/ole">
            <mc:AlternateContent xmlns:mc="http://schemas.openxmlformats.org/markup-compatibility/2006">
              <mc:Choice xmlns:v="urn:schemas-microsoft-com:vml" Requires="v">
                <p:oleObj spid="_x0000_s5139" name="文档" r:id="rId4" imgW="4510061" imgH="283191" progId="Word.Document.12">
                  <p:embed/>
                </p:oleObj>
              </mc:Choice>
              <mc:Fallback>
                <p:oleObj name="文档" r:id="rId4" imgW="4510061" imgH="283191" progId="Word.Document.12">
                  <p:embed/>
                  <p:pic>
                    <p:nvPicPr>
                      <p:cNvPr id="0" name=""/>
                      <p:cNvPicPr/>
                      <p:nvPr/>
                    </p:nvPicPr>
                    <p:blipFill>
                      <a:blip r:embed="rId5"/>
                      <a:stretch>
                        <a:fillRect/>
                      </a:stretch>
                    </p:blipFill>
                    <p:spPr>
                      <a:xfrm>
                        <a:off x="31175" y="2041720"/>
                        <a:ext cx="11430000" cy="717701"/>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14386050"/>
              </p:ext>
            </p:extLst>
          </p:nvPr>
        </p:nvGraphicFramePr>
        <p:xfrm>
          <a:off x="31175" y="2779330"/>
          <a:ext cx="11430000" cy="2633997"/>
        </p:xfrm>
        <a:graphic>
          <a:graphicData uri="http://schemas.openxmlformats.org/presentationml/2006/ole">
            <mc:AlternateContent xmlns:mc="http://schemas.openxmlformats.org/markup-compatibility/2006">
              <mc:Choice xmlns:v="urn:schemas-microsoft-com:vml" Requires="v">
                <p:oleObj spid="_x0000_s5140" name="文档" r:id="rId7" imgW="4510061" imgH="1039325" progId="Word.Document.12">
                  <p:embed/>
                </p:oleObj>
              </mc:Choice>
              <mc:Fallback>
                <p:oleObj name="文档" r:id="rId7" imgW="4510061" imgH="1039325" progId="Word.Document.12">
                  <p:embed/>
                  <p:pic>
                    <p:nvPicPr>
                      <p:cNvPr id="0" name=""/>
                      <p:cNvPicPr/>
                      <p:nvPr/>
                    </p:nvPicPr>
                    <p:blipFill>
                      <a:blip r:embed="rId8"/>
                      <a:stretch>
                        <a:fillRect/>
                      </a:stretch>
                    </p:blipFill>
                    <p:spPr>
                      <a:xfrm>
                        <a:off x="31175" y="2779330"/>
                        <a:ext cx="11430000" cy="2633997"/>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93433"/>
            <a:ext cx="6122189" cy="592213"/>
          </a:xfrm>
          <a:prstGeom prst="rect">
            <a:avLst/>
          </a:prstGeom>
        </p:spPr>
        <p:txBody>
          <a:bodyPr wrap="none">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复合函数的导数的</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步骤</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4" name="UMX2TRAX13.eps" descr="id:2147504323;FounderCES"/>
          <p:cNvPicPr>
            <a:picLocks noChangeAspect="1"/>
          </p:cNvPicPr>
          <p:nvPr/>
        </p:nvPicPr>
        <p:blipFill>
          <a:blip r:embed="rId2">
            <a:clrChange>
              <a:clrFrom>
                <a:srgbClr val="FFFFFF"/>
              </a:clrFrom>
              <a:clrTo>
                <a:srgbClr val="FFFFFF">
                  <a:alpha val="0"/>
                </a:srgbClr>
              </a:clrTo>
            </a:clrChange>
          </a:blip>
          <a:stretch>
            <a:fillRect/>
          </a:stretch>
        </p:blipFill>
        <p:spPr>
          <a:xfrm>
            <a:off x="1802236" y="1035673"/>
            <a:ext cx="8587528" cy="4186892"/>
          </a:xfrm>
          <a:prstGeom prst="rect">
            <a:avLst/>
          </a:prstGeom>
        </p:spPr>
      </p:pic>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11201"/>
            <a:ext cx="11430000" cy="401340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求下列函数的导数</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φ</a:t>
            </a:r>
            <a:r>
              <a:rPr lang="zh-CN" altLang="zh-CN" sz="2800" dirty="0">
                <a:solidFill>
                  <a:srgbClr val="000000"/>
                </a:solidFill>
                <a:latin typeface="Times New Roman" panose="02020603050405020304" pitchFamily="18" charset="0"/>
                <a:cs typeface="Times New Roman" panose="02020603050405020304" pitchFamily="18" charset="0"/>
              </a:rPr>
              <a:t>为常数</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函数</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可以看作函数</a:t>
            </a:r>
            <a:r>
              <a:rPr lang="en-US" altLang="zh-CN" sz="2800" i="1" dirty="0">
                <a:solidFill>
                  <a:srgbClr val="000000"/>
                </a:solidFill>
                <a:latin typeface="Times New Roman" panose="02020603050405020304" pitchFamily="18" charset="0"/>
                <a:cs typeface="Times New Roman" panose="02020603050405020304" pitchFamily="18" charset="0"/>
              </a:rPr>
              <a:t>y=u</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的复合函数</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u</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u</a:t>
            </a:r>
            <a:r>
              <a:rPr lang="en-US" altLang="zh-CN" sz="2800" i="1" baseline="-25000" dirty="0" err="1">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函数</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φ</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可以看作函数</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u</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φ</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的复合函数</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u</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u</a:t>
            </a:r>
            <a:r>
              <a:rPr lang="en-US" altLang="zh-CN" sz="2800" i="1" baseline="-25000" dirty="0" err="1">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barn(inVertical)">
                                      <p:cBhvr>
                                        <p:cTn id="10" dur="500"/>
                                        <p:tgtEl>
                                          <p:spTgt spid="2">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barn(inVertical)">
                                      <p:cBhvr>
                                        <p:cTn id="13" dur="500"/>
                                        <p:tgtEl>
                                          <p:spTgt spid="2">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barn(inVertical)">
                                      <p:cBhvr>
                                        <p:cTn id="16"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复合函数导数的综合应用</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2346432445"/>
              </p:ext>
            </p:extLst>
          </p:nvPr>
        </p:nvGraphicFramePr>
        <p:xfrm>
          <a:off x="42409" y="1275052"/>
          <a:ext cx="11430000" cy="1003297"/>
        </p:xfrm>
        <a:graphic>
          <a:graphicData uri="http://schemas.openxmlformats.org/presentationml/2006/ole">
            <mc:AlternateContent xmlns:mc="http://schemas.openxmlformats.org/markup-compatibility/2006">
              <mc:Choice xmlns:v="urn:schemas-microsoft-com:vml" Requires="v">
                <p:oleObj spid="_x0000_s7190" name="文档" r:id="rId4" imgW="4520786" imgH="396823" progId="Word.Document.12">
                  <p:embed/>
                </p:oleObj>
              </mc:Choice>
              <mc:Fallback>
                <p:oleObj name="文档" r:id="rId4" imgW="4520786" imgH="396823" progId="Word.Document.12">
                  <p:embed/>
                  <p:pic>
                    <p:nvPicPr>
                      <p:cNvPr id="0" name=""/>
                      <p:cNvPicPr/>
                      <p:nvPr/>
                    </p:nvPicPr>
                    <p:blipFill>
                      <a:blip r:embed="rId5"/>
                      <a:stretch>
                        <a:fillRect/>
                      </a:stretch>
                    </p:blipFill>
                    <p:spPr>
                      <a:xfrm>
                        <a:off x="42409" y="1275052"/>
                        <a:ext cx="11430000" cy="100329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078428836"/>
              </p:ext>
            </p:extLst>
          </p:nvPr>
        </p:nvGraphicFramePr>
        <p:xfrm>
          <a:off x="42409" y="2182531"/>
          <a:ext cx="11430000" cy="2005680"/>
        </p:xfrm>
        <a:graphic>
          <a:graphicData uri="http://schemas.openxmlformats.org/presentationml/2006/ole">
            <mc:AlternateContent xmlns:mc="http://schemas.openxmlformats.org/markup-compatibility/2006">
              <mc:Choice xmlns:v="urn:schemas-microsoft-com:vml" Requires="v">
                <p:oleObj spid="_x0000_s7191" name="文档" r:id="rId7" imgW="4510061" imgH="794654" progId="Word.Document.12">
                  <p:embed/>
                </p:oleObj>
              </mc:Choice>
              <mc:Fallback>
                <p:oleObj name="文档" r:id="rId7" imgW="4510061" imgH="794654" progId="Word.Document.12">
                  <p:embed/>
                  <p:pic>
                    <p:nvPicPr>
                      <p:cNvPr id="0" name=""/>
                      <p:cNvPicPr/>
                      <p:nvPr/>
                    </p:nvPicPr>
                    <p:blipFill>
                      <a:blip r:embed="rId8"/>
                      <a:stretch>
                        <a:fillRect/>
                      </a:stretch>
                    </p:blipFill>
                    <p:spPr>
                      <a:xfrm>
                        <a:off x="42409" y="2182531"/>
                        <a:ext cx="11430000" cy="200568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01532"/>
            <a:ext cx="5993949"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求曲线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过点</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的切线方程</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217350"/>
            <a:ext cx="2016224" cy="36770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2962171194"/>
              </p:ext>
            </p:extLst>
          </p:nvPr>
        </p:nvGraphicFramePr>
        <p:xfrm>
          <a:off x="50800" y="1229304"/>
          <a:ext cx="11430000" cy="5215133"/>
        </p:xfrm>
        <a:graphic>
          <a:graphicData uri="http://schemas.openxmlformats.org/presentationml/2006/ole">
            <mc:AlternateContent xmlns:mc="http://schemas.openxmlformats.org/markup-compatibility/2006">
              <mc:Choice xmlns:v="urn:schemas-microsoft-com:vml" Requires="v">
                <p:oleObj spid="_x0000_s8205" name="文档" r:id="rId5" imgW="4510061" imgH="2064298" progId="Word.Document.12">
                  <p:embed/>
                </p:oleObj>
              </mc:Choice>
              <mc:Fallback>
                <p:oleObj name="文档" r:id="rId5" imgW="4510061" imgH="2064298" progId="Word.Document.12">
                  <p:embed/>
                  <p:pic>
                    <p:nvPicPr>
                      <p:cNvPr id="0" name=""/>
                      <p:cNvPicPr/>
                      <p:nvPr/>
                    </p:nvPicPr>
                    <p:blipFill>
                      <a:blip r:embed="rId6"/>
                      <a:stretch>
                        <a:fillRect/>
                      </a:stretch>
                    </p:blipFill>
                    <p:spPr>
                      <a:xfrm>
                        <a:off x="50800" y="1229304"/>
                        <a:ext cx="11430000" cy="5215133"/>
                      </a:xfrm>
                      <a:prstGeom prst="rect">
                        <a:avLst/>
                      </a:prstGeom>
                    </p:spPr>
                  </p:pic>
                </p:oleObj>
              </mc:Fallback>
            </mc:AlternateContent>
          </a:graphicData>
        </a:graphic>
      </p:graphicFrame>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081176"/>
            <a:ext cx="11430000" cy="1152367"/>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复合函数导数的应用问题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首先要正确求出复合函数的导数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因此熟练掌握复合函数的求导法则是关键</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631104"/>
            <a:ext cx="11430000" cy="1195520"/>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已知曲线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在点</a:t>
            </a:r>
            <a:r>
              <a:rPr lang="en-US" altLang="zh-CN" sz="2800" dirty="0">
                <a:solidFill>
                  <a:srgbClr val="000000"/>
                </a:solidFill>
                <a:latin typeface="Times New Roman" panose="02020603050405020304" pitchFamily="18" charset="0"/>
                <a:cs typeface="Times New Roman" panose="02020603050405020304" pitchFamily="18" charset="0"/>
              </a:rPr>
              <a:t>(0,1)</a:t>
            </a:r>
            <a:r>
              <a:rPr lang="zh-CN" altLang="zh-CN" sz="2800" dirty="0">
                <a:solidFill>
                  <a:srgbClr val="000000"/>
                </a:solidFill>
                <a:latin typeface="Times New Roman" panose="02020603050405020304" pitchFamily="18" charset="0"/>
                <a:cs typeface="Times New Roman" panose="02020603050405020304" pitchFamily="18" charset="0"/>
              </a:rPr>
              <a:t>处的切线与直线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503888161"/>
              </p:ext>
            </p:extLst>
          </p:nvPr>
        </p:nvGraphicFramePr>
        <p:xfrm>
          <a:off x="1480272" y="1301601"/>
          <a:ext cx="815975" cy="461963"/>
        </p:xfrm>
        <a:graphic>
          <a:graphicData uri="http://schemas.openxmlformats.org/presentationml/2006/ole">
            <mc:AlternateContent xmlns:mc="http://schemas.openxmlformats.org/markup-compatibility/2006">
              <mc:Choice xmlns:v="urn:schemas-microsoft-com:vml" Requires="v">
                <p:oleObj spid="_x0000_s9240" name="文档" r:id="rId4" imgW="337033" imgH="187237" progId="Word.Document.12">
                  <p:embed/>
                </p:oleObj>
              </mc:Choice>
              <mc:Fallback>
                <p:oleObj name="文档" r:id="rId4" imgW="337033" imgH="187237" progId="Word.Document.12">
                  <p:embed/>
                  <p:pic>
                    <p:nvPicPr>
                      <p:cNvPr id="0" name=""/>
                      <p:cNvPicPr/>
                      <p:nvPr/>
                    </p:nvPicPr>
                    <p:blipFill>
                      <a:blip r:embed="rId5"/>
                      <a:stretch>
                        <a:fillRect/>
                      </a:stretch>
                    </p:blipFill>
                    <p:spPr>
                      <a:xfrm>
                        <a:off x="1480272" y="1301601"/>
                        <a:ext cx="815975" cy="461963"/>
                      </a:xfrm>
                      <a:prstGeom prst="rect">
                        <a:avLst/>
                      </a:prstGeom>
                    </p:spPr>
                  </p:pic>
                </p:oleObj>
              </mc:Fallback>
            </mc:AlternateContent>
          </a:graphicData>
        </a:graphic>
      </p:graphicFrame>
      <p:grpSp>
        <p:nvGrpSpPr>
          <p:cNvPr id="12" name="组合 11"/>
          <p:cNvGrpSpPr/>
          <p:nvPr/>
        </p:nvGrpSpPr>
        <p:grpSpPr>
          <a:xfrm>
            <a:off x="41564" y="1795451"/>
            <a:ext cx="11769436" cy="3067156"/>
            <a:chOff x="41564" y="1795451"/>
            <a:chExt cx="11769436" cy="3067156"/>
          </a:xfrm>
        </p:grpSpPr>
        <p:sp>
          <p:nvSpPr>
            <p:cNvPr id="9" name="矩形 8"/>
            <p:cNvSpPr>
              <a:spLocks noChangeAspect="1"/>
            </p:cNvSpPr>
            <p:nvPr/>
          </p:nvSpPr>
          <p:spPr>
            <a:xfrm>
              <a:off x="381000" y="1795451"/>
              <a:ext cx="11430000" cy="1712520"/>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3e</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x</a:t>
              </a:r>
              <a:r>
                <a:rPr lang="en-US" altLang="zh-CN" sz="2800" i="1" baseline="-25000" dirty="0">
                  <a:solidFill>
                    <a:srgbClr val="000000"/>
                  </a:solidFill>
                  <a:latin typeface="Times New Roman" panose="02020603050405020304" pitchFamily="18" charset="0"/>
                  <a:cs typeface="Times New Roman" panose="02020603050405020304" pitchFamily="18" charset="0"/>
                </a:rPr>
                <a:t>=</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故切线方程为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与切线平行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则可设直线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x-y+c=</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131365376"/>
                </p:ext>
              </p:extLst>
            </p:nvPr>
          </p:nvGraphicFramePr>
          <p:xfrm>
            <a:off x="41564" y="3497580"/>
            <a:ext cx="11430000" cy="795117"/>
          </p:xfrm>
          <a:graphic>
            <a:graphicData uri="http://schemas.openxmlformats.org/presentationml/2006/ole">
              <mc:AlternateContent xmlns:mc="http://schemas.openxmlformats.org/markup-compatibility/2006">
                <mc:Choice xmlns:v="urn:schemas-microsoft-com:vml" Requires="v">
                  <p:oleObj spid="_x0000_s9241" name="文档" r:id="rId7" imgW="4510061" imgH="313738" progId="Word.Document.12">
                    <p:embed/>
                  </p:oleObj>
                </mc:Choice>
                <mc:Fallback>
                  <p:oleObj name="文档" r:id="rId7" imgW="4510061" imgH="313738" progId="Word.Document.12">
                    <p:embed/>
                    <p:pic>
                      <p:nvPicPr>
                        <p:cNvPr id="0" name=""/>
                        <p:cNvPicPr/>
                        <p:nvPr/>
                      </p:nvPicPr>
                      <p:blipFill>
                        <a:blip r:embed="rId8"/>
                        <a:stretch>
                          <a:fillRect/>
                        </a:stretch>
                      </p:blipFill>
                      <p:spPr>
                        <a:xfrm>
                          <a:off x="41564" y="3497580"/>
                          <a:ext cx="11430000" cy="795117"/>
                        </a:xfrm>
                        <a:prstGeom prst="rect">
                          <a:avLst/>
                        </a:prstGeom>
                      </p:spPr>
                    </p:pic>
                  </p:oleObj>
                </mc:Fallback>
              </mc:AlternateContent>
            </a:graphicData>
          </a:graphic>
        </p:graphicFrame>
        <p:sp>
          <p:nvSpPr>
            <p:cNvPr id="11" name="矩形 10"/>
            <p:cNvSpPr>
              <a:spLocks noChangeAspect="1"/>
            </p:cNvSpPr>
            <p:nvPr/>
          </p:nvSpPr>
          <p:spPr>
            <a:xfrm>
              <a:off x="381000" y="4210121"/>
              <a:ext cx="6583341" cy="652486"/>
            </a:xfrm>
            <a:prstGeom prst="rect">
              <a:avLst/>
            </a:prstGeom>
          </p:spPr>
          <p:txBody>
            <a:bodyPr wrap="none">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2" name="矩形 1"/>
          <p:cNvSpPr>
            <a:spLocks noChangeAspect="1"/>
          </p:cNvSpPr>
          <p:nvPr/>
        </p:nvSpPr>
        <p:spPr>
          <a:xfrm>
            <a:off x="381000" y="593294"/>
            <a:ext cx="11430000" cy="6254020"/>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对复合函数求导不完全而致错</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求函数</a:t>
            </a:r>
            <a:r>
              <a:rPr lang="en-US" altLang="zh-CN" sz="2800" i="1" dirty="0">
                <a:solidFill>
                  <a:srgbClr val="000000"/>
                </a:solidFill>
                <a:latin typeface="Times New Roman" panose="02020603050405020304" pitchFamily="18" charset="0"/>
                <a:cs typeface="Times New Roman" panose="02020603050405020304" pitchFamily="18" charset="0"/>
              </a:rPr>
              <a:t>y=x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的导数</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错解</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y'=x'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错解</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y'=x'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错解</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求导公式用错</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错解</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是复合函数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应按照复合函数的求导法则进行</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正解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防范措施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复合函数</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对自变量的导数等于已知函数对中间变量的导数乘中间变量对自变量的导数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分步计算时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每一步都要明确是对哪个变量求导</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barn(inVertical)">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barn(inVertical)">
                                      <p:cBhvr>
                                        <p:cTn id="12" dur="500"/>
                                        <p:tgtEl>
                                          <p:spTgt spid="2">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animEffect transition="in" filter="barn(inVertical)">
                                      <p:cBhvr>
                                        <p:cTn id="1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ChangeAspect="1"/>
          </p:cNvSpPr>
          <p:nvPr/>
        </p:nvSpPr>
        <p:spPr>
          <a:xfrm>
            <a:off x="381000" y="709902"/>
            <a:ext cx="11430000" cy="227267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函数</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的导数是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函数</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ln</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cs typeface="Times New Roman" panose="02020603050405020304" pitchFamily="18" charset="0"/>
              </a:rPr>
              <a:t>的导数为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sin(5</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5sin(5</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744582937"/>
              </p:ext>
            </p:extLst>
          </p:nvPr>
        </p:nvGraphicFramePr>
        <p:xfrm>
          <a:off x="41564" y="2992966"/>
          <a:ext cx="11430000" cy="736827"/>
        </p:xfrm>
        <a:graphic>
          <a:graphicData uri="http://schemas.openxmlformats.org/presentationml/2006/ole">
            <mc:AlternateContent xmlns:mc="http://schemas.openxmlformats.org/markup-compatibility/2006">
              <mc:Choice xmlns:v="urn:schemas-microsoft-com:vml" Requires="v">
                <p:oleObj spid="_x0000_s10263" name="文档" r:id="rId4" imgW="4510061" imgH="290738" progId="Word.Document.12">
                  <p:embed/>
                </p:oleObj>
              </mc:Choice>
              <mc:Fallback>
                <p:oleObj name="文档" r:id="rId4" imgW="4510061" imgH="290738" progId="Word.Document.12">
                  <p:embed/>
                  <p:pic>
                    <p:nvPicPr>
                      <p:cNvPr id="0" name=""/>
                      <p:cNvPicPr/>
                      <p:nvPr/>
                    </p:nvPicPr>
                    <p:blipFill>
                      <a:blip r:embed="rId5"/>
                      <a:stretch>
                        <a:fillRect/>
                      </a:stretch>
                    </p:blipFill>
                    <p:spPr>
                      <a:xfrm>
                        <a:off x="41564" y="2992966"/>
                        <a:ext cx="11430000" cy="736827"/>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640051058"/>
              </p:ext>
            </p:extLst>
          </p:nvPr>
        </p:nvGraphicFramePr>
        <p:xfrm>
          <a:off x="41564" y="3688229"/>
          <a:ext cx="11430000" cy="744114"/>
        </p:xfrm>
        <a:graphic>
          <a:graphicData uri="http://schemas.openxmlformats.org/presentationml/2006/ole">
            <mc:AlternateContent xmlns:mc="http://schemas.openxmlformats.org/markup-compatibility/2006">
              <mc:Choice xmlns:v="urn:schemas-microsoft-com:vml" Requires="v">
                <p:oleObj spid="_x0000_s10264" name="文档" r:id="rId7" imgW="4510061" imgH="293613" progId="Word.Document.12">
                  <p:embed/>
                </p:oleObj>
              </mc:Choice>
              <mc:Fallback>
                <p:oleObj name="文档" r:id="rId7" imgW="4510061" imgH="293613" progId="Word.Document.12">
                  <p:embed/>
                  <p:pic>
                    <p:nvPicPr>
                      <p:cNvPr id="0" name=""/>
                      <p:cNvPicPr/>
                      <p:nvPr/>
                    </p:nvPicPr>
                    <p:blipFill>
                      <a:blip r:embed="rId8"/>
                      <a:stretch>
                        <a:fillRect/>
                      </a:stretch>
                    </p:blipFill>
                    <p:spPr>
                      <a:xfrm>
                        <a:off x="41564" y="3688229"/>
                        <a:ext cx="11430000" cy="744114"/>
                      </a:xfrm>
                      <a:prstGeom prst="rect">
                        <a:avLst/>
                      </a:prstGeom>
                    </p:spPr>
                  </p:pic>
                </p:oleObj>
              </mc:Fallback>
            </mc:AlternateContent>
          </a:graphicData>
        </a:graphic>
      </p:graphicFrame>
    </p:spTree>
    <p:extLst>
      <p:ext uri="{BB962C8B-B14F-4D97-AF65-F5344CB8AC3E}">
        <p14:creationId xmlns:p14="http://schemas.microsoft.com/office/powerpoint/2010/main" val="1302368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barn(inVertical)">
                                      <p:cBhvr>
                                        <p:cTn id="7" dur="500"/>
                                        <p:tgtEl>
                                          <p:spTgt spid="10">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0">
                                            <p:txEl>
                                              <p:pRg st="3" end="3"/>
                                            </p:txEl>
                                          </p:spTgt>
                                        </p:tgtEl>
                                        <p:attrNameLst>
                                          <p:attrName>style.visibility</p:attrName>
                                        </p:attrNameLst>
                                      </p:cBhvr>
                                      <p:to>
                                        <p:strVal val="visible"/>
                                      </p:to>
                                    </p:set>
                                    <p:animEffect transition="in" filter="barn(inVertical)">
                                      <p:cBhvr>
                                        <p:cTn id="10" dur="500"/>
                                        <p:tgtEl>
                                          <p:spTgt spid="10">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arn(inVertical)">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9313"/>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函数</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的导数是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x</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err="1">
                <a:solidFill>
                  <a:srgbClr val="000000"/>
                </a:solidFill>
                <a:latin typeface="Times New Roman" panose="02020603050405020304" pitchFamily="18" charset="0"/>
                <a:cs typeface="Times New Roman" panose="02020603050405020304" pitchFamily="18" charset="0"/>
              </a:rPr>
              <a:t>C.</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sin </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err="1">
                <a:solidFill>
                  <a:srgbClr val="000000"/>
                </a:solidFill>
                <a:latin typeface="Times New Roman" panose="02020603050405020304" pitchFamily="18" charset="0"/>
                <a:cs typeface="Times New Roman" panose="02020603050405020304" pitchFamily="18" charset="0"/>
              </a:rPr>
              <a:t>D.</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sin </a:t>
            </a:r>
            <a:r>
              <a:rPr lang="en-US" altLang="zh-CN" sz="2800" i="1" dirty="0">
                <a:solidFill>
                  <a:srgbClr val="000000"/>
                </a:solidFill>
                <a:latin typeface="Times New Roman" panose="02020603050405020304" pitchFamily="18" charset="0"/>
                <a:cs typeface="Times New Roman" panose="02020603050405020304" pitchFamily="18" charset="0"/>
              </a:rPr>
              <a:t>x</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x.</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已知曲线</a:t>
            </a:r>
            <a:r>
              <a:rPr lang="en-US" altLang="zh-CN" sz="2800" i="1" dirty="0">
                <a:solidFill>
                  <a:srgbClr val="000000"/>
                </a:solidFill>
                <a:latin typeface="Times New Roman" panose="02020603050405020304" pitchFamily="18" charset="0"/>
                <a:cs typeface="Times New Roman" panose="02020603050405020304" pitchFamily="18" charset="0"/>
              </a:rPr>
              <a:t>y=ax-</a:t>
            </a:r>
            <a:r>
              <a:rPr lang="en-US" altLang="zh-CN" sz="2800" dirty="0" err="1">
                <a:solidFill>
                  <a:srgbClr val="000000"/>
                </a:solidFill>
                <a:latin typeface="Times New Roman" panose="02020603050405020304" pitchFamily="18" charset="0"/>
                <a:cs typeface="Times New Roman" panose="02020603050405020304" pitchFamily="18" charset="0"/>
              </a:rPr>
              <a:t>ln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在点</a:t>
            </a:r>
            <a:r>
              <a:rPr lang="en-US" altLang="zh-CN" sz="2800" dirty="0">
                <a:solidFill>
                  <a:srgbClr val="000000"/>
                </a:solidFill>
                <a:latin typeface="Times New Roman" panose="02020603050405020304" pitchFamily="18" charset="0"/>
                <a:cs typeface="Times New Roman" panose="02020603050405020304" pitchFamily="18" charset="0"/>
              </a:rPr>
              <a:t>(0,0)</a:t>
            </a:r>
            <a:r>
              <a:rPr lang="zh-CN" altLang="zh-CN" sz="2800" dirty="0">
                <a:solidFill>
                  <a:srgbClr val="000000"/>
                </a:solidFill>
                <a:latin typeface="Times New Roman" panose="02020603050405020304" pitchFamily="18" charset="0"/>
                <a:cs typeface="Times New Roman" panose="02020603050405020304" pitchFamily="18" charset="0"/>
              </a:rPr>
              <a:t>处的切线方程为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A.0	</a:t>
            </a:r>
            <a:r>
              <a:rPr lang="en-US" altLang="zh-CN" sz="2800" dirty="0" smtClean="0">
                <a:solidFill>
                  <a:srgbClr val="000000"/>
                </a:solidFill>
                <a:latin typeface="Times New Roman" panose="02020603050405020304" pitchFamily="18" charset="0"/>
                <a:cs typeface="Times New Roman" panose="02020603050405020304" pitchFamily="18" charset="0"/>
              </a:rPr>
              <a:t>	B.1</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C.2</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D.3</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99813055"/>
              </p:ext>
            </p:extLst>
          </p:nvPr>
        </p:nvGraphicFramePr>
        <p:xfrm>
          <a:off x="479854" y="4520686"/>
          <a:ext cx="11430000" cy="1003297"/>
        </p:xfrm>
        <a:graphic>
          <a:graphicData uri="http://schemas.openxmlformats.org/presentationml/2006/ole">
            <mc:AlternateContent xmlns:mc="http://schemas.openxmlformats.org/markup-compatibility/2006">
              <mc:Choice xmlns:v="urn:schemas-microsoft-com:vml" Requires="v">
                <p:oleObj spid="_x0000_s11275" name="文档" r:id="rId4" imgW="4520786" imgH="396823" progId="Word.Document.12">
                  <p:embed/>
                </p:oleObj>
              </mc:Choice>
              <mc:Fallback>
                <p:oleObj name="文档" r:id="rId4" imgW="4520786" imgH="396823" progId="Word.Document.12">
                  <p:embed/>
                  <p:pic>
                    <p:nvPicPr>
                      <p:cNvPr id="0" name=""/>
                      <p:cNvPicPr/>
                      <p:nvPr/>
                    </p:nvPicPr>
                    <p:blipFill>
                      <a:blip r:embed="rId5"/>
                      <a:stretch>
                        <a:fillRect/>
                      </a:stretch>
                    </p:blipFill>
                    <p:spPr>
                      <a:xfrm>
                        <a:off x="479854" y="4520686"/>
                        <a:ext cx="11430000" cy="1003297"/>
                      </a:xfrm>
                      <a:prstGeom prst="rect">
                        <a:avLst/>
                      </a:prstGeom>
                    </p:spPr>
                  </p:pic>
                </p:oleObj>
              </mc:Fallback>
            </mc:AlternateContent>
          </a:graphicData>
        </a:graphic>
      </p:graphicFrame>
      <p:sp>
        <p:nvSpPr>
          <p:cNvPr id="4" name="矩形 3"/>
          <p:cNvSpPr>
            <a:spLocks noChangeAspect="1"/>
          </p:cNvSpPr>
          <p:nvPr/>
        </p:nvSpPr>
        <p:spPr>
          <a:xfrm>
            <a:off x="381000" y="5343164"/>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x</a:t>
            </a:r>
            <a:r>
              <a:rPr lang="en-US" altLang="zh-CN" sz="2800" i="1" baseline="-25000" dirty="0">
                <a:solidFill>
                  <a:srgbClr val="000000"/>
                </a:solidFill>
                <a:latin typeface="Times New Roman" panose="02020603050405020304" pitchFamily="18" charset="0"/>
                <a:cs typeface="Times New Roman" panose="02020603050405020304" pitchFamily="18" charset="0"/>
              </a:rPr>
              <a:t>=</a:t>
            </a:r>
            <a:r>
              <a:rPr lang="en-US" altLang="zh-CN" sz="2800" baseline="-25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D</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barn(inVertical)">
                                      <p:cBhvr>
                                        <p:cTn id="12" dur="500"/>
                                        <p:tgtEl>
                                          <p:spTgt spid="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par>
                                <p:cTn id="18" presetID="16" presetClass="entr" presetSubtype="21" fill="hold" nodeType="with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barn(inVertical)">
                                      <p:cBhvr>
                                        <p:cTn id="20" dur="5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barn(inVertical)">
                                      <p:cBhvr>
                                        <p:cTn id="25"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432710011"/>
              </p:ext>
            </p:extLst>
          </p:nvPr>
        </p:nvGraphicFramePr>
        <p:xfrm>
          <a:off x="479853" y="347935"/>
          <a:ext cx="11430000" cy="1003297"/>
        </p:xfrm>
        <a:graphic>
          <a:graphicData uri="http://schemas.openxmlformats.org/presentationml/2006/ole">
            <mc:AlternateContent xmlns:mc="http://schemas.openxmlformats.org/markup-compatibility/2006">
              <mc:Choice xmlns:v="urn:schemas-microsoft-com:vml" Requires="v">
                <p:oleObj spid="_x0000_s12317" name="文档" r:id="rId4" imgW="4520786" imgH="396823" progId="Word.Document.12">
                  <p:embed/>
                </p:oleObj>
              </mc:Choice>
              <mc:Fallback>
                <p:oleObj name="文档" r:id="rId4" imgW="4520786" imgH="396823" progId="Word.Document.12">
                  <p:embed/>
                  <p:pic>
                    <p:nvPicPr>
                      <p:cNvPr id="0" name=""/>
                      <p:cNvPicPr/>
                      <p:nvPr/>
                    </p:nvPicPr>
                    <p:blipFill>
                      <a:blip r:embed="rId5"/>
                      <a:stretch>
                        <a:fillRect/>
                      </a:stretch>
                    </p:blipFill>
                    <p:spPr>
                      <a:xfrm>
                        <a:off x="479853" y="347935"/>
                        <a:ext cx="11430000" cy="100329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143582662"/>
              </p:ext>
            </p:extLst>
          </p:nvPr>
        </p:nvGraphicFramePr>
        <p:xfrm>
          <a:off x="479853" y="1155299"/>
          <a:ext cx="11430000" cy="1003297"/>
        </p:xfrm>
        <a:graphic>
          <a:graphicData uri="http://schemas.openxmlformats.org/presentationml/2006/ole">
            <mc:AlternateContent xmlns:mc="http://schemas.openxmlformats.org/markup-compatibility/2006">
              <mc:Choice xmlns:v="urn:schemas-microsoft-com:vml" Requires="v">
                <p:oleObj spid="_x0000_s12318" name="文档" r:id="rId7" imgW="4520786" imgH="396823" progId="Word.Document.12">
                  <p:embed/>
                </p:oleObj>
              </mc:Choice>
              <mc:Fallback>
                <p:oleObj name="文档" r:id="rId7" imgW="4520786" imgH="396823" progId="Word.Document.12">
                  <p:embed/>
                  <p:pic>
                    <p:nvPicPr>
                      <p:cNvPr id="0" name=""/>
                      <p:cNvPicPr/>
                      <p:nvPr/>
                    </p:nvPicPr>
                    <p:blipFill>
                      <a:blip r:embed="rId8"/>
                      <a:stretch>
                        <a:fillRect/>
                      </a:stretch>
                    </p:blipFill>
                    <p:spPr>
                      <a:xfrm>
                        <a:off x="479853" y="1155299"/>
                        <a:ext cx="11430000" cy="1003297"/>
                      </a:xfrm>
                      <a:prstGeom prst="rect">
                        <a:avLst/>
                      </a:prstGeom>
                    </p:spPr>
                  </p:pic>
                </p:oleObj>
              </mc:Fallback>
            </mc:AlternateContent>
          </a:graphicData>
        </a:graphic>
      </p:graphicFrame>
      <p:sp>
        <p:nvSpPr>
          <p:cNvPr id="5" name="矩形 4"/>
          <p:cNvSpPr>
            <a:spLocks noChangeAspect="1"/>
          </p:cNvSpPr>
          <p:nvPr/>
        </p:nvSpPr>
        <p:spPr>
          <a:xfrm>
            <a:off x="381000" y="2891818"/>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曲线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sin 2</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处的切线方程是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u="sng"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得切线的斜率</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x</a:t>
            </a:r>
            <a:r>
              <a:rPr lang="en-US" altLang="zh-CN" sz="2800" i="1" baseline="-25000" dirty="0">
                <a:solidFill>
                  <a:srgbClr val="000000"/>
                </a:solidFill>
                <a:latin typeface="Times New Roman" panose="02020603050405020304" pitchFamily="18" charset="0"/>
                <a:cs typeface="Times New Roman" panose="02020603050405020304" pitchFamily="18" charset="0"/>
              </a:rPr>
              <a:t>=</a:t>
            </a:r>
            <a:r>
              <a:rPr lang="en-US" altLang="zh-CN" sz="2800" baseline="-250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因为切线过点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所以切线方程为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70484298"/>
              </p:ext>
            </p:extLst>
          </p:nvPr>
        </p:nvGraphicFramePr>
        <p:xfrm>
          <a:off x="468815" y="2148205"/>
          <a:ext cx="11275153" cy="760088"/>
        </p:xfrm>
        <a:graphic>
          <a:graphicData uri="http://schemas.openxmlformats.org/presentationml/2006/ole">
            <mc:AlternateContent xmlns:mc="http://schemas.openxmlformats.org/markup-compatibility/2006">
              <mc:Choice xmlns:v="urn:schemas-microsoft-com:vml" Requires="v">
                <p:oleObj spid="_x0000_s12319" name="文档" r:id="rId10" imgW="4510061" imgH="304035" progId="Word.Document.12">
                  <p:embed/>
                </p:oleObj>
              </mc:Choice>
              <mc:Fallback>
                <p:oleObj name="文档" r:id="rId10" imgW="4510061" imgH="304035" progId="Word.Document.12">
                  <p:embed/>
                  <p:pic>
                    <p:nvPicPr>
                      <p:cNvPr id="0" name=""/>
                      <p:cNvPicPr/>
                      <p:nvPr/>
                    </p:nvPicPr>
                    <p:blipFill>
                      <a:blip r:embed="rId11"/>
                      <a:stretch>
                        <a:fillRect/>
                      </a:stretch>
                    </p:blipFill>
                    <p:spPr>
                      <a:xfrm>
                        <a:off x="468815" y="2148205"/>
                        <a:ext cx="11275153" cy="760088"/>
                      </a:xfrm>
                      <a:prstGeom prst="rect">
                        <a:avLst/>
                      </a:prstGeom>
                    </p:spPr>
                  </p:pic>
                </p:oleObj>
              </mc:Fallback>
            </mc:AlternateContent>
          </a:graphicData>
        </a:graphic>
      </p:graphicFrame>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arn(inVertical)">
                                      <p:cBhvr>
                                        <p:cTn id="17" dur="500"/>
                                        <p:tgtEl>
                                          <p:spTgt spid="5">
                                            <p:txEl>
                                              <p:pRg st="1" end="1"/>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barn(inVertical)">
                                      <p:cBhvr>
                                        <p:cTn id="20" dur="5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barn(inVertical)">
                                      <p:cBhvr>
                                        <p:cTn id="2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ChangeAspect="1"/>
          </p:cNvSpPr>
          <p:nvPr/>
        </p:nvSpPr>
        <p:spPr>
          <a:xfrm>
            <a:off x="381000" y="629804"/>
            <a:ext cx="11430000" cy="2332946"/>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求下列函数的导数</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y=x</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8</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5</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err="1" smtClean="0">
                <a:solidFill>
                  <a:srgbClr val="000000"/>
                </a:solidFill>
                <a:latin typeface="Times New Roman" panose="02020603050405020304" pitchFamily="18" charset="0"/>
                <a:cs typeface="Times New Roman" panose="02020603050405020304" pitchFamily="18" charset="0"/>
              </a:rPr>
              <a:t>ln</a:t>
            </a:r>
            <a:r>
              <a:rPr lang="en-US" altLang="zh-CN" sz="2800" dirty="0" smtClean="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dirty="0" smtClean="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sin 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cos 3</a:t>
            </a:r>
            <a:r>
              <a:rPr lang="en-US" altLang="zh-CN" sz="2800" i="1" dirty="0">
                <a:solidFill>
                  <a:srgbClr val="000000"/>
                </a:solidFill>
                <a:latin typeface="Times New Roman" panose="02020603050405020304" pitchFamily="18" charset="0"/>
                <a:cs typeface="Times New Roman" panose="02020603050405020304" pitchFamily="18" charset="0"/>
              </a:rPr>
              <a:t>x.</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538531854"/>
              </p:ext>
            </p:extLst>
          </p:nvPr>
        </p:nvGraphicFramePr>
        <p:xfrm>
          <a:off x="1139653" y="1696045"/>
          <a:ext cx="527178" cy="753795"/>
        </p:xfrm>
        <a:graphic>
          <a:graphicData uri="http://schemas.openxmlformats.org/presentationml/2006/ole">
            <mc:AlternateContent xmlns:mc="http://schemas.openxmlformats.org/markup-compatibility/2006">
              <mc:Choice xmlns:v="urn:schemas-microsoft-com:vml" Requires="v">
                <p:oleObj spid="_x0000_s13330" name="文档" r:id="rId4" imgW="285035" imgH="397130" progId="Word.Document.12">
                  <p:embed/>
                </p:oleObj>
              </mc:Choice>
              <mc:Fallback>
                <p:oleObj name="文档" r:id="rId4" imgW="285035" imgH="397130" progId="Word.Document.12">
                  <p:embed/>
                  <p:pic>
                    <p:nvPicPr>
                      <p:cNvPr id="0" name=""/>
                      <p:cNvPicPr/>
                      <p:nvPr/>
                    </p:nvPicPr>
                    <p:blipFill>
                      <a:blip r:embed="rId5"/>
                      <a:stretch>
                        <a:fillRect/>
                      </a:stretch>
                    </p:blipFill>
                    <p:spPr>
                      <a:xfrm>
                        <a:off x="1139653" y="1696045"/>
                        <a:ext cx="527178" cy="753795"/>
                      </a:xfrm>
                      <a:prstGeom prst="rect">
                        <a:avLst/>
                      </a:prstGeom>
                    </p:spPr>
                  </p:pic>
                </p:oleObj>
              </mc:Fallback>
            </mc:AlternateContent>
          </a:graphicData>
        </a:graphic>
      </p:graphicFrame>
      <p:grpSp>
        <p:nvGrpSpPr>
          <p:cNvPr id="15" name="组合 14"/>
          <p:cNvGrpSpPr/>
          <p:nvPr/>
        </p:nvGrpSpPr>
        <p:grpSpPr>
          <a:xfrm>
            <a:off x="381000" y="2923868"/>
            <a:ext cx="11430000" cy="1951350"/>
            <a:chOff x="381000" y="2996605"/>
            <a:chExt cx="11430000" cy="1951350"/>
          </a:xfrm>
        </p:grpSpPr>
        <p:sp>
          <p:nvSpPr>
            <p:cNvPr id="11" name="矩形 10"/>
            <p:cNvSpPr>
              <a:spLocks noChangeAspect="1"/>
            </p:cNvSpPr>
            <p:nvPr/>
          </p:nvSpPr>
          <p:spPr>
            <a:xfrm>
              <a:off x="381000" y="2996605"/>
              <a:ext cx="11430000" cy="592213"/>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8</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5</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8</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8</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5</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8</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·8e</a:t>
              </a:r>
              <a:r>
                <a:rPr lang="en-US" altLang="zh-CN" sz="2800" baseline="30000" dirty="0">
                  <a:solidFill>
                    <a:srgbClr val="000000"/>
                  </a:solidFill>
                  <a:latin typeface="Times New Roman" panose="02020603050405020304" pitchFamily="18" charset="0"/>
                  <a:cs typeface="Times New Roman" panose="02020603050405020304" pitchFamily="18" charset="0"/>
                </a:rPr>
                <a:t>8</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)e</a:t>
              </a:r>
              <a:r>
                <a:rPr lang="en-US" altLang="zh-CN" sz="2800" baseline="30000" dirty="0">
                  <a:solidFill>
                    <a:srgbClr val="000000"/>
                  </a:solidFill>
                  <a:latin typeface="Times New Roman" panose="02020603050405020304" pitchFamily="18" charset="0"/>
                  <a:cs typeface="Times New Roman" panose="02020603050405020304" pitchFamily="18" charset="0"/>
                </a:rPr>
                <a:t>8</a:t>
              </a:r>
              <a:r>
                <a:rPr lang="en-US" altLang="zh-CN" sz="2800" i="1" baseline="30000"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1230422522"/>
                </p:ext>
              </p:extLst>
            </p:nvPr>
          </p:nvGraphicFramePr>
          <p:xfrm>
            <a:off x="479206" y="3630382"/>
            <a:ext cx="11275153" cy="727743"/>
          </p:xfrm>
          <a:graphic>
            <a:graphicData uri="http://schemas.openxmlformats.org/presentationml/2006/ole">
              <mc:AlternateContent xmlns:mc="http://schemas.openxmlformats.org/markup-compatibility/2006">
                <mc:Choice xmlns:v="urn:schemas-microsoft-com:vml" Requires="v">
                  <p:oleObj spid="_x0000_s13331" name="文档" r:id="rId7" imgW="4510061" imgH="291097" progId="Word.Document.12">
                    <p:embed/>
                  </p:oleObj>
                </mc:Choice>
                <mc:Fallback>
                  <p:oleObj name="文档" r:id="rId7" imgW="4510061" imgH="291097" progId="Word.Document.12">
                    <p:embed/>
                    <p:pic>
                      <p:nvPicPr>
                        <p:cNvPr id="0" name=""/>
                        <p:cNvPicPr/>
                        <p:nvPr/>
                      </p:nvPicPr>
                      <p:blipFill>
                        <a:blip r:embed="rId8"/>
                        <a:stretch>
                          <a:fillRect/>
                        </a:stretch>
                      </p:blipFill>
                      <p:spPr>
                        <a:xfrm>
                          <a:off x="479206" y="3630382"/>
                          <a:ext cx="11275153" cy="727743"/>
                        </a:xfrm>
                        <a:prstGeom prst="rect">
                          <a:avLst/>
                        </a:prstGeom>
                      </p:spPr>
                    </p:pic>
                  </p:oleObj>
                </mc:Fallback>
              </mc:AlternateContent>
            </a:graphicData>
          </a:graphic>
        </p:graphicFrame>
        <p:sp>
          <p:nvSpPr>
            <p:cNvPr id="14" name="矩形 13"/>
            <p:cNvSpPr>
              <a:spLocks noChangeAspect="1"/>
            </p:cNvSpPr>
            <p:nvPr/>
          </p:nvSpPr>
          <p:spPr>
            <a:xfrm>
              <a:off x="381000" y="4295469"/>
              <a:ext cx="11430000" cy="652486"/>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3sin</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191</TotalTime>
  <Words>708</Words>
  <Application>Microsoft Office PowerPoint</Application>
  <PresentationFormat>宽屏</PresentationFormat>
  <Paragraphs>96</Paragraphs>
  <Slides>24</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45"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31</cp:revision>
  <dcterms:created xsi:type="dcterms:W3CDTF">2021-08-30T08:30:26Z</dcterms:created>
  <dcterms:modified xsi:type="dcterms:W3CDTF">2025-08-01T06:56:37Z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