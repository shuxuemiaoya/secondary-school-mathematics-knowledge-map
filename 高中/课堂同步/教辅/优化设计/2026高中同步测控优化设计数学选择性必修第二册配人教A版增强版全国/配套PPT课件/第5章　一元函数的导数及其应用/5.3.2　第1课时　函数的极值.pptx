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407" r:id="rId13"/>
    <p:sldId id="394" r:id="rId14"/>
    <p:sldId id="699" r:id="rId15"/>
    <p:sldId id="700" r:id="rId16"/>
    <p:sldId id="701" r:id="rId17"/>
    <p:sldId id="706" r:id="rId18"/>
    <p:sldId id="707" r:id="rId19"/>
    <p:sldId id="708" r:id="rId20"/>
    <p:sldId id="710" r:id="rId21"/>
    <p:sldId id="402" r:id="rId22"/>
    <p:sldId id="712" r:id="rId23"/>
    <p:sldId id="713" r:id="rId24"/>
    <p:sldId id="714" r:id="rId25"/>
    <p:sldId id="715" r:id="rId26"/>
    <p:sldId id="719" r:id="rId27"/>
    <p:sldId id="498" r:id="rId28"/>
    <p:sldId id="730" r:id="rId29"/>
    <p:sldId id="733" r:id="rId30"/>
    <p:sldId id="743" r:id="rId31"/>
    <p:sldId id="744" r:id="rId32"/>
    <p:sldId id="734" r:id="rId33"/>
    <p:sldId id="737" r:id="rId34"/>
    <p:sldId id="741" r:id="rId35"/>
    <p:sldId id="738" r:id="rId36"/>
    <p:sldId id="751" r:id="rId37"/>
    <p:sldId id="752" r:id="rId38"/>
    <p:sldId id="753" r:id="rId39"/>
    <p:sldId id="754" r:id="rId40"/>
    <p:sldId id="398" r:id="rId41"/>
    <p:sldId id="395" r:id="rId42"/>
    <p:sldId id="756" r:id="rId43"/>
    <p:sldId id="757" r:id="rId44"/>
    <p:sldId id="758" r:id="rId45"/>
    <p:sldId id="759" r:id="rId46"/>
    <p:sldId id="490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414" userDrawn="1">
          <p15:clr>
            <a:srgbClr val="A4A3A4"/>
          </p15:clr>
        </p15:guide>
        <p15:guide id="8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pos="211"/>
        <p:guide orient="horz" pos="368"/>
        <p:guide orient="horz" pos="777"/>
        <p:guide orient="horz" pos="28"/>
        <p:guide pos="279"/>
        <p:guide orient="horz" pos="414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2024-07-17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4.xml"/><Relationship Id="rId4" Type="http://schemas.openxmlformats.org/officeDocument/2006/relationships/slide" Target="../slides/slide27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package" Target="../embeddings/Microsoft_Word___3.docx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7.docx"/><Relationship Id="rId3" Type="http://schemas.openxmlformats.org/officeDocument/2006/relationships/image" Target="../media/image21.jpeg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package" Target="../embeddings/Microsoft_Word___16.docx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Relationship Id="rId9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package" Target="../embeddings/Microsoft_Word___21.docx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4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5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33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7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6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1.emf"/><Relationship Id="rId5" Type="http://schemas.openxmlformats.org/officeDocument/2006/relationships/package" Target="../embeddings/Microsoft_Word___34.docx"/><Relationship Id="rId4" Type="http://schemas.openxmlformats.org/officeDocument/2006/relationships/image" Target="../media/image4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2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package" Target="../embeddings/Microsoft_Word___36.docx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Word___37.docx"/><Relationship Id="rId4" Type="http://schemas.openxmlformats.org/officeDocument/2006/relationships/image" Target="../media/image4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函数的极值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5.3.2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了解函数的极大值、极小值的概念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了解函数在某点取得极值的必要条件和充分条件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会用导数求函数的极大值、极小值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会根据函数的极值求参数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通过利用导数研究函数的极值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提升直观想象、数学运算与逻辑推理素养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3563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一、极值点与极值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等点处的函数值与这些点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函数值大小关系是什么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在这些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导数值是多少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在这些点附近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的符号有什么规律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两点为例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附近其他点的函数值都小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类似地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附近其他点的函数值都大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附近的左侧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X2TRAX14.eps" descr="id:2147505541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9500" y="1015278"/>
            <a:ext cx="3995418" cy="23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2020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极小值点与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附近其他点处的函数值都小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的极小值点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极大值点与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处的函数值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比它在点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附近其他点处的函数值都大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极小值点、极大值点统称为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极小值和极大值统称为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469977" y="1616907"/>
            <a:ext cx="32271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/>
        </p:nvCxnSpPr>
        <p:spPr>
          <a:xfrm>
            <a:off x="2481913" y="2033085"/>
            <a:ext cx="3213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6673198" y="1633214"/>
            <a:ext cx="11533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>
            <a:off x="6685001" y="2070174"/>
            <a:ext cx="11485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8634232" y="1616907"/>
            <a:ext cx="115338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/>
          <p:cNvCxnSpPr/>
          <p:nvPr/>
        </p:nvCxnSpPr>
        <p:spPr>
          <a:xfrm>
            <a:off x="8646035" y="2053867"/>
            <a:ext cx="11485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0626439" y="1612432"/>
            <a:ext cx="30227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10634731" y="2028610"/>
            <a:ext cx="3010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937130" y="2188134"/>
            <a:ext cx="68178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/>
          <p:nvPr/>
        </p:nvCxnSpPr>
        <p:spPr>
          <a:xfrm>
            <a:off x="3945505" y="2625094"/>
            <a:ext cx="6789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2492304" y="3836389"/>
            <a:ext cx="29337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/>
          <p:cNvCxnSpPr/>
          <p:nvPr/>
        </p:nvCxnSpPr>
        <p:spPr>
          <a:xfrm>
            <a:off x="2500962" y="4252567"/>
            <a:ext cx="2921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6685435" y="3840864"/>
            <a:ext cx="113784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连接符 71"/>
          <p:cNvCxnSpPr/>
          <p:nvPr/>
        </p:nvCxnSpPr>
        <p:spPr>
          <a:xfrm>
            <a:off x="6697373" y="4277824"/>
            <a:ext cx="1133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8659708" y="3840864"/>
            <a:ext cx="113784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/>
          <p:cNvCxnSpPr/>
          <p:nvPr/>
        </p:nvCxnSpPr>
        <p:spPr>
          <a:xfrm>
            <a:off x="8671646" y="4277824"/>
            <a:ext cx="1133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641233" y="3830473"/>
            <a:ext cx="29820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/>
          <p:cNvCxnSpPr/>
          <p:nvPr/>
        </p:nvCxnSpPr>
        <p:spPr>
          <a:xfrm>
            <a:off x="10649560" y="4246651"/>
            <a:ext cx="2969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3939439" y="4398938"/>
            <a:ext cx="69297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/>
          <p:cNvCxnSpPr/>
          <p:nvPr/>
        </p:nvCxnSpPr>
        <p:spPr>
          <a:xfrm>
            <a:off x="3947936" y="4835898"/>
            <a:ext cx="6900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5418036" y="4952692"/>
            <a:ext cx="105895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/>
          <p:cNvCxnSpPr/>
          <p:nvPr/>
        </p:nvCxnSpPr>
        <p:spPr>
          <a:xfrm>
            <a:off x="5430028" y="5379261"/>
            <a:ext cx="10545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10154054" y="4948217"/>
            <a:ext cx="69122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连接符 81"/>
          <p:cNvCxnSpPr/>
          <p:nvPr/>
        </p:nvCxnSpPr>
        <p:spPr>
          <a:xfrm>
            <a:off x="10166043" y="5374786"/>
            <a:ext cx="6883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  <p:bldP spid="79" grpId="0" animBg="1"/>
      <p:bldP spid="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616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导数为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的点一定是极值点吗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虽然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但是在点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的左右两侧恒有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的极值点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极大值一定比极小值大吗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极大值与极小值之间无确定的大小关系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在某一点的极小值可能大于另一点的极大值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738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的定义域为开区间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内有极小值点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根据极小值的定义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在极小值点的左右两侧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导函数的图象分别在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轴的下方和上方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由题图知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个点符合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YMX2TRAX15.eps" descr="id:2147505548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2283" y="1403524"/>
            <a:ext cx="4847435" cy="250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685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二、函数极值的求法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函数的极值与函数的单调性有什么联系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极值点两侧函数的单调性相反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欲研究函数的极值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需先研究函数的单调性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附近的左侧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90679" y="4027588"/>
            <a:ext cx="113901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302342" y="4454157"/>
            <a:ext cx="11342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264952" y="4027588"/>
            <a:ext cx="113901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276615" y="4454157"/>
            <a:ext cx="11342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26256" y="4547133"/>
            <a:ext cx="106075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8837940" y="4994484"/>
            <a:ext cx="10562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700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情况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如下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47823401"/>
              </p:ext>
            </p:extLst>
          </p:nvPr>
        </p:nvGraphicFramePr>
        <p:xfrm>
          <a:off x="6211331" y="2655197"/>
          <a:ext cx="5583194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743966"/>
                <a:gridCol w="953028"/>
                <a:gridCol w="808377"/>
                <a:gridCol w="982677"/>
                <a:gridCol w="917785"/>
                <a:gridCol w="1177361"/>
              </a:tblGrid>
              <a:tr h="9543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1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3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2438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在某区间上或定义域内极大值是唯一的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有极值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若可导函数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有解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+bx+c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有极值的充要条件是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8309484" y="1740835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7362132" y="2291636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529565" y="338326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955616" y="4508128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求函数的极值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45796"/>
              </p:ext>
            </p:extLst>
          </p:nvPr>
        </p:nvGraphicFramePr>
        <p:xfrm>
          <a:off x="41192" y="69364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2" y="69364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1192" y="1459764"/>
            <a:ext cx="11769808" cy="2626741"/>
            <a:chOff x="41192" y="1522110"/>
            <a:chExt cx="11769808" cy="2626741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180376"/>
                </p:ext>
              </p:extLst>
            </p:nvPr>
          </p:nvGraphicFramePr>
          <p:xfrm>
            <a:off x="41192" y="152211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2" y="152211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376058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有极小值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并且极小值为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无极大值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379614119"/>
              </p:ext>
            </p:extLst>
          </p:nvPr>
        </p:nvGraphicFramePr>
        <p:xfrm>
          <a:off x="381000" y="4128560"/>
          <a:ext cx="11429999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2461054"/>
                <a:gridCol w="3424287"/>
                <a:gridCol w="923728"/>
                <a:gridCol w="462093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616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函数的极值和极值点的步骤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确定函数的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定义域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的实根顺次将函数的定义域分成若干个开区间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并列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的实根左右的符号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来判断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在这个实根处取极值的情况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-2642"/>
            <a:ext cx="11430000" cy="1262068"/>
            <a:chOff x="381000" y="744936"/>
            <a:chExt cx="11430000" cy="12620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79436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x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ln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的极值点和极值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588527"/>
                </p:ext>
              </p:extLst>
            </p:nvPr>
          </p:nvGraphicFramePr>
          <p:xfrm>
            <a:off x="4864916" y="744936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7" name="文档" r:id="rId3" imgW="285035" imgH="397130" progId="Word.Document.12">
                    <p:embed/>
                  </p:oleObj>
                </mc:Choice>
                <mc:Fallback>
                  <p:oleObj name="文档" r:id="rId3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64916" y="744936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41190" y="993246"/>
            <a:ext cx="11769810" cy="5503409"/>
            <a:chOff x="41190" y="993246"/>
            <a:chExt cx="11769810" cy="5503409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5697328"/>
                </p:ext>
              </p:extLst>
            </p:nvPr>
          </p:nvGraphicFramePr>
          <p:xfrm>
            <a:off x="41190" y="99324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8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190" y="99324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1798428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&lt;a&lt;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单调递增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的极大值点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的极小值点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168079"/>
                </p:ext>
              </p:extLst>
            </p:nvPr>
          </p:nvGraphicFramePr>
          <p:xfrm>
            <a:off x="41190" y="397213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9" name="文档" r:id="rId7" imgW="4520786" imgH="793285" progId="Word.Document.12">
                    <p:embed/>
                  </p:oleObj>
                </mc:Choice>
                <mc:Fallback>
                  <p:oleObj name="文档" r:id="rId7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1190" y="397213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81000" y="5844169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在定义域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内单调递增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无极值点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故无极值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4591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单调递增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的极小值点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646263"/>
              </p:ext>
            </p:extLst>
          </p:nvPr>
        </p:nvGraphicFramePr>
        <p:xfrm>
          <a:off x="44450" y="2759421"/>
          <a:ext cx="1140142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3" imgW="4510061" imgH="424176" progId="Word.Document.12">
                  <p:embed/>
                </p:oleObj>
              </mc:Choice>
              <mc:Fallback>
                <p:oleObj name="文档" r:id="rId3" imgW="4510061" imgH="4241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50" y="2759421"/>
                        <a:ext cx="11401425" cy="1068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60790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含参数函数的极值注意事项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根据参数的取值范围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讨论函数的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单调性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在某区间上的单调函数不存在极值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960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的导函数为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56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387266"/>
              </p:ext>
            </p:extLst>
          </p:nvPr>
        </p:nvGraphicFramePr>
        <p:xfrm>
          <a:off x="381000" y="2412986"/>
          <a:ext cx="11430000" cy="301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文档" r:id="rId3" imgW="4520786" imgH="1193352" progId="Word.Document.12">
                  <p:embed/>
                </p:oleObj>
              </mc:Choice>
              <mc:Fallback>
                <p:oleObj name="文档" r:id="rId3" imgW="4520786" imgH="11933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412986"/>
                        <a:ext cx="11430000" cy="301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69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极值点的个数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190" y="1763165"/>
            <a:ext cx="11769810" cy="2626742"/>
            <a:chOff x="41190" y="1744536"/>
            <a:chExt cx="11769810" cy="2626742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1222247"/>
                </p:ext>
              </p:extLst>
            </p:nvPr>
          </p:nvGraphicFramePr>
          <p:xfrm>
            <a:off x="41190" y="174453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174453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98485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+ax-a+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①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+∞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递增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无极值点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5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1173" y="271724"/>
            <a:ext cx="11779827" cy="5429914"/>
            <a:chOff x="31173" y="271724"/>
            <a:chExt cx="11779827" cy="5429914"/>
          </a:xfrm>
        </p:grpSpPr>
        <p:grpSp>
          <p:nvGrpSpPr>
            <p:cNvPr id="5" name="组合 4"/>
            <p:cNvGrpSpPr/>
            <p:nvPr/>
          </p:nvGrpSpPr>
          <p:grpSpPr>
            <a:xfrm>
              <a:off x="381000" y="271724"/>
              <a:ext cx="11430000" cy="5429914"/>
              <a:chOff x="381000" y="600676"/>
              <a:chExt cx="11430000" cy="5429914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600676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Δ=a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设方程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+ax-a+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的两根为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3137490"/>
                <a:ext cx="11430000" cy="289310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单调递增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+∞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单调递减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一个极值点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综上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有一个极值点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无极值点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1996501"/>
                </p:ext>
              </p:extLst>
            </p:nvPr>
          </p:nvGraphicFramePr>
          <p:xfrm>
            <a:off x="31173" y="1507219"/>
            <a:ext cx="11430000" cy="1379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2" name="文档" r:id="rId3" imgW="4510061" imgH="544460" progId="Word.Document.12">
                    <p:embed/>
                  </p:oleObj>
                </mc:Choice>
                <mc:Fallback>
                  <p:oleObj name="文档" r:id="rId3" imgW="4510061" imgH="54446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173" y="1507219"/>
                          <a:ext cx="11430000" cy="13798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425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已知函数极值求参数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4450" y="2635131"/>
            <a:ext cx="11766550" cy="3574589"/>
            <a:chOff x="44450" y="2946861"/>
            <a:chExt cx="11766550" cy="357458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946861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+bx+c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ax+b.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401376"/>
                </p:ext>
              </p:extLst>
            </p:nvPr>
          </p:nvGraphicFramePr>
          <p:xfrm>
            <a:off x="44450" y="4021138"/>
            <a:ext cx="11401425" cy="2500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8" name="文档" r:id="rId3" imgW="4510061" imgH="993227" progId="Word.Document.12">
                    <p:embed/>
                  </p:oleObj>
                </mc:Choice>
                <mc:Fallback>
                  <p:oleObj name="文档" r:id="rId3" imgW="4510061" imgH="99322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450" y="4021138"/>
                          <a:ext cx="11401425" cy="2500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985526"/>
              </p:ext>
            </p:extLst>
          </p:nvPr>
        </p:nvGraphicFramePr>
        <p:xfrm>
          <a:off x="381000" y="732704"/>
          <a:ext cx="11430000" cy="19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文档" r:id="rId5" imgW="4510061" imgH="762962" progId="Word.Document.12">
                  <p:embed/>
                </p:oleObj>
              </mc:Choice>
              <mc:Fallback>
                <p:oleObj name="文档" r:id="rId5" imgW="4510061" imgH="7629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732704"/>
                        <a:ext cx="11430000" cy="19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481932"/>
              </p:ext>
            </p:extLst>
          </p:nvPr>
        </p:nvGraphicFramePr>
        <p:xfrm>
          <a:off x="381000" y="3499511"/>
          <a:ext cx="11430000" cy="3819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文档" r:id="rId3" imgW="4520786" imgH="1510882" progId="Word.Document.12">
                  <p:embed/>
                </p:oleObj>
              </mc:Choice>
              <mc:Fallback>
                <p:oleObj name="文档" r:id="rId3" imgW="4520786" imgH="15108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3499511"/>
                        <a:ext cx="11430000" cy="3819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885191"/>
              </p:ext>
            </p:extLst>
          </p:nvPr>
        </p:nvGraphicFramePr>
        <p:xfrm>
          <a:off x="24714" y="-107094"/>
          <a:ext cx="11430000" cy="361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文档" r:id="rId5" imgW="4510061" imgH="1430377" progId="Word.Document.12">
                  <p:embed/>
                </p:oleObj>
              </mc:Choice>
              <mc:Fallback>
                <p:oleObj name="文档" r:id="rId5" imgW="4510061" imgH="1430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14" y="-107094"/>
                        <a:ext cx="11430000" cy="361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506321"/>
              </p:ext>
            </p:extLst>
          </p:nvPr>
        </p:nvGraphicFramePr>
        <p:xfrm>
          <a:off x="41190" y="1230065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文档" r:id="rId3" imgW="4520786" imgH="1190108" progId="Word.Document.12">
                  <p:embed/>
                </p:oleObj>
              </mc:Choice>
              <mc:Fallback>
                <p:oleObj name="文档" r:id="rId3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1230065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25682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217685"/>
              </p:ext>
            </p:extLst>
          </p:nvPr>
        </p:nvGraphicFramePr>
        <p:xfrm>
          <a:off x="381000" y="501264"/>
          <a:ext cx="11430000" cy="13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文档" r:id="rId4" imgW="4510061" imgH="545538" progId="Word.Document.12">
                  <p:embed/>
                </p:oleObj>
              </mc:Choice>
              <mc:Fallback>
                <p:oleObj name="文档" r:id="rId4" imgW="4510061" imgH="5455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501264"/>
                        <a:ext cx="11430000" cy="138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336166"/>
              </p:ext>
            </p:extLst>
          </p:nvPr>
        </p:nvGraphicFramePr>
        <p:xfrm>
          <a:off x="50800" y="1811102"/>
          <a:ext cx="11430000" cy="2623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文档" r:id="rId6" imgW="4510061" imgH="1035012" progId="Word.Document.12">
                  <p:embed/>
                </p:oleObj>
              </mc:Choice>
              <mc:Fallback>
                <p:oleObj name="文档" r:id="rId6" imgW="4510061" imgH="10350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800" y="1811102"/>
                        <a:ext cx="11430000" cy="2623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028257"/>
              </p:ext>
            </p:extLst>
          </p:nvPr>
        </p:nvGraphicFramePr>
        <p:xfrm>
          <a:off x="381000" y="4393177"/>
          <a:ext cx="11430000" cy="265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文档" r:id="rId8" imgW="4567145" imgH="1059450" progId="Word.Document.12">
                  <p:embed/>
                </p:oleObj>
              </mc:Choice>
              <mc:Fallback>
                <p:oleObj name="文档" r:id="rId8" imgW="4567145" imgH="10594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1000" y="4393177"/>
                        <a:ext cx="11430000" cy="265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190" y="204176"/>
            <a:ext cx="11769810" cy="5759816"/>
            <a:chOff x="41190" y="-24426"/>
            <a:chExt cx="11769810" cy="575981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842290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已知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函数极值的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情况逆向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应用确定函数的解析式时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应注意以下两点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根据极值点处导数为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和极值情况列方程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利用待定系数法求解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因为导数值等于零不是此点为极值点的充要条件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所以利用待定系数法求解后必须验证是否满足题意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469208"/>
                </p:ext>
              </p:extLst>
            </p:nvPr>
          </p:nvGraphicFramePr>
          <p:xfrm>
            <a:off x="41190" y="-24426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-24426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处有极值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且极大值为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极小值为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试确定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26400777"/>
              </p:ext>
            </p:extLst>
          </p:nvPr>
        </p:nvGraphicFramePr>
        <p:xfrm>
          <a:off x="381000" y="3460194"/>
          <a:ext cx="11430001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739346"/>
                <a:gridCol w="1540476"/>
                <a:gridCol w="1161535"/>
                <a:gridCol w="1614616"/>
                <a:gridCol w="1285103"/>
                <a:gridCol w="1730791"/>
                <a:gridCol w="1506679"/>
                <a:gridCol w="185145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1,0)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(0,1)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无极值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1190" y="5047905"/>
            <a:ext cx="11430000" cy="1595907"/>
            <a:chOff x="41190" y="5047905"/>
            <a:chExt cx="11430000" cy="1595907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1140808"/>
                </p:ext>
              </p:extLst>
            </p:nvPr>
          </p:nvGraphicFramePr>
          <p:xfrm>
            <a:off x="41190" y="504790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504790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991326"/>
              <a:ext cx="473559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函数极值的综合应用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65463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处有极值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的条件下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恰有三个不同的交点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bx+c.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3248" y="4577406"/>
            <a:ext cx="11430000" cy="1614593"/>
            <a:chOff x="43248" y="4577406"/>
            <a:chExt cx="11430000" cy="161459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3241264"/>
                </p:ext>
              </p:extLst>
            </p:nvPr>
          </p:nvGraphicFramePr>
          <p:xfrm>
            <a:off x="43248" y="457740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1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8" y="457740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539513"/>
              <a:ext cx="464101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经验证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符合题意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7495" y="247140"/>
            <a:ext cx="11763505" cy="5734321"/>
            <a:chOff x="47495" y="247140"/>
            <a:chExt cx="11763505" cy="573432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47140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4505376"/>
                </p:ext>
              </p:extLst>
            </p:nvPr>
          </p:nvGraphicFramePr>
          <p:xfrm>
            <a:off x="3326869" y="780757"/>
            <a:ext cx="428185" cy="75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5" name="文档" r:id="rId3" imgW="233561" imgH="397544" progId="Word.Document.12">
                    <p:embed/>
                  </p:oleObj>
                </mc:Choice>
                <mc:Fallback>
                  <p:oleObj name="文档" r:id="rId3" imgW="233561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26869" y="780757"/>
                          <a:ext cx="428185" cy="7549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3956991"/>
                </p:ext>
              </p:extLst>
            </p:nvPr>
          </p:nvGraphicFramePr>
          <p:xfrm>
            <a:off x="381000" y="2003456"/>
            <a:ext cx="11430000" cy="3418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6" name="文档" r:id="rId5" imgW="4520786" imgH="1351937" progId="Word.Document.12">
                    <p:embed/>
                  </p:oleObj>
                </mc:Choice>
                <mc:Fallback>
                  <p:oleObj name="文档" r:id="rId5" imgW="4520786" imgH="13519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2003456"/>
                          <a:ext cx="11430000" cy="34181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246786"/>
                </p:ext>
              </p:extLst>
            </p:nvPr>
          </p:nvGraphicFramePr>
          <p:xfrm>
            <a:off x="47495" y="446302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7" name="文档" r:id="rId7" imgW="4520786" imgH="396823" progId="Word.Document.12">
                    <p:embed/>
                  </p:oleObj>
                </mc:Choice>
                <mc:Fallback>
                  <p:oleObj name="文档" r:id="rId7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495" y="446302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5328975"/>
              <a:ext cx="749435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函数取得极小值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且极小值为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1190" y="290245"/>
            <a:ext cx="11430000" cy="5770604"/>
            <a:chOff x="41190" y="346506"/>
            <a:chExt cx="11430000" cy="577060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46506"/>
              <a:ext cx="701666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的大致图象如图所示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pic>
          <p:nvPicPr>
            <p:cNvPr id="3" name="YMX2TRAX16.eps" descr="id:2147505667;FounderCES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92928" y="997404"/>
              <a:ext cx="4006145" cy="4095695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31372"/>
                </p:ext>
              </p:extLst>
            </p:nvPr>
          </p:nvGraphicFramePr>
          <p:xfrm>
            <a:off x="41190" y="511381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9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190" y="511381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9330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例中的条件恰有三个不同的交点变为恰有一个交点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886190"/>
            <a:ext cx="2016224" cy="367706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662067"/>
              </p:ext>
            </p:extLst>
          </p:nvPr>
        </p:nvGraphicFramePr>
        <p:xfrm>
          <a:off x="50800" y="2488764"/>
          <a:ext cx="11430000" cy="196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文档" r:id="rId4" imgW="4510061" imgH="776619" progId="Word.Document.12">
                  <p:embed/>
                </p:oleObj>
              </mc:Choice>
              <mc:Fallback>
                <p:oleObj name="文档" r:id="rId4" imgW="4510061" imgH="7766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00" y="2488764"/>
                        <a:ext cx="11430000" cy="1968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3605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方程根的问题可以转化为相应函数的图象问题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的根就是函数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轴交点的横坐标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的根就是函数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的图象的交点的横坐标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事实上利用导数可以判断函数的单调性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研究函数的极值情况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并能在此基础上画出函数的大致图象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从直观上判断函数的图象与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轴的交点或两个函数图象的交点的个数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从而为研究方程根的个数问题提供了方便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3020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为实数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并画出其大致图象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为何值时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恰有两个实数根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变化时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的变化情况如下表所示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520162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由表可知函数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的极小值为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的单调性、极值可画出函数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的大致图象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14070146"/>
              </p:ext>
            </p:extLst>
          </p:nvPr>
        </p:nvGraphicFramePr>
        <p:xfrm>
          <a:off x="537519" y="3548409"/>
          <a:ext cx="7362568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846438"/>
                <a:gridCol w="1647567"/>
                <a:gridCol w="875106"/>
                <a:gridCol w="1686862"/>
                <a:gridCol w="815546"/>
                <a:gridCol w="1491049"/>
              </a:tblGrid>
              <a:tr h="4639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9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9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单调递增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a+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YMX2TRAX17.eps" descr="id:2147505696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4171" y="2563461"/>
            <a:ext cx="3348119" cy="262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轴恰有两个交点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恰有两个实数根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轴恰有两个交点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恰有两个实数根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恰有两个实数根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0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190" y="665463"/>
            <a:ext cx="11769810" cy="5356109"/>
            <a:chOff x="41190" y="665463"/>
            <a:chExt cx="11769810" cy="535610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665463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对函数取极值的充要条件把握不准致错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【典例】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+bx+a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处取得极值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错解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ax+b.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933869"/>
                </p:ext>
              </p:extLst>
            </p:nvPr>
          </p:nvGraphicFramePr>
          <p:xfrm>
            <a:off x="41190" y="2369745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2369745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09052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应注意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是可导函数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处有极值的必要不充分条件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尽管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但由于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处不存在极值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190" y="52688"/>
            <a:ext cx="11769810" cy="7478063"/>
            <a:chOff x="41190" y="52688"/>
            <a:chExt cx="11769810" cy="747806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2688"/>
              <a:ext cx="3921266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正解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ax+b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2087585"/>
                </p:ext>
              </p:extLst>
            </p:nvPr>
          </p:nvGraphicFramePr>
          <p:xfrm>
            <a:off x="41190" y="647508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0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647508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460133"/>
              <a:ext cx="646683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表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5100949"/>
                </p:ext>
              </p:extLst>
            </p:nvPr>
          </p:nvGraphicFramePr>
          <p:xfrm>
            <a:off x="381000" y="4112619"/>
            <a:ext cx="11430000" cy="3418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1" name="文档" r:id="rId5" imgW="4520786" imgH="1351937" progId="Word.Document.12">
                    <p:embed/>
                  </p:oleObj>
                </mc:Choice>
                <mc:Fallback>
                  <p:oleObj name="文档" r:id="rId5" imgW="4520786" imgH="13519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4112619"/>
                          <a:ext cx="11430000" cy="34181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8941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显然函数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处取极小值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与题意相符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与题意不符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根据函数的极值条件求参数的值的问题中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应按照函数在这一点处取得极值所对应的条件进行检验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检验每一组解对应的函数在该点处是否取得极值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从而进行取舍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807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+bx+b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处取得极值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+bx+b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190" y="2066923"/>
            <a:ext cx="11769810" cy="3641522"/>
            <a:chOff x="41190" y="1744805"/>
            <a:chExt cx="11769810" cy="3641522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194634"/>
                </p:ext>
              </p:extLst>
            </p:nvPr>
          </p:nvGraphicFramePr>
          <p:xfrm>
            <a:off x="41190" y="1744805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" name="文档" r:id="rId3" imgW="4510061" imgH="993227" progId="Word.Document.12">
                    <p:embed/>
                  </p:oleObj>
                </mc:Choice>
                <mc:Fallback>
                  <p:oleObj name="文档" r:id="rId3" imgW="4510061" imgH="99322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0" y="1744805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23396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上为增函数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无极值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应舍去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236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326392"/>
              </p:ext>
            </p:extLst>
          </p:nvPr>
        </p:nvGraphicFramePr>
        <p:xfrm>
          <a:off x="51485" y="634833"/>
          <a:ext cx="11430000" cy="3610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文档" r:id="rId3" imgW="4510061" imgH="1430377" progId="Word.Document.12">
                  <p:embed/>
                </p:oleObj>
              </mc:Choice>
              <mc:Fallback>
                <p:oleObj name="文档" r:id="rId3" imgW="4510061" imgH="14303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5" y="634833"/>
                        <a:ext cx="11430000" cy="3610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756615"/>
              </p:ext>
            </p:extLst>
          </p:nvPr>
        </p:nvGraphicFramePr>
        <p:xfrm>
          <a:off x="51485" y="403951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5" y="403951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59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835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的定义域为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其导函数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有四个极小值点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有三个极大值点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两个极小值点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有两个极大值点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两个极小值点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有四个极大值点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无极小值点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由导数与函数极值的关系知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而且在点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的左侧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轴的交点从左到右横坐标依次为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YMX2TRAX18.eps" descr="id:2147505732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6046" y="1288305"/>
            <a:ext cx="3458580" cy="1935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45885"/>
            <a:ext cx="11430000" cy="53070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的极小值为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的极大值为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取得极小值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+m=-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所以函数的极大值为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66813"/>
              </p:ext>
            </p:extLst>
          </p:nvPr>
        </p:nvGraphicFramePr>
        <p:xfrm>
          <a:off x="634412" y="1370294"/>
          <a:ext cx="527178" cy="75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4412" y="1370294"/>
                        <a:ext cx="527178" cy="753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616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的两个极值点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则常数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224497"/>
              </p:ext>
            </p:extLst>
          </p:nvPr>
        </p:nvGraphicFramePr>
        <p:xfrm>
          <a:off x="468815" y="1357709"/>
          <a:ext cx="11275153" cy="239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" name="文档" r:id="rId3" imgW="4510061" imgH="957746" progId="Word.Document.12">
                  <p:embed/>
                </p:oleObj>
              </mc:Choice>
              <mc:Fallback>
                <p:oleObj name="文档" r:id="rId3" imgW="4510061" imgH="9577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815" y="1357709"/>
                        <a:ext cx="11275153" cy="2394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656756"/>
              </p:ext>
            </p:extLst>
          </p:nvPr>
        </p:nvGraphicFramePr>
        <p:xfrm>
          <a:off x="479854" y="3641180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9854" y="3641180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67616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个不等的实根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的单调性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处取得极大值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处取得极小值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个交点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995576"/>
              </p:ext>
            </p:extLst>
          </p:nvPr>
        </p:nvGraphicFramePr>
        <p:xfrm>
          <a:off x="484103" y="290733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290733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85920"/>
            <a:ext cx="190148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165155"/>
              </p:ext>
            </p:extLst>
          </p:nvPr>
        </p:nvGraphicFramePr>
        <p:xfrm>
          <a:off x="484103" y="24197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103" y="24197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81000" y="1098796"/>
            <a:ext cx="11533103" cy="4626168"/>
            <a:chOff x="381000" y="1167975"/>
            <a:chExt cx="11533103" cy="462616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167975"/>
              <a:ext cx="4094391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2421661"/>
                </p:ext>
              </p:extLst>
            </p:nvPr>
          </p:nvGraphicFramePr>
          <p:xfrm>
            <a:off x="484103" y="176924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05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103" y="176924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66081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变化时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的变化情况如下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</a:t>
              </a:r>
              <a:r>
                <a:rPr lang="en-US" altLang="zh-CN" sz="280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2012696"/>
                </p:ext>
              </p:extLst>
            </p:nvPr>
          </p:nvGraphicFramePr>
          <p:xfrm>
            <a:off x="484103" y="3788463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06" name="文档" r:id="rId7" imgW="4520786" imgH="793285" progId="Word.Document.12">
                    <p:embed/>
                  </p:oleObj>
                </mc:Choice>
                <mc:Fallback>
                  <p:oleObj name="文档" r:id="rId7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4103" y="3788463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表格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75004902"/>
              </p:ext>
            </p:extLst>
          </p:nvPr>
        </p:nvGraphicFramePr>
        <p:xfrm>
          <a:off x="6374025" y="1640913"/>
          <a:ext cx="5329881" cy="2048256"/>
        </p:xfrm>
        <a:graphic>
          <a:graphicData uri="http://schemas.openxmlformats.org/drawingml/2006/table">
            <a:tbl>
              <a:tblPr firstRow="1" firstCol="1" bandRow="1"/>
              <a:tblGrid>
                <a:gridCol w="694038"/>
                <a:gridCol w="1021492"/>
                <a:gridCol w="757881"/>
                <a:gridCol w="947351"/>
                <a:gridCol w="815546"/>
                <a:gridCol w="1093573"/>
              </a:tblGrid>
              <a:tr h="3765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-∞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1)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1,1)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(1,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+∞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98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f'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9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单调递减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极小值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递增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极大值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单调</a:t>
                      </a:r>
                      <a:endParaRPr lang="en-US" altLang="zh-CN" sz="28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递减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198</TotalTime>
  <Words>3095</Words>
  <Application>Microsoft Office PowerPoint</Application>
  <PresentationFormat>宽屏</PresentationFormat>
  <Paragraphs>298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7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48</cp:revision>
  <dcterms:created xsi:type="dcterms:W3CDTF">2021-08-30T08:30:26Z</dcterms:created>
  <dcterms:modified xsi:type="dcterms:W3CDTF">2024-07-17T08:56:41Z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