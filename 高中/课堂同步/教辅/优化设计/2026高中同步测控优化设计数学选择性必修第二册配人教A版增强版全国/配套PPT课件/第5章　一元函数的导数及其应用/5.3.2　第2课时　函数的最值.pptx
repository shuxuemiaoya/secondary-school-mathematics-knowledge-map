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407" r:id="rId12"/>
    <p:sldId id="394" r:id="rId13"/>
    <p:sldId id="699" r:id="rId14"/>
    <p:sldId id="700" r:id="rId15"/>
    <p:sldId id="402" r:id="rId16"/>
    <p:sldId id="712" r:id="rId17"/>
    <p:sldId id="713" r:id="rId18"/>
    <p:sldId id="714" r:id="rId19"/>
    <p:sldId id="715" r:id="rId20"/>
    <p:sldId id="719" r:id="rId21"/>
    <p:sldId id="498" r:id="rId22"/>
    <p:sldId id="730" r:id="rId23"/>
    <p:sldId id="733" r:id="rId24"/>
    <p:sldId id="743" r:id="rId25"/>
    <p:sldId id="744" r:id="rId26"/>
    <p:sldId id="741" r:id="rId27"/>
    <p:sldId id="738" r:id="rId28"/>
    <p:sldId id="751" r:id="rId29"/>
    <p:sldId id="752" r:id="rId30"/>
    <p:sldId id="753" r:id="rId31"/>
    <p:sldId id="754" r:id="rId32"/>
    <p:sldId id="755" r:id="rId33"/>
    <p:sldId id="398" r:id="rId34"/>
    <p:sldId id="395" r:id="rId35"/>
    <p:sldId id="756" r:id="rId36"/>
    <p:sldId id="757" r:id="rId37"/>
    <p:sldId id="758" r:id="rId38"/>
    <p:sldId id="759" r:id="rId39"/>
    <p:sldId id="49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102"/>
      </p:cViewPr>
      <p:guideLst>
        <p:guide orient="horz" pos="391"/>
        <p:guide pos="211"/>
        <p:guide orient="horz" pos="414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2024-07-17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057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720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384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047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3.docx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package" Target="../embeddings/Microsoft_Word___11.docx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5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package" Target="../embeddings/Microsoft_Word___17.docx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8.docx"/><Relationship Id="rId4" Type="http://schemas.openxmlformats.org/officeDocument/2006/relationships/image" Target="../media/image2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5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函数的最值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5.3.2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理解函数的最值的概念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了解函数的最值与极值的区别与联系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会用导数求在给定区间上函数的最值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通过利用导数研究函数的最值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进一步提升直观想象、逻辑推理与数学运算素养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937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上的最值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你能找出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上的最大值与最小值吗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上的最小值是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的图象是一条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连续不断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的曲线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那么它必有最大值和最小值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X2TRAX24.eps" descr="id:2147505828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20039" y="1923148"/>
            <a:ext cx="4751922" cy="21850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743625" y="4744560"/>
            <a:ext cx="13979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755265" y="5171129"/>
            <a:ext cx="13920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56180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在闭区间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上最值的步骤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试找出它的极大值、极小值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X2TRAX25.eps" descr="id:2147505835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3302" y="1641733"/>
            <a:ext cx="5865397" cy="247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结合图象判断函数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上是否存在最大值、最小值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上的最小值是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上的最大值或最小值一定是某极值吗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也可能是区间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端点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怎样确定函数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上的最小值和最大值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比较极值与区间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端点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最大的是最大值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最小的是最小值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上的最大值与最小值的步骤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的各极值与端点处的函数值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其中最大的一个是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最小的一个是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内只有一个极值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且为极小值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那么函数在开区间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内有最值吗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的极小值点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84789" y="1223097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596429" y="1660057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194602" y="2334925"/>
            <a:ext cx="105505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206264" y="2771885"/>
            <a:ext cx="10506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468635" y="2334925"/>
            <a:ext cx="105505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480297" y="2771885"/>
            <a:ext cx="10506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上的最大值、最小值分别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	B.1,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	D.5,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闭区间上的函数一定有最值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函数的极值只能在区间内取得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而函数的最值可以在区间端点处取得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函数的最大值一定是极大值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函数的最小值也一定是极小值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824130" y="2403177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1201362" y="3517245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10540227" y="4069686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求函数在闭区间上的最值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089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上的最大值与最小值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09083144"/>
              </p:ext>
            </p:extLst>
          </p:nvPr>
        </p:nvGraphicFramePr>
        <p:xfrm>
          <a:off x="381000" y="3536463"/>
          <a:ext cx="11430000" cy="2048256"/>
        </p:xfrm>
        <a:graphic>
          <a:graphicData uri="http://schemas.openxmlformats.org/drawingml/2006/table">
            <a:tbl>
              <a:tblPr firstRow="1" firstCol="1" bandRow="1"/>
              <a:tblGrid>
                <a:gridCol w="969818"/>
                <a:gridCol w="862446"/>
                <a:gridCol w="1194954"/>
                <a:gridCol w="1059873"/>
                <a:gridCol w="1605049"/>
                <a:gridCol w="1158933"/>
                <a:gridCol w="1437963"/>
                <a:gridCol w="1315628"/>
                <a:gridCol w="1281268"/>
                <a:gridCol w="544068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1,0)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(1,2)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值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值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值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677077"/>
            <a:ext cx="889698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上的最大值是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5645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把本例中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3,2]”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[0,2]”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求相应问题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61482"/>
            <a:ext cx="2016224" cy="367706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37019120"/>
              </p:ext>
            </p:extLst>
          </p:nvPr>
        </p:nvGraphicFramePr>
        <p:xfrm>
          <a:off x="381000" y="2173584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1676400"/>
                <a:gridCol w="1205345"/>
                <a:gridCol w="2691246"/>
                <a:gridCol w="2101111"/>
                <a:gridCol w="2873502"/>
                <a:gridCol w="882396"/>
              </a:tblGrid>
              <a:tr h="20116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(1,2)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768140"/>
            <a:ext cx="9972602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上的最大值是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函数在固定区间上的最值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需注意以下几点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对函数进行准确求导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并检验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的根是否在给定区间内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研究函数的单调性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正确确定函数的极值和端点处函数值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比较函数的极值与端点处函数值大小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54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上的最大值与最小值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且为常数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8881" y="1762395"/>
            <a:ext cx="11752119" cy="3128519"/>
            <a:chOff x="58881" y="2281945"/>
            <a:chExt cx="11752119" cy="3128519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895556"/>
                </p:ext>
              </p:extLst>
            </p:nvPr>
          </p:nvGraphicFramePr>
          <p:xfrm>
            <a:off x="58881" y="2281945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1" y="2281945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137791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上单调递减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有最小值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有最大值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求含参数的函数的最值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7060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的单调递减区间是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单调递增区间是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688831547"/>
              </p:ext>
            </p:extLst>
          </p:nvPr>
        </p:nvGraphicFramePr>
        <p:xfrm>
          <a:off x="5711537" y="3273916"/>
          <a:ext cx="5714999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907472"/>
                <a:gridCol w="1735282"/>
                <a:gridCol w="1194954"/>
                <a:gridCol w="1877291"/>
              </a:tblGrid>
              <a:tr h="4842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2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2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800" i="1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k-</a:t>
                      </a:r>
                      <a:r>
                        <a:rPr lang="en-US" sz="28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520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21860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含参数的导函数进行讨论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其实质是讨论导函数大于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、小于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三种情况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若导函数恒不等于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则函数在已知区间上是单调函数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最值在端点处取得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若导函数可能等于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则求出极值点后求极值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再与端点处函数值比较后确定最值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338111"/>
              </p:ext>
            </p:extLst>
          </p:nvPr>
        </p:nvGraphicFramePr>
        <p:xfrm>
          <a:off x="401782" y="501652"/>
          <a:ext cx="11430000" cy="160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文档" r:id="rId3" imgW="4510061" imgH="634642" progId="Word.Document.12">
                  <p:embed/>
                </p:oleObj>
              </mc:Choice>
              <mc:Fallback>
                <p:oleObj name="文档" r:id="rId3" imgW="4510061" imgH="6346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1782" y="501652"/>
                        <a:ext cx="11430000" cy="1608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184760"/>
              </p:ext>
            </p:extLst>
          </p:nvPr>
        </p:nvGraphicFramePr>
        <p:xfrm>
          <a:off x="58881" y="2089265"/>
          <a:ext cx="11430000" cy="301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文档" r:id="rId5" imgW="4510061" imgH="1189999" progId="Word.Document.12">
                  <p:embed/>
                </p:oleObj>
              </mc:Choice>
              <mc:Fallback>
                <p:oleObj name="文档" r:id="rId5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81" y="2089265"/>
                        <a:ext cx="11430000" cy="3015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940142"/>
              </p:ext>
            </p:extLst>
          </p:nvPr>
        </p:nvGraphicFramePr>
        <p:xfrm>
          <a:off x="51955" y="155682"/>
          <a:ext cx="11430000" cy="6031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3" imgW="4510061" imgH="2379997" progId="Word.Document.12">
                  <p:embed/>
                </p:oleObj>
              </mc:Choice>
              <mc:Fallback>
                <p:oleObj name="文档" r:id="rId3" imgW="4510061" imgH="2379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55682"/>
                        <a:ext cx="11430000" cy="6031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413601"/>
              </p:ext>
            </p:extLst>
          </p:nvPr>
        </p:nvGraphicFramePr>
        <p:xfrm>
          <a:off x="51955" y="807457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807457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由函数的最值求参数的值或取值范围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089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问是否存在实数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上取得最大值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516530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31734338"/>
              </p:ext>
            </p:extLst>
          </p:nvPr>
        </p:nvGraphicFramePr>
        <p:xfrm>
          <a:off x="381000" y="3525659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633472"/>
                <a:gridCol w="3088386"/>
                <a:gridCol w="2114550"/>
                <a:gridCol w="3593592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1,0)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(0,2]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99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474742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19980165"/>
              </p:ext>
            </p:extLst>
          </p:nvPr>
        </p:nvGraphicFramePr>
        <p:xfrm>
          <a:off x="381000" y="3068457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633472"/>
                <a:gridCol w="3088386"/>
                <a:gridCol w="2114550"/>
                <a:gridCol w="3593592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1,0)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(0,2]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2442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综上所述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函数的最值求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已知函数在某区间上的最值求参数的值是求函数最值的逆向思维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一般先求导数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利用导数研究函数的单调性及极值点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探索最值点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根据已知最值列方程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的单调递减区间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求它在该区间上的最小值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729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最大值和最小值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142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求最值时忽视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端点值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而致错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209626"/>
              </p:ext>
            </p:extLst>
          </p:nvPr>
        </p:nvGraphicFramePr>
        <p:xfrm>
          <a:off x="618278" y="1769339"/>
          <a:ext cx="1216566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文档" r:id="rId3" imgW="651103" imgH="397868" progId="Word.Document.12">
                  <p:embed/>
                </p:oleObj>
              </mc:Choice>
              <mc:Fallback>
                <p:oleObj name="文档" r:id="rId3" imgW="651103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8278" y="1769339"/>
                        <a:ext cx="1216566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492259"/>
              </p:ext>
            </p:extLst>
          </p:nvPr>
        </p:nvGraphicFramePr>
        <p:xfrm>
          <a:off x="51955" y="3497917"/>
          <a:ext cx="11430000" cy="301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文档" r:id="rId5" imgW="4510061" imgH="1189999" progId="Word.Document.12">
                  <p:embed/>
                </p:oleObj>
              </mc:Choice>
              <mc:Fallback>
                <p:oleObj name="文档" r:id="rId5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3497917"/>
                        <a:ext cx="11430000" cy="3015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851676"/>
              </p:ext>
            </p:extLst>
          </p:nvPr>
        </p:nvGraphicFramePr>
        <p:xfrm>
          <a:off x="44450" y="440169"/>
          <a:ext cx="11401425" cy="498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文档" r:id="rId3" imgW="4510061" imgH="1985013" progId="Word.Document.12">
                  <p:embed/>
                </p:oleObj>
              </mc:Choice>
              <mc:Fallback>
                <p:oleObj name="文档" r:id="rId3" imgW="4510061" imgH="19850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440169"/>
                        <a:ext cx="11401425" cy="4989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347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59134"/>
              </p:ext>
            </p:extLst>
          </p:nvPr>
        </p:nvGraphicFramePr>
        <p:xfrm>
          <a:off x="41564" y="1203622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203622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1564" y="2096956"/>
            <a:ext cx="11769436" cy="4147440"/>
            <a:chOff x="41564" y="2169693"/>
            <a:chExt cx="11769436" cy="414744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16969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+x+a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0221493"/>
                </p:ext>
              </p:extLst>
            </p:nvPr>
          </p:nvGraphicFramePr>
          <p:xfrm>
            <a:off x="41564" y="3301278"/>
            <a:ext cx="11430000" cy="3015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9" name="文档" r:id="rId5" imgW="4510061" imgH="1189999" progId="Word.Document.12">
                    <p:embed/>
                  </p:oleObj>
                </mc:Choice>
                <mc:Fallback>
                  <p:oleObj name="文档" r:id="rId5" imgW="4510061" imgH="1189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4" y="3301278"/>
                          <a:ext cx="11430000" cy="3015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613902"/>
              </p:ext>
            </p:extLst>
          </p:nvPr>
        </p:nvGraphicFramePr>
        <p:xfrm>
          <a:off x="381000" y="500786"/>
          <a:ext cx="11430000" cy="4177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文档" r:id="rId3" imgW="4567145" imgH="1669314" progId="Word.Document.12">
                  <p:embed/>
                </p:oleObj>
              </mc:Choice>
              <mc:Fallback>
                <p:oleObj name="文档" r:id="rId3" imgW="4567145" imgH="16693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500786"/>
                        <a:ext cx="11430000" cy="41777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792361"/>
              </p:ext>
            </p:extLst>
          </p:nvPr>
        </p:nvGraphicFramePr>
        <p:xfrm>
          <a:off x="51955" y="3728615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55" y="3728615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26068"/>
              </p:ext>
            </p:extLst>
          </p:nvPr>
        </p:nvGraphicFramePr>
        <p:xfrm>
          <a:off x="51955" y="4611844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55" y="4611844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24629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函数的最值时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若函数的定义域是闭区间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则需比较极值与端点处的函数值的大小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如本例中需比较极值与端点处函数值的大小才能确定出最值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若函数的定义域是开区间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且只有一个极值点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则该极值点就是最值点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9273" y="788985"/>
            <a:ext cx="11741727" cy="3255985"/>
            <a:chOff x="69273" y="1287752"/>
            <a:chExt cx="11741727" cy="3255985"/>
          </a:xfrm>
        </p:grpSpPr>
        <p:grpSp>
          <p:nvGrpSpPr>
            <p:cNvPr id="6" name="组合 5"/>
            <p:cNvGrpSpPr/>
            <p:nvPr/>
          </p:nvGrpSpPr>
          <p:grpSpPr>
            <a:xfrm>
              <a:off x="381000" y="1287752"/>
              <a:ext cx="11430000" cy="1302952"/>
              <a:chOff x="381000" y="1287752"/>
              <a:chExt cx="11430000" cy="1302952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438337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y=x+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2cos 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区间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取得最大值时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的值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endPara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9400" algn="r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126916"/>
                  </p:ext>
                </p:extLst>
              </p:nvPr>
            </p:nvGraphicFramePr>
            <p:xfrm>
              <a:off x="6280656" y="1287752"/>
              <a:ext cx="1311852" cy="9120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84" name="文档" r:id="rId3" imgW="580983" imgH="397868" progId="Word.Document.12">
                      <p:embed/>
                    </p:oleObj>
                  </mc:Choice>
                  <mc:Fallback>
                    <p:oleObj name="文档" r:id="rId3" imgW="580983" imgH="397868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280656" y="1287752"/>
                            <a:ext cx="1311852" cy="91209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552800"/>
                </p:ext>
              </p:extLst>
            </p:nvPr>
          </p:nvGraphicFramePr>
          <p:xfrm>
            <a:off x="69273" y="2533473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9273" y="2533473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3945349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59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750643"/>
              </p:ext>
            </p:extLst>
          </p:nvPr>
        </p:nvGraphicFramePr>
        <p:xfrm>
          <a:off x="55563" y="97127"/>
          <a:ext cx="11401425" cy="634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文档" r:id="rId3" imgW="4510061" imgH="2521990" progId="Word.Document.12">
                  <p:embed/>
                </p:oleObj>
              </mc:Choice>
              <mc:Fallback>
                <p:oleObj name="文档" r:id="rId3" imgW="4510061" imgH="2521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63" y="97127"/>
                        <a:ext cx="11401425" cy="634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52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2266088"/>
            <a:ext cx="11544299" cy="1481427"/>
            <a:chOff x="381000" y="2557036"/>
            <a:chExt cx="11544299" cy="148142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557036"/>
              <a:ext cx="486222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函数的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定义域为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82223"/>
                </p:ext>
              </p:extLst>
            </p:nvPr>
          </p:nvGraphicFramePr>
          <p:xfrm>
            <a:off x="495299" y="3032875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5299" y="3032875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36240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(0,e)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函数在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0,e)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函数在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函数取得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极大值也是最大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738049"/>
              </p:ext>
            </p:extLst>
          </p:nvPr>
        </p:nvGraphicFramePr>
        <p:xfrm>
          <a:off x="6795693" y="4629667"/>
          <a:ext cx="482810" cy="82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文档" r:id="rId5" imgW="237509" imgH="397868" progId="Word.Document.12">
                  <p:embed/>
                </p:oleObj>
              </mc:Choice>
              <mc:Fallback>
                <p:oleObj name="文档" r:id="rId5" imgW="237509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95693" y="4629667"/>
                        <a:ext cx="482810" cy="829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84564"/>
              </p:ext>
            </p:extLst>
          </p:nvPr>
        </p:nvGraphicFramePr>
        <p:xfrm>
          <a:off x="479206" y="233708"/>
          <a:ext cx="11275153" cy="2052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文档" r:id="rId7" imgW="4510061" imgH="821182" progId="Word.Document.12">
                  <p:embed/>
                </p:oleObj>
              </mc:Choice>
              <mc:Fallback>
                <p:oleObj name="文档" r:id="rId7" imgW="4510061" imgH="8211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206" y="233708"/>
                        <a:ext cx="11275153" cy="2052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537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-x+a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[0,2]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	B.1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C.2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578401"/>
              </p:ext>
            </p:extLst>
          </p:nvPr>
        </p:nvGraphicFramePr>
        <p:xfrm>
          <a:off x="1576895" y="2823246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6895" y="2823246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8020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+mx+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上的最大值就是函数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730591"/>
              </p:ext>
            </p:extLst>
          </p:nvPr>
        </p:nvGraphicFramePr>
        <p:xfrm>
          <a:off x="495300" y="2022176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" y="2022176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926047"/>
            <a:ext cx="202170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533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处取得极值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1,1],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处取得极值知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经验证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2980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3572" y="1653896"/>
            <a:ext cx="11627428" cy="3799045"/>
            <a:chOff x="183572" y="1726633"/>
            <a:chExt cx="11627428" cy="379904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5332240"/>
                </p:ext>
              </p:extLst>
            </p:nvPr>
          </p:nvGraphicFramePr>
          <p:xfrm>
            <a:off x="183572" y="1726633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1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572" y="1726633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632578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-a&gt;-a.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处取得极小值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也是最小值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221</TotalTime>
  <Words>2653</Words>
  <Application>Microsoft Office PowerPoint</Application>
  <PresentationFormat>宽屏</PresentationFormat>
  <Paragraphs>280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51</cp:revision>
  <dcterms:created xsi:type="dcterms:W3CDTF">2021-08-30T08:30:26Z</dcterms:created>
  <dcterms:modified xsi:type="dcterms:W3CDTF">2024-07-17T08:59:58Z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