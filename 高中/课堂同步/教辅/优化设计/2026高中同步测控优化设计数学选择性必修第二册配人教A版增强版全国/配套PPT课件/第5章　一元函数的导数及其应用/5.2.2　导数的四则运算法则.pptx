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407" r:id="rId10"/>
    <p:sldId id="394" r:id="rId11"/>
    <p:sldId id="699" r:id="rId12"/>
    <p:sldId id="700" r:id="rId13"/>
    <p:sldId id="701" r:id="rId14"/>
    <p:sldId id="702" r:id="rId15"/>
    <p:sldId id="402" r:id="rId16"/>
    <p:sldId id="760" r:id="rId17"/>
    <p:sldId id="759" r:id="rId18"/>
    <p:sldId id="712" r:id="rId19"/>
    <p:sldId id="714" r:id="rId20"/>
    <p:sldId id="498" r:id="rId21"/>
    <p:sldId id="730" r:id="rId22"/>
    <p:sldId id="733" r:id="rId23"/>
    <p:sldId id="741" r:id="rId24"/>
    <p:sldId id="751" r:id="rId25"/>
    <p:sldId id="398" r:id="rId26"/>
    <p:sldId id="395" r:id="rId27"/>
    <p:sldId id="756" r:id="rId28"/>
    <p:sldId id="757" r:id="rId29"/>
    <p:sldId id="758" r:id="rId30"/>
    <p:sldId id="490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.emf"/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slide" Target="../slides/slide10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3.xml"/><Relationship Id="rId4" Type="http://schemas.openxmlformats.org/officeDocument/2006/relationships/slide" Target="../slides/slide20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__2.docx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__5.docx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7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5.docx"/><Relationship Id="rId4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package" Target="../embeddings/Microsoft_Word___19.docx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emf"/><Relationship Id="rId5" Type="http://schemas.openxmlformats.org/officeDocument/2006/relationships/package" Target="../embeddings/Microsoft_Word___20.docx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__24.docx"/><Relationship Id="rId4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5.2.2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导数的四则运算法则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第五章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5.2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11603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能利用导数的运算法则求函数的导数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通过导数的四则运算法则的应用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提升数学运算素养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31987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导数的运算法则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如何求函数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=x-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跟问题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的结果有什么关系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584625"/>
              </p:ext>
            </p:extLst>
          </p:nvPr>
        </p:nvGraphicFramePr>
        <p:xfrm>
          <a:off x="3399374" y="2220077"/>
          <a:ext cx="516922" cy="830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文档" r:id="rId3" imgW="255153" imgH="397544" progId="Word.Document.12">
                  <p:embed/>
                </p:oleObj>
              </mc:Choice>
              <mc:Fallback>
                <p:oleObj name="文档" r:id="rId3" imgW="255153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9374" y="2220077"/>
                        <a:ext cx="516922" cy="830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127732"/>
              </p:ext>
            </p:extLst>
          </p:nvPr>
        </p:nvGraphicFramePr>
        <p:xfrm>
          <a:off x="41190" y="389751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90" y="389751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647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对于两个函数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我们有如下法则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对于两个函数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的乘积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我们有如下法则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+f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494429"/>
              </p:ext>
            </p:extLst>
          </p:nvPr>
        </p:nvGraphicFramePr>
        <p:xfrm>
          <a:off x="51486" y="290713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6" y="290713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828056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由函数的乘积的导数法则可以得出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常数与函数的积的导数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等于常数与函数的导数的积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 </a:t>
            </a:r>
            <a:r>
              <a:rPr lang="en-US" altLang="zh-CN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37680" y="1270263"/>
            <a:ext cx="169923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749320" y="1696832"/>
            <a:ext cx="16920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384390" y="2397032"/>
            <a:ext cx="266559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2396030" y="2813210"/>
            <a:ext cx="26543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844061" y="2996419"/>
            <a:ext cx="3382565" cy="76440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855702" y="3756345"/>
            <a:ext cx="33683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639216" y="4474033"/>
            <a:ext cx="82640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4650856" y="4910993"/>
            <a:ext cx="8229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3249" y="123622"/>
            <a:ext cx="11430000" cy="2584024"/>
            <a:chOff x="43249" y="123622"/>
            <a:chExt cx="11430000" cy="258402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3622"/>
              <a:ext cx="4757713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下列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运算正确的是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1962052"/>
                </p:ext>
              </p:extLst>
            </p:nvPr>
          </p:nvGraphicFramePr>
          <p:xfrm>
            <a:off x="43249" y="701966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9" y="701966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415193"/>
              </p:ext>
            </p:extLst>
          </p:nvPr>
        </p:nvGraphicFramePr>
        <p:xfrm>
          <a:off x="42863" y="2591233"/>
          <a:ext cx="11430000" cy="260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文档" r:id="rId5" imgW="4520786" imgH="1031523" progId="Word.Document.12">
                  <p:embed/>
                </p:oleObj>
              </mc:Choice>
              <mc:Fallback>
                <p:oleObj name="文档" r:id="rId5" imgW="4520786" imgH="10315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63" y="2591233"/>
                        <a:ext cx="11430000" cy="260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08532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D,(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故错误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和的导数等于导数的和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差的导数等于导数的差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积的导数等于导数的积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商的导数等于导数的商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 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346879"/>
              </p:ext>
            </p:extLst>
          </p:nvPr>
        </p:nvGraphicFramePr>
        <p:xfrm>
          <a:off x="7007547" y="3388505"/>
          <a:ext cx="516922" cy="830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文档" r:id="rId3" imgW="255153" imgH="397544" progId="Word.Document.12">
                  <p:embed/>
                </p:oleObj>
              </mc:Choice>
              <mc:Fallback>
                <p:oleObj name="文档" r:id="rId3" imgW="255153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07547" y="3388505"/>
                        <a:ext cx="516922" cy="830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8754148" y="2372500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8765909" y="2970762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7790321" y="3507869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导数的四则运算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49430" y="1062458"/>
            <a:ext cx="11761570" cy="3640921"/>
            <a:chOff x="49430" y="1530049"/>
            <a:chExt cx="11761570" cy="364092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530049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求下列函数的导数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lg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64015"/>
                </p:ext>
              </p:extLst>
            </p:nvPr>
          </p:nvGraphicFramePr>
          <p:xfrm>
            <a:off x="49430" y="3165290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30" y="3165290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486" y="124593"/>
            <a:ext cx="11759514" cy="6088202"/>
            <a:chOff x="51486" y="124593"/>
            <a:chExt cx="11759514" cy="608820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59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f'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6567983"/>
                </p:ext>
              </p:extLst>
            </p:nvPr>
          </p:nvGraphicFramePr>
          <p:xfrm>
            <a:off x="51486" y="1198138"/>
            <a:ext cx="11430000" cy="5014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" name="文档" r:id="rId3" imgW="4520786" imgH="1983394" progId="Word.Document.12">
                    <p:embed/>
                  </p:oleObj>
                </mc:Choice>
                <mc:Fallback>
                  <p:oleObj name="文档" r:id="rId3" imgW="4520786" imgH="19833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486" y="1198138"/>
                          <a:ext cx="11430000" cy="50146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25961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求导一般遵循先化简再求导的基本原则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在化简时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要注意化简的等价性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避免不必要的运算失误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求下列函数的导数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701237"/>
              </p:ext>
            </p:extLst>
          </p:nvPr>
        </p:nvGraphicFramePr>
        <p:xfrm>
          <a:off x="51486" y="1674590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6" y="1674590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55978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67096"/>
              </p:ext>
            </p:extLst>
          </p:nvPr>
        </p:nvGraphicFramePr>
        <p:xfrm>
          <a:off x="41190" y="312363"/>
          <a:ext cx="11430000" cy="501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文档" r:id="rId3" imgW="4520786" imgH="1983394" progId="Word.Document.12">
                  <p:embed/>
                </p:oleObj>
              </mc:Choice>
              <mc:Fallback>
                <p:oleObj name="文档" r:id="rId3" imgW="4520786" imgH="19833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90" y="312363"/>
                        <a:ext cx="11430000" cy="5014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导数的运算及其几何意义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81000" y="895845"/>
                <a:ext cx="11430000" cy="458785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【例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若直线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y=kx+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与曲线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+ax+b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相切于点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(1,3),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a+b=</a:t>
                </a:r>
                <a:r>
                  <a:rPr lang="zh-CN" altLang="zh-CN" sz="2800" i="1" u="sng" dirty="0">
                    <a:solidFill>
                      <a:srgbClr val="FF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　　　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 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函数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+ax+b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的导数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y'=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+a.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由题意得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zh-CN" altLang="zh-CN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altLang="zh-CN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=3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3×</m:t>
                              </m:r>
                              <m:sSup>
                                <m:sSupPr>
                                  <m:ctrlPr>
                                    <a:rPr lang="zh-CN" altLang="zh-CN" sz="2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altLang="zh-CN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+1=3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解得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=2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=3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a+b=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95845"/>
                <a:ext cx="11430000" cy="4587859"/>
              </a:xfrm>
              <a:prstGeom prst="rect">
                <a:avLst/>
              </a:prstGeom>
              <a:blipFill rotWithShape="0">
                <a:blip r:embed="rId2"/>
                <a:stretch>
                  <a:fillRect l="-1120" t="-398" b="-2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1618"/>
            <a:ext cx="795121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且与曲线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相切的直线方程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058120"/>
              </p:ext>
            </p:extLst>
          </p:nvPr>
        </p:nvGraphicFramePr>
        <p:xfrm>
          <a:off x="79663" y="921249"/>
          <a:ext cx="11430000" cy="5006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文档" r:id="rId3" imgW="4510061" imgH="1975508" progId="Word.Document.12">
                  <p:embed/>
                </p:oleObj>
              </mc:Choice>
              <mc:Fallback>
                <p:oleObj name="文档" r:id="rId3" imgW="4510061" imgH="19755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663" y="921249"/>
                        <a:ext cx="11430000" cy="50065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445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035104"/>
              </p:ext>
            </p:extLst>
          </p:nvPr>
        </p:nvGraphicFramePr>
        <p:xfrm>
          <a:off x="48490" y="1531388"/>
          <a:ext cx="11430000" cy="2552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文档" r:id="rId3" imgW="4510061" imgH="1007340" progId="Word.Document.12">
                  <p:embed/>
                </p:oleObj>
              </mc:Choice>
              <mc:Fallback>
                <p:oleObj name="文档" r:id="rId3" imgW="4510061" imgH="1007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90" y="1531388"/>
                        <a:ext cx="11430000" cy="2552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60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44923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若将本例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改为求曲线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结果会怎样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y'|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即切线的斜率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求曲线的切线方程问题一定要注意已知点是不是切点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若不是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则要先设出切点的坐标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根据已知求出切点的坐标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再求切线方程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虽然在曲线上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但经过该点的切线不一定只有一条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即该点可能是切点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也可能是切线与曲线的交点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321330"/>
            <a:ext cx="2016224" cy="3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-ax+b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在切线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综上所述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178417"/>
              </p:ext>
            </p:extLst>
          </p:nvPr>
        </p:nvGraphicFramePr>
        <p:xfrm>
          <a:off x="5088839" y="1075959"/>
          <a:ext cx="10318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文档" r:id="rId3" imgW="416379" imgH="397544" progId="Word.Document.12">
                  <p:embed/>
                </p:oleObj>
              </mc:Choice>
              <mc:Fallback>
                <p:oleObj name="文档" r:id="rId3" imgW="416379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88839" y="1075959"/>
                        <a:ext cx="1031875" cy="1004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导数运算法则的综合应用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84877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上求一点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使之到直线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的距离最小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作与直线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平行的直线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与抛物线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相切时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的距离最小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192" y="2152340"/>
            <a:ext cx="11769808" cy="3442000"/>
            <a:chOff x="41192" y="2312137"/>
            <a:chExt cx="11769808" cy="344200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16873"/>
                </p:ext>
              </p:extLst>
            </p:nvPr>
          </p:nvGraphicFramePr>
          <p:xfrm>
            <a:off x="41192" y="2721095"/>
            <a:ext cx="11430000" cy="2206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4" name="文档" r:id="rId3" imgW="4520786" imgH="872578" progId="Word.Document.12">
                    <p:embed/>
                  </p:oleObj>
                </mc:Choice>
                <mc:Fallback>
                  <p:oleObj name="文档" r:id="rId3" imgW="4520786" imgH="87257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92" y="2721095"/>
                          <a:ext cx="11430000" cy="220615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343713"/>
                </p:ext>
              </p:extLst>
            </p:nvPr>
          </p:nvGraphicFramePr>
          <p:xfrm>
            <a:off x="381000" y="4750840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5" name="文档" r:id="rId5" imgW="4510061" imgH="397147" progId="Word.Document.12">
                    <p:embed/>
                  </p:oleObj>
                </mc:Choice>
                <mc:Fallback>
                  <p:oleObj name="文档" r:id="rId5" imgW="4510061" imgH="397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4750840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" name="WMX2RAX15.eps" descr="id:2147505038;FounderCES"/>
            <p:cNvPicPr/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606244" y="2312137"/>
              <a:ext cx="3132643" cy="242007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6345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导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数的几何意义为导数和解析几何的联系搭建了桥梁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很多综合应用问题我们可以数形结合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巧妙利用导数的几何意义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即切线的斜率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建立相应的含有未知参数的方程来解决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631104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上任意一点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的最小距离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平行且与曲线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相切的直线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位于切点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的距离最小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34931"/>
              </p:ext>
            </p:extLst>
          </p:nvPr>
        </p:nvGraphicFramePr>
        <p:xfrm>
          <a:off x="41564" y="2924559"/>
          <a:ext cx="11430000" cy="2230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文档" r:id="rId3" imgW="4510061" imgH="880120" progId="Word.Document.12">
                  <p:embed/>
                </p:oleObj>
              </mc:Choice>
              <mc:Fallback>
                <p:oleObj name="文档" r:id="rId3" imgW="4510061" imgH="8801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2924559"/>
                        <a:ext cx="11430000" cy="2230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规范解答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63110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求导公式及运算法则的综合应用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且在原点处的切线斜率是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x+b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且在原点处的切线斜率是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386878"/>
              </p:ext>
            </p:extLst>
          </p:nvPr>
        </p:nvGraphicFramePr>
        <p:xfrm>
          <a:off x="43248" y="398289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248" y="398289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909590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处的导数就是函数的图象在点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处的切线的斜率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切线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切点既在曲线上又在切线上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如本例的原点即切点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456"/>
            <a:ext cx="11430000" cy="620477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在平面直角坐标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且在第二象限内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所求切线方程为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在第二象限内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2,15)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202926"/>
              </p:ext>
            </p:extLst>
          </p:nvPr>
        </p:nvGraphicFramePr>
        <p:xfrm>
          <a:off x="3008870" y="4087395"/>
          <a:ext cx="57943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文档" r:id="rId3" imgW="236800" imgH="198231" progId="Word.Document.12">
                  <p:embed/>
                </p:oleObj>
              </mc:Choice>
              <mc:Fallback>
                <p:oleObj name="文档" r:id="rId3" imgW="236800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8870" y="4087395"/>
                        <a:ext cx="579438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009"/>
            <a:ext cx="771076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361387"/>
              </p:ext>
            </p:extLst>
          </p:nvPr>
        </p:nvGraphicFramePr>
        <p:xfrm>
          <a:off x="479853" y="638591"/>
          <a:ext cx="11430000" cy="1203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文档" r:id="rId3" imgW="4520786" imgH="476115" progId="Word.Document.12">
                  <p:embed/>
                </p:oleObj>
              </mc:Choice>
              <mc:Fallback>
                <p:oleObj name="文档" r:id="rId3" imgW="4520786" imgH="4761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3" y="638591"/>
                        <a:ext cx="11430000" cy="12037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1751745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的导数是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81000" y="5218148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y'=x'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x+x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522874"/>
              </p:ext>
            </p:extLst>
          </p:nvPr>
        </p:nvGraphicFramePr>
        <p:xfrm>
          <a:off x="5145795" y="5139060"/>
          <a:ext cx="516922" cy="830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文档" r:id="rId5" imgW="255153" imgH="397544" progId="Word.Document.12">
                  <p:embed/>
                </p:oleObj>
              </mc:Choice>
              <mc:Fallback>
                <p:oleObj name="文档" r:id="rId5" imgW="255153" imgH="3975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5795" y="5139060"/>
                        <a:ext cx="516922" cy="830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320295"/>
              </p:ext>
            </p:extLst>
          </p:nvPr>
        </p:nvGraphicFramePr>
        <p:xfrm>
          <a:off x="468815" y="4067127"/>
          <a:ext cx="11275153" cy="1155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name="文档" r:id="rId7" imgW="4510061" imgH="462162" progId="Word.Document.12">
                  <p:embed/>
                </p:oleObj>
              </mc:Choice>
              <mc:Fallback>
                <p:oleObj name="文档" r:id="rId7" imgW="4510061" imgH="4621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8815" y="4067127"/>
                        <a:ext cx="11275153" cy="1155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2ln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2ln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处的切线的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斜率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'|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故所求的切线方程为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904647"/>
              </p:ext>
            </p:extLst>
          </p:nvPr>
        </p:nvGraphicFramePr>
        <p:xfrm>
          <a:off x="3560761" y="1777773"/>
          <a:ext cx="469929" cy="754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文档" r:id="rId3" imgW="255153" imgH="397183" progId="Word.Document.12">
                  <p:embed/>
                </p:oleObj>
              </mc:Choice>
              <mc:Fallback>
                <p:oleObj name="文档" r:id="rId3" imgW="255153" imgH="3971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0761" y="1777773"/>
                        <a:ext cx="469929" cy="754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589637"/>
            <a:ext cx="11430000" cy="1325246"/>
            <a:chOff x="381000" y="693547"/>
            <a:chExt cx="11430000" cy="132524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806153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已知曲线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zh-CN" altLang="en-US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在横坐标为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的点处切线的斜率的乘积为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3308941"/>
                </p:ext>
              </p:extLst>
            </p:nvPr>
          </p:nvGraphicFramePr>
          <p:xfrm>
            <a:off x="2882544" y="693547"/>
            <a:ext cx="516922" cy="830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6" name="文档" r:id="rId3" imgW="255153" imgH="397544" progId="Word.Document.12">
                    <p:embed/>
                  </p:oleObj>
                </mc:Choice>
                <mc:Fallback>
                  <p:oleObj name="文档" r:id="rId3" imgW="255153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82544" y="693547"/>
                          <a:ext cx="516922" cy="8304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782284"/>
              </p:ext>
            </p:extLst>
          </p:nvPr>
        </p:nvGraphicFramePr>
        <p:xfrm>
          <a:off x="468815" y="1946056"/>
          <a:ext cx="11275153" cy="2263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5" imgW="4510061" imgH="905276" progId="Word.Document.12">
                  <p:embed/>
                </p:oleObj>
              </mc:Choice>
              <mc:Fallback>
                <p:oleObj name="文档" r:id="rId5" imgW="4510061" imgH="9052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815" y="1946056"/>
                        <a:ext cx="11275153" cy="2263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81000" y="4157291"/>
            <a:ext cx="127150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6830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已知偶函数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的解析式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(0,1),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为偶函数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-dx+e.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+cx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的图象在点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处的切线方程为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切点为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a+c+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切线的斜率为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f'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186595"/>
              </p:ext>
            </p:extLst>
          </p:nvPr>
        </p:nvGraphicFramePr>
        <p:xfrm>
          <a:off x="479854" y="4538480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4" y="4538480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179</TotalTime>
  <Words>1534</Words>
  <Application>Microsoft Office PowerPoint</Application>
  <PresentationFormat>宽屏</PresentationFormat>
  <Paragraphs>122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0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35</cp:revision>
  <dcterms:created xsi:type="dcterms:W3CDTF">2021-08-30T08:30:26Z</dcterms:created>
  <dcterms:modified xsi:type="dcterms:W3CDTF">2025-08-01T06:55:02Z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