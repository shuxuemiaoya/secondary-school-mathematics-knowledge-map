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407" r:id="rId11"/>
    <p:sldId id="394" r:id="rId12"/>
    <p:sldId id="699" r:id="rId13"/>
    <p:sldId id="700" r:id="rId14"/>
    <p:sldId id="402" r:id="rId15"/>
    <p:sldId id="712" r:id="rId16"/>
    <p:sldId id="713" r:id="rId17"/>
    <p:sldId id="714" r:id="rId18"/>
    <p:sldId id="498" r:id="rId19"/>
    <p:sldId id="730" r:id="rId20"/>
    <p:sldId id="733" r:id="rId21"/>
    <p:sldId id="743" r:id="rId22"/>
    <p:sldId id="744" r:id="rId23"/>
    <p:sldId id="741" r:id="rId24"/>
    <p:sldId id="738" r:id="rId25"/>
    <p:sldId id="751" r:id="rId26"/>
    <p:sldId id="398" r:id="rId27"/>
    <p:sldId id="395" r:id="rId28"/>
    <p:sldId id="756" r:id="rId29"/>
    <p:sldId id="757" r:id="rId30"/>
    <p:sldId id="758" r:id="rId31"/>
    <p:sldId id="490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91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slide" Target="../slides/slide11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3.xml"/><Relationship Id="rId4" Type="http://schemas.openxmlformats.org/officeDocument/2006/relationships/slide" Target="../slides/slide18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268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规范解答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emf"/><Relationship Id="rId5" Type="http://schemas.openxmlformats.org/officeDocument/2006/relationships/image" Target="../media/image2.emf"/><Relationship Id="rId10" Type="http://schemas.openxmlformats.org/officeDocument/2006/relationships/package" Target="../embeddings/Microsoft_Word___3.docx"/><Relationship Id="rId4" Type="http://schemas.openxmlformats.org/officeDocument/2006/relationships/package" Target="../embeddings/Microsoft_Word___1.docx"/><Relationship Id="rId9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4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5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7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9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10.docx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1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2.docx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7.emf"/><Relationship Id="rId5" Type="http://schemas.openxmlformats.org/officeDocument/2006/relationships/image" Target="../media/image15.emf"/><Relationship Id="rId10" Type="http://schemas.openxmlformats.org/officeDocument/2006/relationships/package" Target="../embeddings/Microsoft_Word___15.docx"/><Relationship Id="rId4" Type="http://schemas.openxmlformats.org/officeDocument/2006/relationships/package" Target="../embeddings/Microsoft_Word___13.docx"/><Relationship Id="rId9" Type="http://schemas.openxmlformats.org/officeDocument/2006/relationships/oleObject" Target="../embeddings/oleObject1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6.docx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0.emf"/><Relationship Id="rId5" Type="http://schemas.openxmlformats.org/officeDocument/2006/relationships/image" Target="../media/image18.emf"/><Relationship Id="rId10" Type="http://schemas.openxmlformats.org/officeDocument/2006/relationships/package" Target="../embeddings/Microsoft_Word___20.docx"/><Relationship Id="rId4" Type="http://schemas.openxmlformats.org/officeDocument/2006/relationships/package" Target="../embeddings/Microsoft_Word___18.docx"/><Relationship Id="rId9" Type="http://schemas.openxmlformats.org/officeDocument/2006/relationships/oleObject" Target="../embeddings/oleObject20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21.docx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3.docx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4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习题课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——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函数的单调性的应用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第五章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利用函数的单调性比较大小及解不等式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根据函数的单调性求参数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进一步提升逻辑推理与数学运算素养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16045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函数的单调性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函数单调性的逆向转化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的任意子区间内都不恒等于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的任意子区间内都不恒等于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恒成立问题的重要思路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的最大值与最小值均存在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恒成立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恒成立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1812770"/>
            <a:ext cx="11439525" cy="3840173"/>
            <a:chOff x="381000" y="2030981"/>
            <a:chExt cx="11439525" cy="3840173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030981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	B.(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1,0)	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.(1,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	D.(0,1)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   x</a:t>
              </a:r>
              <a:r>
                <a:rPr lang="en-US" altLang="zh-CN" sz="2800" baseline="30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ln(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递减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的取值范围是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1169763"/>
                </p:ext>
              </p:extLst>
            </p:nvPr>
          </p:nvGraphicFramePr>
          <p:xfrm>
            <a:off x="419100" y="4274129"/>
            <a:ext cx="11401425" cy="159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4" name="文档" r:id="rId4" imgW="4510061" imgH="635723" progId="Word.Document.12">
                    <p:embed/>
                  </p:oleObj>
                </mc:Choice>
                <mc:Fallback>
                  <p:oleObj name="文档" r:id="rId4" imgW="4510061" imgH="6357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9100" y="4274129"/>
                          <a:ext cx="11401425" cy="1597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5889847"/>
                </p:ext>
              </p:extLst>
            </p:nvPr>
          </p:nvGraphicFramePr>
          <p:xfrm>
            <a:off x="3006240" y="3152148"/>
            <a:ext cx="428292" cy="687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" name="文档" r:id="rId7" imgW="255873" imgH="398985" progId="Word.Document.12">
                    <p:embed/>
                  </p:oleObj>
                </mc:Choice>
                <mc:Fallback>
                  <p:oleObj name="文档" r:id="rId7" imgW="255873" imgH="3989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06240" y="3152148"/>
                          <a:ext cx="428292" cy="6874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44124"/>
              </p:ext>
            </p:extLst>
          </p:nvPr>
        </p:nvGraphicFramePr>
        <p:xfrm>
          <a:off x="458424" y="223507"/>
          <a:ext cx="11275153" cy="158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文档" r:id="rId10" imgW="4510061" imgH="634642" progId="Word.Document.12">
                  <p:embed/>
                </p:oleObj>
              </mc:Choice>
              <mc:Fallback>
                <p:oleObj name="文档" r:id="rId10" imgW="4510061" imgH="6346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8424" y="223507"/>
                        <a:ext cx="11275153" cy="1586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190" y="-77148"/>
            <a:ext cx="11769810" cy="6803201"/>
            <a:chOff x="41190" y="-77148"/>
            <a:chExt cx="11769810" cy="6803201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0767388"/>
                </p:ext>
              </p:extLst>
            </p:nvPr>
          </p:nvGraphicFramePr>
          <p:xfrm>
            <a:off x="41190" y="-77148"/>
            <a:ext cx="11430000" cy="4613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" name="文档" r:id="rId4" imgW="4520786" imgH="1824809" progId="Word.Document.12">
                    <p:embed/>
                  </p:oleObj>
                </mc:Choice>
                <mc:Fallback>
                  <p:oleObj name="文档" r:id="rId4" imgW="4520786" imgH="18248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190" y="-77148"/>
                          <a:ext cx="11430000" cy="46137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4393107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由题意知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恒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 err="1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恒成立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74227"/>
            <a:ext cx="11430000" cy="50734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-ax+a-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不符合题意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的取值范围为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[5,7]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(1)A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1]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(3)[5,7]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24662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的根有有限个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递减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在某区间上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在此区间上为增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函数的充分不必要条件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1570754" y="2716208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2600483" y="3852737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利用单调性比较大小</a:t>
                </a: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242217"/>
              </p:ext>
            </p:extLst>
          </p:nvPr>
        </p:nvGraphicFramePr>
        <p:xfrm>
          <a:off x="41192" y="453317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文档" r:id="rId4" imgW="4520786" imgH="1190108" progId="Word.Document.12">
                  <p:embed/>
                </p:oleObj>
              </mc:Choice>
              <mc:Fallback>
                <p:oleObj name="文档" r:id="rId4" imgW="4520786" imgH="11901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92" y="453317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506959"/>
              </p:ext>
            </p:extLst>
          </p:nvPr>
        </p:nvGraphicFramePr>
        <p:xfrm>
          <a:off x="41192" y="3221229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文档" r:id="rId7" imgW="4510061" imgH="1191801" progId="Word.Document.12">
                  <p:embed/>
                </p:oleObj>
              </mc:Choice>
              <mc:Fallback>
                <p:oleObj name="文档" r:id="rId7" imgW="4510061" imgH="11918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192" y="3221229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6081489"/>
            <a:ext cx="161396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26264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比较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大小与函数单调性的关系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内单调递减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处理此类问题时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常结合函数的性质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奇偶性、单调性、周期性等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472038"/>
            <a:ext cx="11430000" cy="1772793"/>
            <a:chOff x="381000" y="700640"/>
            <a:chExt cx="11430000" cy="177279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700640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   +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	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C.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	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D.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7175924"/>
                </p:ext>
              </p:extLst>
            </p:nvPr>
          </p:nvGraphicFramePr>
          <p:xfrm>
            <a:off x="5365260" y="792649"/>
            <a:ext cx="596900" cy="496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8" name="文档" r:id="rId4" imgW="244357" imgH="198231" progId="Word.Document.12">
                    <p:embed/>
                  </p:oleObj>
                </mc:Choice>
                <mc:Fallback>
                  <p:oleObj name="文档" r:id="rId4" imgW="244357" imgH="19823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365260" y="792649"/>
                          <a:ext cx="596900" cy="4968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324904"/>
              </p:ext>
            </p:extLst>
          </p:nvPr>
        </p:nvGraphicFramePr>
        <p:xfrm>
          <a:off x="43248" y="213773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文档" r:id="rId7" imgW="4520786" imgH="396823" progId="Word.Document.12">
                  <p:embed/>
                </p:oleObj>
              </mc:Choice>
              <mc:Fallback>
                <p:oleObj name="文档" r:id="rId7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8" y="213773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2946540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区间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利用单调性解不等式</a:t>
                </a: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381000" y="2052947"/>
            <a:ext cx="11430000" cy="1305671"/>
            <a:chOff x="381000" y="2036471"/>
            <a:chExt cx="11430000" cy="130567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129502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是定义在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上的奇函数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有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恒成立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则不等式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的解集是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8838793"/>
                </p:ext>
              </p:extLst>
            </p:nvPr>
          </p:nvGraphicFramePr>
          <p:xfrm>
            <a:off x="9167029" y="2036471"/>
            <a:ext cx="1847273" cy="830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5" name="文档" r:id="rId4" imgW="893217" imgH="397544" progId="Word.Document.12">
                    <p:embed/>
                  </p:oleObj>
                </mc:Choice>
                <mc:Fallback>
                  <p:oleObj name="文档" r:id="rId4" imgW="893217" imgH="3975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167029" y="2036471"/>
                          <a:ext cx="1847273" cy="8304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399432"/>
              </p:ext>
            </p:extLst>
          </p:nvPr>
        </p:nvGraphicFramePr>
        <p:xfrm>
          <a:off x="49428" y="164550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文档" r:id="rId4" imgW="4510061" imgH="796095" progId="Word.Document.12">
                  <p:embed/>
                </p:oleObj>
              </mc:Choice>
              <mc:Fallback>
                <p:oleObj name="文档" r:id="rId4" imgW="4510061" imgH="7960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428" y="164550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013257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&lt;x&lt;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是定义在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上的奇函数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又不等式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的解集即为不等式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的解集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不等式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的解集是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(0,2)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20290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函数的单调性解不等式的常用思路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根据条件或所解不等式构造函数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判断所构造函数的单调性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利用单调性或函数图象解不等式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1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已知定义在实数集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上恒有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则不等式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的解集为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上为减函数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所以不等式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的解集为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根据函数的单调性求参数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929999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上为增函数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上是增函数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上恒成立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所以只需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又因为当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当且仅当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时取等号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上是增函数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107505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1,1)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&lt;x&lt;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的单调递减区间为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的两根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702541"/>
            <a:ext cx="2016224" cy="36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09195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1,1)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且不恒等于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不符合题意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02094"/>
              </p:ext>
            </p:extLst>
          </p:nvPr>
        </p:nvGraphicFramePr>
        <p:xfrm>
          <a:off x="43248" y="2583469"/>
          <a:ext cx="11430000" cy="2608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文档" r:id="rId4" imgW="4510061" imgH="1032870" progId="Word.Document.12">
                  <p:embed/>
                </p:oleObj>
              </mc:Choice>
              <mc:Fallback>
                <p:oleObj name="文档" r:id="rId4" imgW="4510061" imgH="10328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8" y="2583469"/>
                        <a:ext cx="11430000" cy="2608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85528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或单调递减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的充要条件是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的任何子区间内都不恒等于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单调性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求参数取值范围的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利用集合的包含关系处理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是相应单调区间的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子集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利用不等式的恒成立处理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注意验证等号是否成立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91955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(0,1],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的实根为有限个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增函数等价于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773756"/>
              </p:ext>
            </p:extLst>
          </p:nvPr>
        </p:nvGraphicFramePr>
        <p:xfrm>
          <a:off x="51487" y="2545999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文档" r:id="rId4" imgW="4510061" imgH="1191801" progId="Word.Document.12">
                  <p:embed/>
                </p:oleObj>
              </mc:Choice>
              <mc:Fallback>
                <p:oleObj name="文档" r:id="rId4" imgW="4510061" imgH="11918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87" y="2545999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规范解答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4338147" y="636538"/>
            <a:ext cx="3515706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利用导数证明</a:t>
            </a: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不等式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408322"/>
              </p:ext>
            </p:extLst>
          </p:nvPr>
        </p:nvGraphicFramePr>
        <p:xfrm>
          <a:off x="41190" y="1121714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0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90" y="1121714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41190" y="1922404"/>
            <a:ext cx="11769810" cy="4249143"/>
            <a:chOff x="41190" y="1861180"/>
            <a:chExt cx="11769810" cy="4249143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6190757"/>
                </p:ext>
              </p:extLst>
            </p:nvPr>
          </p:nvGraphicFramePr>
          <p:xfrm>
            <a:off x="41190" y="1861180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61" name="文档" r:id="rId7" imgW="4510061" imgH="794654" progId="Word.Document.12">
                    <p:embed/>
                  </p:oleObj>
                </mc:Choice>
                <mc:Fallback>
                  <p:oleObj name="文档" r:id="rId7" imgW="4510061" imgH="7946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1190" y="1861180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744425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增函数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不等式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   x</a:t>
              </a:r>
              <a:r>
                <a:rPr lang="en-US" altLang="zh-CN" sz="2800" baseline="30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恒成立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9533264"/>
                </p:ext>
              </p:extLst>
            </p:nvPr>
          </p:nvGraphicFramePr>
          <p:xfrm>
            <a:off x="5013197" y="5356528"/>
            <a:ext cx="527178" cy="753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62" name="文档" r:id="rId10" imgW="285035" imgH="397130" progId="Word.Document.12">
                    <p:embed/>
                  </p:oleObj>
                </mc:Choice>
                <mc:Fallback>
                  <p:oleObj name="文档" r:id="rId10" imgW="285035" imgH="39713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013197" y="5356528"/>
                          <a:ext cx="527178" cy="7537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67529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答题模板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第一步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构造函数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   x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第二步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并判断函数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第三步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的函数值与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第四步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说明原不等式成立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本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例中利用导数证明不等式成立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要构造函数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实际上就是不等式两边式子的差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   x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要证明原不等式成立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只要证明当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140020"/>
              </p:ext>
            </p:extLst>
          </p:nvPr>
        </p:nvGraphicFramePr>
        <p:xfrm>
          <a:off x="7303317" y="409863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文档" r:id="rId4" imgW="285035" imgH="397130" progId="Word.Document.12">
                  <p:embed/>
                </p:oleObj>
              </mc:Choice>
              <mc:Fallback>
                <p:oleObj name="文档" r:id="rId4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03317" y="409863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69113"/>
              </p:ext>
            </p:extLst>
          </p:nvPr>
        </p:nvGraphicFramePr>
        <p:xfrm>
          <a:off x="2668502" y="3742819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文档" r:id="rId7" imgW="285035" imgH="397130" progId="Word.Document.12">
                  <p:embed/>
                </p:oleObj>
              </mc:Choice>
              <mc:Fallback>
                <p:oleObj name="文档" r:id="rId7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68502" y="3742819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387078"/>
              </p:ext>
            </p:extLst>
          </p:nvPr>
        </p:nvGraphicFramePr>
        <p:xfrm>
          <a:off x="381000" y="486658"/>
          <a:ext cx="11430000" cy="160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5" name="文档" r:id="rId4" imgW="4520786" imgH="634700" progId="Word.Document.12">
                  <p:embed/>
                </p:oleObj>
              </mc:Choice>
              <mc:Fallback>
                <p:oleObj name="文档" r:id="rId4" imgW="4520786" imgH="634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486658"/>
                        <a:ext cx="11430000" cy="160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460414"/>
              </p:ext>
            </p:extLst>
          </p:nvPr>
        </p:nvGraphicFramePr>
        <p:xfrm>
          <a:off x="43248" y="201724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6" name="文档" r:id="rId7" imgW="4520786" imgH="396823" progId="Word.Document.12">
                  <p:embed/>
                </p:oleObj>
              </mc:Choice>
              <mc:Fallback>
                <p:oleObj name="文档" r:id="rId7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8" y="201724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2861886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且只有当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  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529191"/>
              </p:ext>
            </p:extLst>
          </p:nvPr>
        </p:nvGraphicFramePr>
        <p:xfrm>
          <a:off x="5231871" y="3905959"/>
          <a:ext cx="469929" cy="754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7" name="文档" r:id="rId10" imgW="255153" imgH="397544" progId="Word.Document.12">
                  <p:embed/>
                </p:oleObj>
              </mc:Choice>
              <mc:Fallback>
                <p:oleObj name="文档" r:id="rId10" imgW="255153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31871" y="3905959"/>
                        <a:ext cx="469929" cy="7549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21785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上是减函数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上是减函数等价于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714502"/>
              </p:ext>
            </p:extLst>
          </p:nvPr>
        </p:nvGraphicFramePr>
        <p:xfrm>
          <a:off x="1202823" y="935468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4" name="文档" r:id="rId4" imgW="285035" imgH="397130" progId="Word.Document.12">
                  <p:embed/>
                </p:oleObj>
              </mc:Choice>
              <mc:Fallback>
                <p:oleObj name="文档" r:id="rId4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02823" y="935468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163705"/>
              </p:ext>
            </p:extLst>
          </p:nvPr>
        </p:nvGraphicFramePr>
        <p:xfrm>
          <a:off x="484103" y="3740623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5" name="文档" r:id="rId7" imgW="4520786" imgH="396823" progId="Word.Document.12">
                  <p:embed/>
                </p:oleObj>
              </mc:Choice>
              <mc:Fallback>
                <p:oleObj name="文档" r:id="rId7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4103" y="3740623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586290"/>
            <a:ext cx="135165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38859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已知定义在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的大致图象如图所示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则下列大小关系正确的是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由题图知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a&lt;b&lt;c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UMX2TRAX21.eps" descr="id:2147504626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8799" y="1832966"/>
            <a:ext cx="3654172" cy="253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9428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+cx+d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的单调递减区间为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bx+c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是不等式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bx+c&lt;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的解集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的两个根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的实根为有限个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666362"/>
              </p:ext>
            </p:extLst>
          </p:nvPr>
        </p:nvGraphicFramePr>
        <p:xfrm>
          <a:off x="484103" y="4887925"/>
          <a:ext cx="11430000" cy="150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文档" r:id="rId4" imgW="4520786" imgH="595054" progId="Word.Document.12">
                  <p:embed/>
                </p:oleObj>
              </mc:Choice>
              <mc:Fallback>
                <p:oleObj name="文档" r:id="rId4" imgW="4520786" imgH="595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103" y="4887925"/>
                        <a:ext cx="11430000" cy="150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6123836"/>
            <a:ext cx="197842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7723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上是单调函数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81000" y="2287444"/>
            <a:ext cx="11524865" cy="4197572"/>
            <a:chOff x="381000" y="2287444"/>
            <a:chExt cx="11524865" cy="4197572"/>
          </a:xfrm>
        </p:grpSpPr>
        <p:grpSp>
          <p:nvGrpSpPr>
            <p:cNvPr id="6" name="组合 5"/>
            <p:cNvGrpSpPr/>
            <p:nvPr/>
          </p:nvGrpSpPr>
          <p:grpSpPr>
            <a:xfrm>
              <a:off x="381000" y="2287444"/>
              <a:ext cx="11524865" cy="2791723"/>
              <a:chOff x="381000" y="2287444"/>
              <a:chExt cx="11524865" cy="2791723"/>
            </a:xfrm>
          </p:grpSpPr>
          <p:graphicFrame>
            <p:nvGraphicFramePr>
              <p:cNvPr id="3" name="对象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97713857"/>
                  </p:ext>
                </p:extLst>
              </p:nvPr>
            </p:nvGraphicFramePr>
            <p:xfrm>
              <a:off x="475865" y="2287444"/>
              <a:ext cx="11430000" cy="6014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60" name="文档" r:id="rId4" imgW="4520786" imgH="237877" progId="Word.Document.12">
                      <p:embed/>
                    </p:oleObj>
                  </mc:Choice>
                  <mc:Fallback>
                    <p:oleObj name="文档" r:id="rId4" imgW="4520786" imgH="237877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75865" y="2287444"/>
                            <a:ext cx="11430000" cy="60143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81000" y="2806494"/>
                <a:ext cx="11430000" cy="227267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令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f'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x&gt;x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x&lt;x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令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f'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&lt;x&lt;x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∵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由此可得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在区间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1,1]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上是单调函数的充要条件为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2111608"/>
                </p:ext>
              </p:extLst>
            </p:nvPr>
          </p:nvGraphicFramePr>
          <p:xfrm>
            <a:off x="479206" y="5087031"/>
            <a:ext cx="11275153" cy="13979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1" name="文档" r:id="rId7" imgW="4510061" imgH="559194" progId="Word.Document.12">
                    <p:embed/>
                  </p:oleObj>
                </mc:Choice>
                <mc:Fallback>
                  <p:oleObj name="文档" r:id="rId7" imgW="4510061" imgH="55919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9206" y="5087031"/>
                          <a:ext cx="11275153" cy="13979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181</TotalTime>
  <Words>1869</Words>
  <Application>Microsoft Office PowerPoint</Application>
  <PresentationFormat>宽屏</PresentationFormat>
  <Paragraphs>152</Paragraphs>
  <Slides>31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2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38</cp:revision>
  <dcterms:created xsi:type="dcterms:W3CDTF">2021-08-30T08:30:26Z</dcterms:created>
  <dcterms:modified xsi:type="dcterms:W3CDTF">2025-08-01T07:02:51Z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