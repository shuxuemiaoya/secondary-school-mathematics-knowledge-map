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1" r:id="rId10"/>
    <p:sldId id="692" r:id="rId11"/>
    <p:sldId id="407" r:id="rId12"/>
    <p:sldId id="394" r:id="rId13"/>
    <p:sldId id="699" r:id="rId14"/>
    <p:sldId id="700" r:id="rId15"/>
    <p:sldId id="402" r:id="rId16"/>
    <p:sldId id="712" r:id="rId17"/>
    <p:sldId id="713" r:id="rId18"/>
    <p:sldId id="714" r:id="rId19"/>
    <p:sldId id="498" r:id="rId20"/>
    <p:sldId id="730" r:id="rId21"/>
    <p:sldId id="733" r:id="rId22"/>
    <p:sldId id="743" r:id="rId23"/>
    <p:sldId id="744" r:id="rId24"/>
    <p:sldId id="741" r:id="rId25"/>
    <p:sldId id="738" r:id="rId26"/>
    <p:sldId id="751" r:id="rId27"/>
    <p:sldId id="752" r:id="rId28"/>
    <p:sldId id="765" r:id="rId29"/>
    <p:sldId id="753" r:id="rId30"/>
    <p:sldId id="398" r:id="rId31"/>
    <p:sldId id="395" r:id="rId32"/>
    <p:sldId id="756" r:id="rId33"/>
    <p:sldId id="757" r:id="rId34"/>
    <p:sldId id="758" r:id="rId35"/>
    <p:sldId id="759" r:id="rId36"/>
    <p:sldId id="760" r:id="rId37"/>
    <p:sldId id="490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91"/>
        <p:guide pos="211"/>
        <p:guide orient="horz" pos="436"/>
        <p:guide orient="horz" pos="777"/>
        <p:guide orient="horz" pos="28"/>
        <p:guide pos="279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slide" Target="../slides/slide12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4.xml"/><Relationship Id="rId4" Type="http://schemas.openxmlformats.org/officeDocument/2006/relationships/slide" Target="../slides/slide19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92684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9319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5953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5" action="ppaction://hlinksldjump"/>
          </p:cNvPr>
          <p:cNvSpPr/>
          <p:nvPr userDrawn="1"/>
        </p:nvSpPr>
        <p:spPr>
          <a:xfrm>
            <a:off x="1112587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规范解答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emf"/><Relationship Id="rId5" Type="http://schemas.openxmlformats.org/officeDocument/2006/relationships/package" Target="../embeddings/Microsoft_Word___5.docx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emf"/><Relationship Id="rId5" Type="http://schemas.openxmlformats.org/officeDocument/2006/relationships/package" Target="../embeddings/Microsoft_Word___7.docx"/><Relationship Id="rId4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emf"/><Relationship Id="rId5" Type="http://schemas.openxmlformats.org/officeDocument/2006/relationships/package" Target="../embeddings/Microsoft_Word___9.docx"/><Relationship Id="rId4" Type="http://schemas.openxmlformats.org/officeDocument/2006/relationships/image" Target="../media/image13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Word___12.docx"/><Relationship Id="rId4" Type="http://schemas.openxmlformats.org/officeDocument/2006/relationships/image" Target="../media/image1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8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4.docx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1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3.emf"/><Relationship Id="rId5" Type="http://schemas.openxmlformats.org/officeDocument/2006/relationships/package" Target="../embeddings/Microsoft_Word___17.docx"/><Relationship Id="rId4" Type="http://schemas.openxmlformats.org/officeDocument/2006/relationships/image" Target="../media/image22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7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5.emf"/><Relationship Id="rId5" Type="http://schemas.openxmlformats.org/officeDocument/2006/relationships/package" Target="../embeddings/Microsoft_Word___19.docx"/><Relationship Id="rId4" Type="http://schemas.openxmlformats.org/officeDocument/2006/relationships/image" Target="../media/image24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8.emf"/><Relationship Id="rId5" Type="http://schemas.openxmlformats.org/officeDocument/2006/relationships/package" Target="../embeddings/Microsoft_Word___21.docx"/><Relationship Id="rId4" Type="http://schemas.openxmlformats.org/officeDocument/2006/relationships/image" Target="../media/image27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9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1.emf"/><Relationship Id="rId5" Type="http://schemas.openxmlformats.org/officeDocument/2006/relationships/package" Target="../embeddings/Microsoft_Word___24.docx"/><Relationship Id="rId4" Type="http://schemas.openxmlformats.org/officeDocument/2006/relationships/image" Target="../media/image30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package" Target="../embeddings/Microsoft_Word___25.docx"/><Relationship Id="rId7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3.emf"/><Relationship Id="rId5" Type="http://schemas.openxmlformats.org/officeDocument/2006/relationships/package" Target="../embeddings/Microsoft_Word___26.docx"/><Relationship Id="rId4" Type="http://schemas.openxmlformats.org/officeDocument/2006/relationships/image" Target="../media/image32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6.emf"/><Relationship Id="rId5" Type="http://schemas.openxmlformats.org/officeDocument/2006/relationships/package" Target="../embeddings/Microsoft_Word___29.docx"/><Relationship Id="rId4" Type="http://schemas.openxmlformats.org/officeDocument/2006/relationships/image" Target="../media/image35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37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38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第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2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课时　导数的几何意义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第五章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5.1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1726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了解导函数的概念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理解导数的几何意义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会求导函数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根据导数的几何意义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会求曲线上某点处的切线方程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正确理解曲线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过某点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在某点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处的切线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并会求其方程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通过对导数几何意义的理解与运用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进一步提升直观想象与数学运算素养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10779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一、导数的几何意义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均在曲线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3264928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哪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条割线的斜率与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的斜率最接近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297373"/>
              </p:ext>
            </p:extLst>
          </p:nvPr>
        </p:nvGraphicFramePr>
        <p:xfrm>
          <a:off x="35010" y="2407054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10" y="2407054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WMX2RAX04.eps" descr="id:2147504692;FounderCES"/>
          <p:cNvPicPr/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77240" y="1112775"/>
            <a:ext cx="3476411" cy="359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1190" y="464806"/>
            <a:ext cx="11599905" cy="4865852"/>
            <a:chOff x="41190" y="703799"/>
            <a:chExt cx="11599905" cy="486585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703799"/>
              <a:ext cx="7779326" cy="4013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导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数的几何意义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如图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上任取一点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如果当点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沿着曲线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无限趋近于点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无限趋近于一个确定的位置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这个确定位置的直线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称为曲线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处的切线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处的导数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就是切线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的斜率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722984"/>
                </p:ext>
              </p:extLst>
            </p:nvPr>
          </p:nvGraphicFramePr>
          <p:xfrm>
            <a:off x="41190" y="4566354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4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190" y="4566354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4" name="WMX2RAX05.eps" descr="id:2147504699;FounderCES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330231" y="1153785"/>
              <a:ext cx="3310864" cy="3420807"/>
            </a:xfrm>
            <a:prstGeom prst="rect">
              <a:avLst/>
            </a:prstGeom>
          </p:spPr>
        </p:pic>
      </p:grpSp>
      <p:sp>
        <p:nvSpPr>
          <p:cNvPr id="6" name="矩形 5"/>
          <p:cNvSpPr/>
          <p:nvPr/>
        </p:nvSpPr>
        <p:spPr>
          <a:xfrm>
            <a:off x="1708980" y="4366772"/>
            <a:ext cx="3476084" cy="78955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1720620" y="5151850"/>
            <a:ext cx="34614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A.4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D.2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由导数的几何意义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88625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二、导函数的概念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处的导数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与它的导函数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相同吗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它们有什么区别与联系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不相同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两者的区别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是一个确定的数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是一个函数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两者的联系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处的导数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是其导函数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处的函数值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3600314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处导数的过程可以看到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是一个唯一确定的数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这样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变化时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就是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我们称它为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的导函数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简称导数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的导函数有时也记作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110004"/>
              </p:ext>
            </p:extLst>
          </p:nvPr>
        </p:nvGraphicFramePr>
        <p:xfrm>
          <a:off x="381000" y="5250671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3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5250671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1864844" y="5312835"/>
            <a:ext cx="2364256" cy="78446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1876484" y="6092825"/>
            <a:ext cx="2354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459110"/>
              </p:ext>
            </p:extLst>
          </p:nvPr>
        </p:nvGraphicFramePr>
        <p:xfrm>
          <a:off x="41190" y="180045"/>
          <a:ext cx="11430000" cy="601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8" name="文档" r:id="rId3" imgW="4510061" imgH="238216" progId="Word.Document.12">
                  <p:embed/>
                </p:oleObj>
              </mc:Choice>
              <mc:Fallback>
                <p:oleObj name="文档" r:id="rId3" imgW="4510061" imgH="23821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90" y="180045"/>
                        <a:ext cx="11430000" cy="601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622089"/>
              </p:ext>
            </p:extLst>
          </p:nvPr>
        </p:nvGraphicFramePr>
        <p:xfrm>
          <a:off x="41190" y="746370"/>
          <a:ext cx="11430000" cy="5516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" name="文档" r:id="rId5" imgW="4520786" imgH="2181985" progId="Word.Document.12">
                  <p:embed/>
                </p:oleObj>
              </mc:Choice>
              <mc:Fallback>
                <p:oleObj name="文档" r:id="rId5" imgW="4520786" imgH="21819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90" y="746370"/>
                        <a:ext cx="11430000" cy="5516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正确的在后面的括号里画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表示的意义相同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处的切线不存在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 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处的函数值就是函数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处的导数值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曲线的切线不一定与曲线只有一个公共点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与曲线只有一个公共点的直线一定是曲线的切线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5981520" y="1855529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9532028" y="2422806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10451144" y="2954260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7946841" y="3526306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9036805" y="4097750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导数的几何意义与函数图象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807482"/>
            <a:ext cx="5904470" cy="513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的导函数在区间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上单调递增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大致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可能是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的导函数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由导数的几何意义可知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的图象在区间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上各点处的切线的斜率是逐渐增大的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选项符合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8" name="WMX2RAX06.eps" descr="id:2147504720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00802" y="807482"/>
            <a:ext cx="5461861" cy="50882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600357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上的图象是向下凸的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选项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中图象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上的图象是向上凸的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选项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中图象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上是常数函数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上的图象是一条线段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27447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的图象如图所示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的大小关系是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大小不能确定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的图象可知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处的切线斜率大于在点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处的切线斜率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根据导数的几何意义有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WMX2RAX07.eps" descr="id:2147504734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10692" y="997443"/>
            <a:ext cx="3022475" cy="241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求曲线的切线方程</a:t>
                </a:r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8635137"/>
              </p:ext>
            </p:extLst>
          </p:nvPr>
        </p:nvGraphicFramePr>
        <p:xfrm>
          <a:off x="41190" y="648527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90" y="648527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941194"/>
              </p:ext>
            </p:extLst>
          </p:nvPr>
        </p:nvGraphicFramePr>
        <p:xfrm>
          <a:off x="41190" y="1499200"/>
          <a:ext cx="11430000" cy="300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" name="文档" r:id="rId5" imgW="4510061" imgH="1191801" progId="Word.Document.12">
                  <p:embed/>
                </p:oleObj>
              </mc:Choice>
              <mc:Fallback>
                <p:oleObj name="文档" r:id="rId5" imgW="4510061" imgH="11918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90" y="1499200"/>
                        <a:ext cx="11430000" cy="300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356697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处的切线方程的方法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处的导数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即得切线的斜率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由直线的点斜式方程得出切线方程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9067"/>
            <a:ext cx="8239756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求过点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相切的直线方程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1173" y="687446"/>
            <a:ext cx="11779827" cy="5387600"/>
            <a:chOff x="31173" y="905657"/>
            <a:chExt cx="11779827" cy="5387600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4213877"/>
                </p:ext>
              </p:extLst>
            </p:nvPr>
          </p:nvGraphicFramePr>
          <p:xfrm>
            <a:off x="43247" y="905657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5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247" y="905657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6737092"/>
                </p:ext>
              </p:extLst>
            </p:nvPr>
          </p:nvGraphicFramePr>
          <p:xfrm>
            <a:off x="31173" y="1888172"/>
            <a:ext cx="11430000" cy="2200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6" name="文档" r:id="rId5" imgW="4510061" imgH="868260" progId="Word.Document.12">
                    <p:embed/>
                  </p:oleObj>
                </mc:Choice>
                <mc:Fallback>
                  <p:oleObj name="文档" r:id="rId5" imgW="4510061" imgH="86826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173" y="1888172"/>
                          <a:ext cx="11430000" cy="220046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81000" y="4020584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切线的斜率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过点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1,0)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的切线方程为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切线的斜率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过点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1,0)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的切线方程为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x+y+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故所求切线方程为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x+y+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2873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过某点的切线方程的方法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设切点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处的导数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得切线的斜率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写出过切点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的切线方程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将已知点的坐标代入切线方程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列出关于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的方程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的值求得切线方程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处的切线方程是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　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912154"/>
              </p:ext>
            </p:extLst>
          </p:nvPr>
        </p:nvGraphicFramePr>
        <p:xfrm>
          <a:off x="49428" y="1255717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428" y="1255717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2199195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在曲线上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切线的斜率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y'|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所求切线方程为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求切点的坐标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638042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抛物线上哪一点处的切线的倾斜角为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抛物线上哪一点处的切线平行于直线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5010" y="2266702"/>
            <a:ext cx="11775990" cy="4111267"/>
            <a:chOff x="35010" y="2370612"/>
            <a:chExt cx="11775990" cy="4111267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9839392"/>
                </p:ext>
              </p:extLst>
            </p:nvPr>
          </p:nvGraphicFramePr>
          <p:xfrm>
            <a:off x="35010" y="2370612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8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010" y="2370612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332719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切线的倾斜角为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45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切线的斜率为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45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9327561"/>
                </p:ext>
              </p:extLst>
            </p:nvPr>
          </p:nvGraphicFramePr>
          <p:xfrm>
            <a:off x="35010" y="4476199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9" name="文档" r:id="rId5" imgW="4520786" imgH="793285" progId="Word.Document.12">
                    <p:embed/>
                  </p:oleObj>
                </mc:Choice>
                <mc:Fallback>
                  <p:oleObj name="文档" r:id="rId5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010" y="4476199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9724" y="1243879"/>
            <a:ext cx="11751276" cy="2523883"/>
            <a:chOff x="59724" y="2013585"/>
            <a:chExt cx="11751276" cy="252388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013585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切线平行于直线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切线的斜率为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6141797"/>
                </p:ext>
              </p:extLst>
            </p:nvPr>
          </p:nvGraphicFramePr>
          <p:xfrm>
            <a:off x="59724" y="3091810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0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9724" y="3091810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884982"/>
              <a:ext cx="4208203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该切点的坐标为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(1,3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94008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本例中条件不变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求抛物线上哪一点处的切线垂直于直线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切线与直线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垂直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切线的斜率为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延伸探究H.eps" descr="id:2147494559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709826"/>
            <a:ext cx="2016224" cy="367706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42562" y="2692449"/>
            <a:ext cx="11768438" cy="1923926"/>
            <a:chOff x="42562" y="3087307"/>
            <a:chExt cx="11768438" cy="1923926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1585489"/>
                </p:ext>
              </p:extLst>
            </p:nvPr>
          </p:nvGraphicFramePr>
          <p:xfrm>
            <a:off x="42562" y="3087307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5" name="文档" r:id="rId4" imgW="4520786" imgH="396823" progId="Word.Document.12">
                    <p:embed/>
                  </p:oleObj>
                </mc:Choice>
                <mc:Fallback>
                  <p:oleObj name="文档" r:id="rId4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562" y="3087307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3858866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即所求点的坐标为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(2,9)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899970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切线斜率求切点坐标的步骤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设切点坐标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求导函数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求切线的斜率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由斜率间的关系列出关于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解方程求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代入曲线方程求出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得切点坐标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240740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且曲线在点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处的切线平行于直线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2952" y="1928546"/>
            <a:ext cx="11778048" cy="3942976"/>
            <a:chOff x="32952" y="1990892"/>
            <a:chExt cx="11778048" cy="3942976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6023332"/>
                </p:ext>
              </p:extLst>
            </p:nvPr>
          </p:nvGraphicFramePr>
          <p:xfrm>
            <a:off x="32952" y="1990892"/>
            <a:ext cx="11430000" cy="2808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8" name="文档" r:id="rId3" imgW="4520786" imgH="1110816" progId="Word.Document.12">
                    <p:embed/>
                  </p:oleObj>
                </mc:Choice>
                <mc:Fallback>
                  <p:oleObj name="文档" r:id="rId3" imgW="4520786" imgH="111081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2952" y="1990892"/>
                          <a:ext cx="11430000" cy="2808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4781501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0;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的坐标为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(1,0)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规范解答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81000" y="710779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导数的几何意义的综合应用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在它们交点处的两条切线与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轴所围成的三角形的面积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020166"/>
              </p:ext>
            </p:extLst>
          </p:nvPr>
        </p:nvGraphicFramePr>
        <p:xfrm>
          <a:off x="3699305" y="1198408"/>
          <a:ext cx="516922" cy="830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2" name="文档" r:id="rId3" imgW="255153" imgH="397544" progId="Word.Document.12">
                  <p:embed/>
                </p:oleObj>
              </mc:Choice>
              <mc:Fallback>
                <p:oleObj name="文档" r:id="rId3" imgW="255153" imgH="397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99305" y="1198408"/>
                        <a:ext cx="516922" cy="830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651715"/>
              </p:ext>
            </p:extLst>
          </p:nvPr>
        </p:nvGraphicFramePr>
        <p:xfrm>
          <a:off x="41190" y="2244706"/>
          <a:ext cx="11430000" cy="4112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3" name="文档" r:id="rId5" imgW="4520786" imgH="1626577" progId="Word.Document.12">
                  <p:embed/>
                </p:oleObj>
              </mc:Choice>
              <mc:Fallback>
                <p:oleObj name="文档" r:id="rId5" imgW="4520786" imgH="16265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90" y="2244706"/>
                        <a:ext cx="11430000" cy="4112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43247" y="152629"/>
            <a:ext cx="11767753" cy="6188673"/>
            <a:chOff x="43247" y="169105"/>
            <a:chExt cx="11767753" cy="618867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69105"/>
              <a:ext cx="5516254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处的切线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斜率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3868363"/>
                </p:ext>
              </p:extLst>
            </p:nvPr>
          </p:nvGraphicFramePr>
          <p:xfrm>
            <a:off x="76199" y="731277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6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6199" y="731277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1668670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处的切线方程为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两条切线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y=-x+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轴所围成的图形如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图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阴影部分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所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5766190"/>
                </p:ext>
              </p:extLst>
            </p:nvPr>
          </p:nvGraphicFramePr>
          <p:xfrm>
            <a:off x="43247" y="2771609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7" name="文档" r:id="rId5" imgW="4520786" imgH="396823" progId="Word.Document.12">
                    <p:embed/>
                  </p:oleObj>
                </mc:Choice>
                <mc:Fallback>
                  <p:oleObj name="文档" r:id="rId5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247" y="2771609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6" name="WMX2RAX08.eps" descr="id:2147504790;FounderCES"/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27875" y="3733716"/>
              <a:ext cx="2736251" cy="26240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导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数的几何意义的综合应用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导数的几何意义是曲线在某点处的切线的斜率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已知切点可以求斜率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已知斜率也可以求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切点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涉及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导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数的几何意义的综合应用题的解题关键是求函数在某点处的导数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即切线的斜率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521178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为该曲线的另一条切线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轴所围成的三角形的面积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07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010" y="317520"/>
            <a:ext cx="11775990" cy="5064635"/>
            <a:chOff x="35010" y="517102"/>
            <a:chExt cx="11775990" cy="5064635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6845877"/>
                </p:ext>
              </p:extLst>
            </p:nvPr>
          </p:nvGraphicFramePr>
          <p:xfrm>
            <a:off x="35010" y="517102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0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010" y="517102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1475034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(1,0)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处的切线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的斜率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y'|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可得直线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与曲线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相切于点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+b-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+b-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6259981"/>
                </p:ext>
              </p:extLst>
            </p:nvPr>
          </p:nvGraphicFramePr>
          <p:xfrm>
            <a:off x="35010" y="3576057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1" name="文档" r:id="rId5" imgW="4520786" imgH="793285" progId="Word.Document.12">
                    <p:embed/>
                  </p:oleObj>
                </mc:Choice>
                <mc:Fallback>
                  <p:oleObj name="文档" r:id="rId5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010" y="3576057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7340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776493"/>
              </p:ext>
            </p:extLst>
          </p:nvPr>
        </p:nvGraphicFramePr>
        <p:xfrm>
          <a:off x="48490" y="1079882"/>
          <a:ext cx="11430000" cy="3622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文档" r:id="rId3" imgW="4510061" imgH="1429251" progId="Word.Document.12">
                  <p:embed/>
                </p:oleObj>
              </mc:Choice>
              <mc:Fallback>
                <p:oleObj name="文档" r:id="rId3" imgW="4510061" imgH="14292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90" y="1079882"/>
                        <a:ext cx="11430000" cy="3622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236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702541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处的导数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处的函数值的增量与自变量增量的比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一个函数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导函数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处的函数值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是一个常数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点与它附近一点之间的平均变化率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由导数的定义知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应选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28586"/>
              </p:ext>
            </p:extLst>
          </p:nvPr>
        </p:nvGraphicFramePr>
        <p:xfrm>
          <a:off x="479853" y="127787"/>
          <a:ext cx="11430000" cy="300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8" name="文档" r:id="rId3" imgW="4520786" imgH="1190108" progId="Word.Document.12">
                  <p:embed/>
                </p:oleObj>
              </mc:Choice>
              <mc:Fallback>
                <p:oleObj name="文档" r:id="rId3" imgW="4520786" imgH="11901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853" y="127787"/>
                        <a:ext cx="11430000" cy="300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870413"/>
              </p:ext>
            </p:extLst>
          </p:nvPr>
        </p:nvGraphicFramePr>
        <p:xfrm>
          <a:off x="479853" y="2996343"/>
          <a:ext cx="11430000" cy="2608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9" name="文档" r:id="rId5" imgW="4510061" imgH="1032870" progId="Word.Document.12">
                  <p:embed/>
                </p:oleObj>
              </mc:Choice>
              <mc:Fallback>
                <p:oleObj name="文档" r:id="rId5" imgW="4510061" imgH="10328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9853" y="2996343"/>
                        <a:ext cx="11430000" cy="2608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5373615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20301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的斜率为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由题意可得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所求斜率为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y'|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处的切线方程为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   x+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37927"/>
              </p:ext>
            </p:extLst>
          </p:nvPr>
        </p:nvGraphicFramePr>
        <p:xfrm>
          <a:off x="8884981" y="2042348"/>
          <a:ext cx="527178" cy="75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6" name="文档" r:id="rId3" imgW="285035" imgH="397130" progId="Word.Document.12">
                  <p:embed/>
                </p:oleObj>
              </mc:Choice>
              <mc:Fallback>
                <p:oleObj name="文档" r:id="rId3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84981" y="2042348"/>
                        <a:ext cx="527178" cy="753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00976"/>
              </p:ext>
            </p:extLst>
          </p:nvPr>
        </p:nvGraphicFramePr>
        <p:xfrm>
          <a:off x="484103" y="3232594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7" name="文档" r:id="rId5" imgW="4520786" imgH="793285" progId="Word.Document.12">
                  <p:embed/>
                </p:oleObj>
              </mc:Choice>
              <mc:Fallback>
                <p:oleObj name="文档" r:id="rId5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4103" y="3232594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517616"/>
              </p:ext>
            </p:extLst>
          </p:nvPr>
        </p:nvGraphicFramePr>
        <p:xfrm>
          <a:off x="484103" y="5015795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8" name="文档" r:id="rId7" imgW="4520786" imgH="396823" progId="Word.Document.12">
                  <p:embed/>
                </p:oleObj>
              </mc:Choice>
              <mc:Fallback>
                <p:oleObj name="文档" r:id="rId7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4103" y="5015795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309886"/>
              </p:ext>
            </p:extLst>
          </p:nvPr>
        </p:nvGraphicFramePr>
        <p:xfrm>
          <a:off x="479853" y="416556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5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853" y="416556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196363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曲线在点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曲线过点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的切线方程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曲线的斜率为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的切线方程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377227"/>
              </p:ext>
            </p:extLst>
          </p:nvPr>
        </p:nvGraphicFramePr>
        <p:xfrm>
          <a:off x="479206" y="2935325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6" name="文档" r:id="rId5" imgW="4510061" imgH="396786" progId="Word.Document.12">
                  <p:embed/>
                </p:oleObj>
              </mc:Choice>
              <mc:Fallback>
                <p:oleObj name="文档" r:id="rId5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9206" y="2935325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3948072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曲线在点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处的切线的斜率为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y'|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曲线在点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处的切线方程为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81000" y="187577"/>
            <a:ext cx="11430000" cy="6002206"/>
            <a:chOff x="381000" y="187577"/>
            <a:chExt cx="11430000" cy="6002206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9028348"/>
                </p:ext>
              </p:extLst>
            </p:nvPr>
          </p:nvGraphicFramePr>
          <p:xfrm>
            <a:off x="468815" y="187577"/>
            <a:ext cx="11275153" cy="3827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9" name="文档" r:id="rId3" imgW="4510061" imgH="1530956" progId="Word.Document.12">
                    <p:embed/>
                  </p:oleObj>
                </mc:Choice>
                <mc:Fallback>
                  <p:oleObj name="文档" r:id="rId3" imgW="4510061" imgH="153095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68815" y="187577"/>
                          <a:ext cx="11275153" cy="382739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81000" y="3917110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切点为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1,1),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切线斜率为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因而切线方程为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x-y+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0;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切点为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(2,4),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切线斜率为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因而切线方程为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故所求的切线方程为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x-y+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107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1430346"/>
            <a:ext cx="11430000" cy="2359137"/>
            <a:chOff x="381000" y="1409564"/>
            <a:chExt cx="11430000" cy="2359137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0862541"/>
                </p:ext>
              </p:extLst>
            </p:nvPr>
          </p:nvGraphicFramePr>
          <p:xfrm>
            <a:off x="479206" y="1409564"/>
            <a:ext cx="11275153" cy="1258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2" name="文档" r:id="rId3" imgW="4510061" imgH="503490" progId="Word.Document.12">
                    <p:embed/>
                  </p:oleObj>
                </mc:Choice>
                <mc:Fallback>
                  <p:oleObj name="文档" r:id="rId3" imgW="4510061" imgH="50349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79206" y="1409564"/>
                          <a:ext cx="11275153" cy="12587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2616334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切点为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(2,4),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切线方程为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故所求的切线方程为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8750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203</TotalTime>
  <Words>1834</Words>
  <Application>Microsoft Office PowerPoint</Application>
  <PresentationFormat>宽屏</PresentationFormat>
  <Paragraphs>151</Paragraphs>
  <Slides>37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7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39</cp:revision>
  <dcterms:created xsi:type="dcterms:W3CDTF">2021-08-30T08:30:26Z</dcterms:created>
  <dcterms:modified xsi:type="dcterms:W3CDTF">2025-08-01T06:44:44Z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