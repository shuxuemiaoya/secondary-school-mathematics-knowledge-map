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5"/>
  </p:notesMasterIdLst>
  <p:sldIdLst>
    <p:sldId id="677" r:id="rId2"/>
    <p:sldId id="488" r:id="rId3"/>
    <p:sldId id="494" r:id="rId4"/>
    <p:sldId id="392" r:id="rId5"/>
    <p:sldId id="686" r:id="rId6"/>
    <p:sldId id="687" r:id="rId7"/>
    <p:sldId id="688" r:id="rId8"/>
    <p:sldId id="689" r:id="rId9"/>
    <p:sldId id="690" r:id="rId10"/>
    <p:sldId id="691" r:id="rId11"/>
    <p:sldId id="692" r:id="rId12"/>
    <p:sldId id="693" r:id="rId13"/>
    <p:sldId id="694" r:id="rId14"/>
    <p:sldId id="407" r:id="rId15"/>
    <p:sldId id="394" r:id="rId16"/>
    <p:sldId id="767" r:id="rId17"/>
    <p:sldId id="699" r:id="rId18"/>
    <p:sldId id="402" r:id="rId19"/>
    <p:sldId id="712" r:id="rId20"/>
    <p:sldId id="713" r:id="rId21"/>
    <p:sldId id="714" r:id="rId22"/>
    <p:sldId id="715" r:id="rId23"/>
    <p:sldId id="719" r:id="rId24"/>
    <p:sldId id="498" r:id="rId25"/>
    <p:sldId id="730" r:id="rId26"/>
    <p:sldId id="733" r:id="rId27"/>
    <p:sldId id="743" r:id="rId28"/>
    <p:sldId id="744" r:id="rId29"/>
    <p:sldId id="741" r:id="rId30"/>
    <p:sldId id="738" r:id="rId31"/>
    <p:sldId id="751" r:id="rId32"/>
    <p:sldId id="752" r:id="rId33"/>
    <p:sldId id="753" r:id="rId34"/>
    <p:sldId id="754" r:id="rId35"/>
    <p:sldId id="755" r:id="rId36"/>
    <p:sldId id="765" r:id="rId37"/>
    <p:sldId id="766" r:id="rId38"/>
    <p:sldId id="398" r:id="rId39"/>
    <p:sldId id="395" r:id="rId40"/>
    <p:sldId id="756" r:id="rId41"/>
    <p:sldId id="758" r:id="rId42"/>
    <p:sldId id="759" r:id="rId43"/>
    <p:sldId id="490" r:id="rId4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1" userDrawn="1">
          <p15:clr>
            <a:srgbClr val="A4A3A4"/>
          </p15:clr>
        </p15:guide>
        <p15:guide id="2" pos="211" userDrawn="1">
          <p15:clr>
            <a:srgbClr val="A4A3A4"/>
          </p15:clr>
        </p15:guide>
        <p15:guide id="3" orient="horz" pos="436" userDrawn="1">
          <p15:clr>
            <a:srgbClr val="A4A3A4"/>
          </p15:clr>
        </p15:guide>
        <p15:guide id="4" orient="horz" pos="777" userDrawn="1">
          <p15:clr>
            <a:srgbClr val="A4A3A4"/>
          </p15:clr>
        </p15:guide>
        <p15:guide id="5" orient="horz" pos="28" userDrawn="1">
          <p15:clr>
            <a:srgbClr val="A4A3A4"/>
          </p15:clr>
        </p15:guide>
        <p15:guide id="6" pos="279" userDrawn="1">
          <p15:clr>
            <a:srgbClr val="A4A3A4"/>
          </p15:clr>
        </p15:guide>
        <p15:guide id="7" orient="horz" pos="7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5B3E"/>
    <a:srgbClr val="7088DB"/>
    <a:srgbClr val="CF5B1B"/>
    <a:srgbClr val="38425D"/>
    <a:srgbClr val="4472C4"/>
    <a:srgbClr val="DFF0F5"/>
    <a:srgbClr val="4040C8"/>
    <a:srgbClr val="159470"/>
    <a:srgbClr val="157392"/>
    <a:srgbClr val="1593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84"/>
      </p:cViewPr>
      <p:guideLst>
        <p:guide orient="horz" pos="391"/>
        <p:guide pos="211"/>
        <p:guide orient="horz" pos="436"/>
        <p:guide orient="horz" pos="777"/>
        <p:guide orient="horz" pos="28"/>
        <p:guide pos="279"/>
        <p:guide orient="horz" pos="7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9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image" Target="../media/image9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image" Target="../media/image15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image" Target="../media/image22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image" Target="../media/image26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image" Target="../media/image30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image" Target="../media/image34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B3386-1164-4DE5-87D6-99DD641BC976}" type="datetimeFigureOut">
              <a:rPr lang="zh-CN" altLang="en-US" smtClean="0"/>
              <a:t>2025-08-01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DB411-4171-48A7-B819-B87F89F6C7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488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8.xml"/><Relationship Id="rId2" Type="http://schemas.openxmlformats.org/officeDocument/2006/relationships/slide" Target="../slides/slide15.xml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29.xml"/><Relationship Id="rId4" Type="http://schemas.openxmlformats.org/officeDocument/2006/relationships/slide" Target="../slides/slide24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>
            <a:hlinkClick r:id="rId2" action="ppaction://hlinksldjump"/>
          </p:cNvPr>
          <p:cNvSpPr/>
          <p:nvPr userDrawn="1"/>
        </p:nvSpPr>
        <p:spPr>
          <a:xfrm>
            <a:off x="7905747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探究一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圆角矩形 7">
            <a:hlinkClick r:id="rId3" action="ppaction://hlinksldjump"/>
          </p:cNvPr>
          <p:cNvSpPr/>
          <p:nvPr userDrawn="1"/>
        </p:nvSpPr>
        <p:spPr>
          <a:xfrm>
            <a:off x="8972091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探究二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圆角矩形 8">
            <a:hlinkClick r:id="rId4" action="ppaction://hlinksldjump"/>
          </p:cNvPr>
          <p:cNvSpPr/>
          <p:nvPr userDrawn="1"/>
        </p:nvSpPr>
        <p:spPr>
          <a:xfrm>
            <a:off x="10038435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探究三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圆角矩形 5">
            <a:hlinkClick r:id="rId5" action="ppaction://hlinksldjump"/>
          </p:cNvPr>
          <p:cNvSpPr/>
          <p:nvPr userDrawn="1"/>
        </p:nvSpPr>
        <p:spPr>
          <a:xfrm>
            <a:off x="11104779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规范解答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slide" Target="slide4.xml"/><Relationship Id="rId1" Type="http://schemas.openxmlformats.org/officeDocument/2006/relationships/slideLayout" Target="../slideLayouts/slideLayout1.xml"/><Relationship Id="rId4" Type="http://schemas.openxmlformats.org/officeDocument/2006/relationships/slide" Target="slide3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emf"/><Relationship Id="rId5" Type="http://schemas.openxmlformats.org/officeDocument/2006/relationships/package" Target="../embeddings/Microsoft_Word___2.docx"/><Relationship Id="rId4" Type="http://schemas.openxmlformats.org/officeDocument/2006/relationships/image" Target="../media/image2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4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5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5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6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6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7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8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0.emf"/><Relationship Id="rId5" Type="http://schemas.openxmlformats.org/officeDocument/2006/relationships/package" Target="../embeddings/Microsoft_Word___9.docx"/><Relationship Id="rId4" Type="http://schemas.openxmlformats.org/officeDocument/2006/relationships/image" Target="../media/image9.e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1.emf"/><Relationship Id="rId4" Type="http://schemas.openxmlformats.org/officeDocument/2006/relationships/package" Target="../embeddings/Microsoft_Word___10.docx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4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6.emf"/><Relationship Id="rId5" Type="http://schemas.openxmlformats.org/officeDocument/2006/relationships/package" Target="../embeddings/Microsoft_Word___13.docx"/><Relationship Id="rId4" Type="http://schemas.openxmlformats.org/officeDocument/2006/relationships/image" Target="../media/image15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4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17.e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18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19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20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21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23.emf"/><Relationship Id="rId5" Type="http://schemas.openxmlformats.org/officeDocument/2006/relationships/package" Target="../embeddings/Microsoft_Word___20.docx"/><Relationship Id="rId4" Type="http://schemas.openxmlformats.org/officeDocument/2006/relationships/image" Target="../media/image22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24.e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25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27.emf"/><Relationship Id="rId5" Type="http://schemas.openxmlformats.org/officeDocument/2006/relationships/package" Target="../embeddings/Microsoft_Word___24.docx"/><Relationship Id="rId4" Type="http://schemas.openxmlformats.org/officeDocument/2006/relationships/image" Target="../media/image26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28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4" Type="http://schemas.openxmlformats.org/officeDocument/2006/relationships/image" Target="../media/image29.emf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7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31.emf"/><Relationship Id="rId5" Type="http://schemas.openxmlformats.org/officeDocument/2006/relationships/package" Target="../embeddings/Microsoft_Word___28.docx"/><Relationship Id="rId4" Type="http://schemas.openxmlformats.org/officeDocument/2006/relationships/image" Target="../media/image30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9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3.vml"/><Relationship Id="rId5" Type="http://schemas.openxmlformats.org/officeDocument/2006/relationships/image" Target="../media/image33.png"/><Relationship Id="rId4" Type="http://schemas.openxmlformats.org/officeDocument/2006/relationships/image" Target="../media/image32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0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35.emf"/><Relationship Id="rId5" Type="http://schemas.openxmlformats.org/officeDocument/2006/relationships/package" Target="../embeddings/Microsoft_Word___31.docx"/><Relationship Id="rId4" Type="http://schemas.openxmlformats.org/officeDocument/2006/relationships/image" Target="../media/image34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2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5.vml"/><Relationship Id="rId4" Type="http://schemas.openxmlformats.org/officeDocument/2006/relationships/image" Target="../media/image36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300879" y="519978"/>
            <a:ext cx="40479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2400" b="1" spc="600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高中同步测控优化设计</a:t>
            </a:r>
            <a:endParaRPr lang="zh-CN" altLang="en-US" sz="2400" b="1" spc="600" dirty="0">
              <a:solidFill>
                <a:srgbClr val="757C8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2282351" y="1003843"/>
            <a:ext cx="4305485" cy="0"/>
          </a:xfrm>
          <a:prstGeom prst="line">
            <a:avLst/>
          </a:prstGeom>
          <a:ln>
            <a:solidFill>
              <a:schemeClr val="tx1"/>
            </a:solidFill>
            <a:prstDash val="lgDashDotDot"/>
            <a:headEnd type="diamond" w="med" len="med"/>
            <a:tailEnd type="diamond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2173232" y="1026313"/>
            <a:ext cx="44146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GAO ZHONG TONG </a:t>
            </a:r>
            <a:r>
              <a:rPr lang="en-US" altLang="zh-CN" sz="1600" b="1" dirty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 CE KONG YOU HUA SHE JI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635" y="2775585"/>
            <a:ext cx="12191365" cy="1478915"/>
            <a:chOff x="303375" y="3227146"/>
            <a:chExt cx="11560182" cy="1479076"/>
          </a:xfrm>
        </p:grpSpPr>
        <p:sp>
          <p:nvSpPr>
            <p:cNvPr id="6" name="矩形 5"/>
            <p:cNvSpPr/>
            <p:nvPr/>
          </p:nvSpPr>
          <p:spPr>
            <a:xfrm>
              <a:off x="303375" y="3227146"/>
              <a:ext cx="11560182" cy="1479076"/>
            </a:xfrm>
            <a:prstGeom prst="rect">
              <a:avLst/>
            </a:prstGeom>
            <a:solidFill>
              <a:srgbClr val="6B7278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3665034" y="3614538"/>
              <a:ext cx="8158783" cy="6452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习题课</a:t>
              </a:r>
              <a:r>
                <a:rPr lang="en-US" altLang="zh-CN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——</a:t>
              </a:r>
              <a:r>
                <a:rPr lang="zh-CN" altLang="en-US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函数最值的应用</a:t>
              </a:r>
            </a:p>
          </p:txBody>
        </p:sp>
      </p:grpSp>
      <p:sp>
        <p:nvSpPr>
          <p:cNvPr id="8" name="矩形 7"/>
          <p:cNvSpPr/>
          <p:nvPr/>
        </p:nvSpPr>
        <p:spPr>
          <a:xfrm>
            <a:off x="1109345" y="2277745"/>
            <a:ext cx="2282825" cy="2407920"/>
          </a:xfrm>
          <a:prstGeom prst="rect">
            <a:avLst/>
          </a:prstGeom>
          <a:solidFill>
            <a:srgbClr val="748773"/>
          </a:solidFill>
          <a:ln w="12700" cap="flat" cmpd="sng" algn="ctr">
            <a:noFill/>
            <a:prstDash val="solid"/>
            <a:miter lim="800000"/>
          </a:ln>
          <a:effectLst>
            <a:outerShdw blurRad="317500" dist="127000" dir="2700000" algn="tl" rotWithShape="0">
              <a:prstClr val="black">
                <a:alpha val="25000"/>
              </a:prst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none" rtlCol="0" anchor="ctr"/>
          <a:lstStyle/>
          <a:p>
            <a:pPr algn="ctr"/>
            <a:r>
              <a:rPr lang="zh-CN" altLang="en-US" sz="3600" b="1" kern="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第五章</a:t>
            </a:r>
            <a:endParaRPr lang="en-US" altLang="zh-CN" sz="3600" b="1" kern="0" dirty="0" smtClean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cs typeface="Open Sans" panose="020B0606030504020204" pitchFamily="34" charset="0"/>
            </a:endParaRPr>
          </a:p>
        </p:txBody>
      </p:sp>
      <p:pic>
        <p:nvPicPr>
          <p:cNvPr id="10" name="图片 9" descr="e37b0ec1d4924ecca897357d279cf88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1370" y="175260"/>
            <a:ext cx="1453515" cy="145351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001385" y="587446"/>
            <a:ext cx="1052723" cy="587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rgbClr val="757C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3949984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  <p:bldLst>
      <p:bldP spid="2" grpId="0"/>
      <p:bldP spid="4" grpId="0"/>
      <p:bldP spid="8" grpId="0" bldLvl="0" animBg="1"/>
      <p:bldP spid="1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/>
        </p:nvSpPr>
        <p:spPr>
          <a:xfrm>
            <a:off x="1788494" y="1591871"/>
            <a:ext cx="9429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800" smtClean="0">
                <a:solidFill>
                  <a:srgbClr val="2C3814"/>
                </a:solidFill>
                <a:cs typeface="+mn-ea"/>
                <a:sym typeface="+mn-lt"/>
              </a:rPr>
              <a:t>内容索引</a:t>
            </a:r>
            <a:endParaRPr kumimoji="1" lang="zh-CN" altLang="en-US" sz="4800" dirty="0">
              <a:solidFill>
                <a:srgbClr val="2C3814"/>
              </a:solidFill>
              <a:cs typeface="+mn-ea"/>
              <a:sym typeface="+mn-lt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1378713" y="856615"/>
            <a:ext cx="1105802" cy="815646"/>
            <a:chOff x="-1604504" y="2147667"/>
            <a:chExt cx="3687215" cy="2719712"/>
          </a:xfrm>
        </p:grpSpPr>
        <p:cxnSp>
          <p:nvCxnSpPr>
            <p:cNvPr id="26" name="直接连接符 25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27" name="直接连接符 26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28" name="组合 27"/>
          <p:cNvGrpSpPr/>
          <p:nvPr/>
        </p:nvGrpSpPr>
        <p:grpSpPr>
          <a:xfrm flipH="1" flipV="1">
            <a:off x="1707083" y="4546456"/>
            <a:ext cx="1105803" cy="815646"/>
            <a:chOff x="-1604504" y="2147667"/>
            <a:chExt cx="3687215" cy="2719712"/>
          </a:xfrm>
        </p:grpSpPr>
        <p:cxnSp>
          <p:nvCxnSpPr>
            <p:cNvPr id="38" name="直接连接符 37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39" name="直接连接符 38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grpSp>
        <p:nvGrpSpPr>
          <p:cNvPr id="40" name="组合 39"/>
          <p:cNvGrpSpPr/>
          <p:nvPr/>
        </p:nvGrpSpPr>
        <p:grpSpPr>
          <a:xfrm>
            <a:off x="4764013" y="1194282"/>
            <a:ext cx="804581" cy="804581"/>
            <a:chOff x="3685832" y="623962"/>
            <a:chExt cx="739840" cy="739840"/>
          </a:xfrm>
        </p:grpSpPr>
        <p:sp>
          <p:nvSpPr>
            <p:cNvPr id="44" name="椭圆 43"/>
            <p:cNvSpPr/>
            <p:nvPr/>
          </p:nvSpPr>
          <p:spPr>
            <a:xfrm>
              <a:off x="3685832" y="623962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E93F3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5" name="TextBox 7"/>
            <p:cNvSpPr txBox="1"/>
            <p:nvPr/>
          </p:nvSpPr>
          <p:spPr>
            <a:xfrm>
              <a:off x="3786929" y="743838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01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4764013" y="2760859"/>
            <a:ext cx="804581" cy="804581"/>
            <a:chOff x="3685832" y="1673493"/>
            <a:chExt cx="739840" cy="739840"/>
          </a:xfrm>
        </p:grpSpPr>
        <p:sp>
          <p:nvSpPr>
            <p:cNvPr id="47" name="椭圆 46"/>
            <p:cNvSpPr/>
            <p:nvPr/>
          </p:nvSpPr>
          <p:spPr>
            <a:xfrm>
              <a:off x="3685832" y="1673493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8" name="TextBox 10"/>
            <p:cNvSpPr txBox="1"/>
            <p:nvPr/>
          </p:nvSpPr>
          <p:spPr>
            <a:xfrm>
              <a:off x="3786931" y="1793369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02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4764013" y="4327435"/>
            <a:ext cx="804581" cy="804581"/>
            <a:chOff x="3685832" y="2723024"/>
            <a:chExt cx="739840" cy="739840"/>
          </a:xfrm>
        </p:grpSpPr>
        <p:sp>
          <p:nvSpPr>
            <p:cNvPr id="50" name="椭圆 49"/>
            <p:cNvSpPr/>
            <p:nvPr/>
          </p:nvSpPr>
          <p:spPr>
            <a:xfrm>
              <a:off x="3685832" y="2723024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1905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51" name="TextBox 13"/>
            <p:cNvSpPr txBox="1"/>
            <p:nvPr/>
          </p:nvSpPr>
          <p:spPr>
            <a:xfrm>
              <a:off x="3786929" y="2842900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03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sp>
        <p:nvSpPr>
          <p:cNvPr id="52" name="矩形 51">
            <a:hlinkClick r:id="rId2" action="ppaction://hlinksldjump"/>
          </p:cNvPr>
          <p:cNvSpPr/>
          <p:nvPr/>
        </p:nvSpPr>
        <p:spPr>
          <a:xfrm>
            <a:off x="5678538" y="1286748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自主预习 新知导学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3" name="矩形 52">
            <a:hlinkClick r:id="rId3" action="ppaction://hlinksldjump"/>
          </p:cNvPr>
          <p:cNvSpPr/>
          <p:nvPr/>
        </p:nvSpPr>
        <p:spPr>
          <a:xfrm>
            <a:off x="5678538" y="2871606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合作探究 释疑解惑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4" name="矩形 53">
            <a:hlinkClick r:id="rId4" action="ppaction://hlinksldjump"/>
          </p:cNvPr>
          <p:cNvSpPr/>
          <p:nvPr/>
        </p:nvSpPr>
        <p:spPr>
          <a:xfrm>
            <a:off x="5678538" y="4456463"/>
            <a:ext cx="1556836" cy="5024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随堂练习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17500" y="701716"/>
            <a:ext cx="11557000" cy="5689151"/>
          </a:xfrm>
          <a:prstGeom prst="rect">
            <a:avLst/>
          </a:prstGeom>
          <a:noFill/>
          <a:ln w="19050">
            <a:gradFill>
              <a:gsLst>
                <a:gs pos="100000">
                  <a:schemeClr val="accent1">
                    <a:lumMod val="5000"/>
                    <a:lumOff val="95000"/>
                  </a:schemeClr>
                </a:gs>
                <a:gs pos="57000">
                  <a:schemeClr val="tx1">
                    <a:lumMod val="50000"/>
                    <a:lumOff val="50000"/>
                  </a:schemeClr>
                </a:gs>
                <a:gs pos="29000">
                  <a:schemeClr val="tx1"/>
                </a:gs>
                <a:gs pos="100000">
                  <a:schemeClr val="bg1"/>
                </a:gs>
              </a:gsLst>
              <a:lin ang="5400000" scaled="1"/>
            </a:gra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4766695" y="446122"/>
            <a:ext cx="3253105" cy="49064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课标定</a:t>
            </a:r>
            <a:r>
              <a:rPr lang="zh-CN" altLang="en-US" sz="2800" kern="0" dirty="0" smtClean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位素养</a:t>
            </a: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阐释</a:t>
            </a:r>
          </a:p>
        </p:txBody>
      </p:sp>
      <p:sp>
        <p:nvSpPr>
          <p:cNvPr id="3" name="矩形 2"/>
          <p:cNvSpPr>
            <a:spLocks noChangeAspect="1"/>
          </p:cNvSpPr>
          <p:nvPr/>
        </p:nvSpPr>
        <p:spPr>
          <a:xfrm>
            <a:off x="381000" y="1243879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会求含参数的函数的最值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掌握利用导数证明不等式的方法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会利用导数解决不等式中的恒成立问题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会用导数解决一些实际问题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通过研究函数最值的应用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提升直观想象、逻辑推理与数学运算素养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lang="zh-CN" altLang="en-US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自主预习 新知导学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3879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一、利用导数证明不等式的方法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证明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可以构造函数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的最大值存在时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利用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的单调性求最大值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证明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证明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可以构造函数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的最小值存在时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利用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的单调性求最小值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证明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350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2541"/>
            <a:ext cx="11430000" cy="401340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证明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不等式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:e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+x.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证明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令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+∞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单调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递增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,0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单调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递减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处取得极小值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也是最小值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从而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+x.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6176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3879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二、利用导数解决不等式的恒成立问题的策略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构造函数法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利用导数求出所构造的函数的最大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转化为关于最大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值的不等式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求出参数的取值范围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分离参数法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把参数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或关于参数的代数式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分离到不等式的一边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另一边构造函数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求出所构造函数的最大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解关于参数的不等式即可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933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81000" y="85348"/>
            <a:ext cx="11430000" cy="1243813"/>
            <a:chOff x="381000" y="23002"/>
            <a:chExt cx="11430000" cy="1243813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54175"/>
              <a:ext cx="11430000" cy="121264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8067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设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函数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  x</a:t>
              </a:r>
              <a:r>
                <a:rPr lang="en-US" altLang="zh-CN" sz="2800" baseline="300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zh-CN" sz="2800" i="1" baseline="300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∈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2,2]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不等式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&gt;m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恒成立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则实数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的取值范围是</a:t>
              </a:r>
              <a:r>
                <a:rPr lang="zh-CN" altLang="zh-CN" sz="2800" i="1" u="sng" dirty="0">
                  <a:solidFill>
                    <a:srgbClr val="FF0000"/>
                  </a:solidFill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　　　　　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800" i="1" dirty="0"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 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9929254"/>
                </p:ext>
              </p:extLst>
            </p:nvPr>
          </p:nvGraphicFramePr>
          <p:xfrm>
            <a:off x="2665601" y="23002"/>
            <a:ext cx="527178" cy="7537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3" name="文档" r:id="rId3" imgW="285035" imgH="397130" progId="Word.Document.12">
                    <p:embed/>
                  </p:oleObj>
                </mc:Choice>
                <mc:Fallback>
                  <p:oleObj name="文档" r:id="rId3" imgW="285035" imgH="39713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665601" y="23002"/>
                          <a:ext cx="527178" cy="75379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组合 8"/>
          <p:cNvGrpSpPr/>
          <p:nvPr/>
        </p:nvGrpSpPr>
        <p:grpSpPr>
          <a:xfrm>
            <a:off x="58881" y="1142123"/>
            <a:ext cx="11752119" cy="2081072"/>
            <a:chOff x="58881" y="1079777"/>
            <a:chExt cx="11752119" cy="2081072"/>
          </a:xfrm>
        </p:grpSpPr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79630171"/>
                </p:ext>
              </p:extLst>
            </p:nvPr>
          </p:nvGraphicFramePr>
          <p:xfrm>
            <a:off x="58881" y="1079777"/>
            <a:ext cx="11430000" cy="1005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4" name="文档" r:id="rId5" imgW="4510061" imgH="396786" progId="Word.Document.12">
                    <p:embed/>
                  </p:oleObj>
                </mc:Choice>
                <mc:Fallback>
                  <p:oleObj name="文档" r:id="rId5" imgW="4510061" imgH="39678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8881" y="1079777"/>
                          <a:ext cx="11430000" cy="10055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81000" y="1948209"/>
              <a:ext cx="11430000" cy="121264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令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或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x=-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变化时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随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的变化情况如下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表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矩形 6"/>
          <p:cNvSpPr>
            <a:spLocks noChangeAspect="1"/>
          </p:cNvSpPr>
          <p:nvPr/>
        </p:nvSpPr>
        <p:spPr>
          <a:xfrm>
            <a:off x="381000" y="4862205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因此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要使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2,2]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恒成立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m&lt;f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,0)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730331561"/>
              </p:ext>
            </p:extLst>
          </p:nvPr>
        </p:nvGraphicFramePr>
        <p:xfrm>
          <a:off x="381000" y="3254368"/>
          <a:ext cx="11430000" cy="1536192"/>
        </p:xfrm>
        <a:graphic>
          <a:graphicData uri="http://schemas.openxmlformats.org/drawingml/2006/table">
            <a:tbl>
              <a:tblPr firstRow="1" firstCol="1" bandRow="1"/>
              <a:tblGrid>
                <a:gridCol w="2633472"/>
                <a:gridCol w="3088386"/>
                <a:gridCol w="2251433"/>
                <a:gridCol w="3456709"/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8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2,0)</a:t>
                      </a:r>
                      <a:endParaRPr lang="zh-CN" sz="2800" dirty="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(0,2)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f'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单调递减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极小值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单调递增</a:t>
                      </a:r>
                      <a:endParaRPr lang="zh-CN" sz="2800" dirty="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103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433354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三、解决实际问题的基本思路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实际问题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用函数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表示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数学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问题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　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实际问题的答案</a:t>
            </a:r>
            <a:r>
              <a:rPr lang="en-US" altLang="zh-CN" sz="2800" dirty="0">
                <a:solidFill>
                  <a:srgbClr val="000000"/>
                </a:solidFill>
                <a:latin typeface="NEU-BZ-S92"/>
                <a:ea typeface="NEU-BZ-S92"/>
                <a:cs typeface="Times New Roman" panose="02020603050405020304" pitchFamily="18" charset="0"/>
              </a:rPr>
              <a:t>←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用导数解决数学问题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8719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3547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要做一个圆锥形漏斗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其母线长为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 cm,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若使其体积最大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则高应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80670" algn="r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8374805"/>
              </p:ext>
            </p:extLst>
          </p:nvPr>
        </p:nvGraphicFramePr>
        <p:xfrm>
          <a:off x="41564" y="1845523"/>
          <a:ext cx="11430000" cy="20102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4" name="文档" r:id="rId3" imgW="4510061" imgH="793212" progId="Word.Document.12">
                  <p:embed/>
                </p:oleObj>
              </mc:Choice>
              <mc:Fallback>
                <p:oleObj name="文档" r:id="rId3" imgW="4510061" imgH="79321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564" y="1845523"/>
                        <a:ext cx="11430000" cy="20102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3716910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用长为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 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的钢条围成一个长方体形状的框架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要求长方体的长与宽之比为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则该长方体的最大体积是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3648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385652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设高为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cm,0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&lt;h&lt;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体积为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则底面半径的平方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-h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-h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002975"/>
              </p:ext>
            </p:extLst>
          </p:nvPr>
        </p:nvGraphicFramePr>
        <p:xfrm>
          <a:off x="33338" y="1573502"/>
          <a:ext cx="11401425" cy="3932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文档" r:id="rId3" imgW="4510061" imgH="1561143" progId="Word.Document.12">
                  <p:embed/>
                </p:oleObj>
              </mc:Choice>
              <mc:Fallback>
                <p:oleObj name="文档" r:id="rId3" imgW="4510061" imgH="156114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338" y="1573502"/>
                        <a:ext cx="11401425" cy="3932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9150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81000" y="1850876"/>
            <a:ext cx="11430000" cy="339298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令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V'=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舍去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根据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的单调性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处取得极大值也是最大值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故当该长方体的长、宽、高分别为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m,1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m,1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体积最大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最大体积为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(1)A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(2)3 m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1971726"/>
              </p:ext>
            </p:extLst>
          </p:nvPr>
        </p:nvGraphicFramePr>
        <p:xfrm>
          <a:off x="41564" y="460517"/>
          <a:ext cx="11430000" cy="1452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2" name="文档" r:id="rId3" imgW="4510061" imgH="573210" progId="Word.Document.12">
                  <p:embed/>
                </p:oleObj>
              </mc:Choice>
              <mc:Fallback>
                <p:oleObj name="文档" r:id="rId3" imgW="4510061" imgH="57321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564" y="460517"/>
                        <a:ext cx="11430000" cy="14527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86484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2541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【思考辨析】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正确的在后面的括号里画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错误的画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“×”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4303240"/>
              </p:ext>
            </p:extLst>
          </p:nvPr>
        </p:nvGraphicFramePr>
        <p:xfrm>
          <a:off x="51955" y="1865299"/>
          <a:ext cx="11430000" cy="26139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7" name="文档" r:id="rId3" imgW="4510061" imgH="1034672" progId="Word.Document.12">
                  <p:embed/>
                </p:oleObj>
              </mc:Choice>
              <mc:Fallback>
                <p:oleObj name="文档" r:id="rId3" imgW="4510061" imgH="103467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955" y="1865299"/>
                        <a:ext cx="11430000" cy="26139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>
            <a:spLocks noChangeAspect="1"/>
          </p:cNvSpPr>
          <p:nvPr/>
        </p:nvSpPr>
        <p:spPr>
          <a:xfrm>
            <a:off x="7464517" y="2085062"/>
            <a:ext cx="543739" cy="6002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×</a:t>
            </a:r>
            <a:endParaRPr lang="zh-CN" altLang="en-US" sz="2800" dirty="0"/>
          </a:p>
        </p:txBody>
      </p:sp>
      <p:sp>
        <p:nvSpPr>
          <p:cNvPr id="7" name="矩形 6"/>
          <p:cNvSpPr>
            <a:spLocks noChangeAspect="1"/>
          </p:cNvSpPr>
          <p:nvPr/>
        </p:nvSpPr>
        <p:spPr>
          <a:xfrm>
            <a:off x="10975193" y="2870092"/>
            <a:ext cx="420308" cy="6043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endParaRPr lang="zh-CN" altLang="en-US" sz="2800" dirty="0"/>
          </a:p>
        </p:txBody>
      </p:sp>
      <p:sp>
        <p:nvSpPr>
          <p:cNvPr id="8" name="矩形 7"/>
          <p:cNvSpPr>
            <a:spLocks noChangeAspect="1"/>
          </p:cNvSpPr>
          <p:nvPr/>
        </p:nvSpPr>
        <p:spPr>
          <a:xfrm>
            <a:off x="10348326" y="3695653"/>
            <a:ext cx="543739" cy="6002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×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23326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合作探究 释疑解惑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36" name="矩形 35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38" name="矩形 37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探究一</a:t>
                </a:r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证明不等式</a:t>
                </a: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959201"/>
            <a:ext cx="11430000" cy="401340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证明不等式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证明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2e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2(1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2(1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+∞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单调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递减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81000" y="1243879"/>
            <a:ext cx="11430000" cy="283282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反思感悟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利利用导数法证明不等式的思路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的最小值存在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要证明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成立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只需证明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即可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若要证明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上成立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基本方法是先构造函数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上存在最小值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再根据函数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上的单调性证明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6940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49948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证明不等式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x&lt;x&lt;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证明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先证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x&lt;x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1564" y="1058151"/>
            <a:ext cx="11769436" cy="5466224"/>
            <a:chOff x="41564" y="1058151"/>
            <a:chExt cx="11769436" cy="5466224"/>
          </a:xfrm>
        </p:grpSpPr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52159944"/>
                </p:ext>
              </p:extLst>
            </p:nvPr>
          </p:nvGraphicFramePr>
          <p:xfrm>
            <a:off x="41564" y="1058151"/>
            <a:ext cx="11430000" cy="1005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69" name="文档" r:id="rId3" imgW="4510061" imgH="396786" progId="Word.Document.12">
                    <p:embed/>
                  </p:oleObj>
                </mc:Choice>
                <mc:Fallback>
                  <p:oleObj name="文档" r:id="rId3" imgW="4510061" imgH="39678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1564" y="1058151"/>
                          <a:ext cx="11430000" cy="10055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1950815"/>
              <a:ext cx="11430000" cy="457356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令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解得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&lt;x&lt;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函数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在区间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(0,1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内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单调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递减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x&gt;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&gt;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函数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在区间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+∞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内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单调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递增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所以当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函数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有极小值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也是最小值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最小值为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&gt;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=x-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x&gt;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从而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x&gt;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x.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再证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x&lt;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zh-CN" sz="2800" i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设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zh-CN" sz="2800" i="1" baseline="300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-x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zh-CN" sz="2800" i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x&gt;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&gt;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在区间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(0,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+∞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内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为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增函数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&gt;g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(0)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&gt;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zh-CN" sz="2800" i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-x&gt;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zh-CN" sz="2800" i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&gt;x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综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上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x&lt;x&lt;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zh-CN" sz="2800" i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x&gt;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49963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探究二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不等式恒成立问题</a:t>
                </a:r>
              </a:p>
            </p:txBody>
          </p:sp>
        </p:grpSp>
      </p:grpSp>
      <p:grpSp>
        <p:nvGrpSpPr>
          <p:cNvPr id="4" name="组合 3"/>
          <p:cNvGrpSpPr/>
          <p:nvPr/>
        </p:nvGrpSpPr>
        <p:grpSpPr>
          <a:xfrm>
            <a:off x="381000" y="609022"/>
            <a:ext cx="11430000" cy="1313804"/>
            <a:chOff x="381000" y="609022"/>
            <a:chExt cx="11430000" cy="1313804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710186"/>
              <a:ext cx="11430000" cy="121264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【例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】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已知函数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300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   x</a:t>
              </a:r>
              <a:r>
                <a:rPr lang="en-US" altLang="zh-CN" sz="2800" baseline="300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x+c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若对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∈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1,2],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不等式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&lt;c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恒成立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求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的取值范围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1206891"/>
                </p:ext>
              </p:extLst>
            </p:nvPr>
          </p:nvGraphicFramePr>
          <p:xfrm>
            <a:off x="4600600" y="609022"/>
            <a:ext cx="518233" cy="8317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12" name="文档" r:id="rId3" imgW="255873" imgH="398985" progId="Word.Document.12">
                    <p:embed/>
                  </p:oleObj>
                </mc:Choice>
                <mc:Fallback>
                  <p:oleObj name="文档" r:id="rId3" imgW="255873" imgH="39898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600600" y="609022"/>
                          <a:ext cx="518233" cy="8317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9775032"/>
              </p:ext>
            </p:extLst>
          </p:nvPr>
        </p:nvGraphicFramePr>
        <p:xfrm>
          <a:off x="41566" y="1798134"/>
          <a:ext cx="11430000" cy="462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3" name="文档" r:id="rId5" imgW="4510061" imgH="1824641" progId="Word.Document.12">
                  <p:embed/>
                </p:oleObj>
              </mc:Choice>
              <mc:Fallback>
                <p:oleObj name="文档" r:id="rId5" imgW="4510061" imgH="182464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566" y="1798134"/>
                        <a:ext cx="11430000" cy="4624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3879"/>
            <a:ext cx="11430000" cy="283282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取得极小值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1,2]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上的最大值为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+c.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要使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&lt;c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1,2]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恒成立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c&lt;-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的取值范围是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∪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7313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629804"/>
            <a:ext cx="9272090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本例中若把条件改为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恒成立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求实数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的取值范围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3" name="延伸探究H.eps" descr="id:2147494559;FounderCES"/>
          <p:cNvPicPr/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57688" y="230925"/>
            <a:ext cx="2016224" cy="367706"/>
          </a:xfrm>
          <a:prstGeom prst="rect">
            <a:avLst/>
          </a:prstGeom>
        </p:spPr>
      </p:pic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1039130"/>
              </p:ext>
            </p:extLst>
          </p:nvPr>
        </p:nvGraphicFramePr>
        <p:xfrm>
          <a:off x="50800" y="1199162"/>
          <a:ext cx="11430000" cy="50261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4" name="文档" r:id="rId4" imgW="4510061" imgH="1985013" progId="Word.Document.12">
                  <p:embed/>
                </p:oleObj>
              </mc:Choice>
              <mc:Fallback>
                <p:oleObj name="文档" r:id="rId4" imgW="4510061" imgH="198501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800" y="1199162"/>
                        <a:ext cx="11430000" cy="50261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4524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46529"/>
            <a:ext cx="7558479" cy="5922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反思感悟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不等式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恒成立问题常用的解题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方法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5" name="UMX2TRAX27.eps" descr="id:2147505335;FounderCES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192578" y="975772"/>
            <a:ext cx="7806844" cy="493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178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994497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=tx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x+t-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的最小值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t+m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恒成立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求实数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的取值范围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=t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x+t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-t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+t-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0),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x=-t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取最小值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-t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=-t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+t-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=-t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+t-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9211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7000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=h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t+m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=-t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-m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令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舍去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变化时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的变化情况如下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表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2587596"/>
              </p:ext>
            </p:extLst>
          </p:nvPr>
        </p:nvGraphicFramePr>
        <p:xfrm>
          <a:off x="381000" y="1886219"/>
          <a:ext cx="11430000" cy="29862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9" name="文档" r:id="rId3" imgW="4567145" imgH="1193242" progId="Word.Document.12">
                  <p:embed/>
                </p:oleObj>
              </mc:Choice>
              <mc:Fallback>
                <p:oleObj name="文档" r:id="rId3" imgW="4567145" imgH="119324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000" y="1886219"/>
                        <a:ext cx="11430000" cy="29862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3948283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(0,2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极大值也是最大值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-m.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t+m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恒成立等价于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恒成立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-m&lt;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的取值范围为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90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探究三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导数在实际问题中的应用</a:t>
                </a: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903571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某商场销售某种商品的经验表明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该商品每日的销售量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单位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千克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与销售价格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单位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元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千克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满足关系式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     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&lt;x&lt;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为常数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已知销售价格为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元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千克时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每日可售出该商品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千克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若该商品的成本为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元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千克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试确定销售价格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使商场每日销售该商品所获得的利润最大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5191268"/>
              </p:ext>
            </p:extLst>
          </p:nvPr>
        </p:nvGraphicFramePr>
        <p:xfrm>
          <a:off x="7397934" y="1374451"/>
          <a:ext cx="973492" cy="8291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0" name="文档" r:id="rId3" imgW="476360" imgH="397868" progId="Word.Document.12">
                  <p:embed/>
                </p:oleObj>
              </mc:Choice>
              <mc:Fallback>
                <p:oleObj name="文档" r:id="rId3" imgW="476360" imgH="39786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397934" y="1374451"/>
                        <a:ext cx="973492" cy="8291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5864525"/>
              </p:ext>
            </p:extLst>
          </p:nvPr>
        </p:nvGraphicFramePr>
        <p:xfrm>
          <a:off x="41566" y="4154636"/>
          <a:ext cx="11430000" cy="100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1" name="文档" r:id="rId5" imgW="4510061" imgH="396786" progId="Word.Document.12">
                  <p:embed/>
                </p:oleObj>
              </mc:Choice>
              <mc:Fallback>
                <p:oleObj name="文档" r:id="rId5" imgW="4510061" imgH="3967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566" y="4154636"/>
                        <a:ext cx="11430000" cy="1005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81000" y="2270747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从而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10[(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6)]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4)(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令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舍去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变化时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的变化情况如下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表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961205509"/>
              </p:ext>
            </p:extLst>
          </p:nvPr>
        </p:nvGraphicFramePr>
        <p:xfrm>
          <a:off x="381000" y="4089579"/>
          <a:ext cx="11430000" cy="1536192"/>
        </p:xfrm>
        <a:graphic>
          <a:graphicData uri="http://schemas.openxmlformats.org/drawingml/2006/table">
            <a:tbl>
              <a:tblPr firstRow="1" firstCol="1" bandRow="1"/>
              <a:tblGrid>
                <a:gridCol w="2402586"/>
                <a:gridCol w="3128841"/>
                <a:gridCol w="2517579"/>
                <a:gridCol w="3380994"/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(3,4)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(4,6)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f'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</a:t>
                      </a:r>
                      <a:endParaRPr lang="zh-CN" sz="2800" dirty="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单调递增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极大值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42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单调递减</a:t>
                      </a:r>
                      <a:endParaRPr lang="zh-CN" sz="2800" dirty="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7535146"/>
              </p:ext>
            </p:extLst>
          </p:nvPr>
        </p:nvGraphicFramePr>
        <p:xfrm>
          <a:off x="41564" y="269250"/>
          <a:ext cx="11430000" cy="20638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8" name="文档" r:id="rId3" imgW="4510061" imgH="814353" progId="Word.Document.12">
                  <p:embed/>
                </p:oleObj>
              </mc:Choice>
              <mc:Fallback>
                <p:oleObj name="文档" r:id="rId3" imgW="4510061" imgH="81435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564" y="269250"/>
                        <a:ext cx="11430000" cy="20638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82448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334816"/>
            <a:ext cx="11430000" cy="513371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由上表可知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(3,6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极大值点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也是最大值点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取得最大值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且最大值等于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故当销售价格为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元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千克时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商场每日销售该商品所获得的利润最大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反思</a:t>
            </a:r>
            <a:r>
              <a:rPr lang="zh-CN" altLang="en-US" sz="28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感悟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利用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导数解决实际问题中的最值的一般步骤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分析实际问题中各量之间的关系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建立实际问题的数学模型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写出实际问题中变量之间的函数解析式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求函数的导数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解方程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比较函数在区间端点和极值点处的函数值大小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求出最大值或最小值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把所得数学结论回归到数学问题中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看是否符合实际情况并下结论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7997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81000" y="1243879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某工厂生产某种产品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已知该产品的月生产量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单位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与产品的价格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单位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元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之间的函数解析式为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  x</a:t>
            </a:r>
            <a:r>
              <a:rPr lang="en-US" altLang="zh-CN" sz="2800" baseline="30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且生产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吨产品的成本为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50 000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问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该厂每月生产多少吨产品才能使利润达到最大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最大利润是多少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2187218"/>
              </p:ext>
            </p:extLst>
          </p:nvPr>
        </p:nvGraphicFramePr>
        <p:xfrm>
          <a:off x="9244562" y="1750724"/>
          <a:ext cx="527178" cy="753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3" name="文档" r:id="rId3" imgW="285035" imgH="397130" progId="Word.Document.12">
                  <p:embed/>
                </p:oleObj>
              </mc:Choice>
              <mc:Fallback>
                <p:oleObj name="文档" r:id="rId3" imgW="285035" imgH="39713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244562" y="1750724"/>
                        <a:ext cx="527178" cy="7537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28069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6249144"/>
              </p:ext>
            </p:extLst>
          </p:nvPr>
        </p:nvGraphicFramePr>
        <p:xfrm>
          <a:off x="41564" y="453800"/>
          <a:ext cx="11430000" cy="48535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9" name="文档" r:id="rId3" imgW="4510061" imgH="1915132" progId="Word.Document.12">
                  <p:embed/>
                </p:oleObj>
              </mc:Choice>
              <mc:Fallback>
                <p:oleObj name="文档" r:id="rId3" imgW="4510061" imgH="191513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564" y="453800"/>
                        <a:ext cx="11430000" cy="48535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57034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381000" y="50021"/>
            <a:ext cx="2362200" cy="6406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【</a:t>
            </a:r>
            <a:r>
              <a:rPr lang="zh-CN" altLang="en-US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规范解答</a:t>
            </a: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】</a:t>
            </a:r>
            <a:r>
              <a:rPr lang="en-US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 </a:t>
            </a:r>
            <a:endParaRPr lang="zh-CN" altLang="zh-CN" sz="3200" b="1" dirty="0">
              <a:solidFill>
                <a:srgbClr val="E88651">
                  <a:lumMod val="75000"/>
                </a:srgbClr>
              </a:solidFill>
              <a:latin typeface="黑体" panose="02010609060101010101" pitchFamily="49" charset="-122"/>
              <a:ea typeface="方正姚体" panose="02010601030101010101"/>
              <a:cs typeface="方正姚体" panose="02010601030101010101" charset="-122"/>
            </a:endParaRP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81000" y="1430917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两个函数中的存在性、任意性问题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【典例】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=x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  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其中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若对任意的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[1,e],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都有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成立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求实数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的取值范围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若存在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[1,e],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使得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求实数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的取值范围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4622525"/>
              </p:ext>
            </p:extLst>
          </p:nvPr>
        </p:nvGraphicFramePr>
        <p:xfrm>
          <a:off x="4058017" y="1970584"/>
          <a:ext cx="653606" cy="753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2" name="文档" r:id="rId3" imgW="351680" imgH="397868" progId="Word.Document.12">
                  <p:embed/>
                </p:oleObj>
              </mc:Choice>
              <mc:Fallback>
                <p:oleObj name="文档" r:id="rId3" imgW="351680" imgH="39786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58017" y="1970584"/>
                        <a:ext cx="653606" cy="7537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49546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6563273"/>
              </p:ext>
            </p:extLst>
          </p:nvPr>
        </p:nvGraphicFramePr>
        <p:xfrm>
          <a:off x="41564" y="286128"/>
          <a:ext cx="11430000" cy="54383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6" name="文档" r:id="rId3" imgW="4510061" imgH="2145853" progId="Word.Document.12">
                  <p:embed/>
                </p:oleObj>
              </mc:Choice>
              <mc:Fallback>
                <p:oleObj name="文档" r:id="rId3" imgW="4510061" imgH="214585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564" y="286128"/>
                        <a:ext cx="11430000" cy="54383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12855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51955" y="54841"/>
            <a:ext cx="11759045" cy="6444118"/>
            <a:chOff x="51955" y="54841"/>
            <a:chExt cx="11759045" cy="6444118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54841"/>
              <a:ext cx="11430000" cy="177279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存在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∈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[1,e],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使得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&lt;g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等价于当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∈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[1,e]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min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&lt;g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max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∈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[1,e]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   &gt;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所以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在区间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[1,e]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上单调递增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所以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max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=g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(e)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64076368"/>
                </p:ext>
              </p:extLst>
            </p:nvPr>
          </p:nvGraphicFramePr>
          <p:xfrm>
            <a:off x="3890924" y="516259"/>
            <a:ext cx="527417" cy="8291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14" name="文档" r:id="rId3" imgW="262691" imgH="397868" progId="Word.Document.12">
                    <p:embed/>
                  </p:oleObj>
                </mc:Choice>
                <mc:Fallback>
                  <p:oleObj name="文档" r:id="rId3" imgW="262691" imgH="39786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890924" y="516259"/>
                          <a:ext cx="527417" cy="82917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07286757"/>
                </p:ext>
              </p:extLst>
            </p:nvPr>
          </p:nvGraphicFramePr>
          <p:xfrm>
            <a:off x="51955" y="1702941"/>
            <a:ext cx="11430000" cy="2010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15" name="文档" r:id="rId5" imgW="4510061" imgH="793212" progId="Word.Document.12">
                    <p:embed/>
                  </p:oleObj>
                </mc:Choice>
                <mc:Fallback>
                  <p:oleObj name="文档" r:id="rId5" imgW="4510061" imgH="793212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1955" y="1702941"/>
                          <a:ext cx="11430000" cy="201026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81000" y="3605859"/>
              <a:ext cx="11430000" cy="289310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令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f'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解得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x=a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或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x=-a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舍去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可得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在区间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en-US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内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单调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递减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在区间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+∞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内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单调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递增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当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&lt;a&lt;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在区间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[1,e]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上单调递增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min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+a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符合题意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当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在区间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[1,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内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单调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递减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在区间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,e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]</a:t>
              </a:r>
              <a:r>
                <a:rPr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内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单调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递增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en-US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baseline="-250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min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=f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17102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3622494"/>
              </p:ext>
            </p:extLst>
          </p:nvPr>
        </p:nvGraphicFramePr>
        <p:xfrm>
          <a:off x="58882" y="1264661"/>
          <a:ext cx="11430000" cy="291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4" name="文档" r:id="rId3" imgW="4510061" imgH="1151451" progId="Word.Document.12">
                  <p:embed/>
                </p:oleObj>
              </mc:Choice>
              <mc:Fallback>
                <p:oleObj name="文档" r:id="rId3" imgW="4510061" imgH="115145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8882" y="1264661"/>
                        <a:ext cx="11430000" cy="29181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34079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82203"/>
            <a:ext cx="11430000" cy="563359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反思感悟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两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个函数中的存在性、任意性问题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解决不等式的恒成立、能成立问题时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可转化为最值问题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注意分清转化为最大值还是最小值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的最大值和最小值均存在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⇔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)]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)]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②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∃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⇔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)]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)]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③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],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∃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⇔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)]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)]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④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∃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],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⇔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)]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)]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⑤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∃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的值域与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的值域交集不为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2368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3879"/>
            <a:ext cx="11430000" cy="298363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)e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其图象在点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处的切线与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轴平行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讨论方程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=m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实根的个数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5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           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若对于任意的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(0,2),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总存在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[1,e],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使得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成立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求实数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的取值范围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5853636"/>
              </p:ext>
            </p:extLst>
          </p:nvPr>
        </p:nvGraphicFramePr>
        <p:xfrm>
          <a:off x="2323932" y="2895394"/>
          <a:ext cx="1565901" cy="7968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7" name="文档" r:id="rId3" imgW="788431" imgH="397868" progId="Word.Document.12">
                  <p:embed/>
                </p:oleObj>
              </mc:Choice>
              <mc:Fallback>
                <p:oleObj name="文档" r:id="rId3" imgW="788431" imgH="39786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23932" y="2895394"/>
                        <a:ext cx="1565901" cy="7968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72594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58882" y="54841"/>
            <a:ext cx="11430000" cy="3927678"/>
            <a:chOff x="58882" y="54841"/>
            <a:chExt cx="11430000" cy="3927678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54841"/>
              <a:ext cx="7415813" cy="59221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解</a:t>
              </a:r>
              <a:r>
                <a:rPr lang="en-US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: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x-a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)e</a:t>
              </a:r>
              <a:r>
                <a:rPr lang="en-US" altLang="zh-CN" sz="2800" i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-ax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)e</a:t>
              </a:r>
              <a:r>
                <a:rPr lang="en-US" altLang="zh-CN" sz="2800" i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x-a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]e</a:t>
              </a:r>
              <a:r>
                <a:rPr lang="en-US" altLang="zh-CN" sz="2800" i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52598483"/>
                </p:ext>
              </p:extLst>
            </p:nvPr>
          </p:nvGraphicFramePr>
          <p:xfrm>
            <a:off x="58882" y="511463"/>
            <a:ext cx="11430000" cy="30158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80" name="文档" r:id="rId3" imgW="4510061" imgH="1189999" progId="Word.Document.12">
                    <p:embed/>
                  </p:oleObj>
                </mc:Choice>
                <mc:Fallback>
                  <p:oleObj name="文档" r:id="rId3" imgW="4510061" imgH="118999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8882" y="511463"/>
                          <a:ext cx="11430000" cy="301585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3330033"/>
              <a:ext cx="6466835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变化时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的变化情况如下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表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.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0719907"/>
              </p:ext>
            </p:extLst>
          </p:nvPr>
        </p:nvGraphicFramePr>
        <p:xfrm>
          <a:off x="381000" y="3951562"/>
          <a:ext cx="11430000" cy="37808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1" name="文档" r:id="rId5" imgW="4567145" imgH="1510743" progId="Word.Document.12">
                  <p:embed/>
                </p:oleObj>
              </mc:Choice>
              <mc:Fallback>
                <p:oleObj name="文档" r:id="rId5" imgW="4567145" imgH="151074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81000" y="3951562"/>
                        <a:ext cx="11430000" cy="37808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53521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58882" y="491529"/>
            <a:ext cx="11752118" cy="4734135"/>
            <a:chOff x="58882" y="491529"/>
            <a:chExt cx="11752118" cy="4734135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491529"/>
              <a:ext cx="11430000" cy="177279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且当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→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-∞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)→0;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→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+∞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)→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+∞.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作出函数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的大致图象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图略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方程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=m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实根的个数为函数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的图象与直线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y=m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的交点个数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58848681"/>
                </p:ext>
              </p:extLst>
            </p:nvPr>
          </p:nvGraphicFramePr>
          <p:xfrm>
            <a:off x="58882" y="2274713"/>
            <a:ext cx="11430000" cy="29509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93" name="文档" r:id="rId3" imgW="4510061" imgH="1164389" progId="Word.Document.12">
                    <p:embed/>
                  </p:oleObj>
                </mc:Choice>
                <mc:Fallback>
                  <p:oleObj name="文档" r:id="rId3" imgW="4510061" imgH="116438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8882" y="2274713"/>
                          <a:ext cx="11430000" cy="295095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251237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4794529"/>
              </p:ext>
            </p:extLst>
          </p:nvPr>
        </p:nvGraphicFramePr>
        <p:xfrm>
          <a:off x="41564" y="95106"/>
          <a:ext cx="11430000" cy="66086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2" name="文档" r:id="rId3" imgW="4510061" imgH="2607656" progId="Word.Document.12">
                  <p:embed/>
                </p:oleObj>
              </mc:Choice>
              <mc:Fallback>
                <p:oleObj name="文档" r:id="rId3" imgW="4510061" imgH="260765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564" y="95106"/>
                        <a:ext cx="11430000" cy="66086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01884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617835" y="2558415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334801" y="2587481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3612492" y="2507615"/>
            <a:ext cx="45878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隶书" panose="02010509060101010101" pitchFamily="49" charset="-122"/>
                <a:sym typeface="+mn-ea"/>
              </a:rPr>
              <a:t>随堂练习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隶书" panose="02010509060101010101" pitchFamily="49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2184345"/>
              </p:ext>
            </p:extLst>
          </p:nvPr>
        </p:nvGraphicFramePr>
        <p:xfrm>
          <a:off x="495299" y="407553"/>
          <a:ext cx="11430000" cy="26139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0" name="文档" r:id="rId3" imgW="4510061" imgH="1031428" progId="Word.Document.12">
                  <p:embed/>
                </p:oleObj>
              </mc:Choice>
              <mc:Fallback>
                <p:oleObj name="文档" r:id="rId3" imgW="4510061" imgH="103142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5299" y="407553"/>
                        <a:ext cx="11430000" cy="26139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9726067"/>
              </p:ext>
            </p:extLst>
          </p:nvPr>
        </p:nvGraphicFramePr>
        <p:xfrm>
          <a:off x="495299" y="2736426"/>
          <a:ext cx="11430000" cy="100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1" name="文档" r:id="rId5" imgW="4510061" imgH="396786" progId="Word.Document.12">
                  <p:embed/>
                </p:oleObj>
              </mc:Choice>
              <mc:Fallback>
                <p:oleObj name="文档" r:id="rId5" imgW="4510061" imgH="3967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5299" y="2736426"/>
                        <a:ext cx="11430000" cy="1005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3627498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[1,e],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[1,e]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上单调递增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从而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+a=a.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81000" y="2484763"/>
            <a:ext cx="11544299" cy="3631267"/>
            <a:chOff x="381000" y="2515936"/>
            <a:chExt cx="11544299" cy="3631267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81000" y="2515936"/>
              <a:ext cx="11430000" cy="121264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解析</a:t>
              </a:r>
              <a:r>
                <a:rPr lang="en-US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: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3),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令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解得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或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由函数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的单调性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结合函数的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图象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(</a:t>
              </a:r>
              <a:r>
                <a:rPr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图略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可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是函数的最小值点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20578064"/>
                </p:ext>
              </p:extLst>
            </p:nvPr>
          </p:nvGraphicFramePr>
          <p:xfrm>
            <a:off x="495299" y="3533220"/>
            <a:ext cx="11430000" cy="26139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74" name="文档" r:id="rId3" imgW="4510061" imgH="1031428" progId="Word.Document.12">
                    <p:embed/>
                  </p:oleObj>
                </mc:Choice>
                <mc:Fallback>
                  <p:oleObj name="文档" r:id="rId3" imgW="4510061" imgH="103142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95299" y="3533220"/>
                          <a:ext cx="11430000" cy="261398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矩形 5"/>
          <p:cNvSpPr>
            <a:spLocks noChangeAspect="1"/>
          </p:cNvSpPr>
          <p:nvPr/>
        </p:nvSpPr>
        <p:spPr>
          <a:xfrm>
            <a:off x="381000" y="5980947"/>
            <a:ext cx="1331839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>
                <a:spLocks noChangeAspect="1"/>
              </p:cNvSpPr>
              <p:nvPr/>
            </p:nvSpPr>
            <p:spPr>
              <a:xfrm>
                <a:off x="381000" y="51955"/>
                <a:ext cx="11430000" cy="2467342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已知函数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若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9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方正书宋_GBK" panose="03000509000000000000" pitchFamily="65" charset="-122"/>
                    <a:cs typeface="Times New Roman" panose="02020603050405020304" pitchFamily="18" charset="0"/>
                  </a:rPr>
                  <a:t>≥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恒成立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则实数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的取值范围是</a:t>
                </a:r>
                <a:r>
                  <a:rPr lang="en-US" altLang="zh-CN" sz="2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　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A.{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altLang="zh-CN" sz="28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方正书宋_GBK" panose="03000509000000000000" pitchFamily="65" charset="-122"/>
                    <a:cs typeface="Times New Roman" panose="02020603050405020304" pitchFamily="18" charset="0"/>
                  </a:rPr>
                  <a:t>≥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	B.{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altLang="zh-CN" sz="28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&gt;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C.{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altLang="zh-CN" sz="28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方正书宋_GBK" panose="03000509000000000000" pitchFamily="65" charset="-122"/>
                    <a:cs typeface="Times New Roman" panose="02020603050405020304" pitchFamily="18" charset="0"/>
                  </a:rPr>
                  <a:t>≤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	D.{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altLang="zh-CN" sz="28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&lt;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51955"/>
                <a:ext cx="11430000" cy="2467342"/>
              </a:xfrm>
              <a:prstGeom prst="rect">
                <a:avLst/>
              </a:prstGeom>
              <a:blipFill rotWithShape="0">
                <a:blip r:embed="rId5"/>
                <a:stretch>
                  <a:fillRect l="-1120" r="-2133" b="-4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25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7479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-x</a:t>
            </a:r>
            <a:r>
              <a:rPr lang="en-US" altLang="zh-CN" sz="2800" baseline="30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的图象与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轴的交点个数是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令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上单调递增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上单调递减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极小值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极大值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  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-∞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)→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+∞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)→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知函数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的图象与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轴的交点个数为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5172505"/>
              </p:ext>
            </p:extLst>
          </p:nvPr>
        </p:nvGraphicFramePr>
        <p:xfrm>
          <a:off x="2044487" y="1181482"/>
          <a:ext cx="527178" cy="753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8" name="文档" r:id="rId3" imgW="285035" imgH="397130" progId="Word.Document.12">
                  <p:embed/>
                </p:oleObj>
              </mc:Choice>
              <mc:Fallback>
                <p:oleObj name="文档" r:id="rId3" imgW="285035" imgH="39713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44487" y="1181482"/>
                        <a:ext cx="527178" cy="7537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0466572"/>
              </p:ext>
            </p:extLst>
          </p:nvPr>
        </p:nvGraphicFramePr>
        <p:xfrm>
          <a:off x="6180068" y="2870195"/>
          <a:ext cx="527178" cy="753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9" name="文档" r:id="rId5" imgW="285035" imgH="397130" progId="Word.Document.12">
                  <p:embed/>
                </p:oleObj>
              </mc:Choice>
              <mc:Fallback>
                <p:oleObj name="文档" r:id="rId5" imgW="285035" imgH="39713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180068" y="2870195"/>
                        <a:ext cx="527178" cy="7537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25670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7578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某工厂要围建一个面积为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128 m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的矩形堆料场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一边可以用原有的墙壁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其他三边要砌新的墙壁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要使砌墙所用的材料最省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则堆料场的长、宽应分别是多少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>
            <a:spLocks noChangeAspect="1"/>
          </p:cNvSpPr>
          <p:nvPr/>
        </p:nvSpPr>
        <p:spPr>
          <a:xfrm>
            <a:off x="381000" y="4407158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因为当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&lt;x&lt;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y'&lt;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0;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y'&gt;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取得最小值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此时宽为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长为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故当矩形堆料场的长为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宽为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可使砌墙所用材料最省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9881830"/>
              </p:ext>
            </p:extLst>
          </p:nvPr>
        </p:nvGraphicFramePr>
        <p:xfrm>
          <a:off x="468815" y="1856424"/>
          <a:ext cx="11275153" cy="25938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2" name="文档" r:id="rId3" imgW="4510061" imgH="1037528" progId="Word.Document.12">
                  <p:embed/>
                </p:oleObj>
              </mc:Choice>
              <mc:Fallback>
                <p:oleObj name="文档" r:id="rId3" imgW="4510061" imgH="103752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8815" y="1856424"/>
                        <a:ext cx="11275153" cy="25938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31072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阴影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712" y="1511279"/>
            <a:ext cx="7280625" cy="33961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809976" y="4908623"/>
            <a:ext cx="857204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zh-CN" altLang="en-US" sz="2400" smtClean="0">
                <a:solidFill>
                  <a:srgbClr val="55463D"/>
                </a:solidFill>
              </a:rPr>
              <a:t>更多精彩内容请登录</a:t>
            </a:r>
            <a:r>
              <a:rPr lang="zh-CN" altLang="en-US" sz="2800" b="1" smtClean="0">
                <a:solidFill>
                  <a:srgbClr val="55463D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志鸿优化网</a:t>
            </a:r>
            <a:endParaRPr lang="en-US" altLang="zh-CN" sz="2400" b="1" smtClean="0">
              <a:solidFill>
                <a:srgbClr val="55463D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 fontAlgn="auto">
              <a:lnSpc>
                <a:spcPct val="150000"/>
              </a:lnSpc>
            </a:pPr>
            <a:r>
              <a:rPr lang="en-US" altLang="zh-CN" sz="2400" smtClean="0">
                <a:solidFill>
                  <a:srgbClr val="55463D"/>
                </a:solidFill>
              </a:rPr>
              <a:t>http</a:t>
            </a:r>
            <a:r>
              <a:rPr lang="en-US" altLang="zh-CN" sz="2400">
                <a:solidFill>
                  <a:srgbClr val="55463D"/>
                </a:solidFill>
              </a:rPr>
              <a:t>://www.zhyh.org</a:t>
            </a:r>
            <a:r>
              <a:rPr lang="en-US" altLang="zh-CN" sz="2400" smtClean="0">
                <a:solidFill>
                  <a:srgbClr val="55463D"/>
                </a:solidFill>
              </a:rPr>
              <a:t>/</a:t>
            </a:r>
            <a:endParaRPr lang="zh-CN" altLang="en-US" sz="2400">
              <a:solidFill>
                <a:srgbClr val="55463D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clrChange>
              <a:clrFrom>
                <a:srgbClr val="ECECEE"/>
              </a:clrFrom>
              <a:clrTo>
                <a:srgbClr val="ECECE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3290" y="4517181"/>
            <a:ext cx="2325712" cy="2253486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451123" y="2222090"/>
            <a:ext cx="49947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>
                <a:solidFill>
                  <a:srgbClr val="55463D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本  课  结  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519"/>
  <p:tag name="MH_LIBRARY" val="GRAPHIC"/>
  <p:tag name="MH_ORDER" val="TextBox 3"/>
</p:tagLst>
</file>

<file path=ppt/theme/theme1.xml><?xml version="1.0" encoding="utf-8"?>
<a:theme xmlns:a="http://schemas.openxmlformats.org/drawingml/2006/main" name="1_Office 主题">
  <a:themeElements>
    <a:clrScheme name="模块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721B1EAD-A6C0-47A7-B782-D5918D0D228F}" vid="{2963E896-880A-42B6-99FF-93DBD5586BD1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理科模板</Template>
  <TotalTime>238</TotalTime>
  <Words>2711</Words>
  <Application>Microsoft Office PowerPoint</Application>
  <PresentationFormat>宽屏</PresentationFormat>
  <Paragraphs>189</Paragraphs>
  <Slides>43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63" baseType="lpstr">
      <vt:lpstr>NEU-BZ-S92</vt:lpstr>
      <vt:lpstr>Open Sans</vt:lpstr>
      <vt:lpstr>方正书宋_GBK</vt:lpstr>
      <vt:lpstr>方正姚体</vt:lpstr>
      <vt:lpstr>方正正中黑简体</vt:lpstr>
      <vt:lpstr>仿宋</vt:lpstr>
      <vt:lpstr>黑体</vt:lpstr>
      <vt:lpstr>华文细黑</vt:lpstr>
      <vt:lpstr>华文新魏</vt:lpstr>
      <vt:lpstr>楷体</vt:lpstr>
      <vt:lpstr>隶书</vt:lpstr>
      <vt:lpstr>思源黑体 CN Medium</vt:lpstr>
      <vt:lpstr>宋体</vt:lpstr>
      <vt:lpstr>微软雅黑</vt:lpstr>
      <vt:lpstr>Arial</vt:lpstr>
      <vt:lpstr>Calibri</vt:lpstr>
      <vt:lpstr>Cambria Math</vt:lpstr>
      <vt:lpstr>Times New Roman</vt:lpstr>
      <vt:lpstr>1_Office 主题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ITSK.com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SkyUser</dc:creator>
  <cp:lastModifiedBy>SkyUser</cp:lastModifiedBy>
  <cp:revision>53</cp:revision>
  <dcterms:created xsi:type="dcterms:W3CDTF">2021-08-30T08:30:26Z</dcterms:created>
  <dcterms:modified xsi:type="dcterms:W3CDTF">2025-08-01T07:09:46Z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2052-11.1.0.10000</vt:lpwstr>
  </property>
</Properties>
</file>