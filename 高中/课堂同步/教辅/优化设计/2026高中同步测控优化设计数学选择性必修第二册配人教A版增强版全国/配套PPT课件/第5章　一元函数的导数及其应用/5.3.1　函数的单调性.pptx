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407" r:id="rId14"/>
    <p:sldId id="394" r:id="rId15"/>
    <p:sldId id="699" r:id="rId16"/>
    <p:sldId id="700" r:id="rId17"/>
    <p:sldId id="701" r:id="rId18"/>
    <p:sldId id="402" r:id="rId19"/>
    <p:sldId id="712" r:id="rId20"/>
    <p:sldId id="713" r:id="rId21"/>
    <p:sldId id="714" r:id="rId22"/>
    <p:sldId id="498" r:id="rId23"/>
    <p:sldId id="730" r:id="rId24"/>
    <p:sldId id="733" r:id="rId25"/>
    <p:sldId id="743" r:id="rId26"/>
    <p:sldId id="741" r:id="rId27"/>
    <p:sldId id="738" r:id="rId28"/>
    <p:sldId id="751" r:id="rId29"/>
    <p:sldId id="398" r:id="rId30"/>
    <p:sldId id="395" r:id="rId31"/>
    <p:sldId id="756" r:id="rId32"/>
    <p:sldId id="757" r:id="rId33"/>
    <p:sldId id="758" r:id="rId34"/>
    <p:sldId id="759" r:id="rId35"/>
    <p:sldId id="4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6" pos="257" userDrawn="1">
          <p15:clr>
            <a:srgbClr val="A4A3A4"/>
          </p15:clr>
        </p15:guide>
        <p15:guide id="7" orient="horz" pos="28" userDrawn="1">
          <p15:clr>
            <a:srgbClr val="A4A3A4"/>
          </p15:clr>
        </p15:guide>
        <p15:guide id="8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pos="257"/>
        <p:guide orient="horz" pos="28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6.xml"/><Relationship Id="rId4" Type="http://schemas.openxmlformats.org/officeDocument/2006/relationships/slide" Target="../slides/slide2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2.docx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package" Target="../embeddings/Microsoft_Word___7.docx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8.docx"/><Relationship Id="rId4" Type="http://schemas.openxmlformats.org/officeDocument/2006/relationships/image" Target="../media/image10.emf"/><Relationship Id="rId9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package" Target="../embeddings/Microsoft_Word___12.docx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__16.docx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__22.docx"/><Relationship Id="rId4" Type="http://schemas.openxmlformats.org/officeDocument/2006/relationships/image" Target="../media/image2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27.docx"/><Relationship Id="rId4" Type="http://schemas.openxmlformats.org/officeDocument/2006/relationships/image" Target="../media/image33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7.emf"/><Relationship Id="rId5" Type="http://schemas.openxmlformats.org/officeDocument/2006/relationships/package" Target="../embeddings/Microsoft_Word___29.docx"/><Relationship Id="rId4" Type="http://schemas.openxmlformats.org/officeDocument/2006/relationships/image" Target="../media/image3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9.emf"/><Relationship Id="rId5" Type="http://schemas.openxmlformats.org/officeDocument/2006/relationships/package" Target="../embeddings/Microsoft_Word___31.docx"/><Relationship Id="rId4" Type="http://schemas.openxmlformats.org/officeDocument/2006/relationships/image" Target="../media/image3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1.emf"/><Relationship Id="rId5" Type="http://schemas.openxmlformats.org/officeDocument/2006/relationships/package" Target="../embeddings/Microsoft_Word___33.docx"/><Relationship Id="rId4" Type="http://schemas.openxmlformats.org/officeDocument/2006/relationships/image" Target="../media/image4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5.3.1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函数的单调性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5.3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理解导数与函数的单调性的关系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掌握利用导数判断函数单调性的方法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会用导数求函数的单调区间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通过研究函数的单调性与导数的关系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提升逻辑推理和数学运算素养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564" y="678966"/>
            <a:ext cx="11769436" cy="4436437"/>
            <a:chOff x="41564" y="678966"/>
            <a:chExt cx="11769436" cy="4436437"/>
          </a:xfrm>
        </p:grpSpPr>
        <p:grpSp>
          <p:nvGrpSpPr>
            <p:cNvPr id="7" name="组合 6"/>
            <p:cNvGrpSpPr/>
            <p:nvPr/>
          </p:nvGrpSpPr>
          <p:grpSpPr>
            <a:xfrm>
              <a:off x="381000" y="678966"/>
              <a:ext cx="11430000" cy="4436437"/>
              <a:chOff x="381000" y="938741"/>
              <a:chExt cx="11430000" cy="4436437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938741"/>
                <a:ext cx="11430000" cy="57304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ea typeface="方正正中黑简体"/>
                    <a:cs typeface="Times New Roman" panose="02020603050405020304" pitchFamily="18" charset="0"/>
                  </a:rPr>
                  <a:t>一、函数的单调性与导数的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ea typeface="方正正中黑简体"/>
                    <a:cs typeface="Times New Roman" panose="02020603050405020304" pitchFamily="18" charset="0"/>
                  </a:rPr>
                  <a:t>关系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8018750"/>
                  </p:ext>
                </p:extLst>
              </p:nvPr>
            </p:nvGraphicFramePr>
            <p:xfrm>
              <a:off x="381000" y="2249422"/>
              <a:ext cx="11430000" cy="25077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0" name="文档" r:id="rId3" imgW="4520786" imgH="991877" progId="Word.Document.12">
                      <p:embed/>
                    </p:oleObj>
                  </mc:Choice>
                  <mc:Fallback>
                    <p:oleObj name="文档" r:id="rId3" imgW="4520786" imgH="991877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81000" y="2249422"/>
                            <a:ext cx="11430000" cy="250778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81000" y="4802136"/>
                <a:ext cx="11430000" cy="57304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            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              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②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             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③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0083058"/>
                </p:ext>
              </p:extLst>
            </p:nvPr>
          </p:nvGraphicFramePr>
          <p:xfrm>
            <a:off x="41564" y="1296938"/>
            <a:ext cx="11430000" cy="692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" name="文档" r:id="rId5" imgW="4510061" imgH="273128" progId="Word.Document.12">
                    <p:embed/>
                  </p:oleObj>
                </mc:Choice>
                <mc:Fallback>
                  <p:oleObj name="文档" r:id="rId5" imgW="4510061" imgH="2731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564" y="1296938"/>
                          <a:ext cx="11430000" cy="6921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9009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结合图象写出以上三个函数的单调区间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单调递减区间为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的单调递增区间为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单调递减区间为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判断以上三个函数的导数在其单调区间上的正负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'=-     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807321"/>
              </p:ext>
            </p:extLst>
          </p:nvPr>
        </p:nvGraphicFramePr>
        <p:xfrm>
          <a:off x="2697942" y="1494706"/>
          <a:ext cx="469929" cy="754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文档" r:id="rId3" imgW="255153" imgH="397544" progId="Word.Document.12">
                  <p:embed/>
                </p:oleObj>
              </mc:Choice>
              <mc:Fallback>
                <p:oleObj name="文档" r:id="rId3" imgW="255153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7942" y="1494706"/>
                        <a:ext cx="469929" cy="754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485388"/>
              </p:ext>
            </p:extLst>
          </p:nvPr>
        </p:nvGraphicFramePr>
        <p:xfrm>
          <a:off x="5723125" y="3146921"/>
          <a:ext cx="679846" cy="75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文档" r:id="rId5" imgW="366356" imgH="397544" progId="Word.Document.12">
                  <p:embed/>
                </p:oleObj>
              </mc:Choice>
              <mc:Fallback>
                <p:oleObj name="文档" r:id="rId5" imgW="366356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23125" y="3146921"/>
                        <a:ext cx="679846" cy="75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5893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的单调性与导函数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的正负之间具有如下的关系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某个区间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在某个区间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函数图象的变化趋势与导数值大小的关系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如果一个函数在某一范围内导数的绝对值较大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那么函数在这个范围内变化得较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这时函数的图象就比较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陡峭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向上或向下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函数在这个范围内变化得较慢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函数的图象就比较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88776" y="1793539"/>
            <a:ext cx="111946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400507" y="2230499"/>
            <a:ext cx="11147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844003" y="2333866"/>
            <a:ext cx="143013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855734" y="2770826"/>
            <a:ext cx="14241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975613" y="3996412"/>
            <a:ext cx="33908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987343" y="4433372"/>
            <a:ext cx="3376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139294" y="3996412"/>
            <a:ext cx="67085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7151182" y="4433372"/>
            <a:ext cx="6680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477073" y="4551102"/>
            <a:ext cx="70508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489033" y="4988062"/>
            <a:ext cx="7021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0999" y="125425"/>
            <a:ext cx="6011563" cy="625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的大致图象可能为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由题中函数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的单调递增区间为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单调递减区间为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828040" y="144040"/>
            <a:ext cx="4607672" cy="6630833"/>
            <a:chOff x="6828040" y="144040"/>
            <a:chExt cx="4607672" cy="6630833"/>
          </a:xfrm>
        </p:grpSpPr>
        <p:pic>
          <p:nvPicPr>
            <p:cNvPr id="8" name="UMX2TRAX15.eps" descr="id:2147504343;FounderCES"/>
            <p:cNvPicPr/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994242" y="144040"/>
              <a:ext cx="2271045" cy="2327925"/>
            </a:xfrm>
            <a:prstGeom prst="rect">
              <a:avLst/>
            </a:prstGeom>
          </p:spPr>
        </p:pic>
        <p:pic>
          <p:nvPicPr>
            <p:cNvPr id="9" name="UMX2TRAX16.eps" descr="id:2147504350;FounderCES"/>
            <p:cNvPicPr/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28040" y="2513529"/>
              <a:ext cx="4607672" cy="42613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401311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二、利用导数判断函数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的单调性的基本步骤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是定义在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上的增函数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是否一定成立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上为增函数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不一定成立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导数判断函数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的单调性的基本步骤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确定函数的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定义域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零点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的零点将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的定义域划分为若干个区间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列表给出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在各区间上的正负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由此得出函数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在定义域内的单调性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96005" y="3269051"/>
            <a:ext cx="107620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507690" y="3706011"/>
            <a:ext cx="10716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068908" y="3819769"/>
            <a:ext cx="71444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080607" y="4246338"/>
            <a:ext cx="7114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139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内的单调性是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单调递增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单调递减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865067"/>
              </p:ext>
            </p:extLst>
          </p:nvPr>
        </p:nvGraphicFramePr>
        <p:xfrm>
          <a:off x="32952" y="2348010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2" y="2348010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450" y="670222"/>
            <a:ext cx="11401425" cy="3584274"/>
            <a:chOff x="44450" y="1241726"/>
            <a:chExt cx="11401425" cy="358427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1726"/>
              <a:ext cx="498566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函数的定义域为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3963927"/>
                </p:ext>
              </p:extLst>
            </p:nvPr>
          </p:nvGraphicFramePr>
          <p:xfrm>
            <a:off x="44450" y="1828800"/>
            <a:ext cx="11401425" cy="299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文档" r:id="rId3" imgW="4510061" imgH="1191801" progId="Word.Document.12">
                    <p:embed/>
                  </p:oleObj>
                </mc:Choice>
                <mc:Fallback>
                  <p:oleObj name="文档" r:id="rId3" imgW="4510061" imgH="119180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450" y="1828800"/>
                          <a:ext cx="11401425" cy="299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81000" y="4120200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在某个区间内恒有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在此区间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不单调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内的导数比在区间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内的导数大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增长得快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函数在某区间上变化越快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函数在这个区间上的导数的绝对值越大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11009539" y="229437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6179229" y="3411620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10978366" y="4518590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导数与函数图象的关系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381000" y="784919"/>
            <a:ext cx="11430000" cy="1346267"/>
            <a:chOff x="381000" y="826483"/>
            <a:chExt cx="11430000" cy="134626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960110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定义域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可导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其图象如图所示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的导函数为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则不等式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的解集为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1535053"/>
                </p:ext>
              </p:extLst>
            </p:nvPr>
          </p:nvGraphicFramePr>
          <p:xfrm>
            <a:off x="4961322" y="826483"/>
            <a:ext cx="1413006" cy="830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0" name="文档" r:id="rId3" imgW="684848" imgH="397544" progId="Word.Document.12">
                    <p:embed/>
                  </p:oleObj>
                </mc:Choice>
                <mc:Fallback>
                  <p:oleObj name="文档" r:id="rId3" imgW="684848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61322" y="826483"/>
                          <a:ext cx="1413006" cy="830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196013"/>
              </p:ext>
            </p:extLst>
          </p:nvPr>
        </p:nvGraphicFramePr>
        <p:xfrm>
          <a:off x="43249" y="2106846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文档" r:id="rId5" imgW="4510061" imgH="1191801" progId="Word.Document.12">
                  <p:embed/>
                </p:oleObj>
              </mc:Choice>
              <mc:Fallback>
                <p:oleObj name="文档" r:id="rId5" imgW="4510061" imgH="11918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9" y="2106846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820497"/>
              </p:ext>
            </p:extLst>
          </p:nvPr>
        </p:nvGraphicFramePr>
        <p:xfrm>
          <a:off x="43249" y="492793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9" y="492793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WMX2RAX24.eps" descr="id:2147505257;FounderCES"/>
          <p:cNvPicPr/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21851" y="3021321"/>
            <a:ext cx="4291720" cy="2402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55413"/>
            <a:ext cx="703077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若本例条件不变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求不等式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的解集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704579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013954"/>
              </p:ext>
            </p:extLst>
          </p:nvPr>
        </p:nvGraphicFramePr>
        <p:xfrm>
          <a:off x="41190" y="1788911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文档" r:id="rId4" imgW="4510061" imgH="1193603" progId="Word.Document.12">
                  <p:embed/>
                </p:oleObj>
              </mc:Choice>
              <mc:Fallback>
                <p:oleObj name="文档" r:id="rId4" imgW="4510061" imgH="11936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90" y="1788911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49428"/>
            <a:ext cx="718946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若本例条件不变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求不等式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的解集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725177"/>
              </p:ext>
            </p:extLst>
          </p:nvPr>
        </p:nvGraphicFramePr>
        <p:xfrm>
          <a:off x="31173" y="681132"/>
          <a:ext cx="11430000" cy="2552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文档" r:id="rId3" imgW="4510061" imgH="1007340" progId="Word.Document.12">
                  <p:embed/>
                </p:oleObj>
              </mc:Choice>
              <mc:Fallback>
                <p:oleObj name="文档" r:id="rId3" imgW="4510061" imgH="1007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73" y="681132"/>
                        <a:ext cx="11430000" cy="2552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13841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图象研究函数单调性的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观察原函数的图象重在找出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下降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产生变化的点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分析函数值的变化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趋势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观察导函数的图象重在找出导函数图象与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轴的交点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分析导数的正负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特别提醒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函数的正负与导数的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正负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没有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9428"/>
            <a:ext cx="5237205" cy="625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的大致图象最有可能的是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214204" y="164759"/>
            <a:ext cx="4991549" cy="5966558"/>
            <a:chOff x="6214204" y="164759"/>
            <a:chExt cx="4991549" cy="5966558"/>
          </a:xfrm>
        </p:grpSpPr>
        <p:pic>
          <p:nvPicPr>
            <p:cNvPr id="3" name="WMX2RAX25.eps" descr="id:2147505278;FounderCES"/>
            <p:cNvPicPr/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627011" y="164759"/>
              <a:ext cx="2165937" cy="1724582"/>
            </a:xfrm>
            <a:prstGeom prst="rect">
              <a:avLst/>
            </a:prstGeom>
          </p:spPr>
        </p:pic>
        <p:pic>
          <p:nvPicPr>
            <p:cNvPr id="4" name="WMX2RAX26.eps" descr="id:2147505285;FounderCES"/>
            <p:cNvPicPr/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14204" y="2050749"/>
              <a:ext cx="4991549" cy="4080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不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含参数的函数的单调性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927015"/>
              </p:ext>
            </p:extLst>
          </p:nvPr>
        </p:nvGraphicFramePr>
        <p:xfrm>
          <a:off x="33338" y="857395"/>
          <a:ext cx="114014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文档" r:id="rId3" imgW="4510061" imgH="397147" progId="Word.Document.12">
                  <p:embed/>
                </p:oleObj>
              </mc:Choice>
              <mc:Fallback>
                <p:oleObj name="文档" r:id="rId3" imgW="4510061" imgH="397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8" y="857395"/>
                        <a:ext cx="11401425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2954" y="1622647"/>
            <a:ext cx="11778046" cy="3476250"/>
            <a:chOff x="32954" y="2403561"/>
            <a:chExt cx="11778046" cy="347625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1981078"/>
                </p:ext>
              </p:extLst>
            </p:nvPr>
          </p:nvGraphicFramePr>
          <p:xfrm>
            <a:off x="32954" y="2403561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0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954" y="2403561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232795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,e</a:t>
              </a:r>
              <a:r>
                <a:rPr lang="en-US" altLang="zh-CN" sz="2800" i="1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0,e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803358"/>
                </p:ext>
              </p:extLst>
            </p:nvPr>
          </p:nvGraphicFramePr>
          <p:xfrm>
            <a:off x="32954" y="4876514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1" name="文档" r:id="rId7" imgW="4510061" imgH="397147" progId="Word.Document.12">
                    <p:embed/>
                  </p:oleObj>
                </mc:Choice>
                <mc:Fallback>
                  <p:oleObj name="文档" r:id="rId7" imgW="4510061" imgH="397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954" y="4876514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909"/>
            <a:ext cx="749596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的单调区间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5100" y="430213"/>
            <a:ext cx="12674643" cy="6499225"/>
            <a:chOff x="165100" y="430213"/>
            <a:chExt cx="12674643" cy="6499225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0208676"/>
                </p:ext>
              </p:extLst>
            </p:nvPr>
          </p:nvGraphicFramePr>
          <p:xfrm>
            <a:off x="165100" y="430213"/>
            <a:ext cx="11403013" cy="6499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0" name="文档" r:id="rId3" imgW="4510061" imgH="2583977" progId="Word.Document.12">
                    <p:embed/>
                  </p:oleObj>
                </mc:Choice>
                <mc:Fallback>
                  <p:oleObj name="文档" r:id="rId3" imgW="4510061" imgH="25839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5100" y="430213"/>
                          <a:ext cx="11403013" cy="6499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7639806"/>
                </p:ext>
              </p:extLst>
            </p:nvPr>
          </p:nvGraphicFramePr>
          <p:xfrm>
            <a:off x="5389605" y="1340708"/>
            <a:ext cx="7450138" cy="325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1" name="文档" r:id="rId5" imgW="2947400" imgH="1288863" progId="Word.Document.12">
                    <p:embed/>
                  </p:oleObj>
                </mc:Choice>
                <mc:Fallback>
                  <p:oleObj name="文档" r:id="rId5" imgW="2947400" imgH="128886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89605" y="1340708"/>
                          <a:ext cx="7450138" cy="3251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3482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感悟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特别提醒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两个或两个以上的单调递增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区间之间不能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即不能用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符号连接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只能用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“,”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隔开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导数法求得的单调区间一般用开区间表示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的单调区间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把函数定义域划分成三个区间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在各区间上的正负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的单调性如下表所示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1000" y="3420954"/>
            <a:ext cx="11430000" cy="3418132"/>
            <a:chOff x="381000" y="3420954"/>
            <a:chExt cx="11430000" cy="3418132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3351617"/>
                </p:ext>
              </p:extLst>
            </p:nvPr>
          </p:nvGraphicFramePr>
          <p:xfrm>
            <a:off x="381000" y="3420954"/>
            <a:ext cx="11430000" cy="3418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" name="文档" r:id="rId3" imgW="4520786" imgH="1351937" progId="Word.Document.12">
                    <p:embed/>
                  </p:oleObj>
                </mc:Choice>
                <mc:Fallback>
                  <p:oleObj name="文档" r:id="rId3" imgW="4520786" imgH="135193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3420954"/>
                          <a:ext cx="11430000" cy="34181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835933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的单调递减区间为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单调递增区间为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(0,2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含有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参数的函数的单调性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3838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根据判断函数单调性的步骤进行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注意对参数的讨论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5009" y="1641000"/>
            <a:ext cx="11775991" cy="4971760"/>
            <a:chOff x="35009" y="1703346"/>
            <a:chExt cx="11775991" cy="497176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6711233"/>
                </p:ext>
              </p:extLst>
            </p:nvPr>
          </p:nvGraphicFramePr>
          <p:xfrm>
            <a:off x="35009" y="1703346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7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009" y="1703346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540809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946839"/>
                </p:ext>
              </p:extLst>
            </p:nvPr>
          </p:nvGraphicFramePr>
          <p:xfrm>
            <a:off x="35009" y="3666130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8" name="文档" r:id="rId5" imgW="4520786" imgH="1190108" progId="Word.Document.12">
                    <p:embed/>
                  </p:oleObj>
                </mc:Choice>
                <mc:Fallback>
                  <p:oleObj name="文档" r:id="rId5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009" y="3666130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745686"/>
              </p:ext>
            </p:extLst>
          </p:nvPr>
        </p:nvGraphicFramePr>
        <p:xfrm>
          <a:off x="385763" y="140855"/>
          <a:ext cx="11403012" cy="378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文档" r:id="rId3" imgW="4510061" imgH="1508221" progId="Word.Document.12">
                  <p:embed/>
                </p:oleObj>
              </mc:Choice>
              <mc:Fallback>
                <p:oleObj name="文档" r:id="rId3" imgW="4510061" imgH="15082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3" y="140855"/>
                        <a:ext cx="11403012" cy="3789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65076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含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参数的函数的单调性问题常见的分类讨论标准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是否有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求出根后判断其是否在定义域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若根在定义域内且有两个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比较根的大小分类讨论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6577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的单调区间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的定义域是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311240"/>
              </p:ext>
            </p:extLst>
          </p:nvPr>
        </p:nvGraphicFramePr>
        <p:xfrm>
          <a:off x="5260332" y="148911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60332" y="148911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501821"/>
              </p:ext>
            </p:extLst>
          </p:nvPr>
        </p:nvGraphicFramePr>
        <p:xfrm>
          <a:off x="39558" y="1336837"/>
          <a:ext cx="11430000" cy="4613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文档" r:id="rId5" imgW="4510061" imgH="1826082" progId="Word.Document.12">
                  <p:embed/>
                </p:oleObj>
              </mc:Choice>
              <mc:Fallback>
                <p:oleObj name="文档" r:id="rId5" imgW="4510061" imgH="18260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58" y="1336837"/>
                        <a:ext cx="11430000" cy="4613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33340"/>
              </p:ext>
            </p:extLst>
          </p:nvPr>
        </p:nvGraphicFramePr>
        <p:xfrm>
          <a:off x="381000" y="1507095"/>
          <a:ext cx="11430000" cy="2407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文档" r:id="rId3" imgW="4520786" imgH="952231" progId="Word.Document.12">
                  <p:embed/>
                </p:oleObj>
              </mc:Choice>
              <mc:Fallback>
                <p:oleObj name="文档" r:id="rId3" imgW="4520786" imgH="952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507095"/>
                        <a:ext cx="11430000" cy="2407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2772013" y="710779"/>
            <a:ext cx="6647975" cy="573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讨论函数的单调性时因忽略其定义域致错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643444"/>
              </p:ext>
            </p:extLst>
          </p:nvPr>
        </p:nvGraphicFramePr>
        <p:xfrm>
          <a:off x="41190" y="121576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121576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076298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,e)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,e)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内单调递增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以上错解中忽略了函数的定义域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事实上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005614"/>
              </p:ext>
            </p:extLst>
          </p:nvPr>
        </p:nvGraphicFramePr>
        <p:xfrm>
          <a:off x="41190" y="380698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文档" r:id="rId3" imgW="4510061" imgH="397147" progId="Word.Document.12">
                  <p:embed/>
                </p:oleObj>
              </mc:Choice>
              <mc:Fallback>
                <p:oleObj name="文档" r:id="rId3" imgW="4510061" imgH="397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380698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192887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(1,e)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(1,e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在解决函数问题时应优先考虑函数的定义域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未考虑定义域就讨论单调性是没有意义的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注意培养逻辑推理和数学运算素养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960565"/>
              </p:ext>
            </p:extLst>
          </p:nvPr>
        </p:nvGraphicFramePr>
        <p:xfrm>
          <a:off x="41190" y="71891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71891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1190" y="1514997"/>
            <a:ext cx="11769810" cy="3042959"/>
            <a:chOff x="41190" y="1992983"/>
            <a:chExt cx="11769810" cy="3042959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522433"/>
                </p:ext>
              </p:extLst>
            </p:nvPr>
          </p:nvGraphicFramePr>
          <p:xfrm>
            <a:off x="41190" y="1992983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5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90" y="1992983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88357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&lt;x&lt;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的单调递增区间为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单调递减区间为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63601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则下列关于函数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的单调性的说法中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是常数函数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不是单调函数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是常数函数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单调递增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故为常数函数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2RAX27.eps" descr="id:2147505357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6754" y="971647"/>
            <a:ext cx="3017842" cy="25093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的单调递增区间是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950609"/>
              </p:ext>
            </p:extLst>
          </p:nvPr>
        </p:nvGraphicFramePr>
        <p:xfrm>
          <a:off x="446902" y="1835239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902" y="1835239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018297"/>
              </p:ext>
            </p:extLst>
          </p:nvPr>
        </p:nvGraphicFramePr>
        <p:xfrm>
          <a:off x="446902" y="371734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902" y="371734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888067"/>
              </p:ext>
            </p:extLst>
          </p:nvPr>
        </p:nvGraphicFramePr>
        <p:xfrm>
          <a:off x="449178" y="1233488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178" y="1233488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535159"/>
              </p:ext>
            </p:extLst>
          </p:nvPr>
        </p:nvGraphicFramePr>
        <p:xfrm>
          <a:off x="449178" y="2022598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9178" y="2022598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82059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上为增函数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67900"/>
              </p:ext>
            </p:extLst>
          </p:nvPr>
        </p:nvGraphicFramePr>
        <p:xfrm>
          <a:off x="446902" y="-12387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902" y="-12387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914297"/>
              </p:ext>
            </p:extLst>
          </p:nvPr>
        </p:nvGraphicFramePr>
        <p:xfrm>
          <a:off x="452438" y="704850"/>
          <a:ext cx="11401425" cy="620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文档" r:id="rId5" imgW="4510061" imgH="2464688" progId="Word.Document.12">
                  <p:embed/>
                </p:oleObj>
              </mc:Choice>
              <mc:Fallback>
                <p:oleObj name="文档" r:id="rId5" imgW="4510061" imgH="24646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2438" y="704850"/>
                        <a:ext cx="11401425" cy="6202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355574"/>
              </p:ext>
            </p:extLst>
          </p:nvPr>
        </p:nvGraphicFramePr>
        <p:xfrm>
          <a:off x="441325" y="-44450"/>
          <a:ext cx="11401425" cy="679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文档" r:id="rId3" imgW="4510061" imgH="2700021" progId="Word.Document.12">
                  <p:embed/>
                </p:oleObj>
              </mc:Choice>
              <mc:Fallback>
                <p:oleObj name="文档" r:id="rId3" imgW="4510061" imgH="27000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325" y="-44450"/>
                        <a:ext cx="11401425" cy="679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173</TotalTime>
  <Words>1706</Words>
  <Application>Microsoft Office PowerPoint</Application>
  <PresentationFormat>宽屏</PresentationFormat>
  <Paragraphs>130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42</cp:revision>
  <dcterms:created xsi:type="dcterms:W3CDTF">2021-08-30T08:30:26Z</dcterms:created>
  <dcterms:modified xsi:type="dcterms:W3CDTF">2025-08-01T07:00:36Z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